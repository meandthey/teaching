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9"/>
  </p:notesMasterIdLst>
  <p:sldIdLst>
    <p:sldId id="375" r:id="rId2"/>
    <p:sldId id="405" r:id="rId3"/>
    <p:sldId id="550" r:id="rId4"/>
    <p:sldId id="376" r:id="rId5"/>
    <p:sldId id="637" r:id="rId6"/>
    <p:sldId id="638" r:id="rId7"/>
    <p:sldId id="639" r:id="rId8"/>
    <p:sldId id="640" r:id="rId9"/>
    <p:sldId id="641" r:id="rId10"/>
    <p:sldId id="642" r:id="rId11"/>
    <p:sldId id="643" r:id="rId12"/>
    <p:sldId id="644" r:id="rId13"/>
    <p:sldId id="645" r:id="rId14"/>
    <p:sldId id="646" r:id="rId15"/>
    <p:sldId id="647" r:id="rId16"/>
    <p:sldId id="648" r:id="rId17"/>
    <p:sldId id="649" r:id="rId18"/>
    <p:sldId id="650" r:id="rId19"/>
    <p:sldId id="653" r:id="rId20"/>
    <p:sldId id="651" r:id="rId21"/>
    <p:sldId id="654" r:id="rId22"/>
    <p:sldId id="652" r:id="rId23"/>
    <p:sldId id="655" r:id="rId24"/>
    <p:sldId id="656" r:id="rId25"/>
    <p:sldId id="657" r:id="rId26"/>
    <p:sldId id="658" r:id="rId27"/>
    <p:sldId id="659" r:id="rId28"/>
    <p:sldId id="660" r:id="rId29"/>
    <p:sldId id="661" r:id="rId30"/>
    <p:sldId id="662" r:id="rId31"/>
    <p:sldId id="663" r:id="rId32"/>
    <p:sldId id="664" r:id="rId33"/>
    <p:sldId id="665" r:id="rId34"/>
    <p:sldId id="666" r:id="rId35"/>
    <p:sldId id="667" r:id="rId36"/>
    <p:sldId id="668" r:id="rId37"/>
    <p:sldId id="676" r:id="rId38"/>
    <p:sldId id="669" r:id="rId39"/>
    <p:sldId id="670" r:id="rId40"/>
    <p:sldId id="671" r:id="rId41"/>
    <p:sldId id="677" r:id="rId42"/>
    <p:sldId id="672" r:id="rId43"/>
    <p:sldId id="673" r:id="rId44"/>
    <p:sldId id="674" r:id="rId45"/>
    <p:sldId id="675" r:id="rId46"/>
    <p:sldId id="678" r:id="rId47"/>
    <p:sldId id="679" r:id="rId48"/>
    <p:sldId id="680" r:id="rId49"/>
    <p:sldId id="681" r:id="rId50"/>
    <p:sldId id="682" r:id="rId51"/>
    <p:sldId id="683" r:id="rId52"/>
    <p:sldId id="684" r:id="rId53"/>
    <p:sldId id="685" r:id="rId54"/>
    <p:sldId id="686" r:id="rId55"/>
    <p:sldId id="687" r:id="rId56"/>
    <p:sldId id="688" r:id="rId57"/>
    <p:sldId id="598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5" autoAdjust="0"/>
  </p:normalViewPr>
  <p:slideViewPr>
    <p:cSldViewPr snapToGrid="0">
      <p:cViewPr varScale="1">
        <p:scale>
          <a:sx n="148" d="100"/>
          <a:sy n="148" d="100"/>
        </p:scale>
        <p:origin x="74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52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BA439-0FFE-7713-8D69-E0856B04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D507AA-8F1F-0065-8896-A02CAF515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8B5BAA-9AF9-E5C5-777A-F1A96710C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5B38E-CCAB-59F4-2265-14C0CE39A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088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3B71A-E805-510D-7EB3-0E745A11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2A8B1-7D6F-A0F2-BE33-4E4DFA492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C9F92C-E302-2E74-0A6A-E643E83FA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C7F319-BA98-5F65-783B-3CB72AA43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8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08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천연가스 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주로 메탄</a:t>
            </a:r>
            <a:r>
              <a:rPr lang="en-US" altLang="ko-KR" sz="1600" dirty="0"/>
              <a:t>(CH</a:t>
            </a:r>
            <a:r>
              <a:rPr lang="en-US" altLang="ko-KR" sz="1600" baseline="-25000" dirty="0"/>
              <a:t>4</a:t>
            </a:r>
            <a:r>
              <a:rPr lang="en-US" altLang="ko-KR" sz="1600" dirty="0"/>
              <a:t>)</a:t>
            </a:r>
            <a:r>
              <a:rPr lang="ko-KR" altLang="en-US" sz="1600" dirty="0"/>
              <a:t>으로 구성되어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다른 연료</a:t>
            </a:r>
            <a:r>
              <a:rPr lang="en-US" altLang="ko-KR" sz="1600" dirty="0"/>
              <a:t>(</a:t>
            </a:r>
            <a:r>
              <a:rPr lang="ko-KR" altLang="en-US" sz="1600" dirty="0"/>
              <a:t>석탄 및 석유</a:t>
            </a:r>
            <a:r>
              <a:rPr lang="en-US" altLang="ko-KR" sz="1600" dirty="0"/>
              <a:t>)</a:t>
            </a:r>
            <a:r>
              <a:rPr lang="ko-KR" altLang="en-US" sz="1600" dirty="0"/>
              <a:t>에 비해 연소할 때 배출되는 오염물질이 적어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 중에서는 가장 청정한 연료로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특성으로</a:t>
            </a:r>
            <a:r>
              <a:rPr lang="en-US" altLang="ko-KR" sz="1600" dirty="0"/>
              <a:t> </a:t>
            </a:r>
            <a:r>
              <a:rPr lang="ko-KR" altLang="en-US" sz="1600" dirty="0"/>
              <a:t>기후변화 대응과 에너지 전환 과정에서 </a:t>
            </a:r>
            <a:r>
              <a:rPr lang="en-US" altLang="ko-KR" sz="1600" dirty="0"/>
              <a:t>‘</a:t>
            </a:r>
            <a:r>
              <a:rPr lang="ko-KR" altLang="en-US" sz="1600" dirty="0"/>
              <a:t>교량 연료</a:t>
            </a:r>
            <a:r>
              <a:rPr lang="en-US" altLang="ko-KR" sz="1600" dirty="0"/>
              <a:t>‘</a:t>
            </a:r>
            <a:r>
              <a:rPr lang="ko-KR" altLang="en-US" sz="1600" dirty="0"/>
              <a:t>로 주목받고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간헐성을 보완하는 유연한 발전원으로 활용 가능하다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인류의 천연가스 이용은 고대까지 거슬러 올라가며</a:t>
            </a:r>
            <a:r>
              <a:rPr lang="en-US" altLang="ko-KR" sz="1600" dirty="0"/>
              <a:t>, </a:t>
            </a:r>
            <a:r>
              <a:rPr lang="ko-KR" altLang="en-US" sz="1600" dirty="0"/>
              <a:t>상징적</a:t>
            </a:r>
            <a:r>
              <a:rPr lang="en-US" altLang="ko-KR" sz="1600" dirty="0"/>
              <a:t>·</a:t>
            </a:r>
            <a:r>
              <a:rPr lang="ko-KR" altLang="en-US" sz="1600" dirty="0"/>
              <a:t>제의적 의미에 머무르고</a:t>
            </a:r>
            <a:r>
              <a:rPr lang="en-US" altLang="ko-KR" sz="1600" dirty="0"/>
              <a:t>, </a:t>
            </a:r>
            <a:r>
              <a:rPr lang="ko-KR" altLang="en-US" sz="1600" dirty="0"/>
              <a:t>본격적으로 활용되지는 않았다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기원전 </a:t>
            </a:r>
            <a:r>
              <a:rPr lang="en-US" altLang="ko-KR" sz="1600" dirty="0"/>
              <a:t>1,000</a:t>
            </a:r>
            <a:r>
              <a:rPr lang="ko-KR" altLang="en-US" sz="1600" dirty="0" err="1"/>
              <a:t>년경</a:t>
            </a:r>
            <a:r>
              <a:rPr lang="ko-KR" altLang="en-US" sz="1600" dirty="0"/>
              <a:t> 중국에서는 대나무 파이프를 사용하여 천연가스를 지표로부터 추출하였다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고대 그리스 및 페르시아에서도 천연가스의 자연 누출로 발생하는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영원한 불</a:t>
            </a:r>
            <a:r>
              <a:rPr lang="en-US" altLang="ko-KR" sz="1600" dirty="0"/>
              <a:t>‘</a:t>
            </a:r>
            <a:r>
              <a:rPr lang="ko-KR" altLang="en-US" sz="1600" dirty="0"/>
              <a:t>은 신성한 존재로 인식되며 종교적 의례에 사용되었다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</a:t>
            </a:r>
            <a:r>
              <a:rPr lang="ko-KR" altLang="en-US" sz="1600" dirty="0"/>
              <a:t>세기 들어 산업화에 따라 천연가스의 상업적 활용이 시작되었다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1821</a:t>
            </a:r>
            <a:r>
              <a:rPr lang="ko-KR" altLang="en-US" sz="1600" dirty="0"/>
              <a:t>년 미국 뉴욕주에서 세계 최초의 천연가스 우물이 </a:t>
            </a:r>
            <a:r>
              <a:rPr lang="ko-KR" altLang="en-US" sz="1600" dirty="0" err="1"/>
              <a:t>시추되었다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1850</a:t>
            </a:r>
            <a:r>
              <a:rPr lang="ko-KR" altLang="en-US" sz="1600" dirty="0"/>
              <a:t>년대 중반부터는 도시의 가로등</a:t>
            </a:r>
            <a:r>
              <a:rPr lang="en-US" altLang="ko-KR" sz="1600" dirty="0"/>
              <a:t>, </a:t>
            </a:r>
            <a:r>
              <a:rPr lang="ko-KR" altLang="en-US" sz="1600" dirty="0"/>
              <a:t>가정 난방용으로 천연가스가 사용되기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1859</a:t>
            </a:r>
            <a:r>
              <a:rPr lang="ko-KR" altLang="en-US" sz="1600" dirty="0"/>
              <a:t>년 펜실베니아 드레이크 성공은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석유챕터</a:t>
            </a:r>
            <a:r>
              <a:rPr lang="en-US" altLang="ko-KR" sz="1600" dirty="0"/>
              <a:t> </a:t>
            </a:r>
            <a:r>
              <a:rPr lang="ko-KR" altLang="en-US" sz="1600" dirty="0"/>
              <a:t>참고</a:t>
            </a:r>
            <a:r>
              <a:rPr lang="en-US" altLang="ko-KR" sz="1600" dirty="0"/>
              <a:t>)</a:t>
            </a:r>
            <a:r>
              <a:rPr lang="ko-KR" altLang="en-US" sz="1600" dirty="0"/>
              <a:t> 석유 뿐만 아니라 천연가스 산업에도 기폭제 역할을 하였다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849E-C3EC-66C2-D5C9-C59E5D5B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AA21E-A0E0-EB01-8A47-F492A782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5CFF5-1045-A861-0C88-5A1DFAB9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FFC37-4353-1DB7-17B9-97C4402833E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</a:t>
            </a:r>
            <a:r>
              <a:rPr lang="ko-KR" altLang="en-US" sz="1600" dirty="0"/>
              <a:t>세기 초반에는 파이프라인 기술의 발전으로</a:t>
            </a:r>
            <a:r>
              <a:rPr lang="en-US" altLang="ko-KR" sz="1600" dirty="0"/>
              <a:t> </a:t>
            </a:r>
            <a:r>
              <a:rPr lang="ko-KR" altLang="en-US" sz="1600" dirty="0"/>
              <a:t>천연가스의 대규모 수송이 가능해지며 산업적 활용이 크게 확대 </a:t>
            </a:r>
            <a:r>
              <a:rPr lang="ko-KR" altLang="en-US" sz="1600" dirty="0" err="1"/>
              <a:t>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1920</a:t>
            </a:r>
            <a:r>
              <a:rPr lang="ko-KR" altLang="en-US" sz="1600" dirty="0"/>
              <a:t>년대에는 장거리 천연가스 파이프라인이 건설되기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1927</a:t>
            </a:r>
            <a:r>
              <a:rPr lang="ko-KR" altLang="en-US" sz="1600" dirty="0"/>
              <a:t>년에는 인디애나주와 시카고를 잇는 미국 최초의 장거리 파이프라인이 가동되었다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1950~1960</a:t>
            </a:r>
            <a:r>
              <a:rPr lang="ko-KR" altLang="en-US" sz="1600" dirty="0"/>
              <a:t>년대는 천연가스 산업의 황금기이며</a:t>
            </a:r>
            <a:r>
              <a:rPr lang="en-US" altLang="ko-KR" sz="1600" dirty="0"/>
              <a:t>, </a:t>
            </a:r>
            <a:r>
              <a:rPr lang="ko-KR" altLang="en-US" sz="1600" dirty="0"/>
              <a:t>가정용과 산업용 에너지원으로서 수요가 폭발적인 증가를 보였다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 생산부문에서는 석탄과 함께 주요 기저발전원으로 자리 잡았고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천연가스의 청정성과 연소 효율성으로 도시지역의 </a:t>
            </a:r>
            <a:r>
              <a:rPr lang="ko-KR" altLang="en-US" sz="1600" dirty="0" err="1"/>
              <a:t>대기질</a:t>
            </a:r>
            <a:r>
              <a:rPr lang="ko-KR" altLang="en-US" sz="1600" dirty="0"/>
              <a:t> 개선에도 기여하였다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시기에 미국과 구소련</a:t>
            </a:r>
            <a:r>
              <a:rPr lang="en-US" altLang="ko-KR" sz="1600" dirty="0"/>
              <a:t>, </a:t>
            </a:r>
            <a:r>
              <a:rPr lang="ko-KR" altLang="en-US" sz="1600" dirty="0"/>
              <a:t>중동 지역에서는 대규모 가스전이 연이어 발견되었고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향후 글로벌 천연가스 공급의 기반이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1980</a:t>
            </a:r>
            <a:r>
              <a:rPr lang="ko-KR" altLang="en-US" sz="1600" dirty="0"/>
              <a:t>년</a:t>
            </a:r>
            <a:r>
              <a:rPr lang="en-US" altLang="ko-KR" sz="1600" dirty="0"/>
              <a:t>~1990</a:t>
            </a:r>
            <a:r>
              <a:rPr lang="ko-KR" altLang="en-US" sz="1600" dirty="0"/>
              <a:t>년대는 천연가스의 국제무역이 본격화된 시기로 액화천연가스 기술의 발달이 중요한 전환점이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액화천연가스</a:t>
            </a:r>
            <a:r>
              <a:rPr lang="en-US" altLang="ko-KR" sz="1600" dirty="0"/>
              <a:t>(LNG; Liquified Natural Gas) </a:t>
            </a:r>
            <a:r>
              <a:rPr lang="ko-KR" altLang="en-US" sz="1600" dirty="0"/>
              <a:t>기술은 가스를 영하</a:t>
            </a:r>
            <a:r>
              <a:rPr lang="en-US" altLang="ko-KR" sz="1600" dirty="0"/>
              <a:t>162</a:t>
            </a:r>
            <a:r>
              <a:rPr lang="ko-KR" altLang="en-US" sz="1600" dirty="0"/>
              <a:t>도까지 냉각하여 </a:t>
            </a:r>
            <a:r>
              <a:rPr lang="ko-KR" altLang="en-US" sz="1600" dirty="0" err="1"/>
              <a:t>액화한</a:t>
            </a:r>
            <a:r>
              <a:rPr lang="ko-KR" altLang="en-US" sz="1600" dirty="0"/>
              <a:t> 뒤 해상으로 수송하는 방식을 가능케 하여</a:t>
            </a:r>
            <a:r>
              <a:rPr lang="en-US" altLang="ko-KR" sz="1600" dirty="0"/>
              <a:t>, </a:t>
            </a:r>
            <a:r>
              <a:rPr lang="ko-KR" altLang="en-US" sz="1600" dirty="0"/>
              <a:t>파이프라인으로 공급하지 못하는 지역에도 천연가스를 공급할 수 있게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1964</a:t>
            </a:r>
            <a:r>
              <a:rPr lang="ko-KR" altLang="en-US" sz="1600" dirty="0"/>
              <a:t>년 알제리에서 영국으로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수출이 최초로 이루어지고</a:t>
            </a:r>
            <a:r>
              <a:rPr lang="en-US" altLang="ko-KR" sz="1600" dirty="0"/>
              <a:t>, </a:t>
            </a:r>
            <a:r>
              <a:rPr lang="ko-KR" altLang="en-US" sz="1600" dirty="0"/>
              <a:t>해상수송은 세계 천연가스시장에서 중요한 운송수단으로 자리잡았다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613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2B2B-B0DB-E70D-D7BF-B2362ECC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01D95-006F-48DC-EDE1-699FE507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78A500-8ECC-79BD-D5CA-30B81625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D0CFB-4544-09EF-CC37-A77EF95709A1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21</a:t>
            </a:r>
            <a:r>
              <a:rPr lang="ko-KR" altLang="en-US" sz="1600" dirty="0"/>
              <a:t>세기 들어서면서 천연가스 산업은 새로운 혁신기의 전기를 맞이하였다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미국의 </a:t>
            </a:r>
            <a:r>
              <a:rPr lang="ko-KR" altLang="en-US" sz="1600" dirty="0" err="1"/>
              <a:t>셰일가스</a:t>
            </a:r>
            <a:r>
              <a:rPr lang="ko-KR" altLang="en-US" sz="1600" dirty="0"/>
              <a:t> 혁명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석유챕터</a:t>
            </a:r>
            <a:r>
              <a:rPr lang="ko-KR" altLang="en-US" sz="1600" dirty="0"/>
              <a:t> 참고</a:t>
            </a:r>
            <a:r>
              <a:rPr lang="en-US" altLang="ko-KR" sz="1600" dirty="0"/>
              <a:t>)</a:t>
            </a:r>
            <a:r>
              <a:rPr lang="ko-KR" altLang="en-US" sz="1600" dirty="0"/>
              <a:t>은 천연가스 공급 구조에 지대한 변화를 초래하였다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미국은 세계 최대의 천연가스 생산국으로 부상하고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세계 천연가스 시장의 공급 안정성이 향상되었다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 기후변화와 지속가능한 발전에 대한 국제적 요구가 확대되면서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천연가스는 석탄과 석유를 대체할 수 있는 과도기적 청정연료로서 주목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재생에너지와 결합하여 전력 시스템의 안정성과 유연성을 제고할 수 있다는 점에서 역할이 부각된다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4184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0776-739F-0A2B-384D-A70C754F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9E3FF2-2862-6F62-2428-A3A8CCB3A6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13874A-2BEF-9F5C-B644-7D3646AC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E70DC7B-A6D8-53A3-E781-B2BCE7EE2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천연가스의 특징과 분류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11284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2EB0-5CB1-B555-AB86-A138BF68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8B283-1EC8-C4C3-5920-62AD905D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5A3AEF-46D5-1437-2A73-9EC69D80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ECAFF-AFC4-BC14-A49C-87CA10D6F926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높은 열효율</a:t>
            </a:r>
            <a:r>
              <a:rPr lang="en-US" altLang="ko-KR" sz="1600" dirty="0"/>
              <a:t>, </a:t>
            </a:r>
            <a:r>
              <a:rPr lang="ko-KR" altLang="en-US" sz="1600" dirty="0"/>
              <a:t>상대적으로 낮은 환경오염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유연성 등 여러가지 측면에서 장점을 지니고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우선 천연가스는 고효율 연료로서 복합화력발전소</a:t>
            </a:r>
            <a:r>
              <a:rPr lang="en-US" altLang="ko-KR" sz="1600" dirty="0"/>
              <a:t>(Combined Cycle Gas Turbine, CCGT)</a:t>
            </a:r>
            <a:r>
              <a:rPr lang="ko-KR" altLang="en-US" sz="1600" dirty="0"/>
              <a:t>에서 활용될 경우 최대 </a:t>
            </a:r>
            <a:r>
              <a:rPr lang="en-US" altLang="ko-KR" sz="1600" dirty="0"/>
              <a:t>60% </a:t>
            </a:r>
            <a:r>
              <a:rPr lang="ko-KR" altLang="en-US" sz="1600" dirty="0"/>
              <a:t>이상의 열효율을 달성할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석탄화력발전소의 경우 평균 효율이 </a:t>
            </a:r>
            <a:r>
              <a:rPr lang="en-US" altLang="ko-KR" sz="1600" dirty="0"/>
              <a:t>35%~45%</a:t>
            </a:r>
            <a:r>
              <a:rPr lang="ko-KR" altLang="en-US" sz="1600" dirty="0"/>
              <a:t>이며</a:t>
            </a:r>
            <a:r>
              <a:rPr lang="en-US" altLang="ko-KR" sz="1600" dirty="0"/>
              <a:t>, </a:t>
            </a:r>
            <a:r>
              <a:rPr lang="ko-KR" altLang="en-US" sz="1600" dirty="0"/>
              <a:t>동일한 전력을 생산하기 위해 필요한 연료가 줄어들기 때문에 에너지 비용절감효과가 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복합화력발전은 가스터빈의 배기열을 다시 이용해 증기터빈을 돌리는 구조이기 때문에 열 손실이 적고</a:t>
            </a:r>
            <a:r>
              <a:rPr lang="en-US" altLang="ko-KR" sz="1600" dirty="0"/>
              <a:t>, </a:t>
            </a:r>
            <a:r>
              <a:rPr lang="ko-KR" altLang="en-US" sz="1600" dirty="0"/>
              <a:t>효율 향상을 통해 연료비와 탄소배출량 까지 감소시킬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환경측면에서도 다른 화석연료에 비해 우수한 성능을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연소시</a:t>
            </a:r>
            <a:r>
              <a:rPr lang="ko-KR" altLang="en-US" sz="1600" dirty="0"/>
              <a:t> 이산화탄소</a:t>
            </a:r>
            <a:r>
              <a:rPr lang="en-US" altLang="ko-KR" sz="1600" dirty="0"/>
              <a:t>(CO</a:t>
            </a:r>
            <a:r>
              <a:rPr lang="en-US" altLang="ko-KR" sz="1600" baseline="-25000" dirty="0"/>
              <a:t>2</a:t>
            </a:r>
            <a:r>
              <a:rPr lang="en-US" altLang="ko-KR" sz="1600" dirty="0"/>
              <a:t>) </a:t>
            </a:r>
            <a:r>
              <a:rPr lang="ko-KR" altLang="en-US" sz="1600" dirty="0"/>
              <a:t>배출량은 석탄 대비 </a:t>
            </a:r>
            <a:r>
              <a:rPr lang="en-US" altLang="ko-KR" sz="1600" dirty="0"/>
              <a:t>50%, </a:t>
            </a:r>
            <a:r>
              <a:rPr lang="ko-KR" altLang="en-US" sz="1600" dirty="0"/>
              <a:t>석유 대비 </a:t>
            </a:r>
            <a:r>
              <a:rPr lang="en-US" altLang="ko-KR" sz="1600" dirty="0"/>
              <a:t>25% </a:t>
            </a:r>
            <a:r>
              <a:rPr lang="ko-KR" altLang="en-US" sz="1600" dirty="0"/>
              <a:t>낮으며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미세먼지 등의 유해 대기오염물질 배출 수준도 현저히 낮다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특성으로 저탄소 에너지 체제로의 전환 과정에서 </a:t>
            </a:r>
            <a:r>
              <a:rPr lang="en-US" altLang="ko-KR" sz="1600" dirty="0"/>
              <a:t>‘</a:t>
            </a:r>
            <a:r>
              <a:rPr lang="ko-KR" altLang="en-US" sz="1600" dirty="0"/>
              <a:t>과도기 연료</a:t>
            </a:r>
            <a:r>
              <a:rPr lang="en-US" altLang="ko-KR" sz="1600" dirty="0"/>
              <a:t>‘ </a:t>
            </a:r>
            <a:r>
              <a:rPr lang="ko-KR" altLang="en-US" sz="1600" dirty="0"/>
              <a:t>역할을 할 수 있다</a:t>
            </a:r>
            <a:r>
              <a:rPr lang="en-US" altLang="ko-KR" sz="16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A3F3A-62FB-C30F-0F3F-8AA269FED5F8}"/>
              </a:ext>
            </a:extLst>
          </p:cNvPr>
          <p:cNvSpPr txBox="1"/>
          <p:nvPr/>
        </p:nvSpPr>
        <p:spPr>
          <a:xfrm>
            <a:off x="7020059" y="3623187"/>
            <a:ext cx="3905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https://youtu.be/hWYle2IeInE?si=SKTF1iGELLehr8lD</a:t>
            </a:r>
          </a:p>
        </p:txBody>
      </p:sp>
    </p:spTree>
    <p:extLst>
      <p:ext uri="{BB962C8B-B14F-4D97-AF65-F5344CB8AC3E}">
        <p14:creationId xmlns:p14="http://schemas.microsoft.com/office/powerpoint/2010/main" val="135197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92EEC-3A59-045A-7E30-4FA433CE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E0EC1-C074-1DA9-03B0-6D0AD02D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64F8E-B0AE-7971-B0EC-A8EEBE62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73D8C-5E61-85AB-3138-40216A272CC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물리적 상태 변화에도 강점을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기체 상태의 천연가스를 영하 </a:t>
            </a:r>
            <a:r>
              <a:rPr lang="en-US" altLang="ko-KR" sz="1600" dirty="0"/>
              <a:t>162</a:t>
            </a:r>
            <a:r>
              <a:rPr lang="ko-KR" altLang="en-US" sz="1600" dirty="0"/>
              <a:t>도까지 냉각하면 액화천연가스 </a:t>
            </a:r>
            <a:r>
              <a:rPr lang="en-US" altLang="ko-KR" sz="1600" dirty="0"/>
              <a:t>(LNG, Liquified Natural Gas)</a:t>
            </a:r>
            <a:r>
              <a:rPr lang="ko-KR" altLang="en-US" sz="1600" dirty="0"/>
              <a:t>로 전환 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부피는 약 </a:t>
            </a:r>
            <a:r>
              <a:rPr lang="en-US" altLang="ko-KR" sz="1600" dirty="0"/>
              <a:t>1/600 </a:t>
            </a:r>
            <a:r>
              <a:rPr lang="ko-KR" altLang="en-US" sz="1600" dirty="0"/>
              <a:t>수준으로 감소한다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천연가스를 장거리</a:t>
            </a:r>
            <a:r>
              <a:rPr lang="en-US" altLang="ko-KR" sz="1600" dirty="0"/>
              <a:t>, </a:t>
            </a:r>
            <a:r>
              <a:rPr lang="ko-KR" altLang="en-US" sz="1600" dirty="0"/>
              <a:t>대륙간 수송에 적합한 형태로 만들어준다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파이프라인이 구축되지 않은 지역에도 상업적 거래를 가능하게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액화</a:t>
            </a:r>
            <a:r>
              <a:rPr lang="en-US" altLang="ko-KR" sz="1600" dirty="0"/>
              <a:t>, </a:t>
            </a:r>
            <a:r>
              <a:rPr lang="ko-KR" altLang="en-US" sz="1600" dirty="0"/>
              <a:t>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 재기화에 이르는 </a:t>
            </a:r>
            <a:r>
              <a:rPr lang="en-US" altLang="ko-KR" sz="1600" dirty="0"/>
              <a:t>LNG </a:t>
            </a:r>
            <a:r>
              <a:rPr lang="ko-KR" altLang="en-US" sz="1600" dirty="0"/>
              <a:t>공급망은 고도의 기술력과 투자비용을 요구하고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안전을 위한 인프라 구축이 필수적이다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안정성 측면에서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천연가스는 공기보다 가볍기 때문에 누출 시 개방된 공간에서는 빠르게 확산되어 연소 및 폭발 위험이 낮아지는 반면</a:t>
            </a:r>
            <a:r>
              <a:rPr lang="en-US" altLang="ko-KR" sz="1600" dirty="0"/>
              <a:t>, </a:t>
            </a:r>
            <a:r>
              <a:rPr lang="ko-KR" altLang="en-US" sz="1600" dirty="0"/>
              <a:t>밀폐된 공간에서는 가스가 축적되어 폭발 위험이 커질 수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천연가스는 </a:t>
            </a:r>
            <a:r>
              <a:rPr lang="ko-KR" altLang="en-US" sz="1600" dirty="0" err="1"/>
              <a:t>무색무취의</a:t>
            </a:r>
            <a:r>
              <a:rPr lang="ko-KR" altLang="en-US" sz="1600" dirty="0"/>
              <a:t> 성질을 갖고 있으므로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누출감지를 위해 </a:t>
            </a:r>
            <a:r>
              <a:rPr lang="ko-KR" altLang="en-US" sz="1600" dirty="0" err="1"/>
              <a:t>부취제를</a:t>
            </a:r>
            <a:r>
              <a:rPr lang="ko-KR" altLang="en-US" sz="1600" dirty="0"/>
              <a:t> 첨가하여 안정성 확보가 필요하다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지리적 측면에서 천연가스는 석유보다 더 넓은 지역에 매장되어 있어 공급 다변화에 유리하다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지리적 분산은 특정지역의 리스크가 전체 공급망에 미치는 영향을 완화해준다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0449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5D9F-AAAD-760D-EF0B-8BD4AC4F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33BEE-078B-4361-9BD5-5D936483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9D5676-6B81-6F34-54AC-0DF9537A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C1728-7097-8C75-FBEB-37824717168A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주로 메탄으로 구성된 천연가스는 화학적 조성과 물리적 성질에 따라 다양한 방식으로 분류할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과학적인 구분을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생산 방식</a:t>
            </a:r>
            <a:r>
              <a:rPr lang="en-US" altLang="ko-KR" sz="1600" dirty="0"/>
              <a:t>, </a:t>
            </a:r>
            <a:r>
              <a:rPr lang="ko-KR" altLang="en-US" sz="1600" dirty="0"/>
              <a:t>정제 과정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인프라</a:t>
            </a:r>
            <a:r>
              <a:rPr lang="en-US" altLang="ko-KR" sz="1600" dirty="0"/>
              <a:t>, </a:t>
            </a:r>
            <a:r>
              <a:rPr lang="ko-KR" altLang="en-US" sz="1600" dirty="0"/>
              <a:t>최종 수요시장의 선택 등 가치사슬 전반에 걸쳐 천연가스의 경제적</a:t>
            </a:r>
            <a:r>
              <a:rPr lang="en-US" altLang="ko-KR" sz="1600" dirty="0"/>
              <a:t>·</a:t>
            </a:r>
            <a:r>
              <a:rPr lang="ko-KR" altLang="en-US" sz="1600" dirty="0"/>
              <a:t>환경적 특성과 활용 방식을 결정짓는 중요한 기준으로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일반적인 분류는 메탄의 순도와 고급 탄화수소 성분의 포함 여부에 따른 드라이</a:t>
            </a:r>
            <a:r>
              <a:rPr lang="en-US" altLang="ko-KR" sz="1600" dirty="0"/>
              <a:t>(dry)</a:t>
            </a:r>
            <a:r>
              <a:rPr lang="ko-KR" altLang="en-US" sz="1600" dirty="0"/>
              <a:t> 가스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웻</a:t>
            </a:r>
            <a:r>
              <a:rPr lang="en-US" altLang="ko-KR" sz="1600" dirty="0"/>
              <a:t>(wet)</a:t>
            </a:r>
            <a:r>
              <a:rPr lang="ko-KR" altLang="en-US" sz="1600" dirty="0"/>
              <a:t> 가스 의 구분이다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드라이 가스는 메탄 비중이 약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이상으로</a:t>
            </a:r>
            <a:r>
              <a:rPr lang="en-US" altLang="ko-KR" sz="1600" dirty="0"/>
              <a:t>, </a:t>
            </a:r>
            <a:r>
              <a:rPr lang="ko-KR" altLang="en-US" sz="1600" dirty="0"/>
              <a:t>기타 탄화수소 성분이 거의 포함되어 있지 않아 정제가 단순하고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연료용으로 바로 사용하기에 적합하다</a:t>
            </a: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도시가스</a:t>
            </a:r>
            <a:r>
              <a:rPr lang="en-US" altLang="ko-KR" sz="1600" dirty="0"/>
              <a:t>, </a:t>
            </a:r>
            <a:r>
              <a:rPr lang="ko-KR" altLang="en-US" sz="1600" dirty="0"/>
              <a:t>발전용 연료 등 직접 연소형 시장에 적합하고</a:t>
            </a:r>
            <a:r>
              <a:rPr lang="en-US" altLang="ko-KR" sz="1600" dirty="0"/>
              <a:t>, </a:t>
            </a:r>
            <a:r>
              <a:rPr lang="ko-KR" altLang="en-US" sz="1600" dirty="0"/>
              <a:t>파이프라인을 통한 장거리 수송에도 효율적이다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웻</a:t>
            </a:r>
            <a:r>
              <a:rPr lang="ko-KR" altLang="en-US" sz="1600" dirty="0"/>
              <a:t> 가스는 에탄</a:t>
            </a:r>
            <a:r>
              <a:rPr lang="en-US" altLang="ko-KR" sz="1600" dirty="0"/>
              <a:t>, </a:t>
            </a:r>
            <a:r>
              <a:rPr lang="ko-KR" altLang="en-US" sz="1600" dirty="0"/>
              <a:t>프로판</a:t>
            </a:r>
            <a:r>
              <a:rPr lang="en-US" altLang="ko-KR" sz="1600" dirty="0"/>
              <a:t>, </a:t>
            </a:r>
            <a:r>
              <a:rPr lang="ko-KR" altLang="en-US" sz="1600" dirty="0"/>
              <a:t>부탄 등 중간 탄화수소가 다량 포함되어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성분들을 추출하여 부가가치가 높은 액화석유가스</a:t>
            </a:r>
            <a:r>
              <a:rPr lang="en-US" altLang="ko-KR" sz="1600" dirty="0"/>
              <a:t>(LPG)</a:t>
            </a:r>
            <a:r>
              <a:rPr lang="ko-KR" altLang="en-US" sz="1600" dirty="0"/>
              <a:t>나 석유화학 연료</a:t>
            </a:r>
            <a:r>
              <a:rPr lang="en-US" altLang="ko-KR" sz="1600" dirty="0"/>
              <a:t>(NGLs)</a:t>
            </a:r>
            <a:r>
              <a:rPr lang="ko-KR" altLang="en-US" sz="1600" dirty="0"/>
              <a:t>로 활용할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가스 처리 공정을 거쳐야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냉각</a:t>
            </a:r>
            <a:r>
              <a:rPr lang="en-US" altLang="ko-KR" sz="1600" dirty="0"/>
              <a:t>·</a:t>
            </a:r>
            <a:r>
              <a:rPr lang="ko-KR" altLang="en-US" sz="1600" dirty="0"/>
              <a:t>압축</a:t>
            </a:r>
            <a:r>
              <a:rPr lang="en-US" altLang="ko-KR" sz="1600" dirty="0"/>
              <a:t>·</a:t>
            </a:r>
            <a:r>
              <a:rPr lang="ko-KR" altLang="en-US" sz="1600" dirty="0"/>
              <a:t>탈탄소화 설비 등 고가의 인프라를 요구하므로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투자비용과 운송비용이 상대적으로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982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9A752-6556-46F6-857F-6E9C1A58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A3A0D-6D0E-4F71-91C8-2D344C3F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82F75-9B24-846E-DED3-F6DBD15D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F7D64-8C6C-6880-87B4-1AD3A56E4675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 다른 분류 방식은 천연가스 내에 포함된 불순물의 함량에 기반한 분류다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사워</a:t>
            </a:r>
            <a:r>
              <a:rPr lang="ko-KR" altLang="en-US" sz="1600" dirty="0"/>
              <a:t> 가스</a:t>
            </a:r>
            <a:r>
              <a:rPr lang="en-US" altLang="ko-KR" sz="1600" dirty="0"/>
              <a:t>(sour gas)</a:t>
            </a:r>
            <a:r>
              <a:rPr lang="ko-KR" altLang="en-US" sz="1600" dirty="0"/>
              <a:t>는 황화수소 또는 이산화탄소와 같은 산성 가스를 상당량 포함하고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인체에 유해하고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공정 설비의 부식을 유발하며</a:t>
            </a:r>
            <a:r>
              <a:rPr lang="en-US" altLang="ko-KR" sz="1600" dirty="0"/>
              <a:t>, </a:t>
            </a:r>
            <a:r>
              <a:rPr lang="ko-KR" altLang="en-US" sz="1600" dirty="0"/>
              <a:t>운송과 저장 시 높은 위험성을 수반하므로 </a:t>
            </a:r>
            <a:r>
              <a:rPr lang="ko-KR" altLang="en-US" sz="1600" dirty="0" err="1"/>
              <a:t>스위트닝</a:t>
            </a:r>
            <a:r>
              <a:rPr lang="en-US" altLang="ko-KR" sz="1600" dirty="0"/>
              <a:t>(sweetening) </a:t>
            </a:r>
            <a:r>
              <a:rPr lang="ko-KR" altLang="en-US" sz="1600" dirty="0"/>
              <a:t>공정을 필요로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대표적으로 아민 </a:t>
            </a:r>
            <a:r>
              <a:rPr lang="ko-KR" altLang="en-US" sz="1600" dirty="0" err="1"/>
              <a:t>흡수탑</a:t>
            </a:r>
            <a:r>
              <a:rPr lang="en-US" altLang="ko-KR" sz="1600" dirty="0"/>
              <a:t>, </a:t>
            </a:r>
            <a:r>
              <a:rPr lang="ko-KR" altLang="en-US" sz="1600" dirty="0"/>
              <a:t>막 분리 기술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크라이오제닉</a:t>
            </a:r>
            <a:r>
              <a:rPr lang="ko-KR" altLang="en-US" sz="1600" dirty="0"/>
              <a:t> 냉각 등의 정제 기술이 사용되고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인한 처리비용의 상승이 전체 프로젝트의 수익성으로 직결된다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스위트 가스</a:t>
            </a:r>
            <a:r>
              <a:rPr lang="en-US" altLang="ko-KR" sz="1600" dirty="0"/>
              <a:t>(sweet gas)</a:t>
            </a:r>
            <a:r>
              <a:rPr lang="ko-KR" altLang="en-US" sz="1600" dirty="0"/>
              <a:t>는 황화수소 또는 이산화탄소와 같은 산성 가스를 거의 포함하고 있지 않다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사워</a:t>
            </a:r>
            <a:r>
              <a:rPr lang="ko-KR" altLang="en-US" sz="1600" dirty="0"/>
              <a:t> 가스 대비 상대적으로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냄새가 적고 안전하여</a:t>
            </a:r>
            <a:r>
              <a:rPr lang="en-US" altLang="ko-KR" sz="1600" dirty="0"/>
              <a:t>, </a:t>
            </a:r>
            <a:r>
              <a:rPr lang="ko-KR" altLang="en-US" sz="1600" dirty="0"/>
              <a:t>처리공정이 간단하다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상대적으로 정제 비용이 적고</a:t>
            </a:r>
            <a:r>
              <a:rPr lang="en-US" altLang="ko-KR" sz="1600" dirty="0"/>
              <a:t>, </a:t>
            </a:r>
            <a:r>
              <a:rPr lang="ko-KR" altLang="en-US" sz="1600" dirty="0"/>
              <a:t>탄소배출 측면에서도 유리하여 정책적</a:t>
            </a:r>
            <a:r>
              <a:rPr lang="en-US" altLang="ko-KR" sz="1600" dirty="0"/>
              <a:t>·</a:t>
            </a:r>
            <a:r>
              <a:rPr lang="ko-KR" altLang="en-US" sz="1600" dirty="0"/>
              <a:t>환경적 선호도가 높다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3645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20D6-836A-4370-E46C-301BB69E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0E1D9-42CC-00CB-BE17-A748399F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23E626-40F4-8266-86B5-8907BC52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9AD25-10EC-E4FD-80B6-78DED0C0C440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매장 형태에 따른 분류도 천연가스의 특성과 상업적 전략을 이해하는데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어소시에이티드</a:t>
            </a:r>
            <a:r>
              <a:rPr lang="ko-KR" altLang="en-US" sz="1600" dirty="0"/>
              <a:t> 가스</a:t>
            </a:r>
            <a:r>
              <a:rPr lang="en-US" altLang="ko-KR" sz="1600" dirty="0"/>
              <a:t>(associated gas)</a:t>
            </a:r>
            <a:r>
              <a:rPr lang="ko-KR" altLang="en-US" sz="1600" dirty="0"/>
              <a:t>는 석유와 함께 동일한 지층에 공존하며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원유 생산 과정에서 부산물로 발생하는 가스를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과거에는 기술부족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 미비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수요처</a:t>
            </a:r>
            <a:r>
              <a:rPr lang="ko-KR" altLang="en-US" sz="1600" dirty="0"/>
              <a:t> 부재 등의 이유로 대부분 연소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플레어링</a:t>
            </a:r>
            <a:r>
              <a:rPr lang="en-US" altLang="ko-KR" sz="1600" dirty="0"/>
              <a:t>)</a:t>
            </a:r>
            <a:r>
              <a:rPr lang="ko-KR" altLang="en-US" sz="1600" dirty="0"/>
              <a:t>되거나 지하에 </a:t>
            </a:r>
            <a:r>
              <a:rPr lang="ko-KR" altLang="en-US" sz="1600" dirty="0" err="1"/>
              <a:t>재주입되었으나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</a:t>
            </a:r>
            <a:r>
              <a:rPr lang="ko-KR" altLang="en-US" sz="1600" dirty="0" err="1"/>
              <a:t>플레어링</a:t>
            </a:r>
            <a:r>
              <a:rPr lang="ko-KR" altLang="en-US" sz="1600" dirty="0"/>
              <a:t> 금지 정책과 자원 효율성 강화에 따라 회수 및 이용이 증가하고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넌어소시에이티드</a:t>
            </a:r>
            <a:r>
              <a:rPr lang="ko-KR" altLang="en-US" sz="1600" dirty="0"/>
              <a:t> 가스</a:t>
            </a:r>
            <a:r>
              <a:rPr lang="en-US" altLang="ko-KR" sz="1600" dirty="0"/>
              <a:t>(non-</a:t>
            </a:r>
            <a:r>
              <a:rPr lang="en-US" altLang="ko-KR" sz="1600" dirty="0" err="1"/>
              <a:t>associaged</a:t>
            </a:r>
            <a:r>
              <a:rPr lang="en-US" altLang="ko-KR" sz="1600" dirty="0"/>
              <a:t> gas)</a:t>
            </a:r>
            <a:r>
              <a:rPr lang="ko-KR" altLang="en-US" sz="1600" dirty="0"/>
              <a:t>는 독립적인 가스전에서 생산되며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가스를 주요 자원으로 상정한 개발 프로젝트에서 생산된 가스를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상대적으로 품질이 균일하고</a:t>
            </a:r>
            <a:r>
              <a:rPr lang="en-US" altLang="ko-KR" sz="1600" dirty="0"/>
              <a:t>, </a:t>
            </a:r>
            <a:r>
              <a:rPr lang="ko-KR" altLang="en-US" sz="1600" dirty="0"/>
              <a:t>생산 계획 및 가격 책정이 독립적으로 가능하기 때문에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</a:t>
            </a:r>
            <a:r>
              <a:rPr lang="en-US" altLang="ko-KR" sz="1600" dirty="0"/>
              <a:t>, </a:t>
            </a:r>
            <a:r>
              <a:rPr lang="ko-KR" altLang="en-US" sz="1600" dirty="0"/>
              <a:t>도시가스 공급 등 고부가가치 시장을 겨냥한 전략적 활용에 용이하다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323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D2A0-210C-8C30-A32E-11C168CB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5166C-F5D0-3F70-CC35-370E1EAA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23AFF-BA3A-3CA0-4772-3022A4E3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64481-DC0F-FEEF-7D2B-B28B0E048AA4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분류는 기술적 차원을 넘어 가치사슬 전반에 걸쳐 실질적인 경제성과 환경성에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드라이 가스는 파이프라인 인프라와 결합되어 에너지 효율성이 높은 공급망 구축에 적합하다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웻</a:t>
            </a:r>
            <a:r>
              <a:rPr lang="ko-KR" altLang="en-US" sz="1600" dirty="0"/>
              <a:t> 가스는 분리 및 처리 과정을 통해 석유화학 산업과의 연계를 강화할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사워</a:t>
            </a:r>
            <a:r>
              <a:rPr lang="ko-KR" altLang="en-US" sz="1600" dirty="0"/>
              <a:t> 가스는 공정 설계와 환경규제 대응에서 높은 수준의 기술력과 자본을 요구하므로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투자 타당성 분석에서 핵심 변수로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어소시에이티드</a:t>
            </a:r>
            <a:r>
              <a:rPr lang="ko-KR" altLang="en-US" sz="1600" dirty="0"/>
              <a:t> 가스는 석유 가격과 생산량에 따라 동반 변동성이 존재하므로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수급 안정성을 위해 별도의 저장 및 활용 전략이 필요하다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058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078E1-38F3-55A7-E509-C500B0C6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1D847-DA49-3607-B892-317A203E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BF416-6C1F-7203-FA06-75ECAB80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0EC15-8F69-5D17-0339-448E38426484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천연가스의 공급사슬은 탐사에서 최종 소비자에게 이르는 전 과정을 포함하는 복합적이고 </a:t>
            </a:r>
            <a:r>
              <a:rPr lang="ko-KR" altLang="en-US" sz="1600" dirty="0" err="1"/>
              <a:t>다단계적인</a:t>
            </a:r>
            <a:r>
              <a:rPr lang="ko-KR" altLang="en-US" sz="1600" dirty="0"/>
              <a:t> 구조를 형성하고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각 단계는 상이한 기술</a:t>
            </a:r>
            <a:r>
              <a:rPr lang="en-US" altLang="ko-KR" sz="1600" dirty="0"/>
              <a:t>, </a:t>
            </a:r>
            <a:r>
              <a:rPr lang="ko-KR" altLang="en-US" sz="1600" dirty="0"/>
              <a:t>자본</a:t>
            </a:r>
            <a:r>
              <a:rPr lang="en-US" altLang="ko-KR" sz="1600" dirty="0"/>
              <a:t>, </a:t>
            </a:r>
            <a:r>
              <a:rPr lang="ko-KR" altLang="en-US" sz="1600" dirty="0"/>
              <a:t>정책 환경 속에서 운영된다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공급사슬의 출발점은 탐사 및 생산 단계이다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지질학적 모델</a:t>
            </a:r>
            <a:r>
              <a:rPr lang="en-US" altLang="ko-KR" sz="1600" dirty="0"/>
              <a:t>, </a:t>
            </a:r>
            <a:r>
              <a:rPr lang="ko-KR" altLang="en-US" sz="1600" dirty="0"/>
              <a:t>지진파 탐사</a:t>
            </a:r>
            <a:r>
              <a:rPr lang="en-US" altLang="ko-KR" sz="1600" dirty="0"/>
              <a:t>, </a:t>
            </a:r>
            <a:r>
              <a:rPr lang="ko-KR" altLang="en-US" sz="1600" dirty="0"/>
              <a:t>중력 및 자기탐사 등의 기술을 활용하여 지하에 매장된 천연가스 자원을 탐색한다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단계는 </a:t>
            </a:r>
            <a:r>
              <a:rPr lang="ko-KR" altLang="en-US" sz="1600" dirty="0" err="1"/>
              <a:t>자본집약적이고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지질학적 불확실성이 높아 고위험</a:t>
            </a:r>
            <a:r>
              <a:rPr lang="en-US" altLang="ko-KR" sz="1600" dirty="0"/>
              <a:t>-</a:t>
            </a:r>
            <a:r>
              <a:rPr lang="ko-KR" altLang="en-US" sz="1600" dirty="0"/>
              <a:t>고수익 성격을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자원 개발 가능성을 평가하기 위한 탐사 확률 분석</a:t>
            </a:r>
            <a:r>
              <a:rPr lang="en-US" altLang="ko-KR" sz="1600" dirty="0"/>
              <a:t>, </a:t>
            </a:r>
            <a:r>
              <a:rPr lang="ko-KR" altLang="en-US" sz="1600" dirty="0"/>
              <a:t>내부수익률 시뮬레이션</a:t>
            </a:r>
            <a:r>
              <a:rPr lang="en-US" altLang="ko-KR" sz="1600" dirty="0"/>
              <a:t>, </a:t>
            </a:r>
            <a:r>
              <a:rPr lang="ko-KR" altLang="en-US" sz="1600" dirty="0"/>
              <a:t>손익분기 가격 분석 등이 병행된다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시추기술의 발달은 특히 </a:t>
            </a:r>
            <a:r>
              <a:rPr lang="ko-KR" altLang="en-US" sz="1600" dirty="0" err="1"/>
              <a:t>비전통</a:t>
            </a:r>
            <a:r>
              <a:rPr lang="ko-KR" altLang="en-US" sz="1600" dirty="0"/>
              <a:t> 천연가스 자원 개발의 전환점을 마련하였다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수평시추와 </a:t>
            </a:r>
            <a:r>
              <a:rPr lang="ko-KR" altLang="en-US" sz="1600" dirty="0" err="1"/>
              <a:t>수압파쇄</a:t>
            </a:r>
            <a:r>
              <a:rPr lang="ko-KR" altLang="en-US" sz="1600" dirty="0"/>
              <a:t> 기술은 </a:t>
            </a:r>
            <a:r>
              <a:rPr lang="ko-KR" altLang="en-US" sz="1600" dirty="0" err="1"/>
              <a:t>셰일가스나</a:t>
            </a:r>
            <a:r>
              <a:rPr lang="ko-KR" altLang="en-US" sz="1600" dirty="0"/>
              <a:t> 타이트가스 자원의 상업적 생산을 가능하게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기술 진보를 통해 전통적 가스 수출국의 시장지배력 약화</a:t>
            </a:r>
            <a:r>
              <a:rPr lang="en-US" altLang="ko-KR" sz="1600" dirty="0"/>
              <a:t>, </a:t>
            </a:r>
            <a:r>
              <a:rPr lang="ko-KR" altLang="en-US" sz="1600" dirty="0"/>
              <a:t>북미 지역의 에너지 자립도 향상</a:t>
            </a:r>
            <a:r>
              <a:rPr lang="en-US" altLang="ko-KR" sz="1600" dirty="0"/>
              <a:t>, </a:t>
            </a:r>
            <a:r>
              <a:rPr lang="ko-KR" altLang="en-US" sz="1600" dirty="0"/>
              <a:t>글로벌 </a:t>
            </a:r>
            <a:r>
              <a:rPr lang="en-US" altLang="ko-KR" sz="1600" dirty="0"/>
              <a:t>LNG</a:t>
            </a:r>
            <a:r>
              <a:rPr lang="ko-KR" altLang="en-US" sz="1600" dirty="0"/>
              <a:t>시장의 유동성 증가라는 구조적 변화를 이끌었다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104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931F9-6AB7-24BF-A4DA-EF98BD65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AC5C3-979E-72AF-328B-5F9B1E2D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E49A2-B0BF-5230-840C-7FFEA878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153C6-9096-9531-152C-061846938BE5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생산된 원가스는 메탄 외에도 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황화수소</a:t>
            </a:r>
            <a:r>
              <a:rPr lang="en-US" altLang="ko-KR" sz="1600" dirty="0"/>
              <a:t>, </a:t>
            </a:r>
            <a:r>
              <a:rPr lang="ko-KR" altLang="en-US" sz="1600" dirty="0"/>
              <a:t>질소</a:t>
            </a:r>
            <a:r>
              <a:rPr lang="en-US" altLang="ko-KR" sz="1600" dirty="0"/>
              <a:t>, </a:t>
            </a:r>
            <a:r>
              <a:rPr lang="ko-KR" altLang="en-US" sz="1600" dirty="0"/>
              <a:t>액화석유가스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</a:t>
            </a:r>
            <a:r>
              <a:rPr lang="ko-KR" altLang="en-US" sz="1600" dirty="0" err="1"/>
              <a:t>액체류</a:t>
            </a:r>
            <a:r>
              <a:rPr lang="ko-KR" altLang="en-US" sz="1600" dirty="0"/>
              <a:t> 등 다양한 불순물을 포함하고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가공 및 정제 처리 단계를 통해 </a:t>
            </a:r>
            <a:r>
              <a:rPr lang="en-US" altLang="ko-KR" sz="1600" dirty="0"/>
              <a:t>‘</a:t>
            </a:r>
            <a:r>
              <a:rPr lang="ko-KR" altLang="en-US" sz="1600" dirty="0"/>
              <a:t>스위트 가스</a:t>
            </a:r>
            <a:r>
              <a:rPr lang="en-US" altLang="ko-KR" sz="1600" dirty="0"/>
              <a:t>’</a:t>
            </a:r>
            <a:r>
              <a:rPr lang="ko-KR" altLang="en-US" sz="1600" dirty="0"/>
              <a:t>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과정에는 산성가스 제거</a:t>
            </a:r>
            <a:r>
              <a:rPr lang="en-US" altLang="ko-KR" sz="1600" dirty="0"/>
              <a:t>, </a:t>
            </a:r>
            <a:r>
              <a:rPr lang="ko-KR" altLang="en-US" sz="1600" dirty="0"/>
              <a:t>수분 제거</a:t>
            </a:r>
            <a:r>
              <a:rPr lang="en-US" altLang="ko-KR" sz="1600" dirty="0"/>
              <a:t>, NGL </a:t>
            </a:r>
            <a:r>
              <a:rPr lang="ko-KR" altLang="en-US" sz="1600" dirty="0"/>
              <a:t>분리 등의 공정이 포함되며 최종적으로는 수송 가능한 사양의 고순도 메탄 가스를 확보하게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가공단계는 환경 규제와 연결되어 있을 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제품 다양화 및 부가가치 창출의 기초가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정제된 가스는 수송단계로 넘어가며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일반적인 방식은 파이프라인을 통한 육상 수송이다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대륙간 수송이 어려운 경우에는 천연가스를 </a:t>
            </a:r>
            <a:r>
              <a:rPr lang="en-US" altLang="ko-KR" sz="1600" dirty="0"/>
              <a:t>-162℃</a:t>
            </a:r>
            <a:r>
              <a:rPr lang="ko-KR" altLang="en-US" sz="1600" dirty="0"/>
              <a:t>로</a:t>
            </a:r>
            <a:r>
              <a:rPr lang="en-US" altLang="ko-KR" sz="1600" dirty="0"/>
              <a:t> </a:t>
            </a:r>
            <a:r>
              <a:rPr lang="ko-KR" altLang="en-US" sz="1600" dirty="0"/>
              <a:t>냉각시켜 액화</a:t>
            </a:r>
            <a:r>
              <a:rPr lang="en-US" altLang="ko-KR" sz="1600" dirty="0"/>
              <a:t> </a:t>
            </a:r>
            <a:r>
              <a:rPr lang="ko-KR" altLang="en-US" sz="1600" dirty="0"/>
              <a:t>형태</a:t>
            </a:r>
            <a:r>
              <a:rPr lang="en-US" altLang="ko-KR" sz="1600" dirty="0"/>
              <a:t>(LNG, Liquified Natural Gas)</a:t>
            </a:r>
            <a:r>
              <a:rPr lang="ko-KR" altLang="en-US" sz="1600" dirty="0"/>
              <a:t>로 만들어 특수 선박을 이용해 해상 수송하고</a:t>
            </a:r>
            <a:r>
              <a:rPr lang="en-US" altLang="ko-KR" sz="1600" dirty="0"/>
              <a:t>,</a:t>
            </a:r>
            <a:r>
              <a:rPr lang="ko-KR" altLang="en-US" sz="1600" dirty="0"/>
              <a:t> 도착지에는 재기화를 통해 기체 상태로 전환하여 지역 파이프라인망으로 공급된다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파이프라인 수송은 통상적으로 생산지</a:t>
            </a:r>
            <a:r>
              <a:rPr lang="en-US" altLang="ko-KR" sz="1600" dirty="0"/>
              <a:t>-</a:t>
            </a:r>
            <a:r>
              <a:rPr lang="ko-KR" altLang="en-US" sz="1600" dirty="0"/>
              <a:t>소비지 간의 장기계약과 함께 구축되며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인프라의 장기적인 고정비 투자와 관련된 자산특화가 높은 특징을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LNG</a:t>
            </a:r>
            <a:r>
              <a:rPr lang="ko-KR" altLang="en-US" sz="1600" dirty="0"/>
              <a:t>는 수출입이 가능한 유연성을 제공하지만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초기 설비투자가 막대하고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정제</a:t>
            </a:r>
            <a:r>
              <a:rPr lang="en-US" altLang="ko-KR" sz="1600" dirty="0"/>
              <a:t>, </a:t>
            </a:r>
            <a:r>
              <a:rPr lang="ko-KR" altLang="en-US" sz="1600" dirty="0"/>
              <a:t>냉각</a:t>
            </a:r>
            <a:r>
              <a:rPr lang="en-US" altLang="ko-KR" sz="1600" dirty="0"/>
              <a:t>, </a:t>
            </a:r>
            <a:r>
              <a:rPr lang="ko-KR" altLang="en-US" sz="1600" dirty="0"/>
              <a:t>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재기화 등 다단계 인프라가 필요하다는 점에서 비용 부담이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4002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FD0D-559E-9216-20DF-251B46989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07D12-1347-8D58-95C3-6015C3E5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5C442-FC90-AC2A-F123-3CEDA909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78388-3865-426E-7D9E-E12FC5D97943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공급과 수요의 시간차가 존재하기 때문에 저장설비가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저장소는 일반적으로 지하 </a:t>
            </a:r>
            <a:r>
              <a:rPr lang="ko-KR" altLang="en-US" sz="1600" dirty="0" err="1"/>
              <a:t>염동굴</a:t>
            </a:r>
            <a:r>
              <a:rPr lang="en-US" altLang="ko-KR" sz="1600" dirty="0"/>
              <a:t>, </a:t>
            </a:r>
            <a:r>
              <a:rPr lang="ko-KR" altLang="en-US" sz="1600" dirty="0"/>
              <a:t>고갈된 가스전</a:t>
            </a:r>
            <a:r>
              <a:rPr lang="en-US" altLang="ko-KR" sz="1600" dirty="0"/>
              <a:t>, </a:t>
            </a:r>
            <a:r>
              <a:rPr lang="ko-KR" altLang="en-US" sz="1600" dirty="0"/>
              <a:t>수조형 탱크로 구분되며</a:t>
            </a:r>
            <a:r>
              <a:rPr lang="en-US" altLang="ko-KR" sz="1600" dirty="0"/>
              <a:t>, </a:t>
            </a:r>
            <a:r>
              <a:rPr lang="ko-KR" altLang="en-US" sz="1600" dirty="0"/>
              <a:t>계절 수요 변동이 큰 북반구 지역에서는 겨울철 난방 수요 급등에 대비한 계절조절 수단으로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최근에는 수요 예측 기반의 스마트 저장시스템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가격 변동에 따른 수익 극대화를 위한 전략적 저장 운영이 주목받고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공급사슬의 마지막 단계는 분배이며</a:t>
            </a:r>
            <a:r>
              <a:rPr lang="en-US" altLang="ko-KR" sz="1600" dirty="0"/>
              <a:t>,</a:t>
            </a:r>
            <a:r>
              <a:rPr lang="ko-KR" altLang="en-US" sz="1600" dirty="0"/>
              <a:t> 이는 고압 송수관에서 저압의 지역 공급망으로 천연가스를 전달하는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과정에서는 가정용</a:t>
            </a:r>
            <a:r>
              <a:rPr lang="en-US" altLang="ko-KR" sz="1600" dirty="0"/>
              <a:t>, </a:t>
            </a:r>
            <a:r>
              <a:rPr lang="ko-KR" altLang="en-US" sz="1600" dirty="0"/>
              <a:t>상업용</a:t>
            </a:r>
            <a:r>
              <a:rPr lang="en-US" altLang="ko-KR" sz="1600" dirty="0"/>
              <a:t>, </a:t>
            </a:r>
            <a:r>
              <a:rPr lang="ko-KR" altLang="en-US" sz="1600" dirty="0"/>
              <a:t>산업용 수요자의 안전성과 편의성을 고려하여 압력 조절</a:t>
            </a:r>
            <a:r>
              <a:rPr lang="en-US" altLang="ko-KR" sz="1600" dirty="0"/>
              <a:t>, </a:t>
            </a:r>
            <a:r>
              <a:rPr lang="ko-KR" altLang="en-US" sz="1600" dirty="0"/>
              <a:t>계량기 설치</a:t>
            </a:r>
            <a:r>
              <a:rPr lang="en-US" altLang="ko-KR" sz="1600" dirty="0"/>
              <a:t>, </a:t>
            </a:r>
            <a:r>
              <a:rPr lang="ko-KR" altLang="en-US" sz="1600" dirty="0"/>
              <a:t>품질 보증 등의 절차가 수반된다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주거용 난방</a:t>
            </a:r>
            <a:r>
              <a:rPr lang="en-US" altLang="ko-KR" sz="1600" dirty="0"/>
              <a:t>, </a:t>
            </a:r>
            <a:r>
              <a:rPr lang="ko-KR" altLang="en-US" sz="1600" dirty="0"/>
              <a:t>취사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산업열원</a:t>
            </a:r>
            <a:r>
              <a:rPr lang="en-US" altLang="ko-KR" sz="1600" dirty="0"/>
              <a:t>, </a:t>
            </a:r>
            <a:r>
              <a:rPr lang="ko-KR" altLang="en-US" sz="1600" dirty="0"/>
              <a:t>전력 발전</a:t>
            </a:r>
            <a:r>
              <a:rPr lang="en-US" altLang="ko-KR" sz="1600" dirty="0"/>
              <a:t>, </a:t>
            </a:r>
            <a:r>
              <a:rPr lang="ko-KR" altLang="en-US" sz="1600" dirty="0"/>
              <a:t>화학제품 원료로 다양하게 쓰이고</a:t>
            </a:r>
            <a:r>
              <a:rPr lang="en-US" altLang="ko-KR" sz="1600" dirty="0"/>
              <a:t>, </a:t>
            </a:r>
            <a:r>
              <a:rPr lang="ko-KR" altLang="en-US" sz="1600" dirty="0"/>
              <a:t>교통용 연료로도 쓰인다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압축천연가스 </a:t>
            </a:r>
            <a:r>
              <a:rPr lang="en-US" altLang="ko-KR" sz="1600" dirty="0"/>
              <a:t>(CNG, Compressed Natural Gas)</a:t>
            </a:r>
            <a:r>
              <a:rPr lang="ko-KR" altLang="en-US" sz="1600" dirty="0"/>
              <a:t>는 도시버스나 승용차에</a:t>
            </a:r>
            <a:r>
              <a:rPr lang="en-US" altLang="ko-KR" sz="1600" dirty="0"/>
              <a:t> </a:t>
            </a:r>
            <a:r>
              <a:rPr lang="ko-KR" altLang="en-US" sz="1600" dirty="0"/>
              <a:t>쓰인다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액화천연가스 </a:t>
            </a:r>
            <a:r>
              <a:rPr lang="en-US" altLang="ko-KR" sz="1600" dirty="0"/>
              <a:t>(LNG, Liquified Natural Gas)</a:t>
            </a:r>
            <a:r>
              <a:rPr lang="ko-KR" altLang="en-US" sz="1600" dirty="0"/>
              <a:t>는 트럭</a:t>
            </a:r>
            <a:r>
              <a:rPr lang="en-US" altLang="ko-KR" sz="1600" dirty="0"/>
              <a:t>, </a:t>
            </a:r>
            <a:r>
              <a:rPr lang="ko-KR" altLang="en-US" sz="1600" dirty="0"/>
              <a:t>선박</a:t>
            </a:r>
            <a:r>
              <a:rPr lang="en-US" altLang="ko-KR" sz="1600" dirty="0"/>
              <a:t>, </a:t>
            </a:r>
            <a:r>
              <a:rPr lang="ko-KR" altLang="en-US" sz="1600" dirty="0"/>
              <a:t>철도 등 장거리</a:t>
            </a:r>
            <a:r>
              <a:rPr lang="en-US" altLang="ko-KR" sz="1600" dirty="0"/>
              <a:t>·</a:t>
            </a:r>
            <a:r>
              <a:rPr lang="ko-KR" altLang="en-US" sz="1600" dirty="0"/>
              <a:t>대형 운송수단에 쓰인다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2248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C290-92DE-9947-B598-19866030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4CB4D-D982-EEAD-F858-758C9A11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4E8D8-AA26-04DB-3BB8-BCBD2294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63C0F-AE23-70B0-8CD4-785AC69CB882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공급사슬은 기술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환경성</a:t>
            </a:r>
            <a:r>
              <a:rPr lang="en-US" altLang="ko-KR" sz="1600" dirty="0"/>
              <a:t>, </a:t>
            </a:r>
            <a:r>
              <a:rPr lang="ko-KR" altLang="en-US" sz="1600" dirty="0"/>
              <a:t>국제정치가 복합적으로 얽힌 구조로서</a:t>
            </a:r>
            <a:r>
              <a:rPr lang="en-US" altLang="ko-KR" sz="1600" dirty="0"/>
              <a:t>, </a:t>
            </a:r>
            <a:r>
              <a:rPr lang="ko-KR" altLang="en-US" sz="1600" dirty="0"/>
              <a:t>각 단계는 단순한 생산과 수송 이상의 전략적 의미를 갖는다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특히 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목표가 중요한 시대적 과제로 떠오른 현재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공급사슬의 효율성과 탄력성은 국가 및 글로벌 차원의 정책 설계와 시장전략에서 핵심 요소로 작용하고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3658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601A-FB1D-722F-2FC6-1AD571EA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A8D64D-3ECB-6BBC-2840-DD40968194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6F5BF2-6D24-310D-DF42-8B7B3041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F8F96F9-B37F-0121-FC63-42BCF036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천연가스의 시장의 현황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48910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9DA9-730B-BBD9-DA05-39BF2FFD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7B63E-4028-7888-AD6C-D8E16256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F2238-501C-5A8A-D9AE-B6619F7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08686-6A82-DD8C-D410-946AAEC7C6B3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2020</a:t>
            </a:r>
            <a:r>
              <a:rPr lang="ko-KR" altLang="en-US" sz="1600" dirty="0"/>
              <a:t>년 기준 전 세계 천연가스 확인 매장량은 </a:t>
            </a:r>
            <a:r>
              <a:rPr lang="en-US" altLang="ko-KR" sz="1600" dirty="0"/>
              <a:t>188.1</a:t>
            </a:r>
            <a:r>
              <a:rPr lang="ko-KR" altLang="en-US" sz="1600" dirty="0"/>
              <a:t>조 </a:t>
            </a:r>
            <a:r>
              <a:rPr lang="ko-KR" altLang="en-US" sz="1600" dirty="0" err="1"/>
              <a:t>입방미터에</a:t>
            </a:r>
            <a:r>
              <a:rPr lang="ko-KR" altLang="en-US" sz="1600" dirty="0"/>
              <a:t> 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</a:t>
            </a:r>
            <a:r>
              <a:rPr lang="en-US" altLang="ko-KR" sz="1600" dirty="0"/>
              <a:t>2000</a:t>
            </a:r>
            <a:r>
              <a:rPr lang="ko-KR" altLang="en-US" sz="1600" dirty="0"/>
              <a:t>년에 비해 약 </a:t>
            </a:r>
            <a:r>
              <a:rPr lang="en-US" altLang="ko-KR" sz="1600" dirty="0"/>
              <a:t>50</a:t>
            </a:r>
            <a:r>
              <a:rPr lang="ko-KR" altLang="en-US" sz="1600" dirty="0"/>
              <a:t>조 </a:t>
            </a:r>
            <a:r>
              <a:rPr lang="ko-KR" altLang="en-US" sz="1600" dirty="0" err="1"/>
              <a:t>입방미터</a:t>
            </a:r>
            <a:r>
              <a:rPr lang="ko-KR" altLang="en-US" sz="1600" dirty="0"/>
              <a:t> 증가한 수치이다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앞서 말한 비전통가스전의 개발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셰일혁명</a:t>
            </a:r>
            <a:r>
              <a:rPr lang="en-US" altLang="ko-KR" sz="1600" dirty="0"/>
              <a:t>), </a:t>
            </a:r>
            <a:r>
              <a:rPr lang="ko-KR" altLang="en-US" sz="1600" dirty="0"/>
              <a:t>시추기술의 발전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신규 매장지 발견에 기인한다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8874414-3187-17F2-B6B4-B959B7664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79493"/>
              </p:ext>
            </p:extLst>
          </p:nvPr>
        </p:nvGraphicFramePr>
        <p:xfrm>
          <a:off x="2451498" y="2893903"/>
          <a:ext cx="6150534" cy="31743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1211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1410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매장량</a:t>
                      </a:r>
                      <a:r>
                        <a:rPr lang="en-US" altLang="ko-KR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비율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 (5.3%)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10.5 (5.8%)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15.2 (8.1%)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 (4.9%)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 (4.5%)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 (4.2%)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 (3.9%)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 (2.6%)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 (1.7%)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38.6 (27.8%)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51.3 (28.5%)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56.6 (30.1%)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58.3 (42.2%)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77.8 (43.2%)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75.8 (40.3%)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11.9 (8.6%)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 (7.8%)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12.9 (6.9%)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 (7.1%)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 (7.5%)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 (8.8%)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세계 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138.0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179.9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188.1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 (9.9%)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 (9.8%)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20.3 (10.8%)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124.4 (90.1%)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162.4 (90.3%)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167.8 (89.2%)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 (1.8%)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 (0.9%)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 (0.2%)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3CDDA4-52D1-16CA-EF25-BD298986E2C3}"/>
              </a:ext>
            </a:extLst>
          </p:cNvPr>
          <p:cNvSpPr txBox="1"/>
          <p:nvPr/>
        </p:nvSpPr>
        <p:spPr>
          <a:xfrm>
            <a:off x="3819650" y="2515751"/>
            <a:ext cx="3339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천연가스 매장량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/>
              <a:t>조 </a:t>
            </a:r>
            <a:r>
              <a:rPr lang="ko-KR" altLang="en-US" sz="1200" spc="-50" dirty="0" err="1"/>
              <a:t>입방미터</a:t>
            </a:r>
            <a:r>
              <a:rPr lang="en-US" altLang="ko-KR" sz="1200" spc="-50" dirty="0"/>
              <a:t>)&gt;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00541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63DF5-290A-C7D0-930C-BC27A4A8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A1C8B-7EAA-A808-DED8-50BD33A3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E45FFF-9023-4A35-4FC1-5015450F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0EA43-0A4C-E6EA-4AC2-C78CE80C6647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49275" lvl="1">
              <a:lnSpc>
                <a:spcPct val="150000"/>
              </a:lnSpc>
            </a:pPr>
            <a:r>
              <a:rPr lang="en-US" altLang="ko-KR" sz="1600" dirty="0"/>
              <a:t>(</a:t>
            </a:r>
            <a:r>
              <a:rPr lang="ko-KR" altLang="en-US" sz="1600" dirty="0"/>
              <a:t>전 슬라이드 천연가스 매장량 참고</a:t>
            </a:r>
            <a:r>
              <a:rPr lang="en-US" altLang="ko-KR" sz="160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보면</a:t>
            </a:r>
            <a:r>
              <a:rPr lang="en-US" altLang="ko-KR" sz="1600" dirty="0"/>
              <a:t>, </a:t>
            </a:r>
            <a:r>
              <a:rPr lang="ko-KR" altLang="en-US" sz="1600" dirty="0"/>
              <a:t>중동 지역이 전체의 </a:t>
            </a:r>
            <a:r>
              <a:rPr lang="en-US" altLang="ko-KR" sz="1600" dirty="0"/>
              <a:t>40.3%</a:t>
            </a:r>
            <a:r>
              <a:rPr lang="ko-KR" altLang="en-US" sz="1600" dirty="0"/>
              <a:t>를 차지하며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이란</a:t>
            </a:r>
            <a:r>
              <a:rPr lang="en-US" altLang="ko-KR" sz="1600" dirty="0"/>
              <a:t>(17.1%)</a:t>
            </a:r>
            <a:r>
              <a:rPr lang="ko-KR" altLang="en-US" sz="1600" dirty="0"/>
              <a:t>과 카타르</a:t>
            </a:r>
            <a:r>
              <a:rPr lang="en-US" altLang="ko-KR" sz="1600" dirty="0"/>
              <a:t>(13.1%)</a:t>
            </a:r>
            <a:r>
              <a:rPr lang="ko-KR" altLang="en-US" sz="1600" dirty="0"/>
              <a:t>가 핵심 국가로 부상하고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국가별로는 러시아가 </a:t>
            </a:r>
            <a:r>
              <a:rPr lang="en-US" altLang="ko-KR" sz="1600" dirty="0"/>
              <a:t>19.9%</a:t>
            </a:r>
            <a:r>
              <a:rPr lang="ko-KR" altLang="en-US" sz="1600" dirty="0"/>
              <a:t>의 비중으로</a:t>
            </a:r>
            <a:r>
              <a:rPr lang="en-US" altLang="ko-KR" sz="1600" dirty="0"/>
              <a:t>, </a:t>
            </a:r>
            <a:r>
              <a:rPr lang="ko-KR" altLang="en-US" sz="1600" dirty="0"/>
              <a:t>가장 많은 매장량을 보유하고 있고</a:t>
            </a:r>
            <a:r>
              <a:rPr lang="en-US" altLang="ko-KR" sz="1600" dirty="0"/>
              <a:t>, CIS(</a:t>
            </a:r>
            <a:r>
              <a:rPr lang="ko-KR" altLang="en-US" sz="1600" dirty="0"/>
              <a:t>독립국가연합</a:t>
            </a:r>
            <a:r>
              <a:rPr lang="en-US" altLang="ko-KR" sz="1600" dirty="0"/>
              <a:t>) </a:t>
            </a:r>
            <a:r>
              <a:rPr lang="ko-KR" altLang="en-US" sz="1600" dirty="0"/>
              <a:t>국가들의 비중은 </a:t>
            </a:r>
            <a:r>
              <a:rPr lang="en-US" altLang="ko-KR" sz="1600" dirty="0"/>
              <a:t>30.1%</a:t>
            </a:r>
            <a:r>
              <a:rPr lang="ko-KR" altLang="en-US" sz="1600" dirty="0"/>
              <a:t>에 이른다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 외에 아시아</a:t>
            </a:r>
            <a:r>
              <a:rPr lang="en-US" altLang="ko-KR" sz="1600" dirty="0"/>
              <a:t>·</a:t>
            </a:r>
            <a:r>
              <a:rPr lang="ko-KR" altLang="en-US" sz="1600" dirty="0"/>
              <a:t>태평양 지역은 </a:t>
            </a:r>
            <a:r>
              <a:rPr lang="en-US" altLang="ko-KR" sz="1600" dirty="0"/>
              <a:t>8.8%, </a:t>
            </a:r>
            <a:r>
              <a:rPr lang="ko-KR" altLang="en-US" sz="1600" dirty="0"/>
              <a:t>북미는 </a:t>
            </a:r>
            <a:r>
              <a:rPr lang="en-US" altLang="ko-KR" sz="1600" dirty="0"/>
              <a:t>8.1%, </a:t>
            </a:r>
            <a:r>
              <a:rPr lang="ko-KR" altLang="en-US" sz="1600" dirty="0"/>
              <a:t>아프리카는 약 </a:t>
            </a:r>
            <a:r>
              <a:rPr lang="en-US" altLang="ko-KR" sz="1600" dirty="0"/>
              <a:t>6.9%, </a:t>
            </a:r>
            <a:r>
              <a:rPr lang="ko-KR" altLang="en-US" sz="1600" dirty="0"/>
              <a:t>중</a:t>
            </a:r>
            <a:r>
              <a:rPr lang="en-US" altLang="ko-KR" sz="1600" dirty="0"/>
              <a:t>·</a:t>
            </a:r>
            <a:r>
              <a:rPr lang="ko-KR" altLang="en-US" sz="1600" dirty="0"/>
              <a:t>남미는 약 </a:t>
            </a:r>
            <a:r>
              <a:rPr lang="en-US" altLang="ko-KR" sz="1600" dirty="0"/>
              <a:t>4.2%</a:t>
            </a:r>
            <a:r>
              <a:rPr lang="ko-KR" altLang="en-US" sz="1600" dirty="0"/>
              <a:t>를 차지하고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지역적 다양성이 뚜렷하다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OECD</a:t>
            </a:r>
            <a:r>
              <a:rPr lang="ko-KR" altLang="en-US" sz="1600" dirty="0"/>
              <a:t>국가들의 비중은 </a:t>
            </a:r>
            <a:r>
              <a:rPr lang="en-US" altLang="ko-KR" sz="1600" dirty="0"/>
              <a:t>10.8%, </a:t>
            </a:r>
            <a:r>
              <a:rPr lang="ko-KR" altLang="en-US" sz="1600" dirty="0"/>
              <a:t>비</a:t>
            </a:r>
            <a:r>
              <a:rPr lang="en-US" altLang="ko-KR" sz="1600" dirty="0"/>
              <a:t>OECD</a:t>
            </a:r>
            <a:r>
              <a:rPr lang="ko-KR" altLang="en-US" sz="1600" dirty="0"/>
              <a:t>국가들은 </a:t>
            </a:r>
            <a:r>
              <a:rPr lang="en-US" altLang="ko-KR" sz="1600" dirty="0"/>
              <a:t>89.2%</a:t>
            </a:r>
            <a:r>
              <a:rPr lang="ko-KR" altLang="en-US" sz="1600" dirty="0"/>
              <a:t>로</a:t>
            </a:r>
            <a:r>
              <a:rPr lang="en-US" altLang="ko-KR" sz="1600" dirty="0"/>
              <a:t>, </a:t>
            </a:r>
            <a:r>
              <a:rPr lang="ko-KR" altLang="en-US" sz="1600" dirty="0"/>
              <a:t>비</a:t>
            </a:r>
            <a:r>
              <a:rPr lang="en-US" altLang="ko-KR" sz="1600" dirty="0"/>
              <a:t>OECD</a:t>
            </a:r>
            <a:r>
              <a:rPr lang="ko-KR" altLang="en-US" sz="1600" dirty="0"/>
              <a:t> 국가가 전 세계 천연가스 매장량의 절대다수를 차지하고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</a:t>
            </a:r>
            <a:r>
              <a:rPr lang="ko-KR" altLang="en-US" sz="1600" dirty="0"/>
              <a:t> 매장량 대비 생산의 경우에는 지역 간 뚜렷한 차이를 보인다</a:t>
            </a:r>
            <a:r>
              <a:rPr lang="en-US" altLang="ko-KR" sz="1600" dirty="0"/>
              <a:t>. </a:t>
            </a:r>
            <a:r>
              <a:rPr lang="ko-KR" altLang="en-US" sz="1600" dirty="0"/>
              <a:t>북미와 유럽은 상대적으로 매장량이 적지만 기술력과 시장 구조로 인해 생산 비율이 매우 높은 편이다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미국은 전체 확인 매장량의 </a:t>
            </a:r>
            <a:r>
              <a:rPr lang="en-US" altLang="ko-KR" sz="1600" dirty="0"/>
              <a:t>6.9%</a:t>
            </a:r>
            <a:r>
              <a:rPr lang="ko-KR" altLang="en-US" sz="1600" dirty="0"/>
              <a:t>를 보유하고</a:t>
            </a:r>
            <a:r>
              <a:rPr lang="en-US" altLang="ko-KR" sz="1600" dirty="0"/>
              <a:t>, 2000</a:t>
            </a:r>
            <a:r>
              <a:rPr lang="ko-KR" altLang="en-US" sz="1600" dirty="0"/>
              <a:t>년 이후 가장 큰 증가폭을 기록하였다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중동과 </a:t>
            </a:r>
            <a:r>
              <a:rPr lang="en-US" altLang="ko-KR" sz="1600" dirty="0"/>
              <a:t>CIS</a:t>
            </a:r>
            <a:r>
              <a:rPr lang="ko-KR" altLang="en-US" sz="1600" dirty="0"/>
              <a:t>국가들은 매장량은 많지만 생산 비율은 상대적으로 낮은 경향을 보인다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870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2984-FA15-87E9-D2E4-7BFE3AAC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6A49F-C3A7-9B90-CD6A-C4CEF565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생산과 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764175-0A68-BAAA-8204-26393F21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4DEE94-B1E1-CFB2-34B7-A5E96A8ADD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18877" y="3571803"/>
            <a:ext cx="5497287" cy="3010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F1CCBE-7454-B9A5-7720-EDC29B647D41}"/>
              </a:ext>
            </a:extLst>
          </p:cNvPr>
          <p:cNvSpPr txBox="1"/>
          <p:nvPr/>
        </p:nvSpPr>
        <p:spPr>
          <a:xfrm>
            <a:off x="2242156" y="3310193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지역별 천연가스 생산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99A89E4-5CF1-8B03-14FD-2DA3D0015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81950"/>
              </p:ext>
            </p:extLst>
          </p:nvPr>
        </p:nvGraphicFramePr>
        <p:xfrm>
          <a:off x="6868433" y="1535188"/>
          <a:ext cx="4918082" cy="49522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742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117143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1410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비중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1,261.1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1,035.3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773.6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712.7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카타르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3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98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알제리아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93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5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16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4,059.2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1,632.5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2,426.8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DF0C886-A911-8F9D-D149-C963648C3522}"/>
              </a:ext>
            </a:extLst>
          </p:cNvPr>
          <p:cNvSpPr txBox="1"/>
          <p:nvPr/>
        </p:nvSpPr>
        <p:spPr>
          <a:xfrm>
            <a:off x="7259551" y="1195963"/>
            <a:ext cx="4243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천연가스 생산량 </a:t>
            </a:r>
            <a:r>
              <a:rPr lang="en-US" altLang="ko-KR" sz="1200" spc="-50" dirty="0"/>
              <a:t>(10</a:t>
            </a:r>
            <a:r>
              <a:rPr lang="ko-KR" altLang="en-US" sz="1200" spc="-50" dirty="0"/>
              <a:t>억 </a:t>
            </a:r>
            <a:r>
              <a:rPr lang="ko-KR" altLang="en-US" sz="1200" spc="-50" dirty="0" err="1"/>
              <a:t>입방미터</a:t>
            </a:r>
            <a:r>
              <a:rPr lang="en-US" altLang="ko-KR" sz="1200" spc="-50" dirty="0"/>
              <a:t>), </a:t>
            </a:r>
            <a:r>
              <a:rPr lang="ko-KR" altLang="en-US" sz="1200" spc="-50" dirty="0"/>
              <a:t>연평균 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E3FFC-9C19-7778-B8C0-F0436E73DA17}"/>
              </a:ext>
            </a:extLst>
          </p:cNvPr>
          <p:cNvSpPr txBox="1"/>
          <p:nvPr/>
        </p:nvSpPr>
        <p:spPr>
          <a:xfrm>
            <a:off x="288791" y="958844"/>
            <a:ext cx="6434480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전세계 지역별 천연가스 생산량은 다음과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자세한 설명은 다음 슬라이드를 참고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4453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36F1-E86B-DE89-08AA-20A661D9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47D1F-9B67-AD03-46B0-63113EE5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생산과 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32B9E-35F9-6392-3D7A-09E3391E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B9589-1D2C-2751-E66C-880BC01395C0}"/>
              </a:ext>
            </a:extLst>
          </p:cNvPr>
          <p:cNvSpPr txBox="1"/>
          <p:nvPr/>
        </p:nvSpPr>
        <p:spPr>
          <a:xfrm>
            <a:off x="288790" y="958844"/>
            <a:ext cx="11118453" cy="59540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(</a:t>
            </a:r>
            <a:r>
              <a:rPr lang="ko-KR" altLang="en-US" sz="1600" dirty="0"/>
              <a:t>전 슬라이드 천연가스 생산량 참고</a:t>
            </a:r>
            <a:r>
              <a:rPr lang="en-US" altLang="ko-KR" sz="160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천연가스 공급 구조는 지질학적 분포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인프라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요인에 의해 복합적으로 형성된다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 매장지가 상대적으로 넓게 분포되어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기체 상태라는 특성으로 인해 수송제약과 시장 분절성을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이란</a:t>
            </a:r>
            <a:r>
              <a:rPr lang="en-US" altLang="ko-KR" sz="1600" dirty="0"/>
              <a:t>, </a:t>
            </a:r>
            <a:r>
              <a:rPr lang="ko-KR" altLang="en-US" sz="1600" dirty="0"/>
              <a:t>카타르</a:t>
            </a:r>
            <a:r>
              <a:rPr lang="en-US" altLang="ko-KR" sz="1600" dirty="0"/>
              <a:t>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, </a:t>
            </a:r>
            <a:r>
              <a:rPr lang="ko-KR" altLang="en-US" sz="1600" dirty="0"/>
              <a:t>호주 등이 주요 생산국이고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</a:t>
            </a:r>
            <a:r>
              <a:rPr lang="en-US" altLang="ko-KR" sz="1600" dirty="0"/>
              <a:t>, </a:t>
            </a:r>
            <a:r>
              <a:rPr lang="ko-KR" altLang="en-US" sz="1600" dirty="0"/>
              <a:t>동남아시아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동지중해에서도</a:t>
            </a:r>
            <a:r>
              <a:rPr lang="ko-KR" altLang="en-US" sz="1600" dirty="0"/>
              <a:t> 신규 개발이 활발하다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</a:t>
            </a:r>
            <a:r>
              <a:rPr lang="en-US" altLang="ko-KR" sz="1600" dirty="0"/>
              <a:t>LNG</a:t>
            </a:r>
            <a:r>
              <a:rPr lang="ko-KR" altLang="en-US" sz="1600" dirty="0"/>
              <a:t>의 발전은 글로벌 공급의 유연성을 높이고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천연가스를 석유처럼 국제적 상품으로 변화시키고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전쟁은 유럽 천연가스 수급구조를 급격히 전환시켰으며</a:t>
            </a:r>
            <a:r>
              <a:rPr lang="en-US" altLang="ko-KR" sz="1600" dirty="0"/>
              <a:t>, LNG </a:t>
            </a:r>
            <a:r>
              <a:rPr lang="ko-KR" altLang="en-US" sz="1600" dirty="0"/>
              <a:t>수입 확대와 공급선 다변화로 이어졌고</a:t>
            </a:r>
            <a:r>
              <a:rPr lang="en-US" altLang="ko-KR" sz="1600" dirty="0"/>
              <a:t>, </a:t>
            </a:r>
            <a:r>
              <a:rPr lang="ko-KR" altLang="en-US" sz="1600" dirty="0"/>
              <a:t>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시장에 큰 영향을 미치고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생산은 최근 미국을 대표하여 북미지역을 중심으로 확대되고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 세계 천연가스 생산량은 </a:t>
            </a:r>
            <a:r>
              <a:rPr lang="en-US" altLang="ko-KR" sz="1600" dirty="0"/>
              <a:t>4,059 (10</a:t>
            </a:r>
            <a:r>
              <a:rPr lang="ko-KR" altLang="en-US" sz="1600" dirty="0"/>
              <a:t>억 </a:t>
            </a:r>
            <a:r>
              <a:rPr lang="ko-KR" altLang="en-US" sz="1600" dirty="0" err="1"/>
              <a:t>입방미터</a:t>
            </a:r>
            <a:r>
              <a:rPr lang="en-US" altLang="ko-KR" sz="1600" dirty="0"/>
              <a:t>) </a:t>
            </a:r>
            <a:r>
              <a:rPr lang="ko-KR" altLang="en-US" sz="1600" dirty="0"/>
              <a:t>였으며</a:t>
            </a:r>
            <a:r>
              <a:rPr lang="en-US" altLang="ko-KR" sz="1600" dirty="0"/>
              <a:t>, 2013-2023</a:t>
            </a:r>
            <a:r>
              <a:rPr lang="ko-KR" altLang="en-US" sz="1600" dirty="0"/>
              <a:t>년 연평균 </a:t>
            </a:r>
            <a:r>
              <a:rPr lang="en-US" altLang="ko-KR" sz="1600" dirty="0"/>
              <a:t>1.9%</a:t>
            </a:r>
            <a:r>
              <a:rPr lang="ko-KR" altLang="en-US" sz="1600" dirty="0"/>
              <a:t>의 생산 증가율을 보였다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국가별로는 미국</a:t>
            </a:r>
            <a:r>
              <a:rPr lang="en-US" altLang="ko-KR" sz="1600" dirty="0"/>
              <a:t> (25.5%), </a:t>
            </a:r>
            <a:r>
              <a:rPr lang="ko-KR" altLang="en-US" sz="1600" dirty="0"/>
              <a:t>러시아 </a:t>
            </a:r>
            <a:r>
              <a:rPr lang="en-US" altLang="ko-KR" sz="1600" dirty="0"/>
              <a:t>(14.4%), </a:t>
            </a:r>
            <a:r>
              <a:rPr lang="ko-KR" altLang="en-US" sz="1600" dirty="0"/>
              <a:t>이란 </a:t>
            </a:r>
            <a:r>
              <a:rPr lang="en-US" altLang="ko-KR" sz="1600" dirty="0"/>
              <a:t>(6.2%), </a:t>
            </a:r>
            <a:r>
              <a:rPr lang="ko-KR" altLang="en-US" sz="1600" dirty="0"/>
              <a:t>중국</a:t>
            </a:r>
            <a:r>
              <a:rPr lang="en-US" altLang="ko-KR" sz="1600" dirty="0"/>
              <a:t>(5.8%), </a:t>
            </a:r>
            <a:r>
              <a:rPr lang="ko-KR" altLang="en-US" sz="1600" dirty="0"/>
              <a:t>카타르</a:t>
            </a:r>
            <a:r>
              <a:rPr lang="en-US" altLang="ko-KR" sz="1600" dirty="0"/>
              <a:t>(4.5%) </a:t>
            </a:r>
            <a:r>
              <a:rPr lang="ko-KR" altLang="en-US" sz="1600" dirty="0"/>
              <a:t>순으로 나타난다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49068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E2C3B-A89A-72B3-BD4F-F249C65D3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4C92F-7AFE-0090-83AA-E608D29A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8A85F3-242E-5721-7234-F0FECC17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1E939-BBD3-0EE3-011D-46642F478A6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천연가스 소비는 국가별 산업구조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정책</a:t>
            </a:r>
            <a:r>
              <a:rPr lang="en-US" altLang="ko-KR" sz="1600" dirty="0"/>
              <a:t>, </a:t>
            </a:r>
            <a:r>
              <a:rPr lang="ko-KR" altLang="en-US" sz="1600" dirty="0"/>
              <a:t>환경 규제 등에 따라 지역별</a:t>
            </a:r>
            <a:r>
              <a:rPr lang="en-US" altLang="ko-KR" sz="1600" dirty="0"/>
              <a:t>·</a:t>
            </a:r>
            <a:r>
              <a:rPr lang="ko-KR" altLang="en-US" sz="1600" dirty="0"/>
              <a:t>부문별로 상이한 양상을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천연가스는 전력생산</a:t>
            </a:r>
            <a:r>
              <a:rPr lang="en-US" altLang="ko-KR" sz="1600" dirty="0"/>
              <a:t>, </a:t>
            </a:r>
            <a:r>
              <a:rPr lang="ko-KR" altLang="en-US" sz="1600" dirty="0"/>
              <a:t>산업 공정</a:t>
            </a:r>
            <a:r>
              <a:rPr lang="en-US" altLang="ko-KR" sz="1600" dirty="0"/>
              <a:t>, </a:t>
            </a:r>
            <a:r>
              <a:rPr lang="ko-KR" altLang="en-US" sz="1600" dirty="0"/>
              <a:t>주거 및 상업용 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교통 연료 등 다양한 부문에서 소비되며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중 전력 생산 부문이 전체 소비에서 가장 높은 비중을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LNG </a:t>
            </a:r>
            <a:r>
              <a:rPr lang="ko-KR" altLang="en-US" sz="1600" dirty="0"/>
              <a:t>기술 발전으로 해상 운송이 보편화 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국제 무역 기반구조로 전환되고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석유와 유사하게 글로벌 </a:t>
            </a:r>
            <a:r>
              <a:rPr lang="ko-KR" altLang="en-US" sz="1600" dirty="0" err="1"/>
              <a:t>상품으로서의</a:t>
            </a:r>
            <a:r>
              <a:rPr lang="ko-KR" altLang="en-US" sz="1600" dirty="0"/>
              <a:t> 성격이 강화되고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지역별 가격차이도 점차 축소되고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천연가스 소비를 살펴보면 아래와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북미와 유럽은 천연가스 인프라가 조기에 구축되어 다양한 최종수요 부문에 걸쳐 소비가 확산 </a:t>
            </a:r>
            <a:r>
              <a:rPr lang="ko-KR" altLang="en-US" sz="1600" dirty="0" err="1"/>
              <a:t>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유럽은 강화된 환경 규제와 탈탄소화 정책 기조 하에서 천연가스를 전환 연료로 적극 활용하고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반해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동남아시아 등 신흥 경제권에서는 급속한 도시화</a:t>
            </a:r>
            <a:r>
              <a:rPr lang="en-US" altLang="ko-KR" sz="1600" dirty="0"/>
              <a:t>, </a:t>
            </a:r>
            <a:r>
              <a:rPr lang="ko-KR" altLang="en-US" sz="1600" dirty="0"/>
              <a:t>산업화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대기질</a:t>
            </a:r>
            <a:r>
              <a:rPr lang="ko-KR" altLang="en-US" sz="1600" dirty="0"/>
              <a:t> 개선을 위한 환경정책 강화에 힘입어 천연가스 수요가 급증하고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중국은 이미 세계 최대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수입국으로 부상하였다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부문별 천연가스 소비를 살펴보면 아래와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산업부문에서 천연가스는 비료</a:t>
            </a:r>
            <a:r>
              <a:rPr lang="en-US" altLang="ko-KR" sz="1600" dirty="0"/>
              <a:t>, </a:t>
            </a:r>
            <a:r>
              <a:rPr lang="ko-KR" altLang="en-US" sz="1600" dirty="0"/>
              <a:t>수소</a:t>
            </a:r>
            <a:r>
              <a:rPr lang="en-US" altLang="ko-KR" sz="1600" dirty="0"/>
              <a:t>, </a:t>
            </a:r>
            <a:r>
              <a:rPr lang="ko-KR" altLang="en-US" sz="1600" dirty="0"/>
              <a:t>메탄올 생산의 핵심 원료로 활용되고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주거 및 상업부문에서는 난방 및 취사용 연료로 폭넓게 사용되고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교통부문에서는 압축천연가스</a:t>
            </a:r>
            <a:r>
              <a:rPr lang="en-US" altLang="ko-KR" sz="1600" dirty="0"/>
              <a:t>(CNG) </a:t>
            </a:r>
            <a:r>
              <a:rPr lang="ko-KR" altLang="en-US" sz="1600" dirty="0"/>
              <a:t>및 액화천연가스</a:t>
            </a:r>
            <a:r>
              <a:rPr lang="en-US" altLang="ko-KR" sz="1600" dirty="0"/>
              <a:t>(LNG) </a:t>
            </a:r>
            <a:r>
              <a:rPr lang="ko-KR" altLang="en-US" sz="1600" dirty="0"/>
              <a:t>형태로 도로 운송 및 해상 운송 </a:t>
            </a:r>
            <a:r>
              <a:rPr lang="ko-KR" altLang="en-US" sz="1600" dirty="0" err="1"/>
              <a:t>연료로서의</a:t>
            </a:r>
            <a:r>
              <a:rPr lang="ko-KR" altLang="en-US" sz="1600" dirty="0"/>
              <a:t> 수요가 확대되고 있고</a:t>
            </a:r>
            <a:r>
              <a:rPr lang="en-US" altLang="ko-KR" sz="1600" dirty="0"/>
              <a:t>,</a:t>
            </a:r>
            <a:r>
              <a:rPr lang="ko-KR" altLang="en-US" sz="1600" dirty="0"/>
              <a:t> 국제해사기구의 환경규제 강화 이후 선박 연료로 </a:t>
            </a:r>
            <a:r>
              <a:rPr lang="en-US" altLang="ko-KR" sz="1600" dirty="0"/>
              <a:t>LNG </a:t>
            </a:r>
            <a:r>
              <a:rPr lang="ko-KR" altLang="en-US" sz="1600" dirty="0"/>
              <a:t>채택이 가속화되고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1077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155C-58EF-18EB-06AE-0AA94563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F2DAD-306B-2C33-111C-754C95CF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4F58A4-42E1-C70A-40DE-E6B2E3E2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67704-3EE6-A1CF-D52C-1312B053E69F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전세계 지역별 천연가스 소비량은 다음과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자세한 설명은 다음 슬라이드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3D58B6-F585-B128-1ABC-F5CA282D5A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7626" y="3167269"/>
            <a:ext cx="5626805" cy="3032936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64C8809-B218-BFA8-993A-8DB0A0880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56406"/>
              </p:ext>
            </p:extLst>
          </p:nvPr>
        </p:nvGraphicFramePr>
        <p:xfrm>
          <a:off x="6868433" y="1535188"/>
          <a:ext cx="4918082" cy="49522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742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117143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1410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비중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1,104.8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멕시코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3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98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93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5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16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4,010.2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1,757.0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2,253.2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8B2977-5DB8-37A7-6BAE-542B311C119C}"/>
              </a:ext>
            </a:extLst>
          </p:cNvPr>
          <p:cNvSpPr txBox="1"/>
          <p:nvPr/>
        </p:nvSpPr>
        <p:spPr>
          <a:xfrm>
            <a:off x="7259551" y="1195963"/>
            <a:ext cx="4243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천연가스 소비량 </a:t>
            </a:r>
            <a:r>
              <a:rPr lang="en-US" altLang="ko-KR" sz="1200" spc="-50" dirty="0"/>
              <a:t>(10</a:t>
            </a:r>
            <a:r>
              <a:rPr lang="ko-KR" altLang="en-US" sz="1200" spc="-50" dirty="0"/>
              <a:t>억 </a:t>
            </a:r>
            <a:r>
              <a:rPr lang="ko-KR" altLang="en-US" sz="1200" spc="-50" dirty="0" err="1"/>
              <a:t>입방미터</a:t>
            </a:r>
            <a:r>
              <a:rPr lang="en-US" altLang="ko-KR" sz="1200" spc="-50" dirty="0"/>
              <a:t>), </a:t>
            </a:r>
            <a:r>
              <a:rPr lang="ko-KR" altLang="en-US" sz="1200" spc="-50" dirty="0"/>
              <a:t>연평균 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DDE0E-F2F2-AA6F-41E0-D505C63829BC}"/>
              </a:ext>
            </a:extLst>
          </p:cNvPr>
          <p:cNvSpPr txBox="1"/>
          <p:nvPr/>
        </p:nvSpPr>
        <p:spPr>
          <a:xfrm>
            <a:off x="2489530" y="2905659"/>
            <a:ext cx="2610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지역별 천연가스 소비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869600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A0E8-E7A5-3314-B9C8-607A82B1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5CFA1-4E05-CAE3-2C03-29702A7E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생산과 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795313-750D-CD91-97FE-83D26228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7E24E-418F-8903-D73E-01934DA43B34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(</a:t>
            </a:r>
            <a:r>
              <a:rPr lang="ko-KR" altLang="en-US" sz="1600" dirty="0"/>
              <a:t>전 슬라이드 천연가스 소비량 참고</a:t>
            </a:r>
            <a:r>
              <a:rPr lang="en-US" altLang="ko-KR" sz="160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소비는 북미 지역과 아시아태평양 지역을 중심으로 </a:t>
            </a:r>
            <a:r>
              <a:rPr lang="en-US" altLang="ko-KR" sz="1600" dirty="0"/>
              <a:t>2013~2023</a:t>
            </a:r>
            <a:r>
              <a:rPr lang="ko-KR" altLang="en-US" sz="1600" dirty="0"/>
              <a:t>년 기간에 증가하는 추세를 보이고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중동의 소비도 지속적으로 증가하고 있으며 유럽과 </a:t>
            </a:r>
            <a:r>
              <a:rPr lang="en-US" altLang="ko-KR" sz="1600" dirty="0"/>
              <a:t>CIS</a:t>
            </a:r>
            <a:r>
              <a:rPr lang="ko-KR" altLang="en-US" sz="1600" dirty="0"/>
              <a:t> 국가들을 포함한 다른 지역도 같은 기간 비슷한 수준이다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2023</a:t>
            </a:r>
            <a:r>
              <a:rPr lang="ko-KR" altLang="en-US" sz="1600" dirty="0"/>
              <a:t>년 전 세계 천연가스 소비는 </a:t>
            </a:r>
            <a:r>
              <a:rPr lang="en-US" altLang="ko-KR" sz="1600" dirty="0"/>
              <a:t>4,010.2 (10</a:t>
            </a:r>
            <a:r>
              <a:rPr lang="ko-KR" altLang="en-US" sz="1600" dirty="0"/>
              <a:t>억 </a:t>
            </a:r>
            <a:r>
              <a:rPr lang="ko-KR" altLang="en-US" sz="1600" dirty="0" err="1"/>
              <a:t>입방미터</a:t>
            </a:r>
            <a:r>
              <a:rPr lang="en-US" altLang="ko-KR" sz="1600" dirty="0"/>
              <a:t>) </a:t>
            </a:r>
            <a:r>
              <a:rPr lang="ko-KR" altLang="en-US" sz="1600" dirty="0"/>
              <a:t>였으며</a:t>
            </a:r>
            <a:r>
              <a:rPr lang="en-US" altLang="ko-KR" sz="1600" dirty="0"/>
              <a:t>, 2013~2023</a:t>
            </a:r>
            <a:r>
              <a:rPr lang="ko-KR" altLang="en-US" sz="1600" dirty="0"/>
              <a:t>년 기간 동안 </a:t>
            </a:r>
            <a:r>
              <a:rPr lang="en-US" altLang="ko-KR" sz="1600" dirty="0"/>
              <a:t>1.7%</a:t>
            </a:r>
            <a:r>
              <a:rPr lang="ko-KR" altLang="en-US" sz="1600" dirty="0"/>
              <a:t>의 성장률을 보였다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지역별 소비 비중은 북미</a:t>
            </a:r>
            <a:r>
              <a:rPr lang="en-US" altLang="ko-KR" sz="1600" dirty="0"/>
              <a:t>(27.5%), </a:t>
            </a:r>
            <a:r>
              <a:rPr lang="ko-KR" altLang="en-US" sz="1600" dirty="0"/>
              <a:t>아시아태평양</a:t>
            </a:r>
            <a:r>
              <a:rPr lang="en-US" altLang="ko-KR" sz="1600" dirty="0"/>
              <a:t>(23.3%), CIS</a:t>
            </a:r>
            <a:r>
              <a:rPr lang="ko-KR" altLang="en-US" sz="1600" dirty="0"/>
              <a:t>국가들</a:t>
            </a:r>
            <a:r>
              <a:rPr lang="en-US" altLang="ko-KR" sz="1600" dirty="0"/>
              <a:t>(14.9%), </a:t>
            </a:r>
            <a:r>
              <a:rPr lang="ko-KR" altLang="en-US" sz="1600" dirty="0"/>
              <a:t>중동</a:t>
            </a:r>
            <a:r>
              <a:rPr lang="en-US" altLang="ko-KR" sz="1600" dirty="0"/>
              <a:t>(14.4%) </a:t>
            </a:r>
            <a:r>
              <a:rPr lang="ko-KR" altLang="en-US" sz="1600" dirty="0"/>
              <a:t>순으로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</a:t>
            </a:r>
            <a:r>
              <a:rPr lang="en-US" altLang="ko-KR" sz="1600" dirty="0"/>
              <a:t>, </a:t>
            </a:r>
            <a:r>
              <a:rPr lang="ko-KR" altLang="en-US" sz="1600" dirty="0"/>
              <a:t>중동</a:t>
            </a:r>
            <a:r>
              <a:rPr lang="en-US" altLang="ko-KR" sz="1600" dirty="0"/>
              <a:t>,</a:t>
            </a:r>
            <a:r>
              <a:rPr lang="ko-KR" altLang="en-US" sz="1600" dirty="0"/>
              <a:t> 북미 지역은 빠른 소비증가율을 보인 반면</a:t>
            </a:r>
            <a:r>
              <a:rPr lang="en-US" altLang="ko-KR" sz="1600" dirty="0"/>
              <a:t>, </a:t>
            </a:r>
            <a:r>
              <a:rPr lang="ko-KR" altLang="en-US" sz="1600" dirty="0"/>
              <a:t>유럽과 중</a:t>
            </a:r>
            <a:r>
              <a:rPr lang="en-US" altLang="ko-KR" sz="1600" dirty="0"/>
              <a:t>·</a:t>
            </a:r>
            <a:r>
              <a:rPr lang="ko-KR" altLang="en-US" sz="1600" dirty="0"/>
              <a:t>남미는 성장률이 감소하였다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 소비로는 미국</a:t>
            </a:r>
            <a:r>
              <a:rPr lang="en-US" altLang="ko-KR" sz="1600" dirty="0"/>
              <a:t>(22.1%),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(11.3%),</a:t>
            </a:r>
            <a:r>
              <a:rPr lang="ko-KR" altLang="en-US" sz="1600" dirty="0"/>
              <a:t> 중국</a:t>
            </a:r>
            <a:r>
              <a:rPr lang="en-US" altLang="ko-KR" sz="1600" dirty="0"/>
              <a:t>(10.1%), </a:t>
            </a:r>
            <a:r>
              <a:rPr lang="ko-KR" altLang="en-US" sz="1600" dirty="0"/>
              <a:t>이란</a:t>
            </a:r>
            <a:r>
              <a:rPr lang="en-US" altLang="ko-KR" sz="1600" dirty="0"/>
              <a:t>(6.1%) </a:t>
            </a:r>
            <a:r>
              <a:rPr lang="ko-KR" altLang="en-US" sz="1600" dirty="0"/>
              <a:t>순으로 전세계에서 차지하는 비중이 높았다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한국의 소비 비중은 </a:t>
            </a:r>
            <a:r>
              <a:rPr lang="en-US" altLang="ko-KR" sz="1600" dirty="0"/>
              <a:t>1.5%</a:t>
            </a:r>
            <a:r>
              <a:rPr lang="ko-KR" altLang="en-US" sz="1600" dirty="0"/>
              <a:t>으로 나타났다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OECD</a:t>
            </a:r>
            <a:r>
              <a:rPr lang="ko-KR" altLang="en-US" sz="1600" dirty="0"/>
              <a:t> 국가들의 비중은 </a:t>
            </a:r>
            <a:r>
              <a:rPr lang="en-US" altLang="ko-KR" sz="1600" dirty="0"/>
              <a:t>43.8%</a:t>
            </a:r>
            <a:r>
              <a:rPr lang="ko-KR" altLang="en-US" sz="1600" dirty="0"/>
              <a:t>를 나타내었으며 비</a:t>
            </a:r>
            <a:r>
              <a:rPr lang="en-US" altLang="ko-KR" sz="1600" dirty="0"/>
              <a:t>OECD</a:t>
            </a:r>
            <a:r>
              <a:rPr lang="ko-KR" altLang="en-US" sz="1600" dirty="0"/>
              <a:t>국가들의 비중은 </a:t>
            </a:r>
            <a:r>
              <a:rPr lang="en-US" altLang="ko-KR" sz="1600" dirty="0"/>
              <a:t>56.2%</a:t>
            </a:r>
            <a:r>
              <a:rPr lang="ko-KR" altLang="en-US" sz="1600" dirty="0"/>
              <a:t>를 나타내었다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3313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3CCBB-A096-4F5E-82A0-6FA451650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90E5F-A4F8-AAD3-CC8B-AB683642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3DFC10-B1F8-C620-A895-687007AB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406ED-3EC3-CA2F-B6EB-A9691A7965F6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액화천연가스</a:t>
            </a:r>
            <a:r>
              <a:rPr lang="en-US" altLang="ko-KR" sz="1600" dirty="0"/>
              <a:t>(LNG) </a:t>
            </a:r>
            <a:r>
              <a:rPr lang="ko-KR" altLang="en-US" sz="1600" dirty="0"/>
              <a:t>수입은 지난 수십 년간 에너지 시장에서 가장 빠르게 성장한 분야이다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공급망 유연성 증대와 에너지 안보 강화에 핵심적 역할을 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기존 파이프라인 수송 방식에 비해</a:t>
            </a:r>
            <a:r>
              <a:rPr lang="en-US" altLang="ko-KR" sz="1600" dirty="0"/>
              <a:t>, </a:t>
            </a:r>
            <a:r>
              <a:rPr lang="ko-KR" altLang="en-US" sz="1600" dirty="0"/>
              <a:t>거리 및 지정학적 제약으로부터 자유롭기 때문에 천연가스 국제무역을 가능하게 하는 핵심 기술이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천연가스 자원이 풍부한 북미</a:t>
            </a:r>
            <a:r>
              <a:rPr lang="en-US" altLang="ko-KR" sz="1600" dirty="0"/>
              <a:t>, </a:t>
            </a:r>
            <a:r>
              <a:rPr lang="ko-KR" altLang="en-US" sz="1600" dirty="0"/>
              <a:t>중동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 등의 지역에서 생산된 가스가</a:t>
            </a:r>
            <a:r>
              <a:rPr lang="en-US" altLang="ko-KR" sz="1600" dirty="0"/>
              <a:t>, </a:t>
            </a:r>
            <a:r>
              <a:rPr lang="ko-KR" altLang="en-US" sz="1600" dirty="0"/>
              <a:t>수요가 집중된 동아시아</a:t>
            </a:r>
            <a:r>
              <a:rPr lang="en-US" altLang="ko-KR" sz="1600" dirty="0"/>
              <a:t>, </a:t>
            </a:r>
            <a:r>
              <a:rPr lang="ko-KR" altLang="en-US" sz="1600" dirty="0"/>
              <a:t>유럽</a:t>
            </a:r>
            <a:r>
              <a:rPr lang="en-US" altLang="ko-KR" sz="1600" dirty="0"/>
              <a:t>, </a:t>
            </a:r>
            <a:r>
              <a:rPr lang="ko-KR" altLang="en-US" sz="1600" dirty="0"/>
              <a:t>남아시아 지역으로 이전됨으로써 천연가스는 석유 시장과 유사한 통합성과 유연성을 갖춘 글로벌 상품으로 진화하고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수입국 측면에서 아시아는 전세계 </a:t>
            </a:r>
            <a:r>
              <a:rPr lang="en-US" altLang="ko-KR" sz="1600" dirty="0"/>
              <a:t>LNG </a:t>
            </a:r>
            <a:r>
              <a:rPr lang="ko-KR" altLang="en-US" sz="1600" dirty="0"/>
              <a:t>수요의 중심지로 부상하였다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일본은 오랜 기간 세계 최대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수입국의 지위를 유지하였고</a:t>
            </a:r>
            <a:r>
              <a:rPr lang="en-US" altLang="ko-KR" sz="1600" dirty="0"/>
              <a:t>, 2011</a:t>
            </a:r>
            <a:r>
              <a:rPr lang="ko-KR" altLang="en-US" sz="1600" dirty="0"/>
              <a:t>년 후쿠시마 원전 사고 이후 원전 의존도를 대폭 축소하고</a:t>
            </a:r>
            <a:r>
              <a:rPr lang="en-US" altLang="ko-KR" sz="1600" dirty="0"/>
              <a:t>, LNG </a:t>
            </a:r>
            <a:r>
              <a:rPr lang="ko-KR" altLang="en-US" sz="1600" dirty="0"/>
              <a:t>수입을 대체 에너지원으로 급격히 확대하였다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중국은 최근 에너지 수요 급증과 </a:t>
            </a:r>
            <a:r>
              <a:rPr lang="ko-KR" altLang="en-US" sz="1600" dirty="0" err="1"/>
              <a:t>대기질</a:t>
            </a:r>
            <a:r>
              <a:rPr lang="ko-KR" altLang="en-US" sz="1600" dirty="0"/>
              <a:t> 개선 목표에 따라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수입을 대폭 늘려</a:t>
            </a:r>
            <a:r>
              <a:rPr lang="en-US" altLang="ko-KR" sz="1600" dirty="0"/>
              <a:t>, 2021</a:t>
            </a:r>
            <a:r>
              <a:rPr lang="ko-KR" altLang="en-US" sz="1600" dirty="0"/>
              <a:t>년 처음으로 일본을 제치고 세계 최대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수입국이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인도와 한국 또한 수입량을 지속적으로 확대하고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아시아 전체는 현재 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수입의 약 </a:t>
            </a:r>
            <a:r>
              <a:rPr lang="en-US" altLang="ko-KR" sz="1600" dirty="0"/>
              <a:t>70%</a:t>
            </a:r>
            <a:r>
              <a:rPr lang="ko-KR" altLang="en-US" sz="1600" dirty="0"/>
              <a:t>를 차지하고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5324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CD1B-9FA0-D50E-9F70-DB9EB64D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34FB3-EDD9-C0E4-685A-3951CEB7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B2577-1AF3-CD0B-486F-C29A2495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D62BF2-D3B7-7B98-DDD0-10A5909F39DB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 역시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 시장에서 중요한 변화를 보이고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과거 유럽은 러시아산 파이프라인 가스에 대한 높은 의존도를 보여왔지만</a:t>
            </a:r>
            <a:r>
              <a:rPr lang="en-US" altLang="ko-KR" sz="1600" dirty="0"/>
              <a:t>, 2022</a:t>
            </a:r>
            <a:r>
              <a:rPr lang="ko-KR" altLang="en-US" sz="1600" dirty="0"/>
              <a:t>년 </a:t>
            </a:r>
            <a:r>
              <a:rPr lang="ko-KR" altLang="en-US" sz="1600" dirty="0" err="1"/>
              <a:t>러이사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에너지 안보에 대한 우려가 급증하여 </a:t>
            </a:r>
            <a:r>
              <a:rPr lang="en-US" altLang="ko-KR" sz="1600" dirty="0"/>
              <a:t>LNG</a:t>
            </a:r>
            <a:r>
              <a:rPr lang="ko-KR" altLang="en-US" sz="1600" dirty="0"/>
              <a:t>수입을 전략적으로 확대하는 방향으로 전환하였다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독일</a:t>
            </a:r>
            <a:r>
              <a:rPr lang="en-US" altLang="ko-KR" sz="1600" dirty="0"/>
              <a:t>, </a:t>
            </a:r>
            <a:r>
              <a:rPr lang="ko-KR" altLang="en-US" sz="1600" dirty="0"/>
              <a:t>폴란드</a:t>
            </a:r>
            <a:r>
              <a:rPr lang="en-US" altLang="ko-KR" sz="1600" dirty="0"/>
              <a:t>, </a:t>
            </a:r>
            <a:r>
              <a:rPr lang="ko-KR" altLang="en-US" sz="1600" dirty="0"/>
              <a:t>핀란드 등은 기존에 부재하던 </a:t>
            </a:r>
            <a:r>
              <a:rPr lang="en-US" altLang="ko-KR" sz="1600" dirty="0"/>
              <a:t>LNG </a:t>
            </a:r>
            <a:r>
              <a:rPr lang="ko-KR" altLang="en-US" sz="1600" dirty="0"/>
              <a:t>터미널을 신속히 구축하거나 기존 시설을 확장하였고</a:t>
            </a:r>
            <a:r>
              <a:rPr lang="en-US" altLang="ko-KR" sz="1600" dirty="0"/>
              <a:t>, </a:t>
            </a:r>
            <a:r>
              <a:rPr lang="ko-KR" altLang="en-US" sz="1600" dirty="0"/>
              <a:t>미국 및 카타르 등으로부터 장기 수입계약 체결을 통해 공급선 다변화를 적극 추진하고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그 결과 </a:t>
            </a:r>
            <a:r>
              <a:rPr lang="en-US" altLang="ko-KR" sz="1600" dirty="0"/>
              <a:t>2022-2023</a:t>
            </a:r>
            <a:r>
              <a:rPr lang="ko-KR" altLang="en-US" sz="1600" dirty="0"/>
              <a:t>년 사이 유럽의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수입량은 전년 대비 약 </a:t>
            </a:r>
            <a:r>
              <a:rPr lang="en-US" altLang="ko-KR" sz="1600" dirty="0"/>
              <a:t>60% </a:t>
            </a:r>
            <a:r>
              <a:rPr lang="ko-KR" altLang="en-US" sz="1600" dirty="0"/>
              <a:t>증가하였으며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수급 및 가격에 상당한 파급효과를 미쳤다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시장은 계약 구조 측면에서도 중요한 변화를 경험하고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과거에는 </a:t>
            </a:r>
            <a:r>
              <a:rPr lang="en-US" altLang="ko-KR" sz="1600" dirty="0"/>
              <a:t>20</a:t>
            </a:r>
            <a:r>
              <a:rPr lang="ko-KR" altLang="en-US" sz="1600" dirty="0"/>
              <a:t>년 이상의 장기 고정가격 계약이 시장의 표준이었으나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현물 시장 및 단기 계약의 비중이 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수요의 변동성 증가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가격에 대한 민감성 강화</a:t>
            </a:r>
            <a:r>
              <a:rPr lang="en-US" altLang="ko-KR" sz="1600" dirty="0"/>
              <a:t>, </a:t>
            </a:r>
            <a:r>
              <a:rPr lang="ko-KR" altLang="en-US" sz="1600" dirty="0"/>
              <a:t>공급국 간 경쟁 심화 등과 같은 요인에 기인하며</a:t>
            </a:r>
            <a:r>
              <a:rPr lang="en-US" altLang="ko-KR" sz="1600" dirty="0"/>
              <a:t>, </a:t>
            </a:r>
            <a:r>
              <a:rPr lang="ko-KR" altLang="en-US" sz="1600" dirty="0"/>
              <a:t>결과적으로 </a:t>
            </a:r>
            <a:r>
              <a:rPr lang="en-US" altLang="ko-KR" sz="1600" dirty="0"/>
              <a:t>LNG </a:t>
            </a:r>
            <a:r>
              <a:rPr lang="ko-KR" altLang="en-US" sz="1600" dirty="0"/>
              <a:t>거래의 유연성과 시장 반응성을 높이는 방향으로 시장이 진화하고 있음을 의미한다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9826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58AE2-422F-6289-068D-E8103D873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4D0AD-4F6D-3A3C-06AC-C3F166CC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01E83C-7DFA-2013-71AA-569E4F43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193F3-D9D8-8D01-FFC2-86AF9E53B9A1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LNG </a:t>
            </a:r>
            <a:r>
              <a:rPr lang="ko-KR" altLang="en-US" sz="1600" dirty="0"/>
              <a:t>수입 확대는 인프라 구축과 밀접하게 연계되어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수입국의 정책적 의지</a:t>
            </a:r>
            <a:r>
              <a:rPr lang="en-US" altLang="ko-KR" sz="1600" dirty="0"/>
              <a:t>, </a:t>
            </a:r>
            <a:r>
              <a:rPr lang="ko-KR" altLang="en-US" sz="1600" dirty="0"/>
              <a:t>제도적 환경</a:t>
            </a:r>
            <a:r>
              <a:rPr lang="en-US" altLang="ko-KR" sz="1600" dirty="0"/>
              <a:t>, </a:t>
            </a:r>
            <a:r>
              <a:rPr lang="ko-KR" altLang="en-US" sz="1600" dirty="0"/>
              <a:t>기술 역량 등에 따라 확대 속도와 범위에 상당한 차이가 나타나고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 및 유럽의 선진국들은 재기화터미널</a:t>
            </a:r>
            <a:r>
              <a:rPr lang="en-US" altLang="ko-KR" sz="1600" dirty="0"/>
              <a:t>, </a:t>
            </a:r>
            <a:r>
              <a:rPr lang="ko-KR" altLang="en-US" sz="1600" dirty="0"/>
              <a:t>저장 설비</a:t>
            </a:r>
            <a:r>
              <a:rPr lang="en-US" altLang="ko-KR" sz="1600" dirty="0"/>
              <a:t>, </a:t>
            </a:r>
            <a:r>
              <a:rPr lang="ko-KR" altLang="en-US" sz="1600" dirty="0"/>
              <a:t>전용 운반선 확보 등에서 상대적 우위에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일부 개발도상국은 재정적</a:t>
            </a:r>
            <a:r>
              <a:rPr lang="en-US" altLang="ko-KR" sz="1600" dirty="0"/>
              <a:t>·</a:t>
            </a:r>
            <a:r>
              <a:rPr lang="ko-KR" altLang="en-US" sz="1600" dirty="0"/>
              <a:t>기술적 제약으로 인해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 확대에 구조적 어려움을 겪고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한계를 극복하기 위한 대안이 </a:t>
            </a:r>
            <a:r>
              <a:rPr lang="ko-KR" altLang="en-US" sz="1600" dirty="0" err="1"/>
              <a:t>부유식</a:t>
            </a:r>
            <a:r>
              <a:rPr lang="ko-KR" altLang="en-US" sz="1600" dirty="0"/>
              <a:t> 저장 및 재기화 설비 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초기 투자비용을 절감하고</a:t>
            </a:r>
            <a:r>
              <a:rPr lang="en-US" altLang="ko-KR" sz="1600" dirty="0"/>
              <a:t>, </a:t>
            </a:r>
            <a:r>
              <a:rPr lang="ko-KR" altLang="en-US" sz="1600" dirty="0"/>
              <a:t>신속한 배치가 가능하다는 점에서 신흥국 시장에서 광범위하게 채택되고 있다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36BE1C-4ED8-BE9F-1913-1F5FCA0FA8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92"/>
          <a:stretch>
            <a:fillRect/>
          </a:stretch>
        </p:blipFill>
        <p:spPr>
          <a:xfrm>
            <a:off x="6348255" y="3645192"/>
            <a:ext cx="5554955" cy="28917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BB1B0C-7D04-3FAA-B7B2-C7F3F0B7BD7D}"/>
              </a:ext>
            </a:extLst>
          </p:cNvPr>
          <p:cNvSpPr txBox="1"/>
          <p:nvPr/>
        </p:nvSpPr>
        <p:spPr>
          <a:xfrm>
            <a:off x="7512785" y="3570199"/>
            <a:ext cx="32258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주요 국가의 천연가스 수입량 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33EDC-027D-1970-6B61-0B9CA05B79C2}"/>
              </a:ext>
            </a:extLst>
          </p:cNvPr>
          <p:cNvSpPr txBox="1"/>
          <p:nvPr/>
        </p:nvSpPr>
        <p:spPr>
          <a:xfrm>
            <a:off x="288791" y="3334360"/>
            <a:ext cx="616501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오른쪽 그래프에서 보듯이 </a:t>
            </a:r>
            <a:r>
              <a:rPr lang="en-US" altLang="ko-KR" sz="1600" dirty="0"/>
              <a:t>LNG</a:t>
            </a:r>
            <a:r>
              <a:rPr lang="ko-KR" altLang="en-US" sz="1600" dirty="0"/>
              <a:t> 주요 수입국은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</a:t>
            </a:r>
            <a:r>
              <a:rPr lang="en-US" altLang="ko-KR" sz="1600" dirty="0"/>
              <a:t>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, </a:t>
            </a:r>
            <a:r>
              <a:rPr lang="ko-KR" altLang="en-US" sz="1600" dirty="0"/>
              <a:t>대만 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2013-2023</a:t>
            </a:r>
            <a:r>
              <a:rPr lang="ko-KR" altLang="en-US" sz="1600" dirty="0"/>
              <a:t>년 기간동안 중국</a:t>
            </a:r>
            <a:r>
              <a:rPr lang="en-US" altLang="ko-KR" sz="1600" dirty="0"/>
              <a:t>, </a:t>
            </a:r>
            <a:r>
              <a:rPr lang="ko-KR" altLang="en-US" sz="1600" dirty="0"/>
              <a:t>한국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인도를 중심으로 증가하고 있다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중국은 동 기간에 수입량이 </a:t>
            </a:r>
            <a:r>
              <a:rPr lang="en-US" altLang="ko-KR" sz="1600" dirty="0"/>
              <a:t>25.2</a:t>
            </a:r>
            <a:r>
              <a:rPr lang="ko-KR" altLang="en-US" sz="1600" dirty="0"/>
              <a:t>에서 </a:t>
            </a:r>
            <a:r>
              <a:rPr lang="en-US" altLang="ko-KR" sz="1600" dirty="0"/>
              <a:t>97.8</a:t>
            </a:r>
            <a:r>
              <a:rPr lang="ko-KR" altLang="en-US" sz="1600" dirty="0"/>
              <a:t>로 증가하였으며</a:t>
            </a:r>
            <a:r>
              <a:rPr lang="en-US" altLang="ko-KR" sz="1600" dirty="0"/>
              <a:t>, </a:t>
            </a:r>
            <a:r>
              <a:rPr lang="ko-KR" altLang="en-US" sz="1600" dirty="0"/>
              <a:t>연평균 </a:t>
            </a:r>
            <a:r>
              <a:rPr lang="en-US" altLang="ko-KR" sz="1600" dirty="0"/>
              <a:t>14.6% </a:t>
            </a:r>
            <a:r>
              <a:rPr lang="ko-KR" altLang="en-US" sz="1600" dirty="0"/>
              <a:t>증가세를 보였다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0887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3A93-811A-7438-46BE-889A474E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7FFF7-50F9-EC5D-F629-AAA85F8C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7DCB1-B9DA-147E-0B55-B74914C0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17E8F-A809-1BFB-9CD5-F388D10C5549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 시장은 과거 몇몇 중동 및 동남아시아 국가에 집중되어 있었으나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최근 수십년간 기술 혁신과 투자 확대를 통해 공급국의 지리적 다양성이 확대되고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전통적으로 카타르</a:t>
            </a:r>
            <a:r>
              <a:rPr lang="en-US" altLang="ko-KR" sz="1600" dirty="0"/>
              <a:t>, </a:t>
            </a:r>
            <a:r>
              <a:rPr lang="ko-KR" altLang="en-US" sz="1600" dirty="0"/>
              <a:t>말레이시아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 등은 세계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수출량의 대부분을 차지해왔다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최근에는 미국과 호주가 주요 수출국으로 급부상하면서 글로벌 수출 구조에 큰 변화를 가져왔다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미국은 </a:t>
            </a:r>
            <a:r>
              <a:rPr lang="ko-KR" altLang="en-US" sz="1600" dirty="0" err="1"/>
              <a:t>셰일가스</a:t>
            </a:r>
            <a:r>
              <a:rPr lang="ko-KR" altLang="en-US" sz="1600" dirty="0"/>
              <a:t> 생산량의 급증과 함께 사빈패스</a:t>
            </a:r>
            <a:r>
              <a:rPr lang="en-US" altLang="ko-KR" sz="1600" dirty="0"/>
              <a:t>, </a:t>
            </a:r>
            <a:r>
              <a:rPr lang="ko-KR" altLang="en-US" sz="1600" dirty="0"/>
              <a:t>캐머런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프리포트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미국 지명</a:t>
            </a:r>
            <a:r>
              <a:rPr lang="en-US" altLang="ko-KR" sz="1600" dirty="0"/>
              <a:t>)</a:t>
            </a:r>
            <a:r>
              <a:rPr lang="ko-KR" altLang="en-US" sz="1600" dirty="0"/>
              <a:t> 등 주요 액화설비에 대한 공격적인 투자를 통해 </a:t>
            </a:r>
            <a:r>
              <a:rPr lang="en-US" altLang="ko-KR" sz="1600" dirty="0"/>
              <a:t>2016</a:t>
            </a:r>
            <a:r>
              <a:rPr lang="ko-KR" altLang="en-US" sz="1600" dirty="0"/>
              <a:t>년 이후 본격적인 수출국으로 부상하였고</a:t>
            </a:r>
            <a:r>
              <a:rPr lang="en-US" altLang="ko-KR" sz="1600" dirty="0"/>
              <a:t>, 2023</a:t>
            </a:r>
            <a:r>
              <a:rPr lang="ko-KR" altLang="en-US" sz="1600" dirty="0"/>
              <a:t>년에는 세계 최대 </a:t>
            </a:r>
            <a:r>
              <a:rPr lang="en-US" altLang="ko-KR" sz="1600" dirty="0"/>
              <a:t>LNG</a:t>
            </a:r>
            <a:r>
              <a:rPr lang="ko-KR" altLang="en-US" sz="1600" dirty="0"/>
              <a:t> 수출국이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호주는 고르곤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휘트스톤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이치시스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프렐류드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호주 지명</a:t>
            </a:r>
            <a:r>
              <a:rPr lang="en-US" altLang="ko-KR" sz="1600" dirty="0"/>
              <a:t>) </a:t>
            </a:r>
            <a:r>
              <a:rPr lang="ko-KR" altLang="en-US" sz="1600" dirty="0"/>
              <a:t>등 대형 프로젝트를 완공하며</a:t>
            </a:r>
            <a:r>
              <a:rPr lang="en-US" altLang="ko-KR" sz="1600" dirty="0"/>
              <a:t>, </a:t>
            </a:r>
            <a:r>
              <a:rPr lang="ko-KR" altLang="en-US" sz="1600" dirty="0"/>
              <a:t>카타르와 함께 </a:t>
            </a:r>
            <a:r>
              <a:rPr lang="en-US" altLang="ko-KR" sz="1600" dirty="0"/>
              <a:t>2020</a:t>
            </a:r>
            <a:r>
              <a:rPr lang="ko-KR" altLang="en-US" sz="1600" dirty="0"/>
              <a:t>년대 초반까지 세계 </a:t>
            </a:r>
            <a:r>
              <a:rPr lang="en-US" altLang="ko-KR" sz="1600" dirty="0"/>
              <a:t>1~2</a:t>
            </a:r>
            <a:r>
              <a:rPr lang="ko-KR" altLang="en-US" sz="1600" dirty="0"/>
              <a:t>위를 다투는 위치까지 올랐다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이와 같은 수출국 다변화는 천연가스 시장의 지역 편중을 완화시켰다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미국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카타르 간 경쟁 심화는 </a:t>
            </a:r>
            <a:r>
              <a:rPr lang="en-US" altLang="ko-KR" sz="1600" dirty="0"/>
              <a:t>LNG </a:t>
            </a:r>
            <a:r>
              <a:rPr lang="ko-KR" altLang="en-US" sz="1600" dirty="0"/>
              <a:t>시장을 보다 </a:t>
            </a:r>
            <a:r>
              <a:rPr lang="ko-KR" altLang="en-US" sz="1600" dirty="0" err="1"/>
              <a:t>시장지향적이고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역동적인 구조로 재편하게 했다</a:t>
            </a:r>
            <a:r>
              <a:rPr lang="en-US" altLang="ko-KR" sz="160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782567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C9B72-6603-1993-C74B-D1C00E45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2284E-449D-F2D8-63F7-EDE721F0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3D259-DBF7-4337-E793-0145D0B8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82979-EB3E-2F95-DCF9-D7138936A38C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LNG </a:t>
            </a:r>
            <a:r>
              <a:rPr lang="ko-KR" altLang="en-US" sz="1600" dirty="0"/>
              <a:t>수출은 계약 구조 및 수출 전략 측면에서 두 가지 상이한 경향을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국가는 여전히 장기 고정계약에 의존하고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수입국의 수요 안정성과 수출국의 수익 예측 가능성을 동시에 보장한다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카타르와 러시아가 대표적인 사례로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이들은 장기 공급계약을 통해 동아시아 및 유럽의 주요 수입국들과 안정적인 무역 관계를 유지하고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</a:t>
            </a:r>
            <a:r>
              <a:rPr lang="en-US" altLang="ko-KR" sz="1600" dirty="0"/>
              <a:t>, </a:t>
            </a:r>
            <a:r>
              <a:rPr lang="ko-KR" altLang="en-US" sz="1600" dirty="0"/>
              <a:t>미국은 대부분의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수출을 헨리 허브 가격을 기반으로 하는 유연한 계약구조를 채택하고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수출</a:t>
            </a:r>
            <a:r>
              <a:rPr lang="en-US" altLang="ko-KR" sz="1600" dirty="0"/>
              <a:t>, </a:t>
            </a:r>
            <a:r>
              <a:rPr lang="ko-KR" altLang="en-US" sz="1600" dirty="0"/>
              <a:t>수입국 모두 시장 가격 변화에 민감하게 반응하는 구조를 갖게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미국식 계약 모델은 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현물시장</a:t>
            </a:r>
            <a:r>
              <a:rPr lang="en-US" altLang="ko-KR" sz="1600" dirty="0"/>
              <a:t>(spot market)</a:t>
            </a:r>
            <a:r>
              <a:rPr lang="ko-KR" altLang="en-US" sz="1600" dirty="0"/>
              <a:t>의 성장과 가격 신호의 국제적 확산에 기여하고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유연성과 경쟁성을 동시에 제고하는 데 중요한 역할을 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최근에는 아프리카 및 남미 지역의 신규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수출국들이 주목받고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모잠비크는 </a:t>
            </a:r>
            <a:r>
              <a:rPr lang="ko-KR" altLang="en-US" sz="1600" dirty="0" err="1"/>
              <a:t>로부마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코랄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사우스</a:t>
            </a:r>
            <a:r>
              <a:rPr lang="ko-KR" altLang="en-US" sz="1600" dirty="0"/>
              <a:t> 프로젝트를 통해</a:t>
            </a:r>
            <a:r>
              <a:rPr lang="en-US" altLang="ko-KR" sz="1600" dirty="0"/>
              <a:t>, </a:t>
            </a:r>
            <a:r>
              <a:rPr lang="ko-KR" altLang="en-US" sz="1600" dirty="0"/>
              <a:t>세네갈은 </a:t>
            </a:r>
            <a:r>
              <a:rPr lang="ko-KR" altLang="en-US" sz="1600" dirty="0" err="1"/>
              <a:t>그레이터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토르투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아메임</a:t>
            </a:r>
            <a:r>
              <a:rPr lang="ko-KR" altLang="en-US" sz="1600" dirty="0"/>
              <a:t> 프로젝트를 통해</a:t>
            </a:r>
            <a:r>
              <a:rPr lang="en-US" altLang="ko-KR" sz="1600" dirty="0"/>
              <a:t>, </a:t>
            </a:r>
            <a:r>
              <a:rPr lang="ko-KR" altLang="en-US" sz="1600" dirty="0"/>
              <a:t>나이지리아는 보니 아일랜드 프로젝트를 통해 수출 기반을 확장하고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이들 국가는 향후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수출의 지리적 분산과 글로벌 공급 안정성 제고에 크게 기여할 것으로 기대된다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수출 경쟁 심화와 함께 글로벌 가격 형성에도 복합적인 영향을 미칠 것으로 전망된다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702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E5A8-2209-68FC-CACA-E292AC77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CE135-7B2C-B91C-A327-7890EE0B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A4EA85-C411-CE6C-BAFF-79441028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BB9E9-7916-F94F-B356-043B07E707B3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LNG </a:t>
            </a:r>
            <a:r>
              <a:rPr lang="ko-KR" altLang="en-US" sz="1600" dirty="0"/>
              <a:t>의 또 다른 특징은 액화 인프라의 장기 투자성과 높은 프로젝트 리스크이다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액화 플랜트 건설에는 수십억 달러 규모의 자본 투자가 소요되고</a:t>
            </a:r>
            <a:r>
              <a:rPr lang="en-US" altLang="ko-KR" sz="1600" dirty="0"/>
              <a:t>, </a:t>
            </a:r>
            <a:r>
              <a:rPr lang="ko-KR" altLang="en-US" sz="1600" dirty="0"/>
              <a:t>완공에 수년이 걸리고</a:t>
            </a:r>
            <a:r>
              <a:rPr lang="en-US" altLang="ko-KR" sz="1600" dirty="0"/>
              <a:t>, </a:t>
            </a:r>
            <a:r>
              <a:rPr lang="ko-KR" altLang="en-US" sz="1600" dirty="0"/>
              <a:t>프로젝트의 성공 여부는 자원 매장량</a:t>
            </a:r>
            <a:r>
              <a:rPr lang="en-US" altLang="ko-KR" sz="1600" dirty="0"/>
              <a:t>, </a:t>
            </a:r>
            <a:r>
              <a:rPr lang="ko-KR" altLang="en-US" sz="1600" dirty="0"/>
              <a:t>정치적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투자제도</a:t>
            </a:r>
            <a:r>
              <a:rPr lang="en-US" altLang="ko-KR" sz="1600" dirty="0"/>
              <a:t>, </a:t>
            </a:r>
            <a:r>
              <a:rPr lang="ko-KR" altLang="en-US" sz="1600" dirty="0"/>
              <a:t>수요 전망 등 다양한 요인에 의해 좌우된다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단기적 시장 상황보다는 장기적 전략과 정책 일관성에 많은 영향을 받는다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996BF7-A5A7-7AA3-046B-8F1D07C37B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31"/>
          <a:stretch>
            <a:fillRect/>
          </a:stretch>
        </p:blipFill>
        <p:spPr>
          <a:xfrm>
            <a:off x="6252732" y="3281429"/>
            <a:ext cx="5613416" cy="28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DD8DF-E515-E39E-62D1-F5910218CA72}"/>
              </a:ext>
            </a:extLst>
          </p:cNvPr>
          <p:cNvSpPr txBox="1"/>
          <p:nvPr/>
        </p:nvSpPr>
        <p:spPr>
          <a:xfrm>
            <a:off x="7512785" y="3225643"/>
            <a:ext cx="32258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주요 국가의 천연가스 수출량 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538B8-BB32-0384-BBD7-ACF044FF42BB}"/>
              </a:ext>
            </a:extLst>
          </p:cNvPr>
          <p:cNvSpPr txBox="1"/>
          <p:nvPr/>
        </p:nvSpPr>
        <p:spPr>
          <a:xfrm>
            <a:off x="288791" y="2958882"/>
            <a:ext cx="616501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오른쪽 그래프에서 보듯이 미국</a:t>
            </a:r>
            <a:r>
              <a:rPr lang="en-US" altLang="ko-KR" sz="1600" dirty="0"/>
              <a:t>, </a:t>
            </a:r>
            <a:r>
              <a:rPr lang="ko-KR" altLang="en-US" sz="1600" dirty="0"/>
              <a:t>카타르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러시아가 </a:t>
            </a:r>
            <a:r>
              <a:rPr lang="en-US" altLang="ko-KR" sz="1600" dirty="0"/>
              <a:t>4</a:t>
            </a:r>
            <a:r>
              <a:rPr lang="ko-KR" altLang="en-US" sz="1600" dirty="0"/>
              <a:t>대 천연가스 수출국이며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수출의 </a:t>
            </a:r>
            <a:r>
              <a:rPr lang="en-US" altLang="ko-KR" sz="1600" dirty="0"/>
              <a:t>68.8% </a:t>
            </a:r>
            <a:r>
              <a:rPr lang="ko-KR" altLang="en-US" sz="1600" dirty="0"/>
              <a:t>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국가별 비중은 미국</a:t>
            </a:r>
            <a:r>
              <a:rPr lang="en-US" altLang="ko-KR" sz="1600" dirty="0"/>
              <a:t>(20.8%), </a:t>
            </a:r>
            <a:r>
              <a:rPr lang="ko-KR" altLang="en-US" sz="1600" dirty="0"/>
              <a:t>카타르</a:t>
            </a:r>
            <a:r>
              <a:rPr lang="en-US" altLang="ko-KR" sz="1600" dirty="0"/>
              <a:t>(19.7%), </a:t>
            </a:r>
            <a:r>
              <a:rPr lang="ko-KR" altLang="en-US" sz="1600" dirty="0"/>
              <a:t>호주</a:t>
            </a:r>
            <a:r>
              <a:rPr lang="en-US" altLang="ko-KR" sz="1600" dirty="0"/>
              <a:t>(19.6%),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(7.8%)</a:t>
            </a:r>
            <a:r>
              <a:rPr lang="ko-KR" altLang="en-US" sz="1600" dirty="0"/>
              <a:t>를 나타내고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최근에는 미국과 호주의 비중이 점차 증가하고 있음을 볼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2533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6DF7-795D-675C-12D1-C260F4A4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80991-F804-0298-159B-6F941FEF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46301-025D-DEFD-BD6D-03C717E4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BE3FA-6D9C-5CC8-51E4-443A787CE86C}"/>
              </a:ext>
            </a:extLst>
          </p:cNvPr>
          <p:cNvSpPr txBox="1"/>
          <p:nvPr/>
        </p:nvSpPr>
        <p:spPr>
          <a:xfrm>
            <a:off x="288790" y="958844"/>
            <a:ext cx="600157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미국의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수출국은 프랑스</a:t>
            </a:r>
            <a:r>
              <a:rPr lang="en-US" altLang="ko-KR" sz="1600" dirty="0"/>
              <a:t>, </a:t>
            </a:r>
            <a:r>
              <a:rPr lang="ko-KR" altLang="en-US" sz="1600" dirty="0"/>
              <a:t>영국</a:t>
            </a:r>
            <a:r>
              <a:rPr lang="en-US" altLang="ko-KR" sz="1600" dirty="0"/>
              <a:t> </a:t>
            </a:r>
            <a:r>
              <a:rPr lang="ko-KR" altLang="en-US" sz="1600" dirty="0"/>
              <a:t>등을 중심으로 한 유럽 지역이 </a:t>
            </a:r>
            <a:r>
              <a:rPr lang="en-US" altLang="ko-KR" sz="1600" dirty="0"/>
              <a:t>67%</a:t>
            </a:r>
            <a:r>
              <a:rPr lang="ko-KR" altLang="en-US" sz="1600" dirty="0"/>
              <a:t>를 차지하고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일본 중국</a:t>
            </a:r>
            <a:r>
              <a:rPr lang="en-US" altLang="ko-KR" sz="1600" dirty="0"/>
              <a:t>, </a:t>
            </a:r>
            <a:r>
              <a:rPr lang="ko-KR" altLang="en-US" sz="1600" dirty="0"/>
              <a:t>한국을 포함한 아시아 지역으로의 수출이 </a:t>
            </a:r>
            <a:r>
              <a:rPr lang="en-US" altLang="ko-KR" sz="1600" dirty="0"/>
              <a:t>26%</a:t>
            </a:r>
            <a:r>
              <a:rPr lang="ko-KR" altLang="en-US" sz="1600" dirty="0"/>
              <a:t>를 차지하고 있다</a:t>
            </a:r>
            <a:r>
              <a:rPr lang="en-US" altLang="ko-KR" sz="16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5DCC5-BFBA-2419-0F7E-D77CB6F24D46}"/>
              </a:ext>
            </a:extLst>
          </p:cNvPr>
          <p:cNvSpPr txBox="1"/>
          <p:nvPr/>
        </p:nvSpPr>
        <p:spPr>
          <a:xfrm>
            <a:off x="7804333" y="794349"/>
            <a:ext cx="32258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미국의 주요 </a:t>
            </a:r>
            <a:r>
              <a:rPr lang="en-US" altLang="ko-KR" sz="1050" spc="-50" dirty="0"/>
              <a:t>LNG </a:t>
            </a:r>
            <a:r>
              <a:rPr lang="ko-KR" altLang="en-US" sz="1050" spc="-50" dirty="0"/>
              <a:t>수출국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D8DFB7-8119-905E-283E-2B229995A7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929" r="3673"/>
          <a:stretch>
            <a:fillRect/>
          </a:stretch>
        </p:blipFill>
        <p:spPr>
          <a:xfrm>
            <a:off x="6935303" y="1048265"/>
            <a:ext cx="4823793" cy="21675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BE5180-A8C1-4799-093C-339A7E3E93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2" r="6418"/>
          <a:stretch>
            <a:fillRect/>
          </a:stretch>
        </p:blipFill>
        <p:spPr>
          <a:xfrm>
            <a:off x="6993680" y="4055164"/>
            <a:ext cx="4641729" cy="25567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8690A0-7E07-D32A-D69F-538011896E90}"/>
              </a:ext>
            </a:extLst>
          </p:cNvPr>
          <p:cNvSpPr txBox="1"/>
          <p:nvPr/>
        </p:nvSpPr>
        <p:spPr>
          <a:xfrm>
            <a:off x="7804333" y="3801247"/>
            <a:ext cx="32258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러시아의 주요 </a:t>
            </a:r>
            <a:r>
              <a:rPr lang="en-US" altLang="ko-KR" sz="1050" spc="-50" dirty="0"/>
              <a:t>LNG </a:t>
            </a:r>
            <a:r>
              <a:rPr lang="ko-KR" altLang="en-US" sz="1050" spc="-50" dirty="0"/>
              <a:t>수출국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C1203-B705-268B-C294-9D9A739A4264}"/>
              </a:ext>
            </a:extLst>
          </p:cNvPr>
          <p:cNvSpPr txBox="1"/>
          <p:nvPr/>
        </p:nvSpPr>
        <p:spPr>
          <a:xfrm>
            <a:off x="288790" y="3928205"/>
            <a:ext cx="600157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러시아는 중국과 일본을 중심으로 아시아태평양 지역에 전체의 </a:t>
            </a:r>
            <a:r>
              <a:rPr lang="en-US" altLang="ko-KR" sz="1600" dirty="0"/>
              <a:t>54.1%</a:t>
            </a:r>
            <a:r>
              <a:rPr lang="ko-KR" altLang="en-US" sz="1600" dirty="0"/>
              <a:t>를 수출하고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유럽의 비중은 </a:t>
            </a:r>
            <a:r>
              <a:rPr lang="ko-KR" altLang="en-US" sz="1600" dirty="0" err="1"/>
              <a:t>스페과</a:t>
            </a:r>
            <a:r>
              <a:rPr lang="ko-KR" altLang="en-US" sz="1600" dirty="0"/>
              <a:t> 프랑스를 중심으로 </a:t>
            </a:r>
            <a:r>
              <a:rPr lang="en-US" altLang="ko-KR" sz="1600" dirty="0"/>
              <a:t>45.5%</a:t>
            </a:r>
            <a:r>
              <a:rPr lang="ko-KR" altLang="en-US" sz="1600" dirty="0"/>
              <a:t>를 차지하고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875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6740-578F-BCF5-1C06-8D5E0B257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80EAA-1F75-2CC2-7AC5-7D66B52C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BB38D-7453-D5CB-9E95-0A936962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37CD8-F2C2-1C14-8620-845FE3DEFA61}"/>
              </a:ext>
            </a:extLst>
          </p:cNvPr>
          <p:cNvSpPr txBox="1"/>
          <p:nvPr/>
        </p:nvSpPr>
        <p:spPr>
          <a:xfrm>
            <a:off x="288790" y="958844"/>
            <a:ext cx="600157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카타르는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한국을 포함한 아시아 지역으로의 수출이 전체 수출량의 </a:t>
            </a:r>
            <a:r>
              <a:rPr lang="en-US" altLang="ko-KR" sz="1600" dirty="0"/>
              <a:t>75%</a:t>
            </a:r>
            <a:r>
              <a:rPr lang="ko-KR" altLang="en-US" sz="1600" dirty="0"/>
              <a:t>를 차지하고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이태리</a:t>
            </a:r>
            <a:r>
              <a:rPr lang="en-US" altLang="ko-KR" sz="1600" dirty="0"/>
              <a:t>, </a:t>
            </a:r>
            <a:r>
              <a:rPr lang="ko-KR" altLang="en-US" sz="1600" dirty="0"/>
              <a:t>벨기에를 포함한 유럽지역에 </a:t>
            </a:r>
            <a:r>
              <a:rPr lang="en-US" altLang="ko-KR" sz="1600" dirty="0"/>
              <a:t>19.2%</a:t>
            </a:r>
            <a:r>
              <a:rPr lang="ko-KR" altLang="en-US" sz="1600" dirty="0"/>
              <a:t>를 수출하고 있다</a:t>
            </a:r>
            <a:r>
              <a:rPr lang="en-US" altLang="ko-KR" sz="16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AF9A2-A3FF-E0DE-3030-464CCCE19A94}"/>
              </a:ext>
            </a:extLst>
          </p:cNvPr>
          <p:cNvSpPr txBox="1"/>
          <p:nvPr/>
        </p:nvSpPr>
        <p:spPr>
          <a:xfrm>
            <a:off x="7804333" y="794349"/>
            <a:ext cx="32258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카타르의 주요 </a:t>
            </a:r>
            <a:r>
              <a:rPr lang="en-US" altLang="ko-KR" sz="1050" spc="-50" dirty="0"/>
              <a:t>LNG </a:t>
            </a:r>
            <a:r>
              <a:rPr lang="ko-KR" altLang="en-US" sz="1050" spc="-50" dirty="0"/>
              <a:t>수출국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BFEC3-9C90-5CAE-EF5C-526EF1AB47F6}"/>
              </a:ext>
            </a:extLst>
          </p:cNvPr>
          <p:cNvSpPr txBox="1"/>
          <p:nvPr/>
        </p:nvSpPr>
        <p:spPr>
          <a:xfrm>
            <a:off x="7804333" y="3801247"/>
            <a:ext cx="32258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호주의 주요 </a:t>
            </a:r>
            <a:r>
              <a:rPr lang="en-US" altLang="ko-KR" sz="1050" spc="-50" dirty="0"/>
              <a:t>LNG </a:t>
            </a:r>
            <a:r>
              <a:rPr lang="ko-KR" altLang="en-US" sz="1050" spc="-50" dirty="0"/>
              <a:t>수출국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DB801-04CD-D02A-E416-136AA9DB095F}"/>
              </a:ext>
            </a:extLst>
          </p:cNvPr>
          <p:cNvSpPr txBox="1"/>
          <p:nvPr/>
        </p:nvSpPr>
        <p:spPr>
          <a:xfrm>
            <a:off x="288790" y="3928205"/>
            <a:ext cx="6001575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호주의 경우 수출 전량이 아시아 지역으로 향하고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한국 순으로 수출량이 많다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F8D998-AF48-61D5-C872-62D3B69FD0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66"/>
          <a:stretch>
            <a:fillRect/>
          </a:stretch>
        </p:blipFill>
        <p:spPr>
          <a:xfrm>
            <a:off x="6993680" y="1007168"/>
            <a:ext cx="4557799" cy="24704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86D9D3-A172-0CF0-4094-70626B2344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60" r="4259"/>
          <a:stretch>
            <a:fillRect/>
          </a:stretch>
        </p:blipFill>
        <p:spPr>
          <a:xfrm>
            <a:off x="6874410" y="4206663"/>
            <a:ext cx="4836094" cy="233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D32C-AEB3-D81F-A31F-C377CB31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5BE5D-C602-B8A0-C176-798A1EBB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35379-43C7-A4EC-53C1-47C1547B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51A54-FAAF-1E88-0D81-9D48FAF9CED9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파이프라인 천연가스</a:t>
            </a:r>
            <a:r>
              <a:rPr lang="en-US" altLang="ko-KR" sz="1600" dirty="0"/>
              <a:t>(PNG)</a:t>
            </a:r>
            <a:r>
              <a:rPr lang="ko-KR" altLang="en-US" sz="1600" dirty="0"/>
              <a:t> 수출은 지리적 인접성과 장기적 상호 의존성을 기반으로 형성된 에너지 공급 형태이다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LNG</a:t>
            </a:r>
            <a:r>
              <a:rPr lang="ko-KR" altLang="en-US" sz="1600" dirty="0"/>
              <a:t>와 달리 고정된 수송 경로와 이로 인한 지정학적 민감성이 특징이다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생산국과 소비국 간의 지리적 근접성</a:t>
            </a:r>
            <a:r>
              <a:rPr lang="en-US" altLang="ko-KR" sz="1600" dirty="0"/>
              <a:t>, </a:t>
            </a:r>
            <a:r>
              <a:rPr lang="ko-KR" altLang="en-US" sz="1600" dirty="0"/>
              <a:t>역사적 에너지 관계</a:t>
            </a:r>
            <a:r>
              <a:rPr lang="en-US" altLang="ko-KR" sz="1600" dirty="0"/>
              <a:t>, </a:t>
            </a:r>
            <a:r>
              <a:rPr lang="ko-KR" altLang="en-US" sz="1600" dirty="0"/>
              <a:t>정치적 협력 수준에 크게 좌우된다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이에 따라 거래 구조의 안정성과 동시에 위험 요소를 내포하고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PNG </a:t>
            </a:r>
            <a:r>
              <a:rPr lang="ko-KR" altLang="en-US" sz="1600" dirty="0"/>
              <a:t>수출은 전통적으로 유라시아 대륙을 중심으로 이루어져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러시아는 유럽과 아시아를 잇는 파이프라인 네트워크를 통해 세계 최대의 </a:t>
            </a:r>
            <a:r>
              <a:rPr lang="en-US" altLang="ko-KR" sz="1600" dirty="0"/>
              <a:t>PNG </a:t>
            </a:r>
            <a:r>
              <a:rPr lang="ko-KR" altLang="en-US" sz="1600" dirty="0"/>
              <a:t>수출국이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러시아산 가스는 독일</a:t>
            </a:r>
            <a:r>
              <a:rPr lang="en-US" altLang="ko-KR" sz="1600" dirty="0"/>
              <a:t>, </a:t>
            </a:r>
            <a:r>
              <a:rPr lang="ko-KR" altLang="en-US" sz="1600" dirty="0"/>
              <a:t>이탈리아</a:t>
            </a:r>
            <a:r>
              <a:rPr lang="en-US" altLang="ko-KR" sz="1600" dirty="0"/>
              <a:t>, </a:t>
            </a:r>
            <a:r>
              <a:rPr lang="ko-KR" altLang="en-US" sz="1600" dirty="0"/>
              <a:t>프랑스 등 주요 </a:t>
            </a:r>
            <a:r>
              <a:rPr lang="ko-KR" altLang="en-US" sz="1600" dirty="0" err="1"/>
              <a:t>유러</a:t>
            </a:r>
            <a:r>
              <a:rPr lang="ko-KR" altLang="en-US" sz="1600" dirty="0"/>
              <a:t> 국가에 대규모로 공급되었다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2021</a:t>
            </a:r>
            <a:r>
              <a:rPr lang="ko-KR" altLang="en-US" sz="1600" dirty="0"/>
              <a:t>년 기준</a:t>
            </a:r>
            <a:r>
              <a:rPr lang="en-US" altLang="ko-KR" sz="1600" dirty="0"/>
              <a:t>, </a:t>
            </a:r>
            <a:r>
              <a:rPr lang="ko-KR" altLang="en-US" sz="1600" dirty="0"/>
              <a:t>유럽 천연가스 수입량의 약</a:t>
            </a:r>
            <a:r>
              <a:rPr lang="en-US" altLang="ko-KR" sz="1600" dirty="0"/>
              <a:t> 40%</a:t>
            </a:r>
            <a:r>
              <a:rPr lang="ko-KR" altLang="en-US" sz="1600" dirty="0"/>
              <a:t>가 러시아 파이프라인을 통해 이루어졌다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</a:t>
            </a:r>
            <a:r>
              <a:rPr lang="en-US" altLang="ko-KR" sz="1600" dirty="0"/>
              <a:t>2022</a:t>
            </a:r>
            <a:r>
              <a:rPr lang="ko-KR" altLang="en-US" sz="1600" dirty="0"/>
              <a:t>년 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유럽의 수입구조는 급격히 변화하였고</a:t>
            </a:r>
            <a:r>
              <a:rPr lang="en-US" altLang="ko-KR" sz="1600" dirty="0"/>
              <a:t>, PNG </a:t>
            </a:r>
            <a:r>
              <a:rPr lang="ko-KR" altLang="en-US" sz="1600" dirty="0"/>
              <a:t>수출은 정치적 리스크에 매우 취약한 구조임이 재확인 되었다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8661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87DF-A2AF-9D03-E4F3-4C3E37E3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CE1CA-348B-5235-7EDC-41DD89BF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8BB13-B62B-B493-99DD-7FE0389F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BB703-F3A4-2692-078E-0C5684AF45EA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특성상 </a:t>
            </a:r>
            <a:r>
              <a:rPr lang="en-US" altLang="ko-KR" sz="1600" dirty="0"/>
              <a:t>PNG </a:t>
            </a:r>
            <a:r>
              <a:rPr lang="ko-KR" altLang="en-US" sz="1600" dirty="0"/>
              <a:t>수출은 특정 생산국이 특정 수입국에 장기적으로 가스를 공급하는 고정적 이원 거래구조를 형성하는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독일 간 </a:t>
            </a:r>
            <a:r>
              <a:rPr lang="ko-KR" altLang="en-US" sz="1600" dirty="0" err="1"/>
              <a:t>노드스트림</a:t>
            </a:r>
            <a:r>
              <a:rPr lang="en-US" altLang="ko-KR" sz="1600" dirty="0"/>
              <a:t>, </a:t>
            </a:r>
            <a:r>
              <a:rPr lang="ko-KR" altLang="en-US" sz="1600" dirty="0"/>
              <a:t>알제리</a:t>
            </a:r>
            <a:r>
              <a:rPr lang="en-US" altLang="ko-KR" sz="1600" dirty="0"/>
              <a:t>-</a:t>
            </a:r>
            <a:r>
              <a:rPr lang="ko-KR" altLang="en-US" sz="1600" dirty="0"/>
              <a:t>이탈리아 간 </a:t>
            </a:r>
            <a:r>
              <a:rPr lang="ko-KR" altLang="en-US" sz="1600" dirty="0" err="1"/>
              <a:t>트랜스메드</a:t>
            </a:r>
            <a:r>
              <a:rPr lang="en-US" altLang="ko-KR" sz="1600" dirty="0"/>
              <a:t>, </a:t>
            </a:r>
            <a:r>
              <a:rPr lang="ko-KR" altLang="en-US" sz="1600" dirty="0"/>
              <a:t>노르웨이</a:t>
            </a:r>
            <a:r>
              <a:rPr lang="en-US" altLang="ko-KR" sz="1600" dirty="0"/>
              <a:t>-</a:t>
            </a:r>
            <a:r>
              <a:rPr lang="ko-KR" altLang="en-US" sz="1600" dirty="0"/>
              <a:t>영국 간 </a:t>
            </a:r>
            <a:r>
              <a:rPr lang="ko-KR" altLang="en-US" sz="1600" dirty="0" err="1"/>
              <a:t>랭가스와</a:t>
            </a:r>
            <a:r>
              <a:rPr lang="ko-KR" altLang="en-US" sz="1600" dirty="0"/>
              <a:t> 같은 대형 파이프라인은 막대한 인프라 투자와 수십 년 단위 장기 계약을 바탕으로 운영된다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이는 </a:t>
            </a:r>
            <a:r>
              <a:rPr lang="en-US" altLang="ko-KR" sz="1600" dirty="0"/>
              <a:t>LNG</a:t>
            </a:r>
            <a:r>
              <a:rPr lang="ko-KR" altLang="en-US" sz="1600" dirty="0"/>
              <a:t>시장에서 나타나는 현물 거래 및 계약 유연성 확대와 대비된다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지역적으로 보면</a:t>
            </a:r>
            <a:r>
              <a:rPr lang="en-US" altLang="ko-KR" sz="1600" dirty="0"/>
              <a:t>, PNG </a:t>
            </a:r>
            <a:r>
              <a:rPr lang="ko-KR" altLang="en-US" sz="1600" dirty="0"/>
              <a:t>수출은 유럽</a:t>
            </a:r>
            <a:r>
              <a:rPr lang="en-US" altLang="ko-KR" sz="1600" dirty="0"/>
              <a:t>, </a:t>
            </a:r>
            <a:r>
              <a:rPr lang="ko-KR" altLang="en-US" sz="1600" dirty="0"/>
              <a:t>북미</a:t>
            </a:r>
            <a:r>
              <a:rPr lang="en-US" altLang="ko-KR" sz="1600" dirty="0"/>
              <a:t>, </a:t>
            </a:r>
            <a:r>
              <a:rPr lang="ko-KR" altLang="en-US" sz="1600" dirty="0"/>
              <a:t>아시아를 중심으로 지역별 클러스터를 형성하고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유럽은 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노르웨이</a:t>
            </a:r>
            <a:r>
              <a:rPr lang="en-US" altLang="ko-KR" sz="1600" dirty="0"/>
              <a:t>, </a:t>
            </a:r>
            <a:r>
              <a:rPr lang="ko-KR" altLang="en-US" sz="1600" dirty="0"/>
              <a:t>알제리 등의 공급국과 광범위한 파이프라인 네트워크를 공유하고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북미에서는 미국과 캐나다 간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멕시코로 이어지는 </a:t>
            </a:r>
            <a:r>
              <a:rPr lang="en-US" altLang="ko-KR" sz="1600" dirty="0"/>
              <a:t>PNG </a:t>
            </a:r>
            <a:r>
              <a:rPr lang="ko-KR" altLang="en-US" sz="1600" dirty="0"/>
              <a:t>수출이 활발하다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아시아에서는 투르크메니스탄</a:t>
            </a:r>
            <a:r>
              <a:rPr lang="en-US" altLang="ko-KR" sz="1600" dirty="0"/>
              <a:t>, </a:t>
            </a:r>
            <a:r>
              <a:rPr lang="ko-KR" altLang="en-US" sz="1600" dirty="0"/>
              <a:t>카자흐스탄</a:t>
            </a:r>
            <a:r>
              <a:rPr lang="en-US" altLang="ko-KR" sz="1600" dirty="0"/>
              <a:t>, </a:t>
            </a:r>
            <a:r>
              <a:rPr lang="ko-KR" altLang="en-US" sz="1600" dirty="0"/>
              <a:t>우즈베키스탄 등 중앙아시아 국가들이 중국으로 천연가스를 수출하는 파이프라인 체계를 갖추고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PNG </a:t>
            </a:r>
            <a:r>
              <a:rPr lang="ko-KR" altLang="en-US" sz="1600" dirty="0"/>
              <a:t>수출은 인프라 건설에 장시간이 소요되고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정치적</a:t>
            </a:r>
            <a:r>
              <a:rPr lang="en-US" altLang="ko-KR" sz="1600" dirty="0"/>
              <a:t>·</a:t>
            </a:r>
            <a:r>
              <a:rPr lang="ko-KR" altLang="en-US" sz="1600" dirty="0"/>
              <a:t>환경적 인허가 요건이 까다롭기 때문에 확장성과 유연성 측면에서 </a:t>
            </a:r>
            <a:r>
              <a:rPr lang="en-US" altLang="ko-KR" sz="1600" dirty="0"/>
              <a:t>LNG</a:t>
            </a:r>
            <a:r>
              <a:rPr lang="ko-KR" altLang="en-US" sz="1600" dirty="0"/>
              <a:t>에 비해 제약이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8362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629D-9A18-7D6A-D00D-0037F3CA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4131D-B3E1-304D-2EE8-B2275B8E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9B6F34-7EAE-B6C2-B903-A169A3B9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B2708-E3C2-4E31-6F02-A15C4DB5A38B}"/>
              </a:ext>
            </a:extLst>
          </p:cNvPr>
          <p:cNvSpPr txBox="1"/>
          <p:nvPr/>
        </p:nvSpPr>
        <p:spPr>
          <a:xfrm>
            <a:off x="288790" y="958844"/>
            <a:ext cx="1111845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PNG </a:t>
            </a:r>
            <a:r>
              <a:rPr lang="ko-KR" altLang="en-US" sz="1600" dirty="0"/>
              <a:t>수출은 인프라 건설에 장시간이 소요되고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정치적</a:t>
            </a:r>
            <a:r>
              <a:rPr lang="en-US" altLang="ko-KR" sz="1600" dirty="0"/>
              <a:t>·</a:t>
            </a:r>
            <a:r>
              <a:rPr lang="ko-KR" altLang="en-US" sz="1600" dirty="0"/>
              <a:t>환경적 인허가 요건이 까다롭기 때문에 확장성과 유연성 측면에서 </a:t>
            </a:r>
            <a:r>
              <a:rPr lang="en-US" altLang="ko-KR" sz="1600" dirty="0"/>
              <a:t>LNG</a:t>
            </a:r>
            <a:r>
              <a:rPr lang="ko-KR" altLang="en-US" sz="1600" dirty="0"/>
              <a:t>에 비해 제약이 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대륙 간 수송은 사실상 불가능하고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해저 구간이 길어지는 경우 건설비용이 급격히 증가한다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따라 </a:t>
            </a:r>
            <a:r>
              <a:rPr lang="en-US" altLang="ko-KR" sz="1600" dirty="0"/>
              <a:t>PNG </a:t>
            </a:r>
            <a:r>
              <a:rPr lang="ko-KR" altLang="en-US" sz="1600" dirty="0"/>
              <a:t>수출국들은 지역 내 안정적인 수요처를 기반으로 보수적인 수출 전략을 채택하는 경향을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그럼에도 불구하고</a:t>
            </a:r>
            <a:r>
              <a:rPr lang="en-US" altLang="ko-KR" sz="1600" dirty="0"/>
              <a:t>, PNG</a:t>
            </a:r>
            <a:r>
              <a:rPr lang="ko-KR" altLang="en-US" sz="1600" dirty="0"/>
              <a:t>는 운송비용이 낮고 대량 수송에 적합하다는 장점이 있어</a:t>
            </a:r>
            <a:r>
              <a:rPr lang="en-US" altLang="ko-KR" sz="1600" dirty="0"/>
              <a:t>, </a:t>
            </a:r>
            <a:r>
              <a:rPr lang="ko-KR" altLang="en-US" sz="1600" dirty="0"/>
              <a:t>생산국과 수입국 간에 신뢰관계가 구축된 경우에는 매우 효율적인 에너지 공급방식이다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6A0319-C55D-D2D0-6F1B-9646CA548F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30" r="6566" b="7640"/>
          <a:stretch>
            <a:fillRect/>
          </a:stretch>
        </p:blipFill>
        <p:spPr>
          <a:xfrm>
            <a:off x="6816035" y="3918226"/>
            <a:ext cx="4960730" cy="2693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E64B49-0EF5-826D-CDDC-2FC64E7BCFE7}"/>
              </a:ext>
            </a:extLst>
          </p:cNvPr>
          <p:cNvSpPr txBox="1"/>
          <p:nvPr/>
        </p:nvSpPr>
        <p:spPr>
          <a:xfrm>
            <a:off x="7804333" y="3783579"/>
            <a:ext cx="32258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주요국의 </a:t>
            </a:r>
            <a:r>
              <a:rPr lang="en-US" altLang="ko-KR" sz="1050" spc="-50" dirty="0"/>
              <a:t>PNG </a:t>
            </a:r>
            <a:r>
              <a:rPr lang="ko-KR" altLang="en-US" sz="1050" spc="-50" dirty="0"/>
              <a:t>수출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58F0D-709A-EF49-0772-084C0E4308E5}"/>
              </a:ext>
            </a:extLst>
          </p:cNvPr>
          <p:cNvSpPr txBox="1"/>
          <p:nvPr/>
        </p:nvSpPr>
        <p:spPr>
          <a:xfrm>
            <a:off x="288790" y="4091647"/>
            <a:ext cx="6001575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2023</a:t>
            </a:r>
            <a:r>
              <a:rPr lang="ko-KR" altLang="en-US" sz="1600" dirty="0"/>
              <a:t>년 기준 </a:t>
            </a:r>
            <a:r>
              <a:rPr lang="en-US" altLang="ko-KR" sz="1600" dirty="0"/>
              <a:t>PNG </a:t>
            </a:r>
            <a:r>
              <a:rPr lang="ko-KR" altLang="en-US" sz="1600" dirty="0"/>
              <a:t>수출량은 약 </a:t>
            </a:r>
            <a:r>
              <a:rPr lang="en-US" altLang="ko-KR" sz="1600" dirty="0"/>
              <a:t>6,770</a:t>
            </a:r>
            <a:r>
              <a:rPr lang="ko-KR" altLang="en-US" sz="1600" dirty="0"/>
              <a:t>억 </a:t>
            </a:r>
            <a:r>
              <a:rPr lang="ko-KR" altLang="en-US" sz="1600" dirty="0" err="1"/>
              <a:t>입방미터로</a:t>
            </a:r>
            <a:r>
              <a:rPr lang="ko-KR" altLang="en-US" sz="1600" dirty="0"/>
              <a:t> 집계되었으며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같은 해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수출량인 </a:t>
            </a:r>
            <a:r>
              <a:rPr lang="en-US" altLang="ko-KR" sz="1600" dirty="0"/>
              <a:t>5,492</a:t>
            </a:r>
            <a:r>
              <a:rPr lang="ko-KR" altLang="en-US" sz="1600" dirty="0"/>
              <a:t>억 </a:t>
            </a:r>
            <a:r>
              <a:rPr lang="ko-KR" altLang="en-US" sz="1600" dirty="0" err="1"/>
              <a:t>입방미터를</a:t>
            </a:r>
            <a:r>
              <a:rPr lang="ko-KR" altLang="en-US" sz="1600" dirty="0"/>
              <a:t> 상회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오른쪽 그래프는 노르웨이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캐나다 등 주요 </a:t>
            </a:r>
            <a:r>
              <a:rPr lang="en-US" altLang="ko-KR" sz="1600" dirty="0"/>
              <a:t>PNG </a:t>
            </a:r>
            <a:r>
              <a:rPr lang="ko-KR" altLang="en-US" sz="1600" dirty="0"/>
              <a:t>수출국들의 수출 물량을 보여주고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6265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1783-7ADB-202A-A1DE-5858CEE2B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18ABB1-6004-A749-D067-9808900FD0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7217D-31EA-D0A1-C3C0-06E55D0B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03242AE-927A-B016-61A1-339C5284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천연가스 시장구조와 시장지배력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35665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D9A9-B774-6E31-A7F5-7BE27716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676F2-D913-3980-110A-8578C1A9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시장의 구조와 시장지배력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4B0FA-914F-FD78-4B35-089587F5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CE876-7D67-8FFB-F0B2-AE3F152F1118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시장은 본질적으로 탐사</a:t>
            </a:r>
            <a:r>
              <a:rPr lang="en-US" altLang="ko-KR" sz="1600" dirty="0"/>
              <a:t>, </a:t>
            </a:r>
            <a:r>
              <a:rPr lang="ko-KR" altLang="en-US" sz="1600" dirty="0"/>
              <a:t>생산</a:t>
            </a:r>
            <a:r>
              <a:rPr lang="en-US" altLang="ko-KR" sz="1600" dirty="0"/>
              <a:t>, </a:t>
            </a:r>
            <a:r>
              <a:rPr lang="ko-KR" altLang="en-US" sz="1600" dirty="0"/>
              <a:t>수송</a:t>
            </a:r>
            <a:r>
              <a:rPr lang="en-US" altLang="ko-KR" sz="1600" dirty="0"/>
              <a:t>, </a:t>
            </a:r>
            <a:r>
              <a:rPr lang="ko-KR" altLang="en-US" sz="1600" dirty="0"/>
              <a:t>가공</a:t>
            </a:r>
            <a:r>
              <a:rPr lang="en-US" altLang="ko-KR" sz="1600" dirty="0"/>
              <a:t>, </a:t>
            </a:r>
            <a:r>
              <a:rPr lang="ko-KR" altLang="en-US" sz="1600" dirty="0"/>
              <a:t>분배 등 여러 단계에 걸쳐 높은 자본집약성과 자산특수성을 특징으로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각 단계별로 독점적 또는 과점적 시장구조가 형성되는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탐사와 생산 단계에서는 시장 집중도와 경쟁 수준이 상이하게 나타난다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다양한 사업자가 차명할 여지가 상대적으로 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수송 및 가공부문은 초기 투자비용이 막대하고 대체가 어려운 특성으로 인해 자연독점적 성격을 강화한다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시장 진입장벽을 높이고 경쟁을 제한하는 주요 요인이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최종 분배 단계에서도 국가별 정책과 규제환경에 따라 경쟁 구도가 달라지나</a:t>
            </a:r>
            <a:r>
              <a:rPr lang="en-US" altLang="ko-KR" sz="1600" dirty="0"/>
              <a:t>, </a:t>
            </a:r>
            <a:r>
              <a:rPr lang="ko-KR" altLang="en-US" sz="1600" dirty="0"/>
              <a:t>여전히 독과점 구조가 많다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구조적 특성은 천연가스 가격 형성과 공급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소비자 후생에 중대한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시장 집중도가 높은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주요 공급자는 가격을 인위적으로 조정하거나 공급량을 통제함으로써 소비자에게 과도한 비용을 전가할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이는 시장의 불확실성을 </a:t>
            </a:r>
            <a:r>
              <a:rPr lang="ko-KR" altLang="en-US" sz="1600" dirty="0" err="1"/>
              <a:t>증대시키고</a:t>
            </a:r>
            <a:r>
              <a:rPr lang="ko-KR" altLang="en-US" sz="1600" dirty="0"/>
              <a:t> 장기적으로 경쟁을 저해하여 혁신 유인을 약화할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 산업에서는 경쟁 촉진과 시장 감시를 통한 규제의 중요성이 지속적으로 강조되고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6106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D53D8-FB0B-9931-AE62-3D0C5EC1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1B40A-9936-B98C-28F9-A571B515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시장의 구조와 시장지배력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050EAC-7A20-E20E-9CE0-F7FB2F69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9D27A-E156-4E05-E2D6-CECB223381E7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주요 생산국인 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카타르는 각국의 에너지 정책과 공급망 전략을 통해 글로벌 시장에 큰 영향을 미치고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러시아 국영기업인 </a:t>
            </a:r>
            <a:r>
              <a:rPr lang="ko-KR" altLang="en-US" sz="1600" dirty="0" err="1"/>
              <a:t>가즈프롬은</a:t>
            </a:r>
            <a:r>
              <a:rPr lang="ko-KR" altLang="en-US" sz="1600" dirty="0"/>
              <a:t> 천연가스 생산과 수출을 독점하고</a:t>
            </a:r>
            <a:r>
              <a:rPr lang="en-US" altLang="ko-KR" sz="1600" dirty="0"/>
              <a:t>, </a:t>
            </a:r>
            <a:r>
              <a:rPr lang="ko-KR" altLang="en-US" sz="1600" dirty="0"/>
              <a:t>파이프라인 네트워크를 통한 유럽 시장 지배력을 바탕으로 강한 시장지배력을 행사하고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전략적 행위는 특정 지역의 에너지 안보를 위협하고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시장의 국제정치적 긴장을 </a:t>
            </a:r>
            <a:r>
              <a:rPr lang="ko-KR" altLang="en-US" sz="1600" dirty="0" err="1"/>
              <a:t>심화시킨다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수송 및 가공 단계에서는 파이프라인 인프라가 매우 </a:t>
            </a:r>
            <a:r>
              <a:rPr lang="ko-KR" altLang="en-US" sz="1600" dirty="0" err="1"/>
              <a:t>자본집약적이기</a:t>
            </a:r>
            <a:r>
              <a:rPr lang="ko-KR" altLang="en-US" sz="1600" dirty="0"/>
              <a:t>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신규 공급자의 진입이 어려워</a:t>
            </a:r>
            <a:r>
              <a:rPr lang="en-US" altLang="ko-KR" sz="1600" dirty="0"/>
              <a:t>, </a:t>
            </a:r>
            <a:r>
              <a:rPr lang="ko-KR" altLang="en-US" sz="1600" dirty="0"/>
              <a:t>자연스럽게 독점 구조가 형성될 가능성이 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파이프라인은 건설 이후에는 한계비용이 낮지만 초기 고정투자비용이 매우 높아 진입장벽이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운송 인프라를 통제하는 기업들은 파이프라인 접근을 제한하거나 운송비용을 높여 시장지배력을 행사한다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 가공 과정에서도 대규모 처리시설을 보유한 기업들은 비용구조를 통제함으로써 경쟁을 제한하고 높은 처리비용을 강제할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454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BD2D-4467-798D-9C2B-B712DBD72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3AD43-BB3A-A89C-FB00-7E6A8F5A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시장의 구조와 시장지배력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85B48-F90E-6C16-998B-06FB267D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3AE8E-A54C-CE9E-7364-2C257F4DF70E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최종분배단계에서는 지역 유틸리티 회사들이 특정 지역에서 가스를 독점적으로 공급하는 경우가 흔하며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가격 결정에 공급자의 영향력을 강화하고 시장 경쟁을 저해하는 요인이 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 천연가스 공급자들은 생산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가공</a:t>
            </a:r>
            <a:r>
              <a:rPr lang="en-US" altLang="ko-KR" sz="1600" dirty="0"/>
              <a:t>, </a:t>
            </a:r>
            <a:r>
              <a:rPr lang="ko-KR" altLang="en-US" sz="1600" dirty="0"/>
              <a:t>유통 과정을 수직적으로 통합하여 시장지배력을 강화하기도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수직적 통합은 필수 설비에 대한 접근을 제한하거나 과도한 비용을 부과하는 방식으로 경쟁자들을 배제하고 시장 가격을 상승시킬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대표적으로 </a:t>
            </a:r>
            <a:r>
              <a:rPr lang="ko-KR" altLang="en-US" sz="1600" dirty="0" err="1"/>
              <a:t>가즈프롬은</a:t>
            </a:r>
            <a:r>
              <a:rPr lang="ko-KR" altLang="en-US" sz="1600" dirty="0"/>
              <a:t> 탐사</a:t>
            </a:r>
            <a:r>
              <a:rPr lang="en-US" altLang="ko-KR" sz="1600" dirty="0"/>
              <a:t>, </a:t>
            </a:r>
            <a:r>
              <a:rPr lang="ko-KR" altLang="en-US" sz="1600" dirty="0"/>
              <a:t>생산</a:t>
            </a:r>
            <a:r>
              <a:rPr lang="en-US" altLang="ko-KR" sz="1600" dirty="0"/>
              <a:t>, </a:t>
            </a:r>
            <a:r>
              <a:rPr lang="ko-KR" altLang="en-US" sz="1600" dirty="0"/>
              <a:t>수송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유럽시장 진출까지 일관되게 관리하여 공급망 전반에 걸쳐 지배력을 유지하고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공급과정에서의 시장지배력 행사를 완화하기 위해 정부와 규제기관은 파이프라인에 대한 제</a:t>
            </a:r>
            <a:r>
              <a:rPr lang="en-US" altLang="ko-KR" sz="1600" dirty="0"/>
              <a:t>3</a:t>
            </a:r>
            <a:r>
              <a:rPr lang="ko-KR" altLang="en-US" sz="1600" dirty="0"/>
              <a:t>자 접근 보장</a:t>
            </a:r>
            <a:r>
              <a:rPr lang="en-US" altLang="ko-KR" sz="1600" dirty="0"/>
              <a:t>, </a:t>
            </a:r>
            <a:r>
              <a:rPr lang="ko-KR" altLang="en-US" sz="1600" dirty="0"/>
              <a:t>가격 규제</a:t>
            </a:r>
            <a:r>
              <a:rPr lang="en-US" altLang="ko-KR" sz="1600" dirty="0"/>
              <a:t>, </a:t>
            </a:r>
            <a:r>
              <a:rPr lang="ko-KR" altLang="en-US" sz="1600" dirty="0"/>
              <a:t>경쟁 촉진 등을 도입하고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시장에서는 장기계약이 공급자들의 시장지배력 행사에 중요한 수단으로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장기계약은 공급자와 수요자 간 안정성을 제공하지만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구매자의 에너지 전환 가능성을 제약하여 </a:t>
            </a:r>
            <a:r>
              <a:rPr lang="ko-KR" altLang="en-US" sz="1600" dirty="0" err="1"/>
              <a:t>에너지원간의</a:t>
            </a:r>
            <a:r>
              <a:rPr lang="ko-KR" altLang="en-US" sz="1600" dirty="0"/>
              <a:t> 경쟁이 제한될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장기계약 비중이 높으면 신규 공급자 진입이 어렵고</a:t>
            </a:r>
            <a:r>
              <a:rPr lang="en-US" altLang="ko-KR" sz="1600" dirty="0"/>
              <a:t>, </a:t>
            </a:r>
            <a:r>
              <a:rPr lang="ko-KR" altLang="en-US" sz="1600" dirty="0"/>
              <a:t>가격 경쟁이 감소하여 소비자 가격이 상승할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88143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4EE6-7E91-48AF-7C58-6944D117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4FA3E8-3B2E-5DD1-14B7-BC328A0EB4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7E8049-A358-3CF2-F13F-C40AE21B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F97B70B-EABF-EACD-2EA9-BB8AB3F7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03" y="2221948"/>
            <a:ext cx="11302723" cy="2768198"/>
          </a:xfrm>
          <a:effectLst>
            <a:reflection blurRad="50800" stA="45000" endPos="44000" dir="5400000" sy="-100000" algn="bl" rotWithShape="0"/>
          </a:effectLst>
        </p:spPr>
        <p:txBody>
          <a:bodyPr anchor="ctr" anchorCtr="0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천연가스 시장의 탈규제와 구조개편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20464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91A43-D562-52E1-09A5-D7835E9E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6EBC1-7B5E-36B1-D308-490A02A1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시장의 탈규제와 구조개편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0A3F7-57BC-23EA-D8B2-0F778FD5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E5746-4F67-FD51-6610-89E7EE47264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천연가스 시장에서의 탈규제와 구조개편은 기존의 국가 독점 또는 규제된 통합 구조를 경쟁 중심의 시장 지향 구조로 전환하기 위한 정책적 변화들을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변화는 </a:t>
            </a:r>
            <a:r>
              <a:rPr lang="en-US" altLang="ko-KR" sz="1600" dirty="0"/>
              <a:t>1980</a:t>
            </a:r>
            <a:r>
              <a:rPr lang="ko-KR" altLang="en-US" sz="1600" dirty="0"/>
              <a:t>년대 미국과 영국을 중심으로 본격화되었고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천연가스의 가격 결정 방식</a:t>
            </a:r>
            <a:r>
              <a:rPr lang="en-US" altLang="ko-KR" sz="1600" dirty="0"/>
              <a:t>, </a:t>
            </a:r>
            <a:r>
              <a:rPr lang="ko-KR" altLang="en-US" sz="1600" dirty="0"/>
              <a:t>투자 유인</a:t>
            </a:r>
            <a:r>
              <a:rPr lang="en-US" altLang="ko-KR" sz="1600" dirty="0"/>
              <a:t>, </a:t>
            </a:r>
            <a:r>
              <a:rPr lang="ko-KR" altLang="en-US" sz="1600" dirty="0"/>
              <a:t>인프라 운영</a:t>
            </a:r>
            <a:r>
              <a:rPr lang="en-US" altLang="ko-KR" sz="1600" dirty="0"/>
              <a:t>, </a:t>
            </a:r>
            <a:r>
              <a:rPr lang="ko-KR" altLang="en-US" sz="1600" dirty="0"/>
              <a:t>국제 무역 등에 큰 영향을 미쳐왔다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기업이 천연가스의 공급사슬을 수직 통합하고</a:t>
            </a:r>
            <a:r>
              <a:rPr lang="en-US" altLang="ko-KR" sz="1600" dirty="0"/>
              <a:t>, </a:t>
            </a:r>
            <a:r>
              <a:rPr lang="ko-KR" altLang="en-US" sz="1600" dirty="0"/>
              <a:t>가격은 정부 혹은 규제기관이 결정하였지만</a:t>
            </a:r>
            <a:r>
              <a:rPr lang="en-US" altLang="ko-KR" sz="1600" dirty="0"/>
              <a:t>, </a:t>
            </a:r>
            <a:r>
              <a:rPr lang="ko-KR" altLang="en-US" sz="1600" dirty="0"/>
              <a:t>시간이 지나면서 이러한 구조가 비효율적이고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 변화에 유연하게 대응하기 어렵다는 비판이 잇따르면서</a:t>
            </a:r>
            <a:r>
              <a:rPr lang="en-US" altLang="ko-KR" sz="1600" dirty="0"/>
              <a:t>, </a:t>
            </a:r>
            <a:r>
              <a:rPr lang="ko-KR" altLang="en-US" sz="1600" dirty="0"/>
              <a:t>각 국가들은 탈규제와 구조개편을 추진하게 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탈규제는 가격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진입</a:t>
            </a:r>
            <a:r>
              <a:rPr lang="en-US" altLang="ko-KR" sz="1600" dirty="0"/>
              <a:t>, </a:t>
            </a:r>
            <a:r>
              <a:rPr lang="ko-KR" altLang="en-US" sz="1600" dirty="0"/>
              <a:t>운영과 같은 부문에서 정부의 직접적인 통제를 완화하거나</a:t>
            </a:r>
            <a:r>
              <a:rPr lang="en-US" altLang="ko-KR" sz="1600" dirty="0"/>
              <a:t> </a:t>
            </a:r>
            <a:r>
              <a:rPr lang="ko-KR" altLang="en-US" sz="1600" dirty="0"/>
              <a:t>제거하는 것을 의미한다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구조개편은 기존의 수직적으로 통합된 기업을 기능별로 분리하여</a:t>
            </a:r>
            <a:r>
              <a:rPr lang="en-US" altLang="ko-KR" sz="1600" dirty="0"/>
              <a:t>, </a:t>
            </a:r>
            <a:r>
              <a:rPr lang="ko-KR" altLang="en-US" sz="1600" dirty="0"/>
              <a:t>경쟁이 가능한 부문과 자연독점적 성격을 가진 부문을 구분하는 과정을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예를 들면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산업에서는 생산과 판매 부문에 경쟁을 도입하고</a:t>
            </a:r>
            <a:r>
              <a:rPr lang="en-US" altLang="ko-KR" sz="1600" dirty="0"/>
              <a:t>, </a:t>
            </a:r>
            <a:r>
              <a:rPr lang="ko-KR" altLang="en-US" sz="1600" dirty="0"/>
              <a:t>송전이나 파이프라인 수송 부문은 공공적 규제를 유지하는 방식이 대표적이다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798013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785B-1A00-44E1-50DF-8F556CC9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FCC4B-DFD6-A58C-8878-00718F20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시장의 탈규제와 구조개편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324C00-6E67-3743-58A4-398D6E1C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446E4-74EA-3A2E-F737-B06AC71F710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영국은 가장 먼저 천연가스 시장 자유화를 도입한 국가로</a:t>
            </a:r>
            <a:r>
              <a:rPr lang="en-US" altLang="ko-KR" sz="1600" dirty="0"/>
              <a:t>, 1980</a:t>
            </a:r>
            <a:r>
              <a:rPr lang="ko-KR" altLang="en-US" sz="1600" dirty="0"/>
              <a:t>년대 민영화를 시작으로 </a:t>
            </a:r>
            <a:r>
              <a:rPr lang="en-US" altLang="ko-KR" sz="1600" dirty="0"/>
              <a:t>1998</a:t>
            </a:r>
            <a:r>
              <a:rPr lang="ko-KR" altLang="en-US" sz="1600" dirty="0"/>
              <a:t>년에는 완전한 소매 경쟁 시장을 구축하였다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 과정에서 제</a:t>
            </a:r>
            <a:r>
              <a:rPr lang="en-US" altLang="ko-KR" sz="1600" dirty="0"/>
              <a:t>3</a:t>
            </a:r>
            <a:r>
              <a:rPr lang="ko-KR" altLang="en-US" sz="1600" dirty="0"/>
              <a:t>자 파이프라인 접근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기반 가격 체계</a:t>
            </a:r>
            <a:r>
              <a:rPr lang="en-US" altLang="ko-KR" sz="1600" dirty="0"/>
              <a:t>, </a:t>
            </a:r>
            <a:r>
              <a:rPr lang="ko-KR" altLang="en-US" sz="1600" dirty="0"/>
              <a:t>자연독점 부문의 규제기관 감독 등의 제도들이 단계적으로 도입되었다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유럽연합</a:t>
            </a:r>
            <a:r>
              <a:rPr lang="en-US" altLang="ko-KR" sz="1600" dirty="0"/>
              <a:t>(EU)</a:t>
            </a:r>
            <a:r>
              <a:rPr lang="ko-KR" altLang="en-US" sz="1600" dirty="0"/>
              <a:t>도 </a:t>
            </a:r>
            <a:r>
              <a:rPr lang="en-US" altLang="ko-KR" sz="1600" dirty="0"/>
              <a:t>1990</a:t>
            </a:r>
            <a:r>
              <a:rPr lang="ko-KR" altLang="en-US" sz="1600" dirty="0"/>
              <a:t>년대 말부터 </a:t>
            </a:r>
            <a:r>
              <a:rPr lang="en-US" altLang="ko-KR" sz="1600" dirty="0"/>
              <a:t>‘</a:t>
            </a:r>
            <a:r>
              <a:rPr lang="ko-KR" altLang="en-US" sz="1600" dirty="0"/>
              <a:t>가스 지침</a:t>
            </a:r>
            <a:r>
              <a:rPr lang="en-US" altLang="ko-KR" sz="1600" dirty="0"/>
              <a:t>‘</a:t>
            </a:r>
            <a:r>
              <a:rPr lang="ko-KR" altLang="en-US" sz="1600" dirty="0"/>
              <a:t>을 통해 회원국들의 시장 개방을 유도하였다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1998</a:t>
            </a:r>
            <a:r>
              <a:rPr lang="ko-KR" altLang="en-US" sz="1600" dirty="0"/>
              <a:t>년</a:t>
            </a:r>
            <a:r>
              <a:rPr lang="en-US" altLang="ko-KR" sz="1600" dirty="0"/>
              <a:t>, 2003</a:t>
            </a:r>
            <a:r>
              <a:rPr lang="ko-KR" altLang="en-US" sz="1600" dirty="0"/>
              <a:t>년</a:t>
            </a:r>
            <a:r>
              <a:rPr lang="en-US" altLang="ko-KR" sz="1600" dirty="0"/>
              <a:t>, 2009</a:t>
            </a:r>
            <a:r>
              <a:rPr lang="ko-KR" altLang="en-US" sz="1600" dirty="0"/>
              <a:t>년의 세 차례 지침은 제</a:t>
            </a:r>
            <a:r>
              <a:rPr lang="en-US" altLang="ko-KR" sz="1600" dirty="0"/>
              <a:t>3</a:t>
            </a:r>
            <a:r>
              <a:rPr lang="ko-KR" altLang="en-US" sz="1600" dirty="0"/>
              <a:t>자 접근 보장</a:t>
            </a:r>
            <a:r>
              <a:rPr lang="en-US" altLang="ko-KR" sz="1600" dirty="0"/>
              <a:t>, </a:t>
            </a:r>
            <a:r>
              <a:rPr lang="ko-KR" altLang="en-US" sz="1600" dirty="0"/>
              <a:t>송</a:t>
            </a:r>
            <a:r>
              <a:rPr lang="en-US" altLang="ko-KR" sz="1600" dirty="0"/>
              <a:t>·</a:t>
            </a:r>
            <a:r>
              <a:rPr lang="ko-KR" altLang="en-US" sz="1600" dirty="0"/>
              <a:t>배전과 판매 기능의 법적 분리</a:t>
            </a:r>
            <a:r>
              <a:rPr lang="en-US" altLang="ko-KR" sz="1600" dirty="0"/>
              <a:t>, </a:t>
            </a:r>
            <a:r>
              <a:rPr lang="ko-KR" altLang="en-US" sz="1600" dirty="0"/>
              <a:t>독립 규제기관 설치 등을 요구하였고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국가가 </a:t>
            </a:r>
            <a:r>
              <a:rPr lang="en-US" altLang="ko-KR" sz="1600" dirty="0"/>
              <a:t>2004</a:t>
            </a:r>
            <a:r>
              <a:rPr lang="ko-KR" altLang="en-US" sz="1600" dirty="0"/>
              <a:t>년까지 전면 시장 개방을 완료하였다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각국의 제도 도입과 실행 수준은 여전히 상이하며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구조적 통합성이 강하다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미국은 연방 에너지 규제위원회</a:t>
            </a:r>
            <a:r>
              <a:rPr lang="en-US" altLang="ko-KR" sz="1600" dirty="0"/>
              <a:t>(FERC, Federal Energy Regulatory </a:t>
            </a:r>
            <a:r>
              <a:rPr lang="en-US" altLang="ko-KR" sz="1600" dirty="0" err="1"/>
              <a:t>Commision</a:t>
            </a:r>
            <a:r>
              <a:rPr lang="en-US" altLang="ko-KR" sz="1600" dirty="0"/>
              <a:t>)</a:t>
            </a:r>
            <a:r>
              <a:rPr lang="ko-KR" altLang="en-US" sz="1600" dirty="0"/>
              <a:t>가 </a:t>
            </a:r>
            <a:r>
              <a:rPr lang="en-US" altLang="ko-KR" sz="1600" dirty="0"/>
              <a:t>1980</a:t>
            </a:r>
            <a:r>
              <a:rPr lang="ko-KR" altLang="en-US" sz="1600" dirty="0"/>
              <a:t>년대부터 탈규제를 본격 추진하였으며</a:t>
            </a:r>
            <a:r>
              <a:rPr lang="en-US" altLang="ko-KR" sz="1600" dirty="0"/>
              <a:t>, </a:t>
            </a:r>
            <a:r>
              <a:rPr lang="ko-KR" altLang="en-US" sz="1600" dirty="0"/>
              <a:t>파이프라인 사업자에게 제</a:t>
            </a:r>
            <a:r>
              <a:rPr lang="en-US" altLang="ko-KR" sz="1600" dirty="0"/>
              <a:t>3</a:t>
            </a:r>
            <a:r>
              <a:rPr lang="ko-KR" altLang="en-US" sz="1600" dirty="0"/>
              <a:t>자 접근을 의무화하고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소비자와 생산자가 직접 계약을 체결할 수 있게 하여</a:t>
            </a:r>
            <a:r>
              <a:rPr lang="en-US" altLang="ko-KR" sz="1600" dirty="0"/>
              <a:t>, </a:t>
            </a:r>
            <a:r>
              <a:rPr lang="ko-KR" altLang="en-US" sz="1600" dirty="0"/>
              <a:t>경쟁적 도매시장을 형성하였다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 결과 미국은 현물 및 선물 시장이 활성화된 </a:t>
            </a:r>
            <a:r>
              <a:rPr lang="ko-KR" altLang="en-US" sz="1600" dirty="0" err="1"/>
              <a:t>고유동성</a:t>
            </a:r>
            <a:r>
              <a:rPr lang="ko-KR" altLang="en-US" sz="1600" dirty="0"/>
              <a:t> 시장을 구축하고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헨리허브를</a:t>
            </a:r>
            <a:r>
              <a:rPr lang="ko-KR" altLang="en-US" sz="1600" dirty="0"/>
              <a:t> 중심으로 글로벌 가격 신호 전파 기능을 수행하고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6954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0EA88-CBA8-F540-EF1B-7AF0DE64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8B0A8-FF2A-022E-1EDF-831FC4FE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시장의 탈규제와 구조개편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CC4B4-40AF-1E15-9A36-E112FA61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4B649-30ED-D344-711A-3CD4C71BF6A1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일본은 </a:t>
            </a:r>
            <a:r>
              <a:rPr lang="en-US" altLang="ko-KR" sz="1600" dirty="0"/>
              <a:t>1990</a:t>
            </a:r>
            <a:r>
              <a:rPr lang="ko-KR" altLang="en-US" sz="1600" dirty="0"/>
              <a:t>년대 후반부터 점진적인 천연가스 시장 자유화를 추진해왔고</a:t>
            </a:r>
            <a:r>
              <a:rPr lang="en-US" altLang="ko-KR" sz="1600" dirty="0"/>
              <a:t>, 2020</a:t>
            </a:r>
            <a:r>
              <a:rPr lang="ko-KR" altLang="en-US" sz="1600" dirty="0"/>
              <a:t>년에는 소매부문까지 완전 자유화를 달성하였다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도쿄가스</a:t>
            </a:r>
            <a:r>
              <a:rPr lang="en-US" altLang="ko-KR" sz="1600" dirty="0"/>
              <a:t>, </a:t>
            </a:r>
            <a:r>
              <a:rPr lang="ko-KR" altLang="en-US" sz="1600" dirty="0"/>
              <a:t>오사카가스 등 대형 지역가스회사가 여전히 시장을 주도하고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실질적인 경쟁은 제한적이라는 평가도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한국은 중국보다 점진적 접근을 취하고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한국은 한국가스공사</a:t>
            </a:r>
            <a:r>
              <a:rPr lang="en-US" altLang="ko-KR" sz="1600" dirty="0"/>
              <a:t>(KOGAS)</a:t>
            </a:r>
            <a:r>
              <a:rPr lang="ko-KR" altLang="en-US" sz="1600" dirty="0"/>
              <a:t>를 중심으로</a:t>
            </a:r>
            <a:r>
              <a:rPr lang="en-US" altLang="ko-KR" sz="1600" dirty="0"/>
              <a:t>, </a:t>
            </a:r>
            <a:r>
              <a:rPr lang="ko-KR" altLang="en-US" sz="1600" dirty="0"/>
              <a:t>수입</a:t>
            </a:r>
            <a:r>
              <a:rPr lang="en-US" altLang="ko-KR" sz="1600" dirty="0"/>
              <a:t>, </a:t>
            </a:r>
            <a:r>
              <a:rPr lang="ko-KR" altLang="en-US" sz="1600" dirty="0"/>
              <a:t>도매</a:t>
            </a:r>
            <a:r>
              <a:rPr lang="en-US" altLang="ko-KR" sz="1600" dirty="0"/>
              <a:t>, </a:t>
            </a:r>
            <a:r>
              <a:rPr lang="ko-KR" altLang="en-US" sz="1600" dirty="0"/>
              <a:t>인프라 운영이 통합된 규제된 구조를 유지하고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일부 발전용 및 산업용에 한해 시장화를 시도하고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중국은 </a:t>
            </a:r>
            <a:r>
              <a:rPr lang="en-US" altLang="ko-KR" sz="1600" dirty="0"/>
              <a:t>2020</a:t>
            </a:r>
            <a:r>
              <a:rPr lang="ko-KR" altLang="en-US" sz="1600" dirty="0"/>
              <a:t>년 국가 파이프라인공사를 설립하여 송</a:t>
            </a:r>
            <a:r>
              <a:rPr lang="en-US" altLang="ko-KR" sz="1600" dirty="0"/>
              <a:t>·</a:t>
            </a:r>
            <a:r>
              <a:rPr lang="ko-KR" altLang="en-US" sz="1600" dirty="0"/>
              <a:t>배전 인프라를 생산</a:t>
            </a:r>
            <a:r>
              <a:rPr lang="en-US" altLang="ko-KR" sz="1600" dirty="0"/>
              <a:t>·</a:t>
            </a:r>
            <a:r>
              <a:rPr lang="ko-KR" altLang="en-US" sz="1600" dirty="0"/>
              <a:t>판매 부문과 분리하는 구조조정을 착수하여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산업의 효율성과 민간투자 유인을 강화하려는 시도를 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46458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D844-EA08-9C45-A45A-734D2822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25C14-AD44-C38D-0CF9-CB3AF88F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시장의 탈규제와 구조개편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BFCE9-45FB-C5C2-ECB0-21FFF39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8B8DB-47DF-4212-F5CC-BF78C0F4AA40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탈규제와 구조개편의 주요 목적은 시장 효율성 제고</a:t>
            </a:r>
            <a:r>
              <a:rPr lang="en-US" altLang="ko-KR" sz="1600" dirty="0"/>
              <a:t>, </a:t>
            </a:r>
            <a:r>
              <a:rPr lang="ko-KR" altLang="en-US" sz="1600" dirty="0"/>
              <a:t>민간투자 촉진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수입처</a:t>
            </a:r>
            <a:r>
              <a:rPr lang="ko-KR" altLang="en-US" sz="1600" dirty="0"/>
              <a:t> 다변화</a:t>
            </a:r>
            <a:r>
              <a:rPr lang="en-US" altLang="ko-KR" sz="1600" dirty="0"/>
              <a:t>, </a:t>
            </a:r>
            <a:r>
              <a:rPr lang="ko-KR" altLang="en-US" sz="1600" dirty="0"/>
              <a:t>가격 신호의 투명성 확보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제고 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 </a:t>
            </a:r>
            <a:r>
              <a:rPr lang="en-US" altLang="ko-KR" sz="1600" dirty="0"/>
              <a:t>LNG</a:t>
            </a:r>
            <a:r>
              <a:rPr lang="ko-KR" altLang="en-US" sz="1600" dirty="0"/>
              <a:t> 시장에서 장기 고정가격 계약이 허브 기반의 현물가격 계약으로 전환되는 추세도 이러한 시장 유연화와 규제 완화의 일환으로 해석할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한국은 여전히 공공 중심의 안정성 지향 구조를 유지하고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유연성 확보</a:t>
            </a:r>
            <a:r>
              <a:rPr lang="en-US" altLang="ko-KR" sz="1600" dirty="0"/>
              <a:t>, </a:t>
            </a:r>
            <a:r>
              <a:rPr lang="ko-KR" altLang="en-US" sz="1600" dirty="0"/>
              <a:t>가격 경쟁력 강화</a:t>
            </a:r>
            <a:r>
              <a:rPr lang="en-US" altLang="ko-KR" sz="1600" dirty="0"/>
              <a:t>, </a:t>
            </a:r>
            <a:r>
              <a:rPr lang="ko-KR" altLang="en-US" sz="1600" dirty="0"/>
              <a:t>공급선 다변화 측면에서 점진적인 제도 개편의 필요성이 커지고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미국과 유럽의 자유화 경험은 한국이 이러한 제도 개혁을 추진할 때</a:t>
            </a:r>
            <a:r>
              <a:rPr lang="en-US" altLang="ko-KR" sz="1600" dirty="0"/>
              <a:t>, </a:t>
            </a:r>
            <a:r>
              <a:rPr lang="ko-KR" altLang="en-US" sz="1600" dirty="0"/>
              <a:t>유용한 벤치마크를 제공하고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전환기와 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시장 재편기에 대응하는 정책 설계에 있어 중요한 시사점을 제공한다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1420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BEA8-9CC1-DD1F-975D-DDA9762D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D2871E-2F83-AA46-877B-BD918D41BE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534A9-8A45-3E1D-2AE3-E5A67471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4CEE3B9-85C8-1362-0416-5231A98C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천연가스 시장의 가격 결정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093543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1D4D-B178-469A-AF44-600873A4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7A15B-FECB-67B0-BB4B-6EBAACEA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가격의 결정 요인들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51A4-718D-B2D3-92D3-38917B19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83D07-50A8-23C4-595D-C8B3CC909C68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가격은 다양한 시장 요인들에 의하여 결정되며 전 세계적으로 균일한 가격이 형성되는 원유가격과 달리 천연가스는 지역의 수요와 공급</a:t>
            </a:r>
            <a:r>
              <a:rPr lang="en-US" altLang="ko-KR" sz="1600" dirty="0"/>
              <a:t>, </a:t>
            </a:r>
            <a:r>
              <a:rPr lang="ko-KR" altLang="en-US" sz="1600" dirty="0"/>
              <a:t>수송비용과 시장구조에 영향을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가장 근원적인 가격 결정요인은 수요와 공급이다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탐사</a:t>
            </a:r>
            <a:r>
              <a:rPr lang="en-US" altLang="ko-KR" sz="1600" dirty="0"/>
              <a:t>, </a:t>
            </a:r>
            <a:r>
              <a:rPr lang="ko-KR" altLang="en-US" sz="1600" dirty="0"/>
              <a:t>시추</a:t>
            </a:r>
            <a:r>
              <a:rPr lang="en-US" altLang="ko-KR" sz="1600" dirty="0"/>
              <a:t>, </a:t>
            </a:r>
            <a:r>
              <a:rPr lang="ko-KR" altLang="en-US" sz="1600" dirty="0"/>
              <a:t>채굴 비용 등의 생산비용 또한 시장가격에 중요한 역할을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심해시추기술이나 </a:t>
            </a:r>
            <a:r>
              <a:rPr lang="ko-KR" altLang="en-US" sz="1600" dirty="0" err="1"/>
              <a:t>수압파쇄</a:t>
            </a:r>
            <a:r>
              <a:rPr lang="ko-KR" altLang="en-US" sz="1600" dirty="0"/>
              <a:t> 기법 등 고비용의 생산 방식을 사용하는 경우 다른 지역에 비해 시장가격이 높게 분포한다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운송비용 또한 최종 시장가격에 영향을 미치는데</a:t>
            </a:r>
            <a:r>
              <a:rPr lang="en-US" altLang="ko-KR" sz="1600" dirty="0"/>
              <a:t>, LNG</a:t>
            </a:r>
            <a:r>
              <a:rPr lang="ko-KR" altLang="en-US" sz="1600" dirty="0"/>
              <a:t>의 경우 장거리 운송은 액화</a:t>
            </a:r>
            <a:r>
              <a:rPr lang="en-US" altLang="ko-KR" sz="1600" dirty="0"/>
              <a:t>, </a:t>
            </a:r>
            <a:r>
              <a:rPr lang="ko-KR" altLang="en-US" sz="1600" dirty="0"/>
              <a:t>선적</a:t>
            </a:r>
            <a:r>
              <a:rPr lang="en-US" altLang="ko-KR" sz="1600" dirty="0"/>
              <a:t> </a:t>
            </a:r>
            <a:r>
              <a:rPr lang="ko-KR" altLang="en-US" sz="1600" dirty="0"/>
              <a:t>및 재기화 비용으로 인해 비용상승의 요인으로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 가스의 가격 결정은 지역별 시장 구조</a:t>
            </a:r>
            <a:r>
              <a:rPr lang="en-US" altLang="ko-KR" sz="1600" dirty="0"/>
              <a:t>, </a:t>
            </a:r>
            <a:r>
              <a:rPr lang="ko-KR" altLang="en-US" sz="1600" dirty="0"/>
              <a:t>대체 연료의 존재 여부</a:t>
            </a:r>
            <a:r>
              <a:rPr lang="en-US" altLang="ko-KR" sz="1600" dirty="0"/>
              <a:t>, </a:t>
            </a:r>
            <a:r>
              <a:rPr lang="ko-KR" altLang="en-US" sz="1600" dirty="0"/>
              <a:t>계약 형태에 따라 다양한 방식을 따른다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전통적으로 유럽과 아시아 시장에서는 석유 연동가격제</a:t>
            </a:r>
            <a:r>
              <a:rPr lang="en-US" altLang="ko-KR" sz="1600" dirty="0"/>
              <a:t>, </a:t>
            </a:r>
            <a:r>
              <a:rPr lang="ko-KR" altLang="en-US" sz="1600" dirty="0"/>
              <a:t>즉 가격연동제가 주요한 가격 결정 메커니즘이었다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방식에서 천연가스 가격은 중유</a:t>
            </a:r>
            <a:r>
              <a:rPr lang="en-US" altLang="ko-KR" sz="1600" dirty="0"/>
              <a:t>, </a:t>
            </a:r>
            <a:r>
              <a:rPr lang="ko-KR" altLang="en-US" sz="1600" dirty="0"/>
              <a:t>경유</a:t>
            </a:r>
            <a:r>
              <a:rPr lang="en-US" altLang="ko-KR" sz="1600" dirty="0"/>
              <a:t> </a:t>
            </a:r>
            <a:r>
              <a:rPr lang="ko-KR" altLang="en-US" sz="1600" dirty="0"/>
              <a:t>등 석유 제품의 가격과 일정한 비율로 연동되며</a:t>
            </a:r>
            <a:r>
              <a:rPr lang="en-US" altLang="ko-KR" sz="1600" dirty="0"/>
              <a:t>, </a:t>
            </a:r>
            <a:r>
              <a:rPr lang="ko-KR" altLang="en-US" sz="1600" dirty="0"/>
              <a:t>주로 장기계약에서 활용되었다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040874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96AA-2B27-2285-8409-B263BC45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838EC-682B-8718-A9A5-2714A66D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가격의 결정 요인들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EA10A-FACE-339B-CFED-7EF0D7EA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C89ACE-4393-7D0A-2702-4B5526C02AF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118453" cy="26600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앞서 살펴본 가격연동을 수식으로 표현하면 다음과 같다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여기서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ko-KR" altLang="en-US" sz="1600" dirty="0"/>
                  <a:t>는 천연가스 가격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𝑜𝑖𝑙</m:t>
                        </m:r>
                      </m:sub>
                    </m:sSub>
                  </m:oMath>
                </a14:m>
                <a:r>
                  <a:rPr lang="ko-KR" altLang="en-US" sz="1600" dirty="0"/>
                  <a:t>은 기준 석유제품 가격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/>
                  <a:t>는 에너지 등가기준 계수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그리고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dirty="0"/>
                  <a:t>는 조정상수로서 운송비용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시장조정 요소를 반영한다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이러한 방식은 가격 변동성을 유가에 연동시켜 장기적인 안정성을 제공하지만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시장의 수급 상황이나 천연가스 고유의 수요</a:t>
                </a:r>
                <a:r>
                  <a:rPr lang="en-US" altLang="ko-KR" sz="1600" dirty="0"/>
                  <a:t>·</a:t>
                </a:r>
                <a:r>
                  <a:rPr lang="ko-KR" altLang="en-US" sz="1600" dirty="0"/>
                  <a:t>공급 특성을 반영하는 데 한계가 있다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C89ACE-4393-7D0A-2702-4B5526C02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118453" cy="2660024"/>
              </a:xfrm>
              <a:prstGeom prst="rect">
                <a:avLst/>
              </a:prstGeom>
              <a:blipFill>
                <a:blip r:embed="rId3"/>
                <a:stretch>
                  <a:fillRect b="-18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600957-BB1D-C6F8-9C67-DB4A45CB599B}"/>
                  </a:ext>
                </a:extLst>
              </p:cNvPr>
              <p:cNvSpPr txBox="1"/>
              <p:nvPr/>
            </p:nvSpPr>
            <p:spPr>
              <a:xfrm>
                <a:off x="775251" y="1531044"/>
                <a:ext cx="6135756" cy="407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𝑔𝑎𝑠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𝑜𝑖𝑙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600957-BB1D-C6F8-9C67-DB4A45CB5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1" y="1531044"/>
                <a:ext cx="6135756" cy="407484"/>
              </a:xfrm>
              <a:prstGeom prst="rect">
                <a:avLst/>
              </a:prstGeom>
              <a:blipFill>
                <a:blip r:embed="rId4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7634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697D-8458-B2E9-23BC-D564D2A4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117C1-2A48-3C31-A676-A07D645E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가격의 결정 요인들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B495F-2503-212C-39D9-6C6791D5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45030A-541F-E0F5-CBD7-51B0C24F1DE4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118453" cy="34283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한편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글로벌 </a:t>
                </a:r>
                <a:r>
                  <a:rPr lang="en-US" altLang="ko-KR" sz="1600" dirty="0"/>
                  <a:t>LNG </a:t>
                </a:r>
                <a:r>
                  <a:rPr lang="ko-KR" altLang="en-US" sz="1600" dirty="0"/>
                  <a:t>시장의 확대와 함께 점차 중요성이 증가하고 있는 방식은 순환수 가격방식 </a:t>
                </a:r>
                <a:r>
                  <a:rPr lang="en-US" altLang="ko-KR" sz="1600" dirty="0"/>
                  <a:t>(netback pricing)</a:t>
                </a:r>
                <a:r>
                  <a:rPr lang="ko-KR" altLang="en-US" sz="1600" dirty="0"/>
                  <a:t>으로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이는 수요지에서의 천연가스 판매 가격을 기준으로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생산지 가격을 역산하는 방식으로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다음과 같이 표현할 수 있다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𝑛𝑒𝑡𝑏𝑎𝑐𝑘</m:t>
                        </m:r>
                      </m:sub>
                    </m:sSub>
                  </m:oMath>
                </a14:m>
                <a:r>
                  <a:rPr lang="ko-KR" altLang="en-US" sz="1600" dirty="0"/>
                  <a:t>은 생산지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수출국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에서의 순환수 가격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𝑑𝑒𝑙𝑖𝑣𝑒𝑟𝑒𝑑</m:t>
                        </m:r>
                      </m:sub>
                    </m:sSub>
                  </m:oMath>
                </a14:m>
                <a:r>
                  <a:rPr lang="ko-KR" altLang="en-US" sz="1600" dirty="0"/>
                  <a:t>는 </a:t>
                </a:r>
                <a:r>
                  <a:rPr lang="ko-KR" altLang="en-US" sz="1600" dirty="0" err="1"/>
                  <a:t>수요지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수입국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에서의 도착가격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𝑙𝑖𝑞𝑢𝑒𝑓𝑎𝑐𝑡𝑖𝑜𝑛</m:t>
                        </m:r>
                      </m:sub>
                    </m:sSub>
                  </m:oMath>
                </a14:m>
                <a:r>
                  <a:rPr lang="ko-KR" altLang="en-US" sz="1600" dirty="0"/>
                  <a:t>은 액화비용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𝑡𝑟𝑎𝑛𝑠𝑝𝑜𝑟𝑡</m:t>
                        </m:r>
                      </m:sub>
                    </m:sSub>
                  </m:oMath>
                </a14:m>
                <a:r>
                  <a:rPr lang="ko-KR" altLang="en-US" sz="1600" dirty="0"/>
                  <a:t>는 운송비용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𝑟𝑒𝑔𝑎𝑠𝑖𝑓𝑖𝑐𝑎𝑡𝑖𝑜𝑛</m:t>
                        </m:r>
                      </m:sub>
                    </m:sSub>
                  </m:oMath>
                </a14:m>
                <a:r>
                  <a:rPr lang="ko-KR" altLang="en-US" sz="1600" dirty="0"/>
                  <a:t>은 재기화비용을 나타낸다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Netback </a:t>
                </a:r>
                <a:r>
                  <a:rPr lang="ko-KR" altLang="en-US" sz="1600" dirty="0"/>
                  <a:t>방식은 가격 결정이 수요지의 시장 가격에 따라 유연하게 조정되므로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 기반의 경쟁적 거래에 유리하다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방식은 특히 미국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호주 등 자유화된 가스 생산국에서 </a:t>
                </a:r>
                <a:r>
                  <a:rPr lang="en-US" altLang="ko-KR" sz="1600" dirty="0"/>
                  <a:t>LNG </a:t>
                </a:r>
                <a:r>
                  <a:rPr lang="ko-KR" altLang="en-US" sz="1600" dirty="0"/>
                  <a:t>수출 시 가격 책정의 핵심 도구로 활용되고 있다</a:t>
                </a:r>
                <a:r>
                  <a:rPr lang="en-US" altLang="ko-KR" sz="1600" dirty="0"/>
                  <a:t>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45030A-541F-E0F5-CBD7-51B0C24F1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118453" cy="3428311"/>
              </a:xfrm>
              <a:prstGeom prst="rect">
                <a:avLst/>
              </a:prstGeom>
              <a:blipFill>
                <a:blip r:embed="rId3"/>
                <a:stretch>
                  <a:fillRect r="-329" b="-12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36F128-5F12-5DF4-E134-0507E789787A}"/>
                  </a:ext>
                </a:extLst>
              </p:cNvPr>
              <p:cNvSpPr txBox="1"/>
              <p:nvPr/>
            </p:nvSpPr>
            <p:spPr>
              <a:xfrm>
                <a:off x="1037626" y="1893273"/>
                <a:ext cx="7679636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𝑛𝑒𝑡𝑏𝑎𝑐𝑘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𝑑𝑒𝑙𝑖𝑣𝑒𝑟𝑒𝑑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𝑙𝑖𝑞𝑢𝑒𝑓𝑎𝑐𝑡𝑖𝑜𝑛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𝑡𝑟𝑎𝑛𝑠𝑝𝑜𝑟𝑡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𝑟𝑒𝑔𝑎𝑠𝑖𝑓𝑖𝑐𝑎𝑡𝑖𝑜𝑛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36F128-5F12-5DF4-E134-0507E7897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26" y="1893273"/>
                <a:ext cx="7679636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260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F1B0-0459-CE18-60D8-69F1ED2A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B2D04-6292-43D3-9395-D9B6D2CC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가격의 결정 요인들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38462-C511-4FC5-E443-15D17F80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F6188D-1215-F683-09DD-2CD902F2BDAF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118453" cy="48800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최근에는 유가 연동 방식과 시장 가격 연동 방식을 결합한 혼합가격방식도 등장하고 있다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이 방식은 다음과 같은 가중 평균 형태로 모델링 되기도 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여기서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각각 가중치를 의미하고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ℎ𝑦𝑏𝑟𝑖𝑑</m:t>
                        </m:r>
                      </m:sub>
                    </m:sSub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가격의 가중평균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𝑜𝑖𝑙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𝑖𝑛𝑑𝑒𝑥𝑒𝑑</m:t>
                        </m:r>
                      </m:sub>
                    </m:sSub>
                  </m:oMath>
                </a14:m>
                <a:r>
                  <a:rPr lang="ko-KR" altLang="en-US" sz="1600" dirty="0"/>
                  <a:t>은 석유연동가격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ℎ𝑢𝑏</m:t>
                        </m:r>
                      </m:sub>
                    </m:sSub>
                  </m:oMath>
                </a14:m>
                <a:r>
                  <a:rPr lang="ko-KR" altLang="en-US" sz="1600" dirty="0"/>
                  <a:t>는 현물시장 기준가격을 나타낸다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이러한 혼합방식 모델은 장기계약의 안정성과 시장 가격 반영의 유연성을 동시에 확보할 수 있는 방법이다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종합해보면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천연가스 가격 결정 방식은 석유시장과의 연계성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국제 거래 구조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시장의 자유화 정도에 따라 상이하며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최근에는 점차 수요지의 가격 신호를 반영하는 시장 기반 방식으로의 전환이 이루어지고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이러한 변화는 천연가스의 글로벌 통합과 에너지 전환이라는 거시적 흐름과 밀접한 관련이 있다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F6188D-1215-F683-09DD-2CD902F2B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118453" cy="4880054"/>
              </a:xfrm>
              <a:prstGeom prst="rect">
                <a:avLst/>
              </a:prstGeom>
              <a:blipFill>
                <a:blip r:embed="rId3"/>
                <a:stretch>
                  <a:fillRect r="-658" b="-6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0559F-F58A-4553-ECF9-9EEFBA23E963}"/>
                  </a:ext>
                </a:extLst>
              </p:cNvPr>
              <p:cNvSpPr txBox="1"/>
              <p:nvPr/>
            </p:nvSpPr>
            <p:spPr>
              <a:xfrm>
                <a:off x="775251" y="1787252"/>
                <a:ext cx="6135756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ℎ𝑦𝑏𝑟𝑖𝑑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𝑜𝑖𝑙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𝑖𝑛𝑑𝑒𝑥𝑒𝑑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ℎ𝑢𝑏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0559F-F58A-4553-ECF9-9EEFBA23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1" y="1787252"/>
                <a:ext cx="6135756" cy="391261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2282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2C98-38FB-60B9-3FF5-8E5FEAFD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8DBF2-859A-2EE3-4CA6-7A58063E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지역적 가격 변동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839FC-E107-608C-3D36-D27CB7AB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7F7F4-279D-3481-B846-01773C05124F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전 세계적인 단일 가격 형성이 되지 않고 지역적으로 가격 차이가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가격은 </a:t>
            </a:r>
            <a:r>
              <a:rPr lang="ko-KR" altLang="en-US" sz="1600" dirty="0" err="1"/>
              <a:t>헨리허브</a:t>
            </a:r>
            <a:r>
              <a:rPr lang="ko-KR" altLang="en-US" sz="1600" dirty="0"/>
              <a:t> 가격이 벤치마크 역할을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미국은 </a:t>
            </a:r>
            <a:r>
              <a:rPr lang="ko-KR" altLang="en-US" sz="1600" dirty="0" err="1"/>
              <a:t>셰일가스붐으로</a:t>
            </a:r>
            <a:r>
              <a:rPr lang="ko-KR" altLang="en-US" sz="1600" dirty="0"/>
              <a:t> 다른 지역에 비하여 낮은 가격을 유지하고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유럽은 영국의 </a:t>
            </a:r>
            <a:r>
              <a:rPr lang="en-US" altLang="ko-KR" sz="1600" dirty="0"/>
              <a:t>NBP(National Balancing Point)</a:t>
            </a:r>
            <a:r>
              <a:rPr lang="ko-KR" altLang="en-US" sz="1600" dirty="0"/>
              <a:t>와 네덜란드의 </a:t>
            </a:r>
            <a:r>
              <a:rPr lang="en-US" altLang="ko-KR" sz="1600" dirty="0"/>
              <a:t>TTF(Title Transfer Facility)</a:t>
            </a:r>
            <a:r>
              <a:rPr lang="ko-KR" altLang="en-US" sz="1600" dirty="0"/>
              <a:t>의 중심으로 가격이 형성된다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유럽의 천연가스 가격은 수입비용과 시장구조를 반영하여 미국에 비하여 높게 형성된다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 천연가스 가격은 주로 전통적으로 원유가격에 연동된 장기계약에 의하여 결정되는 경우가 많다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주로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수입에 대한 의존과 장거리 운송으로 지역적으로 시장가격이 가장 높게 형성된다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258342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2038-09BD-B05E-0D62-AD68C0BB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436FE-C2B0-911D-9807-C826BC74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지역적 가격 변동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212D8-3D9B-1CB6-F4FE-5821282C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3C94F-8717-1A44-89A3-B0DEA5A3AAEE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유럽과 미국의 천연가스 허브의 가격은 한국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 아시아 지역의 가격보다 낮게 유지되었으나 </a:t>
            </a:r>
            <a:r>
              <a:rPr lang="en-US" altLang="ko-KR" sz="1600" dirty="0"/>
              <a:t>2021</a:t>
            </a:r>
            <a:r>
              <a:rPr lang="ko-KR" altLang="en-US" sz="1600" dirty="0"/>
              <a:t>년 기점으로 </a:t>
            </a:r>
            <a:r>
              <a:rPr lang="en-US" altLang="ko-KR" sz="1600" dirty="0"/>
              <a:t>NBP</a:t>
            </a:r>
            <a:r>
              <a:rPr lang="ko-KR" altLang="en-US" sz="1600" dirty="0"/>
              <a:t>와</a:t>
            </a:r>
            <a:r>
              <a:rPr lang="en-US" altLang="ko-KR" sz="1600" dirty="0"/>
              <a:t> TTF</a:t>
            </a:r>
            <a:r>
              <a:rPr lang="ko-KR" altLang="en-US" sz="1600" dirty="0"/>
              <a:t>허브의 가격이 급격하게 상승하였다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이는 </a:t>
            </a:r>
            <a:r>
              <a:rPr lang="en-US" altLang="ko-KR" sz="1600" dirty="0"/>
              <a:t>2022</a:t>
            </a:r>
            <a:r>
              <a:rPr lang="ko-KR" altLang="en-US" sz="1600" dirty="0"/>
              <a:t>년 </a:t>
            </a:r>
            <a:r>
              <a:rPr lang="en-US" altLang="ko-KR" sz="1600" dirty="0"/>
              <a:t>2</a:t>
            </a:r>
            <a:r>
              <a:rPr lang="ko-KR" altLang="en-US" sz="1600" dirty="0"/>
              <a:t>월에 시작된 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전쟁으로 인해 </a:t>
            </a:r>
            <a:r>
              <a:rPr lang="ko-KR" altLang="en-US" sz="1600" dirty="0" err="1"/>
              <a:t>러시아로부터</a:t>
            </a:r>
            <a:r>
              <a:rPr lang="ko-KR" altLang="en-US" sz="1600" dirty="0"/>
              <a:t> 천연가스 공급이 줄었기 때문이다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유럽은 오랫동안 러시아 천연가스에 크게 의존해왔으나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러시아의 공급 부족이 유럽 전역에서 에너지 가격을 </a:t>
            </a:r>
            <a:r>
              <a:rPr lang="ko-KR" altLang="en-US" sz="1600" dirty="0" err="1"/>
              <a:t>급등시키는</a:t>
            </a:r>
            <a:r>
              <a:rPr lang="ko-KR" altLang="en-US" sz="1600" dirty="0"/>
              <a:t> 결과를 초래했다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러시아산 천연가스를 대신해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수입을 통해 이를 보완하려 했지만</a:t>
            </a:r>
            <a:r>
              <a:rPr lang="en-US" altLang="ko-KR" sz="1600" dirty="0"/>
              <a:t>, </a:t>
            </a:r>
            <a:r>
              <a:rPr lang="ko-KR" altLang="en-US" sz="1600" dirty="0"/>
              <a:t>상당한 시간과 비용이 소요되었다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8C52B8-BD9B-54A7-60B0-02F78777DB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08" b="9492"/>
          <a:stretch>
            <a:fillRect/>
          </a:stretch>
        </p:blipFill>
        <p:spPr>
          <a:xfrm>
            <a:off x="7218016" y="3619858"/>
            <a:ext cx="4700105" cy="2754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E4FF3-AC20-B078-0257-5F5ED3B170AF}"/>
              </a:ext>
            </a:extLst>
          </p:cNvPr>
          <p:cNvSpPr txBox="1"/>
          <p:nvPr/>
        </p:nvSpPr>
        <p:spPr>
          <a:xfrm>
            <a:off x="288791" y="3382254"/>
            <a:ext cx="6929226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미국은 자체적인 천연가스 생산량이 많아 헨리 허브 가격이 상대적으로 안정적인 반면</a:t>
            </a:r>
            <a:r>
              <a:rPr lang="en-US" altLang="ko-KR" sz="1600" dirty="0"/>
              <a:t>, </a:t>
            </a:r>
            <a:r>
              <a:rPr lang="ko-KR" altLang="en-US" sz="1600" dirty="0"/>
              <a:t>유럽은 자국 내 생산이 적고</a:t>
            </a:r>
            <a:r>
              <a:rPr lang="en-US" altLang="ko-KR" sz="1600" dirty="0"/>
              <a:t>, </a:t>
            </a:r>
            <a:r>
              <a:rPr lang="ko-KR" altLang="en-US" sz="1600" dirty="0"/>
              <a:t>주로 수입에 의존하고 있기 때문에 외부 충격에 취약했다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미국의 천연가스 시장은 유럽에 비해 덜 분산되어 있어 수요와 공급이 비교적 안정적인 경향이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유럽은 여러 국가들이 서로 다른 방식으로 에너지를 수급하고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불안정성이 더 크게 나타났다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53237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4CD6A-F1CD-ABCD-E2D0-F05E7DA8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721C8-728F-F228-A24F-98A4B296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장기계약과 현물시장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E386E-F8F3-BE8E-0D6E-6E4B2424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15E28-C395-F3C4-E71D-48ECBDE010EC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시장에서 거래 계약은 전통적으로 장기계약에 기반하여 발전해왔다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장기계약은 공급의 안정성과 투자회수의 핵심 수단으로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</a:t>
            </a:r>
            <a:r>
              <a:rPr lang="en-US" altLang="ko-KR" sz="1600" dirty="0"/>
              <a:t>10</a:t>
            </a:r>
            <a:r>
              <a:rPr lang="ko-KR" altLang="en-US" sz="1600" dirty="0" err="1"/>
              <a:t>년에서</a:t>
            </a:r>
            <a:r>
              <a:rPr lang="ko-KR" altLang="en-US" sz="1600" dirty="0"/>
              <a:t> </a:t>
            </a:r>
            <a:r>
              <a:rPr lang="en-US" altLang="ko-KR" sz="1600" dirty="0"/>
              <a:t>25</a:t>
            </a:r>
            <a:r>
              <a:rPr lang="ko-KR" altLang="en-US" sz="1600" dirty="0"/>
              <a:t>년 이상의 기간 동안 천연가스를 공급하는 구조로</a:t>
            </a:r>
            <a:r>
              <a:rPr lang="en-US" altLang="ko-KR" sz="1600" dirty="0"/>
              <a:t>, </a:t>
            </a:r>
            <a:r>
              <a:rPr lang="ko-KR" altLang="en-US" sz="1600" dirty="0"/>
              <a:t>대규모 인프라 투자에 대한 금융 조달을 가능하게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보통 유가 연동 방식을 통해 가격이 결정되고</a:t>
            </a:r>
            <a:r>
              <a:rPr lang="en-US" altLang="ko-KR" sz="1600" dirty="0"/>
              <a:t>, </a:t>
            </a:r>
            <a:r>
              <a:rPr lang="ko-KR" altLang="en-US" sz="1600" dirty="0"/>
              <a:t>수요자는 정해진 물량을 구매하거나 인수하지 않더라도 대금을 지불해야 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수령 또는 지불</a:t>
            </a:r>
            <a:r>
              <a:rPr lang="en-US" altLang="ko-KR" sz="1600" dirty="0"/>
              <a:t>‘ (take or pay)</a:t>
            </a:r>
            <a:r>
              <a:rPr lang="ko-KR" altLang="en-US" sz="1600" dirty="0"/>
              <a:t>를 수용해야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프로젝트 개발자의 안정적인 수익을 보장하는 동시에</a:t>
            </a:r>
            <a:r>
              <a:rPr lang="en-US" altLang="ko-KR" sz="1600" dirty="0"/>
              <a:t>, </a:t>
            </a:r>
            <a:r>
              <a:rPr lang="ko-KR" altLang="en-US" sz="1600" dirty="0"/>
              <a:t>수입국에는 에너지 안보를 제공한다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2000</a:t>
            </a:r>
            <a:r>
              <a:rPr lang="ko-KR" altLang="en-US" sz="1600" dirty="0"/>
              <a:t>년대 이후 </a:t>
            </a:r>
            <a:r>
              <a:rPr lang="en-US" altLang="ko-KR" sz="1600" dirty="0"/>
              <a:t>LNG </a:t>
            </a:r>
            <a:r>
              <a:rPr lang="ko-KR" altLang="en-US" sz="1600" dirty="0"/>
              <a:t>시장의 유연화와 글로벌화가 진전되면서 단기계약과 현물거래의 비중이 점차 증가하고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단기계약은 대개 </a:t>
            </a:r>
            <a:r>
              <a:rPr lang="en-US" altLang="ko-KR" sz="1600" dirty="0"/>
              <a:t>1</a:t>
            </a:r>
            <a:r>
              <a:rPr lang="ko-KR" altLang="en-US" sz="1600" dirty="0"/>
              <a:t>개월에서 수년 이내의 기간으로 이루어지며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현물가격 또는 허브 가격에 연동되어 거래된다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단기 수급 조정 수단으로 유용하며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수요 변동이나 긴급상황에 신속한 대응을 가능하게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가격 조항이 비교적 단순하고 </a:t>
            </a:r>
            <a:r>
              <a:rPr lang="en-US" altLang="ko-KR" sz="1600" dirty="0"/>
              <a:t>‘</a:t>
            </a:r>
            <a:r>
              <a:rPr lang="ko-KR" altLang="en-US" sz="1600" dirty="0"/>
              <a:t>수령 또는 지불</a:t>
            </a:r>
            <a:r>
              <a:rPr lang="en-US" altLang="ko-KR" sz="1600" dirty="0"/>
              <a:t>’ </a:t>
            </a:r>
            <a:r>
              <a:rPr lang="ko-KR" altLang="en-US" sz="1600" dirty="0"/>
              <a:t>조건이 약하거나 없는 경우가 많아</a:t>
            </a:r>
            <a:r>
              <a:rPr lang="en-US" altLang="ko-KR" sz="1600" dirty="0"/>
              <a:t>, </a:t>
            </a:r>
            <a:r>
              <a:rPr lang="ko-KR" altLang="en-US" sz="1600" dirty="0"/>
              <a:t>수요자에게는 비용 측면의 유리함을</a:t>
            </a:r>
            <a:r>
              <a:rPr lang="en-US" altLang="ko-KR" sz="1600" dirty="0"/>
              <a:t>, </a:t>
            </a:r>
            <a:r>
              <a:rPr lang="ko-KR" altLang="en-US" sz="1600" dirty="0"/>
              <a:t>공급자에게는 시장가격을 반영한 수익 기회를 제공할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9419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B52E-9D79-F0C1-94C8-54108FCE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FCDE2-68B9-6983-056B-01429965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장기계약과 현물시장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1BF22B-F6ED-2BC8-1814-356F7B93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82634-259E-B856-21FF-28A667432EC1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국제 천연가스 시장에서는 장기계약과 단기계약이 서로 보완적으로 작용하는 구조가 일반화되고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장기계약은 기저 수요를 충당하고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인프라 투자를 가능케 하는 역할을 지속적으로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단기계약은 예외적 수요나 시장 기회에 대응하는 기능을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따라 많은 수입국들은 장기계약을 중심으로 기본 물량을 확보하고</a:t>
            </a:r>
            <a:r>
              <a:rPr lang="en-US" altLang="ko-KR" sz="1600" dirty="0"/>
              <a:t>, </a:t>
            </a:r>
            <a:r>
              <a:rPr lang="ko-KR" altLang="en-US" sz="1600" dirty="0"/>
              <a:t>나머지 수요를 단기계약이나 현물시장을 통해 보완하는 포트폴리오 전략을 채택하고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일본과 같은 주요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수입국은 혼합 전략을 통해 가격 안정성과 수급 유연성을 동시에 추구하고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장기계약에서는 유가 연동과 허브 연동을 혼합한 복합 가격구조를 도입하는 사례도 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종합해보면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시장에서 장기계약과 단기계약은 각기 다른 기능과 목적을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장기계약은 여전히 에너지 인프라의 경제성을 담보하는 필수적인 제도 장치이다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단기계약은 시장 기반 거래 확대와 가격 경쟁력 확보를 위한 유연성 도구이다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계약 구조의 이중성은 앞으로도 지속될 것으로 보이며</a:t>
            </a:r>
            <a:r>
              <a:rPr lang="en-US" altLang="ko-KR" sz="1600" dirty="0"/>
              <a:t>, </a:t>
            </a:r>
            <a:r>
              <a:rPr lang="ko-KR" altLang="en-US" sz="1600" dirty="0"/>
              <a:t>국제 </a:t>
            </a:r>
            <a:r>
              <a:rPr lang="en-US" altLang="ko-KR" sz="1600" dirty="0"/>
              <a:t>LNG </a:t>
            </a:r>
            <a:r>
              <a:rPr lang="ko-KR" altLang="en-US" sz="1600" dirty="0"/>
              <a:t>시장이 통합될 수록 단기계약의 비중은 더욱 확대될 가능성이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928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F1ACB-022F-00DB-E4E0-A85F933A5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F6A68-6BC0-CC54-5A36-33D47A19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전환과 천연가스의 미래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B2D80-E08D-9EB6-5867-1C06F585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A577B-A2F0-EEDD-B23A-E7F9339D7B20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21</a:t>
            </a:r>
            <a:r>
              <a:rPr lang="ko-KR" altLang="en-US" sz="1600" dirty="0"/>
              <a:t>세기 들어 에너지 전환은 글로벌 에너지 체계의 핵심 </a:t>
            </a:r>
            <a:r>
              <a:rPr lang="ko-KR" altLang="en-US" sz="1600" dirty="0" err="1"/>
              <a:t>아젠다로</a:t>
            </a:r>
            <a:r>
              <a:rPr lang="ko-KR" altLang="en-US" sz="1600" dirty="0"/>
              <a:t> 자리 잡았다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단순한 연료 대체가 아닌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탄소중립이라는 궁극적 목표 하에 에너지 시스템의 구조적 전환을 요구하고 있다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기존 화석연료 중심의 시스템에서 재생에너지와 저탄소 기술 중심의 체제로의 이행을 요구한다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전환 과정에서 천연가스는 석탄 및 석유에 비해 상대적으로 배출이 적고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발전효율이 높은 연료라는 점에서 </a:t>
            </a:r>
            <a:r>
              <a:rPr lang="en-US" altLang="ko-KR" sz="1600" dirty="0"/>
              <a:t>‘</a:t>
            </a:r>
            <a:r>
              <a:rPr lang="ko-KR" altLang="en-US" sz="1600" dirty="0"/>
              <a:t>전환 연료</a:t>
            </a:r>
            <a:r>
              <a:rPr lang="en-US" altLang="ko-KR" sz="1600" dirty="0"/>
              <a:t>‘ </a:t>
            </a:r>
            <a:r>
              <a:rPr lang="ko-KR" altLang="en-US" sz="1600" dirty="0"/>
              <a:t>로서의 전략적 위상을 점유하고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특히 전력 부문에서 중요한 역할을 수행해 왔다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복합화력발전소의 높은 열효율과 짧은 시운전 시간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부분 부하에서도 신속한 대응이 가능하다는 점은 재생에너지의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및 불확실성을 보완하는 조절 </a:t>
            </a:r>
            <a:r>
              <a:rPr lang="ko-KR" altLang="en-US" sz="1600" dirty="0" err="1"/>
              <a:t>전원으로서의</a:t>
            </a:r>
            <a:r>
              <a:rPr lang="ko-KR" altLang="en-US" sz="1600" dirty="0"/>
              <a:t> 기능을 부여한다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기술적 특성은 풍력</a:t>
            </a:r>
            <a:r>
              <a:rPr lang="en-US" altLang="ko-KR" sz="1600" dirty="0"/>
              <a:t>·</a:t>
            </a:r>
            <a:r>
              <a:rPr lang="ko-KR" altLang="en-US" sz="1600" dirty="0"/>
              <a:t>태양광 중심의 전력계통에 안전성을 부여하고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초기 재생에너지 확대 시기의 필수적 보완 수단으로 천연가스를 활용하도록 만든 배경이 되었다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실제로 유럽연합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 주요 국가들은 석탄화력발전의 점진적 퇴출을 천연가스 발전으로 대체하는 전략을 채택해왔다</a:t>
            </a:r>
            <a:r>
              <a:rPr lang="en-US" altLang="ko-KR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216719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FA1F0-9EF6-01AF-DC2A-24865C10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96217-BFD4-1D92-890D-FB902357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전환과 천연가스의 미래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9FDE8-E2D8-5EC1-D2D4-48006ED4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72219-B72B-B337-F90D-6C364180DF2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과도기적 대응의 일환으로서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천연가스의 역할은 영구적인 것은 아니다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(IEA, International Energy Agency)</a:t>
            </a:r>
            <a:r>
              <a:rPr lang="ko-KR" altLang="en-US" sz="1600" dirty="0"/>
              <a:t>가 제시한 </a:t>
            </a:r>
            <a:r>
              <a:rPr lang="en-US" altLang="ko-KR" sz="1600" dirty="0"/>
              <a:t>‘2050 </a:t>
            </a:r>
            <a:r>
              <a:rPr lang="ko-KR" altLang="en-US" sz="1600" dirty="0"/>
              <a:t>탄소중립 시나리오</a:t>
            </a:r>
            <a:r>
              <a:rPr lang="en-US" altLang="ko-KR" sz="1600" dirty="0"/>
              <a:t>‘</a:t>
            </a:r>
            <a:r>
              <a:rPr lang="ko-KR" altLang="en-US" sz="1600" dirty="0"/>
              <a:t>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세계 천연가스 수요는 </a:t>
            </a:r>
            <a:r>
              <a:rPr lang="en-US" altLang="ko-KR" sz="1600" dirty="0"/>
              <a:t>2020</a:t>
            </a:r>
            <a:r>
              <a:rPr lang="ko-KR" altLang="en-US" sz="1600" dirty="0"/>
              <a:t>년대 중반 이후 정점을 찍고 하강할 것으로 예상된다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이는 단순한 수요의 감소를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천연가스의 지속가능성은 </a:t>
            </a:r>
            <a:r>
              <a:rPr lang="en-US" altLang="ko-KR" sz="1600" dirty="0"/>
              <a:t>‘</a:t>
            </a:r>
            <a:r>
              <a:rPr lang="ko-KR" altLang="en-US" sz="1600" dirty="0"/>
              <a:t>탄소 관리 기술</a:t>
            </a:r>
            <a:r>
              <a:rPr lang="en-US" altLang="ko-KR" sz="1600" dirty="0"/>
              <a:t>‘</a:t>
            </a:r>
            <a:r>
              <a:rPr lang="ko-KR" altLang="en-US" sz="1600" dirty="0"/>
              <a:t>과의 결합 여부에 따라 달라질 수 밖에 없음을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즉</a:t>
            </a:r>
            <a:r>
              <a:rPr lang="en-US" altLang="ko-KR" sz="1600" dirty="0"/>
              <a:t>, CCS, CCUS </a:t>
            </a:r>
            <a:r>
              <a:rPr lang="ko-KR" altLang="en-US" sz="1600" dirty="0"/>
              <a:t>등과의 기술적 연계 없이는 장기적으로 천연가스 기반 발전 및 산업공정이 존속하기 어려운 구조로 진입하게 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주목받고 있는 대응 전략 중 하나는 천연가스를 </a:t>
            </a:r>
            <a:r>
              <a:rPr lang="en-US" altLang="ko-KR" sz="1600" dirty="0"/>
              <a:t>‘</a:t>
            </a:r>
            <a:r>
              <a:rPr lang="ko-KR" altLang="en-US" sz="1600" dirty="0"/>
              <a:t>저탄소 가스</a:t>
            </a:r>
            <a:r>
              <a:rPr lang="en-US" altLang="ko-KR" sz="1600" dirty="0"/>
              <a:t>‘</a:t>
            </a:r>
            <a:r>
              <a:rPr lang="ko-KR" altLang="en-US" sz="1600" dirty="0"/>
              <a:t>로 전환하거나 수소 생산의 </a:t>
            </a:r>
            <a:r>
              <a:rPr lang="ko-KR" altLang="en-US" sz="1600" dirty="0" err="1"/>
              <a:t>전구체</a:t>
            </a:r>
            <a:r>
              <a:rPr lang="en-US" altLang="ko-KR" sz="1600" dirty="0"/>
              <a:t>(feedstock)</a:t>
            </a:r>
            <a:r>
              <a:rPr lang="ko-KR" altLang="en-US" sz="1600" dirty="0"/>
              <a:t>로 활용하는 방식이다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천연가스에서 이산화탄소를 </a:t>
            </a:r>
            <a:r>
              <a:rPr lang="ko-KR" altLang="en-US" sz="1600" dirty="0" err="1"/>
              <a:t>포집해</a:t>
            </a:r>
            <a:r>
              <a:rPr lang="ko-KR" altLang="en-US" sz="1600" dirty="0"/>
              <a:t> 블루 수소를 생산하거나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바이오가스 및 </a:t>
            </a:r>
            <a:r>
              <a:rPr lang="ko-KR" altLang="en-US" sz="1600" dirty="0" err="1"/>
              <a:t>합성메탄을</a:t>
            </a:r>
            <a:r>
              <a:rPr lang="ko-KR" altLang="en-US" sz="1600" dirty="0"/>
              <a:t> 기존 천연가스와 혼합하여 활용하는 방식은 전통적 가스 시스템을 유지하면서도 탄소중립에 부합하는 새로운 방향으로 평가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국가는 이러한 전략을 염두에 두고 기존 천연가스 네트워크를 향후 수소 인프라로 전환할 수 있도록 설계하고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기존 자산의 활용도를 높이고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투자리스클</a:t>
            </a:r>
            <a:r>
              <a:rPr lang="ko-KR" altLang="en-US" sz="1600" dirty="0"/>
              <a:t> 완화할 수 있는 수단이다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84429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10282</TotalTime>
  <Words>6822</Words>
  <Application>Microsoft Office PowerPoint</Application>
  <PresentationFormat>와이드스크린</PresentationFormat>
  <Paragraphs>722</Paragraphs>
  <Slides>57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4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자원·에너지 경제학</vt:lpstr>
      <vt:lpstr>Chapter 4  천연가스 시장</vt:lpstr>
      <vt:lpstr>Section 1. 개 론</vt:lpstr>
      <vt:lpstr>서론</vt:lpstr>
      <vt:lpstr>서론</vt:lpstr>
      <vt:lpstr>서론</vt:lpstr>
      <vt:lpstr>Section 2. 천연가스의 특징과 분류</vt:lpstr>
      <vt:lpstr>천연가스의 특징</vt:lpstr>
      <vt:lpstr>천연가스의 특징</vt:lpstr>
      <vt:lpstr>천연가스의 분류</vt:lpstr>
      <vt:lpstr>천연가스의 분류</vt:lpstr>
      <vt:lpstr>천연가스의 분류</vt:lpstr>
      <vt:lpstr>천연가스의 분류</vt:lpstr>
      <vt:lpstr>천연가스 공급사슬</vt:lpstr>
      <vt:lpstr>천연가스 공급사슬</vt:lpstr>
      <vt:lpstr>천연가스 공급사슬</vt:lpstr>
      <vt:lpstr>천연가스 공급사슬</vt:lpstr>
      <vt:lpstr>Section 3. 천연가스의 시장의 현황</vt:lpstr>
      <vt:lpstr>천연가스 매장량</vt:lpstr>
      <vt:lpstr>천연가스 매장량</vt:lpstr>
      <vt:lpstr>천연가스 생산과 공급</vt:lpstr>
      <vt:lpstr>천연가스 생산과 공급</vt:lpstr>
      <vt:lpstr>천연가스 소비</vt:lpstr>
      <vt:lpstr>천연가스 소비</vt:lpstr>
      <vt:lpstr>천연가스 생산과 공급</vt:lpstr>
      <vt:lpstr>천연가스 소비</vt:lpstr>
      <vt:lpstr>천연가스 소비</vt:lpstr>
      <vt:lpstr>천연가스 소비</vt:lpstr>
      <vt:lpstr>천연가스 소비</vt:lpstr>
      <vt:lpstr>천연가스 소비</vt:lpstr>
      <vt:lpstr>천연가스 소비</vt:lpstr>
      <vt:lpstr>천연가스 소비</vt:lpstr>
      <vt:lpstr>천연가스 소비</vt:lpstr>
      <vt:lpstr>천연가스 소비</vt:lpstr>
      <vt:lpstr>천연가스 소비</vt:lpstr>
      <vt:lpstr>천연가스 소비</vt:lpstr>
      <vt:lpstr>Section 4. 천연가스 시장구조와 시장지배력</vt:lpstr>
      <vt:lpstr>천연가스 시장의 구조와 시장지배력</vt:lpstr>
      <vt:lpstr>천연가스 시장의 구조와 시장지배력</vt:lpstr>
      <vt:lpstr>천연가스 시장의 구조와 시장지배력</vt:lpstr>
      <vt:lpstr>Section 5. 천연가스 시장의 탈규제와 구조개편</vt:lpstr>
      <vt:lpstr>천연가스 시장의 탈규제와 구조개편</vt:lpstr>
      <vt:lpstr>천연가스 시장의 탈규제와 구조개편</vt:lpstr>
      <vt:lpstr>천연가스 시장의 탈규제와 구조개편</vt:lpstr>
      <vt:lpstr>천연가스 시장의 탈규제와 구조개편</vt:lpstr>
      <vt:lpstr>Section 6. 천연가스 시장의 가격 결정</vt:lpstr>
      <vt:lpstr>천연가스 가격의 결정 요인들</vt:lpstr>
      <vt:lpstr>천연가스 가격의 결정 요인들</vt:lpstr>
      <vt:lpstr>천연가스 가격의 결정 요인들</vt:lpstr>
      <vt:lpstr>천연가스 가격의 결정 요인들</vt:lpstr>
      <vt:lpstr>지역적 가격 변동</vt:lpstr>
      <vt:lpstr>지역적 가격 변동</vt:lpstr>
      <vt:lpstr>장기계약과 현물시장</vt:lpstr>
      <vt:lpstr>장기계약과 현물시장</vt:lpstr>
      <vt:lpstr>에너지 전환과 천연가스의 미래</vt:lpstr>
      <vt:lpstr>에너지 전환과 천연가스의 미래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370</cp:revision>
  <dcterms:created xsi:type="dcterms:W3CDTF">2025-07-05T05:15:23Z</dcterms:created>
  <dcterms:modified xsi:type="dcterms:W3CDTF">2026-09-28T23:34:37Z</dcterms:modified>
</cp:coreProperties>
</file>