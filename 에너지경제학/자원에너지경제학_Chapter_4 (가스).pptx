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1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90" r:id="rId18"/>
    <p:sldId id="691" r:id="rId19"/>
    <p:sldId id="692" r:id="rId20"/>
    <p:sldId id="650" r:id="rId21"/>
    <p:sldId id="653" r:id="rId22"/>
    <p:sldId id="651" r:id="rId23"/>
    <p:sldId id="654" r:id="rId24"/>
    <p:sldId id="652" r:id="rId25"/>
    <p:sldId id="655" r:id="rId26"/>
    <p:sldId id="656" r:id="rId27"/>
    <p:sldId id="657" r:id="rId28"/>
    <p:sldId id="658" r:id="rId29"/>
    <p:sldId id="659" r:id="rId30"/>
    <p:sldId id="660" r:id="rId31"/>
    <p:sldId id="661" r:id="rId32"/>
    <p:sldId id="662" r:id="rId33"/>
    <p:sldId id="663" r:id="rId34"/>
    <p:sldId id="664" r:id="rId35"/>
    <p:sldId id="665" r:id="rId36"/>
    <p:sldId id="666" r:id="rId37"/>
    <p:sldId id="667" r:id="rId38"/>
    <p:sldId id="668" r:id="rId39"/>
    <p:sldId id="676" r:id="rId40"/>
    <p:sldId id="669" r:id="rId41"/>
    <p:sldId id="670" r:id="rId42"/>
    <p:sldId id="671" r:id="rId43"/>
    <p:sldId id="677" r:id="rId44"/>
    <p:sldId id="672" r:id="rId45"/>
    <p:sldId id="673" r:id="rId46"/>
    <p:sldId id="674" r:id="rId47"/>
    <p:sldId id="675" r:id="rId48"/>
    <p:sldId id="678" r:id="rId49"/>
    <p:sldId id="679" r:id="rId50"/>
    <p:sldId id="680" r:id="rId51"/>
    <p:sldId id="681" r:id="rId52"/>
    <p:sldId id="682" r:id="rId53"/>
    <p:sldId id="683" r:id="rId54"/>
    <p:sldId id="684" r:id="rId55"/>
    <p:sldId id="685" r:id="rId56"/>
    <p:sldId id="686" r:id="rId57"/>
    <p:sldId id="687" r:id="rId58"/>
    <p:sldId id="688" r:id="rId59"/>
    <p:sldId id="598" r:id="rId6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78" d="100"/>
          <a:sy n="78" d="100"/>
        </p:scale>
        <p:origin x="126" y="15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152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BA439-0FFE-7713-8D69-E0856B047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D507AA-8F1F-0065-8896-A02CAF51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B5BAA-9AF9-E5C5-777A-F1A96710C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5B38E-CCAB-59F4-2265-14C0CE39A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088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3B71A-E805-510D-7EB3-0E745A11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2A8B1-7D6F-A0F2-BE33-4E4DFA492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9F92C-E302-2E74-0A6A-E643E83FAE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C7F319-BA98-5F65-783B-3CB72AA43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183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083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 안정성이 향상되었다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8A3F3A-62FB-C30F-0F3F-8AA269FED5F8}"/>
              </a:ext>
            </a:extLst>
          </p:cNvPr>
          <p:cNvSpPr txBox="1"/>
          <p:nvPr/>
        </p:nvSpPr>
        <p:spPr>
          <a:xfrm>
            <a:off x="7020059" y="3623187"/>
            <a:ext cx="3905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https://youtu.be/hWYle2IeInE?si=SKTF1iGELLehr8lD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원료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석유화학 원료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쓰면</a:t>
            </a:r>
            <a:r>
              <a:rPr lang="en-US" altLang="ko-KR" sz="1600" dirty="0"/>
              <a:t>, </a:t>
            </a:r>
            <a:r>
              <a:rPr lang="ko-KR" altLang="en-US" sz="1600" dirty="0"/>
              <a:t>그 안의 탄소를 제품을 만드는 재료로 활용한다</a:t>
            </a:r>
            <a:r>
              <a:rPr lang="en-US" altLang="ko-KR" sz="1600" dirty="0"/>
              <a:t>. (</a:t>
            </a:r>
            <a:r>
              <a:rPr lang="ko-KR" altLang="en-US" sz="1600" dirty="0"/>
              <a:t>플라스틱</a:t>
            </a:r>
            <a:r>
              <a:rPr lang="en-US" altLang="ko-KR" sz="1600" dirty="0"/>
              <a:t>, </a:t>
            </a:r>
            <a:r>
              <a:rPr lang="ko-KR" altLang="en-US" sz="1600" dirty="0"/>
              <a:t>합성섬유</a:t>
            </a:r>
            <a:r>
              <a:rPr lang="en-US" altLang="ko-KR" sz="1600" dirty="0"/>
              <a:t>, </a:t>
            </a:r>
            <a:r>
              <a:rPr lang="ko-KR" altLang="en-US" sz="1600" dirty="0"/>
              <a:t>합성고무 등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다음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/>
              <a:t>산업 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배관천연가스</a:t>
            </a:r>
            <a:r>
              <a:rPr lang="en-US" altLang="ko-KR" sz="1600" dirty="0"/>
              <a:t> (PNG, Pipeline Natural Gas)</a:t>
            </a:r>
            <a:r>
              <a:rPr lang="ko-KR" altLang="en-US" sz="1600" dirty="0"/>
              <a:t>는 배관망을 통해 가정</a:t>
            </a:r>
            <a:r>
              <a:rPr lang="en-US" altLang="ko-KR" sz="1600" dirty="0"/>
              <a:t>, </a:t>
            </a:r>
            <a:r>
              <a:rPr lang="ko-KR" altLang="en-US" sz="1600" dirty="0"/>
              <a:t>산업시설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 등에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C8334-1C75-B7BC-AF2E-8E84261DE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01C85-997B-F12E-8BAF-45A05665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343A25-D98B-E12B-CC75-3634BFB6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46A4DD-E0C7-9598-F434-E747727328B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액체 형태인 석유는 유조선을 통해 어디든지 수송할 수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</a:t>
            </a:r>
            <a:r>
              <a:rPr lang="ko-KR" altLang="en-US" sz="1600" dirty="0" err="1"/>
              <a:t>기체상태이므로</a:t>
            </a:r>
            <a:r>
              <a:rPr lang="ko-KR" altLang="en-US" sz="1600" dirty="0"/>
              <a:t> 가스관을 통해서만 수송할 수 있었다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가스전을 발견해도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수요처가 멀어 대규모 가스전이 아니면 경제성이 없어서</a:t>
            </a:r>
            <a:r>
              <a:rPr lang="en-US" altLang="ko-KR" sz="1600" dirty="0"/>
              <a:t>, </a:t>
            </a:r>
            <a:r>
              <a:rPr lang="ko-KR" altLang="en-US" sz="1600" dirty="0"/>
              <a:t>개발을 포기하는 경우가 많았다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그러다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도의 아주 낮은 온도에서 </a:t>
            </a:r>
            <a:r>
              <a:rPr lang="ko-KR" altLang="en-US" sz="1600" dirty="0" err="1"/>
              <a:t>액화하는</a:t>
            </a:r>
            <a:r>
              <a:rPr lang="ko-KR" altLang="en-US" sz="1600" dirty="0"/>
              <a:t> </a:t>
            </a:r>
            <a:r>
              <a:rPr lang="en-US" altLang="ko-KR" sz="1600" dirty="0"/>
              <a:t>LNG </a:t>
            </a:r>
            <a:r>
              <a:rPr lang="ko-KR" altLang="en-US" sz="1600" dirty="0"/>
              <a:t>기술이 개발되어 그동안 개발하지 못했던 많은 가스전이 개발되기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1959</a:t>
            </a:r>
            <a:r>
              <a:rPr lang="ko-KR" altLang="en-US" sz="1600" dirty="0"/>
              <a:t>년 </a:t>
            </a:r>
            <a:r>
              <a:rPr lang="en-US" altLang="ko-KR" sz="1600" dirty="0"/>
              <a:t>LNG </a:t>
            </a:r>
            <a:r>
              <a:rPr lang="ko-KR" altLang="en-US" sz="1600" dirty="0"/>
              <a:t>화물을 실은 배가 미국 </a:t>
            </a:r>
            <a:r>
              <a:rPr lang="ko-KR" altLang="en-US" sz="1600" dirty="0" err="1"/>
              <a:t>루이지애나만을</a:t>
            </a:r>
            <a:r>
              <a:rPr lang="ko-KR" altLang="en-US" sz="1600" dirty="0"/>
              <a:t> 떠나 영국으로 항해함으로써 선박을 통한 천연가스를 운송하는 길이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선박을 통한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수송이 가능해지면서</a:t>
            </a:r>
            <a:r>
              <a:rPr lang="en-US" altLang="ko-KR" sz="1600" dirty="0"/>
              <a:t>, 1970</a:t>
            </a:r>
            <a:r>
              <a:rPr lang="ko-KR" altLang="en-US" sz="1600" dirty="0"/>
              <a:t>년대부터 천연가스 수요가 점차 늘어나기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095699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23FE-C073-7293-849C-835E51580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20A42-E2FF-6FCF-46E6-1E5E9E93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D215EB-BC08-CDE8-9223-1AA33F6B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09185-8DEF-87E2-06F2-0BB52D7E35CC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2010</a:t>
            </a:r>
            <a:r>
              <a:rPr lang="ko-KR" altLang="en-US" sz="1600" dirty="0"/>
              <a:t>년대 부터는 해상에서 바로 </a:t>
            </a:r>
            <a:r>
              <a:rPr lang="ko-KR" altLang="en-US" sz="1600" dirty="0" err="1"/>
              <a:t>액화하는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</a:t>
            </a:r>
            <a:r>
              <a:rPr lang="en-US" altLang="ko-KR" sz="1600" dirty="0"/>
              <a:t>LNG </a:t>
            </a:r>
            <a:r>
              <a:rPr lang="ko-KR" altLang="en-US" sz="1600" dirty="0"/>
              <a:t>기술이 개발되어</a:t>
            </a:r>
            <a:r>
              <a:rPr lang="en-US" altLang="ko-KR" sz="1600" dirty="0"/>
              <a:t>, </a:t>
            </a:r>
            <a:r>
              <a:rPr lang="ko-KR" altLang="en-US" sz="1600" dirty="0"/>
              <a:t>먼 바다의 가스전에서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를 직접 생산할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그동안 </a:t>
            </a:r>
            <a:r>
              <a:rPr lang="en-US" altLang="ko-KR" sz="1600" dirty="0"/>
              <a:t>LNG </a:t>
            </a:r>
            <a:r>
              <a:rPr lang="ko-KR" altLang="en-US" sz="1600" dirty="0"/>
              <a:t>설비를</a:t>
            </a:r>
            <a:r>
              <a:rPr lang="en-US" altLang="ko-KR" sz="1600" dirty="0"/>
              <a:t> </a:t>
            </a:r>
            <a:r>
              <a:rPr lang="ko-KR" altLang="en-US" sz="1600" dirty="0"/>
              <a:t>육지에서만 할 수 있었으므로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해상 가스전의 경우 육지의 </a:t>
            </a:r>
            <a:r>
              <a:rPr lang="en-US" altLang="ko-KR" sz="1600" dirty="0"/>
              <a:t>LNG</a:t>
            </a:r>
            <a:r>
              <a:rPr lang="ko-KR" altLang="en-US" sz="1600" dirty="0"/>
              <a:t>플랜트까지 가스관을 건설해야 했다</a:t>
            </a:r>
            <a:r>
              <a:rPr lang="en-US" altLang="ko-KR" sz="1600" dirty="0"/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A27FD-EBCC-4990-97D7-9913CD55BCA3}"/>
              </a:ext>
            </a:extLst>
          </p:cNvPr>
          <p:cNvSpPr txBox="1"/>
          <p:nvPr/>
        </p:nvSpPr>
        <p:spPr>
          <a:xfrm>
            <a:off x="7145360" y="6276719"/>
            <a:ext cx="4487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https://www.gjnewsplaza.com/news/articleView.html?idxno=1726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4213AB6-4825-9A17-4DF6-6165266B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2582" y="2272880"/>
            <a:ext cx="5094372" cy="4033044"/>
          </a:xfrm>
          <a:prstGeom prst="rect">
            <a:avLst/>
          </a:prstGeom>
        </p:spPr>
      </p:pic>
      <p:pic>
        <p:nvPicPr>
          <p:cNvPr id="9" name="그림 8" descr="삼성중공업이 건조한 부유식 액화천연가스 생산설비">
            <a:extLst>
              <a:ext uri="{FF2B5EF4-FFF2-40B4-BE49-F238E27FC236}">
                <a16:creationId xmlns:a16="http://schemas.microsoft.com/office/drawing/2014/main" id="{2DC7909D-48CD-9D08-5BD6-6055F9879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068" y="3173420"/>
            <a:ext cx="4654948" cy="31032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DEB2AD2-36A0-8418-7EDD-1DDD40CAFA8A}"/>
              </a:ext>
            </a:extLst>
          </p:cNvPr>
          <p:cNvSpPr txBox="1"/>
          <p:nvPr/>
        </p:nvSpPr>
        <p:spPr>
          <a:xfrm>
            <a:off x="514350" y="2834866"/>
            <a:ext cx="6134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삼성중공업이 건조한 </a:t>
            </a:r>
            <a:r>
              <a:rPr lang="ko-KR" altLang="en-US" sz="1200" dirty="0" err="1"/>
              <a:t>부유식</a:t>
            </a:r>
            <a:r>
              <a:rPr lang="ko-KR" altLang="en-US" sz="1200" dirty="0"/>
              <a:t> 액화천연가스 생산설비</a:t>
            </a:r>
            <a:r>
              <a:rPr lang="en-US" altLang="ko-KR" sz="1200" dirty="0"/>
              <a:t>&gt;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1311D2-95C7-4712-04A1-BA3883D67267}"/>
              </a:ext>
            </a:extLst>
          </p:cNvPr>
          <p:cNvSpPr txBox="1"/>
          <p:nvPr/>
        </p:nvSpPr>
        <p:spPr>
          <a:xfrm>
            <a:off x="1130300" y="6276719"/>
            <a:ext cx="3492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https://www.yna.co.kr/view/AKR20260914038600003</a:t>
            </a:r>
          </a:p>
        </p:txBody>
      </p:sp>
    </p:spTree>
    <p:extLst>
      <p:ext uri="{BB962C8B-B14F-4D97-AF65-F5344CB8AC3E}">
        <p14:creationId xmlns:p14="http://schemas.microsoft.com/office/powerpoint/2010/main" val="3119020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D9592-FA09-351E-AFB0-0190BE1CB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8455C-8C67-2B3A-AF6F-491FFAA2D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B85088-7BCB-D0F5-BCBD-23514CB8F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38E8-567A-85F5-07BD-2CB85DFABB1F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기술이 개발되면서 가장 혜택을 본 나라는 동아시아의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타이완이다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그동안 </a:t>
            </a:r>
            <a:r>
              <a:rPr lang="ko-KR" altLang="en-US" sz="1600" dirty="0" err="1"/>
              <a:t>중동산</a:t>
            </a:r>
            <a:r>
              <a:rPr lang="ko-KR" altLang="en-US" sz="1600" dirty="0"/>
              <a:t> 석유에만 의존해 왔는데 동아시아에서 멀지 않은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 로부터 </a:t>
            </a:r>
            <a:r>
              <a:rPr lang="en-US" altLang="ko-KR" sz="1600" dirty="0"/>
              <a:t>LNG</a:t>
            </a:r>
            <a:r>
              <a:rPr lang="ko-KR" altLang="en-US" sz="1600" dirty="0"/>
              <a:t>가 공급되면서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한국과 일본의 에너지 시장에 일대 혁신이 일어났다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우리나라에는 </a:t>
            </a:r>
            <a:r>
              <a:rPr lang="en-US" altLang="ko-KR" sz="1600" dirty="0"/>
              <a:t>1983</a:t>
            </a:r>
            <a:r>
              <a:rPr lang="ko-KR" altLang="en-US" sz="1600" dirty="0"/>
              <a:t>년 천연가스 사업을 전담하는 한국가스공사가 설립되고</a:t>
            </a:r>
            <a:r>
              <a:rPr lang="en-US" altLang="ko-KR" sz="1600" dirty="0"/>
              <a:t> 1986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LNG</a:t>
            </a:r>
            <a:r>
              <a:rPr lang="ko-KR" altLang="en-US" sz="1600" dirty="0"/>
              <a:t>를 도입하기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이전에는 가정에서 프로판 용기에 들어 있던 </a:t>
            </a:r>
            <a:r>
              <a:rPr lang="en-US" altLang="ko-KR" sz="1600" dirty="0"/>
              <a:t>LPG</a:t>
            </a:r>
            <a:r>
              <a:rPr lang="ko-KR" altLang="en-US" sz="1600" dirty="0"/>
              <a:t>를 주로 사용하였는데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전국적으로 가스관이 깔리고 도시가스가 공급되면서 가정에서 편리하고 값싼 가스를 사용하게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3082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(m</a:t>
            </a:r>
            <a:r>
              <a:rPr lang="en-US" altLang="ko-KR" sz="1600" baseline="30000" dirty="0"/>
              <a:t>3</a:t>
            </a:r>
            <a:r>
              <a:rPr lang="en-US" altLang="ko-KR" sz="1600" dirty="0"/>
              <a:t>)</a:t>
            </a:r>
            <a:r>
              <a:rPr lang="ko-KR" altLang="en-US" sz="1600" dirty="0"/>
              <a:t>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en-US" altLang="ko-KR" sz="1200" dirty="0"/>
              <a:t>m</a:t>
            </a:r>
            <a:r>
              <a:rPr lang="en-US" altLang="ko-KR" sz="1200" baseline="30000" dirty="0"/>
              <a:t>3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087027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027549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3913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</a:t>
            </a:r>
            <a:r>
              <a:rPr lang="en-US" altLang="ko-KR" sz="1050" spc="-50" dirty="0"/>
              <a:t>(LNG)</a:t>
            </a:r>
            <a:r>
              <a:rPr lang="ko-KR" altLang="en-US" sz="1050" spc="-50" dirty="0"/>
              <a:t>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공급계약에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</a:t>
            </a:r>
            <a:r>
              <a:rPr lang="ko-KR" altLang="en-US" sz="1600" dirty="0" err="1"/>
              <a:t>헨리허브</a:t>
            </a:r>
            <a:r>
              <a:rPr lang="ko-KR" altLang="en-US" sz="1600" dirty="0"/>
              <a:t> 가격에 연동된 장기계약을 중심으로 하되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유연한</a:t>
            </a:r>
            <a:r>
              <a:rPr lang="en-US" altLang="ko-KR" sz="1600" dirty="0"/>
              <a:t>(</a:t>
            </a:r>
            <a:r>
              <a:rPr lang="ko-KR" altLang="en-US" sz="1600" dirty="0"/>
              <a:t>목적지 제한이 적음</a:t>
            </a:r>
            <a:r>
              <a:rPr lang="en-US" altLang="ko-KR" sz="1600" dirty="0"/>
              <a:t>) </a:t>
            </a:r>
            <a:r>
              <a:rPr lang="ko-KR" altLang="en-US" sz="1600" dirty="0"/>
              <a:t>계약구조를 발전시켜 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구매자는 시장 상황에 따라 </a:t>
            </a:r>
            <a:r>
              <a:rPr lang="en-US" altLang="ko-KR" sz="1600" dirty="0"/>
              <a:t>LNG</a:t>
            </a:r>
            <a:r>
              <a:rPr lang="ko-KR" altLang="en-US" sz="1600" dirty="0"/>
              <a:t>의 목적지를 변경 </a:t>
            </a:r>
            <a:r>
              <a:rPr lang="en-US" altLang="ko-KR" sz="1600" dirty="0"/>
              <a:t>(or </a:t>
            </a:r>
            <a:r>
              <a:rPr lang="ko-KR" altLang="en-US" sz="1600" dirty="0"/>
              <a:t>재판매</a:t>
            </a:r>
            <a:r>
              <a:rPr lang="en-US" altLang="ko-KR" sz="1600" dirty="0"/>
              <a:t>)</a:t>
            </a:r>
            <a:r>
              <a:rPr lang="ko-KR" altLang="en-US" sz="1600" dirty="0"/>
              <a:t>할 수 있어 국제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유연성을 높인다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이런</a:t>
            </a:r>
            <a:r>
              <a:rPr lang="en-US" altLang="ko-KR" sz="1600" dirty="0"/>
              <a:t> </a:t>
            </a:r>
            <a:r>
              <a:rPr lang="ko-KR" altLang="en-US" sz="1600" dirty="0"/>
              <a:t>미국식 계약모델은 지역별 시장 간 </a:t>
            </a:r>
            <a:r>
              <a:rPr lang="en-US" altLang="ko-KR" sz="1600" dirty="0"/>
              <a:t>LNG </a:t>
            </a:r>
            <a:r>
              <a:rPr lang="ko-KR" altLang="en-US" sz="1600" dirty="0"/>
              <a:t>이동을 촉진하여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현물시장의 성장과 지역 간 가격 연계 </a:t>
            </a:r>
            <a:r>
              <a:rPr lang="ko-KR" altLang="en-US" sz="1600" dirty="0" err="1"/>
              <a:t>강황에</a:t>
            </a:r>
            <a:r>
              <a:rPr lang="ko-KR" altLang="en-US" sz="1600"/>
              <a:t> 기여하였다</a:t>
            </a:r>
            <a:r>
              <a:rPr lang="en-US" altLang="ko-KR" sz="1600"/>
              <a:t>.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737264" y="3801247"/>
            <a:ext cx="33600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스페인과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2" y="893088"/>
            <a:ext cx="33187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99986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 dirty="0"/>
              <a:t>(PNG)</a:t>
            </a:r>
            <a:r>
              <a:rPr lang="ko-KR" altLang="en-US" sz="1600" dirty="0"/>
              <a:t> 수출은 지리적 인접성과 장기적 상호 의존성을 기반으로 형성된 에너지 공급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와 달리 고정된 수송 경로와 이로 인한 지정학적 민감성이 특징이다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생산국과 소비국 간의 지리적 근접성</a:t>
            </a:r>
            <a:r>
              <a:rPr lang="en-US" altLang="ko-KR" sz="1600" dirty="0"/>
              <a:t>, </a:t>
            </a:r>
            <a:r>
              <a:rPr lang="ko-KR" altLang="en-US" sz="1600" dirty="0"/>
              <a:t>역사적 에너지 관계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협력 수준에 크게 좌우된다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거래 구조의 안정성과 동시에 위험 요소를 내포하고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PNG </a:t>
            </a:r>
            <a:r>
              <a:rPr lang="ko-KR" altLang="en-US" sz="1600" dirty="0"/>
              <a:t>수출은 전통적으로 유라시아 대륙을 중심으로 이루어져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러시아는 유럽과 아시아를 잇는 파이프라인 네트워크를 통해 세계 최대의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가스는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이탈리아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 등 주요 </a:t>
            </a:r>
            <a:r>
              <a:rPr lang="ko-KR" altLang="en-US" sz="1600" dirty="0" err="1"/>
              <a:t>유러</a:t>
            </a:r>
            <a:r>
              <a:rPr lang="ko-KR" altLang="en-US" sz="1600" dirty="0"/>
              <a:t> 국가에 대규모로 공급되었다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2021</a:t>
            </a:r>
            <a:r>
              <a:rPr lang="ko-KR" altLang="en-US" sz="1600" dirty="0"/>
              <a:t>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유럽 천연가스 수입량의 약</a:t>
            </a:r>
            <a:r>
              <a:rPr lang="en-US" altLang="ko-KR" sz="1600" dirty="0"/>
              <a:t> 40%</a:t>
            </a:r>
            <a:r>
              <a:rPr lang="ko-KR" altLang="en-US" sz="1600" dirty="0"/>
              <a:t>가 러시아 파이프라인을 통해 이루어졌다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</a:t>
            </a:r>
            <a:r>
              <a:rPr lang="en-US" altLang="ko-KR" sz="1600" dirty="0"/>
              <a:t>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수입구조는 급격히 변화하였고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정치적 리스크에 매우 취약한 구조임이 재확인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287DF-A2AF-9D03-E4F3-4C3E37E38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CE1CA-348B-5235-7EDC-41DD89BF1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8BB13-B62B-B493-99DD-7FE0389F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BB703-F3A4-2692-078E-0C5684AF45E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수출은 특정 생산국이 특정 수입국에 장기적으로 가스를 공급하는 고정적 이원 거래구조를 형성하는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독일 간 </a:t>
            </a:r>
            <a:r>
              <a:rPr lang="ko-KR" altLang="en-US" sz="1600" dirty="0" err="1"/>
              <a:t>노드스트림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</a:t>
            </a:r>
            <a:r>
              <a:rPr lang="en-US" altLang="ko-KR" sz="1600" dirty="0"/>
              <a:t>-</a:t>
            </a:r>
            <a:r>
              <a:rPr lang="ko-KR" altLang="en-US" sz="1600" dirty="0"/>
              <a:t>이탈리아 간 </a:t>
            </a:r>
            <a:r>
              <a:rPr lang="ko-KR" altLang="en-US" sz="1600" dirty="0" err="1"/>
              <a:t>트랜스메드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-</a:t>
            </a:r>
            <a:r>
              <a:rPr lang="ko-KR" altLang="en-US" sz="1600" dirty="0"/>
              <a:t>영국 간 </a:t>
            </a:r>
            <a:r>
              <a:rPr lang="ko-KR" altLang="en-US" sz="1600" dirty="0" err="1"/>
              <a:t>랭가스와</a:t>
            </a:r>
            <a:r>
              <a:rPr lang="ko-KR" altLang="en-US" sz="1600" dirty="0"/>
              <a:t> 같은 대형 파이프라인은 막대한 인프라 투자와 수십 년 단위 장기 계약을 바탕으로 운영된다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시장에서 나타나는 현물 거래 및 계약 유연성 확대와 대비된다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지역적으로 보면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유럽</a:t>
            </a:r>
            <a:r>
              <a:rPr lang="en-US" altLang="ko-KR" sz="1600" dirty="0"/>
              <a:t>, </a:t>
            </a:r>
            <a:r>
              <a:rPr lang="ko-KR" altLang="en-US" sz="1600" dirty="0"/>
              <a:t>북미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아시아를 중심으로 지역별 클러스터를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 등의 공급국과 광범위한 파이프라인 네트워크를 공유하고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북미에서는 미국과 캐나다 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멕시코로 이어지는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아시아에서는 투르크메니스탄</a:t>
            </a:r>
            <a:r>
              <a:rPr lang="en-US" altLang="ko-KR" sz="1600" dirty="0"/>
              <a:t>, </a:t>
            </a:r>
            <a:r>
              <a:rPr lang="ko-KR" altLang="en-US" sz="1600" dirty="0"/>
              <a:t>카자흐스탄</a:t>
            </a:r>
            <a:r>
              <a:rPr lang="en-US" altLang="ko-KR" sz="1600" dirty="0"/>
              <a:t>, </a:t>
            </a:r>
            <a:r>
              <a:rPr lang="ko-KR" altLang="en-US" sz="1600" dirty="0"/>
              <a:t>우즈베키스탄 등 중앙아시아 국가들이 중국으로 천연가스를 수출하는 파이프라인 체계를 갖추고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8362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A629D-9A18-7D6A-D00D-0037F3CA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4131D-B3E1-304D-2EE8-B2275B8E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9B6F34-7EAE-B6C2-B903-A169A3B9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B2708-E3C2-4E31-6F02-A15C4DB5A38B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 간 수송은 사실상 불가능하고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해저 구간이 길어지는 경우 건설비용이 급격히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수출국들은 지역 내 안정적인 수요처를 기반으로 보수적인 수출 전략을 채택하는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PNG</a:t>
            </a:r>
            <a:r>
              <a:rPr lang="ko-KR" altLang="en-US" sz="1600" dirty="0"/>
              <a:t>는 운송비용이 낮고 대량 수송에 적합하다는 장점이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생산국과 수입국 간에 신뢰관계가 구축된 경우에는 매우 효율적인 에너지 공급방식이다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6A0319-C55D-D2D0-6F1B-9646CA548F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30" r="6566" b="7640"/>
          <a:stretch>
            <a:fillRect/>
          </a:stretch>
        </p:blipFill>
        <p:spPr>
          <a:xfrm>
            <a:off x="6816035" y="3918226"/>
            <a:ext cx="4960730" cy="269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64B49-0EF5-826D-CDDC-2FC64E7BCFE7}"/>
              </a:ext>
            </a:extLst>
          </p:cNvPr>
          <p:cNvSpPr txBox="1"/>
          <p:nvPr/>
        </p:nvSpPr>
        <p:spPr>
          <a:xfrm>
            <a:off x="7804333" y="378357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주요국의 </a:t>
            </a:r>
            <a:r>
              <a:rPr lang="en-US" altLang="ko-KR" sz="1050" spc="-50" dirty="0"/>
              <a:t>PNG </a:t>
            </a:r>
            <a:r>
              <a:rPr lang="ko-KR" altLang="en-US" sz="1050" spc="-50" dirty="0"/>
              <a:t>수출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58F0D-709A-EF49-0772-084C0E4308E5}"/>
              </a:ext>
            </a:extLst>
          </p:cNvPr>
          <p:cNvSpPr txBox="1"/>
          <p:nvPr/>
        </p:nvSpPr>
        <p:spPr>
          <a:xfrm>
            <a:off x="288790" y="4091647"/>
            <a:ext cx="6001575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수출량은 약 </a:t>
            </a:r>
            <a:r>
              <a:rPr lang="en-US" altLang="ko-KR" sz="1600" dirty="0"/>
              <a:t>6,770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입방미터로</a:t>
            </a:r>
            <a:r>
              <a:rPr lang="ko-KR" altLang="en-US" sz="1600" dirty="0"/>
              <a:t> 집계되었으며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같은 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수출량인 </a:t>
            </a:r>
            <a:r>
              <a:rPr lang="en-US" altLang="ko-KR" sz="1600" dirty="0"/>
              <a:t>5,492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입방미터를</a:t>
            </a:r>
            <a:r>
              <a:rPr lang="ko-KR" altLang="en-US" sz="1600" dirty="0"/>
              <a:t> 상회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오른쪽 그래프는 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주요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수출국들의 수출 물량을 보여주고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62653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1783-7ADB-202A-A1DE-5858CEE2B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18ABB1-6004-A749-D067-9808900FD0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77217D-31EA-D0A1-C3C0-06E55D0BB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03242AE-927A-B016-61A1-339C52842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천연가스 시장구조와 시장지배력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356657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D9A9-B774-6E31-A7F5-7BE27716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676F2-D913-3980-110A-8578C1A9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4B0FA-914F-FD78-4B35-089587F5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CCE876-7D67-8FFB-F0B2-AE3F152F111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시장은 본질적으로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분배 등 여러 단계에 걸쳐 높은 자본집약성과 자산특수성을 특징으로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각 단계별로 독점적 또는 과점적 시장구조가 형성되는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탐사와 생산 단계에서는 시장 집중도와 경쟁 수준이 상이하게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다양한 사업자가 차명할 여지가 상대적으로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및 가공부문은 초기 투자비용이 막대하고 대체가 어려운 특성으로 인해 자연독점적 성격을 강화한다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시장 진입장벽을 높이고 경쟁을 제한하는 주요 요인이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최종 분배 단계에서도 국가별 정책과 규제환경에 따라 경쟁 구도가 달라지나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독과점 구조가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구조적 특성은 천연가스 가격 형성과 공급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소비자 후생에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 집중도가 높은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주요 공급자는 가격을 인위적으로 조정하거나 공급량을 통제함으로써 소비자에게 과도한 비용을 전가할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시장의 불확실성을 </a:t>
            </a:r>
            <a:r>
              <a:rPr lang="ko-KR" altLang="en-US" sz="1600" dirty="0" err="1"/>
              <a:t>증대시키고</a:t>
            </a:r>
            <a:r>
              <a:rPr lang="ko-KR" altLang="en-US" sz="1600" dirty="0"/>
              <a:t> 장기적으로 경쟁을 저해하여 혁신 유인을 약화할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산업에서는 경쟁 촉진과 시장 감시를 통한 규제의 중요성이 지속적으로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16106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D53D8-FB0B-9931-AE62-3D0C5EC1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1B40A-9936-B98C-28F9-A571B515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50EAC-7A20-E20E-9CE0-F7FB2F69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9D27A-E156-4E05-E2D6-CECB223381E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주요 생산국인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카타르는 각국의 에너지 정책과 공급망 전략을 통해 글로벌 시장에 큰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 국영기업인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천연가스 생산과 수출을 독점하고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네트워크를 통한 유럽 시장 지배력을 바탕으로 강한 시장지배력을 행사하고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전략적 행위는 특정 지역의 에너지 안보를 위협하고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시장의 국제정치적 긴장을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수송 및 가공 단계에서는 파이프라인 인프라가 매우 </a:t>
            </a:r>
            <a:r>
              <a:rPr lang="ko-KR" altLang="en-US" sz="1600" dirty="0" err="1"/>
              <a:t>자본집약적이기</a:t>
            </a:r>
            <a:r>
              <a:rPr lang="ko-KR" altLang="en-US" sz="1600" dirty="0"/>
              <a:t>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신규 공급자의 진입이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자연스럽게 독점 구조가 형성될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파이프라인은 건설 이후에는 한계비용이 낮지만 초기 고정투자비용이 매우 높아 진입장벽이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 인프라를 통제하는 기업들은 파이프라인 접근을 제한하거나 운송비용을 높여 시장지배력을 행사한다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가공 과정에서도 대규모 처리시설을 보유한 기업들은 비용구조를 통제함으로써 경쟁을 제한하고 높은 처리비용을 강제할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84547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EBD2D-4467-798D-9C2B-B712DBD7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3AD43-BB3A-A89C-FB00-7E6A8F5A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85B48-F90E-6C16-998B-06FB267D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3AE8E-A54C-CE9E-7364-2C257F4DF70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최종분배단계에서는 지역 유틸리티 회사들이 특정 지역에서 가스를 독점적으로 공급하는 경우가 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가격 결정에 공급자의 영향력을 강화하고 시장 경쟁을 저해하는 요인이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천연가스 공급자들은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유통 과정을 수직적으로 통합하여 시장지배력을 강화하기도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수직적 통합은 필수 설비에 대한 접근을 제한하거나 과도한 비용을 부과하는 방식으로 경쟁자들을 배제하고 시장 가격을 상승시킬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유럽시장 진출까지 일관되게 관리하여 공급망 전반에 걸쳐 지배력을 유지하고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공급과정에서의 시장지배력 행사를 완화하기 위해 정부와 규제기관은 파이프라인에 대한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규제</a:t>
            </a:r>
            <a:r>
              <a:rPr lang="en-US" altLang="ko-KR" sz="1600" dirty="0"/>
              <a:t>, </a:t>
            </a:r>
            <a:r>
              <a:rPr lang="ko-KR" altLang="en-US" sz="1600" dirty="0"/>
              <a:t>경쟁 촉진 등을 도입하고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시장에서는 장기계약이 공급자들의 시장지배력 행사에 중요한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공급자와 수요자 간 안정성을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구매자의 에너지 전환 가능성을 제약하여 </a:t>
            </a:r>
            <a:r>
              <a:rPr lang="ko-KR" altLang="en-US" sz="1600" dirty="0" err="1"/>
              <a:t>에너지원간의</a:t>
            </a:r>
            <a:r>
              <a:rPr lang="ko-KR" altLang="en-US" sz="1600" dirty="0"/>
              <a:t> 경쟁이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 비중이 높으면 신규 공급자 진입이 어렵고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경쟁이 감소하여 소비자 가격이 상승할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88143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F4EE6-7E91-48AF-7C58-6944D117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4FA3E8-3B2E-5DD1-14B7-BC328A0EB4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7E8049-A358-3CF2-F13F-C40AE21B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97B70B-EABF-EACD-2EA9-BB8AB3F71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3" y="2221948"/>
            <a:ext cx="11302723" cy="2768198"/>
          </a:xfrm>
          <a:effectLst>
            <a:reflection blurRad="50800" stA="45000" endPos="44000" dir="5400000" sy="-100000" algn="bl" rotWithShape="0"/>
          </a:effectLst>
        </p:spPr>
        <p:txBody>
          <a:bodyPr anchor="ctr" anchorCtr="0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천연가스 시장의 탈규제와 구조개편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204646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1A43-D562-52E1-09A5-D7835E9E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6EBC1-7B5E-36B1-D308-490A02A1B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0A3F7-57BC-23EA-D8B2-0F778FD54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E5746-4F67-FD51-6610-89E7EE47264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시장에서의 탈규제와 구조개편은 기존의 국가 독점 또는 규제된 통합 구조를 경쟁 중심의 시장 지향 구조로 전환하기 위한 정책적 변화들을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미국과 영국을 중심으로 본격화되었고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가격 결정 방식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등에 큰 영향을 미쳐왔다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천연가스의 공급사슬을 수직 통합하고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가격은 정부 혹은 규제기관이 결정하였지만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시간이 지나면서 이러한 구조가 비효율적이고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변화에 유연하게 대응하기 어렵다는 비판이 잇따르면서</a:t>
            </a:r>
            <a:r>
              <a:rPr lang="en-US" altLang="ko-KR" sz="1600" dirty="0"/>
              <a:t>, </a:t>
            </a:r>
            <a:r>
              <a:rPr lang="ko-KR" altLang="en-US" sz="1600" dirty="0"/>
              <a:t>각 국가들은 탈규제와 구조개편을 추진하게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탈규제는 가격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진입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같은 부문에서 정부의 직접적인 통제를 완화하거나</a:t>
            </a:r>
            <a:r>
              <a:rPr lang="en-US" altLang="ko-KR" sz="1600" dirty="0"/>
              <a:t> </a:t>
            </a:r>
            <a:r>
              <a:rPr lang="ko-KR" altLang="en-US" sz="1600" dirty="0"/>
              <a:t>제거하는 것을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구조개편은 기존의 수직적으로 통합된 기업을 기능별로 분리하여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경쟁이 가능한 부문과 자연독점적 성격을 가진 부문을 구분하는 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산업에서는 생산과 판매 부문에 경쟁을 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송전이나 파이프라인 수송 부문은 공공적 규제를 유지하는 방식이 대표적이다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980133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785B-1A00-44E1-50DF-8F556CC9D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BFCC4B-DFD6-A58C-8878-00718F20B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324C00-6E67-3743-58A4-398D6E1C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A446E4-74EA-3A2E-F737-B06AC71F710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영국은 가장 먼저 천연가스 시장 자유화를 도입한 국가로</a:t>
            </a:r>
            <a:r>
              <a:rPr lang="en-US" altLang="ko-KR" sz="1600" dirty="0"/>
              <a:t>, 1980</a:t>
            </a:r>
            <a:r>
              <a:rPr lang="ko-KR" altLang="en-US" sz="1600" dirty="0"/>
              <a:t>년대 민영화를 시작으로 </a:t>
            </a:r>
            <a:r>
              <a:rPr lang="en-US" altLang="ko-KR" sz="1600" dirty="0"/>
              <a:t>1998</a:t>
            </a:r>
            <a:r>
              <a:rPr lang="ko-KR" altLang="en-US" sz="1600" dirty="0"/>
              <a:t>년에는 완전한 소매 경쟁 시장을 구축하였다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파이프라인 접근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 가격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 부문의 규제기관 감독 등의 제도들이 단계적으로 도입되었다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도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말부터 </a:t>
            </a:r>
            <a:r>
              <a:rPr lang="en-US" altLang="ko-KR" sz="1600" dirty="0"/>
              <a:t>‘</a:t>
            </a:r>
            <a:r>
              <a:rPr lang="ko-KR" altLang="en-US" sz="1600" dirty="0"/>
              <a:t>가스 지침</a:t>
            </a:r>
            <a:r>
              <a:rPr lang="en-US" altLang="ko-KR" sz="1600" dirty="0"/>
              <a:t>‘</a:t>
            </a:r>
            <a:r>
              <a:rPr lang="ko-KR" altLang="en-US" sz="1600" dirty="0"/>
              <a:t>을 통해 회원국들의 시장 개방을 유도하였다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</a:t>
            </a:r>
            <a:r>
              <a:rPr lang="en-US" altLang="ko-KR" sz="1600" dirty="0"/>
              <a:t>, 2003</a:t>
            </a:r>
            <a:r>
              <a:rPr lang="ko-KR" altLang="en-US" sz="1600" dirty="0"/>
              <a:t>년</a:t>
            </a:r>
            <a:r>
              <a:rPr lang="en-US" altLang="ko-KR" sz="1600" dirty="0"/>
              <a:t>, 2009</a:t>
            </a:r>
            <a:r>
              <a:rPr lang="ko-KR" altLang="en-US" sz="1600" dirty="0"/>
              <a:t>년의 세 차례 지침은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배전과 판매 기능의 법적 분리</a:t>
            </a:r>
            <a:r>
              <a:rPr lang="en-US" altLang="ko-KR" sz="1600" dirty="0"/>
              <a:t>, </a:t>
            </a:r>
            <a:r>
              <a:rPr lang="ko-KR" altLang="en-US" sz="1600" dirty="0"/>
              <a:t>독립 규제기관 설치 등을 요구하였고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국가가 </a:t>
            </a:r>
            <a:r>
              <a:rPr lang="en-US" altLang="ko-KR" sz="1600" dirty="0"/>
              <a:t>2004</a:t>
            </a:r>
            <a:r>
              <a:rPr lang="ko-KR" altLang="en-US" sz="1600" dirty="0"/>
              <a:t>년까지 전면 시장 개방을 완료하였다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각국의 제도 도입과 실행 수준은 여전히 상이하며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구조적 통합성이 강하다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연방 에너지 규제위원회</a:t>
            </a:r>
            <a:r>
              <a:rPr lang="en-US" altLang="ko-KR" sz="1600" dirty="0"/>
              <a:t>(FERC, Federal Energy Regulatory </a:t>
            </a:r>
            <a:r>
              <a:rPr lang="en-US" altLang="ko-KR" sz="1600" dirty="0" err="1"/>
              <a:t>Commision</a:t>
            </a:r>
            <a:r>
              <a:rPr lang="en-US" altLang="ko-KR" sz="1600" dirty="0"/>
              <a:t>)</a:t>
            </a:r>
            <a:r>
              <a:rPr lang="ko-KR" altLang="en-US" sz="1600" dirty="0"/>
              <a:t>가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년대부터 탈규제를 본격 추진하였으며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사업자에게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접근을 의무화하고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소비자와 생산자가 직접 계약을 체결할 수 있게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경쟁적 도매시장을 형성하였다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미국은 현물 및 선물 시장이 활성화된 </a:t>
            </a:r>
            <a:r>
              <a:rPr lang="ko-KR" altLang="en-US" sz="1600" dirty="0" err="1"/>
              <a:t>고유동성</a:t>
            </a:r>
            <a:r>
              <a:rPr lang="ko-KR" altLang="en-US" sz="1600" dirty="0"/>
              <a:t> 시장을 구축하고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헨리허브를</a:t>
            </a:r>
            <a:r>
              <a:rPr lang="ko-KR" altLang="en-US" sz="1600" dirty="0"/>
              <a:t> 중심으로 글로벌 가격 신호 전파 기능을 수행하고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69548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0EA88-CBA8-F540-EF1B-7AF0DE64E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8B0A8-FF2A-022E-1EDF-831FC4FE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CC4B4-40AF-1E15-9A36-E112FA61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B649-30ED-D344-711A-3CD4C71BF6A1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일본은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후반부터 점진적인 천연가스 시장 자유화를 추진해왔고</a:t>
            </a:r>
            <a:r>
              <a:rPr lang="en-US" altLang="ko-KR" sz="1600" dirty="0"/>
              <a:t>, 2020</a:t>
            </a:r>
            <a:r>
              <a:rPr lang="ko-KR" altLang="en-US" sz="1600" dirty="0"/>
              <a:t>년에는 소매부문까지 완전 자유화를 달성하였다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도쿄가스</a:t>
            </a:r>
            <a:r>
              <a:rPr lang="en-US" altLang="ko-KR" sz="1600" dirty="0"/>
              <a:t>, </a:t>
            </a:r>
            <a:r>
              <a:rPr lang="ko-KR" altLang="en-US" sz="1600" dirty="0"/>
              <a:t>오사카가스 등 대형 지역가스회사가 여전히 시장을 주도하고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실질적인 경쟁은 제한적이라는 평가도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중국보다 점진적 접근을 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한국은 한국가스공사</a:t>
            </a:r>
            <a:r>
              <a:rPr lang="en-US" altLang="ko-KR" sz="1600" dirty="0"/>
              <a:t>(KOGAS)</a:t>
            </a:r>
            <a:r>
              <a:rPr lang="ko-KR" altLang="en-US" sz="1600" dirty="0"/>
              <a:t>를 중심으로</a:t>
            </a:r>
            <a:r>
              <a:rPr lang="en-US" altLang="ko-KR" sz="1600" dirty="0"/>
              <a:t>, </a:t>
            </a:r>
            <a:r>
              <a:rPr lang="ko-KR" altLang="en-US" sz="1600" dirty="0"/>
              <a:t>수입</a:t>
            </a:r>
            <a:r>
              <a:rPr lang="en-US" altLang="ko-KR" sz="1600" dirty="0"/>
              <a:t>, </a:t>
            </a:r>
            <a:r>
              <a:rPr lang="ko-KR" altLang="en-US" sz="1600" dirty="0"/>
              <a:t>도매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운영이 통합된 규제된 구조를 유지하고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발전용 및 산업용에 한해 시장화를 시도하고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</a:t>
            </a:r>
            <a:r>
              <a:rPr lang="en-US" altLang="ko-KR" sz="1600" dirty="0"/>
              <a:t>2020</a:t>
            </a:r>
            <a:r>
              <a:rPr lang="ko-KR" altLang="en-US" sz="1600" dirty="0"/>
              <a:t>년 국가 파이프라인공사를 설립하여 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 인프라를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판매 부문과 분리하는 구조조정을 착수하여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산업의 효율성과 민간투자 유인을 강화하려는 시도를 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464581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D844-EA08-9C45-A45A-734D28224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25C14-AD44-C38D-0CF9-CB3AF88F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BFCE9-45FB-C5C2-ECB0-21FFF39D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8B8DB-47DF-4212-F5CC-BF78C0F4AA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탈규제와 구조개편의 주요 목적은 시장 효율성 제고</a:t>
            </a:r>
            <a:r>
              <a:rPr lang="en-US" altLang="ko-KR" sz="1600" dirty="0"/>
              <a:t>, </a:t>
            </a:r>
            <a:r>
              <a:rPr lang="ko-KR" altLang="en-US" sz="1600" dirty="0"/>
              <a:t>민간투자 촉진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수입처</a:t>
            </a:r>
            <a:r>
              <a:rPr lang="ko-KR" altLang="en-US" sz="1600" dirty="0"/>
              <a:t> 다변화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신호의 투명성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제고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</a:t>
            </a:r>
            <a:r>
              <a:rPr lang="en-US" altLang="ko-KR" sz="1600" dirty="0"/>
              <a:t>LNG</a:t>
            </a:r>
            <a:r>
              <a:rPr lang="ko-KR" altLang="en-US" sz="1600" dirty="0"/>
              <a:t> 시장에서 장기 고정가격 계약이 허브 기반의 현물가격 계약으로 전환되는 추세도 이러한 시장 유연화와 규제 완화의 일환으로 해석할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여전히 공공 중심의 안정성 지향 구조를 유지하고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경쟁력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공급선 다변화 측면에서 점진적인 제도 개편의 필요성이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유럽의 자유화 경험은 한국이 이러한 제도 개혁을 추진할 때</a:t>
            </a:r>
            <a:r>
              <a:rPr lang="en-US" altLang="ko-KR" sz="1600" dirty="0"/>
              <a:t>, </a:t>
            </a:r>
            <a:r>
              <a:rPr lang="ko-KR" altLang="en-US" sz="1600" dirty="0"/>
              <a:t>유용한 벤치마크를 제공하고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전환기와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 재편기에 대응하는 정책 설계에 있어 중요한 시사점을 제공한다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14207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BEA8-9CC1-DD1F-975D-DDA9762D5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D2871E-2F83-AA46-877B-BD918D41BE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4534A9-8A45-3E1D-2AE3-E5A67471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4CEE3B9-85C8-1362-0416-5231A98C8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천연가스 시장의 가격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935435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1D4D-B178-469A-AF44-600873A4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7A15B-FECB-67B0-BB4B-6EBAACEA8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51A4-718D-B2D3-92D3-38917B19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683D07-50A8-23C4-595D-C8B3CC909C6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가격은 다양한 시장 요인들에 의하여 결정되며 전 세계적으로 균일한 가격이 형성되는 원유가격과 달리 천연가스는 지역의 수요와 공급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수송비용과 시장구조에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근원적인 가격 결정요인은 수요와 공급이다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</a:t>
            </a:r>
            <a:r>
              <a:rPr lang="en-US" altLang="ko-KR" sz="1600" dirty="0"/>
              <a:t>, </a:t>
            </a:r>
            <a:r>
              <a:rPr lang="ko-KR" altLang="en-US" sz="1600" dirty="0"/>
              <a:t>시추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 등의 생산비용 또한 시장가격에 중요한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심해시추기술이나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기법 등 고비용의 생산 방식을 사용하는 경우 다른 지역에 비해 시장가격이 높게 분포한다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운송비용 또한 최종 시장가격에 영향을 미치는데</a:t>
            </a:r>
            <a:r>
              <a:rPr lang="en-US" altLang="ko-KR" sz="1600" dirty="0"/>
              <a:t>, LNG</a:t>
            </a:r>
            <a:r>
              <a:rPr lang="ko-KR" altLang="en-US" sz="1600" dirty="0"/>
              <a:t>의 경우 장거리 운송은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선적</a:t>
            </a:r>
            <a:r>
              <a:rPr lang="en-US" altLang="ko-KR" sz="1600" dirty="0"/>
              <a:t> </a:t>
            </a:r>
            <a:r>
              <a:rPr lang="ko-KR" altLang="en-US" sz="1600" dirty="0"/>
              <a:t>및 재기화 비용으로 인해 비용상승의 요인으로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 가스의 가격 결정은 지역별 시장 구조</a:t>
            </a:r>
            <a:r>
              <a:rPr lang="en-US" altLang="ko-KR" sz="1600" dirty="0"/>
              <a:t>, </a:t>
            </a:r>
            <a:r>
              <a:rPr lang="ko-KR" altLang="en-US" sz="1600" dirty="0"/>
              <a:t>대체 연료의 존재 여부</a:t>
            </a:r>
            <a:r>
              <a:rPr lang="en-US" altLang="ko-KR" sz="1600" dirty="0"/>
              <a:t>, </a:t>
            </a:r>
            <a:r>
              <a:rPr lang="ko-KR" altLang="en-US" sz="1600" dirty="0"/>
              <a:t>계약 형태에 따라 다양한 방식을 따른다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유럽과 아시아 시장에서는 석유 연동가격제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즉 가격연동제가 주요한 가격 결정 메커니즘이었다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방식에서 천연가스 가격은 중유</a:t>
            </a:r>
            <a:r>
              <a:rPr lang="en-US" altLang="ko-KR" sz="1600" dirty="0"/>
              <a:t>, </a:t>
            </a:r>
            <a:r>
              <a:rPr lang="ko-KR" altLang="en-US" sz="1600" dirty="0"/>
              <a:t>경유</a:t>
            </a:r>
            <a:r>
              <a:rPr lang="en-US" altLang="ko-KR" sz="1600" dirty="0"/>
              <a:t> </a:t>
            </a:r>
            <a:r>
              <a:rPr lang="ko-KR" altLang="en-US" sz="1600" dirty="0"/>
              <a:t>등 석유 제품의 가격과 일정한 비율로 연동되며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장기계약에서 활용되었다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0874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96AA-2B27-2285-8409-B263BC450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838EC-682B-8718-A9A5-2714A66D1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EA10A-FACE-339B-CFED-7EF0D7EA9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살펴본 가격연동을 수식으로 표현하면 다음과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𝑔𝑎𝑠</m:t>
                        </m:r>
                      </m:sub>
                    </m:sSub>
                  </m:oMath>
                </a14:m>
                <a:r>
                  <a:rPr lang="ko-KR" altLang="en-US" sz="1600" dirty="0"/>
                  <a:t>는 천연가스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𝑜𝑖𝑙</m:t>
                        </m:r>
                      </m:sub>
                    </m:sSub>
                  </m:oMath>
                </a14:m>
                <a:r>
                  <a:rPr lang="ko-KR" altLang="en-US" sz="1600" dirty="0"/>
                  <a:t>은 기준 석유제품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는 에너지 등가기준 계수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는 조정상수로서 운송비용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시장조정 요소를 반영한다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방식은 가격 변동성을 유가에 연동시켜 장기적인 안정성을 제공하지만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수급 상황이나 천연가스 고유의 수요</a:t>
                </a:r>
                <a:r>
                  <a:rPr lang="en-US" altLang="ko-KR" sz="1600" dirty="0"/>
                  <a:t>·</a:t>
                </a:r>
                <a:r>
                  <a:rPr lang="ko-KR" altLang="en-US" sz="1600" dirty="0"/>
                  <a:t>공급 특성을 반영하는 데 한계가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blipFill>
                <a:blip r:embed="rId3"/>
                <a:stretch>
                  <a:fillRect b="-18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/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𝑔𝑎𝑠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blipFill>
                <a:blip r:embed="rId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7634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697D-8458-B2E9-23BC-D564D2A4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117C1-2A48-3C31-A676-A07D645E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B495F-2503-212C-39D9-6C6791D5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글로벌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시장의 확대와 함께 점차 중요성이 증가하고 있는 방식은 순환수 가격방식 </a:t>
                </a:r>
                <a:r>
                  <a:rPr lang="en-US" altLang="ko-KR" sz="1600" dirty="0"/>
                  <a:t>(netback pricing)</a:t>
                </a:r>
                <a:r>
                  <a:rPr lang="ko-KR" altLang="en-US" sz="1600" dirty="0"/>
                  <a:t>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수요지에서의 천연가스 판매 가격을 기준으로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생산지 가격을 역산하는 방식으로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다음과 같이 표현할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𝑛𝑒𝑡𝑏𝑎𝑐𝑘</m:t>
                        </m:r>
                      </m:sub>
                    </m:sSub>
                  </m:oMath>
                </a14:m>
                <a:r>
                  <a:rPr lang="ko-KR" altLang="en-US" sz="1600" dirty="0"/>
                  <a:t>은 생산지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수출국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순환수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𝑑𝑒𝑙𝑖𝑣𝑒𝑟𝑒𝑑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ko-KR" altLang="en-US" sz="1600" dirty="0" err="1"/>
                  <a:t>수요지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수입국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도착가격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𝑙𝑖𝑞𝑢𝑒𝑓𝑎𝑐𝑡𝑖𝑜𝑛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액화비용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𝑡𝑟𝑎𝑛𝑠𝑝𝑜𝑟𝑡</m:t>
                        </m:r>
                      </m:sub>
                    </m:sSub>
                  </m:oMath>
                </a14:m>
                <a:r>
                  <a:rPr lang="ko-KR" altLang="en-US" sz="1600" dirty="0"/>
                  <a:t>는 운송비용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𝑟𝑒𝑔𝑎𝑠𝑖𝑓𝑖𝑐𝑎𝑡𝑖𝑜𝑛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재기화비용을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Netback </a:t>
                </a:r>
                <a:r>
                  <a:rPr lang="ko-KR" altLang="en-US" sz="1600" dirty="0"/>
                  <a:t>방식은 가격 결정이 수요지의 시장 가격에 따라 유연하게 조정되므로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 기반의 경쟁적 거래에 유리하다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방식은 특히 미국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호주 등 자유화된 가스 생산국에서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수출 시 가격 책정의 핵심 도구로 활용되고 있다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blipFill>
                <a:blip r:embed="rId3"/>
                <a:stretch>
                  <a:fillRect r="-329" b="-12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/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𝑛𝑒𝑡𝑏𝑎𝑐𝑘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𝑑𝑒𝑙𝑖𝑣𝑒𝑟𝑒𝑑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𝑙𝑖𝑞𝑢𝑒𝑓𝑎𝑐𝑡𝑖𝑜𝑛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𝑡𝑟𝑎𝑛𝑠𝑝𝑜𝑟𝑡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𝑟𝑒𝑔𝑎𝑠𝑖𝑓𝑖𝑐𝑎𝑡𝑖𝑜𝑛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2606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F1B0-0459-CE18-60D8-69F1ED2A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3B2D04-6292-43D3-9395-D9B6D2CC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38462-C511-4FC5-E443-15D17F80C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최근에는 유가 연동 방식과 시장 가격 연동 방식을 결합한 혼합가격방식도 등장하고 있다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 방식은 다음과 같은 가중 평균 형태로 모델링 되기도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각각 가중치를 의미하고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ℎ𝑦𝑏𝑟𝑖𝑑</m:t>
                        </m:r>
                      </m:sub>
                    </m:sSub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가격의 가중평균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𝑜𝑖𝑙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𝑖𝑛𝑑𝑒𝑥𝑒𝑑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은 석유연동가격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ℎ𝑢𝑏</m:t>
                        </m:r>
                      </m:sub>
                    </m:sSub>
                  </m:oMath>
                </a14:m>
                <a:r>
                  <a:rPr lang="ko-KR" altLang="en-US" sz="1600" dirty="0"/>
                  <a:t>는 현물시장 기준가격을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혼합방식 모델은 장기계약의 안정성과 시장 가격 반영의 유연성을 동시에 확보할 수 있는 방법이다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종합해보면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천연가스 가격 결정 방식은 석유시장과의 연계성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국제 거래 구조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자유화 정도에 따라 상이하며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최근에는 점차 수요지의 가격 신호를 반영하는 시장 기반 방식으로의 전환이 이루어지고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변화는 천연가스의 글로벌 통합과 에너지 전환이라는 거시적 흐름과 밀접한 관련이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blipFill>
                <a:blip r:embed="rId3"/>
                <a:stretch>
                  <a:fillRect r="-658" b="-6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/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ℎ𝑦𝑏𝑟𝑖𝑑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𝑖𝑛𝑑𝑒𝑥𝑒𝑑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ℎ𝑢𝑏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2282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F2C98-38FB-60B9-3FF5-8E5FEAFD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8DBF2-859A-2EE3-4CA6-7A58063E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1839FC-E107-608C-3D36-D27CB7AB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A7F7F4-279D-3481-B846-01773C05124F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전 세계적인 단일 가격 형성이 되지 않고 지역적으로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가격은 </a:t>
            </a:r>
            <a:r>
              <a:rPr lang="ko-KR" altLang="en-US" sz="1600" b="1" dirty="0" err="1"/>
              <a:t>헨리허브</a:t>
            </a:r>
            <a:r>
              <a:rPr lang="en-US" altLang="ko-KR" sz="1600" b="1" dirty="0"/>
              <a:t>(Henry Hub)</a:t>
            </a:r>
            <a:r>
              <a:rPr lang="ko-KR" altLang="en-US" sz="1600" dirty="0"/>
              <a:t> 가격이 벤치마크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셰일가스붐으로</a:t>
            </a:r>
            <a:r>
              <a:rPr lang="ko-KR" altLang="en-US" sz="1600" dirty="0"/>
              <a:t> 다른 지역에 비하여 낮은 가격을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영국의 </a:t>
            </a:r>
            <a:r>
              <a:rPr lang="en-US" altLang="ko-KR" sz="1600" dirty="0"/>
              <a:t>NBP(National Balancing Point)</a:t>
            </a:r>
            <a:r>
              <a:rPr lang="ko-KR" altLang="en-US" sz="1600" dirty="0"/>
              <a:t>와 네덜란드의 </a:t>
            </a:r>
            <a:r>
              <a:rPr lang="en-US" altLang="ko-KR" sz="1600" b="1" dirty="0"/>
              <a:t>TTF(Title Transfer Facility)</a:t>
            </a:r>
            <a:r>
              <a:rPr lang="ko-KR" altLang="en-US" sz="1600" dirty="0"/>
              <a:t>의 중심으로 가격이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유럽의 천연가스 가격은 수입비용과 시장구조를 반영하여 미국에 비하여 높게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동북아시아의 가스 현물시장 가격은 </a:t>
            </a:r>
            <a:r>
              <a:rPr lang="en-US" altLang="ko-KR" sz="1600" b="1" dirty="0"/>
              <a:t>JKM (Japan Korea Market)</a:t>
            </a:r>
            <a:r>
              <a:rPr lang="ko-KR" altLang="en-US" sz="1600" dirty="0"/>
              <a:t>이라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아시아 천연가스 가격은 주로 전통적으로 원유가격에 연동된 장기계약에 의하여 결정되는 경우가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수입에 대한 의존과 장거리 운송으로 지역적으로 시장가격이 가장 높게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258342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F2038-09BD-B05E-0D62-AD68C0BB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0436FE-C2B0-911D-9807-C826BC74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212D8-3D9B-1CB6-F4FE-5821282C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3C94F-8717-1A44-89A3-B0DEA5A3AAEE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유럽과 미국의 천연가스 허브의 가격은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아시아 지역의 가격보다 낮게 유지되었으나 </a:t>
            </a:r>
            <a:r>
              <a:rPr lang="en-US" altLang="ko-KR" sz="1600" dirty="0"/>
              <a:t>2021</a:t>
            </a:r>
            <a:r>
              <a:rPr lang="ko-KR" altLang="en-US" sz="1600" dirty="0"/>
              <a:t>년 기점으로 </a:t>
            </a:r>
            <a:r>
              <a:rPr lang="en-US" altLang="ko-KR" sz="1600" dirty="0"/>
              <a:t>NBP</a:t>
            </a:r>
            <a:r>
              <a:rPr lang="ko-KR" altLang="en-US" sz="1600" dirty="0"/>
              <a:t>와</a:t>
            </a:r>
            <a:r>
              <a:rPr lang="en-US" altLang="ko-KR" sz="1600" dirty="0"/>
              <a:t> TTF</a:t>
            </a:r>
            <a:r>
              <a:rPr lang="ko-KR" altLang="en-US" sz="1600" dirty="0"/>
              <a:t>허브의 가격이 급격하게 상승하였다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2022</a:t>
            </a:r>
            <a:r>
              <a:rPr lang="ko-KR" altLang="en-US" sz="1600" dirty="0"/>
              <a:t>년 </a:t>
            </a:r>
            <a:r>
              <a:rPr lang="en-US" altLang="ko-KR" sz="1600" dirty="0"/>
              <a:t>2</a:t>
            </a:r>
            <a:r>
              <a:rPr lang="ko-KR" altLang="en-US" sz="1600" dirty="0"/>
              <a:t>월에 시작된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전쟁으로 인해 </a:t>
            </a:r>
            <a:r>
              <a:rPr lang="ko-KR" altLang="en-US" sz="1600" dirty="0" err="1"/>
              <a:t>러시아로부터</a:t>
            </a:r>
            <a:r>
              <a:rPr lang="ko-KR" altLang="en-US" sz="1600" dirty="0"/>
              <a:t> 천연가스 공급이 줄었기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유럽은 오랫동안 러시아 천연가스에 크게 의존해왔으나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러시아의 공급 부족이 유럽 전역에서 에너지 가격을 </a:t>
            </a:r>
            <a:r>
              <a:rPr lang="ko-KR" altLang="en-US" sz="1600" dirty="0" err="1"/>
              <a:t>급등시키는</a:t>
            </a:r>
            <a:r>
              <a:rPr lang="ko-KR" altLang="en-US" sz="1600" dirty="0"/>
              <a:t> 결과를 초래했다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천연가스를 대신해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통해 이를 보완하려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시간과 비용이 소요되었다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8C52B8-BD9B-54A7-60B0-02F78777D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08" b="9492"/>
          <a:stretch>
            <a:fillRect/>
          </a:stretch>
        </p:blipFill>
        <p:spPr>
          <a:xfrm>
            <a:off x="7218016" y="3619858"/>
            <a:ext cx="4700105" cy="2754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6E4FF3-AC20-B078-0257-5F5ED3B170AF}"/>
              </a:ext>
            </a:extLst>
          </p:cNvPr>
          <p:cNvSpPr txBox="1"/>
          <p:nvPr/>
        </p:nvSpPr>
        <p:spPr>
          <a:xfrm>
            <a:off x="288791" y="3382254"/>
            <a:ext cx="6929226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자체적인 천연가스 생산량이 많아 헨리 허브 가격이 상대적으로 안정적인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자국 내 생산이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수입에 의존하고 있기 때문에 외부 충격에 취약했다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풍부한 국내 생산과 발달한 배관망을 바탕으로 가스를 공급하는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높은 수입 의존도와 공급</a:t>
            </a:r>
            <a:r>
              <a:rPr lang="en-US" altLang="ko-KR" sz="1600" dirty="0"/>
              <a:t>·</a:t>
            </a:r>
            <a:r>
              <a:rPr lang="ko-KR" altLang="en-US" sz="1600" dirty="0"/>
              <a:t>운송 제약으로 인해 해외 공급 차질에 따른 가격 충격에 더 취약하다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5053237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CD6A-F1CD-ABCD-E2D0-F05E7DA82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721C8-728F-F228-A24F-98A4B296D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CE386E-F8F3-BE8E-0D6E-6E4B24249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C15E28-C395-F3C4-E71D-48ECBDE010E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 거래 계약은 전통적으로 장기계약에 기반하여 발전해왔다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공급의 안정성과 투자회수의 핵심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10</a:t>
            </a:r>
            <a:r>
              <a:rPr lang="ko-KR" altLang="en-US" sz="1600" dirty="0" err="1"/>
              <a:t>년에서</a:t>
            </a:r>
            <a:r>
              <a:rPr lang="ko-KR" altLang="en-US" sz="1600" dirty="0"/>
              <a:t> </a:t>
            </a:r>
            <a:r>
              <a:rPr lang="en-US" altLang="ko-KR" sz="1600" dirty="0"/>
              <a:t>25</a:t>
            </a:r>
            <a:r>
              <a:rPr lang="ko-KR" altLang="en-US" sz="1600" dirty="0"/>
              <a:t>년 이상의 기간 동안 천연가스를 공급하는 구조로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인프라 투자에 대한 금융 조달을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유가 연동 방식을 통해 가격이 결정되고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수요자는 정해진 물량을 구매하거나 인수하지 않더라도 대금을 지불해야 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‘ (take or pay)</a:t>
            </a:r>
            <a:r>
              <a:rPr lang="ko-KR" altLang="en-US" sz="1600" dirty="0"/>
              <a:t>를 수용해야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프로젝트 개발자의 안정적인 수익을 보장하는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수입국에는 에너지 안보를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2000</a:t>
            </a:r>
            <a:r>
              <a:rPr lang="ko-KR" altLang="en-US" sz="1600" dirty="0"/>
              <a:t>년대 이후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시장의 유연화와 글로벌화가 진전되면서 단기계약과 현물거래의 비중이 점차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대개 </a:t>
            </a:r>
            <a:r>
              <a:rPr lang="en-US" altLang="ko-KR" sz="1600" dirty="0"/>
              <a:t>1</a:t>
            </a:r>
            <a:r>
              <a:rPr lang="ko-KR" altLang="en-US" sz="1600" dirty="0"/>
              <a:t>개월에서 수년 이내의 기간으로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현물가격 또는 허브 가격에 연동되어 거래된다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 수급 조정 수단으로 유용하며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변동이나 긴급상황에 신속한 대응을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가격 조항이 비교적 단순하고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’ </a:t>
            </a:r>
            <a:r>
              <a:rPr lang="ko-KR" altLang="en-US" sz="1600" dirty="0"/>
              <a:t>조건이 약하거나 없는 경우가 많아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수요자에게는 비용 측면의 유리함을</a:t>
            </a:r>
            <a:r>
              <a:rPr lang="en-US" altLang="ko-KR" sz="1600" dirty="0"/>
              <a:t>, </a:t>
            </a:r>
            <a:r>
              <a:rPr lang="ko-KR" altLang="en-US" sz="1600" dirty="0"/>
              <a:t>공급자에게는 시장가격을 반영한 수익 기회를 제공할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4195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B52E-9D79-F0C1-94C8-54108FCE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FCDE2-68B9-6983-056B-01429965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1BF22B-F6ED-2BC8-1814-356F7B935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582634-259E-B856-21FF-28A667432EC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국제 천연가스 시장에서는 장기계약과 단기계약이 서로 보완적으로 작용하는 구조가 일반화되고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기저 수요를 충당하고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투자를 가능케 하는 역할을 지속적으로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예외적 수요나 시장 기회에 대응하는 기능을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많은 수입국들은 장기계약을 중심으로 기본 물량을 확보하고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수요를 단기계약이나 현물시장을 통해 보완하는 포트폴리오 전략을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일본과 같은 주요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수입국은 혼합 전략을 통해 가격 안정성과 수급 유연성을 동시에 추구하고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장기계약에서는 유가 연동과 허브 연동을 혼합한 복합 가격구조를 도입하는 사례도 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시장에서 장기계약과 단기계약은 각기 다른 기능과 목적을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여전히 에너지 인프라의 경제성을 담보하는 필수적인 제도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시장 기반 거래 확대와 가격 경쟁력 확보를 위한 유연성 도구이다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계약 구조의 이중성은 앞으로도 지속될 것으로 보이며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시장이 통합될 수록 단기계약의 비중은 더욱 확대될 가능성이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09284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F1ACB-022F-00DB-E4E0-A85F933A5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F6A68-6BC0-CC54-5A36-33D47A194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FB2D80-E08D-9EB6-5867-1C06F585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A577B-A2F0-EEDD-B23A-E7F9339D7B2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 에너지 전환은 글로벌 에너지 체계의 핵심 </a:t>
            </a:r>
            <a:r>
              <a:rPr lang="ko-KR" altLang="en-US" sz="1600" dirty="0" err="1"/>
              <a:t>아젠다로</a:t>
            </a:r>
            <a:r>
              <a:rPr lang="ko-KR" altLang="en-US" sz="1600" dirty="0"/>
              <a:t> 자리 잡았다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연료 대체가 아닌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탄소중립이라는 궁극적 목표 하에 에너지 시스템의 구조적 전환을 요구하고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기존 화석연료 중심의 시스템에서 재생에너지와 저탄소 기술 중심의 체제로의 이행을 요구한다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전환 과정에서 천연가스는 석탄 및 석유에 비해 상대적으로 배출이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발전효율이 높은 연료라는 점에서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전환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로서의 전략적 위상을 점유하고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특히 전력 부문에서 중요한 역할을 수행해 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복합화력발전소의 높은 열효율과 짧은 시운전 시간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부분 부하에서도 신속한 대응이 가능하다는 점은 재생에너지의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및 불확실성을 보완하는 조절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기능을 부여한다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기술적 특성은 풍력</a:t>
            </a:r>
            <a:r>
              <a:rPr lang="en-US" altLang="ko-KR" sz="1600" dirty="0"/>
              <a:t>·</a:t>
            </a:r>
            <a:r>
              <a:rPr lang="ko-KR" altLang="en-US" sz="1600" dirty="0"/>
              <a:t>태양광 중심의 전력계통에 안전성을 부여하고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재생에너지 확대 시기의 필수적 보완 수단으로 천연가스를 활용하도록 만든 배경이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유럽연합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주요 국가들은 석탄화력발전의 점진적 퇴출을 천연가스 발전으로 대체하는 전략을 채택해왔다</a:t>
            </a:r>
            <a:r>
              <a:rPr lang="en-US" altLang="ko-KR" sz="16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216719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FA1F0-9EF6-01AF-DC2A-24865C105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B96217-BFD4-1D92-890D-FB9023570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9FDE8-E2D8-5EC1-D2D4-48006ED45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72219-B72B-B337-F90D-6C364180DF2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과도기적 대응의 일환으로서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역할은 영구적인 것은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(IEA, International Energy Agency)</a:t>
            </a:r>
            <a:r>
              <a:rPr lang="ko-KR" altLang="en-US" sz="1600" dirty="0"/>
              <a:t>가 제시한 </a:t>
            </a:r>
            <a:r>
              <a:rPr lang="en-US" altLang="ko-KR" sz="1600" dirty="0"/>
              <a:t>‘2050 </a:t>
            </a:r>
            <a:r>
              <a:rPr lang="ko-KR" altLang="en-US" sz="1600" dirty="0"/>
              <a:t>탄소중립 시나리오</a:t>
            </a:r>
            <a:r>
              <a:rPr lang="en-US" altLang="ko-KR" sz="1600" dirty="0"/>
              <a:t>‘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수요는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중반 이후 정점을 찍고 하강할 것으로 예상된다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단순한 수요의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지속가능성은 </a:t>
            </a:r>
            <a:r>
              <a:rPr lang="en-US" altLang="ko-KR" sz="1600" dirty="0"/>
              <a:t>‘</a:t>
            </a:r>
            <a:r>
              <a:rPr lang="ko-KR" altLang="en-US" sz="1600" dirty="0"/>
              <a:t>탄소 관리 기술</a:t>
            </a:r>
            <a:r>
              <a:rPr lang="en-US" altLang="ko-KR" sz="1600" dirty="0"/>
              <a:t>‘</a:t>
            </a:r>
            <a:r>
              <a:rPr lang="ko-KR" altLang="en-US" sz="1600" dirty="0"/>
              <a:t>과의 결합 여부에 따라 달라질 수 밖에 없음을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즉</a:t>
            </a:r>
            <a:r>
              <a:rPr lang="en-US" altLang="ko-KR" sz="1600" dirty="0"/>
              <a:t>, CCS, CCUS </a:t>
            </a:r>
            <a:r>
              <a:rPr lang="ko-KR" altLang="en-US" sz="1600" dirty="0"/>
              <a:t>등과의 기술적 연계 없이는 장기적으로 천연가스 기반 발전 및 산업공정이 존속하기 어려운 구조로 진입하게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주목받고 있는 대응 전략 중 하나는 천연가스를 </a:t>
            </a:r>
            <a:r>
              <a:rPr lang="en-US" altLang="ko-KR" sz="1600" dirty="0"/>
              <a:t>‘</a:t>
            </a:r>
            <a:r>
              <a:rPr lang="ko-KR" altLang="en-US" sz="1600" dirty="0"/>
              <a:t>저탄소 가스</a:t>
            </a:r>
            <a:r>
              <a:rPr lang="en-US" altLang="ko-KR" sz="1600" dirty="0"/>
              <a:t>‘</a:t>
            </a:r>
            <a:r>
              <a:rPr lang="ko-KR" altLang="en-US" sz="1600" dirty="0"/>
              <a:t>로 전환하거나 수소 생산의 </a:t>
            </a:r>
            <a:r>
              <a:rPr lang="ko-KR" altLang="en-US" sz="1600" dirty="0" err="1"/>
              <a:t>전구체</a:t>
            </a:r>
            <a:r>
              <a:rPr lang="en-US" altLang="ko-KR" sz="1600" dirty="0"/>
              <a:t>(feedstock)</a:t>
            </a:r>
            <a:r>
              <a:rPr lang="ko-KR" altLang="en-US" sz="1600" dirty="0"/>
              <a:t>로 활용하는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천연가스에서 이산화탄소를 </a:t>
            </a:r>
            <a:r>
              <a:rPr lang="ko-KR" altLang="en-US" sz="1600" dirty="0" err="1"/>
              <a:t>포집해</a:t>
            </a:r>
            <a:r>
              <a:rPr lang="ko-KR" altLang="en-US" sz="1600" dirty="0"/>
              <a:t> 블루 수소를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바이오가스 및 </a:t>
            </a:r>
            <a:r>
              <a:rPr lang="ko-KR" altLang="en-US" sz="1600" dirty="0" err="1"/>
              <a:t>합성메탄을</a:t>
            </a:r>
            <a:r>
              <a:rPr lang="ko-KR" altLang="en-US" sz="1600" dirty="0"/>
              <a:t> 기존 천연가스와 혼합하여 활용하는 방식은 전통적 가스 시스템을 유지하면서도 탄소중립에 부합하는 새로운 방향으로 평가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이러한 전략을 염두에 두고 기존 천연가스 네트워크를 향후 수소 인프라로 전환할 수 있도록 설계하고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기존 자산의 활용도를 높이고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투자리스클</a:t>
            </a:r>
            <a:r>
              <a:rPr lang="ko-KR" altLang="en-US" sz="1600" dirty="0"/>
              <a:t> 완화할 수 있는 수단이다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84429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11159</TotalTime>
  <Words>7121</Words>
  <Application>Microsoft Office PowerPoint</Application>
  <PresentationFormat>와이드스크린</PresentationFormat>
  <Paragraphs>742</Paragraphs>
  <Slides>59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6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4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LNG 기술개발을 통한 천연가스 수송혁신</vt:lpstr>
      <vt:lpstr>LNG 기술개발을 통한 천연가스 수송혁신</vt:lpstr>
      <vt:lpstr>LNG 기술개발을 통한 천연가스 수송혁신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소비</vt:lpstr>
      <vt:lpstr>L N G 수입</vt:lpstr>
      <vt:lpstr>L N G 수입</vt:lpstr>
      <vt:lpstr>L N G 수입</vt:lpstr>
      <vt:lpstr>L N G 수출</vt:lpstr>
      <vt:lpstr>L N G 수출</vt:lpstr>
      <vt:lpstr>L N G 수출</vt:lpstr>
      <vt:lpstr>L N G 수출</vt:lpstr>
      <vt:lpstr>L N G 소비</vt:lpstr>
      <vt:lpstr>P N G 수출</vt:lpstr>
      <vt:lpstr>P N G 수출</vt:lpstr>
      <vt:lpstr>P N G 수출</vt:lpstr>
      <vt:lpstr>Section 4. 천연가스 시장구조와 시장지배력</vt:lpstr>
      <vt:lpstr>천연가스 시장의 구조와 시장지배력</vt:lpstr>
      <vt:lpstr>천연가스 시장의 구조와 시장지배력</vt:lpstr>
      <vt:lpstr>천연가스 시장의 구조와 시장지배력</vt:lpstr>
      <vt:lpstr>Section 5. 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Section 6. 천연가스 시장의 가격 결정</vt:lpstr>
      <vt:lpstr>천연가스 가격의 결정 요인들</vt:lpstr>
      <vt:lpstr>천연가스 가격의 결정 요인들</vt:lpstr>
      <vt:lpstr>천연가스 가격의 결정 요인들</vt:lpstr>
      <vt:lpstr>천연가스 가격의 결정 요인들</vt:lpstr>
      <vt:lpstr>지역적 가격 변동</vt:lpstr>
      <vt:lpstr>지역적 가격 변동</vt:lpstr>
      <vt:lpstr>장기계약과 현물시장</vt:lpstr>
      <vt:lpstr>장기계약과 현물시장</vt:lpstr>
      <vt:lpstr>에너지 전환과 천연가스의 미래</vt:lpstr>
      <vt:lpstr>에너지 전환과 천연가스의 미래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388</cp:revision>
  <dcterms:created xsi:type="dcterms:W3CDTF">2025-07-05T05:15:23Z</dcterms:created>
  <dcterms:modified xsi:type="dcterms:W3CDTF">2026-10-04T08:05:36Z</dcterms:modified>
</cp:coreProperties>
</file>