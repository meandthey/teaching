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1"/>
  </p:notesMasterIdLst>
  <p:sldIdLst>
    <p:sldId id="375" r:id="rId2"/>
    <p:sldId id="405" r:id="rId3"/>
    <p:sldId id="550" r:id="rId4"/>
    <p:sldId id="376" r:id="rId5"/>
    <p:sldId id="637" r:id="rId6"/>
    <p:sldId id="638" r:id="rId7"/>
    <p:sldId id="639" r:id="rId8"/>
    <p:sldId id="640" r:id="rId9"/>
    <p:sldId id="641" r:id="rId10"/>
    <p:sldId id="642" r:id="rId11"/>
    <p:sldId id="643" r:id="rId12"/>
    <p:sldId id="644" r:id="rId13"/>
    <p:sldId id="645" r:id="rId14"/>
    <p:sldId id="646" r:id="rId15"/>
    <p:sldId id="647" r:id="rId16"/>
    <p:sldId id="648" r:id="rId17"/>
    <p:sldId id="690" r:id="rId18"/>
    <p:sldId id="691" r:id="rId19"/>
    <p:sldId id="692" r:id="rId20"/>
    <p:sldId id="650" r:id="rId21"/>
    <p:sldId id="653" r:id="rId22"/>
    <p:sldId id="651" r:id="rId23"/>
    <p:sldId id="654" r:id="rId24"/>
    <p:sldId id="652" r:id="rId25"/>
    <p:sldId id="655" r:id="rId26"/>
    <p:sldId id="656" r:id="rId27"/>
    <p:sldId id="657" r:id="rId28"/>
    <p:sldId id="658" r:id="rId29"/>
    <p:sldId id="659" r:id="rId30"/>
    <p:sldId id="660" r:id="rId31"/>
    <p:sldId id="661" r:id="rId32"/>
    <p:sldId id="662" r:id="rId33"/>
    <p:sldId id="663" r:id="rId34"/>
    <p:sldId id="664" r:id="rId35"/>
    <p:sldId id="665" r:id="rId36"/>
    <p:sldId id="666" r:id="rId37"/>
    <p:sldId id="667" r:id="rId38"/>
    <p:sldId id="668" r:id="rId39"/>
    <p:sldId id="676" r:id="rId40"/>
    <p:sldId id="669" r:id="rId41"/>
    <p:sldId id="670" r:id="rId42"/>
    <p:sldId id="671" r:id="rId43"/>
    <p:sldId id="677" r:id="rId44"/>
    <p:sldId id="672" r:id="rId45"/>
    <p:sldId id="673" r:id="rId46"/>
    <p:sldId id="674" r:id="rId47"/>
    <p:sldId id="675" r:id="rId48"/>
    <p:sldId id="678" r:id="rId49"/>
    <p:sldId id="679" r:id="rId50"/>
    <p:sldId id="680" r:id="rId51"/>
    <p:sldId id="681" r:id="rId52"/>
    <p:sldId id="682" r:id="rId53"/>
    <p:sldId id="683" r:id="rId54"/>
    <p:sldId id="684" r:id="rId55"/>
    <p:sldId id="685" r:id="rId56"/>
    <p:sldId id="686" r:id="rId57"/>
    <p:sldId id="687" r:id="rId58"/>
    <p:sldId id="688" r:id="rId59"/>
    <p:sldId id="598" r:id="rId6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152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BA439-0FFE-7713-8D69-E0856B047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D507AA-8F1F-0065-8896-A02CAF515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18B5BAA-9AF9-E5C5-777A-F1A96710C9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5B38E-CCAB-59F4-2265-14C0CE39A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0882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3B71A-E805-510D-7EB3-0E745A11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2A8B1-7D6F-A0F2-BE33-4E4DFA492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9F92C-E302-2E74-0A6A-E643E83FAE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C7F319-BA98-5F65-783B-3CB72AA43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71831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2083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천연가스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주로 메탄</a:t>
            </a:r>
            <a:r>
              <a:rPr lang="en-US" altLang="ko-KR" sz="1600" dirty="0"/>
              <a:t>(CH</a:t>
            </a:r>
            <a:r>
              <a:rPr lang="en-US" altLang="ko-KR" sz="1600" baseline="-25000" dirty="0"/>
              <a:t>4</a:t>
            </a:r>
            <a:r>
              <a:rPr lang="en-US" altLang="ko-KR" sz="1600" dirty="0"/>
              <a:t>)</a:t>
            </a:r>
            <a:r>
              <a:rPr lang="ko-KR" altLang="en-US" sz="1600" dirty="0"/>
              <a:t>으로 구성되어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다른 연료</a:t>
            </a:r>
            <a:r>
              <a:rPr lang="en-US" altLang="ko-KR" sz="1600" dirty="0"/>
              <a:t>(</a:t>
            </a:r>
            <a:r>
              <a:rPr lang="ko-KR" altLang="en-US" sz="1600" dirty="0"/>
              <a:t>석탄 및 석유</a:t>
            </a:r>
            <a:r>
              <a:rPr lang="en-US" altLang="ko-KR" sz="1600" dirty="0"/>
              <a:t>)</a:t>
            </a:r>
            <a:r>
              <a:rPr lang="ko-KR" altLang="en-US" sz="1600" dirty="0"/>
              <a:t>에 비해 연소할 때 배출되는 오염물질이 적어</a:t>
            </a:r>
            <a:r>
              <a:rPr lang="en-US" altLang="ko-KR" sz="1600" dirty="0"/>
              <a:t>, </a:t>
            </a:r>
            <a:r>
              <a:rPr lang="ko-KR" altLang="en-US" sz="1600" dirty="0"/>
              <a:t>화석연료 중에서는 가장 청정한 연료로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</a:t>
            </a:r>
            <a:r>
              <a:rPr lang="en-US" altLang="ko-KR" sz="1600" dirty="0"/>
              <a:t> </a:t>
            </a:r>
            <a:r>
              <a:rPr lang="ko-KR" altLang="en-US" sz="1600" dirty="0"/>
              <a:t>기후변화 대응과 에너지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교량 연료</a:t>
            </a:r>
            <a:r>
              <a:rPr lang="en-US" altLang="ko-KR" sz="1600" dirty="0"/>
              <a:t>‘</a:t>
            </a:r>
            <a:r>
              <a:rPr lang="ko-KR" altLang="en-US" sz="1600" dirty="0"/>
              <a:t>로 주목받고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재생에너지의 간헐성을 보완하는 유연한 발전원으로 활용 가능하다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인류의 천연가스 이용은 고대까지 거슬러 올라가며</a:t>
            </a:r>
            <a:r>
              <a:rPr lang="en-US" altLang="ko-KR" sz="1600" dirty="0"/>
              <a:t>, </a:t>
            </a:r>
            <a:r>
              <a:rPr lang="ko-KR" altLang="en-US" sz="1600" dirty="0"/>
              <a:t>상징적</a:t>
            </a:r>
            <a:r>
              <a:rPr lang="en-US" altLang="ko-KR" sz="1600" dirty="0"/>
              <a:t>·</a:t>
            </a:r>
            <a:r>
              <a:rPr lang="ko-KR" altLang="en-US" sz="1600" dirty="0"/>
              <a:t>제의적 의미에 머무르고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본격적으로 활용되지는 않았다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기원전 </a:t>
            </a:r>
            <a:r>
              <a:rPr lang="en-US" altLang="ko-KR" sz="1600" dirty="0"/>
              <a:t>1,000</a:t>
            </a:r>
            <a:r>
              <a:rPr lang="ko-KR" altLang="en-US" sz="1600" dirty="0" err="1"/>
              <a:t>년경</a:t>
            </a:r>
            <a:r>
              <a:rPr lang="ko-KR" altLang="en-US" sz="1600" dirty="0"/>
              <a:t> 중국에서는 대나무 파이프를 사용하여 천연가스를 지표로부터 추출하였다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그리스 및 페르시아에서도 천연가스의 자연 누출로 발생하는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영원한 불</a:t>
            </a:r>
            <a:r>
              <a:rPr lang="en-US" altLang="ko-KR" sz="1600" dirty="0"/>
              <a:t>‘</a:t>
            </a:r>
            <a:r>
              <a:rPr lang="ko-KR" altLang="en-US" sz="1600" dirty="0"/>
              <a:t>은 신성한 존재로 인식되며 종교적 의례에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들어 산업화에 따라 천연가스의 상업적 활용이 시작되었다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1821</a:t>
            </a:r>
            <a:r>
              <a:rPr lang="ko-KR" altLang="en-US" sz="1600" dirty="0"/>
              <a:t>년 미국 뉴욕주에서 세계 최초의 천연가스 우물이 </a:t>
            </a:r>
            <a:r>
              <a:rPr lang="ko-KR" altLang="en-US" sz="1600" dirty="0" err="1"/>
              <a:t>시추되었다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1850</a:t>
            </a:r>
            <a:r>
              <a:rPr lang="ko-KR" altLang="en-US" sz="1600" dirty="0"/>
              <a:t>년대 중반부터는 도시의 가로등</a:t>
            </a:r>
            <a:r>
              <a:rPr lang="en-US" altLang="ko-KR" sz="1600" dirty="0"/>
              <a:t>, </a:t>
            </a:r>
            <a:r>
              <a:rPr lang="ko-KR" altLang="en-US" sz="1600" dirty="0"/>
              <a:t>가정 난방용으로 천연가스가 사용되기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1859</a:t>
            </a:r>
            <a:r>
              <a:rPr lang="ko-KR" altLang="en-US" sz="1600" dirty="0"/>
              <a:t>년 펜실베니아 드레이크 성공은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en-US" altLang="ko-KR" sz="1600" dirty="0"/>
              <a:t> </a:t>
            </a:r>
            <a:r>
              <a:rPr lang="ko-KR" altLang="en-US" sz="1600" dirty="0"/>
              <a:t>참고</a:t>
            </a:r>
            <a:r>
              <a:rPr lang="en-US" altLang="ko-KR" sz="1600" dirty="0"/>
              <a:t>)</a:t>
            </a:r>
            <a:r>
              <a:rPr lang="ko-KR" altLang="en-US" sz="1600" dirty="0"/>
              <a:t> 석유 뿐만 아니라 천연가스 산업에도 기폭제 역할을 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8849E-C3EC-66C2-D5C9-C59E5D5BC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FAA21E-A0E0-EB01-8A47-F492A782C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55CFF5-1045-A861-0C88-5A1DFAB934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8FFC37-4353-1DB7-17B9-97C4402833E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초반에는 파이프라인 기술의 발전으로</a:t>
            </a:r>
            <a:r>
              <a:rPr lang="en-US" altLang="ko-KR" sz="1600" dirty="0"/>
              <a:t> </a:t>
            </a:r>
            <a:r>
              <a:rPr lang="ko-KR" altLang="en-US" sz="1600" dirty="0"/>
              <a:t>천연가스의 대규모 수송이 가능해지며 산업적 활용이 크게 확대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1920</a:t>
            </a:r>
            <a:r>
              <a:rPr lang="ko-KR" altLang="en-US" sz="1600" dirty="0"/>
              <a:t>년대에는 장거리 천연가스 파이프라인이 건설되기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1927</a:t>
            </a:r>
            <a:r>
              <a:rPr lang="ko-KR" altLang="en-US" sz="1600" dirty="0"/>
              <a:t>년에는 인디애나주와 시카고를 잇는 미국 최초의 장거리 파이프라인이 가동되었다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1950~1960</a:t>
            </a:r>
            <a:r>
              <a:rPr lang="ko-KR" altLang="en-US" sz="1600" dirty="0"/>
              <a:t>년대는 천연가스 산업의 황금기이며</a:t>
            </a:r>
            <a:r>
              <a:rPr lang="en-US" altLang="ko-KR" sz="1600" dirty="0"/>
              <a:t>, </a:t>
            </a:r>
            <a:r>
              <a:rPr lang="ko-KR" altLang="en-US" sz="1600" dirty="0"/>
              <a:t>가정용과 산업용 에너지원으로서 수요가 폭발적인 증가를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생산부문에서는 석탄과 함께 주요 기저발전원으로 자리 잡았고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청정성과 연소 효율성으로 도시지역의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개선에도 기여하였다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시기에 미국과 구소련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지역에서는 대규모 가스전이 연이어 발견되었고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향후 글로벌 천연가스 공급의 기반이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1980</a:t>
            </a:r>
            <a:r>
              <a:rPr lang="ko-KR" altLang="en-US" sz="1600" dirty="0"/>
              <a:t>년</a:t>
            </a:r>
            <a:r>
              <a:rPr lang="en-US" altLang="ko-KR" sz="1600" dirty="0"/>
              <a:t>~1990</a:t>
            </a:r>
            <a:r>
              <a:rPr lang="ko-KR" altLang="en-US" sz="1600" dirty="0"/>
              <a:t>년대는 천연가스의 국제무역이 본격화된 시기로 액화천연가스 기술의 발달이 중요한 전환점이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</a:t>
            </a:r>
            <a:r>
              <a:rPr lang="en-US" altLang="ko-KR" sz="1600" dirty="0"/>
              <a:t>(LNG; Liquified Natural Gas) </a:t>
            </a:r>
            <a:r>
              <a:rPr lang="ko-KR" altLang="en-US" sz="1600" dirty="0"/>
              <a:t>기술은 가스를 영하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냉각하여 </a:t>
            </a:r>
            <a:r>
              <a:rPr lang="ko-KR" altLang="en-US" sz="1600" dirty="0" err="1"/>
              <a:t>액화한</a:t>
            </a:r>
            <a:r>
              <a:rPr lang="ko-KR" altLang="en-US" sz="1600" dirty="0"/>
              <a:t> 뒤 해상으로 수송하는 방식을 가능케 하여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파이프라인으로 공급하지 못하는 지역에도 천연가스를 공급할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1964</a:t>
            </a:r>
            <a:r>
              <a:rPr lang="ko-KR" altLang="en-US" sz="1600" dirty="0"/>
              <a:t>년 알제리에서 영국으로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수출이 최초로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해상수송은 세계 천연가스시장에서 중요한 운송수단으로 자리잡았다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13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F2B2B-B0DB-E70D-D7BF-B2362ECCF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501D95-006F-48DC-EDE1-699FE507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78A500-8ECC-79BD-D5CA-30B816254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D0CFB-4544-09EF-CC37-A77EF95709A1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천연가스 산업은 새로운 혁신기의 전기를 맞이하였다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미국의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혁명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석유챕터</a:t>
            </a:r>
            <a:r>
              <a:rPr lang="ko-KR" altLang="en-US" sz="1600" dirty="0"/>
              <a:t> 참고</a:t>
            </a:r>
            <a:r>
              <a:rPr lang="en-US" altLang="ko-KR" sz="1600" dirty="0"/>
              <a:t>)</a:t>
            </a:r>
            <a:r>
              <a:rPr lang="ko-KR" altLang="en-US" sz="1600" dirty="0"/>
              <a:t>은 천연가스 공급 구조에 지대한 변화를 초래하였다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세계 최대의 천연가스 생산국으로 부상하고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시장의 공급 안정성이 향상되었다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 기후변화와 지속가능한 발전에 대한 국제적 요구가 확대되면서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석탄과 석유를 대체할 수 있는 과도기적 청정연료로서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재생에너지와 결합하여 전력 시스템의 안정성과 유연성을 제고할 수 있다는 점에서 역할이 부각된다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4184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0776-739F-0A2B-384D-A70C754F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69E3FF2-2862-6F62-2428-A3A8CCB3A61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13874A-2BEF-9F5C-B644-7D3646AC6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E70DC7B-A6D8-53A3-E781-B2BCE7EE2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천연가스의 특징과 분류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112840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02EB0-5CB1-B555-AB86-A138BF68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A8B283-1EC8-C4C3-5920-62AD905D5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5A3AEF-46D5-1437-2A73-9EC69D80A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2ECAFF-AFC4-BC14-A49C-87CA10D6F926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높은 열효율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환경오염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유연성 등 여러가지 측면에서 장점을 지니고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우선 천연가스는 고효율 연료로서 복합화력발전소</a:t>
            </a:r>
            <a:r>
              <a:rPr lang="en-US" altLang="ko-KR" sz="1600" dirty="0"/>
              <a:t>(Combined Cycle Gas Turbine, CCGT)</a:t>
            </a:r>
            <a:r>
              <a:rPr lang="ko-KR" altLang="en-US" sz="1600" dirty="0"/>
              <a:t>에서 활용될 경우 최대 </a:t>
            </a:r>
            <a:r>
              <a:rPr lang="en-US" altLang="ko-KR" sz="1600" dirty="0"/>
              <a:t>60% </a:t>
            </a:r>
            <a:r>
              <a:rPr lang="ko-KR" altLang="en-US" sz="1600" dirty="0"/>
              <a:t>이상의 열효율을 달성할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석탄화력발전소의 경우 평균 효율이 </a:t>
            </a:r>
            <a:r>
              <a:rPr lang="en-US" altLang="ko-KR" sz="1600" dirty="0"/>
              <a:t>35%~45%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동일한 전력을 생산하기 위해 필요한 연료가 줄어들기 때문에 에너지 비용절감효과가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복합화력발전은 가스터빈의 배기열을 다시 이용해 증기터빈을 돌리는 구조이기 때문에 열 손실이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효율 향상을 통해 연료비와 탄소배출량 까지 감소시킬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환경측면에서도 다른 화석연료에 비해 우수한 성능을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연소시</a:t>
            </a:r>
            <a:r>
              <a:rPr lang="ko-KR" altLang="en-US" sz="1600" dirty="0"/>
              <a:t> 이산화탄소</a:t>
            </a:r>
            <a:r>
              <a:rPr lang="en-US" altLang="ko-KR" sz="1600" dirty="0"/>
              <a:t>(CO</a:t>
            </a:r>
            <a:r>
              <a:rPr lang="en-US" altLang="ko-KR" sz="1600" baseline="-25000" dirty="0"/>
              <a:t>2</a:t>
            </a:r>
            <a:r>
              <a:rPr lang="en-US" altLang="ko-KR" sz="1600" dirty="0"/>
              <a:t>) </a:t>
            </a:r>
            <a:r>
              <a:rPr lang="ko-KR" altLang="en-US" sz="1600" dirty="0"/>
              <a:t>배출량은 석탄 대비 </a:t>
            </a:r>
            <a:r>
              <a:rPr lang="en-US" altLang="ko-KR" sz="1600" dirty="0"/>
              <a:t>50%, </a:t>
            </a:r>
            <a:r>
              <a:rPr lang="ko-KR" altLang="en-US" sz="1600" dirty="0"/>
              <a:t>석유 대비 </a:t>
            </a:r>
            <a:r>
              <a:rPr lang="en-US" altLang="ko-KR" sz="1600" dirty="0"/>
              <a:t>25% </a:t>
            </a:r>
            <a:r>
              <a:rPr lang="ko-KR" altLang="en-US" sz="1600" dirty="0"/>
              <a:t>낮으며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등의 유해 대기오염물질 배출 수준도 현저히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저탄소 에너지 체제로의 전환 과정에서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과도기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역할을 할 수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8A3F3A-62FB-C30F-0F3F-8AA269FED5F8}"/>
              </a:ext>
            </a:extLst>
          </p:cNvPr>
          <p:cNvSpPr txBox="1"/>
          <p:nvPr/>
        </p:nvSpPr>
        <p:spPr>
          <a:xfrm>
            <a:off x="7020059" y="3623187"/>
            <a:ext cx="3905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https://youtu.be/hWYle2IeInE?si=SKTF1iGELLehr8lD</a:t>
            </a:r>
          </a:p>
        </p:txBody>
      </p:sp>
    </p:spTree>
    <p:extLst>
      <p:ext uri="{BB962C8B-B14F-4D97-AF65-F5344CB8AC3E}">
        <p14:creationId xmlns:p14="http://schemas.microsoft.com/office/powerpoint/2010/main" val="13519779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92EEC-3A59-045A-7E30-4FA433CED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EE0EC1-C074-1DA9-03B0-6D0AD02D7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064F8E-B0AE-7971-B0EC-A8EEBE62F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F73D8C-5E61-85AB-3138-40216A272CC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물리적 상태 변화에도 강점을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기체 상태의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도까지 냉각하면 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전환 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과정에서 부피는 약 </a:t>
            </a:r>
            <a:r>
              <a:rPr lang="en-US" altLang="ko-KR" sz="1600" dirty="0"/>
              <a:t>1/600 </a:t>
            </a:r>
            <a:r>
              <a:rPr lang="ko-KR" altLang="en-US" sz="1600" dirty="0"/>
              <a:t>수준으로 감소한다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천연가스를 장거리</a:t>
            </a:r>
            <a:r>
              <a:rPr lang="en-US" altLang="ko-KR" sz="1600" dirty="0"/>
              <a:t>, </a:t>
            </a:r>
            <a:r>
              <a:rPr lang="ko-KR" altLang="en-US" sz="1600" dirty="0"/>
              <a:t>대륙간 수송에 적합한 형태로 만들어준다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파이프라인이 구축되지 않은 지역에도 상업적 거래를 가능하게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 재기화에 이르는 </a:t>
            </a:r>
            <a:r>
              <a:rPr lang="en-US" altLang="ko-KR" sz="1600" dirty="0"/>
              <a:t>LNG </a:t>
            </a:r>
            <a:r>
              <a:rPr lang="ko-KR" altLang="en-US" sz="1600" dirty="0"/>
              <a:t>공급망은 고도의 기술력과 투자비용을 요구하고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안전을 위한 인프라 구축이 필수적이다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안정성 측면에서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공기보다 가볍기 때문에 누출 시 개방된 공간에서는 빠르게 확산되어 연소 및 폭발 위험이 낮아지는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밀폐된 공간에서는 가스가 축적되어 폭발 위험이 커질 수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</a:t>
            </a:r>
            <a:r>
              <a:rPr lang="ko-KR" altLang="en-US" sz="1600" dirty="0" err="1"/>
              <a:t>무색무취의</a:t>
            </a:r>
            <a:r>
              <a:rPr lang="ko-KR" altLang="en-US" sz="1600" dirty="0"/>
              <a:t> 성질을 갖고 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누출감지를 위해 </a:t>
            </a:r>
            <a:r>
              <a:rPr lang="ko-KR" altLang="en-US" sz="1600" dirty="0" err="1"/>
              <a:t>부취제를</a:t>
            </a:r>
            <a:r>
              <a:rPr lang="ko-KR" altLang="en-US" sz="1600" dirty="0"/>
              <a:t> 첨가하여 안정성 확보가 필요하다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지리적 측면에서 천연가스는 석유보다 더 넓은 지역에 매장되어 있어 공급 다변화에 유리하다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지리적 분산은 특정지역의 리스크가 전체 공급망에 미치는 영향을 완화해준다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4966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D9F-AAAD-760D-EF0B-8BD4AC4F5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C33BEE-078B-4361-9BD5-5D936483F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9D5676-6B81-6F34-54AC-0DF9537A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BC1728-7097-8C75-FBEB-37824717168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주로 메탄으로 구성된 천연가스는 화학적 조성과 물리적 성질에 따라 다양한 방식으로 분류할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과학적인 구분을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 방식</a:t>
            </a:r>
            <a:r>
              <a:rPr lang="en-US" altLang="ko-KR" sz="1600" dirty="0"/>
              <a:t>, </a:t>
            </a:r>
            <a:r>
              <a:rPr lang="ko-KR" altLang="en-US" sz="1600" dirty="0"/>
              <a:t>정제 과정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최종 수요시장의 선택 등 가치사슬 전반에 걸쳐 천연가스의 경제적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특성과 활용 방식을 결정짓는 중요한 기준으로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일반적인 분류는 메탄의 순도와 고급 탄화수소 성분의 포함 여부에 따른 드라이</a:t>
            </a:r>
            <a:r>
              <a:rPr lang="en-US" altLang="ko-KR" sz="1600" dirty="0"/>
              <a:t>(dry)</a:t>
            </a:r>
            <a:r>
              <a:rPr lang="ko-KR" altLang="en-US" sz="1600" dirty="0"/>
              <a:t> 가스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웻</a:t>
            </a:r>
            <a:r>
              <a:rPr lang="en-US" altLang="ko-KR" sz="1600" dirty="0"/>
              <a:t>(wet)</a:t>
            </a:r>
            <a:r>
              <a:rPr lang="ko-KR" altLang="en-US" sz="1600" dirty="0"/>
              <a:t> 가스 의 구분이다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메탄 비중이 약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기타 탄화수소 성분이 거의 포함되어 있지 않아 정제가 단순하고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연료용으로 바로 사용하기에 적합하다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도시가스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발전용 연료 등 직접 연소형 시장에 적합하고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파이프라인을 통한 장거리 수송에도 효율적이다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에탄</a:t>
            </a:r>
            <a:r>
              <a:rPr lang="en-US" altLang="ko-KR" sz="1600" dirty="0"/>
              <a:t>, </a:t>
            </a:r>
            <a:r>
              <a:rPr lang="ko-KR" altLang="en-US" sz="1600" dirty="0"/>
              <a:t>프로판</a:t>
            </a:r>
            <a:r>
              <a:rPr lang="en-US" altLang="ko-KR" sz="1600" dirty="0"/>
              <a:t>, </a:t>
            </a:r>
            <a:r>
              <a:rPr lang="ko-KR" altLang="en-US" sz="1600" dirty="0"/>
              <a:t>부탄 등 중간 탄화수소가 다량 포함되어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성분들을 추출하여 부가가치가 높은 액화석유가스</a:t>
            </a:r>
            <a:r>
              <a:rPr lang="en-US" altLang="ko-KR" sz="1600" dirty="0"/>
              <a:t>(LPG)</a:t>
            </a:r>
            <a:r>
              <a:rPr lang="ko-KR" altLang="en-US" sz="1600" dirty="0"/>
              <a:t>나 석유화학 원료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활용할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가스 처리 공정을 거쳐야 하고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·</a:t>
            </a:r>
            <a:r>
              <a:rPr lang="ko-KR" altLang="en-US" sz="1600" dirty="0"/>
              <a:t>압축</a:t>
            </a:r>
            <a:r>
              <a:rPr lang="en-US" altLang="ko-KR" sz="1600" dirty="0"/>
              <a:t>·</a:t>
            </a:r>
            <a:r>
              <a:rPr lang="ko-KR" altLang="en-US" sz="1600" dirty="0"/>
              <a:t>탈탄소화 설비 등 고가의 인프라를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투자비용과 운송비용이 상대적으로 크다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석유화학 원료</a:t>
            </a:r>
            <a:r>
              <a:rPr lang="en-US" altLang="ko-KR" sz="1600" dirty="0"/>
              <a:t>(NGLs)</a:t>
            </a:r>
            <a:r>
              <a:rPr lang="ko-KR" altLang="en-US" sz="1600" dirty="0"/>
              <a:t>로 쓰면</a:t>
            </a:r>
            <a:r>
              <a:rPr lang="en-US" altLang="ko-KR" sz="1600" dirty="0"/>
              <a:t>, </a:t>
            </a:r>
            <a:r>
              <a:rPr lang="ko-KR" altLang="en-US" sz="1600" dirty="0"/>
              <a:t>그 안의 탄소를 제품을 만드는 재료로 활용한다</a:t>
            </a:r>
            <a:r>
              <a:rPr lang="en-US" altLang="ko-KR" sz="1600" dirty="0"/>
              <a:t>. (</a:t>
            </a:r>
            <a:r>
              <a:rPr lang="ko-KR" altLang="en-US" sz="1600" dirty="0"/>
              <a:t>플라스틱</a:t>
            </a:r>
            <a:r>
              <a:rPr lang="en-US" altLang="ko-KR" sz="1600" dirty="0"/>
              <a:t>, </a:t>
            </a:r>
            <a:r>
              <a:rPr lang="ko-KR" altLang="en-US" sz="1600" dirty="0"/>
              <a:t>합성섬유</a:t>
            </a:r>
            <a:r>
              <a:rPr lang="en-US" altLang="ko-KR" sz="1600" dirty="0"/>
              <a:t>, </a:t>
            </a:r>
            <a:r>
              <a:rPr lang="ko-KR" altLang="en-US" sz="1600" dirty="0"/>
              <a:t>합성고무 등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79828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9A752-6556-46F6-857F-6E9C1A58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1A3A0D-6D0E-4F71-91C8-2D344C3FF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082F75-9B24-846E-DED3-F6DBD15DF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5F7D64-8C6C-6880-87B4-1AD3A56E4675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 다른 분류 방식은 천연가스 내에 포함된 불순물의 함량에 기반한 분류다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</a:t>
            </a:r>
            <a:r>
              <a:rPr lang="en-US" altLang="ko-KR" sz="1600" dirty="0"/>
              <a:t>(sour gas)</a:t>
            </a:r>
            <a:r>
              <a:rPr lang="ko-KR" altLang="en-US" sz="1600" dirty="0"/>
              <a:t>는 황화수소 또는 이산화탄소와 같은 산성 가스를 상당량 포함하고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인체에 유해하고</a:t>
            </a:r>
            <a:r>
              <a:rPr lang="en-US" altLang="ko-KR" sz="1600" dirty="0"/>
              <a:t>, </a:t>
            </a:r>
            <a:r>
              <a:rPr lang="ko-KR" altLang="en-US" sz="1600" dirty="0"/>
              <a:t>공정 설비의 부식을 유발하며</a:t>
            </a:r>
            <a:r>
              <a:rPr lang="en-US" altLang="ko-KR" sz="1600" dirty="0"/>
              <a:t>, </a:t>
            </a:r>
            <a:r>
              <a:rPr lang="ko-KR" altLang="en-US" sz="1600" dirty="0"/>
              <a:t>운송과 저장 시 높은 위험성을 수반하므로 </a:t>
            </a:r>
            <a:r>
              <a:rPr lang="ko-KR" altLang="en-US" sz="1600" dirty="0" err="1"/>
              <a:t>스위트닝</a:t>
            </a:r>
            <a:r>
              <a:rPr lang="en-US" altLang="ko-KR" sz="1600" dirty="0"/>
              <a:t>(sweetening) </a:t>
            </a:r>
            <a:r>
              <a:rPr lang="ko-KR" altLang="en-US" sz="1600" dirty="0"/>
              <a:t>공정을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아민 </a:t>
            </a:r>
            <a:r>
              <a:rPr lang="ko-KR" altLang="en-US" sz="1600" dirty="0" err="1"/>
              <a:t>흡수탑</a:t>
            </a:r>
            <a:r>
              <a:rPr lang="en-US" altLang="ko-KR" sz="1600" dirty="0"/>
              <a:t>, </a:t>
            </a:r>
            <a:r>
              <a:rPr lang="ko-KR" altLang="en-US" sz="1600" dirty="0"/>
              <a:t>막 분리 기술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크라이오제닉</a:t>
            </a:r>
            <a:r>
              <a:rPr lang="ko-KR" altLang="en-US" sz="1600" dirty="0"/>
              <a:t> 냉각 등의 정제 기술이 사용되고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인한 처리비용의 상승이 전체 프로젝트의 수익성으로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스위트 가스</a:t>
            </a:r>
            <a:r>
              <a:rPr lang="en-US" altLang="ko-KR" sz="1600" dirty="0"/>
              <a:t>(sweet gas)</a:t>
            </a:r>
            <a:r>
              <a:rPr lang="ko-KR" altLang="en-US" sz="1600" dirty="0"/>
              <a:t>는 황화수소 또는 이산화탄소와 같은 산성 가스를 거의 포함하고 있지 않다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 대비 상대적으로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냄새가 적고 안전하여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처리공정이 간단하다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정제 비용이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탄소배출 측면에서도 유리하여 정책적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선호도가 높다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36458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20D6-836A-4370-E46C-301BB69E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90E1D9-42CC-00CB-BE17-A748399F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23E626-40F4-8266-86B5-8907BC52E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99AD25-10EC-E4FD-80B6-78DED0C0C4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매장 형태에 따른 분류도 천연가스의 특성과 상업적 전략을 이해하는데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(associated gas)</a:t>
            </a:r>
            <a:r>
              <a:rPr lang="ko-KR" altLang="en-US" sz="1600" dirty="0"/>
              <a:t>는 석유와 함께 동일한 지층에 공존하며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원유 생산 과정에서 부산물로 발생하는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과거에는 기술부족</a:t>
            </a:r>
            <a:r>
              <a:rPr lang="en-US" altLang="ko-KR" sz="1600" dirty="0"/>
              <a:t>, </a:t>
            </a:r>
            <a:r>
              <a:rPr lang="ko-KR" altLang="en-US" sz="1600" dirty="0"/>
              <a:t>경제성 미비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수요처</a:t>
            </a:r>
            <a:r>
              <a:rPr lang="ko-KR" altLang="en-US" sz="1600" dirty="0"/>
              <a:t> 부재 등의 이유로 대부분 연소</a:t>
            </a:r>
            <a:r>
              <a:rPr lang="en-US" altLang="ko-KR" sz="1600" dirty="0"/>
              <a:t>(</a:t>
            </a:r>
            <a:r>
              <a:rPr lang="ko-KR" altLang="en-US" sz="1600" dirty="0" err="1"/>
              <a:t>플레어링</a:t>
            </a:r>
            <a:r>
              <a:rPr lang="en-US" altLang="ko-KR" sz="1600" dirty="0"/>
              <a:t>)</a:t>
            </a:r>
            <a:r>
              <a:rPr lang="ko-KR" altLang="en-US" sz="1600" dirty="0"/>
              <a:t>되거나 지하에 </a:t>
            </a:r>
            <a:r>
              <a:rPr lang="ko-KR" altLang="en-US" sz="1600" dirty="0" err="1"/>
              <a:t>재주입되었으나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</a:t>
            </a:r>
            <a:r>
              <a:rPr lang="ko-KR" altLang="en-US" sz="1600" dirty="0" err="1"/>
              <a:t>플레어링</a:t>
            </a:r>
            <a:r>
              <a:rPr lang="ko-KR" altLang="en-US" sz="1600" dirty="0"/>
              <a:t> 금지 정책과 자원 효율성 강화에 따라 회수 및 이용이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넌어소시에이티드</a:t>
            </a:r>
            <a:r>
              <a:rPr lang="ko-KR" altLang="en-US" sz="1600" dirty="0"/>
              <a:t> 가스</a:t>
            </a:r>
            <a:r>
              <a:rPr lang="en-US" altLang="ko-KR" sz="1600" dirty="0"/>
              <a:t>(non-</a:t>
            </a:r>
            <a:r>
              <a:rPr lang="en-US" altLang="ko-KR" sz="1600" dirty="0" err="1"/>
              <a:t>associaged</a:t>
            </a:r>
            <a:r>
              <a:rPr lang="en-US" altLang="ko-KR" sz="1600" dirty="0"/>
              <a:t> gas)</a:t>
            </a:r>
            <a:r>
              <a:rPr lang="ko-KR" altLang="en-US" sz="1600" dirty="0"/>
              <a:t>는 독립적인 가스전에서 생산되며</a:t>
            </a:r>
            <a:r>
              <a:rPr lang="en-US" altLang="ko-KR" sz="1600" dirty="0"/>
              <a:t>, </a:t>
            </a:r>
            <a:r>
              <a:rPr lang="ko-KR" altLang="en-US" sz="1600" dirty="0"/>
              <a:t>가스를 주요 자원으로 상정한 개발 프로젝트에서 생산된 가스를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상대적으로 품질이 균일하고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생산 계획 및 가격 책정이 독립적으로 가능하기 때문에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도시가스 공급 등 고부가가치 시장을 겨냥한 전략적 활용에 용이하다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3238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BD2A0-210C-8C30-A32E-11C168CB6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5166C-F5D0-3F70-CC35-370E1EAA3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천연가스의 분류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223AFF-BA3A-3CA0-4772-3022A4E3E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D64481-DC0F-FEEF-7D2B-B28B0E048A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분류는 기술적 차원을 넘어 가치사슬 전반에 걸쳐 실질적인 경제성과 환경성에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드라이 가스는 파이프라인 인프라와 결합되어 에너지 효율성이 높은 공급망 구축에 적합하다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웻</a:t>
            </a:r>
            <a:r>
              <a:rPr lang="ko-KR" altLang="en-US" sz="1600" dirty="0"/>
              <a:t> 가스는 분리 및 처리 과정을 통해 석유화학 산업과의 연계를 강화할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사워</a:t>
            </a:r>
            <a:r>
              <a:rPr lang="ko-KR" altLang="en-US" sz="1600" dirty="0"/>
              <a:t> 가스는 공정 설계와 환경규제 대응에서 높은 수준의 기술력과 자본을 요구하므로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투자 타당성 분석에서 핵심 변수로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어소시에이티드</a:t>
            </a:r>
            <a:r>
              <a:rPr lang="ko-KR" altLang="en-US" sz="1600" dirty="0"/>
              <a:t> 가스는 석유 가격과 생산량에 따라 동반 변동성이 존재하므로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수급 안정성을 위해 별도의 저장 및 활용 전략이 필요하다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105891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078E1-38F3-55A7-E509-C500B0C6A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61D847-DA49-3607-B892-317A203E1D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5BF416-6C1F-7203-FA06-75ECAB800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50EC15-8F69-5D17-0339-448E3842648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천연가스의 공급사슬은 탐사에서 최종 소비자에게 이르는 전 과정을 포함하는 복합적이고 </a:t>
            </a:r>
            <a:r>
              <a:rPr lang="ko-KR" altLang="en-US" sz="1600" dirty="0" err="1"/>
              <a:t>다단계적인</a:t>
            </a:r>
            <a:r>
              <a:rPr lang="ko-KR" altLang="en-US" sz="1600" dirty="0"/>
              <a:t> 구조를 형성하고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각 단계는 상이한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자본</a:t>
            </a:r>
            <a:r>
              <a:rPr lang="en-US" altLang="ko-KR" sz="1600" dirty="0"/>
              <a:t>, </a:t>
            </a:r>
            <a:r>
              <a:rPr lang="ko-KR" altLang="en-US" sz="1600" dirty="0"/>
              <a:t>정책 환경 속에서 운영된다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공급사슬의 출발점은 탐사 및 생산 단계이다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지질학적 모델</a:t>
            </a:r>
            <a:r>
              <a:rPr lang="en-US" altLang="ko-KR" sz="1600" dirty="0"/>
              <a:t>, </a:t>
            </a:r>
            <a:r>
              <a:rPr lang="ko-KR" altLang="en-US" sz="1600" dirty="0"/>
              <a:t>지진파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중력 및 자기탐사 등의 기술을 활용하여 지하에 매장된 천연가스 자원을 탐색한다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단계는 </a:t>
            </a:r>
            <a:r>
              <a:rPr lang="ko-KR" altLang="en-US" sz="1600" dirty="0" err="1"/>
              <a:t>자본집약적이고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지질학적 불확실성이 높아 고위험</a:t>
            </a:r>
            <a:r>
              <a:rPr lang="en-US" altLang="ko-KR" sz="1600" dirty="0"/>
              <a:t>-</a:t>
            </a:r>
            <a:r>
              <a:rPr lang="ko-KR" altLang="en-US" sz="1600" dirty="0"/>
              <a:t>고수익 성격을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자원 개발 가능성을 평가하기 위한 탐사 확률 분석</a:t>
            </a:r>
            <a:r>
              <a:rPr lang="en-US" altLang="ko-KR" sz="1600" dirty="0"/>
              <a:t>, </a:t>
            </a:r>
            <a:r>
              <a:rPr lang="ko-KR" altLang="en-US" sz="1600" dirty="0"/>
              <a:t>내부수익률 시뮬레이션</a:t>
            </a:r>
            <a:r>
              <a:rPr lang="en-US" altLang="ko-KR" sz="1600" dirty="0"/>
              <a:t>, </a:t>
            </a:r>
            <a:r>
              <a:rPr lang="ko-KR" altLang="en-US" sz="1600" dirty="0"/>
              <a:t>손익분기 가격 분석 등이 병행된다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시추기술의 발달은 특히 </a:t>
            </a:r>
            <a:r>
              <a:rPr lang="ko-KR" altLang="en-US" sz="1600" dirty="0" err="1"/>
              <a:t>비전통</a:t>
            </a:r>
            <a:r>
              <a:rPr lang="ko-KR" altLang="en-US" sz="1600" dirty="0"/>
              <a:t> 천연가스 자원 개발의 전환점을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수평시추와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기술은 </a:t>
            </a:r>
            <a:r>
              <a:rPr lang="ko-KR" altLang="en-US" sz="1600" dirty="0" err="1"/>
              <a:t>셰일가스나</a:t>
            </a:r>
            <a:r>
              <a:rPr lang="ko-KR" altLang="en-US" sz="1600" dirty="0"/>
              <a:t> 타이트가스 자원의 상업적 생산을 가능하게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 진보를 통해 전통적 가스 수출국의 시장지배력 약화</a:t>
            </a:r>
            <a:r>
              <a:rPr lang="en-US" altLang="ko-KR" sz="1600" dirty="0"/>
              <a:t>, </a:t>
            </a:r>
            <a:r>
              <a:rPr lang="ko-KR" altLang="en-US" sz="1600" dirty="0"/>
              <a:t>북미 지역의 에너지 자립도 향상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시장의 유동성 증가라는 구조적 변화를 이끌었다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410442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31F9-6AB7-24BF-A4DA-EF98BD65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AC5C3-979E-72AF-328B-5F9B1E2D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E49A2-B0BF-5230-840C-7FFEA878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A153C6-9096-9531-152C-061846938BE5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생산된 원가스는 메탄 외에도 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황화수소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</a:t>
            </a:r>
            <a:r>
              <a:rPr lang="en-US" altLang="ko-KR" sz="1600" dirty="0"/>
              <a:t>, </a:t>
            </a:r>
            <a:r>
              <a:rPr lang="ko-KR" altLang="en-US" sz="1600" dirty="0"/>
              <a:t>액화석유가스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</a:t>
            </a:r>
            <a:r>
              <a:rPr lang="ko-KR" altLang="en-US" sz="1600" dirty="0" err="1"/>
              <a:t>액체류</a:t>
            </a:r>
            <a:r>
              <a:rPr lang="ko-KR" altLang="en-US" sz="1600" dirty="0"/>
              <a:t> 등 다양한 불순물을 포함하고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가공 및 정제 처리 단계를 통해 </a:t>
            </a:r>
            <a:r>
              <a:rPr lang="en-US" altLang="ko-KR" sz="1600" dirty="0"/>
              <a:t>‘</a:t>
            </a:r>
            <a:r>
              <a:rPr lang="ko-KR" altLang="en-US" sz="1600" dirty="0"/>
              <a:t>스위트 가스</a:t>
            </a:r>
            <a:r>
              <a:rPr lang="en-US" altLang="ko-KR" sz="1600" dirty="0"/>
              <a:t>’</a:t>
            </a:r>
            <a:r>
              <a:rPr lang="ko-KR" altLang="en-US" sz="1600" dirty="0"/>
              <a:t>로 전환된다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과정에는 산성가스 제거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제거</a:t>
            </a:r>
            <a:r>
              <a:rPr lang="en-US" altLang="ko-KR" sz="1600" dirty="0"/>
              <a:t>, NGL </a:t>
            </a:r>
            <a:r>
              <a:rPr lang="ko-KR" altLang="en-US" sz="1600" dirty="0"/>
              <a:t>분리 등의 공정이 포함되며 최종적으로는 수송 가능한 사양의 고순도 메탄 가스를 확보하게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가공단계는 환경 규제와 연결되어 있을 뿐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제품 다양화 및 부가가치 창출의 기초가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정제된 가스는 수송단계로 넘어가며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일반적인 방식은 파이프라인을 통한 육상 수송이다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대륙간 수송이 어려운 경우에는 천연가스를 </a:t>
            </a:r>
            <a:r>
              <a:rPr lang="en-US" altLang="ko-KR" sz="1600" dirty="0"/>
              <a:t>-162℃</a:t>
            </a:r>
            <a:r>
              <a:rPr lang="ko-KR" altLang="en-US" sz="1600" dirty="0"/>
              <a:t>로</a:t>
            </a:r>
            <a:r>
              <a:rPr lang="en-US" altLang="ko-KR" sz="1600" dirty="0"/>
              <a:t> </a:t>
            </a:r>
            <a:r>
              <a:rPr lang="ko-KR" altLang="en-US" sz="1600" dirty="0"/>
              <a:t>냉각시켜 액화</a:t>
            </a:r>
            <a:r>
              <a:rPr lang="en-US" altLang="ko-KR" sz="1600" dirty="0"/>
              <a:t> </a:t>
            </a:r>
            <a:r>
              <a:rPr lang="ko-KR" altLang="en-US" sz="1600" dirty="0"/>
              <a:t>형태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로 만들어 특수 선박을 이용해 해상 수송하고</a:t>
            </a:r>
            <a:r>
              <a:rPr lang="en-US" altLang="ko-KR" sz="1600" dirty="0"/>
              <a:t>,</a:t>
            </a:r>
            <a:r>
              <a:rPr lang="ko-KR" altLang="en-US" sz="1600" dirty="0"/>
              <a:t> 도착지에는 재기화를 통해 기체 상태로 전환하여 지역 파이프라인망으로 공급된다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 수송은 통상적으로 생산지</a:t>
            </a:r>
            <a:r>
              <a:rPr lang="en-US" altLang="ko-KR" sz="1600" dirty="0"/>
              <a:t>-</a:t>
            </a:r>
            <a:r>
              <a:rPr lang="ko-KR" altLang="en-US" sz="1600" dirty="0"/>
              <a:t>소비지 간의 장기계약과 함께 구축되며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인프라의 장기적인 고정비 투자와 관련된 자산특화가 높은 특징을 지닌다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는 수출입이 가능한 유연성을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설비투자가 막대하고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정제</a:t>
            </a:r>
            <a:r>
              <a:rPr lang="en-US" altLang="ko-KR" sz="1600" dirty="0"/>
              <a:t>, </a:t>
            </a:r>
            <a:r>
              <a:rPr lang="ko-KR" altLang="en-US" sz="1600" dirty="0"/>
              <a:t>냉각</a:t>
            </a:r>
            <a:r>
              <a:rPr lang="en-US" altLang="ko-KR" sz="1600" dirty="0"/>
              <a:t>, </a:t>
            </a:r>
            <a:r>
              <a:rPr lang="ko-KR" altLang="en-US" sz="1600" dirty="0"/>
              <a:t>저장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재기화 등 다단계 인프라가 필요하다는 점에서 비용 부담이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74002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CFD0D-559E-9216-20DF-251B46989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307D12-1347-8D58-95C3-6015C3E53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공급사슬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05C442-FC90-AC2A-F123-3CEDA909E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378388-3865-426E-7D9E-E12FC5D97943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공급과 수요의 시간차가 존재하기 때문에 저장설비가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저장소는 일반적으로 지하 </a:t>
            </a:r>
            <a:r>
              <a:rPr lang="ko-KR" altLang="en-US" sz="1600" dirty="0" err="1"/>
              <a:t>염동굴</a:t>
            </a:r>
            <a:r>
              <a:rPr lang="en-US" altLang="ko-KR" sz="1600" dirty="0"/>
              <a:t>, </a:t>
            </a:r>
            <a:r>
              <a:rPr lang="ko-KR" altLang="en-US" sz="1600" dirty="0"/>
              <a:t>고갈된 가스전</a:t>
            </a:r>
            <a:r>
              <a:rPr lang="en-US" altLang="ko-KR" sz="1600" dirty="0"/>
              <a:t>, </a:t>
            </a:r>
            <a:r>
              <a:rPr lang="ko-KR" altLang="en-US" sz="1600" dirty="0"/>
              <a:t>수조형 탱크로 구분되며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 변동이 큰 북반구 지역에서는 겨울철 난방 수요 급등에 대비한 계절조절 수단으로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수요 예측 기반의 스마트 저장시스템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가격 변동에 따른 수익 극대화를 위한 전략적 저장 운영이 주목받고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다음 단계는 분배이며</a:t>
            </a:r>
            <a:r>
              <a:rPr lang="en-US" altLang="ko-KR" sz="1600" dirty="0"/>
              <a:t>,</a:t>
            </a:r>
            <a:r>
              <a:rPr lang="ko-KR" altLang="en-US" sz="1600" dirty="0"/>
              <a:t> 이는 고압 송수관에서 저압의 지역 공급망으로 천연가스를 전달하는 과정이다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과정에서는 가정용</a:t>
            </a:r>
            <a:r>
              <a:rPr lang="en-US" altLang="ko-KR" sz="1600" dirty="0"/>
              <a:t>, </a:t>
            </a:r>
            <a:r>
              <a:rPr lang="ko-KR" altLang="en-US" sz="1600" dirty="0"/>
              <a:t>상업용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수요자의 안전성과 편의성을 고려하여 압력 조절</a:t>
            </a:r>
            <a:r>
              <a:rPr lang="en-US" altLang="ko-KR" sz="1600" dirty="0"/>
              <a:t>, </a:t>
            </a:r>
            <a:r>
              <a:rPr lang="ko-KR" altLang="en-US" sz="1600" dirty="0"/>
              <a:t>계량기 설치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보증 등의 절차가 수반된다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주거용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취사</a:t>
            </a:r>
            <a:r>
              <a:rPr lang="en-US" altLang="ko-KR" sz="1600" dirty="0"/>
              <a:t>, </a:t>
            </a:r>
            <a:r>
              <a:rPr lang="ko-KR" altLang="en-US" sz="1600" dirty="0"/>
              <a:t>산업 열원</a:t>
            </a:r>
            <a:r>
              <a:rPr lang="en-US" altLang="ko-KR" sz="1600" dirty="0"/>
              <a:t>, </a:t>
            </a:r>
            <a:r>
              <a:rPr lang="ko-KR" altLang="en-US" sz="1600" dirty="0"/>
              <a:t>전력 발전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 원료로 다양하게 쓰이고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교통용 연료로도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액화천연가스 </a:t>
            </a:r>
            <a:r>
              <a:rPr lang="en-US" altLang="ko-KR" sz="1600" dirty="0"/>
              <a:t>(LNG, Liquified Natural Gas)</a:t>
            </a:r>
            <a:r>
              <a:rPr lang="ko-KR" altLang="en-US" sz="1600" dirty="0"/>
              <a:t>는 트럭</a:t>
            </a:r>
            <a:r>
              <a:rPr lang="en-US" altLang="ko-KR" sz="1600" dirty="0"/>
              <a:t>, </a:t>
            </a:r>
            <a:r>
              <a:rPr lang="ko-KR" altLang="en-US" sz="1600" dirty="0"/>
              <a:t>선박</a:t>
            </a:r>
            <a:r>
              <a:rPr lang="en-US" altLang="ko-KR" sz="1600" dirty="0"/>
              <a:t>, </a:t>
            </a:r>
            <a:r>
              <a:rPr lang="ko-KR" altLang="en-US" sz="1600" dirty="0"/>
              <a:t>철도 등 장거리</a:t>
            </a:r>
            <a:r>
              <a:rPr lang="en-US" altLang="ko-KR" sz="1600" dirty="0"/>
              <a:t>·</a:t>
            </a:r>
            <a:r>
              <a:rPr lang="ko-KR" altLang="en-US" sz="1600" dirty="0"/>
              <a:t>대형 운송수단에 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압축천연가스 </a:t>
            </a:r>
            <a:r>
              <a:rPr lang="en-US" altLang="ko-KR" sz="1600" dirty="0"/>
              <a:t>(CNG, Compressed Natural Gas)</a:t>
            </a:r>
            <a:r>
              <a:rPr lang="ko-KR" altLang="en-US" sz="1600" dirty="0"/>
              <a:t>는 도시버스나 승용차에</a:t>
            </a:r>
            <a:r>
              <a:rPr lang="en-US" altLang="ko-KR" sz="1600" dirty="0"/>
              <a:t> </a:t>
            </a:r>
            <a:r>
              <a:rPr lang="ko-KR" altLang="en-US" sz="1600" dirty="0"/>
              <a:t>쓰인다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배관천연가스</a:t>
            </a:r>
            <a:r>
              <a:rPr lang="en-US" altLang="ko-KR" sz="1600" dirty="0"/>
              <a:t> (PNG, Pipeline Natural Gas)</a:t>
            </a:r>
            <a:r>
              <a:rPr lang="ko-KR" altLang="en-US" sz="1600" dirty="0"/>
              <a:t>는 배관망을 통해 가정</a:t>
            </a:r>
            <a:r>
              <a:rPr lang="en-US" altLang="ko-KR" sz="1600" dirty="0"/>
              <a:t>, </a:t>
            </a:r>
            <a:r>
              <a:rPr lang="ko-KR" altLang="en-US" sz="1600" dirty="0"/>
              <a:t>산업시설</a:t>
            </a:r>
            <a:r>
              <a:rPr lang="en-US" altLang="ko-KR" sz="1600" dirty="0"/>
              <a:t>, </a:t>
            </a:r>
            <a:r>
              <a:rPr lang="ko-KR" altLang="en-US" sz="1600" dirty="0"/>
              <a:t>발전소 등에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62248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C8334-1C75-B7BC-AF2E-8E84261DE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01C85-997B-F12E-8BAF-45A056656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LNG</a:t>
            </a:r>
            <a:r>
              <a:rPr lang="ko-KR" altLang="en-US" dirty="0"/>
              <a:t> 기술개발을 통한 천연가스 수송혁신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343A25-D98B-E12B-CC75-3634BFB69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46A4DD-E0C7-9598-F434-E747727328B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액체 형태인 석유는 유조선을 통해 어디든지 수송할 수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천연가스는 </a:t>
            </a:r>
            <a:r>
              <a:rPr lang="ko-KR" altLang="en-US" sz="1600" dirty="0" err="1"/>
              <a:t>기체상태이므로</a:t>
            </a:r>
            <a:r>
              <a:rPr lang="ko-KR" altLang="en-US" sz="1600" dirty="0"/>
              <a:t> 가스관을 통해서만 수송할 수 있었다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가스전을 발견해도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수요처가 멀어 대규모 가스전이 아니면 경제성이 없어서</a:t>
            </a:r>
            <a:r>
              <a:rPr lang="en-US" altLang="ko-KR" sz="1600" dirty="0"/>
              <a:t>, </a:t>
            </a:r>
            <a:r>
              <a:rPr lang="ko-KR" altLang="en-US" sz="1600" dirty="0"/>
              <a:t>개발을 포기하는 경우가 많았다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그러다 천연가스를 영하 </a:t>
            </a:r>
            <a:r>
              <a:rPr lang="en-US" altLang="ko-KR" sz="1600" dirty="0"/>
              <a:t>162</a:t>
            </a:r>
            <a:r>
              <a:rPr lang="ko-KR" altLang="en-US" sz="1600" dirty="0"/>
              <a:t>도의 아주 낮은 온도에서 </a:t>
            </a:r>
            <a:r>
              <a:rPr lang="ko-KR" altLang="en-US" sz="1600" dirty="0" err="1"/>
              <a:t>액화하는</a:t>
            </a:r>
            <a:r>
              <a:rPr lang="ko-KR" altLang="en-US" sz="1600" dirty="0"/>
              <a:t> </a:t>
            </a:r>
            <a:r>
              <a:rPr lang="en-US" altLang="ko-KR" sz="1600" dirty="0"/>
              <a:t>LNG </a:t>
            </a:r>
            <a:r>
              <a:rPr lang="ko-KR" altLang="en-US" sz="1600" dirty="0"/>
              <a:t>기술이 개발되어 그동안 개발하지 못했던 많은 가스전이 개발되기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1959</a:t>
            </a:r>
            <a:r>
              <a:rPr lang="ko-KR" altLang="en-US" sz="1600" dirty="0"/>
              <a:t>년 </a:t>
            </a:r>
            <a:r>
              <a:rPr lang="en-US" altLang="ko-KR" sz="1600" dirty="0"/>
              <a:t>LNG </a:t>
            </a:r>
            <a:r>
              <a:rPr lang="ko-KR" altLang="en-US" sz="1600" dirty="0"/>
              <a:t>화물을 실은 배가 미국 </a:t>
            </a:r>
            <a:r>
              <a:rPr lang="ko-KR" altLang="en-US" sz="1600" dirty="0" err="1"/>
              <a:t>루이지애나만을</a:t>
            </a:r>
            <a:r>
              <a:rPr lang="ko-KR" altLang="en-US" sz="1600" dirty="0"/>
              <a:t> 떠나 영국으로 항해함으로써 선박을 통한 천연가스를 운송하는 길이 열렸다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선박을 통한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수송이 가능해지면서</a:t>
            </a:r>
            <a:r>
              <a:rPr lang="en-US" altLang="ko-KR" sz="1600" dirty="0"/>
              <a:t>, 1970</a:t>
            </a:r>
            <a:r>
              <a:rPr lang="ko-KR" altLang="en-US" sz="1600" dirty="0"/>
              <a:t>년대부터 천연가스 수요가 점차 늘어나기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095699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23FE-C073-7293-849C-835E51580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20A42-E2FF-6FCF-46E6-1E5E9E93F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LNG</a:t>
            </a:r>
            <a:r>
              <a:rPr lang="ko-KR" altLang="en-US" dirty="0"/>
              <a:t> 기술개발을 통한 천연가스 수송혁신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D215EB-BC08-CDE8-9223-1AA33F6B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709185-8DEF-87E2-06F2-0BB52D7E35CC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2010</a:t>
            </a:r>
            <a:r>
              <a:rPr lang="ko-KR" altLang="en-US" sz="1600" dirty="0"/>
              <a:t>년대 부터는 해상에서 바로 </a:t>
            </a:r>
            <a:r>
              <a:rPr lang="ko-KR" altLang="en-US" sz="1600" dirty="0" err="1"/>
              <a:t>액화하는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</a:t>
            </a:r>
            <a:r>
              <a:rPr lang="en-US" altLang="ko-KR" sz="1600" dirty="0"/>
              <a:t>LNG </a:t>
            </a:r>
            <a:r>
              <a:rPr lang="ko-KR" altLang="en-US" sz="1600" dirty="0"/>
              <a:t>기술이 개발되어</a:t>
            </a:r>
            <a:r>
              <a:rPr lang="en-US" altLang="ko-KR" sz="1600" dirty="0"/>
              <a:t>, </a:t>
            </a:r>
            <a:r>
              <a:rPr lang="ko-KR" altLang="en-US" sz="1600" dirty="0"/>
              <a:t>먼 바다의 가스전에서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를 직접 생산할 수 있게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그동안 </a:t>
            </a:r>
            <a:r>
              <a:rPr lang="en-US" altLang="ko-KR" sz="1600" dirty="0"/>
              <a:t>LNG </a:t>
            </a:r>
            <a:r>
              <a:rPr lang="ko-KR" altLang="en-US" sz="1600" dirty="0"/>
              <a:t>설비를</a:t>
            </a:r>
            <a:r>
              <a:rPr lang="en-US" altLang="ko-KR" sz="1600" dirty="0"/>
              <a:t> </a:t>
            </a:r>
            <a:r>
              <a:rPr lang="ko-KR" altLang="en-US" sz="1600" dirty="0"/>
              <a:t>육지에서만 할 수 있었으므로</a:t>
            </a:r>
            <a:r>
              <a:rPr lang="en-US" altLang="ko-KR" sz="1600" dirty="0"/>
              <a:t>, </a:t>
            </a:r>
            <a:r>
              <a:rPr lang="ko-KR" altLang="en-US" sz="1600" dirty="0"/>
              <a:t>해상 가스전의 경우 육지의 </a:t>
            </a:r>
            <a:r>
              <a:rPr lang="en-US" altLang="ko-KR" sz="1600" dirty="0"/>
              <a:t>LNG</a:t>
            </a:r>
            <a:r>
              <a:rPr lang="ko-KR" altLang="en-US" sz="1600" dirty="0"/>
              <a:t>플랜트까지 가스관을 건설해야 했다</a:t>
            </a:r>
            <a:r>
              <a:rPr lang="en-US" altLang="ko-KR" sz="1600" dirty="0"/>
              <a:t>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A27FD-EBCC-4990-97D7-9913CD55BCA3}"/>
              </a:ext>
            </a:extLst>
          </p:cNvPr>
          <p:cNvSpPr txBox="1"/>
          <p:nvPr/>
        </p:nvSpPr>
        <p:spPr>
          <a:xfrm>
            <a:off x="7145360" y="6276719"/>
            <a:ext cx="4487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https://www.gjnewsplaza.com/news/articleView.html?idxno=1726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4213AB6-4825-9A17-4DF6-6165266BE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2582" y="2272880"/>
            <a:ext cx="5094372" cy="4033044"/>
          </a:xfrm>
          <a:prstGeom prst="rect">
            <a:avLst/>
          </a:prstGeom>
        </p:spPr>
      </p:pic>
      <p:pic>
        <p:nvPicPr>
          <p:cNvPr id="9" name="그림 8" descr="삼성중공업이 건조한 부유식 액화천연가스 생산설비">
            <a:extLst>
              <a:ext uri="{FF2B5EF4-FFF2-40B4-BE49-F238E27FC236}">
                <a16:creationId xmlns:a16="http://schemas.microsoft.com/office/drawing/2014/main" id="{2DC7909D-48CD-9D08-5BD6-6055F9879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3068" y="3173420"/>
            <a:ext cx="4654948" cy="31032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DEB2AD2-36A0-8418-7EDD-1DDD40CAFA8A}"/>
              </a:ext>
            </a:extLst>
          </p:cNvPr>
          <p:cNvSpPr txBox="1"/>
          <p:nvPr/>
        </p:nvSpPr>
        <p:spPr>
          <a:xfrm>
            <a:off x="514350" y="2834866"/>
            <a:ext cx="6134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dirty="0"/>
              <a:t>&lt;</a:t>
            </a:r>
            <a:r>
              <a:rPr lang="ko-KR" altLang="en-US" sz="1200" dirty="0"/>
              <a:t>삼성중공업이 건조한 </a:t>
            </a:r>
            <a:r>
              <a:rPr lang="ko-KR" altLang="en-US" sz="1200" dirty="0" err="1"/>
              <a:t>부유식</a:t>
            </a:r>
            <a:r>
              <a:rPr lang="ko-KR" altLang="en-US" sz="1200" dirty="0"/>
              <a:t> 액화천연가스 생산설비</a:t>
            </a:r>
            <a:r>
              <a:rPr lang="en-US" altLang="ko-KR" sz="1200" dirty="0"/>
              <a:t>&gt;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1311D2-95C7-4712-04A1-BA3883D67267}"/>
              </a:ext>
            </a:extLst>
          </p:cNvPr>
          <p:cNvSpPr txBox="1"/>
          <p:nvPr/>
        </p:nvSpPr>
        <p:spPr>
          <a:xfrm>
            <a:off x="1130300" y="6276719"/>
            <a:ext cx="3492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https://www.yna.co.kr/view/AKR20260914038600003</a:t>
            </a:r>
          </a:p>
        </p:txBody>
      </p:sp>
    </p:spTree>
    <p:extLst>
      <p:ext uri="{BB962C8B-B14F-4D97-AF65-F5344CB8AC3E}">
        <p14:creationId xmlns:p14="http://schemas.microsoft.com/office/powerpoint/2010/main" val="3119020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D9592-FA09-351E-AFB0-0190BE1CB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B8455C-8C67-2B3A-AF6F-491FFAA2D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LNG</a:t>
            </a:r>
            <a:r>
              <a:rPr lang="ko-KR" altLang="en-US" dirty="0"/>
              <a:t> 기술개발을 통한 천연가스 수송혁신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B85088-7BCB-D0F5-BCBD-23514CB8F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38E8-567A-85F5-07BD-2CB85DFABB1F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기술이 개발되면서 가장 혜택을 본 나라는 동아시아의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타이완이다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그동안 </a:t>
            </a:r>
            <a:r>
              <a:rPr lang="ko-KR" altLang="en-US" sz="1600" dirty="0" err="1"/>
              <a:t>중동산</a:t>
            </a:r>
            <a:r>
              <a:rPr lang="ko-KR" altLang="en-US" sz="1600" dirty="0"/>
              <a:t> 석유에만 의존해 왔는데 동아시아에서 멀지 않은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 로부터 </a:t>
            </a:r>
            <a:r>
              <a:rPr lang="en-US" altLang="ko-KR" sz="1600" dirty="0"/>
              <a:t>LNG</a:t>
            </a:r>
            <a:r>
              <a:rPr lang="ko-KR" altLang="en-US" sz="1600" dirty="0"/>
              <a:t>가 공급되면서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한국과 일본의 에너지 시장에 일대 혁신이 일어났다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우리나라에는 </a:t>
            </a:r>
            <a:r>
              <a:rPr lang="en-US" altLang="ko-KR" sz="1600" dirty="0"/>
              <a:t>1983</a:t>
            </a:r>
            <a:r>
              <a:rPr lang="ko-KR" altLang="en-US" sz="1600" dirty="0"/>
              <a:t>년 천연가스 사업을 전담하는 한국가스공사가 설립되고</a:t>
            </a:r>
            <a:r>
              <a:rPr lang="en-US" altLang="ko-KR" sz="1600" dirty="0"/>
              <a:t> 1986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LNG</a:t>
            </a:r>
            <a:r>
              <a:rPr lang="ko-KR" altLang="en-US" sz="1600" dirty="0"/>
              <a:t>를 도입하기 시작했다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이전에는 가정에서 프로판 용기에 들어 있던 </a:t>
            </a:r>
            <a:r>
              <a:rPr lang="en-US" altLang="ko-KR" sz="1600" dirty="0"/>
              <a:t>LPG</a:t>
            </a:r>
            <a:r>
              <a:rPr lang="ko-KR" altLang="en-US" sz="1600" dirty="0"/>
              <a:t>를 주로 사용하였는데</a:t>
            </a:r>
            <a:r>
              <a:rPr lang="en-US" altLang="ko-KR" sz="1600" dirty="0"/>
              <a:t>, </a:t>
            </a:r>
            <a:r>
              <a:rPr lang="ko-KR" altLang="en-US" sz="1600" dirty="0"/>
              <a:t>전국적으로 가스관이 깔리고 도시가스가 공급되면서 가정에서 편리하고 값싼 가스를 사용하게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3082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6601A-FB1D-722F-2FC6-1AD571EAC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A8D64D-3ECB-6BBC-2840-DD40968194A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6F5BF2-6D24-310D-DF42-8B7B3041B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F8F96F9-B37F-0121-FC63-42BCF036A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천연가스의 시장의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48910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E9DA9-730B-BBD9-DA05-39BF2FFD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7B63E-4028-7888-AD6C-D8E16256E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CF2238-501C-5A8A-D9AE-B6619F7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F08686-6A82-DD8C-D410-946AAEC7C6B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2020</a:t>
            </a:r>
            <a:r>
              <a:rPr lang="ko-KR" altLang="en-US" sz="1600" dirty="0"/>
              <a:t>년 기준 전 세계 천연가스 확인 매장량은 </a:t>
            </a:r>
            <a:r>
              <a:rPr lang="en-US" altLang="ko-KR" sz="1600" dirty="0"/>
              <a:t>188.1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(m</a:t>
            </a:r>
            <a:r>
              <a:rPr lang="en-US" altLang="ko-KR" sz="1600" baseline="30000" dirty="0"/>
              <a:t>3</a:t>
            </a:r>
            <a:r>
              <a:rPr lang="en-US" altLang="ko-KR" sz="1600" dirty="0"/>
              <a:t>)</a:t>
            </a:r>
            <a:r>
              <a:rPr lang="ko-KR" altLang="en-US" sz="1600" dirty="0"/>
              <a:t>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en-US" altLang="ko-KR" sz="1600" dirty="0"/>
              <a:t>2000</a:t>
            </a:r>
            <a:r>
              <a:rPr lang="ko-KR" altLang="en-US" sz="1600" dirty="0"/>
              <a:t>년에 비해 약 </a:t>
            </a:r>
            <a:r>
              <a:rPr lang="en-US" altLang="ko-KR" sz="1600" dirty="0"/>
              <a:t>50</a:t>
            </a:r>
            <a:r>
              <a:rPr lang="ko-KR" altLang="en-US" sz="1600" dirty="0"/>
              <a:t>조 </a:t>
            </a:r>
            <a:r>
              <a:rPr lang="ko-KR" altLang="en-US" sz="1600" dirty="0" err="1"/>
              <a:t>입방미터</a:t>
            </a:r>
            <a:r>
              <a:rPr lang="ko-KR" altLang="en-US" sz="1600" dirty="0"/>
              <a:t> 증가한 수치이다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앞서 말한 비전통가스전의 개발 </a:t>
            </a:r>
            <a:r>
              <a:rPr lang="en-US" altLang="ko-KR" sz="1600" dirty="0"/>
              <a:t>(</a:t>
            </a:r>
            <a:r>
              <a:rPr lang="ko-KR" altLang="en-US" sz="1600" dirty="0" err="1"/>
              <a:t>셰일혁명</a:t>
            </a:r>
            <a:r>
              <a:rPr lang="en-US" altLang="ko-KR" sz="1600" dirty="0"/>
              <a:t>), </a:t>
            </a:r>
            <a:r>
              <a:rPr lang="ko-KR" altLang="en-US" sz="1600" dirty="0"/>
              <a:t>시추기술의 발전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신규 매장지 발견에 기인한다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8874414-3187-17F2-B6B4-B959B76645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6979493"/>
              </p:ext>
            </p:extLst>
          </p:nvPr>
        </p:nvGraphicFramePr>
        <p:xfrm>
          <a:off x="2451498" y="2893903"/>
          <a:ext cx="6150534" cy="317430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1211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7.3 (5.3%)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10.5 (5.8%)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15.2 (8.1%)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 (4.9%)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 (4.5%)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7.9 (4.2%)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 (3.9%)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 (1.7%)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38.6 (27.8%)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51.3 (28.5%)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56.6 (30.1%)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58.3 (42.2%)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77.8 (43.2%)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75.8 (40.3%)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11.9 (8.6%)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 (7.8%)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12.9 (6.9%)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9.8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 (7.5%)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188.1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48.8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 (9.8%)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20.3 (10.8%)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124.4 (90.1%)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162.4 (90.3%)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167.8 (89.2%)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EU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 (1.8%)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 (0.9%)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 (0.2%)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F3CDDA4-52D1-16CA-EF25-BD298986E2C3}"/>
              </a:ext>
            </a:extLst>
          </p:cNvPr>
          <p:cNvSpPr txBox="1"/>
          <p:nvPr/>
        </p:nvSpPr>
        <p:spPr>
          <a:xfrm>
            <a:off x="3819650" y="2515751"/>
            <a:ext cx="33396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매장량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조 </a:t>
            </a:r>
            <a:r>
              <a:rPr lang="en-US" altLang="ko-KR" sz="1200" dirty="0"/>
              <a:t>m</a:t>
            </a:r>
            <a:r>
              <a:rPr lang="en-US" altLang="ko-KR" sz="1200" baseline="30000" dirty="0"/>
              <a:t>3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005414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63DF5-290A-C7D0-930C-BC27A4A8E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1A1C8B-7EAA-A808-DED8-50BD33A33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45FFF-9023-4A35-4FC1-5015450F4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60EA43-0A4C-E6EA-4AC2-C78CE80C6647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매장량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중동 지역이 전체의 </a:t>
            </a:r>
            <a:r>
              <a:rPr lang="en-US" altLang="ko-KR" sz="1600" dirty="0"/>
              <a:t>40.3%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(17.1%)</a:t>
            </a:r>
            <a:r>
              <a:rPr lang="ko-KR" altLang="en-US" sz="1600" dirty="0"/>
              <a:t>과 카타르</a:t>
            </a:r>
            <a:r>
              <a:rPr lang="en-US" altLang="ko-KR" sz="1600" dirty="0"/>
              <a:t>(13.1%)</a:t>
            </a:r>
            <a:r>
              <a:rPr lang="ko-KR" altLang="en-US" sz="1600" dirty="0"/>
              <a:t>가 핵심 국가로 부상하고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러시아가 </a:t>
            </a:r>
            <a:r>
              <a:rPr lang="en-US" altLang="ko-KR" sz="1600" dirty="0"/>
              <a:t>19.9%</a:t>
            </a:r>
            <a:r>
              <a:rPr lang="ko-KR" altLang="en-US" sz="1600" dirty="0"/>
              <a:t>의 비중으로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가장 많은 매장량을 보유하고 있고</a:t>
            </a:r>
            <a:r>
              <a:rPr lang="en-US" altLang="ko-KR" sz="1600" dirty="0"/>
              <a:t>, CIS(</a:t>
            </a:r>
            <a:r>
              <a:rPr lang="ko-KR" altLang="en-US" sz="1600" dirty="0"/>
              <a:t>독립국가연합</a:t>
            </a:r>
            <a:r>
              <a:rPr lang="en-US" altLang="ko-KR" sz="1600" dirty="0"/>
              <a:t>) 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30.1%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 외에 아시아</a:t>
            </a:r>
            <a:r>
              <a:rPr lang="en-US" altLang="ko-KR" sz="1600" dirty="0"/>
              <a:t>·</a:t>
            </a:r>
            <a:r>
              <a:rPr lang="ko-KR" altLang="en-US" sz="1600" dirty="0"/>
              <a:t>태평양 지역은 </a:t>
            </a:r>
            <a:r>
              <a:rPr lang="en-US" altLang="ko-KR" sz="1600" dirty="0"/>
              <a:t>8.8%, </a:t>
            </a:r>
            <a:r>
              <a:rPr lang="ko-KR" altLang="en-US" sz="1600" dirty="0"/>
              <a:t>북미는 </a:t>
            </a:r>
            <a:r>
              <a:rPr lang="en-US" altLang="ko-KR" sz="1600" dirty="0"/>
              <a:t>8.1%, </a:t>
            </a:r>
            <a:r>
              <a:rPr lang="ko-KR" altLang="en-US" sz="1600" dirty="0"/>
              <a:t>아프리카는 약 </a:t>
            </a:r>
            <a:r>
              <a:rPr lang="en-US" altLang="ko-KR" sz="1600" dirty="0"/>
              <a:t>6.9%, </a:t>
            </a:r>
            <a:r>
              <a:rPr lang="ko-KR" altLang="en-US" sz="1600" dirty="0"/>
              <a:t>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약 </a:t>
            </a:r>
            <a:r>
              <a:rPr lang="en-US" altLang="ko-KR" sz="1600" dirty="0"/>
              <a:t>4.2%</a:t>
            </a:r>
            <a:r>
              <a:rPr lang="ko-KR" altLang="en-US" sz="1600" dirty="0"/>
              <a:t>를 차지하고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 다양성이 뚜렷하다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10.8%,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</a:t>
            </a:r>
            <a:r>
              <a:rPr lang="en-US" altLang="ko-KR" sz="1600" dirty="0"/>
              <a:t>89.2%</a:t>
            </a:r>
            <a:r>
              <a:rPr lang="ko-KR" altLang="en-US" sz="1600" dirty="0"/>
              <a:t>로</a:t>
            </a:r>
            <a:r>
              <a:rPr lang="en-US" altLang="ko-KR" sz="1600" dirty="0"/>
              <a:t>, </a:t>
            </a:r>
            <a:r>
              <a:rPr lang="ko-KR" altLang="en-US" sz="1600" dirty="0"/>
              <a:t>비</a:t>
            </a:r>
            <a:r>
              <a:rPr lang="en-US" altLang="ko-KR" sz="1600" dirty="0"/>
              <a:t>OECD</a:t>
            </a:r>
            <a:r>
              <a:rPr lang="ko-KR" altLang="en-US" sz="1600" dirty="0"/>
              <a:t> 국가가 전 세계 천연가스 매장량의 절대다수를 차지하고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</a:t>
            </a:r>
            <a:r>
              <a:rPr lang="ko-KR" altLang="en-US" sz="1600" dirty="0"/>
              <a:t> 매장량 대비 생산의 경우에는 지역 간 뚜렷한 차이를 보인다</a:t>
            </a:r>
            <a:r>
              <a:rPr lang="en-US" altLang="ko-KR" sz="1600" dirty="0"/>
              <a:t>. </a:t>
            </a:r>
            <a:r>
              <a:rPr lang="ko-KR" altLang="en-US" sz="1600" dirty="0"/>
              <a:t>북미와 유럽은 상대적으로 매장량이 적지만 기술력과 시장 구조로 인해 생산 비율이 매우 높은 편이다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전체 확인 매장량의 </a:t>
            </a:r>
            <a:r>
              <a:rPr lang="en-US" altLang="ko-KR" sz="1600" dirty="0"/>
              <a:t>6.9%</a:t>
            </a:r>
            <a:r>
              <a:rPr lang="ko-KR" altLang="en-US" sz="1600" dirty="0"/>
              <a:t>를 보유하고</a:t>
            </a:r>
            <a:r>
              <a:rPr lang="en-US" altLang="ko-KR" sz="1600" dirty="0"/>
              <a:t>, 2000</a:t>
            </a:r>
            <a:r>
              <a:rPr lang="ko-KR" altLang="en-US" sz="1600" dirty="0"/>
              <a:t>년 이후 가장 큰 증가폭을 기록하였다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중동과 </a:t>
            </a:r>
            <a:r>
              <a:rPr lang="en-US" altLang="ko-KR" sz="1600" dirty="0"/>
              <a:t>CIS</a:t>
            </a:r>
            <a:r>
              <a:rPr lang="ko-KR" altLang="en-US" sz="1600" dirty="0"/>
              <a:t>국가들은 매장량은 많지만 생산 비율은 상대적으로 낮은 경향을 보인다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49870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F2984-FA15-87E9-D2E4-7BFE3AA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6A49F-C3A7-9B90-CD6A-C4CEF565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764175-0A68-BAAA-8204-26393F21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D4DEE94-B1E1-CFB2-34B7-A5E96A8ADD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18877" y="3571803"/>
            <a:ext cx="5497287" cy="30106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3F1CCBE-7454-B9A5-7720-EDC29B647D41}"/>
              </a:ext>
            </a:extLst>
          </p:cNvPr>
          <p:cNvSpPr txBox="1"/>
          <p:nvPr/>
        </p:nvSpPr>
        <p:spPr>
          <a:xfrm>
            <a:off x="2242156" y="331019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생산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99A89E4-5CF1-8B03-14FD-2DA3D00154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6087027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1,261.1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1,035.3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586.4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712.7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카타르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181.0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253.6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알제리아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101.5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691.8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234.3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4,059.2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2,426.8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DF0C886-A911-8F9D-D149-C963648C3522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생산량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EE3FFC-9C19-7778-B8C0-F0436E73DA17}"/>
              </a:ext>
            </a:extLst>
          </p:cNvPr>
          <p:cNvSpPr txBox="1"/>
          <p:nvPr/>
        </p:nvSpPr>
        <p:spPr>
          <a:xfrm>
            <a:off x="288791" y="958844"/>
            <a:ext cx="6434480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생산량은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슬라이드를 참고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44530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336F1-E86B-DE89-08AA-20A661D98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147D1F-9B67-AD03-46B0-63113EE56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생산과 공급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C32B9E-35F9-6392-3D7A-09E3391E2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FB9589-1D2C-2751-E66C-880BC01395C0}"/>
              </a:ext>
            </a:extLst>
          </p:cNvPr>
          <p:cNvSpPr txBox="1"/>
          <p:nvPr/>
        </p:nvSpPr>
        <p:spPr>
          <a:xfrm>
            <a:off x="288790" y="958844"/>
            <a:ext cx="11118453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생산량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공급 구조는 지질학적 분포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수송 인프라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요인에 의해 복합적으로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매장지가 상대적으로 넓게 분포되어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기체 상태라는 특성으로 인해 수송제약과 시장 분절성을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이란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</a:t>
            </a:r>
            <a:r>
              <a:rPr lang="en-US" altLang="ko-KR" sz="1600" dirty="0"/>
              <a:t>, </a:t>
            </a:r>
            <a:r>
              <a:rPr lang="ko-KR" altLang="en-US" sz="1600" dirty="0"/>
              <a:t>호주 등이 주요 생산국이고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동지중해에서도</a:t>
            </a:r>
            <a:r>
              <a:rPr lang="ko-KR" altLang="en-US" sz="1600" dirty="0"/>
              <a:t> 신규 개발이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LNG</a:t>
            </a:r>
            <a:r>
              <a:rPr lang="ko-KR" altLang="en-US" sz="1600" dirty="0"/>
              <a:t>의 발전은 글로벌 공급의 유연성을 높이고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천연가스를 석유처럼 국제적 상품으로 변화시키고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전쟁은 유럽 천연가스 수급구조를 급격히 전환시켰으며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확대와 공급선 다변화로 이어졌고</a:t>
            </a:r>
            <a:r>
              <a:rPr lang="en-US" altLang="ko-KR" sz="1600" dirty="0"/>
              <a:t>, </a:t>
            </a: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시장에 큰 영향을 미치고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생산은 최근 미국을 대표하여 북미지역을 중심으로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천연가스 생산량은 </a:t>
            </a:r>
            <a:r>
              <a:rPr lang="en-US" altLang="ko-KR" sz="1600" dirty="0"/>
              <a:t>4,059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2013-2023</a:t>
            </a:r>
            <a:r>
              <a:rPr lang="ko-KR" altLang="en-US" sz="1600" dirty="0"/>
              <a:t>년 연평균 </a:t>
            </a:r>
            <a:r>
              <a:rPr lang="en-US" altLang="ko-KR" sz="1600" dirty="0"/>
              <a:t>1.9%</a:t>
            </a:r>
            <a:r>
              <a:rPr lang="ko-KR" altLang="en-US" sz="1600" dirty="0"/>
              <a:t>의 생산 증가율을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국가별로는 미국</a:t>
            </a:r>
            <a:r>
              <a:rPr lang="en-US" altLang="ko-KR" sz="1600" dirty="0"/>
              <a:t> (25.5%), </a:t>
            </a:r>
            <a:r>
              <a:rPr lang="ko-KR" altLang="en-US" sz="1600" dirty="0"/>
              <a:t>러시아 </a:t>
            </a:r>
            <a:r>
              <a:rPr lang="en-US" altLang="ko-KR" sz="1600" dirty="0"/>
              <a:t>(14.4%), </a:t>
            </a:r>
            <a:r>
              <a:rPr lang="ko-KR" altLang="en-US" sz="1600" dirty="0"/>
              <a:t>이란 </a:t>
            </a:r>
            <a:r>
              <a:rPr lang="en-US" altLang="ko-KR" sz="1600" dirty="0"/>
              <a:t>(6.2%), </a:t>
            </a:r>
            <a:r>
              <a:rPr lang="ko-KR" altLang="en-US" sz="1600" dirty="0"/>
              <a:t>중국</a:t>
            </a:r>
            <a:r>
              <a:rPr lang="en-US" altLang="ko-KR" sz="1600" dirty="0"/>
              <a:t>(5.8%),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(4.5%)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0490686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E2C3B-A89A-72B3-BD4F-F249C65D3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4C92F-7AFE-0090-83AA-E608D29A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8A85F3-242E-5721-7234-F0FECC171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D1E939-BBD3-0EE3-011D-46642F478A6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소비는 국가별 산업구조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정책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 등에 따라 지역별</a:t>
            </a:r>
            <a:r>
              <a:rPr lang="en-US" altLang="ko-KR" sz="1600" dirty="0"/>
              <a:t>·</a:t>
            </a:r>
            <a:r>
              <a:rPr lang="ko-KR" altLang="en-US" sz="1600" dirty="0"/>
              <a:t>부문별로 상이한 양상을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천연가스는 전력생산</a:t>
            </a:r>
            <a:r>
              <a:rPr lang="en-US" altLang="ko-KR" sz="1600" dirty="0"/>
              <a:t>, </a:t>
            </a:r>
            <a:r>
              <a:rPr lang="ko-KR" altLang="en-US" sz="1600" dirty="0"/>
              <a:t>산업 공정</a:t>
            </a:r>
            <a:r>
              <a:rPr lang="en-US" altLang="ko-KR" sz="1600" dirty="0"/>
              <a:t>, </a:t>
            </a:r>
            <a:r>
              <a:rPr lang="ko-KR" altLang="en-US" sz="1600" dirty="0"/>
              <a:t>주거 및 상업용 에너지</a:t>
            </a:r>
            <a:r>
              <a:rPr lang="en-US" altLang="ko-KR" sz="1600" dirty="0"/>
              <a:t>, </a:t>
            </a:r>
            <a:r>
              <a:rPr lang="ko-KR" altLang="en-US" sz="1600" dirty="0"/>
              <a:t>교통 연료 등 다양한 부문에서 소비되며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 중 전력 생산 부문이 전체 소비에서 가장 높은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 </a:t>
            </a:r>
            <a:r>
              <a:rPr lang="ko-KR" altLang="en-US" sz="1600" dirty="0"/>
              <a:t>기술 발전으로 해상 운송이 보편화 되면서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기반구조로 전환되고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석유와 유사하게 글로벌 </a:t>
            </a:r>
            <a:r>
              <a:rPr lang="ko-KR" altLang="en-US" sz="1600" dirty="0" err="1"/>
              <a:t>상품으로서의</a:t>
            </a:r>
            <a:r>
              <a:rPr lang="ko-KR" altLang="en-US" sz="1600" dirty="0"/>
              <a:t> 성격이 강화되고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지역별 가격차이도 점차 축소되고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북미와 유럽은 천연가스 인프라가 조기에 구축되어 다양한 최종수요 부문에 걸쳐 소비가 확산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유럽은 강화된 환경 규제와 탈탄소화 정책 기조 하에서 천연가스를 전환 연료로 적극 활용하고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반해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동남아시아 등 신흥 경제권에서는 급속한 도시화</a:t>
            </a:r>
            <a:r>
              <a:rPr lang="en-US" altLang="ko-KR" sz="1600" dirty="0"/>
              <a:t>, </a:t>
            </a:r>
            <a:r>
              <a:rPr lang="ko-KR" altLang="en-US" sz="1600" dirty="0"/>
              <a:t>산업화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개선을 위한 환경정책 강화에 힘입어 천연가스 수요가 급증하고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중국은 이미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수입국으로 부상하였다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부문별 천연가스 소비를 살펴보면 아래와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산업부문에서 천연가스는 비료</a:t>
            </a:r>
            <a:r>
              <a:rPr lang="en-US" altLang="ko-KR" sz="1600" dirty="0"/>
              <a:t>, </a:t>
            </a:r>
            <a:r>
              <a:rPr lang="ko-KR" altLang="en-US" sz="1600" dirty="0"/>
              <a:t>수소</a:t>
            </a:r>
            <a:r>
              <a:rPr lang="en-US" altLang="ko-KR" sz="1600" dirty="0"/>
              <a:t>, </a:t>
            </a:r>
            <a:r>
              <a:rPr lang="ko-KR" altLang="en-US" sz="1600" dirty="0"/>
              <a:t>메탄올 생산의 핵심 원료로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주거 및 상업부문에서는 난방 및 취사용 연료로 폭넓게 사용되고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교통부문에서는 압축천연가스</a:t>
            </a:r>
            <a:r>
              <a:rPr lang="en-US" altLang="ko-KR" sz="1600" dirty="0"/>
              <a:t>(CNG) </a:t>
            </a:r>
            <a:r>
              <a:rPr lang="ko-KR" altLang="en-US" sz="1600" dirty="0"/>
              <a:t>및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형태로 도로 운송 및 해상 운송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수요가 확대되고 있고</a:t>
            </a:r>
            <a:r>
              <a:rPr lang="en-US" altLang="ko-KR" sz="1600" dirty="0"/>
              <a:t>,</a:t>
            </a:r>
            <a:r>
              <a:rPr lang="ko-KR" altLang="en-US" sz="1600" dirty="0"/>
              <a:t> 국제해사기구의 환경규제 강화 이후 선박 연료로 </a:t>
            </a:r>
            <a:r>
              <a:rPr lang="en-US" altLang="ko-KR" sz="1600" dirty="0"/>
              <a:t>LNG </a:t>
            </a:r>
            <a:r>
              <a:rPr lang="ko-KR" altLang="en-US" sz="1600" dirty="0"/>
              <a:t>채택이 가속화되고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1077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F155C-58EF-18EB-06AE-0AA94563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F2DAD-306B-2C33-111C-754C95CF2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4F58A4-42E1-C70A-40DE-E6B2E3E28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567704-3EE6-A1CF-D52C-1312B053E69F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 지역별 천연가스 소비량은 다음과 같다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3D58B6-F585-B128-1ABC-F5CA282D5A1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37626" y="3167269"/>
            <a:ext cx="5626805" cy="3032936"/>
          </a:xfrm>
          <a:prstGeom prst="rect">
            <a:avLst/>
          </a:prstGeom>
        </p:spPr>
      </p:pic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64C8809-B218-BFA8-993A-8DB0A08803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027549"/>
              </p:ext>
            </p:extLst>
          </p:nvPr>
        </p:nvGraphicFramePr>
        <p:xfrm>
          <a:off x="6868433" y="1535188"/>
          <a:ext cx="4918082" cy="49522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2742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1714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32452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1410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 비중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1,104.8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멕시코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886.5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161.7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596.0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577.7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사우디아라비아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734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6298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935.4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93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404.8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27568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216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4,010.2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1,757.0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2,253.2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98B2977-5DB8-37A7-6BAE-542B311C119C}"/>
              </a:ext>
            </a:extLst>
          </p:cNvPr>
          <p:cNvSpPr txBox="1"/>
          <p:nvPr/>
        </p:nvSpPr>
        <p:spPr>
          <a:xfrm>
            <a:off x="7259551" y="1195963"/>
            <a:ext cx="42433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천연가스 소비량 </a:t>
            </a:r>
            <a:r>
              <a:rPr lang="en-US" altLang="ko-KR" sz="1200" spc="-50" dirty="0"/>
              <a:t>(10</a:t>
            </a:r>
            <a:r>
              <a:rPr lang="ko-KR" altLang="en-US" sz="1200" spc="-50" dirty="0"/>
              <a:t>억 </a:t>
            </a:r>
            <a:r>
              <a:rPr lang="ko-KR" altLang="en-US" sz="1200" spc="-50" dirty="0" err="1"/>
              <a:t>입방미터</a:t>
            </a:r>
            <a:r>
              <a:rPr lang="en-US" altLang="ko-KR" sz="1200" spc="-50" dirty="0"/>
              <a:t>), </a:t>
            </a:r>
            <a:r>
              <a:rPr lang="ko-KR" altLang="en-US" sz="1200" spc="-50" dirty="0"/>
              <a:t>연평균 증가율</a:t>
            </a:r>
            <a:r>
              <a:rPr lang="en-US" altLang="ko-KR" sz="1200" spc="-50" dirty="0"/>
              <a:t>, </a:t>
            </a:r>
            <a:r>
              <a:rPr lang="ko-KR" altLang="en-US" sz="1200" spc="-50" dirty="0"/>
              <a:t>비중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FDDE0E-F2F2-AA6F-41E0-D505C63829BC}"/>
              </a:ext>
            </a:extLst>
          </p:cNvPr>
          <p:cNvSpPr txBox="1"/>
          <p:nvPr/>
        </p:nvSpPr>
        <p:spPr>
          <a:xfrm>
            <a:off x="2489530" y="2905659"/>
            <a:ext cx="261079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지역별 천연가스 소비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8696003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7A0E8-E7A5-3314-B9C8-607A82B19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25CFA1-4E05-CAE3-2C03-29702A7E1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795313-750D-CD91-97FE-83D26228F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D7E24E-418F-8903-D73E-01934DA43B34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(</a:t>
            </a:r>
            <a:r>
              <a:rPr lang="ko-KR" altLang="en-US" sz="1600" dirty="0"/>
              <a:t>전 슬라이드 천연가스 소비량 참고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소비는 북미 지역과 아시아태평양 지역을 중심으로 </a:t>
            </a:r>
            <a:r>
              <a:rPr lang="en-US" altLang="ko-KR" sz="1600" dirty="0"/>
              <a:t>2013~2023</a:t>
            </a:r>
            <a:r>
              <a:rPr lang="ko-KR" altLang="en-US" sz="1600" dirty="0"/>
              <a:t>년 기간에 증가하는 추세를 보이고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중동의 소비도 지속적으로 증가하고 있으며 유럽과 </a:t>
            </a:r>
            <a:r>
              <a:rPr lang="en-US" altLang="ko-KR" sz="1600" dirty="0"/>
              <a:t>CIS</a:t>
            </a:r>
            <a:r>
              <a:rPr lang="ko-KR" altLang="en-US" sz="1600" dirty="0"/>
              <a:t> 국가들을 포함한 다른 지역도 같은 기간 비슷한 수준이다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전 세계 천연가스 소비는 </a:t>
            </a:r>
            <a:r>
              <a:rPr lang="en-US" altLang="ko-KR" sz="1600" dirty="0"/>
              <a:t>4,010.2 (10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</a:t>
            </a:r>
            <a:r>
              <a:rPr lang="en-US" altLang="ko-KR" sz="1600" dirty="0"/>
              <a:t>) </a:t>
            </a:r>
            <a:r>
              <a:rPr lang="ko-KR" altLang="en-US" sz="1600" dirty="0"/>
              <a:t>였으며</a:t>
            </a:r>
            <a:r>
              <a:rPr lang="en-US" altLang="ko-KR" sz="1600" dirty="0"/>
              <a:t>, 2013~2023</a:t>
            </a:r>
            <a:r>
              <a:rPr lang="ko-KR" altLang="en-US" sz="1600" dirty="0"/>
              <a:t>년 기간 동안 </a:t>
            </a:r>
            <a:r>
              <a:rPr lang="en-US" altLang="ko-KR" sz="1600" dirty="0"/>
              <a:t>1.7%</a:t>
            </a:r>
            <a:r>
              <a:rPr lang="ko-KR" altLang="en-US" sz="1600" dirty="0"/>
              <a:t>의 성장률을 보였다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지역별 소비 비중은 북미</a:t>
            </a:r>
            <a:r>
              <a:rPr lang="en-US" altLang="ko-KR" sz="1600" dirty="0"/>
              <a:t>(27.5%), </a:t>
            </a:r>
            <a:r>
              <a:rPr lang="ko-KR" altLang="en-US" sz="1600" dirty="0"/>
              <a:t>아시아태평양</a:t>
            </a:r>
            <a:r>
              <a:rPr lang="en-US" altLang="ko-KR" sz="1600" dirty="0"/>
              <a:t>(23.3%), CIS</a:t>
            </a:r>
            <a:r>
              <a:rPr lang="ko-KR" altLang="en-US" sz="1600" dirty="0"/>
              <a:t>국가들</a:t>
            </a:r>
            <a:r>
              <a:rPr lang="en-US" altLang="ko-KR" sz="1600" dirty="0"/>
              <a:t>(14.9%), </a:t>
            </a:r>
            <a:r>
              <a:rPr lang="ko-KR" altLang="en-US" sz="1600" dirty="0"/>
              <a:t>중동</a:t>
            </a:r>
            <a:r>
              <a:rPr lang="en-US" altLang="ko-KR" sz="1600" dirty="0"/>
              <a:t>(14.4%) </a:t>
            </a:r>
            <a:r>
              <a:rPr lang="ko-KR" altLang="en-US" sz="1600" dirty="0"/>
              <a:t>순으로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</a:t>
            </a:r>
            <a:r>
              <a:rPr lang="ko-KR" altLang="en-US" sz="1600" dirty="0"/>
              <a:t> 북미 지역은 빠른 소비증가율을 보인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유럽과 중</a:t>
            </a:r>
            <a:r>
              <a:rPr lang="en-US" altLang="ko-KR" sz="1600" dirty="0"/>
              <a:t>·</a:t>
            </a:r>
            <a:r>
              <a:rPr lang="ko-KR" altLang="en-US" sz="1600" dirty="0"/>
              <a:t>남미는 성장률이 감소하였다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소비로는 미국</a:t>
            </a:r>
            <a:r>
              <a:rPr lang="en-US" altLang="ko-KR" sz="1600" dirty="0"/>
              <a:t>(22.1%),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(11.3%),</a:t>
            </a:r>
            <a:r>
              <a:rPr lang="ko-KR" altLang="en-US" sz="1600" dirty="0"/>
              <a:t> 중국</a:t>
            </a:r>
            <a:r>
              <a:rPr lang="en-US" altLang="ko-KR" sz="1600" dirty="0"/>
              <a:t>(10.1%), </a:t>
            </a:r>
            <a:r>
              <a:rPr lang="ko-KR" altLang="en-US" sz="1600" dirty="0"/>
              <a:t>이란</a:t>
            </a:r>
            <a:r>
              <a:rPr lang="en-US" altLang="ko-KR" sz="1600" dirty="0"/>
              <a:t>(6.1%) </a:t>
            </a:r>
            <a:r>
              <a:rPr lang="ko-KR" altLang="en-US" sz="1600" dirty="0"/>
              <a:t>순으로 전세계에서 차지하는 비중이 높았다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한국의 소비 비중은 </a:t>
            </a:r>
            <a:r>
              <a:rPr lang="en-US" altLang="ko-KR" sz="1600" dirty="0"/>
              <a:t>1.5%</a:t>
            </a:r>
            <a:r>
              <a:rPr lang="ko-KR" altLang="en-US" sz="1600" dirty="0"/>
              <a:t>으로 나타났다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OECD</a:t>
            </a:r>
            <a:r>
              <a:rPr lang="ko-KR" altLang="en-US" sz="1600" dirty="0"/>
              <a:t> 국가들의 비중은 </a:t>
            </a:r>
            <a:r>
              <a:rPr lang="en-US" altLang="ko-KR" sz="1600" dirty="0"/>
              <a:t>43.8%</a:t>
            </a:r>
            <a:r>
              <a:rPr lang="ko-KR" altLang="en-US" sz="1600" dirty="0"/>
              <a:t>를 나타내었으며 비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국가들의 비중은 </a:t>
            </a:r>
            <a:r>
              <a:rPr lang="en-US" altLang="ko-KR" sz="1600" dirty="0"/>
              <a:t>56.2%</a:t>
            </a:r>
            <a:r>
              <a:rPr lang="ko-KR" altLang="en-US" sz="1600" dirty="0"/>
              <a:t>를 나타내었다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23313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3CCBB-A096-4F5E-82A0-6FA451650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390E5F-A4F8-AAD3-CC8B-AB6836429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3DFC10-B1F8-C620-A895-687007ABF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9406ED-3EC3-CA2F-B6EB-A9691A7965F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액화천연가스</a:t>
            </a:r>
            <a:r>
              <a:rPr lang="en-US" altLang="ko-KR" sz="1600" dirty="0"/>
              <a:t>(LNG) </a:t>
            </a:r>
            <a:r>
              <a:rPr lang="ko-KR" altLang="en-US" sz="1600" dirty="0"/>
              <a:t>수입은 지난 수십 년간 에너지 시장에서 가장 빠르게 성장한 분야이다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공급망 유연성 증대와 에너지 안보 강화에 핵심적 역할을 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기존 파이프라인 수송 방식에 비해</a:t>
            </a:r>
            <a:r>
              <a:rPr lang="en-US" altLang="ko-KR" sz="1600" dirty="0"/>
              <a:t>, </a:t>
            </a:r>
            <a:r>
              <a:rPr lang="ko-KR" altLang="en-US" sz="1600" dirty="0"/>
              <a:t>거리 및 지정학적 제약으로부터 자유롭기 때문에 천연가스 국제무역을 가능하게 하는 핵심 기술이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천연가스 자원이 풍부한 북미</a:t>
            </a:r>
            <a:r>
              <a:rPr lang="en-US" altLang="ko-KR" sz="1600" dirty="0"/>
              <a:t>, </a:t>
            </a:r>
            <a:r>
              <a:rPr lang="ko-KR" altLang="en-US" sz="1600" dirty="0"/>
              <a:t>중동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지역에서 생산된 가스가</a:t>
            </a:r>
            <a:r>
              <a:rPr lang="en-US" altLang="ko-KR" sz="1600" dirty="0"/>
              <a:t>, </a:t>
            </a:r>
            <a:r>
              <a:rPr lang="ko-KR" altLang="en-US" sz="1600" dirty="0"/>
              <a:t>수요가 집중된 동아시아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남아시아 지역으로 이전됨으로써 천연가스는 석유 시장과 유사한 통합성과 유연성을 갖춘 글로벌 상품으로 진화하고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수입국 측면에서 아시아는 전세계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수요의 중심지로 부상하였다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일본은 오랜 기간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수입국의 지위를 유지하였고</a:t>
            </a:r>
            <a:r>
              <a:rPr lang="en-US" altLang="ko-KR" sz="1600" dirty="0"/>
              <a:t>, 2011</a:t>
            </a:r>
            <a:r>
              <a:rPr lang="ko-KR" altLang="en-US" sz="1600" dirty="0"/>
              <a:t>년 후쿠시마 원전 사고 이후 원전 의존도를 대폭 축소하고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수입을 대체 에너지원으로 급격히 확대하였다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중국은 최근 에너지 수요 급증과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개선 목표에 따라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대폭 늘려</a:t>
            </a:r>
            <a:r>
              <a:rPr lang="en-US" altLang="ko-KR" sz="1600" dirty="0"/>
              <a:t>, 2021</a:t>
            </a:r>
            <a:r>
              <a:rPr lang="ko-KR" altLang="en-US" sz="1600" dirty="0"/>
              <a:t>년 처음으로 일본을 제치고 세계 최대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인도와 한국 또한 수입량을 지속적으로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전체는 현재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수입의 약 </a:t>
            </a:r>
            <a:r>
              <a:rPr lang="en-US" altLang="ko-KR" sz="1600" dirty="0"/>
              <a:t>70%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353246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8CD1B-9FA0-D50E-9F70-DB9EB64D9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B34FB3-EDD9-C0E4-685A-3951CEB74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8B2577-1AF3-CD0B-486F-C29A2495E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D62BF2-D3B7-7B98-DDD0-10A5909F39DB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역시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시장에서 중요한 변화를 보이고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과거 유럽은 러시아산 파이프라인 가스에 대한 높은 의존도를 보여왔지만</a:t>
            </a:r>
            <a:r>
              <a:rPr lang="en-US" altLang="ko-KR" sz="1600" dirty="0"/>
              <a:t>, 2022</a:t>
            </a:r>
            <a:r>
              <a:rPr lang="ko-KR" altLang="en-US" sz="1600" dirty="0"/>
              <a:t>년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에너지 안보에 대한 우려가 급증하여 </a:t>
            </a:r>
            <a:r>
              <a:rPr lang="en-US" altLang="ko-KR" sz="1600" dirty="0"/>
              <a:t>LNG</a:t>
            </a:r>
            <a:r>
              <a:rPr lang="ko-KR" altLang="en-US" sz="1600" dirty="0"/>
              <a:t>수입을 전략적으로 확대하는 방향으로 전환하였다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폴란드</a:t>
            </a:r>
            <a:r>
              <a:rPr lang="en-US" altLang="ko-KR" sz="1600" dirty="0"/>
              <a:t>, </a:t>
            </a:r>
            <a:r>
              <a:rPr lang="ko-KR" altLang="en-US" sz="1600" dirty="0"/>
              <a:t>핀란드 등은 기존에 부재하던 </a:t>
            </a:r>
            <a:r>
              <a:rPr lang="en-US" altLang="ko-KR" sz="1600" dirty="0"/>
              <a:t>LNG </a:t>
            </a:r>
            <a:r>
              <a:rPr lang="ko-KR" altLang="en-US" sz="1600" dirty="0"/>
              <a:t>터미널을 신속히 구축하거나 기존 시설을 확장하였고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및 카타르 등으로부터 장기 수입계약 체결을 통해 공급선 다변화를 적극 추진하고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그 결과 </a:t>
            </a:r>
            <a:r>
              <a:rPr lang="en-US" altLang="ko-KR" sz="1600" dirty="0"/>
              <a:t>2022-2023</a:t>
            </a:r>
            <a:r>
              <a:rPr lang="ko-KR" altLang="en-US" sz="1600" dirty="0"/>
              <a:t>년 사이 유럽의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수입량은 전년 대비 약 </a:t>
            </a:r>
            <a:r>
              <a:rPr lang="en-US" altLang="ko-KR" sz="1600" dirty="0"/>
              <a:t>60% </a:t>
            </a:r>
            <a:r>
              <a:rPr lang="ko-KR" altLang="en-US" sz="1600" dirty="0"/>
              <a:t>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수급 및 가격에 상당한 파급효과를 미쳤다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시장은 계약 구조 측면에서도 중요한 변화를 경험하고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과거에는 </a:t>
            </a:r>
            <a:r>
              <a:rPr lang="en-US" altLang="ko-KR" sz="1600" dirty="0"/>
              <a:t>20</a:t>
            </a:r>
            <a:r>
              <a:rPr lang="ko-KR" altLang="en-US" sz="1600" dirty="0"/>
              <a:t>년 이상의 장기 고정가격 계약이 시장의 표준이었으나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최근에는 현물 시장 및 단기 계약의 비중이 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수요의 변동성 증가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가격에 대한 민감성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공급국 간 경쟁 심화 등과 같은 요인에 기인하며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</a:t>
            </a:r>
            <a:r>
              <a:rPr lang="en-US" altLang="ko-KR" sz="1600" dirty="0"/>
              <a:t>LNG </a:t>
            </a:r>
            <a:r>
              <a:rPr lang="ko-KR" altLang="en-US" sz="1600" dirty="0"/>
              <a:t>거래의 유연성과 시장 반응성을 높이는 방향으로 시장이 진화하고 있음을 의미한다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398269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58AE2-422F-6289-068D-E8103D873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24D0AD-4F6D-3A3C-06AC-C3F166CC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01E83C-7DFA-2013-71AA-569E4F430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3193F3-D9D8-8D01-FFC2-86AF9E53B9A1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LNG </a:t>
            </a:r>
            <a:r>
              <a:rPr lang="ko-KR" altLang="en-US" sz="1600" dirty="0"/>
              <a:t>수입 확대는 인프라 구축과 밀접하게 연계되어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수입국의 정책적 의지</a:t>
            </a:r>
            <a:r>
              <a:rPr lang="en-US" altLang="ko-KR" sz="1600" dirty="0"/>
              <a:t>, </a:t>
            </a:r>
            <a:r>
              <a:rPr lang="ko-KR" altLang="en-US" sz="1600" dirty="0"/>
              <a:t>제도적 환경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역량 등에 따라 확대 속도와 범위에 상당한 차이가 나타나고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 및 유럽의 선진국들은 재기화터미널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설비</a:t>
            </a:r>
            <a:r>
              <a:rPr lang="en-US" altLang="ko-KR" sz="1600" dirty="0"/>
              <a:t>, </a:t>
            </a:r>
            <a:r>
              <a:rPr lang="ko-KR" altLang="en-US" sz="1600" dirty="0"/>
              <a:t>전용 운반선 확보 등에서 상대적 우위에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일부 개발도상국은 재정적</a:t>
            </a:r>
            <a:r>
              <a:rPr lang="en-US" altLang="ko-KR" sz="1600" dirty="0"/>
              <a:t>·</a:t>
            </a:r>
            <a:r>
              <a:rPr lang="ko-KR" altLang="en-US" sz="1600" dirty="0"/>
              <a:t>기술적 제약으로 인해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 확대에 구조적 어려움을 겪고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한계를 극복하기 위한 대안이 </a:t>
            </a:r>
            <a:r>
              <a:rPr lang="ko-KR" altLang="en-US" sz="1600" dirty="0" err="1"/>
              <a:t>부유식</a:t>
            </a:r>
            <a:r>
              <a:rPr lang="ko-KR" altLang="en-US" sz="1600" dirty="0"/>
              <a:t> 저장 및 재기화 설비 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초기 투자비용을 절감하고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신속한 배치가 가능하다는 점에서 신흥국 시장에서 광범위하게 채택되고 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736BE1C-4ED8-BE9F-1913-1F5FCA0FA8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292"/>
          <a:stretch>
            <a:fillRect/>
          </a:stretch>
        </p:blipFill>
        <p:spPr>
          <a:xfrm>
            <a:off x="6348255" y="3645192"/>
            <a:ext cx="5554955" cy="28917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FBB1B0C-7D04-3FAA-B7B2-C7F3F0B7BD7D}"/>
              </a:ext>
            </a:extLst>
          </p:cNvPr>
          <p:cNvSpPr txBox="1"/>
          <p:nvPr/>
        </p:nvSpPr>
        <p:spPr>
          <a:xfrm>
            <a:off x="7512785" y="3570199"/>
            <a:ext cx="339132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</a:t>
            </a:r>
            <a:r>
              <a:rPr lang="en-US" altLang="ko-KR" sz="1050" spc="-50" dirty="0"/>
              <a:t>(LNG)</a:t>
            </a:r>
            <a:r>
              <a:rPr lang="ko-KR" altLang="en-US" sz="1050" spc="-50" dirty="0"/>
              <a:t> 수입량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F33EDC-027D-1970-6B61-0B9CA05B79C2}"/>
              </a:ext>
            </a:extLst>
          </p:cNvPr>
          <p:cNvSpPr txBox="1"/>
          <p:nvPr/>
        </p:nvSpPr>
        <p:spPr>
          <a:xfrm>
            <a:off x="288791" y="3334360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</a:t>
            </a:r>
            <a:r>
              <a:rPr lang="en-US" altLang="ko-KR" sz="1600" dirty="0"/>
              <a:t>LNG</a:t>
            </a:r>
            <a:r>
              <a:rPr lang="ko-KR" altLang="en-US" sz="1600" dirty="0"/>
              <a:t> 주요 수입국은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대만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2013-2023</a:t>
            </a:r>
            <a:r>
              <a:rPr lang="ko-KR" altLang="en-US" sz="1600" dirty="0"/>
              <a:t>년 기간동안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인도를 중심으로 증가하고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중국은 동 기간에 수입량이 </a:t>
            </a:r>
            <a:r>
              <a:rPr lang="en-US" altLang="ko-KR" sz="1600" dirty="0"/>
              <a:t>25.2</a:t>
            </a:r>
            <a:r>
              <a:rPr lang="ko-KR" altLang="en-US" sz="1600" dirty="0"/>
              <a:t>에서 </a:t>
            </a:r>
            <a:r>
              <a:rPr lang="en-US" altLang="ko-KR" sz="1600" dirty="0"/>
              <a:t>97.8</a:t>
            </a:r>
            <a:r>
              <a:rPr lang="ko-KR" altLang="en-US" sz="1600" dirty="0"/>
              <a:t>로 증가하였으며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연평균 </a:t>
            </a:r>
            <a:r>
              <a:rPr lang="en-US" altLang="ko-KR" sz="1600" dirty="0"/>
              <a:t>14.6% </a:t>
            </a:r>
            <a:r>
              <a:rPr lang="ko-KR" altLang="en-US" sz="1600" dirty="0"/>
              <a:t>증가세를 보였다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8879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43A93-811A-7438-46BE-889A474EA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37FFF7-50F9-EC5D-F629-AAA85F8C7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27DCB1-B9DA-147E-0B55-B74914C0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017E8F-A809-1BFB-9CD5-F388D10C554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 시장은 과거 몇몇 중동 및 동남아시아 국가에 집중되어 있었으나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최근 수십년간 기술 혁신과 투자 확대를 통해 공급국의 지리적 다양성이 확대되고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말레이시아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등은 세계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수출량의 대부분을 차지해왔다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호주가 주요 수출국으로 급부상하면서 글로벌 수출 구조에 큰 변화를 가져왔다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</a:t>
            </a:r>
            <a:r>
              <a:rPr lang="ko-KR" altLang="en-US" sz="1600" dirty="0"/>
              <a:t> 생산량의 급증과 함께 사빈패스</a:t>
            </a:r>
            <a:r>
              <a:rPr lang="en-US" altLang="ko-KR" sz="1600" dirty="0"/>
              <a:t>, </a:t>
            </a:r>
            <a:r>
              <a:rPr lang="ko-KR" altLang="en-US" sz="1600" dirty="0"/>
              <a:t>캐머런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프리포트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미국 지명</a:t>
            </a:r>
            <a:r>
              <a:rPr lang="en-US" altLang="ko-KR" sz="1600" dirty="0"/>
              <a:t>)</a:t>
            </a:r>
            <a:r>
              <a:rPr lang="ko-KR" altLang="en-US" sz="1600" dirty="0"/>
              <a:t> 등 주요 액화설비에 대한 공격적인 투자를 통해 </a:t>
            </a:r>
            <a:r>
              <a:rPr lang="en-US" altLang="ko-KR" sz="1600" dirty="0"/>
              <a:t>2016</a:t>
            </a:r>
            <a:r>
              <a:rPr lang="ko-KR" altLang="en-US" sz="1600" dirty="0"/>
              <a:t>년 이후 본격적인 수출국으로 부상하였고</a:t>
            </a:r>
            <a:r>
              <a:rPr lang="en-US" altLang="ko-KR" sz="1600" dirty="0"/>
              <a:t>, 2023</a:t>
            </a:r>
            <a:r>
              <a:rPr lang="ko-KR" altLang="en-US" sz="1600" dirty="0"/>
              <a:t>년에는 세계 최대 </a:t>
            </a:r>
            <a:r>
              <a:rPr lang="en-US" altLang="ko-KR" sz="1600" dirty="0"/>
              <a:t>LNG</a:t>
            </a:r>
            <a:r>
              <a:rPr lang="ko-KR" altLang="en-US" sz="1600" dirty="0"/>
              <a:t> 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고르곤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휘트스톤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이치시스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프렐류드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호주 지명</a:t>
            </a:r>
            <a:r>
              <a:rPr lang="en-US" altLang="ko-KR" sz="1600" dirty="0"/>
              <a:t>) </a:t>
            </a:r>
            <a:r>
              <a:rPr lang="ko-KR" altLang="en-US" sz="1600" dirty="0"/>
              <a:t>등 대형 프로젝트를 완공하며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카타르와 함께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초반까지 세계 </a:t>
            </a:r>
            <a:r>
              <a:rPr lang="en-US" altLang="ko-KR" sz="1600" dirty="0"/>
              <a:t>1~2</a:t>
            </a:r>
            <a:r>
              <a:rPr lang="ko-KR" altLang="en-US" sz="1600" dirty="0"/>
              <a:t>위를 다투는 위치까지 올랐다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이와 같은 수출국 다변화는 천연가스 시장의 지역 편중을 완화시켰다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 간 경쟁 심화는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시장을 보다 </a:t>
            </a:r>
            <a:r>
              <a:rPr lang="ko-KR" altLang="en-US" sz="1600" dirty="0" err="1"/>
              <a:t>시장지향적이고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역동적인 구조로 재편하게 했다</a:t>
            </a:r>
            <a:r>
              <a:rPr lang="en-US" altLang="ko-KR" sz="160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7825676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C9B72-6603-1993-C74B-D1C00E451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2284E-449D-F2D8-63F7-EDE721F0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53D259-DBF7-4337-E793-0145D0B8D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282979-EB3E-2F95-DCF9-D7138936A38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수출은 계약 구조 및 수출 전략 측면에서 두 가지 상이한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여전히 장기 공급계약에 의존하고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수입국의 수요 안정성과 수출국의 수익 예측 가능성을 동시에 보장한다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카타르와 러시아가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이들은 장기 공급계약을 통해 동아시아 및 유럽의 주요 수입국들과 안정적인 무역 관계를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미국은 대부분의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수출을 헨리 허브 가격을 기반으로 하는 유연한 계약구조를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수출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 모두 시장 가격 변화에 민감하게 반응하는 구조를 갖게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미국식 계약 모델은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현물시장</a:t>
            </a:r>
            <a:r>
              <a:rPr lang="en-US" altLang="ko-KR" sz="1600" dirty="0"/>
              <a:t>(spot market)</a:t>
            </a:r>
            <a:r>
              <a:rPr lang="ko-KR" altLang="en-US" sz="1600" dirty="0"/>
              <a:t>의 성장과 가격 신호의 국제적 확산에 기여하고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유연성과 경쟁성을 동시에 제고하는 데 중요한 역할을 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최근에는 아프리카 및 남미 지역의 신규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수출국들이 주목받고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모잠비크는 </a:t>
            </a:r>
            <a:r>
              <a:rPr lang="ko-KR" altLang="en-US" sz="1600" dirty="0" err="1"/>
              <a:t>로부마</a:t>
            </a:r>
            <a:r>
              <a:rPr lang="en-US" altLang="ko-KR" sz="1600" dirty="0"/>
              <a:t>,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코랄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사우스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세네갈은 </a:t>
            </a:r>
            <a:r>
              <a:rPr lang="ko-KR" altLang="en-US" sz="1600" dirty="0" err="1"/>
              <a:t>그레이터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토르투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아메임</a:t>
            </a:r>
            <a:r>
              <a:rPr lang="ko-KR" altLang="en-US" sz="1600" dirty="0"/>
              <a:t> 프로젝트를 통해</a:t>
            </a:r>
            <a:r>
              <a:rPr lang="en-US" altLang="ko-KR" sz="1600" dirty="0"/>
              <a:t>, </a:t>
            </a:r>
            <a:r>
              <a:rPr lang="ko-KR" altLang="en-US" sz="1600" dirty="0"/>
              <a:t>나이지리아는 보니 아일랜드 프로젝트를 통해 수출 기반을 확장하고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국가는 향후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수출의 지리적 분산과 글로벌 공급 안정성 제고에 크게 기여할 것으로 기대된다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 경쟁 심화와 함께 글로벌 가격 형성에도 복합적인 영향을 미칠 것으로 전망된다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7025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3E5A8-2209-68FC-CACA-E292AC77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CE135-7B2C-B91C-A327-7890EE0B2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A4EA85-C411-CE6C-BAFF-79441028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4BB9E9-7916-F94F-B356-043B07E707B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LNG </a:t>
            </a:r>
            <a:r>
              <a:rPr lang="ko-KR" altLang="en-US" sz="1600" dirty="0"/>
              <a:t>의 또 다른 특징은 액화 인프라의 장기 투자성과 높은 프로젝트 리스크이다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액화 플랜트 건설에는 수십억 달러 규모의 자본 투자가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완공에 수년이 걸리고</a:t>
            </a:r>
            <a:r>
              <a:rPr lang="en-US" altLang="ko-KR" sz="1600" dirty="0"/>
              <a:t>, </a:t>
            </a:r>
            <a:r>
              <a:rPr lang="ko-KR" altLang="en-US" sz="1600" dirty="0"/>
              <a:t>프로젝트의 성공 여부는 자원 매장량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투자제도</a:t>
            </a:r>
            <a:r>
              <a:rPr lang="en-US" altLang="ko-KR" sz="1600" dirty="0"/>
              <a:t>, </a:t>
            </a:r>
            <a:r>
              <a:rPr lang="ko-KR" altLang="en-US" sz="1600" dirty="0"/>
              <a:t>수요 전망 등 다양한 요인에 의해 좌우된다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단기적 시장 상황보다는 장기적 전략과 정책 일관성에 많은 영향을 받는다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D996BF7-A5A7-7AA3-046B-8F1D07C37B1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831"/>
          <a:stretch>
            <a:fillRect/>
          </a:stretch>
        </p:blipFill>
        <p:spPr>
          <a:xfrm>
            <a:off x="6252732" y="3281429"/>
            <a:ext cx="5613416" cy="2880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DD8DF-E515-E39E-62D1-F5910218CA72}"/>
              </a:ext>
            </a:extLst>
          </p:cNvPr>
          <p:cNvSpPr txBox="1"/>
          <p:nvPr/>
        </p:nvSpPr>
        <p:spPr>
          <a:xfrm>
            <a:off x="7512785" y="3225643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 국가의 천연가스 수출량 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D538B8-BB32-0384-BBD7-ACF044FF42BB}"/>
              </a:ext>
            </a:extLst>
          </p:cNvPr>
          <p:cNvSpPr txBox="1"/>
          <p:nvPr/>
        </p:nvSpPr>
        <p:spPr>
          <a:xfrm>
            <a:off x="288791" y="2958882"/>
            <a:ext cx="6165018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그래프에서 보듯이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러시아가 </a:t>
            </a:r>
            <a:r>
              <a:rPr lang="en-US" altLang="ko-KR" sz="1600" dirty="0"/>
              <a:t>4</a:t>
            </a:r>
            <a:r>
              <a:rPr lang="ko-KR" altLang="en-US" sz="1600" dirty="0"/>
              <a:t>대 천연가스 수출국이며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수출의 </a:t>
            </a:r>
            <a:r>
              <a:rPr lang="en-US" altLang="ko-KR" sz="1600" dirty="0"/>
              <a:t>68.8% </a:t>
            </a:r>
            <a:r>
              <a:rPr lang="ko-KR" altLang="en-US" sz="1600" dirty="0"/>
              <a:t>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국가별 비중은 미국</a:t>
            </a:r>
            <a:r>
              <a:rPr lang="en-US" altLang="ko-KR" sz="1600" dirty="0"/>
              <a:t>(20.8%), </a:t>
            </a:r>
            <a:r>
              <a:rPr lang="ko-KR" altLang="en-US" sz="1600" dirty="0"/>
              <a:t>카타르</a:t>
            </a:r>
            <a:r>
              <a:rPr lang="en-US" altLang="ko-KR" sz="1600" dirty="0"/>
              <a:t>(19.7%), </a:t>
            </a:r>
            <a:r>
              <a:rPr lang="ko-KR" altLang="en-US" sz="1600" dirty="0"/>
              <a:t>호주</a:t>
            </a:r>
            <a:r>
              <a:rPr lang="en-US" altLang="ko-KR" sz="1600" dirty="0"/>
              <a:t>(19.6%),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(7.8%)</a:t>
            </a:r>
            <a:r>
              <a:rPr lang="ko-KR" altLang="en-US" sz="1600" dirty="0"/>
              <a:t>를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최근에는 미국과 호주의 비중이 점차 증가하고 있음을 볼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125334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76DF7-795D-675C-12D1-C260F4A4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380991-F804-0298-159B-6F941FEF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B46301-025D-DEFD-BD6D-03C717E46B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ABE3FA-6D9C-5CC8-51E4-443A787CE86C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수출국은 프랑스</a:t>
            </a:r>
            <a:r>
              <a:rPr lang="en-US" altLang="ko-KR" sz="1600" dirty="0"/>
              <a:t>, </a:t>
            </a:r>
            <a:r>
              <a:rPr lang="ko-KR" altLang="en-US" sz="1600" dirty="0"/>
              <a:t>영국</a:t>
            </a:r>
            <a:r>
              <a:rPr lang="en-US" altLang="ko-KR" sz="1600" dirty="0"/>
              <a:t> </a:t>
            </a:r>
            <a:r>
              <a:rPr lang="ko-KR" altLang="en-US" sz="1600" dirty="0"/>
              <a:t>등을 중심으로 한 유럽 지역이 </a:t>
            </a:r>
            <a:r>
              <a:rPr lang="en-US" altLang="ko-KR" sz="1600" dirty="0"/>
              <a:t>67%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</a:t>
            </a:r>
            <a:r>
              <a:rPr lang="en-US" altLang="ko-KR" sz="1600" dirty="0"/>
              <a:t>26%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05DCC5-BFBA-2419-0F7E-D77CB6F24D46}"/>
              </a:ext>
            </a:extLst>
          </p:cNvPr>
          <p:cNvSpPr txBox="1"/>
          <p:nvPr/>
        </p:nvSpPr>
        <p:spPr>
          <a:xfrm>
            <a:off x="7804333" y="79434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2023</a:t>
            </a:r>
            <a:r>
              <a:rPr lang="ko-KR" altLang="en-US" sz="1050" spc="-50" dirty="0"/>
              <a:t>년 미국의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D8DFB7-8119-905E-283E-2B229995A7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8929" r="3673"/>
          <a:stretch>
            <a:fillRect/>
          </a:stretch>
        </p:blipFill>
        <p:spPr>
          <a:xfrm>
            <a:off x="6935303" y="1048265"/>
            <a:ext cx="4823793" cy="21675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CBE5180-A8C1-4799-093C-339A7E3E93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792" r="6418"/>
          <a:stretch>
            <a:fillRect/>
          </a:stretch>
        </p:blipFill>
        <p:spPr>
          <a:xfrm>
            <a:off x="6993680" y="4055164"/>
            <a:ext cx="4641729" cy="25567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8690A0-7E07-D32A-D69F-538011896E90}"/>
              </a:ext>
            </a:extLst>
          </p:cNvPr>
          <p:cNvSpPr txBox="1"/>
          <p:nvPr/>
        </p:nvSpPr>
        <p:spPr>
          <a:xfrm>
            <a:off x="7737264" y="3801247"/>
            <a:ext cx="336003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2023</a:t>
            </a:r>
            <a:r>
              <a:rPr lang="ko-KR" altLang="en-US" sz="1050" spc="-50" dirty="0"/>
              <a:t>년 러시아의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2C1203-B705-268B-C294-9D9A739A4264}"/>
              </a:ext>
            </a:extLst>
          </p:cNvPr>
          <p:cNvSpPr txBox="1"/>
          <p:nvPr/>
        </p:nvSpPr>
        <p:spPr>
          <a:xfrm>
            <a:off x="288790" y="3928205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러시아는 중국과 일본을 중심으로 아시아태평양 지역에 전체의 </a:t>
            </a:r>
            <a:r>
              <a:rPr lang="en-US" altLang="ko-KR" sz="1600" dirty="0"/>
              <a:t>54.1%</a:t>
            </a:r>
            <a:r>
              <a:rPr lang="ko-KR" altLang="en-US" sz="1600" dirty="0"/>
              <a:t>를 수출하고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유럽의 비중은 스페인과 프랑스를 중심으로 </a:t>
            </a:r>
            <a:r>
              <a:rPr lang="en-US" altLang="ko-KR" sz="1600" dirty="0"/>
              <a:t>45.5%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08751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6740-578F-BCF5-1C06-8D5E0B257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BF8D998-AF48-61D5-C872-62D3B69FD0C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866"/>
          <a:stretch>
            <a:fillRect/>
          </a:stretch>
        </p:blipFill>
        <p:spPr>
          <a:xfrm>
            <a:off x="6993680" y="1007168"/>
            <a:ext cx="4557799" cy="247042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4180EAA-1F75-2CC2-7AC5-7D66B52C3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 N G</a:t>
            </a:r>
            <a:r>
              <a:rPr lang="ko-KR" altLang="en-US" dirty="0"/>
              <a:t>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BB38D-7453-D5CB-9E95-0A9369626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37CD8-F2C2-1C14-8620-845FE3DEFA61}"/>
              </a:ext>
            </a:extLst>
          </p:cNvPr>
          <p:cNvSpPr txBox="1"/>
          <p:nvPr/>
        </p:nvSpPr>
        <p:spPr>
          <a:xfrm>
            <a:off x="288790" y="958844"/>
            <a:ext cx="600157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카타르는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한국을 포함한 아시아 지역으로의 수출이 전체 수출량의 </a:t>
            </a:r>
            <a:r>
              <a:rPr lang="en-US" altLang="ko-KR" sz="1600" dirty="0"/>
              <a:t>75%</a:t>
            </a:r>
            <a:r>
              <a:rPr lang="ko-KR" altLang="en-US" sz="1600" dirty="0"/>
              <a:t>를 차지하고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이태리</a:t>
            </a:r>
            <a:r>
              <a:rPr lang="en-US" altLang="ko-KR" sz="1600" dirty="0"/>
              <a:t>, </a:t>
            </a:r>
            <a:r>
              <a:rPr lang="ko-KR" altLang="en-US" sz="1600" dirty="0"/>
              <a:t>벨기에를 포함한 유럽지역에 </a:t>
            </a:r>
            <a:r>
              <a:rPr lang="en-US" altLang="ko-KR" sz="1600" dirty="0"/>
              <a:t>19.2%</a:t>
            </a:r>
            <a:r>
              <a:rPr lang="ko-KR" altLang="en-US" sz="1600" dirty="0"/>
              <a:t>를 수출하고 있다</a:t>
            </a:r>
            <a:r>
              <a:rPr lang="en-US" altLang="ko-KR" sz="16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4AF9A2-A3FF-E0DE-3030-464CCCE19A94}"/>
              </a:ext>
            </a:extLst>
          </p:cNvPr>
          <p:cNvSpPr txBox="1"/>
          <p:nvPr/>
        </p:nvSpPr>
        <p:spPr>
          <a:xfrm>
            <a:off x="7804332" y="893088"/>
            <a:ext cx="331872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2023</a:t>
            </a:r>
            <a:r>
              <a:rPr lang="ko-KR" altLang="en-US" sz="1050" spc="-50" dirty="0"/>
              <a:t>년 카타르의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4BFEC3-9C90-5CAE-EF5C-526EF1AB47F6}"/>
              </a:ext>
            </a:extLst>
          </p:cNvPr>
          <p:cNvSpPr txBox="1"/>
          <p:nvPr/>
        </p:nvSpPr>
        <p:spPr>
          <a:xfrm>
            <a:off x="7804333" y="3899986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2023</a:t>
            </a:r>
            <a:r>
              <a:rPr lang="ko-KR" altLang="en-US" sz="1050" spc="-50" dirty="0"/>
              <a:t>년 호주의 주요 </a:t>
            </a:r>
            <a:r>
              <a:rPr lang="en-US" altLang="ko-KR" sz="1050" spc="-50" dirty="0"/>
              <a:t>LNG </a:t>
            </a:r>
            <a:r>
              <a:rPr lang="ko-KR" altLang="en-US" sz="1050" spc="-50" dirty="0"/>
              <a:t>수출국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5DB801-04CD-D02A-E416-136AA9DB095F}"/>
              </a:ext>
            </a:extLst>
          </p:cNvPr>
          <p:cNvSpPr txBox="1"/>
          <p:nvPr/>
        </p:nvSpPr>
        <p:spPr>
          <a:xfrm>
            <a:off x="288790" y="3928205"/>
            <a:ext cx="6001575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호주의 경우 수출 전량이 아시아 지역으로 향하고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한국 순으로 수출량이 많다</a:t>
            </a:r>
            <a:r>
              <a:rPr lang="en-US" altLang="ko-KR" sz="160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186D9D3-A172-0CF0-4094-70626B23441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960" r="4259"/>
          <a:stretch>
            <a:fillRect/>
          </a:stretch>
        </p:blipFill>
        <p:spPr>
          <a:xfrm>
            <a:off x="6874410" y="4206663"/>
            <a:ext cx="4836094" cy="233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D32C-AEB3-D81F-A31F-C377CB311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E5BE5D-C602-B8A0-C176-798A1EBB9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35379-43C7-A4EC-53C1-47C1547B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251A54-FAAF-1E88-0D81-9D48FAF9CED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파이프라인 천연가스</a:t>
            </a:r>
            <a:r>
              <a:rPr lang="en-US" altLang="ko-KR" sz="1600" dirty="0"/>
              <a:t>(PNG)</a:t>
            </a:r>
            <a:r>
              <a:rPr lang="ko-KR" altLang="en-US" sz="1600" dirty="0"/>
              <a:t> 수출은 지리적 인접성과 장기적 상호 의존성을 기반으로 형성된 에너지 공급 형태이다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LNG</a:t>
            </a:r>
            <a:r>
              <a:rPr lang="ko-KR" altLang="en-US" sz="1600" dirty="0"/>
              <a:t>와 달리 고정된 수송 경로와 이로 인한 지정학적 민감성이 특징이다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생산국과 소비국 간의 지리적 근접성</a:t>
            </a:r>
            <a:r>
              <a:rPr lang="en-US" altLang="ko-KR" sz="1600" dirty="0"/>
              <a:t>, </a:t>
            </a:r>
            <a:r>
              <a:rPr lang="ko-KR" altLang="en-US" sz="1600" dirty="0"/>
              <a:t>역사적 에너지 관계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 협력 수준에 크게 좌우된다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거래 구조의 안정성과 동시에 위험 요소를 내포하고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PNG </a:t>
            </a:r>
            <a:r>
              <a:rPr lang="ko-KR" altLang="en-US" sz="1600" dirty="0"/>
              <a:t>수출은 전통적으로 유라시아 대륙을 중심으로 이루어져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러시아는 유럽과 아시아를 잇는 파이프라인 네트워크를 통해 세계 최대의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가스는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이탈리아</a:t>
            </a:r>
            <a:r>
              <a:rPr lang="en-US" altLang="ko-KR" sz="1600" dirty="0"/>
              <a:t>, </a:t>
            </a:r>
            <a:r>
              <a:rPr lang="ko-KR" altLang="en-US" sz="1600" dirty="0"/>
              <a:t>프랑스 등 주요 </a:t>
            </a:r>
            <a:r>
              <a:rPr lang="ko-KR" altLang="en-US" sz="1600" dirty="0" err="1"/>
              <a:t>유러</a:t>
            </a:r>
            <a:r>
              <a:rPr lang="ko-KR" altLang="en-US" sz="1600" dirty="0"/>
              <a:t> 국가에 대규모로 공급되었다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2021</a:t>
            </a:r>
            <a:r>
              <a:rPr lang="ko-KR" altLang="en-US" sz="1600" dirty="0"/>
              <a:t>년 기준</a:t>
            </a:r>
            <a:r>
              <a:rPr lang="en-US" altLang="ko-KR" sz="1600" dirty="0"/>
              <a:t>, </a:t>
            </a:r>
            <a:r>
              <a:rPr lang="ko-KR" altLang="en-US" sz="1600" dirty="0"/>
              <a:t>유럽 천연가스 수입량의 약</a:t>
            </a:r>
            <a:r>
              <a:rPr lang="en-US" altLang="ko-KR" sz="1600" dirty="0"/>
              <a:t> 40%</a:t>
            </a:r>
            <a:r>
              <a:rPr lang="ko-KR" altLang="en-US" sz="1600" dirty="0"/>
              <a:t>가 러시아 파이프라인을 통해 이루어졌다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</a:t>
            </a:r>
            <a:r>
              <a:rPr lang="en-US" altLang="ko-KR" sz="1600" dirty="0"/>
              <a:t>2022</a:t>
            </a:r>
            <a:r>
              <a:rPr lang="ko-KR" altLang="en-US" sz="1600" dirty="0"/>
              <a:t>년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수입구조는 급격히 변화하였고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정치적 리스크에 매우 취약한 구조임이 재확인 되었다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86615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287DF-A2AF-9D03-E4F3-4C3E37E38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DCE1CA-348B-5235-7EDC-41DD89BF1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8BB13-B62B-B493-99DD-7FE0389F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6BB703-F3A4-2692-078E-0C5684AF45E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경제적 특성상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수출은 특정 생산국이 특정 수입국에 장기적으로 가스를 공급하는 고정적 이원 거래구조를 형성하는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대표적으로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독일 간 </a:t>
            </a:r>
            <a:r>
              <a:rPr lang="ko-KR" altLang="en-US" sz="1600" dirty="0" err="1"/>
              <a:t>노드스트림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</a:t>
            </a:r>
            <a:r>
              <a:rPr lang="en-US" altLang="ko-KR" sz="1600" dirty="0"/>
              <a:t>-</a:t>
            </a:r>
            <a:r>
              <a:rPr lang="ko-KR" altLang="en-US" sz="1600" dirty="0"/>
              <a:t>이탈리아 간 </a:t>
            </a:r>
            <a:r>
              <a:rPr lang="ko-KR" altLang="en-US" sz="1600" dirty="0" err="1"/>
              <a:t>트랜스메드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-</a:t>
            </a:r>
            <a:r>
              <a:rPr lang="ko-KR" altLang="en-US" sz="1600" dirty="0"/>
              <a:t>영국 간 </a:t>
            </a:r>
            <a:r>
              <a:rPr lang="ko-KR" altLang="en-US" sz="1600" dirty="0" err="1"/>
              <a:t>랭가스와</a:t>
            </a:r>
            <a:r>
              <a:rPr lang="ko-KR" altLang="en-US" sz="1600" dirty="0"/>
              <a:t> 같은 대형 파이프라인은 막대한 인프라 투자와 수십 년 단위 장기 계약을 바탕으로 운영된다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LNG</a:t>
            </a:r>
            <a:r>
              <a:rPr lang="ko-KR" altLang="en-US" sz="1600" dirty="0"/>
              <a:t>시장에서 나타나는 현물 거래 및 계약 유연성 확대와 대비된다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지역적으로 보면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유럽</a:t>
            </a:r>
            <a:r>
              <a:rPr lang="en-US" altLang="ko-KR" sz="1600" dirty="0"/>
              <a:t>, </a:t>
            </a:r>
            <a:r>
              <a:rPr lang="ko-KR" altLang="en-US" sz="1600" dirty="0"/>
              <a:t>북미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아시아를 중심으로 지역별 클러스터를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알제리 등의 공급국과 광범위한 파이프라인 네트워크를 공유하고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북미에서는 미국과 캐나다 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멕시코로 이어지는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수출이 활발하다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아시아에서는 투르크메니스탄</a:t>
            </a:r>
            <a:r>
              <a:rPr lang="en-US" altLang="ko-KR" sz="1600" dirty="0"/>
              <a:t>, </a:t>
            </a:r>
            <a:r>
              <a:rPr lang="ko-KR" altLang="en-US" sz="1600" dirty="0"/>
              <a:t>카자흐스탄</a:t>
            </a:r>
            <a:r>
              <a:rPr lang="en-US" altLang="ko-KR" sz="1600" dirty="0"/>
              <a:t>, </a:t>
            </a:r>
            <a:r>
              <a:rPr lang="ko-KR" altLang="en-US" sz="1600" dirty="0"/>
              <a:t>우즈베키스탄 등 중앙아시아 국가들이 중국으로 천연가스를 수출하는 파이프라인 체계를 갖추고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83628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A629D-9A18-7D6A-D00D-0037F3CA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4131D-B3E1-304D-2EE8-B2275B8ED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 N G</a:t>
            </a:r>
            <a:r>
              <a:rPr lang="ko-KR" altLang="en-US" dirty="0"/>
              <a:t> 수출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9B6F34-7EAE-B6C2-B903-A169A3B97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6B2708-E3C2-4E31-6F02-A15C4DB5A38B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한편</a:t>
            </a:r>
            <a:r>
              <a:rPr lang="en-US" altLang="ko-KR" sz="1600" dirty="0"/>
              <a:t>, PNG </a:t>
            </a:r>
            <a:r>
              <a:rPr lang="ko-KR" altLang="en-US" sz="1600" dirty="0"/>
              <a:t>수출은 인프라 건설에 장시간이 소요되고</a:t>
            </a:r>
            <a:r>
              <a:rPr lang="en-US" altLang="ko-KR" sz="1600" dirty="0"/>
              <a:t>, </a:t>
            </a:r>
            <a:r>
              <a:rPr lang="ko-KR" altLang="en-US" sz="1600" dirty="0"/>
              <a:t>정치적</a:t>
            </a:r>
            <a:r>
              <a:rPr lang="en-US" altLang="ko-KR" sz="1600" dirty="0"/>
              <a:t>·</a:t>
            </a:r>
            <a:r>
              <a:rPr lang="ko-KR" altLang="en-US" sz="1600" dirty="0"/>
              <a:t>환경적 인허가 요건이 까다롭기 때문에 확장성과 유연성 측면에서 </a:t>
            </a:r>
            <a:r>
              <a:rPr lang="en-US" altLang="ko-KR" sz="1600" dirty="0"/>
              <a:t>LNG</a:t>
            </a:r>
            <a:r>
              <a:rPr lang="ko-KR" altLang="en-US" sz="1600" dirty="0"/>
              <a:t>에 비해 제약이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대륙 간 수송은 사실상 불가능하고</a:t>
            </a:r>
            <a:r>
              <a:rPr lang="en-US" altLang="ko-KR" sz="1600" dirty="0"/>
              <a:t>, </a:t>
            </a:r>
            <a:r>
              <a:rPr lang="ko-KR" altLang="en-US" sz="1600" dirty="0"/>
              <a:t>해저 구간이 길어지는 경우 건설비용이 급격히 증가한다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수출국들은 지역 내 안정적인 수요처를 기반으로 보수적인 수출 전략을 채택하는 경향을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PNG</a:t>
            </a:r>
            <a:r>
              <a:rPr lang="ko-KR" altLang="en-US" sz="1600" dirty="0"/>
              <a:t>는 운송비용이 낮고 대량 수송에 적합하다는 장점이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생산국과 수입국 간에 신뢰관계가 구축된 경우에는 매우 효율적인 에너지 공급방식이다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6A0319-C55D-D2D0-6F1B-9646CA548F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630" r="6566" b="7640"/>
          <a:stretch>
            <a:fillRect/>
          </a:stretch>
        </p:blipFill>
        <p:spPr>
          <a:xfrm>
            <a:off x="6816035" y="3918226"/>
            <a:ext cx="4960730" cy="26936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E64B49-0EF5-826D-CDDC-2FC64E7BCFE7}"/>
              </a:ext>
            </a:extLst>
          </p:cNvPr>
          <p:cNvSpPr txBox="1"/>
          <p:nvPr/>
        </p:nvSpPr>
        <p:spPr>
          <a:xfrm>
            <a:off x="7804333" y="3783579"/>
            <a:ext cx="322589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 </a:t>
            </a:r>
            <a:r>
              <a:rPr lang="ko-KR" altLang="en-US" sz="1050" spc="-50" dirty="0"/>
              <a:t>주요국의 </a:t>
            </a:r>
            <a:r>
              <a:rPr lang="en-US" altLang="ko-KR" sz="1050" spc="-50" dirty="0"/>
              <a:t>PNG </a:t>
            </a:r>
            <a:r>
              <a:rPr lang="ko-KR" altLang="en-US" sz="1050" spc="-50" dirty="0"/>
              <a:t>수출 </a:t>
            </a:r>
            <a:r>
              <a:rPr lang="en-US" altLang="ko-KR" sz="1050" spc="-50" dirty="0"/>
              <a:t>(10</a:t>
            </a:r>
            <a:r>
              <a:rPr lang="ko-KR" altLang="en-US" sz="1050" spc="-50" dirty="0"/>
              <a:t>억 </a:t>
            </a:r>
            <a:r>
              <a:rPr lang="ko-KR" altLang="en-US" sz="1050" spc="-50" dirty="0" err="1"/>
              <a:t>입방미터</a:t>
            </a:r>
            <a:r>
              <a:rPr lang="en-US" altLang="ko-KR" sz="1050" spc="-50" dirty="0"/>
              <a:t>) 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B58F0D-709A-EF49-0772-084C0E4308E5}"/>
              </a:ext>
            </a:extLst>
          </p:cNvPr>
          <p:cNvSpPr txBox="1"/>
          <p:nvPr/>
        </p:nvSpPr>
        <p:spPr>
          <a:xfrm>
            <a:off x="288790" y="4091647"/>
            <a:ext cx="6001575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수출량은 약 </a:t>
            </a:r>
            <a:r>
              <a:rPr lang="en-US" altLang="ko-KR" sz="1600" dirty="0"/>
              <a:t>6,770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입방미터로</a:t>
            </a:r>
            <a:r>
              <a:rPr lang="ko-KR" altLang="en-US" sz="1600" dirty="0"/>
              <a:t> 집계되었으며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같은 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수출량인 </a:t>
            </a:r>
            <a:r>
              <a:rPr lang="en-US" altLang="ko-KR" sz="1600" dirty="0"/>
              <a:t>5,492</a:t>
            </a:r>
            <a:r>
              <a:rPr lang="ko-KR" altLang="en-US" sz="1600" dirty="0"/>
              <a:t>억 </a:t>
            </a:r>
            <a:r>
              <a:rPr lang="ko-KR" altLang="en-US" sz="1600" dirty="0" err="1"/>
              <a:t>입방미터를</a:t>
            </a:r>
            <a:r>
              <a:rPr lang="ko-KR" altLang="en-US" sz="1600" dirty="0"/>
              <a:t> 상회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오른쪽 그래프는 노르웨이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캐나다 등 주요 </a:t>
            </a:r>
            <a:r>
              <a:rPr lang="en-US" altLang="ko-KR" sz="1600" dirty="0"/>
              <a:t>PNG </a:t>
            </a:r>
            <a:r>
              <a:rPr lang="ko-KR" altLang="en-US" sz="1600" dirty="0"/>
              <a:t>수출국들의 수출 물량을 보여주고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262653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91783-7ADB-202A-A1DE-5858CEE2B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18ABB1-6004-A749-D067-9808900FD0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77217D-31EA-D0A1-C3C0-06E55D0BB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03242AE-927A-B016-61A1-339C52842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천연가스 시장구조와 시장지배력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356657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0D9A9-B774-6E31-A7F5-7BE27716D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676F2-D913-3980-110A-8578C1A92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4B0FA-914F-FD78-4B35-089587F50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CCE876-7D67-8FFB-F0B2-AE3F152F111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시장은 본질적으로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분배 등 여러 단계에 걸쳐 높은 자본집약성과 자산특수성을 특징으로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각 단계별로 독점적 또는 과점적 시장구조가 형성되는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탐사와 생산 단계에서는 시장 집중도와 경쟁 수준이 상이하게 나타난다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다양한 사업자가 차명할 여지가 상대적으로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및 가공부문은 초기 투자비용이 막대하고 대체가 어려운 특성으로 인해 자연독점적 성격을 강화한다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시장 진입장벽을 높이고 경쟁을 제한하는 주요 요인이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최종 분배 단계에서도 국가별 정책과 규제환경에 따라 경쟁 구도가 달라지나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독과점 구조가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구조적 특성은 천연가스 가격 형성과 공급 안정성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소비자 후생에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시장 집중도가 높은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주요 공급자는 가격을 인위적으로 조정하거나 공급량을 통제함으로써 소비자에게 과도한 비용을 전가할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시장의 불확실성을 </a:t>
            </a:r>
            <a:r>
              <a:rPr lang="ko-KR" altLang="en-US" sz="1600" dirty="0" err="1"/>
              <a:t>증대시키고</a:t>
            </a:r>
            <a:r>
              <a:rPr lang="ko-KR" altLang="en-US" sz="1600" dirty="0"/>
              <a:t> 장기적으로 경쟁을 저해하여 혁신 유인을 약화할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산업에서는 경쟁 촉진과 시장 감시를 통한 규제의 중요성이 지속적으로 강조되고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16106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D53D8-FB0B-9931-AE62-3D0C5EC1E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1B40A-9936-B98C-28F9-A571B515D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50EAC-7A20-E20E-9CE0-F7FB2F69D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59D27A-E156-4E05-E2D6-CECB223381E7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주요 생산국인 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카타르는 각국의 에너지 정책과 공급망 전략을 통해 글로벌 시장에 큰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러시아 국영기업인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천연가스 생산과 수출을 독점하고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네트워크를 통한 유럽 시장 지배력을 바탕으로 강한 시장지배력을 행사하고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전략적 행위는 특정 지역의 에너지 안보를 위협하고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시장의 국제정치적 긴장을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수송 및 가공 단계에서는 파이프라인 인프라가 매우 </a:t>
            </a:r>
            <a:r>
              <a:rPr lang="ko-KR" altLang="en-US" sz="1600" dirty="0" err="1"/>
              <a:t>자본집약적이기</a:t>
            </a:r>
            <a:r>
              <a:rPr lang="ko-KR" altLang="en-US" sz="1600" dirty="0"/>
              <a:t>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신규 공급자의 진입이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자연스럽게 독점 구조가 형성될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파이프라인은 건설 이후에는 한계비용이 낮지만 초기 고정투자비용이 매우 높아 진입장벽이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 인프라를 통제하는 기업들은 파이프라인 접근을 제한하거나 운송비용을 높여 시장지배력을 행사한다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천연가스 가공 과정에서도 대규모 처리시설을 보유한 기업들은 비용구조를 통제함으로써 경쟁을 제한하고 높은 처리비용을 강제할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845472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EBD2D-4467-798D-9C2B-B712DBD72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B3AD43-BB3A-A89C-FB00-7E6A8F5AE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구조와 시장지배력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85B48-F90E-6C16-998B-06FB267D3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73AE8E-A54C-CE9E-7364-2C257F4DF70E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최종분배단계에서는 지역 유틸리티 회사들이 특정 지역에서 가스를 독점적으로 공급하는 경우가 흔하며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가격 결정에 공급자의 영향력을 강화하고 시장 경쟁을 저해하는 요인이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 천연가스 공급자들은 생산</a:t>
            </a:r>
            <a:r>
              <a:rPr lang="en-US" altLang="ko-KR" sz="1600" dirty="0"/>
              <a:t>, </a:t>
            </a:r>
            <a:r>
              <a:rPr lang="ko-KR" altLang="en-US" sz="1600" dirty="0"/>
              <a:t>운송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유통 과정을 수직적으로 통합하여 시장지배력을 강화하기도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수직적 통합은 필수 설비에 대한 접근을 제한하거나 과도한 비용을 부과하는 방식으로 경쟁자들을 배제하고 시장 가격을 상승시킬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대표적으로 </a:t>
            </a:r>
            <a:r>
              <a:rPr lang="ko-KR" altLang="en-US" sz="1600" dirty="0" err="1"/>
              <a:t>가즈프롬은</a:t>
            </a:r>
            <a:r>
              <a:rPr lang="ko-KR" altLang="en-US" sz="1600" dirty="0"/>
              <a:t> 탐사</a:t>
            </a:r>
            <a:r>
              <a:rPr lang="en-US" altLang="ko-KR" sz="1600" dirty="0"/>
              <a:t>, </a:t>
            </a:r>
            <a:r>
              <a:rPr lang="ko-KR" altLang="en-US" sz="1600" dirty="0"/>
              <a:t>생산</a:t>
            </a:r>
            <a:r>
              <a:rPr lang="en-US" altLang="ko-KR" sz="1600" dirty="0"/>
              <a:t>, </a:t>
            </a:r>
            <a:r>
              <a:rPr lang="ko-KR" altLang="en-US" sz="1600" dirty="0"/>
              <a:t>수송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유럽시장 진출까지 일관되게 관리하여 공급망 전반에 걸쳐 지배력을 유지하고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공급과정에서의 시장지배력 행사를 완화하기 위해 정부와 규제기관은 파이프라인에 대한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규제</a:t>
            </a:r>
            <a:r>
              <a:rPr lang="en-US" altLang="ko-KR" sz="1600" dirty="0"/>
              <a:t>, </a:t>
            </a:r>
            <a:r>
              <a:rPr lang="ko-KR" altLang="en-US" sz="1600" dirty="0"/>
              <a:t>경쟁 촉진 등을 도입하고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시장에서는 장기계약이 공급자들의 시장지배력 행사에 중요한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공급자와 수요자 간 안정성을 제공하지만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구매자의 에너지 전환 가능성을 제약하여 </a:t>
            </a:r>
            <a:r>
              <a:rPr lang="ko-KR" altLang="en-US" sz="1600" dirty="0" err="1"/>
              <a:t>에너지원간의</a:t>
            </a:r>
            <a:r>
              <a:rPr lang="ko-KR" altLang="en-US" sz="1600" dirty="0"/>
              <a:t> 경쟁이 제한될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 비중이 높으면 신규 공급자 진입이 어렵고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경쟁이 감소하여 소비자 가격이 상승할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588143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F4EE6-7E91-48AF-7C58-6944D1176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B4FA3E8-3B2E-5DD1-14B7-BC328A0EB49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7E8049-A358-3CF2-F13F-C40AE21B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97B70B-EABF-EACD-2EA9-BB8AB3F71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903" y="2221948"/>
            <a:ext cx="11302723" cy="2768198"/>
          </a:xfrm>
          <a:effectLst>
            <a:reflection blurRad="50800" stA="45000" endPos="44000" dir="5400000" sy="-100000" algn="bl" rotWithShape="0"/>
          </a:effectLst>
        </p:spPr>
        <p:txBody>
          <a:bodyPr anchor="ctr" anchorCtr="0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천연가스 시장의 탈규제와 구조개편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204646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91A43-D562-52E1-09A5-D7835E9E2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A6EBC1-7B5E-36B1-D308-490A02A1B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B0A3F7-57BC-23EA-D8B2-0F778FD54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BE5746-4F67-FD51-6610-89E7EE47264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천연가스 시장에서의 탈규제와 구조개편은 기존의 국가 독점 또는 규제된 통합 구조를 경쟁 중심의 시장 지향 구조로 전환하기 위한 정책적 변화들을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 미국과 영국을 중심으로 본격화되었고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가격 결정 방식</a:t>
            </a:r>
            <a:r>
              <a:rPr lang="en-US" altLang="ko-KR" sz="1600" dirty="0"/>
              <a:t>, </a:t>
            </a:r>
            <a:r>
              <a:rPr lang="ko-KR" altLang="en-US" sz="1600" dirty="0"/>
              <a:t>투자 유인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</a:t>
            </a:r>
            <a:r>
              <a:rPr lang="en-US" altLang="ko-KR" sz="1600" dirty="0"/>
              <a:t>, </a:t>
            </a:r>
            <a:r>
              <a:rPr lang="ko-KR" altLang="en-US" sz="1600" dirty="0"/>
              <a:t>국제 무역 등에 큰 영향을 미쳐왔다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기업이 천연가스의 공급사슬을 수직 통합하고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가격은 정부 혹은 규제기관이 결정하였지만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시간이 지나면서 이러한 구조가 비효율적이고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 변화에 유연하게 대응하기 어렵다는 비판이 잇따르면서</a:t>
            </a:r>
            <a:r>
              <a:rPr lang="en-US" altLang="ko-KR" sz="1600" dirty="0"/>
              <a:t>, </a:t>
            </a:r>
            <a:r>
              <a:rPr lang="ko-KR" altLang="en-US" sz="1600" dirty="0"/>
              <a:t>각 국가들은 탈규제와 구조개편을 추진하게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탈규제는 가격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진입</a:t>
            </a:r>
            <a:r>
              <a:rPr lang="en-US" altLang="ko-KR" sz="1600" dirty="0"/>
              <a:t>, </a:t>
            </a:r>
            <a:r>
              <a:rPr lang="ko-KR" altLang="en-US" sz="1600" dirty="0"/>
              <a:t>운영과 같은 부문에서 정부의 직접적인 통제를 완화하거나</a:t>
            </a:r>
            <a:r>
              <a:rPr lang="en-US" altLang="ko-KR" sz="1600" dirty="0"/>
              <a:t> </a:t>
            </a:r>
            <a:r>
              <a:rPr lang="ko-KR" altLang="en-US" sz="1600" dirty="0"/>
              <a:t>제거하는 것을 의미한다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구조개편은 기존의 수직적으로 통합된 기업을 기능별로 분리하여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경쟁이 가능한 부문과 자연독점적 성격을 가진 부문을 구분하는 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예를 들면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산업에서는 생산과 판매 부문에 경쟁을 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송전이나 파이프라인 수송 부문은 공공적 규제를 유지하는 방식이 대표적이다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7980133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F785B-1A00-44E1-50DF-8F556CC9D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BFCC4B-DFD6-A58C-8878-00718F20B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324C00-6E67-3743-58A4-398D6E1CD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A446E4-74EA-3A2E-F737-B06AC71F710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영국은 가장 먼저 천연가스 시장 자유화를 도입한 국가로</a:t>
            </a:r>
            <a:r>
              <a:rPr lang="en-US" altLang="ko-KR" sz="1600" dirty="0"/>
              <a:t>, 1980</a:t>
            </a:r>
            <a:r>
              <a:rPr lang="ko-KR" altLang="en-US" sz="1600" dirty="0"/>
              <a:t>년대 민영화를 시작으로 </a:t>
            </a:r>
            <a:r>
              <a:rPr lang="en-US" altLang="ko-KR" sz="1600" dirty="0"/>
              <a:t>1998</a:t>
            </a:r>
            <a:r>
              <a:rPr lang="ko-KR" altLang="en-US" sz="1600" dirty="0"/>
              <a:t>년에는 완전한 소매 경쟁 시장을 구축하였다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과정에서 제</a:t>
            </a:r>
            <a:r>
              <a:rPr lang="en-US" altLang="ko-KR" sz="1600" dirty="0"/>
              <a:t>3</a:t>
            </a:r>
            <a:r>
              <a:rPr lang="ko-KR" altLang="en-US" sz="1600" dirty="0"/>
              <a:t>자 파이프라인 접근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기반 가격 체계</a:t>
            </a:r>
            <a:r>
              <a:rPr lang="en-US" altLang="ko-KR" sz="1600" dirty="0"/>
              <a:t>, </a:t>
            </a:r>
            <a:r>
              <a:rPr lang="ko-KR" altLang="en-US" sz="1600" dirty="0"/>
              <a:t>자연독점 부문의 규제기관 감독 등의 제도들이 단계적으로 도입되었다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유럽연합</a:t>
            </a:r>
            <a:r>
              <a:rPr lang="en-US" altLang="ko-KR" sz="1600" dirty="0"/>
              <a:t>(EU)</a:t>
            </a:r>
            <a:r>
              <a:rPr lang="ko-KR" altLang="en-US" sz="1600" dirty="0"/>
              <a:t>도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말부터 </a:t>
            </a:r>
            <a:r>
              <a:rPr lang="en-US" altLang="ko-KR" sz="1600" dirty="0"/>
              <a:t>‘</a:t>
            </a:r>
            <a:r>
              <a:rPr lang="ko-KR" altLang="en-US" sz="1600" dirty="0"/>
              <a:t>가스 지침</a:t>
            </a:r>
            <a:r>
              <a:rPr lang="en-US" altLang="ko-KR" sz="1600" dirty="0"/>
              <a:t>‘</a:t>
            </a:r>
            <a:r>
              <a:rPr lang="ko-KR" altLang="en-US" sz="1600" dirty="0"/>
              <a:t>을 통해 회원국들의 시장 개방을 유도하였다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</a:t>
            </a:r>
            <a:r>
              <a:rPr lang="en-US" altLang="ko-KR" sz="1600" dirty="0"/>
              <a:t>, 2003</a:t>
            </a:r>
            <a:r>
              <a:rPr lang="ko-KR" altLang="en-US" sz="1600" dirty="0"/>
              <a:t>년</a:t>
            </a:r>
            <a:r>
              <a:rPr lang="en-US" altLang="ko-KR" sz="1600" dirty="0"/>
              <a:t>, 2009</a:t>
            </a:r>
            <a:r>
              <a:rPr lang="ko-KR" altLang="en-US" sz="1600" dirty="0"/>
              <a:t>년의 세 차례 지침은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 보장</a:t>
            </a:r>
            <a:r>
              <a:rPr lang="en-US" altLang="ko-KR" sz="1600" dirty="0"/>
              <a:t>, </a:t>
            </a:r>
            <a:r>
              <a:rPr lang="ko-KR" altLang="en-US" sz="1600" dirty="0"/>
              <a:t>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배전과 판매 기능의 법적 분리</a:t>
            </a:r>
            <a:r>
              <a:rPr lang="en-US" altLang="ko-KR" sz="1600" dirty="0"/>
              <a:t>, </a:t>
            </a:r>
            <a:r>
              <a:rPr lang="ko-KR" altLang="en-US" sz="1600" dirty="0"/>
              <a:t>독립 규제기관 설치 등을 요구하였고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다수의 국가가 </a:t>
            </a:r>
            <a:r>
              <a:rPr lang="en-US" altLang="ko-KR" sz="1600" dirty="0"/>
              <a:t>2004</a:t>
            </a:r>
            <a:r>
              <a:rPr lang="ko-KR" altLang="en-US" sz="1600" dirty="0"/>
              <a:t>년까지 전면 시장 개방을 완료하였다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각국의 제도 도입과 실행 수준은 여전히 상이하며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구조적 통합성이 강하다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연방 에너지 규제위원회</a:t>
            </a:r>
            <a:r>
              <a:rPr lang="en-US" altLang="ko-KR" sz="1600" dirty="0"/>
              <a:t>(FERC, Federal Energy Regulatory </a:t>
            </a:r>
            <a:r>
              <a:rPr lang="en-US" altLang="ko-KR" sz="1600" dirty="0" err="1"/>
              <a:t>Commision</a:t>
            </a:r>
            <a:r>
              <a:rPr lang="en-US" altLang="ko-KR" sz="1600" dirty="0"/>
              <a:t>)</a:t>
            </a:r>
            <a:r>
              <a:rPr lang="ko-KR" altLang="en-US" sz="1600" dirty="0"/>
              <a:t>가 </a:t>
            </a:r>
            <a:r>
              <a:rPr lang="en-US" altLang="ko-KR" sz="1600" dirty="0"/>
              <a:t>1980</a:t>
            </a:r>
            <a:r>
              <a:rPr lang="ko-KR" altLang="en-US" sz="1600" dirty="0"/>
              <a:t>년대부터 탈규제를 본격 추진하였으며</a:t>
            </a:r>
            <a:r>
              <a:rPr lang="en-US" altLang="ko-KR" sz="1600" dirty="0"/>
              <a:t>, </a:t>
            </a:r>
            <a:r>
              <a:rPr lang="ko-KR" altLang="en-US" sz="1600" dirty="0"/>
              <a:t>파이프라인 사업자에게 제</a:t>
            </a:r>
            <a:r>
              <a:rPr lang="en-US" altLang="ko-KR" sz="1600" dirty="0"/>
              <a:t>3</a:t>
            </a:r>
            <a:r>
              <a:rPr lang="ko-KR" altLang="en-US" sz="1600" dirty="0"/>
              <a:t>자 접근을 의무화하고</a:t>
            </a:r>
            <a:r>
              <a:rPr lang="en-US" altLang="ko-KR" sz="1600" dirty="0"/>
              <a:t>, </a:t>
            </a:r>
            <a:r>
              <a:rPr lang="ko-KR" altLang="en-US" sz="1600" dirty="0"/>
              <a:t>소비자와 생산자가 직접 계약을 체결할 수 있게 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경쟁적 도매시장을 형성하였다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 결과 미국은 현물 및 선물 시장이 활성화된 </a:t>
            </a:r>
            <a:r>
              <a:rPr lang="ko-KR" altLang="en-US" sz="1600" dirty="0" err="1"/>
              <a:t>고유동성</a:t>
            </a:r>
            <a:r>
              <a:rPr lang="ko-KR" altLang="en-US" sz="1600" dirty="0"/>
              <a:t> 시장을 구축하고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헨리허브를</a:t>
            </a:r>
            <a:r>
              <a:rPr lang="ko-KR" altLang="en-US" sz="1600" dirty="0"/>
              <a:t> 중심으로 글로벌 가격 신호 전파 기능을 수행하고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469548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0EA88-CBA8-F540-EF1B-7AF0DE64E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68B0A8-FF2A-022E-1EDF-831FC4FED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CC4B4-40AF-1E15-9A36-E112FA61A6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B649-30ED-D344-711A-3CD4C71BF6A1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일본은 </a:t>
            </a:r>
            <a:r>
              <a:rPr lang="en-US" altLang="ko-KR" sz="1600" dirty="0"/>
              <a:t>1990</a:t>
            </a:r>
            <a:r>
              <a:rPr lang="ko-KR" altLang="en-US" sz="1600" dirty="0"/>
              <a:t>년대 후반부터 점진적인 천연가스 시장 자유화를 추진해왔고</a:t>
            </a:r>
            <a:r>
              <a:rPr lang="en-US" altLang="ko-KR" sz="1600" dirty="0"/>
              <a:t>, 2020</a:t>
            </a:r>
            <a:r>
              <a:rPr lang="ko-KR" altLang="en-US" sz="1600" dirty="0"/>
              <a:t>년에는 소매부문까지 완전 자유화를 달성하였다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도쿄가스</a:t>
            </a:r>
            <a:r>
              <a:rPr lang="en-US" altLang="ko-KR" sz="1600" dirty="0"/>
              <a:t>, </a:t>
            </a:r>
            <a:r>
              <a:rPr lang="ko-KR" altLang="en-US" sz="1600" dirty="0"/>
              <a:t>오사카가스 등 대형 지역가스회사가 여전히 시장을 주도하고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실질적인 경쟁은 제한적이라는 평가도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중국보다 점진적 접근을 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한국은 한국가스공사</a:t>
            </a:r>
            <a:r>
              <a:rPr lang="en-US" altLang="ko-KR" sz="1600" dirty="0"/>
              <a:t>(KOGAS)</a:t>
            </a:r>
            <a:r>
              <a:rPr lang="ko-KR" altLang="en-US" sz="1600" dirty="0"/>
              <a:t>를 중심으로</a:t>
            </a:r>
            <a:r>
              <a:rPr lang="en-US" altLang="ko-KR" sz="1600" dirty="0"/>
              <a:t>, </a:t>
            </a:r>
            <a:r>
              <a:rPr lang="ko-KR" altLang="en-US" sz="1600" dirty="0"/>
              <a:t>수입</a:t>
            </a:r>
            <a:r>
              <a:rPr lang="en-US" altLang="ko-KR" sz="1600" dirty="0"/>
              <a:t>, </a:t>
            </a:r>
            <a:r>
              <a:rPr lang="ko-KR" altLang="en-US" sz="1600" dirty="0"/>
              <a:t>도매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운영이 통합된 규제된 구조를 유지하고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일부 발전용 및 산업용에 한해 시장화를 시도하고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</a:t>
            </a:r>
            <a:r>
              <a:rPr lang="en-US" altLang="ko-KR" sz="1600" dirty="0"/>
              <a:t>2020</a:t>
            </a:r>
            <a:r>
              <a:rPr lang="ko-KR" altLang="en-US" sz="1600" dirty="0"/>
              <a:t>년 국가 파이프라인공사를 설립하여 송</a:t>
            </a:r>
            <a:r>
              <a:rPr lang="en-US" altLang="ko-KR" sz="1600" dirty="0"/>
              <a:t>·</a:t>
            </a:r>
            <a:r>
              <a:rPr lang="ko-KR" altLang="en-US" sz="1600" dirty="0"/>
              <a:t>배전 인프라를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판매 부문과 분리하는 구조조정을 착수하여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산업의 효율성과 민간투자 유인을 강화하려는 시도를 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4645816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ED844-EA08-9C45-A45A-734D28224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25C14-AD44-C38D-0CF9-CB3AF88FA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시장의 탈규제와 구조개편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7BFCE9-45FB-C5C2-ECB0-21FFF39D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8B8DB-47DF-4212-F5CC-BF78C0F4AA40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탈규제와 구조개편의 주요 목적은 시장 효율성 제고</a:t>
            </a:r>
            <a:r>
              <a:rPr lang="en-US" altLang="ko-KR" sz="1600" dirty="0"/>
              <a:t>, </a:t>
            </a:r>
            <a:r>
              <a:rPr lang="ko-KR" altLang="en-US" sz="1600" dirty="0"/>
              <a:t>민간투자 촉진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수입처</a:t>
            </a:r>
            <a:r>
              <a:rPr lang="ko-KR" altLang="en-US" sz="1600" dirty="0"/>
              <a:t> 다변화</a:t>
            </a:r>
            <a:r>
              <a:rPr lang="en-US" altLang="ko-KR" sz="1600" dirty="0"/>
              <a:t>, </a:t>
            </a:r>
            <a:r>
              <a:rPr lang="ko-KR" altLang="en-US" sz="1600" dirty="0"/>
              <a:t>가격 신호의 투명성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제고 등이다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최근 </a:t>
            </a:r>
            <a:r>
              <a:rPr lang="en-US" altLang="ko-KR" sz="1600" dirty="0"/>
              <a:t>LNG</a:t>
            </a:r>
            <a:r>
              <a:rPr lang="ko-KR" altLang="en-US" sz="1600" dirty="0"/>
              <a:t> 시장에서 장기 고정가격 계약이 허브 기반의 현물가격 계약으로 전환되는 추세도 이러한 시장 유연화와 규제 완화의 일환으로 해석할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한국은 여전히 공공 중심의 안정성 지향 구조를 유지하고 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시장 유연성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가격 경쟁력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공급선 다변화 측면에서 점진적인 제도 개편의 필요성이 커지고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유럽의 자유화 경험은 한국이 이러한 제도 개혁을 추진할 때</a:t>
            </a:r>
            <a:r>
              <a:rPr lang="en-US" altLang="ko-KR" sz="1600" dirty="0"/>
              <a:t>, </a:t>
            </a:r>
            <a:r>
              <a:rPr lang="ko-KR" altLang="en-US" sz="1600" dirty="0"/>
              <a:t>유용한 벤치마크를 제공하고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전환기와 글로벌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 재편기에 대응하는 정책 설계에 있어 중요한 시사점을 제공한다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14207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BEA8-9CC1-DD1F-975D-DDA9762D5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D2871E-2F83-AA46-877B-BD918D41BE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4534A9-8A45-3E1D-2AE3-E5A674710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4CEE3B9-85C8-1362-0416-5231A98C8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천연가스 시장의 가격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935435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31D4D-B178-469A-AF44-600873A46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C7A15B-FECB-67B0-BB4B-6EBAACEA8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51A4-718D-B2D3-92D3-38917B19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683D07-50A8-23C4-595D-C8B3CC909C6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가격은 다양한 시장 요인들에 의하여 결정되며 전 세계적으로 균일한 가격이 형성되는 원유가격과 달리 천연가스는 지역의 수요와 공급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수송비용과 시장구조에 영향을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가장 근원적인 가격 결정요인은 수요와 공급이다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탐사</a:t>
            </a:r>
            <a:r>
              <a:rPr lang="en-US" altLang="ko-KR" sz="1600" dirty="0"/>
              <a:t>, </a:t>
            </a:r>
            <a:r>
              <a:rPr lang="ko-KR" altLang="en-US" sz="1600" dirty="0"/>
              <a:t>시추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 등의 생산비용 또한 시장가격에 중요한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심해시추기술이나 </a:t>
            </a:r>
            <a:r>
              <a:rPr lang="ko-KR" altLang="en-US" sz="1600" dirty="0" err="1"/>
              <a:t>수압파쇄</a:t>
            </a:r>
            <a:r>
              <a:rPr lang="ko-KR" altLang="en-US" sz="1600" dirty="0"/>
              <a:t> 기법 등 고비용의 생산 방식을 사용하는 경우 다른 지역에 비해 시장가격이 높게 분포한다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운송비용 또한 최종 시장가격에 영향을 미치는데</a:t>
            </a:r>
            <a:r>
              <a:rPr lang="en-US" altLang="ko-KR" sz="1600" dirty="0"/>
              <a:t>, LNG</a:t>
            </a:r>
            <a:r>
              <a:rPr lang="ko-KR" altLang="en-US" sz="1600" dirty="0"/>
              <a:t>의 경우 장거리 운송은 액화</a:t>
            </a:r>
            <a:r>
              <a:rPr lang="en-US" altLang="ko-KR" sz="1600" dirty="0"/>
              <a:t>, </a:t>
            </a:r>
            <a:r>
              <a:rPr lang="ko-KR" altLang="en-US" sz="1600" dirty="0"/>
              <a:t>선적</a:t>
            </a:r>
            <a:r>
              <a:rPr lang="en-US" altLang="ko-KR" sz="1600" dirty="0"/>
              <a:t> </a:t>
            </a:r>
            <a:r>
              <a:rPr lang="ko-KR" altLang="en-US" sz="1600" dirty="0"/>
              <a:t>및 재기화 비용으로 인해 비용상승의 요인으로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 가스의 가격 결정은 지역별 시장 구조</a:t>
            </a:r>
            <a:r>
              <a:rPr lang="en-US" altLang="ko-KR" sz="1600" dirty="0"/>
              <a:t>, </a:t>
            </a:r>
            <a:r>
              <a:rPr lang="ko-KR" altLang="en-US" sz="1600" dirty="0"/>
              <a:t>대체 연료의 존재 여부</a:t>
            </a:r>
            <a:r>
              <a:rPr lang="en-US" altLang="ko-KR" sz="1600" dirty="0"/>
              <a:t>, </a:t>
            </a:r>
            <a:r>
              <a:rPr lang="ko-KR" altLang="en-US" sz="1600" dirty="0"/>
              <a:t>계약 형태에 따라 다양한 방식을 따른다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전통적으로 유럽과 아시아 시장에서는 석유 연동가격제</a:t>
            </a:r>
            <a:r>
              <a:rPr lang="en-US" altLang="ko-KR" sz="1600" dirty="0"/>
              <a:t>, </a:t>
            </a:r>
            <a:r>
              <a:rPr lang="ko-KR" altLang="en-US" sz="1600" dirty="0"/>
              <a:t>즉 가격연동제가 주요한 가격 결정 메커니즘이었다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방식에서 천연가스 가격은 중유</a:t>
            </a:r>
            <a:r>
              <a:rPr lang="en-US" altLang="ko-KR" sz="1600" dirty="0"/>
              <a:t>, </a:t>
            </a:r>
            <a:r>
              <a:rPr lang="ko-KR" altLang="en-US" sz="1600" dirty="0"/>
              <a:t>경유</a:t>
            </a:r>
            <a:r>
              <a:rPr lang="en-US" altLang="ko-KR" sz="1600" dirty="0"/>
              <a:t> </a:t>
            </a:r>
            <a:r>
              <a:rPr lang="ko-KR" altLang="en-US" sz="1600" dirty="0"/>
              <a:t>등 석유 제품의 가격과 일정한 비율로 연동되며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장기계약에서 활용되었다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90408747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A96AA-2B27-2285-8409-B263BC450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3838EC-682B-8718-A9A5-2714A66D1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FEA10A-FACE-339B-CFED-7EF0D7EA9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살펴본 가격연동을 수식으로 표현하면 다음과 같다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𝑔𝑎𝑠</m:t>
                        </m:r>
                      </m:sub>
                    </m:sSub>
                  </m:oMath>
                </a14:m>
                <a:r>
                  <a:rPr lang="ko-KR" altLang="en-US" sz="1600" dirty="0"/>
                  <a:t>는 천연가스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𝑜𝑖𝑙</m:t>
                        </m:r>
                      </m:sub>
                    </m:sSub>
                  </m:oMath>
                </a14:m>
                <a:r>
                  <a:rPr lang="ko-KR" altLang="en-US" sz="1600" dirty="0"/>
                  <a:t>은 기준 석유제품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/>
                  <a:t>는 에너지 등가기준 계수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</a:t>
                </a: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sz="1600" dirty="0"/>
                  <a:t>는 조정상수로서 운송비용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시장조정 요소를 반영한다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방식은 가격 변동성을 유가에 연동시켜 장기적인 안정성을 제공하지만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수급 상황이나 천연가스 고유의 수요</a:t>
                </a:r>
                <a:r>
                  <a:rPr lang="en-US" altLang="ko-KR" sz="1600" dirty="0"/>
                  <a:t>·</a:t>
                </a:r>
                <a:r>
                  <a:rPr lang="ko-KR" altLang="en-US" sz="1600" dirty="0"/>
                  <a:t>공급 특성을 반영하는 데 한계가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89ACE-4393-7D0A-2702-4B5526C02A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2660024"/>
              </a:xfrm>
              <a:prstGeom prst="rect">
                <a:avLst/>
              </a:prstGeom>
              <a:blipFill>
                <a:blip r:embed="rId3"/>
                <a:stretch>
                  <a:fillRect b="-183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/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𝑔𝑎𝑠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 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600957-BB1D-C6F8-9C67-DB4A45CB5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531044"/>
                <a:ext cx="6135756" cy="407484"/>
              </a:xfrm>
              <a:prstGeom prst="rect">
                <a:avLst/>
              </a:prstGeom>
              <a:blipFill>
                <a:blip r:embed="rId4"/>
                <a:stretch>
                  <a:fillRect b="-447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57634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7697D-8458-B2E9-23BC-D564D2A4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7117C1-2A48-3C31-A676-A07D645E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B495F-2503-212C-39D9-6C6791D56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한편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글로벌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시장의 확대와 함께 점차 중요성이 증가하고 있는 방식은 순환수 가격방식 </a:t>
                </a:r>
                <a:r>
                  <a:rPr lang="en-US" altLang="ko-KR" sz="1600" dirty="0"/>
                  <a:t>(netback pricing)</a:t>
                </a:r>
                <a:r>
                  <a:rPr lang="ko-KR" altLang="en-US" sz="1600" dirty="0"/>
                  <a:t>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수요지에서의 천연가스 판매 가격을 기준으로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생산지 가격을 역산하는 방식으로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다음과 같이 표현할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𝑛𝑒𝑡𝑏𝑎𝑐𝑘</m:t>
                        </m:r>
                      </m:sub>
                    </m:sSub>
                  </m:oMath>
                </a14:m>
                <a:r>
                  <a:rPr lang="ko-KR" altLang="en-US" sz="1600" dirty="0"/>
                  <a:t>은 생산지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수출국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순환수 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𝑑𝑒𝑙𝑖𝑣𝑒𝑟𝑒𝑑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ko-KR" altLang="en-US" sz="1600" dirty="0" err="1"/>
                  <a:t>수요지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수입국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에서의 도착가격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𝑙𝑖𝑞𝑢𝑒𝑓𝑎𝑐𝑡𝑖𝑜𝑛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액화비용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𝑡𝑟𝑎𝑛𝑠𝑝𝑜𝑟𝑡</m:t>
                        </m:r>
                      </m:sub>
                    </m:sSub>
                  </m:oMath>
                </a14:m>
                <a:r>
                  <a:rPr lang="ko-KR" altLang="en-US" sz="1600" dirty="0"/>
                  <a:t>는 운송비용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𝑟𝑒𝑔𝑎𝑠𝑖𝑓𝑖𝑐𝑎𝑡𝑖𝑜𝑛</m:t>
                        </m:r>
                      </m:sub>
                    </m:sSub>
                  </m:oMath>
                </a14:m>
                <a:r>
                  <a:rPr lang="ko-KR" altLang="en-US" sz="1600" dirty="0"/>
                  <a:t>은 재기화비용을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Netback </a:t>
                </a:r>
                <a:r>
                  <a:rPr lang="ko-KR" altLang="en-US" sz="1600" dirty="0"/>
                  <a:t>방식은 가격 결정이 수요지의 시장 가격에 따라 유연하게 조정되므로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 기반의 경쟁적 거래에 유리하다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방식은 특히 미국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호주 등 자유화된 가스 생산국에서 </a:t>
                </a:r>
                <a:r>
                  <a:rPr lang="en-US" altLang="ko-KR" sz="1600" dirty="0"/>
                  <a:t>LNG </a:t>
                </a:r>
                <a:r>
                  <a:rPr lang="ko-KR" altLang="en-US" sz="1600" dirty="0"/>
                  <a:t>수출 시 가격 책정의 핵심 도구로 활용되고 있다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345030A-541F-E0F5-CBD7-51B0C24F1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3428311"/>
              </a:xfrm>
              <a:prstGeom prst="rect">
                <a:avLst/>
              </a:prstGeom>
              <a:blipFill>
                <a:blip r:embed="rId3"/>
                <a:stretch>
                  <a:fillRect r="-329" b="-12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/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𝑛𝑒𝑡𝑏𝑎𝑐𝑘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𝑑𝑒𝑙𝑖𝑣𝑒𝑟𝑒𝑑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𝑙𝑖𝑞𝑢𝑒𝑓𝑎𝑐𝑡𝑖𝑜𝑛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𝑡𝑟𝑎𝑛𝑠𝑝𝑜𝑟𝑡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𝑟𝑒𝑔𝑎𝑠𝑖𝑓𝑖𝑐𝑎𝑡𝑖𝑜𝑛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36F128-5F12-5DF4-E134-0507E7897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26" y="1893273"/>
                <a:ext cx="7679636" cy="39190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2606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7F1B0-0459-CE18-60D8-69F1ED2AE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3B2D04-6292-43D3-9395-D9B6D2CC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천연가스 가격의 결정 요인들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538462-C511-4FC5-E443-15D17F80C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최근에는 유가 연동 방식과 시장 가격 연동 방식을 결합한 혼합가격방식도 등장하고 있다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이 방식은 다음과 같은 가중 평균 형태로 모델링 되기도 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각각 가중치를 의미하고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ℎ𝑦𝑏𝑟𝑖𝑑</m:t>
                        </m:r>
                      </m:sub>
                    </m:sSub>
                    <m:r>
                      <a:rPr lang="ko-KR" altLang="en-US" sz="1600" i="1" smtClean="0">
                        <a:latin typeface="Cambria Math" panose="02040503050406030204" pitchFamily="18" charset="0"/>
                      </a:rPr>
                      <m:t>는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가격의 가중평균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𝑜𝑖𝑙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𝑖𝑛𝑑𝑒𝑥𝑒𝑑</m:t>
                        </m:r>
                      </m:sub>
                    </m:sSub>
                  </m:oMath>
                </a14:m>
                <a:r>
                  <a:rPr lang="ko-KR" altLang="en-US" sz="1600" dirty="0"/>
                  <a:t>은 석유연동가격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ℎ𝑢𝑏</m:t>
                        </m:r>
                      </m:sub>
                    </m:sSub>
                  </m:oMath>
                </a14:m>
                <a:r>
                  <a:rPr lang="ko-KR" altLang="en-US" sz="1600" dirty="0"/>
                  <a:t>는 현물시장 기준가격을 나타낸다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혼합방식 모델은 장기계약의 안정성과 시장 가격 반영의 유연성을 동시에 확보할 수 있는 방법이다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종합해보면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천연가스 가격 결정 방식은 석유시장과의 연계성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국제 거래 구조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시장의 자유화 정도에 따라 상이하며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최근에는 점차 수요지의 가격 신호를 반영하는 시장 기반 방식으로의 전환이 이루어지고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이러한 변화는 천연가스의 글로벌 통합과 에너지 전환이라는 거시적 흐름과 밀접한 관련이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3F6188D-1215-F683-09DD-2CD902F2BD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118453" cy="4880054"/>
              </a:xfrm>
              <a:prstGeom prst="rect">
                <a:avLst/>
              </a:prstGeom>
              <a:blipFill>
                <a:blip r:embed="rId3"/>
                <a:stretch>
                  <a:fillRect r="-658" b="-62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/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ℎ𝑦𝑏𝑟𝑖𝑑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𝑜𝑖𝑙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𝑖𝑛𝑑𝑒𝑥𝑒𝑑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ℎ𝑢𝑏</m:t>
                          </m:r>
                        </m:sub>
                      </m:sSub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100559F-F58A-4553-ECF9-9EEFBA23E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51" y="1787252"/>
                <a:ext cx="6135756" cy="391261"/>
              </a:xfrm>
              <a:prstGeom prst="rect">
                <a:avLst/>
              </a:prstGeom>
              <a:blipFill>
                <a:blip r:embed="rId4"/>
                <a:stretch>
                  <a:fillRect b="-781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92282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F2C98-38FB-60B9-3FF5-8E5FEAFD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78DBF2-859A-2EE3-4CA6-7A58063E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1839FC-E107-608C-3D36-D27CB7AB4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A7F7F4-279D-3481-B846-01773C05124F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전 세계적인 단일 가격 형성이 되지 않고 지역적으로 가격 차이가 발생한다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가격은 </a:t>
            </a:r>
            <a:r>
              <a:rPr lang="ko-KR" altLang="en-US" sz="1600" b="1" dirty="0" err="1"/>
              <a:t>헨리허브</a:t>
            </a:r>
            <a:r>
              <a:rPr lang="en-US" altLang="ko-KR" sz="1600" b="1" dirty="0"/>
              <a:t>(Henry Hub)</a:t>
            </a:r>
            <a:r>
              <a:rPr lang="ko-KR" altLang="en-US" sz="1600" dirty="0"/>
              <a:t> 가격이 벤치마크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미국은 </a:t>
            </a:r>
            <a:r>
              <a:rPr lang="ko-KR" altLang="en-US" sz="1600" dirty="0" err="1"/>
              <a:t>셰일가스붐으로</a:t>
            </a:r>
            <a:r>
              <a:rPr lang="ko-KR" altLang="en-US" sz="1600" dirty="0"/>
              <a:t> 다른 지역에 비하여 낮은 가격을 유지하고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유럽은 영국의 </a:t>
            </a:r>
            <a:r>
              <a:rPr lang="en-US" altLang="ko-KR" sz="1600" dirty="0"/>
              <a:t>NBP(National Balancing Point)</a:t>
            </a:r>
            <a:r>
              <a:rPr lang="ko-KR" altLang="en-US" sz="1600" dirty="0"/>
              <a:t>와 네덜란드의 </a:t>
            </a:r>
            <a:r>
              <a:rPr lang="en-US" altLang="ko-KR" sz="1600" b="1" dirty="0"/>
              <a:t>TTF(Title Transfer Facility)</a:t>
            </a:r>
            <a:r>
              <a:rPr lang="ko-KR" altLang="en-US" sz="1600" dirty="0"/>
              <a:t>의 중심으로 가격이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유럽의 천연가스 가격은 수입비용과 시장구조를 반영하여 미국에 비하여 높게 형성된다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동북아시아의 가스 현물시장 가격은 </a:t>
            </a:r>
            <a:r>
              <a:rPr lang="en-US" altLang="ko-KR" sz="1600" b="1" dirty="0"/>
              <a:t>JKM (Japan Korea Market)</a:t>
            </a:r>
            <a:r>
              <a:rPr lang="ko-KR" altLang="en-US" sz="1600" dirty="0"/>
              <a:t>이라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아시아 천연가스 가격은 주로 전통적으로 원유가격에 연동된 장기계약에 의하여 결정되는 경우가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주로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수입에 대한 의존과 장거리 운송으로 지역적으로 시장가격이 가장 높게 형성된다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42583420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F2038-09BD-B05E-0D62-AD68C0BB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0436FE-C2B0-911D-9807-C826BC742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지역적 가격 변동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212D8-3D9B-1CB6-F4FE-5821282C0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13C94F-8717-1A44-89A3-B0DEA5A3AAEE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유럽과 미국의 천연가스 허브의 가격은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 아시아 지역의 가격보다 낮게 유지되었으나 </a:t>
            </a:r>
            <a:r>
              <a:rPr lang="en-US" altLang="ko-KR" sz="1600" dirty="0"/>
              <a:t>2021</a:t>
            </a:r>
            <a:r>
              <a:rPr lang="ko-KR" altLang="en-US" sz="1600" dirty="0"/>
              <a:t>년 기점으로 </a:t>
            </a:r>
            <a:r>
              <a:rPr lang="en-US" altLang="ko-KR" sz="1600" dirty="0"/>
              <a:t>NBP</a:t>
            </a:r>
            <a:r>
              <a:rPr lang="ko-KR" altLang="en-US" sz="1600" dirty="0"/>
              <a:t>와</a:t>
            </a:r>
            <a:r>
              <a:rPr lang="en-US" altLang="ko-KR" sz="1600" dirty="0"/>
              <a:t> TTF</a:t>
            </a:r>
            <a:r>
              <a:rPr lang="ko-KR" altLang="en-US" sz="1600" dirty="0"/>
              <a:t>허브의 가격이 급격하게 상승하였다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</a:t>
            </a:r>
            <a:r>
              <a:rPr lang="en-US" altLang="ko-KR" sz="1600" dirty="0"/>
              <a:t>2022</a:t>
            </a:r>
            <a:r>
              <a:rPr lang="ko-KR" altLang="en-US" sz="1600" dirty="0"/>
              <a:t>년 </a:t>
            </a:r>
            <a:r>
              <a:rPr lang="en-US" altLang="ko-KR" sz="1600" dirty="0"/>
              <a:t>2</a:t>
            </a:r>
            <a:r>
              <a:rPr lang="ko-KR" altLang="en-US" sz="1600" dirty="0"/>
              <a:t>월에 시작된 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전쟁으로 인해 </a:t>
            </a:r>
            <a:r>
              <a:rPr lang="ko-KR" altLang="en-US" sz="1600" dirty="0" err="1"/>
              <a:t>러시아로부터</a:t>
            </a:r>
            <a:r>
              <a:rPr lang="ko-KR" altLang="en-US" sz="1600" dirty="0"/>
              <a:t> 천연가스 공급이 줄었기 때문이다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유럽은 오랫동안 러시아 천연가스에 크게 의존해왔으나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러시아의 공급 부족이 유럽 전역에서 에너지 가격을 </a:t>
            </a:r>
            <a:r>
              <a:rPr lang="ko-KR" altLang="en-US" sz="1600" dirty="0" err="1"/>
              <a:t>급등시키는</a:t>
            </a:r>
            <a:r>
              <a:rPr lang="ko-KR" altLang="en-US" sz="1600" dirty="0"/>
              <a:t> 결과를 초래했다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러시아산 천연가스를 대신해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수입을 통해 이를 보완하려 했지만</a:t>
            </a:r>
            <a:r>
              <a:rPr lang="en-US" altLang="ko-KR" sz="1600" dirty="0"/>
              <a:t>, </a:t>
            </a:r>
            <a:r>
              <a:rPr lang="ko-KR" altLang="en-US" sz="1600" dirty="0"/>
              <a:t>상당한 시간과 비용이 소요되었다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88C52B8-BD9B-54A7-60B0-02F78777DB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308" b="9492"/>
          <a:stretch>
            <a:fillRect/>
          </a:stretch>
        </p:blipFill>
        <p:spPr>
          <a:xfrm>
            <a:off x="7218016" y="3619858"/>
            <a:ext cx="4700105" cy="27544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6E4FF3-AC20-B078-0257-5F5ED3B170AF}"/>
              </a:ext>
            </a:extLst>
          </p:cNvPr>
          <p:cNvSpPr txBox="1"/>
          <p:nvPr/>
        </p:nvSpPr>
        <p:spPr>
          <a:xfrm>
            <a:off x="288791" y="3382254"/>
            <a:ext cx="6929226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미국은 자체적인 천연가스 생산량이 많아 헨리 허브 가격이 상대적으로 안정적인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자국 내 생산이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주로 수입에 의존하고 있기 때문에 외부 충격에 취약했다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미국은 풍부한 국내 생산과 발달한 배관망을 바탕으로 가스를 공급하는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유럽은 높은 수입 의존도와 공급</a:t>
            </a:r>
            <a:r>
              <a:rPr lang="en-US" altLang="ko-KR" sz="1600" dirty="0"/>
              <a:t>·</a:t>
            </a:r>
            <a:r>
              <a:rPr lang="ko-KR" altLang="en-US" sz="1600" dirty="0"/>
              <a:t>운송 제약으로 인해 해외 공급 차질에 따른 가격 충격에 더 취약하다</a:t>
            </a:r>
            <a:r>
              <a:rPr lang="en-US" altLang="ko-KR" sz="1600"/>
              <a:t>.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5053237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4CD6A-F1CD-ABCD-E2D0-F05E7DA82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721C8-728F-F228-A24F-98A4B296D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CE386E-F8F3-BE8E-0D6E-6E4B24249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C15E28-C395-F3C4-E71D-48ECBDE010E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 시장에서 거래 계약은 전통적으로 장기계약에 기반하여 발전해왔다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공급의 안정성과 투자회수의 핵심 수단으로 작용한다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</a:t>
            </a:r>
            <a:r>
              <a:rPr lang="en-US" altLang="ko-KR" sz="1600" dirty="0"/>
              <a:t>10</a:t>
            </a:r>
            <a:r>
              <a:rPr lang="ko-KR" altLang="en-US" sz="1600" dirty="0" err="1"/>
              <a:t>년에서</a:t>
            </a:r>
            <a:r>
              <a:rPr lang="ko-KR" altLang="en-US" sz="1600" dirty="0"/>
              <a:t> </a:t>
            </a:r>
            <a:r>
              <a:rPr lang="en-US" altLang="ko-KR" sz="1600" dirty="0"/>
              <a:t>25</a:t>
            </a:r>
            <a:r>
              <a:rPr lang="ko-KR" altLang="en-US" sz="1600" dirty="0"/>
              <a:t>년 이상의 기간 동안 천연가스를 공급하는 구조로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인프라 투자에 대한 금융 조달을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보통 유가 연동 방식을 통해 가격이 결정되고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수요자는 정해진 물량을 구매하거나 인수하지 않더라도 대금을 지불해야 하는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‘ (take or pay)</a:t>
            </a:r>
            <a:r>
              <a:rPr lang="ko-KR" altLang="en-US" sz="1600" dirty="0"/>
              <a:t>를 수용해야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프로젝트 개발자의 안정적인 수익을 보장하는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수입국에는 에너지 안보를 제공한다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2000</a:t>
            </a:r>
            <a:r>
              <a:rPr lang="ko-KR" altLang="en-US" sz="1600" dirty="0"/>
              <a:t>년대 이후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시장의 유연화와 글로벌화가 진전되면서 단기계약과 현물거래의 비중이 점차 증가하고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대개 </a:t>
            </a:r>
            <a:r>
              <a:rPr lang="en-US" altLang="ko-KR" sz="1600" dirty="0"/>
              <a:t>1</a:t>
            </a:r>
            <a:r>
              <a:rPr lang="ko-KR" altLang="en-US" sz="1600" dirty="0"/>
              <a:t>개월에서 수년 이내의 기간으로 이루어지며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현물가격 또는 허브 가격에 연동되어 거래된다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 수급 조정 수단으로 유용하며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수요 변동이나 긴급상황에 신속한 대응을 가능하게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가격 조항이 비교적 단순하고 </a:t>
            </a:r>
            <a:r>
              <a:rPr lang="en-US" altLang="ko-KR" sz="1600" dirty="0"/>
              <a:t>‘</a:t>
            </a:r>
            <a:r>
              <a:rPr lang="ko-KR" altLang="en-US" sz="1600" dirty="0"/>
              <a:t>수령 또는 지불</a:t>
            </a:r>
            <a:r>
              <a:rPr lang="en-US" altLang="ko-KR" sz="1600" dirty="0"/>
              <a:t>’ </a:t>
            </a:r>
            <a:r>
              <a:rPr lang="ko-KR" altLang="en-US" sz="1600" dirty="0"/>
              <a:t>조건이 약하거나 없는 경우가 많아</a:t>
            </a:r>
            <a:r>
              <a:rPr lang="en-US" altLang="ko-KR" sz="1600" dirty="0"/>
              <a:t>, </a:t>
            </a:r>
            <a:r>
              <a:rPr lang="ko-KR" altLang="en-US" sz="1600" dirty="0"/>
              <a:t>수요자에게는 비용 측면의 유리함을</a:t>
            </a:r>
            <a:r>
              <a:rPr lang="en-US" altLang="ko-KR" sz="1600" dirty="0"/>
              <a:t>, </a:t>
            </a:r>
            <a:r>
              <a:rPr lang="ko-KR" altLang="en-US" sz="1600" dirty="0"/>
              <a:t>공급자에게는 시장가격을 반영한 수익 기회를 제공할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9941951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1B52E-9D79-F0C1-94C8-54108FCEC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FCDE2-68B9-6983-056B-01429965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장기계약과 현물시장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1BF22B-F6ED-2BC8-1814-356F7B935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582634-259E-B856-21FF-28A667432EC1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국제 천연가스 시장에서는 장기계약과 단기계약이 서로 보완적으로 작용하는 구조가 일반화되고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기저 수요를 충당하고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인프라 투자를 가능케 하는 역할을 지속적으로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예외적 수요나 시장 기회에 대응하는 기능을 수행한다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따라 많은 수입국들은 장기계약을 중심으로 기본 물량을 확보하고</a:t>
            </a:r>
            <a:r>
              <a:rPr lang="en-US" altLang="ko-KR" sz="1600" dirty="0"/>
              <a:t>, </a:t>
            </a:r>
            <a:r>
              <a:rPr lang="ko-KR" altLang="en-US" sz="1600" dirty="0"/>
              <a:t>나머지 수요를 단기계약이나 현물시장을 통해 보완하는 포트폴리오 전략을 채택하고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일본과 같은 주요 </a:t>
            </a:r>
            <a:r>
              <a:rPr lang="en-US" altLang="ko-KR" sz="1600" dirty="0"/>
              <a:t>LNG </a:t>
            </a:r>
            <a:r>
              <a:rPr lang="ko-KR" altLang="en-US" sz="1600" dirty="0"/>
              <a:t>수입국은 혼합 전략을 통해 가격 안정성과 수급 유연성을 동시에 추구하고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장기계약에서는 유가 연동과 허브 연동을 혼합한 복합 가격구조를 도입하는 사례도 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종합해보면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시장에서 장기계약과 단기계약은 각기 다른 기능과 목적을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장기계약은 여전히 에너지 인프라의 경제성을 담보하는 필수적인 제도 장치이다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단기계약은 시장 기반 거래 확대와 가격 경쟁력 확보를 위한 유연성 도구이다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계약 구조의 이중성은 앞으로도 지속될 것으로 보이며</a:t>
            </a:r>
            <a:r>
              <a:rPr lang="en-US" altLang="ko-KR" sz="1600" dirty="0"/>
              <a:t>, </a:t>
            </a:r>
            <a:r>
              <a:rPr lang="ko-KR" altLang="en-US" sz="1600" dirty="0"/>
              <a:t>국제 </a:t>
            </a:r>
            <a:r>
              <a:rPr lang="en-US" altLang="ko-KR" sz="1600" dirty="0"/>
              <a:t>LNG </a:t>
            </a:r>
            <a:r>
              <a:rPr lang="ko-KR" altLang="en-US" sz="1600" dirty="0"/>
              <a:t>시장이 통합될 수록 단기계약의 비중은 더욱 확대될 가능성이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09284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F1ACB-022F-00DB-E4E0-A85F933A5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DF6A68-6BC0-CC54-5A36-33D47A194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FB2D80-E08D-9EB6-5867-1C06F585C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4A577B-A2F0-EEDD-B23A-E7F9339D7B20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 에너지 전환은 글로벌 에너지 체계의 핵심 </a:t>
            </a:r>
            <a:r>
              <a:rPr lang="ko-KR" altLang="en-US" sz="1600" dirty="0" err="1"/>
              <a:t>아젠다로</a:t>
            </a:r>
            <a:r>
              <a:rPr lang="ko-KR" altLang="en-US" sz="1600" dirty="0"/>
              <a:t> 자리 잡았다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단순한 연료 대체가 아닌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탄소중립이라는 궁극적 목표 하에 에너지 시스템의 구조적 전환을 요구하고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기존 화석연료 중심의 시스템에서 재생에너지와 저탄소 기술 중심의 체제로의 이행을 요구한다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전환 과정에서 천연가스는 석탄 및 석유에 비해 상대적으로 배출이 적고</a:t>
            </a:r>
            <a:r>
              <a:rPr lang="en-US" altLang="ko-KR" sz="1600" dirty="0"/>
              <a:t>, </a:t>
            </a:r>
            <a:r>
              <a:rPr lang="ko-KR" altLang="en-US" sz="1600" dirty="0"/>
              <a:t>발전효율이 높은 연료라는 점에서 </a:t>
            </a:r>
            <a:r>
              <a:rPr lang="en-US" altLang="ko-KR" sz="1600" dirty="0"/>
              <a:t>‘</a:t>
            </a:r>
            <a:r>
              <a:rPr lang="ko-KR" altLang="en-US" sz="1600" dirty="0"/>
              <a:t>전환 연료</a:t>
            </a:r>
            <a:r>
              <a:rPr lang="en-US" altLang="ko-KR" sz="1600" dirty="0"/>
              <a:t>‘ </a:t>
            </a:r>
            <a:r>
              <a:rPr lang="ko-KR" altLang="en-US" sz="1600" dirty="0"/>
              <a:t>로서의 전략적 위상을 점유하고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천연가스는 특히 전력 부문에서 중요한 역할을 수행해 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복합화력발전소의 높은 열효율과 짧은 시운전 시간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부분 부하에서도 신속한 대응이 가능하다는 점은 재생에너지의 </a:t>
            </a:r>
            <a:r>
              <a:rPr lang="ko-KR" altLang="en-US" sz="1600" dirty="0" err="1"/>
              <a:t>간헐성</a:t>
            </a:r>
            <a:r>
              <a:rPr lang="ko-KR" altLang="en-US" sz="1600" dirty="0"/>
              <a:t> 및 불확실성을 보완하는 조절 </a:t>
            </a:r>
            <a:r>
              <a:rPr lang="ko-KR" altLang="en-US" sz="1600" dirty="0" err="1"/>
              <a:t>전원으로서의</a:t>
            </a:r>
            <a:r>
              <a:rPr lang="ko-KR" altLang="en-US" sz="1600" dirty="0"/>
              <a:t> 기능을 부여한다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이러한 기술적 특성은 풍력</a:t>
            </a:r>
            <a:r>
              <a:rPr lang="en-US" altLang="ko-KR" sz="1600" dirty="0"/>
              <a:t>·</a:t>
            </a:r>
            <a:r>
              <a:rPr lang="ko-KR" altLang="en-US" sz="1600" dirty="0"/>
              <a:t>태양광 중심의 전력계통에 안전성을 부여하고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재생에너지 확대 시기의 필수적 보완 수단으로 천연가스를 활용하도록 만든 배경이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유럽연합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주요 국가들은 석탄화력발전의 점진적 퇴출을 천연가스 발전으로 대체하는 전략을 채택해왔다</a:t>
            </a:r>
            <a:r>
              <a:rPr lang="en-US" altLang="ko-KR" sz="16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22167197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FA1F0-9EF6-01AF-DC2A-24865C105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B96217-BFD4-1D92-890D-FB9023570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전환과 천연가스의 미래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E9FDE8-E2D8-5EC1-D2D4-48006ED45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72219-B72B-B337-F90D-6C364180DF2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과도기적 대응의 일환으로서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역할은 영구적인 것은 아니다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국제에너지기구</a:t>
            </a:r>
            <a:r>
              <a:rPr lang="en-US" altLang="ko-KR" sz="1600" dirty="0"/>
              <a:t>(IEA, International Energy Agency)</a:t>
            </a:r>
            <a:r>
              <a:rPr lang="ko-KR" altLang="en-US" sz="1600" dirty="0"/>
              <a:t>가 제시한 </a:t>
            </a:r>
            <a:r>
              <a:rPr lang="en-US" altLang="ko-KR" sz="1600" dirty="0"/>
              <a:t>‘2050 </a:t>
            </a:r>
            <a:r>
              <a:rPr lang="ko-KR" altLang="en-US" sz="1600" dirty="0"/>
              <a:t>탄소중립 시나리오</a:t>
            </a:r>
            <a:r>
              <a:rPr lang="en-US" altLang="ko-KR" sz="1600" dirty="0"/>
              <a:t>‘</a:t>
            </a:r>
            <a:r>
              <a:rPr lang="ko-KR" altLang="en-US" sz="1600" dirty="0"/>
              <a:t>에 따르면</a:t>
            </a:r>
            <a:r>
              <a:rPr lang="en-US" altLang="ko-KR" sz="1600" dirty="0"/>
              <a:t>, </a:t>
            </a:r>
            <a:r>
              <a:rPr lang="ko-KR" altLang="en-US" sz="1600" dirty="0"/>
              <a:t>세계 천연가스 수요는 </a:t>
            </a:r>
            <a:r>
              <a:rPr lang="en-US" altLang="ko-KR" sz="1600" dirty="0"/>
              <a:t>2020</a:t>
            </a:r>
            <a:r>
              <a:rPr lang="ko-KR" altLang="en-US" sz="1600" dirty="0"/>
              <a:t>년대 중반 이후 정점을 찍고 하강할 것으로 예상된다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이는 단순한 수요의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천연가스의 지속가능성은 </a:t>
            </a:r>
            <a:r>
              <a:rPr lang="en-US" altLang="ko-KR" sz="1600" dirty="0"/>
              <a:t>‘</a:t>
            </a:r>
            <a:r>
              <a:rPr lang="ko-KR" altLang="en-US" sz="1600" dirty="0"/>
              <a:t>탄소 관리 기술</a:t>
            </a:r>
            <a:r>
              <a:rPr lang="en-US" altLang="ko-KR" sz="1600" dirty="0"/>
              <a:t>‘</a:t>
            </a:r>
            <a:r>
              <a:rPr lang="ko-KR" altLang="en-US" sz="1600" dirty="0"/>
              <a:t>과의 결합 여부에 따라 달라질 수 밖에 없음을 의미한다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즉</a:t>
            </a:r>
            <a:r>
              <a:rPr lang="en-US" altLang="ko-KR" sz="1600" dirty="0"/>
              <a:t>, CCS, CCUS </a:t>
            </a:r>
            <a:r>
              <a:rPr lang="ko-KR" altLang="en-US" sz="1600" dirty="0"/>
              <a:t>등과의 기술적 연계 없이는 장기적으로 천연가스 기반 발전 및 산업공정이 존속하기 어려운 구조로 진입하게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주목받고 있는 대응 전략 중 하나는 천연가스를 </a:t>
            </a:r>
            <a:r>
              <a:rPr lang="en-US" altLang="ko-KR" sz="1600" dirty="0"/>
              <a:t>‘</a:t>
            </a:r>
            <a:r>
              <a:rPr lang="ko-KR" altLang="en-US" sz="1600" dirty="0"/>
              <a:t>저탄소 가스</a:t>
            </a:r>
            <a:r>
              <a:rPr lang="en-US" altLang="ko-KR" sz="1600" dirty="0"/>
              <a:t>‘</a:t>
            </a:r>
            <a:r>
              <a:rPr lang="ko-KR" altLang="en-US" sz="1600" dirty="0"/>
              <a:t>로 전환하거나 수소 생산의 </a:t>
            </a:r>
            <a:r>
              <a:rPr lang="ko-KR" altLang="en-US" sz="1600" dirty="0" err="1"/>
              <a:t>전구체</a:t>
            </a:r>
            <a:r>
              <a:rPr lang="en-US" altLang="ko-KR" sz="1600" dirty="0"/>
              <a:t>(feedstock)</a:t>
            </a:r>
            <a:r>
              <a:rPr lang="ko-KR" altLang="en-US" sz="1600" dirty="0"/>
              <a:t>로 활용하는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천연가스에서 이산화탄소를 </a:t>
            </a:r>
            <a:r>
              <a:rPr lang="ko-KR" altLang="en-US" sz="1600" dirty="0" err="1"/>
              <a:t>포집해</a:t>
            </a:r>
            <a:r>
              <a:rPr lang="ko-KR" altLang="en-US" sz="1600" dirty="0"/>
              <a:t> 블루 수소를 생산하거나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바이오가스 및 </a:t>
            </a:r>
            <a:r>
              <a:rPr lang="ko-KR" altLang="en-US" sz="1600" dirty="0" err="1"/>
              <a:t>합성메탄을</a:t>
            </a:r>
            <a:r>
              <a:rPr lang="ko-KR" altLang="en-US" sz="1600" dirty="0"/>
              <a:t> 기존 천연가스와 혼합하여 활용하는 방식은 전통적 가스 시스템을 유지하면서도 탄소중립에 부합하는 새로운 방향으로 평가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국가는 이러한 전략을 염두에 두고 기존 천연가스 네트워크를 향후 수소 인프라로 전환할 수 있도록 설계하고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기존 자산의 활용도를 높이고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투자리스클</a:t>
            </a:r>
            <a:r>
              <a:rPr lang="ko-KR" altLang="en-US" sz="1600" dirty="0"/>
              <a:t> 완화할 수 있는 수단이다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84429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11113</TotalTime>
  <Words>7119</Words>
  <Application>Microsoft Office PowerPoint</Application>
  <PresentationFormat>와이드스크린</PresentationFormat>
  <Paragraphs>742</Paragraphs>
  <Slides>59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59</vt:i4>
      </vt:variant>
    </vt:vector>
  </HeadingPairs>
  <TitlesOfParts>
    <vt:vector size="66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4  천연가스 시장</vt:lpstr>
      <vt:lpstr>Section 1. 개 론</vt:lpstr>
      <vt:lpstr>서론</vt:lpstr>
      <vt:lpstr>서론</vt:lpstr>
      <vt:lpstr>서론</vt:lpstr>
      <vt:lpstr>Section 2. 천연가스의 특징과 분류</vt:lpstr>
      <vt:lpstr>천연가스의 특징</vt:lpstr>
      <vt:lpstr>천연가스의 특징</vt:lpstr>
      <vt:lpstr>천연가스의 분류</vt:lpstr>
      <vt:lpstr>천연가스의 분류</vt:lpstr>
      <vt:lpstr>천연가스의 분류</vt:lpstr>
      <vt:lpstr>천연가스의 분류</vt:lpstr>
      <vt:lpstr>천연가스 공급사슬</vt:lpstr>
      <vt:lpstr>천연가스 공급사슬</vt:lpstr>
      <vt:lpstr>천연가스 공급사슬</vt:lpstr>
      <vt:lpstr>LNG 기술개발을 통한 천연가스 수송혁신</vt:lpstr>
      <vt:lpstr>LNG 기술개발을 통한 천연가스 수송혁신</vt:lpstr>
      <vt:lpstr>LNG 기술개발을 통한 천연가스 수송혁신</vt:lpstr>
      <vt:lpstr>Section 3. 천연가스의 시장의 현황</vt:lpstr>
      <vt:lpstr>천연가스 매장량</vt:lpstr>
      <vt:lpstr>천연가스 매장량</vt:lpstr>
      <vt:lpstr>천연가스 생산과 공급</vt:lpstr>
      <vt:lpstr>천연가스 생산과 공급</vt:lpstr>
      <vt:lpstr>천연가스 소비</vt:lpstr>
      <vt:lpstr>천연가스 소비</vt:lpstr>
      <vt:lpstr>천연가스 소비</vt:lpstr>
      <vt:lpstr>L N G 수입</vt:lpstr>
      <vt:lpstr>L N G 수입</vt:lpstr>
      <vt:lpstr>L N G 수입</vt:lpstr>
      <vt:lpstr>L N G 수출</vt:lpstr>
      <vt:lpstr>L N G 수출</vt:lpstr>
      <vt:lpstr>L N G 수출</vt:lpstr>
      <vt:lpstr>L N G 수출</vt:lpstr>
      <vt:lpstr>L N G 소비</vt:lpstr>
      <vt:lpstr>P N G 수출</vt:lpstr>
      <vt:lpstr>P N G 수출</vt:lpstr>
      <vt:lpstr>P N G 수출</vt:lpstr>
      <vt:lpstr>Section 4. 천연가스 시장구조와 시장지배력</vt:lpstr>
      <vt:lpstr>천연가스 시장의 구조와 시장지배력</vt:lpstr>
      <vt:lpstr>천연가스 시장의 구조와 시장지배력</vt:lpstr>
      <vt:lpstr>천연가스 시장의 구조와 시장지배력</vt:lpstr>
      <vt:lpstr>Section 5. 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천연가스 시장의 탈규제와 구조개편</vt:lpstr>
      <vt:lpstr>Section 6. 천연가스 시장의 가격 결정</vt:lpstr>
      <vt:lpstr>천연가스 가격의 결정 요인들</vt:lpstr>
      <vt:lpstr>천연가스 가격의 결정 요인들</vt:lpstr>
      <vt:lpstr>천연가스 가격의 결정 요인들</vt:lpstr>
      <vt:lpstr>천연가스 가격의 결정 요인들</vt:lpstr>
      <vt:lpstr>지역적 가격 변동</vt:lpstr>
      <vt:lpstr>지역적 가격 변동</vt:lpstr>
      <vt:lpstr>장기계약과 현물시장</vt:lpstr>
      <vt:lpstr>장기계약과 현물시장</vt:lpstr>
      <vt:lpstr>에너지 전환과 천연가스의 미래</vt:lpstr>
      <vt:lpstr>에너지 전환과 천연가스의 미래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385</cp:revision>
  <dcterms:created xsi:type="dcterms:W3CDTF">2025-07-05T05:15:23Z</dcterms:created>
  <dcterms:modified xsi:type="dcterms:W3CDTF">2026-10-02T06:40:04Z</dcterms:modified>
</cp:coreProperties>
</file>