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5"/>
  </p:notesMasterIdLst>
  <p:sldIdLst>
    <p:sldId id="375" r:id="rId2"/>
    <p:sldId id="376" r:id="rId3"/>
    <p:sldId id="405" r:id="rId4"/>
    <p:sldId id="550" r:id="rId5"/>
    <p:sldId id="651" r:id="rId6"/>
    <p:sldId id="688" r:id="rId7"/>
    <p:sldId id="687" r:id="rId8"/>
    <p:sldId id="690" r:id="rId9"/>
    <p:sldId id="689" r:id="rId10"/>
    <p:sldId id="652" r:id="rId11"/>
    <p:sldId id="653" r:id="rId12"/>
    <p:sldId id="644" r:id="rId13"/>
    <p:sldId id="654" r:id="rId14"/>
    <p:sldId id="655" r:id="rId15"/>
    <p:sldId id="656" r:id="rId16"/>
    <p:sldId id="657" r:id="rId17"/>
    <p:sldId id="658" r:id="rId18"/>
    <p:sldId id="659" r:id="rId19"/>
    <p:sldId id="660" r:id="rId20"/>
    <p:sldId id="661" r:id="rId21"/>
    <p:sldId id="662" r:id="rId22"/>
    <p:sldId id="645" r:id="rId23"/>
    <p:sldId id="663" r:id="rId24"/>
    <p:sldId id="664" r:id="rId25"/>
    <p:sldId id="665" r:id="rId26"/>
    <p:sldId id="666" r:id="rId27"/>
    <p:sldId id="667" r:id="rId28"/>
    <p:sldId id="668" r:id="rId29"/>
    <p:sldId id="669" r:id="rId30"/>
    <p:sldId id="646" r:id="rId31"/>
    <p:sldId id="670" r:id="rId32"/>
    <p:sldId id="671" r:id="rId33"/>
    <p:sldId id="673" r:id="rId34"/>
    <p:sldId id="672" r:id="rId35"/>
    <p:sldId id="647" r:id="rId36"/>
    <p:sldId id="674" r:id="rId37"/>
    <p:sldId id="675" r:id="rId38"/>
    <p:sldId id="676" r:id="rId39"/>
    <p:sldId id="677" r:id="rId40"/>
    <p:sldId id="648" r:id="rId41"/>
    <p:sldId id="678" r:id="rId42"/>
    <p:sldId id="679" r:id="rId43"/>
    <p:sldId id="680" r:id="rId44"/>
    <p:sldId id="681" r:id="rId45"/>
    <p:sldId id="649" r:id="rId46"/>
    <p:sldId id="682" r:id="rId47"/>
    <p:sldId id="683" r:id="rId48"/>
    <p:sldId id="684" r:id="rId49"/>
    <p:sldId id="650" r:id="rId50"/>
    <p:sldId id="608" r:id="rId51"/>
    <p:sldId id="685" r:id="rId52"/>
    <p:sldId id="686" r:id="rId53"/>
    <p:sldId id="598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epsis.kpx.or.kr/epsisnew/selectKnreUtilRtoChart.do?menuId=010100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x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는 재생에너지를 </a:t>
            </a:r>
            <a:r>
              <a:rPr lang="en-US" altLang="ko-KR" sz="1600" dirty="0"/>
              <a:t>‘</a:t>
            </a:r>
            <a:r>
              <a:rPr lang="ko-KR" altLang="en-US" sz="1600" dirty="0"/>
              <a:t>자연적으로 보충되는 자원에서 파생되는 에너지로</a:t>
            </a:r>
            <a:r>
              <a:rPr lang="en-US" altLang="ko-KR" sz="1600" dirty="0"/>
              <a:t>, </a:t>
            </a:r>
            <a:r>
              <a:rPr lang="ko-KR" altLang="en-US" sz="1600" dirty="0"/>
              <a:t>태양</a:t>
            </a:r>
            <a:r>
              <a:rPr lang="en-US" altLang="ko-KR" sz="1600" dirty="0"/>
              <a:t>, </a:t>
            </a:r>
            <a:r>
              <a:rPr lang="ko-KR" altLang="en-US" sz="1600" dirty="0"/>
              <a:t>바람</a:t>
            </a:r>
            <a:r>
              <a:rPr lang="en-US" altLang="ko-KR" sz="1600" dirty="0"/>
              <a:t>, </a:t>
            </a:r>
            <a:r>
              <a:rPr lang="ko-KR" altLang="en-US" sz="1600" dirty="0"/>
              <a:t>물의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지열</a:t>
            </a:r>
            <a:r>
              <a:rPr lang="en-US" altLang="ko-KR" sz="1600" dirty="0"/>
              <a:t>, </a:t>
            </a:r>
            <a:r>
              <a:rPr lang="ko-KR" altLang="en-US" sz="1600" dirty="0"/>
              <a:t>생물 유기물 등을 포함한다</a:t>
            </a:r>
            <a:r>
              <a:rPr lang="en-US" altLang="ko-KR" sz="1600" dirty="0"/>
              <a:t>‘ </a:t>
            </a:r>
            <a:r>
              <a:rPr lang="ko-KR" altLang="en-US" sz="1600" dirty="0"/>
              <a:t>고 정의한다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, </a:t>
            </a:r>
            <a:r>
              <a:rPr lang="ko-KR" altLang="en-US" sz="1600" dirty="0"/>
              <a:t>수력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자원의 물리적 특성과 이용방식에 따라 </a:t>
            </a:r>
            <a:r>
              <a:rPr lang="ko-KR" altLang="en-US" sz="1600" dirty="0" err="1"/>
              <a:t>비고갈성</a:t>
            </a:r>
            <a:r>
              <a:rPr lang="ko-KR" altLang="en-US" sz="1600" dirty="0"/>
              <a:t> 자원과 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자원으로 구분되기도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비고갈성</a:t>
            </a:r>
            <a:r>
              <a:rPr lang="ko-KR" altLang="en-US" sz="1600" dirty="0"/>
              <a:t> 자원은 태양광 풍력</a:t>
            </a:r>
            <a:r>
              <a:rPr lang="en-US" altLang="ko-KR" sz="1600" dirty="0"/>
              <a:t>, </a:t>
            </a:r>
            <a:r>
              <a:rPr lang="ko-KR" altLang="en-US" sz="1600" dirty="0"/>
              <a:t>해양에너지처럼 인간의 사용으로 인해 </a:t>
            </a:r>
            <a:r>
              <a:rPr lang="ko-KR" altLang="en-US" sz="1600" dirty="0" err="1"/>
              <a:t>자원량이</a:t>
            </a:r>
            <a:r>
              <a:rPr lang="ko-KR" altLang="en-US" sz="1600" dirty="0"/>
              <a:t> 줄어들지 않으며</a:t>
            </a:r>
            <a:r>
              <a:rPr lang="en-US" altLang="ko-KR" sz="1600" dirty="0"/>
              <a:t>, </a:t>
            </a:r>
            <a:r>
              <a:rPr lang="ko-KR" altLang="en-US" sz="1600" dirty="0"/>
              <a:t>사실상 무한정 이용이 가능한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자원은 </a:t>
            </a:r>
            <a:r>
              <a:rPr lang="ko-KR" altLang="en-US" sz="1600" dirty="0" err="1"/>
              <a:t>바이오에너지나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수력처럼 자연적으로 재생되기는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토지</a:t>
            </a:r>
            <a:r>
              <a:rPr lang="en-US" altLang="ko-KR" sz="1600" dirty="0"/>
              <a:t>, </a:t>
            </a:r>
            <a:r>
              <a:rPr lang="ko-KR" altLang="en-US" sz="1600" dirty="0"/>
              <a:t>수자원</a:t>
            </a:r>
            <a:r>
              <a:rPr lang="en-US" altLang="ko-KR" sz="1600" dirty="0"/>
              <a:t>, </a:t>
            </a:r>
            <a:r>
              <a:rPr lang="ko-KR" altLang="en-US" sz="1600" dirty="0"/>
              <a:t>생물자원 등 유한한 생태 기반에 대한 의존도가 높아 과도한 </a:t>
            </a:r>
            <a:r>
              <a:rPr lang="ko-KR" altLang="en-US" sz="1600" dirty="0" err="1"/>
              <a:t>이용시</a:t>
            </a:r>
            <a:r>
              <a:rPr lang="ko-KR" altLang="en-US" sz="1600" dirty="0"/>
              <a:t> 지속가능성에 부정적인 영향을 미칠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구분은 재생에너지 간에도 지속가능성의 정도가 상이할 수 있음을 시사하고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 정책 수립 시 자원 경쟁 및 </a:t>
            </a:r>
            <a:r>
              <a:rPr lang="ko-KR" altLang="en-US" sz="1600" dirty="0" err="1"/>
              <a:t>생태적</a:t>
            </a:r>
            <a:r>
              <a:rPr lang="ko-KR" altLang="en-US" sz="1600" dirty="0"/>
              <a:t> 부담을 평가하는 데 유용한 기준이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들어 재생에너지는 단순한 에너지 공급원을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실현과 지속가능발전목표의 달성을 위한 핵심 수단으로 인식되고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국제사회는 재생에너지 보급 확대를 위한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재정적 지원을 강화하고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태양광 발전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D9DB-8227-87BB-C0B7-2A8E5194C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942DA-E486-2924-FD6D-3433C95BE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 설비 투자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E65D11-D651-8884-B7DB-3E7493570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F5356-9090-9566-BA82-93326711C090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한밭대학교 경상대학</a:t>
            </a:r>
            <a:r>
              <a:rPr lang="en-US" altLang="ko-KR" sz="1600" dirty="0"/>
              <a:t>(S3</a:t>
            </a:r>
            <a:r>
              <a:rPr lang="ko-KR" altLang="en-US" sz="1600" dirty="0"/>
              <a:t>동</a:t>
            </a:r>
            <a:r>
              <a:rPr lang="en-US" altLang="ko-KR" sz="1600" dirty="0"/>
              <a:t>) </a:t>
            </a:r>
            <a:r>
              <a:rPr lang="ko-KR" altLang="en-US" sz="1600" dirty="0"/>
              <a:t>건물 옆 주차장에 태양광을 설치하면</a:t>
            </a:r>
            <a:r>
              <a:rPr lang="en-US" altLang="ko-KR" sz="1600" dirty="0"/>
              <a:t>, </a:t>
            </a:r>
            <a:r>
              <a:rPr lang="ko-KR" altLang="en-US" sz="1600" dirty="0"/>
              <a:t>수익을 낼 수 있을까</a:t>
            </a:r>
            <a:r>
              <a:rPr lang="en-US" altLang="ko-KR" sz="160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719F52-5CD5-35D5-3119-C1920F7E137E}"/>
              </a:ext>
            </a:extLst>
          </p:cNvPr>
          <p:cNvSpPr txBox="1"/>
          <p:nvPr/>
        </p:nvSpPr>
        <p:spPr>
          <a:xfrm>
            <a:off x="288790" y="1363063"/>
            <a:ext cx="860621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태양광 발전량을 추정해 본다</a:t>
            </a:r>
            <a:r>
              <a:rPr lang="en-US" altLang="ko-KR" sz="1600" dirty="0"/>
              <a:t>. (</a:t>
            </a:r>
            <a:r>
              <a:rPr lang="ko-KR" altLang="en-US" sz="1600" dirty="0"/>
              <a:t>아래의 두가지 방법이 있다</a:t>
            </a:r>
            <a:r>
              <a:rPr lang="en-US" altLang="ko-KR" sz="160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1-1. (</a:t>
            </a:r>
            <a:r>
              <a:rPr lang="ko-KR" altLang="en-US" sz="1600" dirty="0"/>
              <a:t>설비용량 기반</a:t>
            </a:r>
            <a:r>
              <a:rPr lang="en-US" altLang="ko-KR" sz="1600" dirty="0"/>
              <a:t>) </a:t>
            </a:r>
            <a:r>
              <a:rPr lang="ko-KR" altLang="en-US" sz="1600" dirty="0"/>
              <a:t>설치면적</a:t>
            </a:r>
            <a:r>
              <a:rPr lang="en-US" altLang="ko-KR" sz="1600" dirty="0"/>
              <a:t>, </a:t>
            </a:r>
            <a:r>
              <a:rPr lang="ko-KR" altLang="en-US" sz="1600" dirty="0"/>
              <a:t>설비용량</a:t>
            </a:r>
            <a:r>
              <a:rPr lang="en-US" altLang="ko-KR" sz="1600" dirty="0"/>
              <a:t>, </a:t>
            </a:r>
            <a:r>
              <a:rPr lang="ko-KR" altLang="en-US" sz="1600" dirty="0"/>
              <a:t>이용률을 통해 추정해 본다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1-2. (</a:t>
            </a:r>
            <a:r>
              <a:rPr lang="ko-KR" altLang="en-US" sz="1600" dirty="0"/>
              <a:t>일사량 기반</a:t>
            </a:r>
            <a:r>
              <a:rPr lang="en-US" altLang="ko-KR" sz="1600" dirty="0"/>
              <a:t>)</a:t>
            </a:r>
            <a:r>
              <a:rPr lang="ko-KR" altLang="en-US" sz="1600" dirty="0"/>
              <a:t>태양광 모듈의 면적과 일사량을 통해 추정해 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태양광 모듈 설치에 들어가는 비용을 알아본다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초기투자비</a:t>
            </a:r>
            <a:r>
              <a:rPr lang="en-US" altLang="ko-KR" sz="1600" dirty="0"/>
              <a:t> (</a:t>
            </a:r>
            <a:r>
              <a:rPr lang="ko-KR" altLang="en-US" sz="1600" dirty="0"/>
              <a:t>태양광 모듈 구입비</a:t>
            </a:r>
            <a:r>
              <a:rPr lang="en-US" altLang="ko-KR" sz="1600" dirty="0"/>
              <a:t>), </a:t>
            </a:r>
            <a:r>
              <a:rPr lang="ko-KR" altLang="en-US" sz="1600" dirty="0"/>
              <a:t>유지비</a:t>
            </a:r>
            <a:r>
              <a:rPr lang="en-US" altLang="ko-KR" sz="1600" dirty="0"/>
              <a:t>(</a:t>
            </a:r>
            <a:r>
              <a:rPr lang="ko-KR" altLang="en-US" sz="1600" dirty="0"/>
              <a:t>수리</a:t>
            </a:r>
            <a:r>
              <a:rPr lang="en-US" altLang="ko-KR" sz="1600" dirty="0"/>
              <a:t>, </a:t>
            </a:r>
            <a:r>
              <a:rPr lang="ko-KR" altLang="en-US" sz="1600" dirty="0"/>
              <a:t>관리</a:t>
            </a:r>
            <a:r>
              <a:rPr lang="en-US" altLang="ko-KR" sz="1600" dirty="0"/>
              <a:t>) </a:t>
            </a:r>
            <a:r>
              <a:rPr lang="ko-KR" altLang="en-US" sz="1600" dirty="0"/>
              <a:t>등을 알아야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태양광을 통해 생산한 전기를 얼마의 가격으로 팔 수 있는지 계산한다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재생에너지 지원 정책이 있는지 살펴본다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전기판매금 </a:t>
            </a:r>
            <a:r>
              <a:rPr lang="en-US" altLang="ko-KR" sz="1600" dirty="0"/>
              <a:t>+ </a:t>
            </a:r>
            <a:r>
              <a:rPr lang="ko-KR" altLang="en-US" sz="1600" dirty="0"/>
              <a:t>보조금 </a:t>
            </a:r>
            <a:r>
              <a:rPr lang="en-US" altLang="ko-KR" sz="1600" dirty="0"/>
              <a:t>– </a:t>
            </a:r>
            <a:r>
              <a:rPr lang="ko-KR" altLang="en-US" sz="1600" dirty="0"/>
              <a:t>각종비용을 계산해서 수익이 날 수 있는지 계산한다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1269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D24D-4B3F-928F-CCD3-14028CD07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7A43C1-ADA4-752A-8EBA-00106E66F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 발전량 계산 </a:t>
            </a:r>
            <a:r>
              <a:rPr lang="en-US" altLang="ko-KR" dirty="0"/>
              <a:t>(</a:t>
            </a:r>
            <a:r>
              <a:rPr lang="ko-KR" altLang="en-US" dirty="0"/>
              <a:t>설비용량 기반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01C4B6-9412-1B65-D2DD-29521748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5F15E4-0904-6DA7-50B6-9DBCD50756CA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한밭대학교 경상대학</a:t>
            </a:r>
            <a:r>
              <a:rPr lang="en-US" altLang="ko-KR" sz="1600" dirty="0"/>
              <a:t>(S3</a:t>
            </a:r>
            <a:r>
              <a:rPr lang="ko-KR" altLang="en-US" sz="1600" dirty="0"/>
              <a:t>동</a:t>
            </a:r>
            <a:r>
              <a:rPr lang="en-US" altLang="ko-KR" sz="1600" dirty="0"/>
              <a:t>) </a:t>
            </a:r>
            <a:r>
              <a:rPr lang="ko-KR" altLang="en-US" sz="1600" dirty="0"/>
              <a:t>건물 옆 주차장에 태양광을 설치하면</a:t>
            </a:r>
            <a:r>
              <a:rPr lang="en-US" altLang="ko-KR" sz="1600" dirty="0"/>
              <a:t>, </a:t>
            </a:r>
            <a:r>
              <a:rPr lang="ko-KR" altLang="en-US" sz="1600" dirty="0"/>
              <a:t>얼만큼의 전기에너지를 생산할 수 있을까</a:t>
            </a:r>
            <a:r>
              <a:rPr lang="en-US" altLang="ko-KR" sz="1600" dirty="0"/>
              <a:t>?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429721E-3918-30E9-A223-BF4F7A2D7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903" y="1577219"/>
            <a:ext cx="4334307" cy="477826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4BD266-F877-D677-F642-76B039783B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74" t="62981" r="41055" b="29210"/>
          <a:stretch>
            <a:fillRect/>
          </a:stretch>
        </p:blipFill>
        <p:spPr>
          <a:xfrm>
            <a:off x="9490182" y="4572525"/>
            <a:ext cx="1122765" cy="65439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2F83BA-A7C1-AC3B-5C27-2D6F499FE517}"/>
              </a:ext>
            </a:extLst>
          </p:cNvPr>
          <p:cNvSpPr txBox="1"/>
          <p:nvPr/>
        </p:nvSpPr>
        <p:spPr>
          <a:xfrm>
            <a:off x="288790" y="1363063"/>
            <a:ext cx="7223886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설치하고자 하는 총 면적은 대략 </a:t>
            </a:r>
            <a:r>
              <a:rPr lang="en-US" altLang="ko-KR" sz="1600" dirty="0"/>
              <a:t>4,000m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 </a:t>
            </a:r>
            <a:r>
              <a:rPr lang="ko-KR" altLang="en-US" sz="1600" dirty="0"/>
              <a:t>라고 하자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태양광의 설비용량</a:t>
            </a:r>
            <a:r>
              <a:rPr lang="en-US" altLang="ko-KR" sz="1600" dirty="0"/>
              <a:t>, </a:t>
            </a:r>
            <a:r>
              <a:rPr lang="ko-KR" altLang="en-US" sz="1600" dirty="0"/>
              <a:t>즉 몇 </a:t>
            </a:r>
            <a:r>
              <a:rPr lang="en-US" altLang="ko-KR" sz="1600" dirty="0"/>
              <a:t>kW</a:t>
            </a:r>
            <a:r>
              <a:rPr lang="ko-KR" altLang="en-US" sz="1600" dirty="0"/>
              <a:t>를 설치할 수 있을지 알아야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1kW</a:t>
            </a:r>
            <a:r>
              <a:rPr lang="ko-KR" altLang="en-US" sz="1600" dirty="0"/>
              <a:t>의 태양광을 설치하는데 </a:t>
            </a:r>
            <a:r>
              <a:rPr lang="en-US" altLang="ko-KR" sz="1600" dirty="0"/>
              <a:t>10m</a:t>
            </a:r>
            <a:r>
              <a:rPr lang="en-US" altLang="ko-KR" sz="1600" baseline="30000" dirty="0"/>
              <a:t>2 </a:t>
            </a:r>
            <a:r>
              <a:rPr lang="ko-KR" altLang="en-US" sz="1600" dirty="0"/>
              <a:t>땅이 필요하다고 하자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태양광 모듈 외에 관리운영에 필요한 모든 설비를 설치한다는 가정하에 평균적인 수치이다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설치된 태양광이 하루에 몇 시간을 발전하는지 알아야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평균적으로 하루에 대략 </a:t>
            </a:r>
            <a:r>
              <a:rPr lang="en-US" altLang="ko-KR" sz="1600" dirty="0"/>
              <a:t>3.6</a:t>
            </a:r>
            <a:r>
              <a:rPr lang="ko-KR" altLang="en-US" sz="1600" dirty="0"/>
              <a:t>시간 동안 발전한다고 하자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위의 </a:t>
            </a:r>
            <a:r>
              <a:rPr lang="en-US" altLang="ko-KR" sz="1600" dirty="0"/>
              <a:t>3</a:t>
            </a:r>
            <a:r>
              <a:rPr lang="ko-KR" altLang="en-US" sz="1600" dirty="0"/>
              <a:t>가지 정보가 있으면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 발전량을 계산할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19487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3FCDD-2DCD-76E7-AB52-5A58BD914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81CFF-B1C8-64F1-BA7A-F1F8D462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 발전량 계산 </a:t>
            </a:r>
            <a:r>
              <a:rPr lang="en-US" altLang="ko-KR" dirty="0"/>
              <a:t>(</a:t>
            </a:r>
            <a:r>
              <a:rPr lang="ko-KR" altLang="en-US" dirty="0"/>
              <a:t>설비용량 기반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50F602-2A2F-E1A9-A05A-AAFEA23FD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A7117E-D674-E0E2-38AB-599FEB68D969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살펴본 내용은 아래와 같이 수식으로 정리해볼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따라서</a:t>
            </a:r>
            <a:r>
              <a:rPr lang="en-US" altLang="ko-KR" sz="1600" dirty="0"/>
              <a:t> </a:t>
            </a:r>
            <a:r>
              <a:rPr lang="ko-KR" altLang="en-US" sz="1600" dirty="0"/>
              <a:t>경상대 주차장에 태양광을 설치하면 연간 </a:t>
            </a:r>
            <a:r>
              <a:rPr lang="en-US" altLang="ko-KR" sz="1600" dirty="0"/>
              <a:t>525,600kWh(525.6MWh)</a:t>
            </a:r>
            <a:r>
              <a:rPr lang="ko-KR" altLang="en-US" sz="1600" dirty="0"/>
              <a:t>의 전기를 생산할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4,000(m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)</a:t>
            </a:r>
            <a:r>
              <a:rPr lang="en-US" altLang="ko-KR" sz="1600" baseline="30000" dirty="0"/>
              <a:t> </a:t>
            </a:r>
            <a:r>
              <a:rPr lang="en-US" altLang="ko-KR" sz="1600" dirty="0"/>
              <a:t>x 1/10(kW/m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)</a:t>
            </a:r>
            <a:r>
              <a:rPr lang="en-US" altLang="ko-KR" sz="1600" baseline="30000" dirty="0"/>
              <a:t> </a:t>
            </a:r>
            <a:r>
              <a:rPr lang="en-US" altLang="ko-KR" sz="1600" dirty="0"/>
              <a:t>x 15%</a:t>
            </a:r>
            <a:r>
              <a:rPr lang="en-US" altLang="ko-KR" sz="1600" baseline="30000" dirty="0"/>
              <a:t> </a:t>
            </a:r>
            <a:r>
              <a:rPr lang="en-US" altLang="ko-KR" sz="1600" dirty="0"/>
              <a:t>x 8,760(hours/year) = 525,600kWh/year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CDACD7-897B-B2A4-27AC-5C58C61A187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08189" y="2195119"/>
                <a:ext cx="9999054" cy="2426424"/>
              </a:xfrm>
              <a:prstGeom prst="rect">
                <a:avLst/>
              </a:prstGeom>
              <a:noFill/>
            </p:spPr>
            <p:txBody>
              <a:bodyPr wrap="square" tIns="36000" bIns="36000" rtlCol="0" anchor="t">
                <a:spAutoFit/>
              </a:bodyPr>
              <a:lstStyle>
                <a:defPPr>
                  <a:defRPr lang="en-US"/>
                </a:defPPr>
                <a:lvl1pPr marL="92075" indent="-92075" latinLnBrk="1">
                  <a:lnSpc>
                    <a:spcPts val="2000"/>
                  </a:lnSpc>
                  <a:buClr>
                    <a:schemeClr val="tx1"/>
                  </a:buClr>
                  <a:buSzPct val="120000"/>
                  <a:buFont typeface="Arial" panose="020B0604020202020204" pitchFamily="34" charset="0"/>
                  <a:buChar char="•"/>
                  <a:defRPr kumimoji="1" sz="1200" spc="-60">
                    <a:ln>
                      <a:solidFill>
                        <a:srgbClr val="5B9BD5">
                          <a:shade val="50000"/>
                          <a:alpha val="0"/>
                        </a:srgb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ea"/>
                    <a:cs typeface="Pretendard" panose="02000503000000020004" pitchFamily="50" charset="-127"/>
                  </a:defRPr>
                </a:lvl1pPr>
              </a:lstStyle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b="0" i="1" spc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  </m:t>
                    </m:r>
                    <m:sSub>
                      <m:sSubPr>
                        <m:ctrlPr>
                          <a:rPr lang="en-US" altLang="ko-KR" sz="1600" i="1" spc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ko-KR" sz="1600" i="1" spc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0" dirty="0">
                    <a:solidFill>
                      <a:schemeClr val="tx1"/>
                    </a:solidFill>
                  </a:rPr>
                  <a:t>년도에 생산한 연간 전력생산량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(kWh/year)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𝑎𝑟𝑒𝑎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:r>
                  <a:rPr lang="ko-KR" altLang="en-US" sz="1600" spc="0" dirty="0">
                    <a:solidFill>
                      <a:schemeClr val="tx1"/>
                    </a:solidFill>
                  </a:rPr>
                  <a:t>태양광 설치 가능한 부지 면적 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(m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2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b="0" i="1" spc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𝐷𝐹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:r>
                  <a:rPr lang="ko-KR" altLang="en-US" sz="1600" spc="0" dirty="0">
                    <a:solidFill>
                      <a:schemeClr val="tx1"/>
                    </a:solidFill>
                  </a:rPr>
                  <a:t>소요면적 계수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*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 (m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2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/kW) (DF: Density Factor)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altLang="ko-KR" spc="0" dirty="0">
                    <a:solidFill>
                      <a:schemeClr val="tx1"/>
                    </a:solidFill>
                  </a:rPr>
                  <a:t>           * 1kW</a:t>
                </a:r>
                <a:r>
                  <a:rPr lang="ko-KR" altLang="en-US" spc="0" dirty="0">
                    <a:solidFill>
                      <a:schemeClr val="tx1"/>
                    </a:solidFill>
                  </a:rPr>
                  <a:t>의 태양광 설비를 설치하는데 필요한 면적</a:t>
                </a:r>
                <a:endParaRPr lang="en-US" altLang="ko-KR" spc="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b="0" i="1" spc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𝐶𝐹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:r>
                  <a:rPr lang="ko-KR" altLang="en-US" sz="1600" spc="0" dirty="0" err="1">
                    <a:solidFill>
                      <a:schemeClr val="tx1"/>
                    </a:solidFill>
                  </a:rPr>
                  <a:t>설비이용률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**</a:t>
                </a:r>
                <a:r>
                  <a:rPr lang="ko-KR" altLang="en-US" sz="1600" spc="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(%) (CF: Capacity Factor)      </a:t>
                </a:r>
                <a:r>
                  <a:rPr lang="en-US" altLang="ko-KR" sz="1050" spc="0" dirty="0">
                    <a:solidFill>
                      <a:schemeClr val="tx1"/>
                    </a:solidFill>
                    <a:hlinkClick r:id="rId2"/>
                  </a:rPr>
                  <a:t>https://epsis.kpx.or.kr/epsisnew/selectKnreUtilRtoChart.do?menuId=010100</a:t>
                </a:r>
                <a:r>
                  <a:rPr lang="en-US" altLang="ko-KR" sz="1050" spc="0" dirty="0">
                    <a:solidFill>
                      <a:schemeClr val="tx1"/>
                    </a:solidFill>
                  </a:rPr>
                  <a:t> </a:t>
                </a:r>
                <a:endParaRPr lang="en-US" altLang="ko-KR" sz="1600" spc="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altLang="ko-KR" spc="0" dirty="0">
                    <a:solidFill>
                      <a:schemeClr val="tx1"/>
                    </a:solidFill>
                  </a:rPr>
                  <a:t>           ** 24</a:t>
                </a:r>
                <a:r>
                  <a:rPr lang="ko-KR" altLang="en-US" spc="0" dirty="0">
                    <a:solidFill>
                      <a:schemeClr val="tx1"/>
                    </a:solidFill>
                  </a:rPr>
                  <a:t>시간 중 발전하는 시간의 비율 </a:t>
                </a:r>
                <a:r>
                  <a:rPr lang="en-US" altLang="ko-KR" spc="0" dirty="0">
                    <a:solidFill>
                      <a:schemeClr val="tx1"/>
                    </a:solidFill>
                  </a:rPr>
                  <a:t>(4</a:t>
                </a:r>
                <a:r>
                  <a:rPr lang="ko-KR" altLang="en-US" spc="0" dirty="0">
                    <a:solidFill>
                      <a:schemeClr val="tx1"/>
                    </a:solidFill>
                  </a:rPr>
                  <a:t>시간이라면 </a:t>
                </a:r>
                <a:r>
                  <a:rPr lang="en-US" altLang="ko-KR" spc="0" dirty="0">
                    <a:solidFill>
                      <a:schemeClr val="tx1"/>
                    </a:solidFill>
                  </a:rPr>
                  <a:t>3.6/24 =0.15=15%)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8760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Number of hours in a year (hours/year)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CDACD7-897B-B2A4-27AC-5C58C61A1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189" y="2195119"/>
                <a:ext cx="9999054" cy="24264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540D01-416D-2359-6AFD-DC357FF1A69F}"/>
                  </a:ext>
                </a:extLst>
              </p:cNvPr>
              <p:cNvSpPr txBox="1"/>
              <p:nvPr/>
            </p:nvSpPr>
            <p:spPr>
              <a:xfrm>
                <a:off x="784757" y="1554221"/>
                <a:ext cx="5586557" cy="37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altLang="ko-KR" sz="2400" b="1" dirty="0"/>
                  <a:t> =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𝒂𝒓𝒆𝒂</m:t>
                    </m:r>
                    <m:r>
                      <a:rPr lang="en-US" altLang="ko-K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𝑫𝑭</m:t>
                        </m:r>
                      </m:e>
                      <m:sup>
                        <m: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altLang="ko-K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𝑪𝑭</m:t>
                    </m:r>
                    <m:r>
                      <a:rPr lang="en-US" altLang="ko-K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𝟖𝟕𝟔𝟎</m:t>
                    </m:r>
                  </m:oMath>
                </a14:m>
                <a:endParaRPr lang="ko-KR" altLang="en-US" sz="2400" b="1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540D01-416D-2359-6AFD-DC357FF1A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57" y="1554221"/>
                <a:ext cx="5586557" cy="377667"/>
              </a:xfrm>
              <a:prstGeom prst="rect">
                <a:avLst/>
              </a:prstGeom>
              <a:blipFill>
                <a:blip r:embed="rId4"/>
                <a:stretch>
                  <a:fillRect t="-24194" b="-467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2534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22032-291A-0233-9DF8-F522AC046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660CA-980E-9EB3-AFE1-B0005C879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 발전량 계산 </a:t>
            </a:r>
            <a:r>
              <a:rPr lang="en-US" altLang="ko-KR" dirty="0"/>
              <a:t>(</a:t>
            </a:r>
            <a:r>
              <a:rPr lang="ko-KR" altLang="en-US" dirty="0"/>
              <a:t>일사량 기반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FB6DC0-B71A-8A99-F39F-5483E356F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E38D63-7DD3-532F-C62A-0487AB7D54F1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한밭대학교 경상대학</a:t>
            </a:r>
            <a:r>
              <a:rPr lang="en-US" altLang="ko-KR" sz="1600" dirty="0"/>
              <a:t>(S3</a:t>
            </a:r>
            <a:r>
              <a:rPr lang="ko-KR" altLang="en-US" sz="1600" dirty="0"/>
              <a:t>동</a:t>
            </a:r>
            <a:r>
              <a:rPr lang="en-US" altLang="ko-KR" sz="1600" dirty="0"/>
              <a:t>) </a:t>
            </a:r>
            <a:r>
              <a:rPr lang="ko-KR" altLang="en-US" sz="1600" dirty="0"/>
              <a:t>건물 옆 주차장에 태양광을 설치하면</a:t>
            </a:r>
            <a:r>
              <a:rPr lang="en-US" altLang="ko-KR" sz="1600" dirty="0"/>
              <a:t>, </a:t>
            </a:r>
            <a:r>
              <a:rPr lang="ko-KR" altLang="en-US" sz="1600" dirty="0"/>
              <a:t>얼만큼의 전기에너지를 생산할 수 있을까</a:t>
            </a:r>
            <a:r>
              <a:rPr lang="en-US" altLang="ko-KR" sz="1600" dirty="0"/>
              <a:t>?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8AA5BD-61E3-8487-D5A7-6474C8BC6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903" y="1577219"/>
            <a:ext cx="4334307" cy="477826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F2B026A-0D51-A0C6-308B-8240B27F7F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74" t="62981" r="41055" b="29210"/>
          <a:stretch>
            <a:fillRect/>
          </a:stretch>
        </p:blipFill>
        <p:spPr>
          <a:xfrm>
            <a:off x="9490182" y="4572525"/>
            <a:ext cx="1122765" cy="65439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FF70A8-E179-9EB5-066C-B8A0AE59924C}"/>
              </a:ext>
            </a:extLst>
          </p:cNvPr>
          <p:cNvSpPr txBox="1"/>
          <p:nvPr/>
        </p:nvSpPr>
        <p:spPr>
          <a:xfrm>
            <a:off x="288790" y="1363063"/>
            <a:ext cx="7223886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설치하고자 하는 총 면적은 대략 </a:t>
            </a:r>
            <a:r>
              <a:rPr lang="en-US" altLang="ko-KR" sz="1600" dirty="0"/>
              <a:t>4,000m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 </a:t>
            </a:r>
            <a:r>
              <a:rPr lang="ko-KR" altLang="en-US" sz="1600" dirty="0"/>
              <a:t>라고 하자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태양광의 패널면적</a:t>
            </a:r>
            <a:r>
              <a:rPr lang="en-US" altLang="ko-KR" sz="1600" dirty="0"/>
              <a:t>(m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)</a:t>
            </a:r>
            <a:r>
              <a:rPr lang="ko-KR" altLang="en-US" sz="1600" dirty="0"/>
              <a:t>을 얼마나 설치할 수 있을지 알아야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1kW</a:t>
            </a:r>
            <a:r>
              <a:rPr lang="ko-KR" altLang="en-US" sz="1600" dirty="0"/>
              <a:t>의 태양광을 설치하는데 </a:t>
            </a:r>
            <a:r>
              <a:rPr lang="en-US" altLang="ko-KR" sz="1600" dirty="0"/>
              <a:t>10m</a:t>
            </a:r>
            <a:r>
              <a:rPr lang="en-US" altLang="ko-KR" sz="1600" baseline="30000" dirty="0"/>
              <a:t>2 </a:t>
            </a:r>
            <a:r>
              <a:rPr lang="ko-KR" altLang="en-US" sz="1600" dirty="0"/>
              <a:t>땅이 필요하다고 하자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태양광 모듈 외에 관리운영에 필요한 모든 설비를 설치한다는 가정하에 평균적인 수치이다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설치된 태양광이 하루에 몇 시간을 발전하는지 알아야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평균적으로 하루에 대략 </a:t>
            </a:r>
            <a:r>
              <a:rPr lang="en-US" altLang="ko-KR" sz="1600" dirty="0"/>
              <a:t>3.6</a:t>
            </a:r>
            <a:r>
              <a:rPr lang="ko-KR" altLang="en-US" sz="1600" dirty="0"/>
              <a:t>시간 동안 발전한다고 하자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위의 </a:t>
            </a:r>
            <a:r>
              <a:rPr lang="en-US" altLang="ko-KR" sz="1600" dirty="0"/>
              <a:t>3</a:t>
            </a:r>
            <a:r>
              <a:rPr lang="ko-KR" altLang="en-US" sz="1600" dirty="0"/>
              <a:t>가지 정보가 있으면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 발전량을 계산할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42361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E3544-F677-C6A3-D194-5C3504AC5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98F31-F24E-A615-7E04-8E3C115A1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 발전량 계산 </a:t>
            </a:r>
            <a:r>
              <a:rPr lang="en-US" altLang="ko-KR" dirty="0"/>
              <a:t>(</a:t>
            </a:r>
            <a:r>
              <a:rPr lang="ko-KR" altLang="en-US" dirty="0"/>
              <a:t>일사량 기반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C8DA77-41A2-6E70-57EA-15CFCC133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1FE35B-84DF-C9FE-40C2-17A58DAAD87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살펴본 내용은 아래와 같이 수식으로 정리해볼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따라서</a:t>
            </a:r>
            <a:r>
              <a:rPr lang="en-US" altLang="ko-KR" sz="1600" dirty="0"/>
              <a:t> </a:t>
            </a:r>
            <a:r>
              <a:rPr lang="ko-KR" altLang="en-US" sz="1600" dirty="0"/>
              <a:t>경상대 주차장에 태양광을 설치하면 연간 </a:t>
            </a:r>
            <a:r>
              <a:rPr lang="en-US" altLang="ko-KR" sz="1600" dirty="0"/>
              <a:t>525,600kWh(525.6MWh)</a:t>
            </a:r>
            <a:r>
              <a:rPr lang="ko-KR" altLang="en-US" sz="1600" dirty="0"/>
              <a:t>의 전기를 생산할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4,000(m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)</a:t>
            </a:r>
            <a:r>
              <a:rPr lang="en-US" altLang="ko-KR" sz="1600" baseline="30000" dirty="0"/>
              <a:t> </a:t>
            </a:r>
            <a:r>
              <a:rPr lang="en-US" altLang="ko-KR" sz="1600" dirty="0"/>
              <a:t>x 1/10(kW/m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)</a:t>
            </a:r>
            <a:r>
              <a:rPr lang="en-US" altLang="ko-KR" sz="1600" baseline="30000" dirty="0"/>
              <a:t> </a:t>
            </a:r>
            <a:r>
              <a:rPr lang="en-US" altLang="ko-KR" sz="1600" dirty="0"/>
              <a:t>x 15%</a:t>
            </a:r>
            <a:r>
              <a:rPr lang="en-US" altLang="ko-KR" sz="1600" baseline="30000" dirty="0"/>
              <a:t> </a:t>
            </a:r>
            <a:r>
              <a:rPr lang="en-US" altLang="ko-KR" sz="1600" dirty="0"/>
              <a:t>x 8,760(hours/year) = 525,600kWh/year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2FD3364-8C19-75A7-FCBB-396BF8B79C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08189" y="2195119"/>
                <a:ext cx="5586557" cy="2426424"/>
              </a:xfrm>
              <a:prstGeom prst="rect">
                <a:avLst/>
              </a:prstGeom>
              <a:noFill/>
            </p:spPr>
            <p:txBody>
              <a:bodyPr wrap="square" tIns="36000" bIns="36000" rtlCol="0" anchor="t">
                <a:spAutoFit/>
              </a:bodyPr>
              <a:lstStyle>
                <a:defPPr>
                  <a:defRPr lang="en-US"/>
                </a:defPPr>
                <a:lvl1pPr marL="92075" indent="-92075" latinLnBrk="1">
                  <a:lnSpc>
                    <a:spcPts val="2000"/>
                  </a:lnSpc>
                  <a:buClr>
                    <a:schemeClr val="tx1"/>
                  </a:buClr>
                  <a:buSzPct val="120000"/>
                  <a:buFont typeface="Arial" panose="020B0604020202020204" pitchFamily="34" charset="0"/>
                  <a:buChar char="•"/>
                  <a:defRPr kumimoji="1" sz="1200" spc="-60">
                    <a:ln>
                      <a:solidFill>
                        <a:srgbClr val="5B9BD5">
                          <a:shade val="50000"/>
                          <a:alpha val="0"/>
                        </a:srgb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ea"/>
                    <a:cs typeface="Pretendard" panose="02000503000000020004" pitchFamily="50" charset="-127"/>
                  </a:defRPr>
                </a:lvl1pPr>
              </a:lstStyle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b="0" i="1" spc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  </m:t>
                    </m:r>
                    <m:sSub>
                      <m:sSubPr>
                        <m:ctrlPr>
                          <a:rPr lang="en-US" altLang="ko-KR" sz="1600" i="1" spc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ko-KR" sz="1600" i="1" spc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0" dirty="0">
                    <a:solidFill>
                      <a:schemeClr val="tx1"/>
                    </a:solidFill>
                  </a:rPr>
                  <a:t>년도에 생산한 연간 전력생산량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(kWh/year)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𝑎𝑟𝑒𝑎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:r>
                  <a:rPr lang="ko-KR" altLang="en-US" sz="1600" spc="0" dirty="0">
                    <a:solidFill>
                      <a:schemeClr val="tx1"/>
                    </a:solidFill>
                  </a:rPr>
                  <a:t>태양광 설치 가능한 부지 면적 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(m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2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b="0" i="1" spc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𝐷𝐹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:r>
                  <a:rPr lang="ko-KR" altLang="en-US" sz="1600" spc="0" dirty="0">
                    <a:solidFill>
                      <a:schemeClr val="tx1"/>
                    </a:solidFill>
                  </a:rPr>
                  <a:t>소요면적 계수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*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 (m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2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/kW) (DF: Density Factor)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altLang="ko-KR" spc="0" dirty="0">
                    <a:solidFill>
                      <a:schemeClr val="tx1"/>
                    </a:solidFill>
                  </a:rPr>
                  <a:t>           * 1kW</a:t>
                </a:r>
                <a:r>
                  <a:rPr lang="ko-KR" altLang="en-US" spc="0" dirty="0">
                    <a:solidFill>
                      <a:schemeClr val="tx1"/>
                    </a:solidFill>
                  </a:rPr>
                  <a:t>의 태양광 설비를 설치하는데 필요한 면적</a:t>
                </a:r>
                <a:endParaRPr lang="en-US" altLang="ko-KR" spc="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b="0" i="1" spc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𝐶𝐹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</a:t>
                </a:r>
                <a:r>
                  <a:rPr lang="ko-KR" altLang="en-US" sz="1600" spc="0" dirty="0" err="1">
                    <a:solidFill>
                      <a:schemeClr val="tx1"/>
                    </a:solidFill>
                  </a:rPr>
                  <a:t>설비이용률</a:t>
                </a:r>
                <a:r>
                  <a:rPr lang="en-US" altLang="ko-KR" sz="1600" spc="0" baseline="30000" dirty="0">
                    <a:solidFill>
                      <a:schemeClr val="tx1"/>
                    </a:solidFill>
                  </a:rPr>
                  <a:t>**</a:t>
                </a:r>
                <a:r>
                  <a:rPr lang="ko-KR" altLang="en-US" sz="1600" spc="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600" spc="0" dirty="0">
                    <a:solidFill>
                      <a:schemeClr val="tx1"/>
                    </a:solidFill>
                  </a:rPr>
                  <a:t>(%) (CF: Capacity Factor)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altLang="ko-KR" spc="0" dirty="0">
                    <a:solidFill>
                      <a:schemeClr val="tx1"/>
                    </a:solidFill>
                  </a:rPr>
                  <a:t>           ** 24</a:t>
                </a:r>
                <a:r>
                  <a:rPr lang="ko-KR" altLang="en-US" spc="0" dirty="0">
                    <a:solidFill>
                      <a:schemeClr val="tx1"/>
                    </a:solidFill>
                  </a:rPr>
                  <a:t>시간 중 발전하는 시간의 비율 </a:t>
                </a:r>
                <a:r>
                  <a:rPr lang="en-US" altLang="ko-KR" spc="0" dirty="0">
                    <a:solidFill>
                      <a:schemeClr val="tx1"/>
                    </a:solidFill>
                  </a:rPr>
                  <a:t>(4</a:t>
                </a:r>
                <a:r>
                  <a:rPr lang="ko-KR" altLang="en-US" spc="0" dirty="0">
                    <a:solidFill>
                      <a:schemeClr val="tx1"/>
                    </a:solidFill>
                  </a:rPr>
                  <a:t>시간이라면 </a:t>
                </a:r>
                <a:r>
                  <a:rPr lang="en-US" altLang="ko-KR" spc="0" dirty="0">
                    <a:solidFill>
                      <a:schemeClr val="tx1"/>
                    </a:solidFill>
                  </a:rPr>
                  <a:t>3.6/24 =0.15=15%)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ko-KR" sz="1600" i="1" spc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8760</m:t>
                    </m:r>
                  </m:oMath>
                </a14:m>
                <a:r>
                  <a:rPr lang="en-US" altLang="ko-KR" sz="1600" spc="0" dirty="0">
                    <a:solidFill>
                      <a:schemeClr val="tx1"/>
                    </a:solidFill>
                  </a:rPr>
                  <a:t> : Number of hours in a year (hours/year)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2FD3364-8C19-75A7-FCBB-396BF8B79C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189" y="2195119"/>
                <a:ext cx="5586557" cy="24264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471B71-F71A-5D73-2989-622847BF7256}"/>
                  </a:ext>
                </a:extLst>
              </p:cNvPr>
              <p:cNvSpPr txBox="1"/>
              <p:nvPr/>
            </p:nvSpPr>
            <p:spPr>
              <a:xfrm>
                <a:off x="784757" y="1554221"/>
                <a:ext cx="5586557" cy="37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altLang="ko-KR" sz="2400" b="1" dirty="0"/>
                  <a:t> =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𝒂𝒓𝒆𝒂</m:t>
                    </m:r>
                    <m:r>
                      <a:rPr lang="en-US" altLang="ko-K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𝑫𝑭</m:t>
                        </m:r>
                      </m:e>
                      <m:sup>
                        <m: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altLang="ko-K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𝑪𝑭</m:t>
                    </m:r>
                    <m:r>
                      <a:rPr lang="en-US" altLang="ko-K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𝟖𝟕𝟔𝟎</m:t>
                    </m:r>
                  </m:oMath>
                </a14:m>
                <a:endParaRPr lang="ko-KR" altLang="en-US" sz="2400" b="1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471B71-F71A-5D73-2989-622847BF72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57" y="1554221"/>
                <a:ext cx="5586557" cy="377667"/>
              </a:xfrm>
              <a:prstGeom prst="rect">
                <a:avLst/>
              </a:prstGeom>
              <a:blipFill>
                <a:blip r:embed="rId3"/>
                <a:stretch>
                  <a:fillRect t="-24194" b="-467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E8694F7-91D7-0819-E0FA-9BE95881622F}"/>
              </a:ext>
            </a:extLst>
          </p:cNvPr>
          <p:cNvSpPr txBox="1"/>
          <p:nvPr/>
        </p:nvSpPr>
        <p:spPr>
          <a:xfrm>
            <a:off x="7445062" y="202737"/>
            <a:ext cx="6132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https://kier-solar.org/user/gis/map/sl</a:t>
            </a:r>
          </a:p>
        </p:txBody>
      </p:sp>
    </p:spTree>
    <p:extLst>
      <p:ext uri="{BB962C8B-B14F-4D97-AF65-F5344CB8AC3E}">
        <p14:creationId xmlns:p14="http://schemas.microsoft.com/office/powerpoint/2010/main" val="4223811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D486A-DBCD-FC40-5B22-432F58193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A097A9-28AE-79DC-A298-5C80F5BF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전통적 에너지원과의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ACEB46-BD0D-3B2C-5DB4-F7CB5E09A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14243-051C-1411-5DFC-09185FD07CA2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주어진 공간에서</a:t>
            </a:r>
            <a:r>
              <a:rPr lang="en-US" altLang="ko-KR" sz="1600" dirty="0"/>
              <a:t> </a:t>
            </a:r>
            <a:r>
              <a:rPr lang="ko-KR" altLang="en-US" sz="1600" dirty="0"/>
              <a:t>최대한의 태양광 발전량을 만들어내려면</a:t>
            </a:r>
            <a:r>
              <a:rPr lang="en-US" altLang="ko-KR" sz="1600" dirty="0"/>
              <a:t>, </a:t>
            </a:r>
            <a:r>
              <a:rPr lang="ko-KR" altLang="en-US" sz="1600" dirty="0"/>
              <a:t>소요면적 계수를 낮추거나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설비이용률을</a:t>
            </a:r>
            <a:r>
              <a:rPr lang="ko-KR" altLang="en-US" sz="1600" dirty="0"/>
              <a:t> 높여야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8944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2D222-4F20-2233-D828-53DC8B375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701C9-6E99-3865-08C9-98311F8B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확산 배경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1A5E4-22AC-3721-2288-01454DBB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E04DE-5198-F4B3-CBA0-89D2E7BBA55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재생에너지가 세계 에너지 시스템에서 주목받기 시작한 배경은 다양한 측면에 기인한다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중요한 요인은 기후변화 대응의 필요성이다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화석연료의 연소는 이산화탄소를 비롯한 온실가스를 다량 배출하여</a:t>
            </a:r>
            <a:r>
              <a:rPr lang="en-US" altLang="ko-KR" sz="1600" dirty="0"/>
              <a:t>, </a:t>
            </a:r>
            <a:r>
              <a:rPr lang="ko-KR" altLang="en-US" sz="1600" dirty="0"/>
              <a:t>지구 평균기온 상승</a:t>
            </a:r>
            <a:r>
              <a:rPr lang="en-US" altLang="ko-KR" sz="1600" dirty="0"/>
              <a:t>, </a:t>
            </a:r>
            <a:r>
              <a:rPr lang="ko-KR" altLang="en-US" sz="1600" dirty="0"/>
              <a:t>해수면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이상기후 등 다양한 부정적 외부효과가 심화되고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에너지안보에 대한 우려이다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지역적으로 편재되어 있어 특정 국가에 공급이 집중되는 경향이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수입국들은 가격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중단 등의 위험에 노출되어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비용 하락은 재생에너지 확산을 가능케 한 결정적 요인이었다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지난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년간 태양광과 풍력 기술의 발전 단가의 급격한 하락이 경제성 우려를 해소하였다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 지원과 국제적 협력도 중요한 촉진 요인으로 작용하였다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많은 국가들이 재생에너지 확대를 위한 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공급의무제도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발전차액지원제도 등을 도입하여 시장 진입 초기의 위험을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인식 변화와 지속가능성에 대한 관심 증대가 재생에너지 확산의 중요한 기반이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대중의 관심 증대</a:t>
            </a:r>
            <a:r>
              <a:rPr lang="en-US" altLang="ko-KR" sz="1600" dirty="0"/>
              <a:t>, </a:t>
            </a:r>
            <a:r>
              <a:rPr lang="ko-KR" altLang="en-US" sz="1600" dirty="0"/>
              <a:t>지속가능발전목표와 </a:t>
            </a:r>
            <a:r>
              <a:rPr lang="en-US" altLang="ko-KR" sz="1600" dirty="0"/>
              <a:t>ESG </a:t>
            </a:r>
            <a:r>
              <a:rPr lang="ko-KR" altLang="en-US" sz="1600" dirty="0"/>
              <a:t>경영이 확산되면서 기업과 정부 모두가 청정에너지로의 전환을 중요한 목표로 설정하고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4045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6833D-86BF-6859-9207-AF7140182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993FFD-8B24-A94E-0C54-D607433453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8D733-2F04-A0F9-F00D-8686BD5A4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B5C12A-3CFE-9EDA-3437-17E2665D3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76" y="3756991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주요 재생에너지 종류와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32312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18416-4E6E-9194-1AAB-A91CBA21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BAA7EE-E759-DDA1-585F-0F065D2A1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43C8B-83EF-46B1-6BC6-AD01D5FB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88A1DD-EE89-9BC7-DA34-492A9BD340B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 발전 </a:t>
            </a:r>
            <a:r>
              <a:rPr lang="en-US" altLang="ko-KR" sz="1600" dirty="0"/>
              <a:t>(solar photovoltaic, PV)</a:t>
            </a:r>
            <a:r>
              <a:rPr lang="ko-KR" altLang="en-US" sz="1600" dirty="0"/>
              <a:t>은 태양빛을 직접 전기로 변환하는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빠른 속도로 성장하고 있는 재생에너지 형태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태양전지는 반도체 소재</a:t>
            </a:r>
            <a:r>
              <a:rPr lang="en-US" altLang="ko-KR" sz="1600" dirty="0"/>
              <a:t>(</a:t>
            </a:r>
            <a:r>
              <a:rPr lang="ko-KR" altLang="en-US" sz="1600" dirty="0"/>
              <a:t>주로 실리콘</a:t>
            </a:r>
            <a:r>
              <a:rPr lang="en-US" altLang="ko-KR" sz="1600" dirty="0"/>
              <a:t>)</a:t>
            </a:r>
            <a:r>
              <a:rPr lang="ko-KR" altLang="en-US" sz="1600" dirty="0"/>
              <a:t>를 이용하여 광에너지를 전기에너지로 전환하는데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외부 연료나 물리적 연소 없이 진행되므로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일반적인 고정식 패널에서부터 </a:t>
            </a:r>
            <a:r>
              <a:rPr lang="ko-KR" altLang="en-US" sz="1600" dirty="0" err="1"/>
              <a:t>추적식</a:t>
            </a:r>
            <a:r>
              <a:rPr lang="ko-KR" altLang="en-US" sz="1600" dirty="0"/>
              <a:t>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건물 일체형까지 다양한 형태로 구현이 가능하다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소규모 주택부터 대규모 부지까지 다양한 규모에 적용될 수 있는 유연성을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태양광의 가장 큰 장점 중 하나는 한계비용이 거의 </a:t>
            </a:r>
            <a:r>
              <a:rPr lang="en-US" altLang="ko-KR" sz="1600" dirty="0"/>
              <a:t>0</a:t>
            </a:r>
            <a:r>
              <a:rPr lang="ko-KR" altLang="en-US" sz="1600" dirty="0"/>
              <a:t>에 수렴한다는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설치를 </a:t>
            </a:r>
            <a:r>
              <a:rPr lang="ko-KR" altLang="en-US" sz="1600" dirty="0" err="1"/>
              <a:t>하고나면</a:t>
            </a:r>
            <a:r>
              <a:rPr lang="ko-KR" altLang="en-US" sz="1600" dirty="0"/>
              <a:t> 발전에 필요한 연료</a:t>
            </a:r>
            <a:r>
              <a:rPr lang="en-US" altLang="ko-KR" sz="1600" dirty="0"/>
              <a:t>(</a:t>
            </a:r>
            <a:r>
              <a:rPr lang="ko-KR" altLang="en-US" sz="1600" dirty="0"/>
              <a:t>태양빛</a:t>
            </a:r>
            <a:r>
              <a:rPr lang="en-US" altLang="ko-KR" sz="1600" dirty="0"/>
              <a:t>)</a:t>
            </a:r>
            <a:r>
              <a:rPr lang="ko-KR" altLang="en-US" sz="1600" dirty="0"/>
              <a:t>가 무료이며</a:t>
            </a:r>
            <a:r>
              <a:rPr lang="en-US" altLang="ko-KR" sz="1600" dirty="0"/>
              <a:t>, </a:t>
            </a:r>
            <a:r>
              <a:rPr lang="ko-KR" altLang="en-US" sz="1600" dirty="0"/>
              <a:t>운전과 유지비용도 상대적으로 낮다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태양광 발전에는 간헐성이라는 구조적 한계가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일사량에 따라 발전량이 달라지므로 야간이나 흐린 날에는 발전이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공급의 변동성은 전력 시스템의 안정성 유지에 부담을 줄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저장장치나 보완 발전원이 필수적으로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패널의 수명</a:t>
            </a:r>
            <a:r>
              <a:rPr lang="en-US" altLang="ko-KR" sz="1600" dirty="0"/>
              <a:t>(25~30</a:t>
            </a:r>
            <a:r>
              <a:rPr lang="ko-KR" altLang="en-US" sz="1600" dirty="0"/>
              <a:t>년</a:t>
            </a:r>
            <a:r>
              <a:rPr lang="en-US" altLang="ko-KR" sz="1600" dirty="0"/>
              <a:t>)</a:t>
            </a:r>
            <a:r>
              <a:rPr lang="ko-KR" altLang="en-US" sz="1600" dirty="0"/>
              <a:t>이 다한 후 폐기물 처리</a:t>
            </a:r>
            <a:r>
              <a:rPr lang="en-US" altLang="ko-KR" sz="1600" dirty="0"/>
              <a:t>, </a:t>
            </a:r>
            <a:r>
              <a:rPr lang="ko-KR" altLang="en-US" sz="1600" dirty="0"/>
              <a:t>토지 이용 이슈도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고려해야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12521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B4275-A4A1-944E-EDD0-FE686BDE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E7633D-7470-C656-1E66-D4DA548CD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1770C-357D-20D8-9623-3CE1ADA3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DD7965-BD32-8A58-1322-A59B0595639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풍력발전은 공기의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즉 바람의 운동에너지를 기계적 회전력으로 전환하고 이를 다시 전기에너지로 변환하는 방식의 재생에너지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터빈은 일반적으로 날개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회전자</a:t>
            </a:r>
            <a:r>
              <a:rPr lang="en-US" altLang="ko-KR" sz="1600" dirty="0"/>
              <a:t>, </a:t>
            </a:r>
            <a:r>
              <a:rPr lang="ko-KR" altLang="en-US" sz="1600" dirty="0"/>
              <a:t>기어박스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바람의 속도와 방향에 따라 발전량이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발전원리는 비교적 단순하지만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고도의 공학 기술과 기상 데이터</a:t>
            </a:r>
            <a:r>
              <a:rPr lang="en-US" altLang="ko-KR" sz="1600" dirty="0"/>
              <a:t>, </a:t>
            </a:r>
            <a:r>
              <a:rPr lang="ko-KR" altLang="en-US" sz="1600" dirty="0"/>
              <a:t>정교한 설치 및 운영시스템이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유럽과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미국에서의 확대가 두드러지며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해상풍력의 경우 육상보다 더 높은 풍속과 넓은 공간을 활용할 수 있어 차세대 핵심 분야로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 발전의 가장 큰 장점은 태양광과 마찬가지로 연료비가 들지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대기오염물질을 배출하지 않는다는 점이다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495702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8CF57-3571-80AF-544B-0405F0874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C08037-0237-3D4D-0DAF-441B5678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5C1333-A53B-3443-D119-F720FB2E8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4CB58E-2A9D-4C8A-3EB8-2C6766B7F797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 역시 태양광과 마찬가지로 간헐성이라는 구조적 제약을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바람의 세기와 방향은 시간과 장소에 따라 크게 달라지기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전력 수요와 불일치 문제가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예측 정확도를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보완발전원 혹은 에너지 저장장치와 연계하는 것이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터빈의 날개가 조류 충돌이나 소음</a:t>
            </a:r>
            <a:r>
              <a:rPr lang="en-US" altLang="ko-KR" sz="1600" dirty="0"/>
              <a:t>, </a:t>
            </a:r>
            <a:r>
              <a:rPr lang="ko-KR" altLang="en-US" sz="1600" dirty="0"/>
              <a:t>경관 훼손 등의 사회적 반발을 초래하기도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해상풍력은 육상풍력이 초래하는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완화할 수 있는</a:t>
            </a:r>
            <a:r>
              <a:rPr lang="en-US" altLang="ko-KR" sz="1600" dirty="0"/>
              <a:t> </a:t>
            </a:r>
            <a:r>
              <a:rPr lang="ko-KR" altLang="en-US" sz="1600" dirty="0"/>
              <a:t>대안으로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해상은 바람이 더 강하고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일정하며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주민 수용성 문제도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북해나 동중국해와 같은 바람이 풍부한 연안 지역에서는 이미 상업적 타당성을 갖춘 대규모 프로젝트들이 추진되고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해상풍력은 설치비용이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유지보수가 어렵다는 단점이 있다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805007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E76DC-B4F2-17D0-1942-27B02D6D9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968061-DA04-9F00-6098-BC764533D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338E9-7AAF-442E-94DA-260417FA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82186C-0A0F-D3AB-F5F0-CED2949FCF19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물의 위치에너지 또는 운동에너지를 이용하여 전기를 생산하는 방식으로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오래된 형태의 재생에너지이자 현재까지도 전 세계 재생에너지 전력 생산에서 가장 큰 비중을 차지하는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높은 곳에 저장된 물을 터빈을 통해 </a:t>
            </a:r>
            <a:r>
              <a:rPr lang="ko-KR" altLang="en-US" sz="1600" dirty="0" err="1"/>
              <a:t>하강시키며</a:t>
            </a:r>
            <a:r>
              <a:rPr lang="ko-KR" altLang="en-US" sz="1600" dirty="0"/>
              <a:t> 생기는 운동 에너지를 기계적 회전력으로 전환하고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발전기로 연결해 전기를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</a:t>
            </a:r>
            <a:r>
              <a:rPr lang="ko-KR" altLang="en-US" sz="1600" dirty="0" err="1"/>
              <a:t>수력댐뿐만</a:t>
            </a:r>
            <a:r>
              <a:rPr lang="ko-KR" altLang="en-US" sz="1600" dirty="0"/>
              <a:t> 아니라 </a:t>
            </a:r>
            <a:r>
              <a:rPr lang="ko-KR" altLang="en-US" sz="1600" dirty="0" err="1"/>
              <a:t>소수력과</a:t>
            </a:r>
            <a:r>
              <a:rPr lang="ko-KR" altLang="en-US" sz="1600" dirty="0"/>
              <a:t> 마이크로 수력까지 다양한 규모로 활용이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발전의 가장 큰 장점은 안정성과 조절 가능성이다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다른 재생에너지원과 달리 수력은 저장된 물의 양과 시간대를 조절함으로써 출력 제어가 가능하다는 점에서</a:t>
            </a:r>
            <a:r>
              <a:rPr lang="en-US" altLang="ko-KR" sz="1600" dirty="0"/>
              <a:t>, </a:t>
            </a:r>
            <a:r>
              <a:rPr lang="ko-KR" altLang="en-US" sz="1600" dirty="0"/>
              <a:t>기저부하 뿐만 아니라 피크부하 수요 대응에도 효과적이다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 효율이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 매우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중 온실가스 배출이 거의 없어 친환경적인 방식으로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경제성 측면에서도 초기 투자비용은 높지만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및 유지비용이 낮고 수명이 </a:t>
            </a:r>
            <a:r>
              <a:rPr lang="en-US" altLang="ko-KR" sz="1600" dirty="0"/>
              <a:t>50</a:t>
            </a:r>
            <a:r>
              <a:rPr lang="ko-KR" altLang="en-US" sz="1600" dirty="0"/>
              <a:t>년 이상으로 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2599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3BC87-A824-C97C-3CD6-01F77C7B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0E286-CE2D-1C5C-C8BB-8F88C5D97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BF8BC-D3C6-D37D-EB87-2C957B173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18836-7264-7636-2846-154DF41F83A4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몇 가지 중요한 제약 요인을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생태계에 미치는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댐 건설은 강의 흐름을 변경하고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하천 생태계와 어류 이동에 지장을 주고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생물다양성을 감소시킬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열대지역에서는 수몰 지역에서 유기물이 분해되며 메탄과 같은 강력한 온실가스를 배출하는 경우도 있어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탄소중립에 기여하는 정도에 대한 논란도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갈등과 지역사회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대규모 </a:t>
            </a:r>
            <a:r>
              <a:rPr lang="ko-KR" altLang="en-US" sz="1600" dirty="0" err="1"/>
              <a:t>수력댐</a:t>
            </a:r>
            <a:r>
              <a:rPr lang="ko-KR" altLang="en-US" sz="1600" dirty="0"/>
              <a:t> 건설은 종종 대규모 이주를 동반하며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사회적 갈등</a:t>
            </a:r>
            <a:r>
              <a:rPr lang="en-US" altLang="ko-KR" sz="1600" dirty="0"/>
              <a:t>, </a:t>
            </a:r>
            <a:r>
              <a:rPr lang="ko-KR" altLang="en-US" sz="1600" dirty="0"/>
              <a:t>문화적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재산권 문제가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자체가 수력 발전에 미치는 역효과도 무시할 수 없다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강우패턴과 유량의 변동성이 증가하면서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수력 발전량의 안정성이 장기적으로 위협받을 수 있다는 우려가 제기된다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최근에는 대형 수력 프로젝트보다는 소규모 수력 및 수자원 통합 관리가 가능한 친환경적 설계가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32629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8BF5-B68C-7D24-4A19-F117D2E89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57A4F-F2EE-DE71-890A-CA9D641C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C4E62-E2EC-9FDE-DCA6-B7C207582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CE2758-C29C-AE9E-074E-7BABD035920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바이오에너지는</a:t>
            </a:r>
            <a:r>
              <a:rPr lang="ko-KR" altLang="en-US" sz="1600" dirty="0"/>
              <a:t> 식물</a:t>
            </a:r>
            <a:r>
              <a:rPr lang="en-US" altLang="ko-KR" sz="1600" dirty="0"/>
              <a:t>, </a:t>
            </a:r>
            <a:r>
              <a:rPr lang="ko-KR" altLang="en-US" sz="1600" dirty="0"/>
              <a:t>동물</a:t>
            </a:r>
            <a:r>
              <a:rPr lang="en-US" altLang="ko-KR" sz="1600" dirty="0"/>
              <a:t>, </a:t>
            </a:r>
            <a:r>
              <a:rPr lang="ko-KR" altLang="en-US" sz="1600" dirty="0"/>
              <a:t>미생물 등의 생물 유기체에서 유래한 바이오매스를 연료로 사용하여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</a:t>
            </a:r>
            <a:r>
              <a:rPr lang="en-US" altLang="ko-KR" sz="1600" dirty="0"/>
              <a:t>, </a:t>
            </a:r>
            <a:r>
              <a:rPr lang="ko-KR" altLang="en-US" sz="1600" dirty="0"/>
              <a:t>전기</a:t>
            </a:r>
            <a:r>
              <a:rPr lang="en-US" altLang="ko-KR" sz="1600" dirty="0"/>
              <a:t>, </a:t>
            </a:r>
            <a:r>
              <a:rPr lang="ko-KR" altLang="en-US" sz="1600" dirty="0"/>
              <a:t>또는 연료 형태의 에너지를 생산하는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바이오매스는 목재</a:t>
            </a:r>
            <a:r>
              <a:rPr lang="en-US" altLang="ko-KR" sz="1600" dirty="0"/>
              <a:t>, </a:t>
            </a:r>
            <a:r>
              <a:rPr lang="ko-KR" altLang="en-US" sz="1600" dirty="0"/>
              <a:t>작물 잔재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</a:t>
            </a:r>
            <a:r>
              <a:rPr lang="en-US" altLang="ko-KR" sz="1600" dirty="0"/>
              <a:t>, </a:t>
            </a:r>
            <a:r>
              <a:rPr lang="ko-KR" altLang="en-US" sz="1600" dirty="0"/>
              <a:t>가축 분뇨</a:t>
            </a:r>
            <a:r>
              <a:rPr lang="en-US" altLang="ko-KR" sz="1600" dirty="0"/>
              <a:t>, </a:t>
            </a:r>
            <a:r>
              <a:rPr lang="ko-KR" altLang="en-US" sz="1600" dirty="0"/>
              <a:t>도시 폐기물 등 다양한 유기성 자원을 포함하며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이들을 연소하거나 생화학적</a:t>
            </a:r>
            <a:r>
              <a:rPr lang="en-US" altLang="ko-KR" sz="1600" dirty="0"/>
              <a:t>·</a:t>
            </a:r>
            <a:r>
              <a:rPr lang="ko-KR" altLang="en-US" sz="1600" dirty="0"/>
              <a:t>열화학적 과정을 통해 에너지원으로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형태로는 바이오가스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바이오디젤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바이오에탄올</a:t>
            </a:r>
            <a:r>
              <a:rPr lang="en-US" altLang="ko-KR" sz="1600" dirty="0"/>
              <a:t>, </a:t>
            </a:r>
            <a:r>
              <a:rPr lang="ko-KR" altLang="en-US" sz="1600" dirty="0"/>
              <a:t>고형 연료 </a:t>
            </a:r>
            <a:r>
              <a:rPr lang="ko-KR" altLang="en-US" sz="1600" dirty="0" err="1"/>
              <a:t>펠릿</a:t>
            </a:r>
            <a:r>
              <a:rPr lang="ko-KR" altLang="en-US" sz="1600" dirty="0"/>
              <a:t> 등으로 다양하게 가공될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기술적으로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열병합</a:t>
            </a:r>
            <a:r>
              <a:rPr lang="ko-KR" altLang="en-US" sz="1600" dirty="0"/>
              <a:t>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혐기성 소화</a:t>
            </a:r>
            <a:r>
              <a:rPr lang="en-US" altLang="ko-KR" sz="1600" dirty="0"/>
              <a:t>, </a:t>
            </a:r>
            <a:r>
              <a:rPr lang="ko-KR" altLang="en-US" sz="1600" dirty="0"/>
              <a:t>발효 및 </a:t>
            </a:r>
            <a:r>
              <a:rPr lang="ko-KR" altLang="en-US" sz="1600" dirty="0" err="1"/>
              <a:t>에스테르화</a:t>
            </a:r>
            <a:r>
              <a:rPr lang="ko-KR" altLang="en-US" sz="1600" dirty="0"/>
              <a:t> 반응 등을 통해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생산뿐 아니라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연료 등 다양한 용도에서 재생에너지 중 가장 폭넓게 적용된다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고체 바이오매스는 난방 및 소규모 발전용으로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액체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교통 부문에서 화석연료 대체재로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바이오에너지의</a:t>
            </a:r>
            <a:r>
              <a:rPr lang="ko-KR" altLang="en-US" sz="1600" dirty="0"/>
              <a:t> 주요 강점은 기존 에너지 인프라와의 높은 호환성이다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기존 내연기관이나 보일러 시스템과의 결합이 가능하므로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전환 비용이 상대적으로 낮고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에너지 저장 및 수송도 용이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바이오에너지원은</a:t>
            </a:r>
            <a:r>
              <a:rPr lang="ko-KR" altLang="en-US" sz="1600" dirty="0"/>
              <a:t> 폐기물 처리와 에너지 생산을 동시에 하는 자원순환형 에너지 시스템으로 기능한다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쓰레기나 축산 폐기물을 바이오가스로 전환함으로써 매립이나 방류로 인한 환경오염을 줄이고 에너지를 생산할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9067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FBB9-09C3-9E88-46B4-14FD662DD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6E6AB2-2AA1-167E-10A2-03AF8B85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0BB4AD-F1A9-7483-8DC7-0C9137DB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243C8-34FC-E78B-41E2-1E75212EAD8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환경적 지속가능성 측면에서 논란의 여지가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간접적 토지이용변화와 식량</a:t>
            </a:r>
            <a:r>
              <a:rPr lang="en-US" altLang="ko-KR" sz="1600" dirty="0"/>
              <a:t>-</a:t>
            </a:r>
            <a:r>
              <a:rPr lang="ko-KR" altLang="en-US" sz="1600" dirty="0"/>
              <a:t>연료 경쟁문제이다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바이오연료</a:t>
            </a:r>
            <a:r>
              <a:rPr lang="ko-KR" altLang="en-US" sz="1600" dirty="0"/>
              <a:t> 생산을 위해 경작지를 확대할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숲이나 초지를 전환하면서 탄소흡수원이 훼손되고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생물다양성이 감소할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곡물기반의 연료는 식량 가격 상승을 유발하고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식량 안보에 부정적 영향을 줄 수 있다는 우려가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바이오에너지가</a:t>
            </a:r>
            <a:r>
              <a:rPr lang="ko-KR" altLang="en-US" sz="1600" dirty="0"/>
              <a:t> 탄소중립이라는 주장 역시 조건부이다</a:t>
            </a:r>
            <a:r>
              <a:rPr lang="en-US" altLang="ko-KR" sz="1600" dirty="0"/>
              <a:t>. </a:t>
            </a:r>
            <a:r>
              <a:rPr lang="ko-KR" altLang="en-US" sz="1600" dirty="0"/>
              <a:t>이론적으로 바이오매스는 생장 과정에서 흡수한 탄소를 연소 시 배출하기 때문에 순배출이 </a:t>
            </a:r>
            <a:r>
              <a:rPr lang="en-US" altLang="ko-KR" sz="1600" dirty="0"/>
              <a:t>0</a:t>
            </a:r>
            <a:r>
              <a:rPr lang="ko-KR" altLang="en-US" sz="1600" dirty="0"/>
              <a:t>이라는 개념이지만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실제로는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수확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과정에서 상당량의 온실가스가 추가로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한계를 극복하기 위해 최근에는 </a:t>
            </a:r>
            <a:r>
              <a:rPr lang="ko-KR" altLang="en-US" sz="1600" dirty="0" err="1"/>
              <a:t>잔재물</a:t>
            </a:r>
            <a:r>
              <a:rPr lang="ko-KR" altLang="en-US" sz="1600" dirty="0"/>
              <a:t> 기반의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2</a:t>
            </a:r>
            <a:r>
              <a:rPr lang="ko-KR" altLang="en-US" sz="1600" dirty="0"/>
              <a:t>세대</a:t>
            </a:r>
            <a:r>
              <a:rPr lang="en-US" altLang="ko-KR" sz="1600" dirty="0"/>
              <a:t>, 3</a:t>
            </a:r>
            <a:r>
              <a:rPr lang="ko-KR" altLang="en-US" sz="1600" dirty="0"/>
              <a:t>세대 </a:t>
            </a:r>
            <a:r>
              <a:rPr lang="ko-KR" altLang="en-US" sz="1600" dirty="0" err="1"/>
              <a:t>바이오연료</a:t>
            </a:r>
            <a:r>
              <a:rPr lang="ko-KR" altLang="en-US" sz="1600" dirty="0"/>
              <a:t> 등 지속가능한 형태의 기술이 개발되고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 해조류 기반의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토지 경쟁 없이도 생산이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담수 사용량이 적고 고효율이라는 장점이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95849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69B2-23AB-E17A-FCFD-E1465FB14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06D6C2-DDC2-E5AC-660A-28A39626B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D9C1C8-FED7-890F-7E51-7851A443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159A80-DB4B-511A-3010-0CD2FB50200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지열에너지는 지구 내부에서 발생하는 열에너지를 활용하여 전력이나 열을 생산하는 재생에너지의 한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주로 지구의 마그마 활동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붕괴</a:t>
            </a:r>
            <a:r>
              <a:rPr lang="en-US" altLang="ko-KR" sz="1600" dirty="0"/>
              <a:t>, </a:t>
            </a:r>
            <a:r>
              <a:rPr lang="ko-KR" altLang="en-US" sz="1600" dirty="0"/>
              <a:t>지각 운동에 의해 생성된 열로부터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지표면 아래 저장된 고온의 증기나 온수를 이용해 터빈을 돌려 전기를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저온의 지열을 직접 난방이나 산업용 열원으로 활용할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자연 상태의 지열 자원이 표출되는 지역뿐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인공 지열 시스템을 통해 더 넓은 지역에서도 활용 가능성을 모색하고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 발전은 전통적인 화석연료 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풍력과 비교해 출력이 안정적이고 예측 가능하다는 점에서 큰 장점을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간헐성과 기상조건에 민감한 다른 재생에너지원과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연중 무휴로 일정한 전력 공급이 가능하다는 의미이다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지열은 전력망의 기저 부하를 담당할 수 있는 드문 재생에너지로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단위 면적당 에너지 밀도가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효율도 우수한편이다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 이후에는 운영 비용이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 배출이 극히 적다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16829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97717-4595-E3E0-FDE4-5438D71CD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A8DE10-7264-484E-290F-BF6AD4BE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E57519-309B-6972-1972-7FD797ED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3DCAFC-2558-8783-4B6B-411D5DD797A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경제성 측면에서는 초기 탐사 및 시추 비용이 매우 높은 편이며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지열 자원의 온도</a:t>
            </a:r>
            <a:r>
              <a:rPr lang="en-US" altLang="ko-KR" sz="1600" dirty="0"/>
              <a:t>·</a:t>
            </a:r>
            <a:r>
              <a:rPr lang="ko-KR" altLang="en-US" sz="1600" dirty="0"/>
              <a:t>압력 조건이 적합하지 않거나 예상과 다른 경우에는 프로젝트 실패 위험이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불확실성은 민간 투자 유인을 저하시킬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정부의 초기 위험 부담이나 기술 지원이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발전은 지열 자원의 지역적 편재성이 강하다는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지열 발전은 화산대나 판 경계 인근의 고열지대에 집중되어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조건을 갖춘 지역은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인공 </a:t>
            </a:r>
            <a:r>
              <a:rPr lang="ko-KR" altLang="en-US" sz="1600" dirty="0" err="1"/>
              <a:t>저류층</a:t>
            </a:r>
            <a:r>
              <a:rPr lang="ko-KR" altLang="en-US" sz="1600" dirty="0"/>
              <a:t> 기술이나 지열 히트펌프 기술의 발전으로 인해 활용 가능 지역이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지열 발전은 일반적으로 친환경적이지만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특정 조건에서는 지반 침하</a:t>
            </a:r>
            <a:r>
              <a:rPr lang="en-US" altLang="ko-KR" sz="1600" dirty="0"/>
              <a:t>, </a:t>
            </a:r>
            <a:r>
              <a:rPr lang="ko-KR" altLang="en-US" sz="1600" dirty="0"/>
              <a:t>소규모 지진 유발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오염 등의 우려도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개선형 지열 시스템</a:t>
            </a:r>
            <a:r>
              <a:rPr lang="en-US" altLang="ko-KR" sz="1600" dirty="0"/>
              <a:t>(Enhanced Geothermal Systems, EGS) </a:t>
            </a:r>
            <a:r>
              <a:rPr lang="ko-KR" altLang="en-US" sz="1600" dirty="0"/>
              <a:t>기술을 적용하면 고압 주입이 지진활동을 유발할 가능성이 있어 사전 지질조사와 규제 설계가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997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A1F07-B931-918C-C639-5CF9172FE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D11DE6-1CC8-5E8B-2085-D07483F811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830EE-1321-7BAC-9FF6-22CB361FB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ACF810-AF3C-C23E-5F04-75C09B6DE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재생에너지의 경제적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728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D0C6-F872-E6D0-1CF0-5750A3B9A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48929-40F6-65C6-D9C9-43274FD3C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높은 초기 고정비와 낮은 한계비용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221FEA-0CEF-241E-D3EE-C67B7A3B3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36F72-8956-EE78-36EA-A0944067ACC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재생에너지원은 일반적으로 초기 고정비용이 매우 높은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한계비용은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독특한 비용구조를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고정비용이란 발전소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장비 구매</a:t>
            </a:r>
            <a:r>
              <a:rPr lang="en-US" altLang="ko-KR" sz="1600" dirty="0"/>
              <a:t>, </a:t>
            </a:r>
            <a:r>
              <a:rPr lang="ko-KR" altLang="en-US" sz="1600" dirty="0"/>
              <a:t>설비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연계 등에 필요한 일회성 투자 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재생에너지의 경우 이 비중이 전체 비용의 대부분을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한계비용이란</a:t>
            </a:r>
            <a:r>
              <a:rPr lang="ko-KR" altLang="en-US" sz="1600" dirty="0"/>
              <a:t> 추가적인 전력 한 단위를 생산하는 데 드는 비용을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비용 구조는 재생에너지의 규모의 경제와 학습곡선 효과를 통해 장기적으로 비용이 점점 하락하는 현상과 밀접하게 연결된다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태양광과 풍력의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누적 설치 용량 증가에 따라 단위당 투자비용과 균등화 발전비용이 지속적으로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구조는 자본집약적이라는 특성을 수반하는데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 비용이 크다는 것은 높은 자본 접근성과 장기적인 투자 회수 기간을 필요로 함을 의미한다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자금조달 조건과 정책 지원 여부에 따라 프로젝트의 경제성이 좌우될 수 있음을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736235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56A6E-C7DB-BC1B-4854-7999FC4D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959E0C-678B-3A89-60E4-391FBB077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540B9D-58A1-7B6E-41E8-1AF91B8EC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948CD-6299-2A2C-E7AE-B4E3F6A3DF6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태양광과 풍력과 같은 주요 재생에너지원은 자연조건에 의존하기 때문에 간헐성과 비제어성이라는 특성을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간헐성이란</a:t>
            </a:r>
            <a:r>
              <a:rPr lang="ko-KR" altLang="en-US" sz="1600" dirty="0"/>
              <a:t> 자원의 이용 가능성이 시간에 따라 불규칙하게 변한다는 의미이고</a:t>
            </a:r>
            <a:r>
              <a:rPr lang="en-US" altLang="ko-KR" sz="160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비제어성은 발전량을 전력 수요에 맞추어 인위적으로 조절할 수 없다는 의미이다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전력의 실시간 균형 유지에 부담을 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수요와 공급이 실시간으로 일치해야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저장이 어렵기 때문에 공급의 예측 가능성과 조절 가능성이 매우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태양광은 일사량 변화</a:t>
            </a:r>
            <a:r>
              <a:rPr lang="en-US" altLang="ko-KR" sz="1600" dirty="0"/>
              <a:t>, </a:t>
            </a:r>
            <a:r>
              <a:rPr lang="ko-KR" altLang="en-US" sz="1600" dirty="0"/>
              <a:t>풍력은 바람의 세기와 방향에 따라 발전량이 크게 변동하므로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오차가 발생할 경우 시스템 불안정성과 정전 위험이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이를 보완하기 위해서는 유연성을 갖춘 </a:t>
            </a:r>
            <a:r>
              <a:rPr lang="ko-KR" altLang="en-US" sz="1600" dirty="0" err="1"/>
              <a:t>발전원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가스발전</a:t>
            </a:r>
            <a:r>
              <a:rPr lang="en-US" altLang="ko-KR" sz="1600" dirty="0"/>
              <a:t>), </a:t>
            </a: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반응 등의 비용이 추가적으로 발생하게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0827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3499-EA49-AC6D-8FFE-98B1A306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5A495-1E35-D33C-B9B9-FCF39C27F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A5FAD8-B22A-D5AB-D37F-DCB34E01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F07584-2171-0E05-6A8F-4DE09678392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비제어성과 관련하여 재생에너지의 확대는 통합 비용을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재생에너지를 전력 시스템에 안정적으로 통합하기 위해 필요한 보완적 조치의 비용으로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예비력</a:t>
            </a:r>
            <a:r>
              <a:rPr lang="ko-KR" altLang="en-US" sz="1600" dirty="0"/>
              <a:t> 확충</a:t>
            </a:r>
            <a:r>
              <a:rPr lang="en-US" altLang="ko-KR" sz="1600" dirty="0"/>
              <a:t>, </a:t>
            </a:r>
            <a:r>
              <a:rPr lang="ko-KR" altLang="en-US" sz="1600" dirty="0"/>
              <a:t>계통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시스템 개발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 구축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재생에너지가 전체 발전량의 </a:t>
            </a:r>
            <a:r>
              <a:rPr lang="en-US" altLang="ko-KR" sz="1600" dirty="0"/>
              <a:t>20~30%</a:t>
            </a:r>
            <a:r>
              <a:rPr lang="ko-KR" altLang="en-US" sz="1600" dirty="0"/>
              <a:t>를 넘어가는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통합 비용은 기하급수적으로 증가할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재생에너지의 시장 수익성과 가치에도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전력시장에서 가격은 수요와 공급의 실시간 균형에 따라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태양광과 풍력은 특정 시간대에 대량 공급되는 경향이 있어 전력가격이 급락하는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가치 감소</a:t>
            </a:r>
            <a:r>
              <a:rPr lang="en-US" altLang="ko-KR" sz="1600" dirty="0"/>
              <a:t>‘ </a:t>
            </a:r>
            <a:r>
              <a:rPr lang="ko-KR" altLang="en-US" sz="1600" dirty="0"/>
              <a:t>현상이 발생한다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재생에너지의 단위 전력당 시장가치가 감소하며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수익성이 악화될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간헐성과 비제어성은 재생에너지의 물리적</a:t>
            </a:r>
            <a:r>
              <a:rPr lang="en-US" altLang="ko-KR" sz="1600" dirty="0"/>
              <a:t>·</a:t>
            </a:r>
            <a:r>
              <a:rPr lang="ko-KR" altLang="en-US" sz="1600" dirty="0"/>
              <a:t> 특성으로부터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전력시장의 효율성과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설계 등에 직간접적인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재생에너지 확대를 위한 전략은 기술적 비용 절감뿐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통합 비용과 시장가치 변동을 포함한 총사회적 비용 관점에서 접근할 필요가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2319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E0536-EBC6-9401-037E-6D829605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57BF3-386D-3D97-ADB2-21C44018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4FD88-E210-E701-B2E0-8D2F66A0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AEDC1D-BDE0-9755-21E8-DC6E911CA4E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</a:t>
            </a:r>
            <a:r>
              <a:rPr lang="en-US" altLang="ko-KR" sz="1600" dirty="0"/>
              <a:t>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특히 태양광과 풍력은 최근 수십 년간 급속한 비용 하락을 경험하였는데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현상의 배경에는 규모의 경제와 학습곡선이라는 두 가지 경제학적 메커니즘이 핵심적으로 작용하였다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규모의 경제</a:t>
            </a:r>
            <a:r>
              <a:rPr lang="en-US" altLang="ko-KR" sz="1600" dirty="0"/>
              <a:t>, </a:t>
            </a:r>
            <a:r>
              <a:rPr lang="ko-KR" altLang="en-US" sz="1600" dirty="0"/>
              <a:t>학습곡선</a:t>
            </a:r>
            <a:r>
              <a:rPr lang="en-US" altLang="ko-KR" sz="1600" dirty="0"/>
              <a:t>.</a:t>
            </a:r>
            <a:r>
              <a:rPr lang="ko-KR" altLang="en-US" sz="1600" dirty="0"/>
              <a:t> 두 가지 모두 생산이 누적될수록 단위당 비용이 낮아지는 구조를 설명하지만 작동 방식은 상이하다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규모의 경제란 생산설비나 프로젝트의 규모가 커질수록 단위당 고정비용이 분산되어 생산비용이 감소하는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대규모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 단지는 발전설비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운영 인력 등을 </a:t>
            </a:r>
            <a:r>
              <a:rPr lang="ko-KR" altLang="en-US" sz="1600" dirty="0" err="1"/>
              <a:t>규모화함으로써</a:t>
            </a:r>
            <a:r>
              <a:rPr lang="ko-KR" altLang="en-US" sz="1600" dirty="0"/>
              <a:t> 건설 및 운영 단가를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학습곡선은 누적 생산량이 증가함에 따라 생산성과 효율성이 향상되고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단위당 비용이 체계적으로 하락하는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반복적인 생산과 운용을 통해 축적된 </a:t>
            </a:r>
            <a:r>
              <a:rPr lang="ko-KR" altLang="en-US" sz="1600" dirty="0" err="1"/>
              <a:t>노후아</a:t>
            </a:r>
            <a:r>
              <a:rPr lang="en-US" altLang="ko-KR" sz="1600" dirty="0"/>
              <a:t>, </a:t>
            </a:r>
            <a:r>
              <a:rPr lang="ko-KR" altLang="en-US" sz="1600" dirty="0"/>
              <a:t>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개선</a:t>
            </a:r>
            <a:r>
              <a:rPr lang="en-US" altLang="ko-KR" sz="1600" dirty="0"/>
              <a:t> </a:t>
            </a:r>
            <a:r>
              <a:rPr lang="ko-KR" altLang="en-US" sz="1600" dirty="0"/>
              <a:t>등에 의해 달성된다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37300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CF61D-A23F-0306-B261-8ADCD68E7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99D59-5D8B-48D4-63C4-F19D67CA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223ADB-3BFE-8EED-F15A-986EF6BF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59627-A5D2-735D-A7E6-856A085DE5B2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두 가지 메커니즘은 종종 동시에 작용하며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지속적 비용 하락과 시장 경쟁력 강화에 중대한 기여를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정부의 초기 시장 형성 정책 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)</a:t>
            </a:r>
            <a:r>
              <a:rPr lang="ko-KR" altLang="en-US" sz="1600" dirty="0"/>
              <a:t>들은 초기 수요를 창출함으로써 생산의 누적을 가속화하고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학습효과가 본격적으로 작동하도록 유도했다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학습곡선은 기술혁신의 외부성을 내포하고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공공부문의 선제투자가 정당화되는 이론적 근거를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비용 하락은 무한정 지속되는 것은 아니며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기술이 성숙기에 접어들면 학습 효과는 둔화된다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정책적으로는 단순한 기술 보급을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혁신의 지속성과 새로운 세대 기술의 개발을 위한 장기적 기술 포트폴리오 관리가 중요해지고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28482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613E6-EB02-3C2D-3C12-14A999CB1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AFF5D-960F-446C-D6B7-5F1192A1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DD52C7-BB98-6F46-BED0-1FF61002D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1575B1-4F4A-BBC4-D47E-284434C7E06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단순한 에너지원의 전환을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전반에 긍정적인 외부효과를 창출하는 기술로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발전과정에서 온실가스 및 대기오염물질 저감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고용 창출</a:t>
            </a:r>
            <a:r>
              <a:rPr lang="en-US" altLang="ko-KR" sz="1600" dirty="0"/>
              <a:t> </a:t>
            </a:r>
            <a:r>
              <a:rPr lang="ko-KR" altLang="en-US" sz="1600" dirty="0"/>
              <a:t>등 다양한 사회적 편익을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재생에너지가 갖는 가장 대표적인 외부효과는 온실가스 감축에 따른 기후변화 대응 기여이다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화석연료 기반 발전은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 등 온실가스를 배출하지만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발전과정에서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탄소 가격이 반영되지 않은 시장 상황에서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</a:t>
            </a:r>
            <a:r>
              <a:rPr lang="ko-KR" altLang="en-US" sz="1600" dirty="0" err="1"/>
              <a:t>과소공급될</a:t>
            </a:r>
            <a:r>
              <a:rPr lang="ko-KR" altLang="en-US" sz="1600" dirty="0"/>
              <a:t> 가능성이 높으므로 정부의 개입을 정당화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대기오염 저감과 건강 편익을 동시에 제공해준다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석탄이나 중유 발전소는 이산화황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 등을 배출하여 호흡기 질환</a:t>
            </a:r>
            <a:r>
              <a:rPr lang="en-US" altLang="ko-KR" sz="1600" dirty="0"/>
              <a:t>, </a:t>
            </a:r>
            <a:r>
              <a:rPr lang="ko-KR" altLang="en-US" sz="1600" dirty="0"/>
              <a:t>조기사망률</a:t>
            </a:r>
            <a:r>
              <a:rPr lang="en-US" altLang="ko-KR" sz="1600" dirty="0"/>
              <a:t>, </a:t>
            </a:r>
            <a:r>
              <a:rPr lang="ko-KR" altLang="en-US" sz="1600" dirty="0"/>
              <a:t>생산성 저하 등의 사회적 비용을 유발하는데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재생에너지로의 전환은 이와 같은 비용을 줄일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2092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FB48-597D-CC21-2C85-B0AA4E91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250789-7FF9-AB38-4B26-CBB1E089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C90422-1A95-05C2-5B97-311A60B77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3FA49F-C27A-B3E5-7CD5-68665A7C20D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강화와 수입 대체 효과도 중요한 사회적 편익이다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자국 내 자원을 활용할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수입 의존도를 줄이고 에너지 가격의 국제적 변동성에 대한 노출을 완화시킨다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수입 에너지 의존도가 높은 국가에서는 장기적 전략 자산으로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지방경제 활성화와 고용 창출도 중요한 긍정적 외부효과이다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 산업은 지역 기반의 설치</a:t>
            </a:r>
            <a:r>
              <a:rPr lang="en-US" altLang="ko-KR" sz="1600" dirty="0"/>
              <a:t>·</a:t>
            </a:r>
            <a:r>
              <a:rPr lang="ko-KR" altLang="en-US" sz="1600" dirty="0"/>
              <a:t>운영</a:t>
            </a:r>
            <a:r>
              <a:rPr lang="en-US" altLang="ko-KR" sz="1600" dirty="0"/>
              <a:t>·</a:t>
            </a:r>
            <a:r>
              <a:rPr lang="ko-KR" altLang="en-US" sz="1600" dirty="0"/>
              <a:t>유지관리 인력을 필요로 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농촌이나 저개발 지역의 경제활동과 일자리 창출에 기여할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외부효과는 대부분 시장 가격에 반영되지 않는 비화폐적 편익이기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 공공적 개입 없이 시장 메커니즘만으로는 재생에너지가 충분히 공급되기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/>
              <a:t>탄소가격제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신재생에너지 의무공급제도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발전차액제도 등 다양한 정책 수단이 이러한 양의 외부효과를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방향으로 설계되어 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38279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EC46-C795-F159-814C-E8F6F8AD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027D70-6863-74EA-3385-3C53838102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F13BF-B8EA-3A2D-A946-BE86C8DD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565C146-BBF7-1FE7-60CC-788093F7D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재생에너지의 비용추이와 경쟁력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30667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28F2-92F6-080F-B148-63F2A2EE5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C16AE4-B350-6E0F-5E37-7CDBAA8B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0B73C-B65A-85E7-986B-24E46B6B4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67F40-CA66-35BC-B734-2443B32E52B2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균등화 발전비용은 발전 설비의 수명기간 동안 총 비용을 총 발전량으로 나눈 값으로</a:t>
            </a:r>
            <a:r>
              <a:rPr lang="en-US" altLang="ko-KR" sz="1600" dirty="0"/>
              <a:t>, </a:t>
            </a:r>
            <a:r>
              <a:rPr lang="ko-KR" altLang="en-US" sz="1600" dirty="0"/>
              <a:t>서로 다른 발전 기술 간의 경제성을 비교하는 데 널리 사용되는 지표이다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투자비용</a:t>
            </a:r>
            <a:r>
              <a:rPr lang="en-US" altLang="ko-KR" sz="1600" dirty="0"/>
              <a:t>, </a:t>
            </a:r>
            <a:r>
              <a:rPr lang="ko-KR" altLang="en-US" sz="1600" dirty="0"/>
              <a:t>운전 및 유지비용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자본조달 비용 등을 종합적으로 고려하여 단위 전력당 생산비용을 계산하며</a:t>
            </a:r>
            <a:r>
              <a:rPr lang="en-US" altLang="ko-KR" sz="1600" dirty="0"/>
              <a:t>, </a:t>
            </a:r>
            <a:r>
              <a:rPr lang="ko-KR" altLang="en-US" sz="1600" dirty="0"/>
              <a:t>특정 기술의 장기적 경쟁력을 평가하는 데 핵심적이다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 동안 재생에너지 기술의 발전과 대규모 보급 확산으로 인해 태양광과 풍력의 균등화 발전비용은 급격한 하락세를 보여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국제재생에너지기구에 따르면</a:t>
            </a:r>
            <a:r>
              <a:rPr lang="en-US" altLang="ko-KR" sz="1600" dirty="0"/>
              <a:t>, 2010</a:t>
            </a:r>
            <a:r>
              <a:rPr lang="ko-KR" altLang="en-US" sz="1600" dirty="0"/>
              <a:t>년 대비 </a:t>
            </a:r>
            <a:r>
              <a:rPr lang="en-US" altLang="ko-KR" sz="1600" dirty="0"/>
              <a:t>2022</a:t>
            </a:r>
            <a:r>
              <a:rPr lang="ko-KR" altLang="en-US" sz="1600" dirty="0"/>
              <a:t>년 기준 태양광의 글로벌 평균 균등화 발전비용은 약 </a:t>
            </a:r>
            <a:r>
              <a:rPr lang="en-US" altLang="ko-KR" sz="1600" dirty="0"/>
              <a:t>90% </a:t>
            </a:r>
            <a:r>
              <a:rPr lang="ko-KR" altLang="en-US" sz="1600" dirty="0"/>
              <a:t>하락하였고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육상 풍력은 </a:t>
            </a:r>
            <a:r>
              <a:rPr lang="en-US" altLang="ko-KR" sz="1600" dirty="0"/>
              <a:t>70% </a:t>
            </a:r>
            <a:r>
              <a:rPr lang="ko-KR" altLang="en-US" sz="1600" dirty="0"/>
              <a:t>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 효율 향상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공정 최적화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공급망 확대</a:t>
            </a:r>
            <a:r>
              <a:rPr lang="en-US" altLang="ko-KR" sz="1600" dirty="0"/>
              <a:t>, </a:t>
            </a:r>
            <a:r>
              <a:rPr lang="ko-KR" altLang="en-US" sz="1600" dirty="0"/>
              <a:t>금융조건 개선 등 다양한 요인이 복합적으로 작용한 결과이다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균등화 발전비용은 모든 비용을 단일 수치로 환산하는 특성상 </a:t>
            </a:r>
            <a:r>
              <a:rPr lang="ko-KR" altLang="en-US" sz="1600" dirty="0" err="1"/>
              <a:t>간헐성</a:t>
            </a:r>
            <a:r>
              <a:rPr lang="en-US" altLang="ko-KR" sz="1600" dirty="0"/>
              <a:t>, </a:t>
            </a:r>
            <a:r>
              <a:rPr lang="ko-KR" altLang="en-US" sz="1600" dirty="0"/>
              <a:t>계통 통합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위치 기반 제약 등은 반영하지 못하는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균등화 발전비용이 낮더라도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시스템 내에서의 실질 가치는 발전 시간대와 지역에 따라 달라질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39718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8983E-B6C2-687F-E786-C4ED7ECCA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29205C-BE7D-1F3E-E0A1-4525FF333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1E59D-931D-6EF6-16E5-1C583BF3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24BDA-8E61-9524-BD5D-9CD857C3AD25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LCOE~</a:t>
            </a:r>
          </a:p>
        </p:txBody>
      </p:sp>
    </p:spTree>
    <p:extLst>
      <p:ext uri="{BB962C8B-B14F-4D97-AF65-F5344CB8AC3E}">
        <p14:creationId xmlns:p14="http://schemas.microsoft.com/office/powerpoint/2010/main" val="543391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52834-86D8-BFB8-6751-A1D39B676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BF98A-1939-7D9C-F7D2-CBD74E395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EDB0A3-70A3-0907-3B24-D82F1349D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F12DC2-2A67-A0A4-6219-6FF35B5C5DE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재생에너지와 화석연료 발전 간의 경제성 비교는 단순한 발전 단가 수준을 넘어서</a:t>
            </a:r>
            <a:r>
              <a:rPr lang="en-US" altLang="ko-KR" sz="1600" dirty="0"/>
              <a:t>, </a:t>
            </a:r>
            <a:r>
              <a:rPr lang="ko-KR" altLang="en-US" sz="1600" dirty="0"/>
              <a:t>비용구조의 차이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가격의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지원 등 다양한 요소를 종합적으로 고려해야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화석연료 발전이 전통적으로 낮은 발전단가를 바탕으로 경제성 면에서 우위를 점해 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기술 발전과 규모 확장에 따라 재생에너지가 비용 경쟁력 측면에서 급속히 격차를 좁혀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경우에는 경제적 우위를 확보하였다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</a:t>
            </a:r>
            <a:r>
              <a:rPr lang="ko-KR" altLang="en-US" sz="1600" dirty="0"/>
              <a:t> 발전단가 측면에서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고정비 비중이 높고 한계비용이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구조인 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발전은 연료비 비중이 높아 운영 비용의 변동성이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태양광 및 육상풍력 발전의 평균 균등화발전단가는 </a:t>
            </a:r>
            <a:r>
              <a:rPr lang="en-US" altLang="ko-KR" sz="1600" dirty="0"/>
              <a:t>MWh</a:t>
            </a:r>
            <a:r>
              <a:rPr lang="ko-KR" altLang="en-US" sz="1600" dirty="0"/>
              <a:t>당 </a:t>
            </a:r>
            <a:r>
              <a:rPr lang="en-US" altLang="ko-KR" sz="1600" dirty="0"/>
              <a:t>46</a:t>
            </a:r>
            <a:r>
              <a:rPr lang="ko-KR" altLang="en-US" sz="1600" dirty="0"/>
              <a:t>달러 및 </a:t>
            </a:r>
            <a:r>
              <a:rPr lang="en-US" altLang="ko-KR" sz="1600" dirty="0"/>
              <a:t>33</a:t>
            </a:r>
            <a:r>
              <a:rPr lang="ko-KR" altLang="en-US" sz="1600" dirty="0"/>
              <a:t>달러로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화석연료들의 평균 균등화 발전비용에 비하여 각각 </a:t>
            </a:r>
            <a:r>
              <a:rPr lang="en-US" altLang="ko-KR" sz="1600" dirty="0"/>
              <a:t>56%, 67% </a:t>
            </a:r>
            <a:r>
              <a:rPr lang="ko-KR" altLang="en-US" sz="1600" dirty="0"/>
              <a:t>낮은 것으로 추정하고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외부비용의 고려 여부에 따라 경제성의 평가 결과는 달라진다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앞서 말한 재생에너지의 긍정적 </a:t>
            </a:r>
            <a:r>
              <a:rPr lang="ko-KR" altLang="en-US" sz="1600" dirty="0" err="1"/>
              <a:t>외부성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화석연료의 부정적 외부성을 고려하면 재생에너지는 사회적 총비용 측면에서는 보다 우수한 결과를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</a:t>
            </a:r>
            <a:r>
              <a:rPr lang="ko-KR" altLang="en-US" sz="1600" dirty="0"/>
              <a:t> 등 외부성을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정책이 본격화되면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경제성은 강화된다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10161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F05A3-F0D6-A94E-1C4F-3C74E58DF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6749CB-56BA-A45C-69BE-765F37C0C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2692EF-F618-E586-98FC-68A1EF320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0691D7-BC0D-B4C0-A639-FB556DB55D8F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예측 가능성과 에너지 안보 측면에서도 차이가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국제 시장에서 거래되고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리스크와 수급 불안정성에 노출되어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2022</a:t>
            </a:r>
            <a:r>
              <a:rPr lang="ko-KR" altLang="en-US" sz="1600" dirty="0"/>
              <a:t>년 러</a:t>
            </a:r>
            <a:r>
              <a:rPr lang="en-US" altLang="ko-KR" sz="1600" dirty="0"/>
              <a:t>-</a:t>
            </a:r>
            <a:r>
              <a:rPr lang="ko-KR" altLang="en-US" sz="1600" dirty="0"/>
              <a:t>우 전쟁 이후 천연가스 가격 급등으로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국가들이 재생에너지를 전략적 대안으로 적극 확대하게 된 사실과 같은 맥락이다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설비 투자 유인과 금융 조건에서도 점차 재생에너지가 우위를 점하고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기술이 성숙함에 따라 재생에너지 프로젝트의 위험도가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자본비용이 하락하고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국제 민간 투자자들은 장기적으로 수익이 안정적인 재생에너지에 더 많은 자금을 투입하고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간헐성과 계통 통합 비용이라는 구조적 제약을 안고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 발전은 출력 조절력</a:t>
            </a:r>
            <a:r>
              <a:rPr lang="en-US" altLang="ko-KR" sz="1600" dirty="0"/>
              <a:t>, </a:t>
            </a:r>
            <a:r>
              <a:rPr lang="ko-KR" altLang="en-US" sz="1600" dirty="0"/>
              <a:t>기저 부하 제공 능력에서 강점을 가지고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그 비중이 증가할수록</a:t>
            </a:r>
            <a:r>
              <a:rPr lang="en-US" altLang="ko-KR" sz="1600" dirty="0"/>
              <a:t>, </a:t>
            </a:r>
            <a:r>
              <a:rPr lang="ko-KR" altLang="en-US" sz="1600" dirty="0"/>
              <a:t>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보완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송전 인프라 등 시스템 차원의 추가 비용이 발생할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39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7589-78DC-578B-CC40-957E4032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0F2013-29CD-7F27-1577-D6B31B8EFA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CEF3-AB97-1172-4F24-539E14AF2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A196B2-BFD3-ADD5-D4F1-6F6E5ECA3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전력시스템 내 재생에너지의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94542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DDBD-F3B8-9DA6-C600-D8235E8E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6E295-1F94-24EE-87E6-D7356C20C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전력망</a:t>
            </a:r>
            <a:r>
              <a:rPr lang="ko-KR" altLang="en-US" dirty="0"/>
              <a:t> 통합문제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61035-3351-C41C-5CE1-C24D4F39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08FC1D-E1F1-DFAC-9AF2-729271C0213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전력망</a:t>
            </a:r>
            <a:r>
              <a:rPr lang="ko-KR" altLang="en-US" sz="1600" dirty="0"/>
              <a:t> 통합 문제란 간헐적이고 </a:t>
            </a:r>
            <a:r>
              <a:rPr lang="ko-KR" altLang="en-US" sz="1600" dirty="0" err="1"/>
              <a:t>비제어적인</a:t>
            </a:r>
            <a:r>
              <a:rPr lang="ko-KR" altLang="en-US" sz="1600" dirty="0"/>
              <a:t> 재생에너지를 대규모로 전력망에 연계할 때 발생하는 주파수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전압 관리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수요</a:t>
            </a:r>
            <a:r>
              <a:rPr lang="en-US" altLang="ko-KR" sz="1600" dirty="0"/>
              <a:t>-</a:t>
            </a:r>
            <a:r>
              <a:rPr lang="ko-KR" altLang="en-US" sz="1600" dirty="0"/>
              <a:t>공급 균형 유지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혼잡 등의 문제를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기상조건에 의존하기 때문에 발전량이 급증하거나 급감할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전반의 주파수나 전압의 안정성이 흔들릴 수 있으며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정전이나 설비 고장의 위험으로 이어질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재생에너지의 출력 제한을 허용하거나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발전 설비에도 주파수 응답 및 출력 조절 능력을 부여하는 기술적 기준을 강화하고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수요 중심지가 아닌 지역에 분산적으로 설치되는데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송배전망 확충과 계통 강화를 요구한다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값싼 부지가 비교적 많은 시골 지역에 태양광이 집중되어 있는 경우 송전 인프라의 병목현상이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기존의 발전 방식은 수요에 맞추어 공급</a:t>
            </a:r>
            <a:r>
              <a:rPr lang="en-US" altLang="ko-KR" sz="1600" dirty="0"/>
              <a:t>(</a:t>
            </a:r>
            <a:r>
              <a:rPr lang="ko-KR" altLang="en-US" sz="1600" dirty="0"/>
              <a:t>발전</a:t>
            </a:r>
            <a:r>
              <a:rPr lang="en-US" altLang="ko-KR" sz="1600" dirty="0"/>
              <a:t>)</a:t>
            </a:r>
            <a:r>
              <a:rPr lang="ko-KR" altLang="en-US" sz="1600" dirty="0"/>
              <a:t>을 조절하는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공급 조절형</a:t>
            </a:r>
            <a:r>
              <a:rPr lang="en-US" altLang="ko-KR" sz="1600" dirty="0"/>
              <a:t>’ </a:t>
            </a:r>
            <a:r>
              <a:rPr lang="ko-KR" altLang="en-US" sz="1600" dirty="0"/>
              <a:t>시스템이지만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확대 이후에는 공급량에 따라 수요를 조절하거나 저장하는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수요 반응형</a:t>
            </a:r>
            <a:r>
              <a:rPr lang="en-US" altLang="ko-KR" sz="1600" dirty="0"/>
              <a:t>‘ </a:t>
            </a:r>
            <a:r>
              <a:rPr lang="ko-KR" altLang="en-US" sz="1600" dirty="0"/>
              <a:t>체제로의 전환이 요구된다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수요관리</a:t>
            </a:r>
            <a:r>
              <a:rPr lang="en-US" altLang="ko-KR" sz="1600" dirty="0"/>
              <a:t>, </a:t>
            </a:r>
            <a:r>
              <a:rPr lang="ko-KR" altLang="en-US" sz="1600" dirty="0"/>
              <a:t>유연한 보완 발전원의 확보 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96632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578C5-6D5B-94F1-3BDE-CB0D074B4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87FBCC-B3E1-94CF-EFDF-F5005E33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보완성과 저장기술의 중요성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ACB013-82E0-F481-24B7-86766FEA3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DD03B-4C60-0E18-8507-FF515C0DB25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보완성이란 서로 다른 재생에너지원이 시간적</a:t>
            </a:r>
            <a:r>
              <a:rPr lang="en-US" altLang="ko-KR" sz="1600" dirty="0"/>
              <a:t>·</a:t>
            </a:r>
            <a:r>
              <a:rPr lang="ko-KR" altLang="en-US" sz="1600" dirty="0"/>
              <a:t>공간적으로 상호보완적 특성을 가질 때 나타나는 효과를 말한다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상이한 발전 패턴을 가진 자원을 함께 활용하면 출력 변동성을 완화할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풍력은 일반적으로 야간이나 겨울철에 강한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태양광은 낮이나 여름철에 출력이 집중된다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지역간 자원 특성의 차이를 활용한 공간적 보완성도 중요하며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광역 계통 연계와 재생에너지 자원의 분산적 설치를 통해 효과를 극대화할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보완성만으로는 수요와 공급 간의 실시간 불일치를 완전히 해소할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저장기술이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배터리 저장시스템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리튬이온배터리</a:t>
            </a:r>
            <a:r>
              <a:rPr lang="en-US" altLang="ko-KR" sz="1600" dirty="0"/>
              <a:t>)</a:t>
            </a:r>
            <a:r>
              <a:rPr lang="ko-KR" altLang="en-US" sz="1600" dirty="0"/>
              <a:t>은 발전량이 초과되는 시간대에 전력을 저장하고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공급이 부족한 시간에 방전함으로써 출력 평준화</a:t>
            </a:r>
            <a:r>
              <a:rPr lang="en-US" altLang="ko-KR" sz="1600" dirty="0"/>
              <a:t>, </a:t>
            </a:r>
            <a:r>
              <a:rPr lang="ko-KR" altLang="en-US" sz="1600" dirty="0"/>
              <a:t>주파수 조절</a:t>
            </a:r>
            <a:r>
              <a:rPr lang="en-US" altLang="ko-KR" sz="1600" dirty="0"/>
              <a:t>, </a:t>
            </a:r>
            <a:r>
              <a:rPr lang="ko-KR" altLang="en-US" sz="1600" dirty="0"/>
              <a:t>피크 부하 대응 등의 다양한 기능을 수행한다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외에도 양수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압축공기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저장 등의 다양한 기술이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각기 다른 시간 범위와 용도에 맞게 설계될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양수 저장은 대규모 장기 저장에</a:t>
            </a:r>
            <a:r>
              <a:rPr lang="en-US" altLang="ko-KR" sz="1600" dirty="0"/>
              <a:t>, </a:t>
            </a:r>
            <a:r>
              <a:rPr lang="ko-KR" altLang="en-US" sz="1600" dirty="0"/>
              <a:t>배터리는 단기 부하 조절에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수소는 계절 간 저장 및 부문간 연계에 적합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저장기술은 전력가격이 높은 시간대에 판매할 수 있어 수익성을 개선할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5016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11C92-6407-0AAF-C53F-4EF17AFF3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BD08FE-2F6E-8975-952A-BFE8E9930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DCCB8-2B58-A321-B05D-754CB40D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7B8624-EEC6-E3E6-EBA8-5A0244415F8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지금까지 살펴본 특성상 </a:t>
            </a:r>
            <a:r>
              <a:rPr lang="en-US" altLang="ko-KR" sz="1600" dirty="0"/>
              <a:t>(</a:t>
            </a:r>
            <a:r>
              <a:rPr lang="ko-KR" altLang="en-US" sz="1600" dirty="0"/>
              <a:t>소규모</a:t>
            </a:r>
            <a:r>
              <a:rPr lang="en-US" altLang="ko-KR" sz="1600" dirty="0"/>
              <a:t>·</a:t>
            </a:r>
            <a:r>
              <a:rPr lang="ko-KR" altLang="en-US" sz="1600" dirty="0"/>
              <a:t>분산 간헐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비제어</a:t>
            </a:r>
            <a:r>
              <a:rPr lang="en-US" altLang="ko-KR" sz="1600" dirty="0"/>
              <a:t>)</a:t>
            </a:r>
            <a:r>
              <a:rPr lang="ko-KR" altLang="en-US" sz="1600" dirty="0"/>
              <a:t> 기존 시장 설계와 근본적인 불일치를 드러낸다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전력시장 설계의 조정과 제도적 개혁을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한계비용이 거의 제로이기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공급이 증가하면 전력시장의 가격을 </a:t>
            </a:r>
            <a:r>
              <a:rPr lang="ko-KR" altLang="en-US" sz="1600" dirty="0" err="1"/>
              <a:t>하락시키는</a:t>
            </a:r>
            <a:r>
              <a:rPr lang="ko-KR" altLang="en-US" sz="1600" dirty="0"/>
              <a:t> 경향이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고정 가격 보조</a:t>
            </a:r>
            <a:r>
              <a:rPr lang="en-US" altLang="ko-KR" sz="1600" dirty="0"/>
              <a:t>(Feed In Tariff)</a:t>
            </a:r>
            <a:r>
              <a:rPr lang="ko-KR" altLang="en-US" sz="1600" dirty="0"/>
              <a:t>를 받은 재생에너지가 시장 가격과 무관하게 우선적으로 공급될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가격이 왜곡되고</a:t>
            </a:r>
            <a:r>
              <a:rPr lang="en-US" altLang="ko-KR" sz="1600" dirty="0"/>
              <a:t>, </a:t>
            </a:r>
            <a:r>
              <a:rPr lang="ko-KR" altLang="en-US" sz="1600" dirty="0"/>
              <a:t>기존 발전자원의 수익성 악화로 이어질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이른바 </a:t>
            </a:r>
            <a:r>
              <a:rPr lang="en-US" altLang="ko-KR" sz="1600" dirty="0"/>
              <a:t>‘</a:t>
            </a:r>
            <a:r>
              <a:rPr lang="ko-KR" altLang="en-US" sz="1600" dirty="0"/>
              <a:t>가격 잠식</a:t>
            </a:r>
            <a:r>
              <a:rPr lang="en-US" altLang="ko-KR" sz="1600" dirty="0"/>
              <a:t>’ </a:t>
            </a:r>
            <a:r>
              <a:rPr lang="ko-KR" altLang="en-US" sz="1600" dirty="0"/>
              <a:t>현상은 재생에너지의 비중이 높아질수록 심화되고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기반의 재생에너지 투자 유인을 저해하는 요인이 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간헐성과 예측 불가능성은 시장 유연성 확보를 필수적으로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전력 거래 외에도 </a:t>
            </a:r>
            <a:r>
              <a:rPr lang="ko-KR" altLang="en-US" sz="1600" dirty="0" err="1"/>
              <a:t>예비력</a:t>
            </a:r>
            <a:r>
              <a:rPr lang="en-US" altLang="ko-KR" sz="1600" dirty="0"/>
              <a:t>, </a:t>
            </a:r>
            <a:r>
              <a:rPr lang="ko-KR" altLang="en-US" sz="1600" dirty="0"/>
              <a:t>주파수 조절</a:t>
            </a:r>
            <a:r>
              <a:rPr lang="en-US" altLang="ko-KR" sz="1600" dirty="0"/>
              <a:t>, </a:t>
            </a:r>
            <a:r>
              <a:rPr lang="ko-KR" altLang="en-US" sz="1600" dirty="0"/>
              <a:t>부하 조정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반응 등 다양한 부가 서비스를 거래하는 시장이 필요하며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이러한 보조서비스 시장을 재설계하거나 확대하고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단기 시장의 정산주기를 더욱 촘촘하게 설정하거나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시장을 강화하여 변동성에 대응하는 시스템 설계가 병행되고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50744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C2FBA-902C-DEA9-E42D-E96700EE5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A3BFF8-F5FA-7845-DB04-C4F36EDB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15C9C4-DDCB-4538-3C7A-76ECDAB18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EA303-24F4-FA55-5027-2B674AB551D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중심 전력 시스템에서는 용량 보장 확보를 위한 새로운 시장 구조가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날씨에 따라 변동이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전력공급이 부족할 경우 즉시 공급할 수 있는 </a:t>
            </a:r>
            <a:r>
              <a:rPr lang="en-US" altLang="ko-KR" sz="1600" dirty="0"/>
              <a:t>LNG</a:t>
            </a:r>
            <a:r>
              <a:rPr lang="ko-KR" altLang="en-US" sz="1600" dirty="0"/>
              <a:t>발전소나 저장장치 등을 유지해야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기존에는 전기를 생산한 만큼 돈을 받았지만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용량시장에서는 발전하지 않아도 대기 능력</a:t>
            </a:r>
            <a:r>
              <a:rPr lang="en-US" altLang="ko-KR" sz="1600" dirty="0"/>
              <a:t>(</a:t>
            </a:r>
            <a:r>
              <a:rPr lang="ko-KR" altLang="en-US" sz="1600" dirty="0"/>
              <a:t>용량</a:t>
            </a:r>
            <a:r>
              <a:rPr lang="en-US" altLang="ko-KR" sz="1600" dirty="0"/>
              <a:t>)</a:t>
            </a:r>
            <a:r>
              <a:rPr lang="ko-KR" altLang="en-US" sz="1600" dirty="0"/>
              <a:t>에 대해 보상하는 새로운 시장 제도가 필요함을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분산성과 지역성은 전통적 중앙 집중형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기반의 시장 설계에 변화를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소규모 태양광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전기차 충전 등의 확산은 소비자이자 생산자의 등장을 의미하며</a:t>
            </a:r>
            <a:r>
              <a:rPr lang="en-US" altLang="ko-KR" sz="1600" dirty="0"/>
              <a:t>, </a:t>
            </a:r>
            <a:r>
              <a:rPr lang="ko-KR" altLang="en-US" sz="1600" dirty="0"/>
              <a:t>분산자원 기반의 새로운 시장 참여 모델을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국가에서는 지역 단위의 전력시장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 간 전력거래</a:t>
            </a:r>
            <a:r>
              <a:rPr lang="en-US" altLang="ko-KR" sz="1600" dirty="0"/>
              <a:t>, </a:t>
            </a:r>
            <a:r>
              <a:rPr lang="ko-KR" altLang="en-US" sz="1600" dirty="0"/>
              <a:t>가상발전소 등의 실험적 제도를 도입하고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 제도의 변화는 단순한 기술적 조정에 그치지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지배구조</a:t>
            </a:r>
            <a:r>
              <a:rPr lang="en-US" altLang="ko-KR" sz="1600" dirty="0"/>
              <a:t>, </a:t>
            </a:r>
            <a:r>
              <a:rPr lang="ko-KR" altLang="en-US" sz="1600" dirty="0"/>
              <a:t>정산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시그널</a:t>
            </a:r>
            <a:r>
              <a:rPr lang="en-US" altLang="ko-KR" sz="1600" dirty="0"/>
              <a:t> </a:t>
            </a:r>
            <a:r>
              <a:rPr lang="ko-KR" altLang="en-US" sz="1600" dirty="0"/>
              <a:t>설계</a:t>
            </a:r>
            <a:r>
              <a:rPr lang="en-US" altLang="ko-KR" sz="1600" dirty="0"/>
              <a:t> </a:t>
            </a:r>
            <a:r>
              <a:rPr lang="ko-KR" altLang="en-US" sz="1600" dirty="0"/>
              <a:t>등의 측면에서 종합적인 변화를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406284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DFD94-3D3D-8B63-B659-4FE8F33A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1BB767-B954-7A46-8835-203A64ECCE8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D62FE-4457-6E04-699D-4394298E1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4DE58E5-97B8-49D7-76B3-F3F82A86D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재생에너지에 의한 전력생산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89760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7CF27-90A4-3267-B59C-EC8AD79F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4704A-D568-7750-0E52-DBA8818D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재생에너지 발전량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81DF1D-FADF-18D3-74E7-047D73B4E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B4B1D8-F2E6-68B1-45A0-D8AB50EE982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표는 지역별 재생에너지에 의한 전력생산량과 비중을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</a:t>
            </a:r>
            <a:r>
              <a:rPr lang="en-US" altLang="ko-KR" sz="1600" dirty="0"/>
              <a:t>(46.1%), </a:t>
            </a:r>
            <a:r>
              <a:rPr lang="ko-KR" altLang="en-US" sz="1600" dirty="0"/>
              <a:t>유럽</a:t>
            </a:r>
            <a:r>
              <a:rPr lang="en-US" altLang="ko-KR" sz="1600" dirty="0"/>
              <a:t>(19.7%), </a:t>
            </a:r>
            <a:r>
              <a:rPr lang="ko-KR" altLang="en-US" sz="1600" dirty="0"/>
              <a:t>북미</a:t>
            </a:r>
            <a:r>
              <a:rPr lang="en-US" altLang="ko-KR" sz="1600" dirty="0"/>
              <a:t>(16.4%), </a:t>
            </a:r>
            <a:r>
              <a:rPr lang="ko-KR" altLang="en-US" sz="1600" dirty="0"/>
              <a:t>중남미</a:t>
            </a:r>
            <a:r>
              <a:rPr lang="en-US" altLang="ko-KR" sz="1600" dirty="0"/>
              <a:t>(11.7%) </a:t>
            </a:r>
            <a:r>
              <a:rPr lang="ko-KR" altLang="en-US" sz="1600" dirty="0"/>
              <a:t>순이며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지역의 비중은 상대적으로 낮게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설명 계속</a:t>
            </a:r>
            <a:r>
              <a:rPr lang="en-US" altLang="ko-KR" sz="1600" dirty="0"/>
              <a:t>)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6A1B254-65F1-DBF8-3C4D-993B000FE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977076"/>
              </p:ext>
            </p:extLst>
          </p:nvPr>
        </p:nvGraphicFramePr>
        <p:xfrm>
          <a:off x="709624" y="2835895"/>
          <a:ext cx="4869541" cy="371419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3524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2020905667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197497817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73954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풍력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태양광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1,471.1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16.4%</a:t>
                      </a: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749.9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1,049.7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428.7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294.9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638.7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1,769.3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이탈리아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튀르키예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1FFFE01-2FC5-13F1-37A2-D64C34E19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662350"/>
              </p:ext>
            </p:extLst>
          </p:nvPr>
        </p:nvGraphicFramePr>
        <p:xfrm>
          <a:off x="6560610" y="2835895"/>
          <a:ext cx="493344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7290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2020905667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197497817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67940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풍력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태양광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269.3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209.1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1,045.2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1,788.2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4,141.7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1,226.0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2,894.1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1,641.6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4,240.0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8,988.4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1,149.4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1,385.5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3,676.0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1,175.9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2,854.5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5,312.4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602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21CE-657F-2C89-4E6C-3AC56D0A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48DA0E-DD97-3C52-4454-96858FBF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571E0F-D6C0-FAD0-069B-DC06E8F67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C68737-C3BD-CB52-AFC3-63947F47E178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 재생에너지에 의한 전력생산량과 비중을 살펴보면 아래와 같다</a:t>
            </a:r>
            <a:r>
              <a:rPr lang="en-US" altLang="ko-KR" sz="1600" dirty="0"/>
              <a:t>. (</a:t>
            </a:r>
            <a:r>
              <a:rPr lang="ko-KR" altLang="en-US" sz="1600" dirty="0"/>
              <a:t>전 슬라이드 표 참고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전체 재생에너지 발전량으로는 중국이 </a:t>
            </a:r>
            <a:r>
              <a:rPr lang="en-US" altLang="ko-KR" sz="1600" dirty="0"/>
              <a:t>32.2%, </a:t>
            </a:r>
            <a:r>
              <a:rPr lang="ko-KR" altLang="en-US" sz="1600" dirty="0"/>
              <a:t>미국</a:t>
            </a:r>
            <a:r>
              <a:rPr lang="en-US" altLang="ko-KR" sz="1600" dirty="0"/>
              <a:t>(10.8%), </a:t>
            </a:r>
            <a:r>
              <a:rPr lang="ko-KR" altLang="en-US" sz="1600" dirty="0"/>
              <a:t>브라질</a:t>
            </a:r>
            <a:r>
              <a:rPr lang="en-US" altLang="ko-KR" sz="1600" dirty="0"/>
              <a:t>(7.0%),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(4.7%), </a:t>
            </a:r>
            <a:r>
              <a:rPr lang="ko-KR" altLang="en-US" sz="1600" dirty="0"/>
              <a:t>인도</a:t>
            </a:r>
            <a:r>
              <a:rPr lang="en-US" altLang="ko-KR" sz="1600" dirty="0"/>
              <a:t>(4.2%) </a:t>
            </a:r>
            <a:r>
              <a:rPr lang="ko-KR" altLang="en-US" sz="1600" dirty="0"/>
              <a:t>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발전량 기준으로는 중국</a:t>
            </a:r>
            <a:r>
              <a:rPr lang="en-US" altLang="ko-KR" sz="1600" dirty="0"/>
              <a:t>(885.9TWh),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(429.5TWh), </a:t>
            </a:r>
            <a:r>
              <a:rPr lang="ko-KR" altLang="en-US" sz="1600" dirty="0"/>
              <a:t>독일</a:t>
            </a:r>
            <a:r>
              <a:rPr lang="en-US" altLang="ko-KR" sz="1600" dirty="0"/>
              <a:t>(141.1TWh)</a:t>
            </a:r>
            <a:r>
              <a:rPr lang="ko-KR" altLang="en-US" sz="1600" dirty="0"/>
              <a:t> 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발전량 기준으로는 중국</a:t>
            </a:r>
            <a:r>
              <a:rPr lang="en-US" altLang="ko-KR" sz="1600" dirty="0"/>
              <a:t>(584.2TWh),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(240.5TWh), </a:t>
            </a:r>
            <a:r>
              <a:rPr lang="ko-KR" altLang="en-US" sz="1600" dirty="0"/>
              <a:t>인도</a:t>
            </a:r>
            <a:r>
              <a:rPr lang="en-US" altLang="ko-KR" sz="1600" dirty="0"/>
              <a:t>(113.4TWh) </a:t>
            </a:r>
            <a:r>
              <a:rPr lang="ko-KR" altLang="en-US" sz="1600" dirty="0"/>
              <a:t>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수력 발전량 기준으로는 중국</a:t>
            </a:r>
            <a:r>
              <a:rPr lang="en-US" altLang="ko-KR" sz="1600" dirty="0"/>
              <a:t>(1,226.0TWh), </a:t>
            </a:r>
            <a:r>
              <a:rPr lang="ko-KR" altLang="en-US" sz="1600" dirty="0"/>
              <a:t>브라질</a:t>
            </a:r>
            <a:r>
              <a:rPr lang="en-US" altLang="ko-KR" sz="1600" dirty="0"/>
              <a:t>(428.7TWh),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(364.2TWh),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(236.3TWh)</a:t>
            </a:r>
            <a:r>
              <a:rPr lang="ko-KR" altLang="en-US" sz="1600" dirty="0"/>
              <a:t> 순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28191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6CA0-C3EF-1E98-F935-9A1748C2E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1B382-8FA2-4C1F-306C-749FB31D8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태양광 및 태양열 발전 용량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26581B-10E1-FD4F-3757-6FA653CB1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F539D6-C655-076C-1607-94C4549D1694}"/>
              </a:ext>
            </a:extLst>
          </p:cNvPr>
          <p:cNvSpPr txBox="1"/>
          <p:nvPr/>
        </p:nvSpPr>
        <p:spPr>
          <a:xfrm>
            <a:off x="288791" y="958844"/>
            <a:ext cx="622686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옆 표는 지역별 태양광과 태양열 발전 용량을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발전용량은 풍력발전에 비해 빠르게 증가하고 있으며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사이 연 평균 </a:t>
            </a:r>
            <a:r>
              <a:rPr lang="en-US" altLang="ko-KR" sz="1600" dirty="0"/>
              <a:t>25.9%</a:t>
            </a:r>
            <a:r>
              <a:rPr lang="ko-KR" altLang="en-US" sz="1600" dirty="0"/>
              <a:t>의 성장률을 나타낸다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전 세계 발전용량 비중이 </a:t>
            </a:r>
            <a:r>
              <a:rPr lang="en-US" altLang="ko-KR" sz="1600" dirty="0"/>
              <a:t>43.0%</a:t>
            </a:r>
            <a:r>
              <a:rPr lang="ko-KR" altLang="en-US" sz="1600" dirty="0"/>
              <a:t>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증가율도 </a:t>
            </a:r>
            <a:r>
              <a:rPr lang="en-US" altLang="ko-KR" sz="1600" dirty="0"/>
              <a:t>42.4%</a:t>
            </a:r>
            <a:r>
              <a:rPr lang="ko-KR" altLang="en-US" sz="1600" dirty="0"/>
              <a:t>를 나타낸다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발전용량 비중이 </a:t>
            </a:r>
            <a:r>
              <a:rPr lang="en-US" altLang="ko-KR" sz="1600" dirty="0"/>
              <a:t>9.8%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증가율도 </a:t>
            </a:r>
            <a:r>
              <a:rPr lang="en-US" altLang="ko-KR" sz="1600" dirty="0"/>
              <a:t>26.5%</a:t>
            </a:r>
            <a:r>
              <a:rPr lang="ko-KR" altLang="en-US" sz="1600" dirty="0"/>
              <a:t>로 빠르게 증가하고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A164BF-8430-C1C4-DD88-EE0855BF3B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66016"/>
              </p:ext>
            </p:extLst>
          </p:nvPr>
        </p:nvGraphicFramePr>
        <p:xfrm>
          <a:off x="6701145" y="1450037"/>
          <a:ext cx="4514610" cy="488657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2205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729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16447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130312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발전용량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(2013-2023)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155,873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139,205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53,603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37,449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299,200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81,739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이탈리아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29,795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31,016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4,685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18,543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13,479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873,586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33,683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17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609,921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0787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73,109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9743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87,068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556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27,046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1,418,969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FE49D62-7892-3E8C-D49E-129BD9112FE1}"/>
              </a:ext>
            </a:extLst>
          </p:cNvPr>
          <p:cNvSpPr txBox="1"/>
          <p:nvPr/>
        </p:nvSpPr>
        <p:spPr>
          <a:xfrm>
            <a:off x="7195891" y="1095869"/>
            <a:ext cx="3525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2023</a:t>
            </a:r>
            <a:r>
              <a:rPr lang="ko-KR" altLang="en-US" sz="1200" spc="-50" dirty="0"/>
              <a:t>년 지역별 태양광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태양열 발전용량</a:t>
            </a:r>
            <a:r>
              <a:rPr lang="en-US" altLang="ko-KR" sz="1200" spc="-50" dirty="0"/>
              <a:t> (MW)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548434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7BBE4-0371-4FD6-0AE3-53534F86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1DCF0E-85CA-569C-A117-CBC535B4E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풍력 발전 용량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5003D7-60DA-BFBD-75F8-60F1590A9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A55B6B-6ED0-4A15-B165-FE006D6AC851}"/>
              </a:ext>
            </a:extLst>
          </p:cNvPr>
          <p:cNvSpPr txBox="1"/>
          <p:nvPr/>
        </p:nvSpPr>
        <p:spPr>
          <a:xfrm>
            <a:off x="288791" y="958844"/>
            <a:ext cx="6226862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옆 표는 지역별 풍력 발전 용량을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발전용량이 가장 큰 국가는 중국으로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중국의 비중은 </a:t>
            </a:r>
            <a:r>
              <a:rPr lang="en-US" altLang="ko-KR" sz="1600" dirty="0"/>
              <a:t>2023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43.0%</a:t>
            </a:r>
            <a:r>
              <a:rPr lang="ko-KR" altLang="en-US" sz="1600" dirty="0"/>
              <a:t>이며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연간 </a:t>
            </a:r>
            <a:r>
              <a:rPr lang="en-US" altLang="ko-KR" sz="1600" dirty="0"/>
              <a:t>19.1% </a:t>
            </a:r>
            <a:r>
              <a:rPr lang="ko-KR" altLang="en-US" sz="1600" dirty="0"/>
              <a:t>증가하였다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 다음으로는 미국</a:t>
            </a:r>
            <a:r>
              <a:rPr lang="en-US" altLang="ko-KR" sz="1600" dirty="0"/>
              <a:t>(14.6%), </a:t>
            </a:r>
            <a:r>
              <a:rPr lang="ko-KR" altLang="en-US" sz="1600" dirty="0"/>
              <a:t>독일</a:t>
            </a:r>
            <a:r>
              <a:rPr lang="en-US" altLang="ko-KR" sz="1600" dirty="0"/>
              <a:t>(6.8%)</a:t>
            </a:r>
            <a:r>
              <a:rPr lang="ko-KR" altLang="en-US" sz="1600" dirty="0"/>
              <a:t>의 비중이 높았고</a:t>
            </a:r>
            <a:r>
              <a:rPr lang="en-US" altLang="ko-KR" sz="1600" dirty="0"/>
              <a:t>, </a:t>
            </a:r>
            <a:r>
              <a:rPr lang="ko-KR" altLang="en-US" sz="1600" dirty="0"/>
              <a:t>두 국가의 연평균 증가율은 각각 </a:t>
            </a:r>
            <a:r>
              <a:rPr lang="en-US" altLang="ko-KR" sz="1600" dirty="0"/>
              <a:t>9.4%, 7.6% </a:t>
            </a:r>
            <a:r>
              <a:rPr lang="ko-KR" altLang="en-US" sz="1600" dirty="0"/>
              <a:t>였다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DDFB7C3-AC3E-1537-5785-75FAE7A8C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767874"/>
              </p:ext>
            </p:extLst>
          </p:nvPr>
        </p:nvGraphicFramePr>
        <p:xfrm>
          <a:off x="6701145" y="1450037"/>
          <a:ext cx="4514610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2205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729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16447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130312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발전용량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(2013-2023)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172,327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148,020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42,018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29,135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268,708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22,196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69,459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31,028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30,215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1,871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8,654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0787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520,912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9743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441,895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556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44,736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1,017,199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1D0833A-8F67-6E96-8514-44721A7EBB74}"/>
              </a:ext>
            </a:extLst>
          </p:cNvPr>
          <p:cNvSpPr txBox="1"/>
          <p:nvPr/>
        </p:nvSpPr>
        <p:spPr>
          <a:xfrm>
            <a:off x="7195891" y="1095869"/>
            <a:ext cx="3525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2023</a:t>
            </a:r>
            <a:r>
              <a:rPr lang="ko-KR" altLang="en-US" sz="1200" spc="-50" dirty="0"/>
              <a:t>년 지역별 태양광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태양열 발전용량</a:t>
            </a:r>
            <a:r>
              <a:rPr lang="en-US" altLang="ko-KR" sz="1200" spc="-50" dirty="0"/>
              <a:t> (MW)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499331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4800-6A31-BE4A-1C3E-372090822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03F97-3BAF-41AD-F46D-57F13EE0D0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89F4BD-CC08-2E50-779F-242500459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06F8B0-54A2-FB67-C649-ED9D81CA3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정책도구와 정부의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93974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39891-340E-22A8-5F7D-4962C211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4B8B08-9055-8DF6-CE94-06E36481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확대를 위한 정책도구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0E28AB-25F3-31BE-F7A1-B50AE052F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34DCD-5F60-A4AE-DC0F-40B8A0B22A5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시장에 맡길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외부효과의 과소반영</a:t>
            </a:r>
            <a:r>
              <a:rPr lang="en-US" altLang="ko-KR" sz="1600" dirty="0"/>
              <a:t>, </a:t>
            </a:r>
            <a:r>
              <a:rPr lang="ko-KR" altLang="en-US" sz="1600" dirty="0"/>
              <a:t>초기 비용 부담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시장실패 등으로 인해 충분한 공급이 이루어지기 어렵기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 개입이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수단으로 발전차액지원제도</a:t>
            </a:r>
            <a:r>
              <a:rPr lang="en-US" altLang="ko-KR" sz="1600" dirty="0"/>
              <a:t>(FIT: Feed-in Tariff), </a:t>
            </a:r>
            <a:r>
              <a:rPr lang="ko-KR" altLang="en-US" sz="1600" dirty="0"/>
              <a:t>신재생에너지 공급의무제도</a:t>
            </a:r>
            <a:r>
              <a:rPr lang="en-US" altLang="ko-KR" sz="1600" dirty="0"/>
              <a:t>(RPS: Renewable Portfolio Standard), </a:t>
            </a:r>
            <a:r>
              <a:rPr lang="ko-KR" altLang="en-US" sz="1600" dirty="0" err="1"/>
              <a:t>탄소세</a:t>
            </a:r>
            <a:r>
              <a:rPr lang="ko-KR" altLang="en-US" sz="1600" dirty="0"/>
              <a:t> 등이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제도는 경제적 유인 제공 방식과 시장에 미치는 영향에서 차이를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 정책들은 상호보완적으로 운영되고</a:t>
            </a:r>
            <a:r>
              <a:rPr lang="en-US" altLang="ko-KR" sz="1600" dirty="0"/>
              <a:t>, </a:t>
            </a:r>
            <a:r>
              <a:rPr lang="ko-KR" altLang="en-US" sz="1600" dirty="0"/>
              <a:t>목적에 따라 정책들이 조합되어 운영되기도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발전차액제도</a:t>
            </a:r>
            <a:r>
              <a:rPr lang="en-US" altLang="ko-KR" sz="1600" dirty="0"/>
              <a:t>(FIT)</a:t>
            </a:r>
            <a:r>
              <a:rPr lang="ko-KR" altLang="en-US" sz="1600" dirty="0"/>
              <a:t>는 일정 기간 동안 재생에너지 발전 사업자에게 시장가격보다 높은 고정가격으로 전력 구매를 보장해주는 제도이다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투자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예측 가능성을 제공하여 초기 시장 형성에 매우 효과적인 정책으로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스페인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등에서 재생에너지의 확산을 이끈 주된 제도로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발전차액제도는 기술별로 차등가격을 설정함으로써 기술 다양성과 소규모 분산형 자원의 참여를 유도할 수 있다는 장점이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단점으로는 가격 설정이 잘못되면 과잉보상</a:t>
            </a:r>
            <a:r>
              <a:rPr lang="en-US" altLang="ko-KR" sz="1600" dirty="0"/>
              <a:t>, </a:t>
            </a:r>
            <a:r>
              <a:rPr lang="ko-KR" altLang="en-US" sz="1600" dirty="0"/>
              <a:t>재정 부담이 초래되고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유연성이 떨어질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28129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1A563-C1AB-306A-561F-AF04DF989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657D4-E5D7-467A-48A8-74A80EF0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확대를 위한 정책도구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94CD40-4706-216C-6A49-116C298FA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146C9C-3E0D-1B8F-1080-FF8C868CD98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신재생에너지 공급의무제도</a:t>
            </a:r>
            <a:r>
              <a:rPr lang="en-US" altLang="ko-KR" sz="1600" dirty="0"/>
              <a:t>(RPS)</a:t>
            </a:r>
            <a:r>
              <a:rPr lang="ko-KR" altLang="en-US" sz="1600" dirty="0"/>
              <a:t>는 일정 규모 이상의 발전사업자가 전체 발전량 중 일정 비율 이상을 재생에너지로 공급하도록 법적으로 의무화하는 제도이다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의무비율은 해마다 상향 조정될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공급 증서를 거래하는 방식으로 유연성을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등에서 널리 시행되고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기반의 경쟁 유도를 통해 재생에너지 단가 하락을 유인한다는 점에서 </a:t>
            </a:r>
            <a:r>
              <a:rPr lang="en-US" altLang="ko-KR" sz="1600" dirty="0"/>
              <a:t>FIT</a:t>
            </a:r>
            <a:r>
              <a:rPr lang="ko-KR" altLang="en-US" sz="1600" dirty="0"/>
              <a:t>와 대조된다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단점으로는 의무비율이 과소하거나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공급인증서 가격 변동성이 클 경우 투자 유인이 불충분할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기술에 편중될 우려도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탄소세는 온실가스를 배출하는 화석연료의 사용에 대해 세금을 부과하는 대표적인 가격 기반 정책이다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탄소세는 재생에너지에 대한 직접적인 보조 대신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화석연료의 상대적 가격을 상승시켜 시장 내에서 재생에너지의 경쟁력을 높이는 간접적 유인 구조를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스웨덴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등이 활용하고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왜곡이 적고 경제 전반에 균등한 신호를 제공한다는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적정 세율 설정</a:t>
            </a:r>
            <a:r>
              <a:rPr lang="en-US" altLang="ko-KR" sz="1600" dirty="0"/>
              <a:t>, </a:t>
            </a:r>
            <a:r>
              <a:rPr lang="ko-KR" altLang="en-US" sz="1600" dirty="0"/>
              <a:t>산업 부담 조정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 확보 등의 과제가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초기 시장 형성기에는 발전차액제도가 효과적이고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시장이 형성된 후에는 </a:t>
            </a:r>
            <a:r>
              <a:rPr lang="en-US" altLang="ko-KR" sz="1600" spc="-100" dirty="0"/>
              <a:t>RPS</a:t>
            </a:r>
            <a:r>
              <a:rPr lang="ko-KR" altLang="en-US" sz="1600" spc="-100" dirty="0"/>
              <a:t>와 </a:t>
            </a:r>
            <a:r>
              <a:rPr lang="ko-KR" altLang="en-US" sz="1600" spc="-100" dirty="0" err="1"/>
              <a:t>탄소세</a:t>
            </a:r>
            <a:r>
              <a:rPr lang="ko-KR" altLang="en-US" sz="1600" spc="-100" dirty="0"/>
              <a:t> 중심으로 전환하는 것이 일반적이다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7278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B6E6F-C1C5-7BD0-D413-5803074A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9B3FEF-5D28-F59E-A023-C23CA0410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 실패와 보조금의 효율성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9FA527-1C3C-F833-D768-2EB29741B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308BA-08AA-5A5A-906D-4700072DA4BE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본 대로</a:t>
            </a:r>
            <a:r>
              <a:rPr lang="en-US" altLang="ko-KR" sz="1600" dirty="0"/>
              <a:t> </a:t>
            </a:r>
            <a:r>
              <a:rPr lang="ko-KR" altLang="en-US" sz="1600" dirty="0"/>
              <a:t>재생에너지 보급을 위한 보조금 정책은 시장실패를 보완하고 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확산을 촉진하는 유효한 정책 수단이지만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자체가 정책 실패를 초래할 가능성이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보조금의 과잉지급은 시장 가격 신호를 왜곡하고 비효율적인 투자를 유도할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발전차액지원제도</a:t>
            </a:r>
            <a:r>
              <a:rPr lang="en-US" altLang="ko-KR" sz="1600" dirty="0"/>
              <a:t>(FIT)</a:t>
            </a:r>
            <a:r>
              <a:rPr lang="ko-KR" altLang="en-US" sz="1600" dirty="0"/>
              <a:t>가 지나치게 높은 고정가격을 보장할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단기적으로는 설치가 급증하더라도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장기적으로는 과잉설비와 </a:t>
            </a:r>
            <a:r>
              <a:rPr lang="ko-KR" altLang="en-US" sz="1600" dirty="0" err="1"/>
              <a:t>전력망</a:t>
            </a:r>
            <a:r>
              <a:rPr lang="ko-KR" altLang="en-US" sz="1600" dirty="0"/>
              <a:t> 혼잡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 재정 고갈 등의 부작용을 초래할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보조금은 기술 간 경쟁을 왜곡하거나 특정 산업에 대한 비효율적 편향을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 기술에만 높은 보조금이 지급될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실제로는 보다 효율적인 기술이 시장에서 밀려나고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장기적으로는 기술 다양성과 기술 혁신 유인이 감소할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</a:t>
            </a:r>
            <a:r>
              <a:rPr lang="ko-KR" altLang="en-US" sz="1600" dirty="0"/>
              <a:t> 보조금의 지속성 및 정책 일관성 부족은 투자자 신뢰를 저하시켜 시장의 불확실성을 증대 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 프로젝트는 장기적인 관점에서 투자 결정을 내리기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 체계가 자주 변경되거나 예측 가능성이 낮으면 민간 투자의 위축으로 이어질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보조금이 소득 역진적 효과를 낳을 수도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고소득 가구가 태양광 패널 설치를 통해 보조금 제도를 더 많이 활용할 수 있는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저소득 가구는 전력요금 상승만을 부담하는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분배의 불평등이 확대될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91644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4D2D-5A23-A453-CDA0-BA1964698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D57F7-528C-E907-0862-13D4ECBA77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E9D23-304B-C48E-FDF0-971C27F4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C9CE03-867E-E3F5-173E-5E77BC819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재생에너지의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1803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7917-0049-C88C-935B-66F322F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910E-4024-1FCD-ABD9-94B6E602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경제적 가능성과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D4952B-C598-35A0-F648-48D57AF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427CA5-C853-BEB2-4538-4B60F4A58147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재생에너지의 경제적 특성들을 종합해보면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가장 큰 가능성은 비용 경쟁력 확보이다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 개발</a:t>
            </a:r>
            <a:r>
              <a:rPr lang="en-US" altLang="ko-KR" sz="1600" dirty="0"/>
              <a:t>, </a:t>
            </a:r>
            <a:r>
              <a:rPr lang="ko-KR" altLang="en-US" sz="1600" dirty="0"/>
              <a:t>규모의 경제 등으로 인해 균등화 발전비용의 비약적인 감소를 이루었다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연료비 부담이 없기 때문에 에너지 안보 측면에서 유리하다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수입 의존도가 높은 국가에서는 외화 절감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자립이라는 편익을 누릴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</a:t>
            </a:r>
            <a:r>
              <a:rPr lang="ko-KR" altLang="en-US" sz="1600" dirty="0"/>
              <a:t>재생에너지 산업은 고용 창출과 지역경제 활성화에도 기여할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 프로젝트는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설치</a:t>
            </a:r>
            <a:r>
              <a:rPr lang="en-US" altLang="ko-KR" sz="1600" dirty="0"/>
              <a:t>, </a:t>
            </a:r>
            <a:r>
              <a:rPr lang="ko-KR" altLang="en-US" sz="1600" dirty="0"/>
              <a:t>유지관리 등에서 노동집약적인 특성이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085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C89B-723D-1776-EA0C-E50BB06DA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93237-39C0-4AB0-4473-07FE5EF71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경제적 가능성과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AD3C-69F3-98E6-99C1-3466ED2F0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002E7C-62A0-62E7-03F1-67F5BC4DF9B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재생에너지는 여러 경제적 제약을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간헐성과 비제어성이다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특성은 추가적인 </a:t>
            </a:r>
            <a:r>
              <a:rPr lang="ko-KR" altLang="en-US" sz="1600" dirty="0" err="1"/>
              <a:t>예비력</a:t>
            </a:r>
            <a:r>
              <a:rPr lang="en-US" altLang="ko-KR" sz="1600" dirty="0"/>
              <a:t>, </a:t>
            </a:r>
            <a:r>
              <a:rPr lang="ko-KR" altLang="en-US" sz="1600" dirty="0"/>
              <a:t>저장설비</a:t>
            </a:r>
            <a:r>
              <a:rPr lang="en-US" altLang="ko-KR" sz="1600" dirty="0"/>
              <a:t>, </a:t>
            </a:r>
            <a:r>
              <a:rPr lang="ko-KR" altLang="en-US" sz="1600" dirty="0"/>
              <a:t>계통 보강 </a:t>
            </a:r>
            <a:r>
              <a:rPr lang="ko-KR" altLang="en-US" sz="1600" dirty="0" err="1"/>
              <a:t>비용등을</a:t>
            </a:r>
            <a:r>
              <a:rPr lang="ko-KR" altLang="en-US" sz="1600" dirty="0"/>
              <a:t> 발생시켜 시스템 전체 비용을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입지 제약과 자원 편재성도 경제성을 제한할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태양광은 면적이 넓고 일사량이 많은 지역에서 경제성이 확보되므로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도시화가 밀집된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주민수용성이 낮은 지역에서는 님비</a:t>
            </a:r>
            <a:r>
              <a:rPr lang="en-US" altLang="ko-KR" sz="1600" dirty="0"/>
              <a:t>(NIMBY)</a:t>
            </a:r>
            <a:r>
              <a:rPr lang="ko-KR" altLang="en-US" sz="1600" dirty="0"/>
              <a:t>현상으로 인해 사회적 비용이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투자 확대를 위한 정책적 불확실성 또한 경제성 확보에 장애 요인이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 정책의 잦은 변경과 제도적 예측 가능성이 낮을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민간 투자가 위축되고 금융비용이 상승한다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재생에너지가 에너지시장에 미치는 가격 왜곡 효과가 발생할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 단가가 낮고 한계비용 부담이 없는 재생에너지가 공급되면</a:t>
            </a:r>
            <a:r>
              <a:rPr lang="en-US" altLang="ko-KR" sz="1600" dirty="0"/>
              <a:t>, </a:t>
            </a:r>
            <a:r>
              <a:rPr lang="ko-KR" altLang="en-US" sz="1600" dirty="0"/>
              <a:t>전체 전력시장 가격이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기존 발전자원과 재생에너지 자체의 수익성에도 부정적인 영향을 미칠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074543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4A7E-01AD-E830-755A-775062788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044D9-3711-D773-265A-B5EB9B339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분산형 에너지와 지역경제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A50D43-213C-051F-BFCD-280F75609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DA6876-4EE5-F918-93B7-ACE77E5BDEFC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 시스템이 중앙집중형에서 분산형으로 전환됨에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지역단위의 에너지 생산</a:t>
            </a:r>
            <a:r>
              <a:rPr lang="en-US" altLang="ko-KR" sz="1600" dirty="0"/>
              <a:t>·</a:t>
            </a:r>
            <a:r>
              <a:rPr lang="ko-KR" altLang="en-US" sz="1600" dirty="0"/>
              <a:t>소비</a:t>
            </a:r>
            <a:r>
              <a:rPr lang="en-US" altLang="ko-KR" sz="1600" dirty="0"/>
              <a:t> </a:t>
            </a:r>
            <a:r>
              <a:rPr lang="ko-KR" altLang="en-US" sz="1600" dirty="0"/>
              <a:t>모델이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내 투자 및 고용 창출효과가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내 에너지 자립도 향상과 외부 의존성 감소를 통해 지역의 구조적 지속가능성을 높인다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기존의 많은 도시들은 전력 소비를 외부 공급망에 의존했지만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분산형 에너지는 지역 내 자원을 기반으로 운영되므로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송전 손실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계통 부담 완화</a:t>
            </a:r>
            <a:r>
              <a:rPr lang="en-US" altLang="ko-KR" sz="1600" dirty="0"/>
              <a:t> </a:t>
            </a:r>
            <a:r>
              <a:rPr lang="ko-KR" altLang="en-US" sz="1600" dirty="0"/>
              <a:t>등의 효과를 가져온다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시민 참여와 지역 거버넌스를 확대하는 기반이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시민이 직접 에너지 생산에 참여하는 생산소비자</a:t>
            </a:r>
            <a:r>
              <a:rPr lang="en-US" altLang="ko-KR" sz="1600" dirty="0"/>
              <a:t>(prosumer)</a:t>
            </a:r>
            <a:r>
              <a:rPr lang="ko-KR" altLang="en-US" sz="1600" dirty="0"/>
              <a:t>모델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협동조합</a:t>
            </a:r>
            <a:r>
              <a:rPr lang="en-US" altLang="ko-KR" sz="1600" dirty="0"/>
              <a:t>, </a:t>
            </a:r>
            <a:r>
              <a:rPr lang="ko-KR" altLang="en-US" sz="1600" dirty="0"/>
              <a:t>지역 기반 전력회사 등이 도입되면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전환은 단순한 기술 변화가 아닌 민주적 참여와 지역 사회 역량 강화로 이어진다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분산형 에너지는 지역 맞춤형 에너지 전략과 산업 다각화의 계기를 제공한다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축산이 발달한 지역은 바이오가스</a:t>
            </a:r>
            <a:r>
              <a:rPr lang="en-US" altLang="ko-KR" sz="1600" dirty="0"/>
              <a:t>, </a:t>
            </a:r>
            <a:r>
              <a:rPr lang="ko-KR" altLang="en-US" sz="1600" dirty="0"/>
              <a:t>일사량이 풍부한 지역은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수자원이 풍부한 지역은 </a:t>
            </a:r>
            <a:r>
              <a:rPr lang="ko-KR" altLang="en-US" sz="1600" dirty="0" err="1"/>
              <a:t>소수력</a:t>
            </a:r>
            <a:r>
              <a:rPr lang="ko-KR" altLang="en-US" sz="1600" dirty="0"/>
              <a:t> 등의 자원을 활용함으로써 지역 특화형 산업 모델과도 결합될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동시에 분산형 에너지에는 제도적 기술적 장벽도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송배전망 접속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요금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인허가 간소화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투자금 등의 문제는 지역에서 감당하기 어려우므로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국가의 정책 지원과 </a:t>
            </a:r>
            <a:r>
              <a:rPr lang="ko-KR" altLang="en-US" sz="1600" dirty="0" err="1"/>
              <a:t>분권화된</a:t>
            </a:r>
            <a:r>
              <a:rPr lang="ko-KR" altLang="en-US" sz="1600" dirty="0"/>
              <a:t> 제도 설계가 필요하다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861844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13620</TotalTime>
  <Words>6000</Words>
  <Application>Microsoft Office PowerPoint</Application>
  <PresentationFormat>와이드스크린</PresentationFormat>
  <Paragraphs>839</Paragraphs>
  <Slides>53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59" baseType="lpstr">
      <vt:lpstr>HY헤드라인M</vt:lpstr>
      <vt:lpstr>KoPub돋움체 Light</vt:lpstr>
      <vt:lpstr>Arial</vt:lpstr>
      <vt:lpstr>Wingdings</vt:lpstr>
      <vt:lpstr>맑은 고딕</vt:lpstr>
      <vt:lpstr>Office 테마</vt:lpstr>
      <vt:lpstr>자원·에너지 경제학</vt:lpstr>
      <vt:lpstr>서론</vt:lpstr>
      <vt:lpstr>Chapter 7  태양광 발전</vt:lpstr>
      <vt:lpstr>Section 1. 개 론</vt:lpstr>
      <vt:lpstr>태양광 설비 투자</vt:lpstr>
      <vt:lpstr>태양광 발전량 계산 (설비용량 기반)</vt:lpstr>
      <vt:lpstr>태양광 발전량 계산 (설비용량 기반)</vt:lpstr>
      <vt:lpstr>태양광 발전량 계산 (일사량 기반)</vt:lpstr>
      <vt:lpstr>태양광 발전량 계산 (일사량 기반)</vt:lpstr>
      <vt:lpstr>전통적 에너지원과의 비교</vt:lpstr>
      <vt:lpstr>재생에너지의 확산 배경</vt:lpstr>
      <vt:lpstr>Section 2. 주요 재생에너지 종류와 특성</vt:lpstr>
      <vt:lpstr>태양광</vt:lpstr>
      <vt:lpstr>풍력</vt:lpstr>
      <vt:lpstr>풍력</vt:lpstr>
      <vt:lpstr>수력</vt:lpstr>
      <vt:lpstr>수력</vt:lpstr>
      <vt:lpstr>바이오에너지</vt:lpstr>
      <vt:lpstr>바이오에너지</vt:lpstr>
      <vt:lpstr>지열에너지</vt:lpstr>
      <vt:lpstr>지열에너지</vt:lpstr>
      <vt:lpstr>Section 3. 재생에너지의 경제적 특성</vt:lpstr>
      <vt:lpstr>높은 초기 고정비와 낮은 한계비용</vt:lpstr>
      <vt:lpstr>간헐성 및 비제어성의 경제적 함의</vt:lpstr>
      <vt:lpstr>간헐성 및 비제어성의 경제적 함의</vt:lpstr>
      <vt:lpstr>규모의 경제와 학습곡선</vt:lpstr>
      <vt:lpstr>규모의 경제와 학습곡선</vt:lpstr>
      <vt:lpstr>외부효과 및 사회적 편익</vt:lpstr>
      <vt:lpstr>외부효과 및 사회적 편익</vt:lpstr>
      <vt:lpstr>Section 4. 재생에너지의 비용추이와 경쟁력</vt:lpstr>
      <vt:lpstr>균등화 발전비용의 변화</vt:lpstr>
      <vt:lpstr>균등화 발전비용의 변화</vt:lpstr>
      <vt:lpstr>재생에너지 vs. 화석연료 발전의 경제성 비교</vt:lpstr>
      <vt:lpstr>재생에너지 vs. 화석연료 발전의 경제성 비교</vt:lpstr>
      <vt:lpstr>Section 5. 전력시스템 내 재생에너지의 역할</vt:lpstr>
      <vt:lpstr>전력망 통합문제</vt:lpstr>
      <vt:lpstr>보완성과 저장기술의 중요성</vt:lpstr>
      <vt:lpstr>전력시장 구조와 재생에너지의 적응</vt:lpstr>
      <vt:lpstr>전력시장 구조와 재생에너지의 적응</vt:lpstr>
      <vt:lpstr>Section 6. 재생에너지에 의한 전력생산</vt:lpstr>
      <vt:lpstr>전세계 지역별 재생에너지 발전량</vt:lpstr>
      <vt:lpstr>전력시장 구조와 재생에너지의 적응</vt:lpstr>
      <vt:lpstr>전세계 지역별 태양광 및 태양열 발전 용량</vt:lpstr>
      <vt:lpstr>전세계 지역별 풍력 발전 용량</vt:lpstr>
      <vt:lpstr>Section 7. 정책도구와 정부의 역할</vt:lpstr>
      <vt:lpstr>재생에너지 확대를 위한 정책도구</vt:lpstr>
      <vt:lpstr>재생에너지 확대를 위한 정책도구</vt:lpstr>
      <vt:lpstr>정책 실패와 보조금의 효율성 문제</vt:lpstr>
      <vt:lpstr>Section 8. 재생에너지의 미래</vt:lpstr>
      <vt:lpstr>재생에너지의 경제적 가능성과 한계</vt:lpstr>
      <vt:lpstr>재생에너지의 경제적 가능성과 한계</vt:lpstr>
      <vt:lpstr>분산형 에너지와 지역경제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664</cp:revision>
  <dcterms:created xsi:type="dcterms:W3CDTF">2025-07-05T05:15:23Z</dcterms:created>
  <dcterms:modified xsi:type="dcterms:W3CDTF">2026-10-26T08:10:50Z</dcterms:modified>
</cp:coreProperties>
</file>