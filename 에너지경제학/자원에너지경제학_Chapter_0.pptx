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47"/>
  </p:notesMasterIdLst>
  <p:sldIdLst>
    <p:sldId id="375" r:id="rId2"/>
    <p:sldId id="376" r:id="rId3"/>
    <p:sldId id="405" r:id="rId4"/>
    <p:sldId id="550" r:id="rId5"/>
    <p:sldId id="674" r:id="rId6"/>
    <p:sldId id="553" r:id="rId7"/>
    <p:sldId id="555" r:id="rId8"/>
    <p:sldId id="557" r:id="rId9"/>
    <p:sldId id="558" r:id="rId10"/>
    <p:sldId id="632" r:id="rId11"/>
    <p:sldId id="631" r:id="rId12"/>
    <p:sldId id="559" r:id="rId13"/>
    <p:sldId id="633" r:id="rId14"/>
    <p:sldId id="638" r:id="rId15"/>
    <p:sldId id="639" r:id="rId16"/>
    <p:sldId id="642" r:id="rId17"/>
    <p:sldId id="643" r:id="rId18"/>
    <p:sldId id="644" r:id="rId19"/>
    <p:sldId id="646" r:id="rId20"/>
    <p:sldId id="645" r:id="rId21"/>
    <p:sldId id="650" r:id="rId22"/>
    <p:sldId id="651" r:id="rId23"/>
    <p:sldId id="648" r:id="rId24"/>
    <p:sldId id="554" r:id="rId25"/>
    <p:sldId id="634" r:id="rId26"/>
    <p:sldId id="654" r:id="rId27"/>
    <p:sldId id="653" r:id="rId28"/>
    <p:sldId id="655" r:id="rId29"/>
    <p:sldId id="656" r:id="rId30"/>
    <p:sldId id="657" r:id="rId31"/>
    <p:sldId id="658" r:id="rId32"/>
    <p:sldId id="659" r:id="rId33"/>
    <p:sldId id="661" r:id="rId34"/>
    <p:sldId id="662" r:id="rId35"/>
    <p:sldId id="663" r:id="rId36"/>
    <p:sldId id="665" r:id="rId37"/>
    <p:sldId id="664" r:id="rId38"/>
    <p:sldId id="667" r:id="rId39"/>
    <p:sldId id="668" r:id="rId40"/>
    <p:sldId id="669" r:id="rId41"/>
    <p:sldId id="670" r:id="rId42"/>
    <p:sldId id="671" r:id="rId43"/>
    <p:sldId id="672" r:id="rId44"/>
    <p:sldId id="673" r:id="rId45"/>
    <p:sldId id="364" r:id="rId4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5F5F"/>
    <a:srgbClr val="F8F7FC"/>
    <a:srgbClr val="2D72BE"/>
    <a:srgbClr val="070B12"/>
    <a:srgbClr val="0047A0"/>
    <a:srgbClr val="E3605B"/>
    <a:srgbClr val="FFFFFF"/>
    <a:srgbClr val="FFFDFF"/>
    <a:srgbClr val="00ADD0"/>
    <a:srgbClr val="EEF0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4F822-9B6C-2312-BC7C-289E6CBD8A83}" v="204" dt="2025-07-20T13:57:47.285"/>
    <p1510:client id="{6FC94FB9-0A6B-4253-B3BE-E28497FA5913}" v="13" dt="2025-07-21T06:43:27.973"/>
    <p1510:client id="{ACAA3603-E3D6-4895-8F10-727493C87641}" v="65" dt="2025-07-21T00:56:35.769"/>
    <p1510:client id="{F2AEC958-FA13-3020-BC15-FF90776EF069}" v="4" dt="2025-07-21T06:39:02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885" autoAdjust="0"/>
  </p:normalViewPr>
  <p:slideViewPr>
    <p:cSldViewPr snapToGrid="0">
      <p:cViewPr varScale="1">
        <p:scale>
          <a:sx n="82" d="100"/>
          <a:sy n="82" d="100"/>
        </p:scale>
        <p:origin x="96" y="13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83C86-FCDD-4CD4-A668-4DF0BEDE3EB5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5661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online.kepco.co.kr/MYM043D00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192979"/>
            <a:ext cx="10452100" cy="2912171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5400" b="1" i="0" dirty="0"/>
              <a:t>자원</a:t>
            </a:r>
            <a:r>
              <a:rPr lang="en-US" altLang="ko-KR" sz="5400" b="1" i="0" dirty="0"/>
              <a:t>·</a:t>
            </a:r>
            <a:r>
              <a:rPr lang="ko-KR" altLang="en-US" sz="5400" b="1" i="0" dirty="0"/>
              <a:t>에너지 경제학</a:t>
            </a:r>
            <a:endParaRPr lang="ko-KR" altLang="en-US" sz="4800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56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Lecture - 1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5499100" y="5036208"/>
            <a:ext cx="119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 승 호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8E53AA-7D50-5F4A-320F-293F31547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서론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66E9B2-B0DB-FDCD-AA50-636EA4E5B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B7B113-36A4-C1F3-9E9E-939A12CDC18C}"/>
              </a:ext>
            </a:extLst>
          </p:cNvPr>
          <p:cNvSpPr txBox="1"/>
          <p:nvPr/>
        </p:nvSpPr>
        <p:spPr>
          <a:xfrm>
            <a:off x="288790" y="958844"/>
            <a:ext cx="11693660" cy="29993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지구가 어떻게 돌아가는지</a:t>
            </a:r>
            <a:r>
              <a:rPr lang="en-US" altLang="ko-KR" sz="1600" spc="-50" dirty="0"/>
              <a:t>?? (</a:t>
            </a:r>
            <a:r>
              <a:rPr lang="ko-KR" altLang="en-US" sz="1600" spc="-50" dirty="0"/>
              <a:t>우주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계절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순환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원자 등등</a:t>
            </a:r>
            <a:r>
              <a:rPr lang="en-US" altLang="ko-KR" sz="1600" spc="-50" dirty="0"/>
              <a:t>?)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1</a:t>
            </a:r>
            <a:r>
              <a:rPr lang="ko-KR" altLang="en-US" sz="1600" spc="-50" dirty="0"/>
              <a:t>차 에너지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차에너지 구분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에너지 시스템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에너지 단위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에너지란 무엇인가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일상생활에서 쓰는 에너지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152177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D0659-CAFD-F53E-5E96-AE42A73FE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C3F3A0-36ED-43FB-2D13-6CAA30B083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D19C74-D6C9-BA18-D11B-15A0CD9A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58D8A77-45B6-C35A-AFD8-829E4435C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Chapter 1</a:t>
            </a:r>
            <a:br>
              <a:rPr lang="en-US" altLang="ko-KR" sz="4000" b="1" i="0" spc="150" dirty="0"/>
            </a:br>
            <a:br>
              <a:rPr lang="en-US" altLang="ko-KR" sz="4000" b="1" i="0" spc="150" dirty="0"/>
            </a:br>
            <a:r>
              <a:rPr lang="ko-KR" altLang="en-US" sz="4000" b="1" i="0" spc="150" dirty="0"/>
              <a:t>에너지 생성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55123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5B55B-4FE0-4C0D-6AE9-E8B03A536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468326-0C4F-70CF-91C2-93E0C5D03B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9E45BD-0D56-9ECF-89E6-4AF42F45B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28B965C-181E-543B-9F2C-6FEAEBB87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1</a:t>
            </a:r>
            <a:r>
              <a:rPr lang="en-US" altLang="ko-KR" sz="4000" b="1" i="0" spc="150"/>
              <a:t>. </a:t>
            </a:r>
            <a:r>
              <a:rPr lang="ko-KR" altLang="en-US" sz="4000" b="1" i="0" spc="150"/>
              <a:t>우주의 탄생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957073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651FE-B64B-E5ED-C143-46FDBE20F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E43DFE-9385-5588-FB78-ABD35F9A3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서론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05BFA9-27C6-E690-E147-9E8F18D49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7CD19A-DEBB-33B8-FD45-A7EF0CF7B23C}"/>
              </a:ext>
            </a:extLst>
          </p:cNvPr>
          <p:cNvSpPr txBox="1"/>
          <p:nvPr/>
        </p:nvSpPr>
        <p:spPr>
          <a:xfrm>
            <a:off x="288790" y="958844"/>
            <a:ext cx="11693660" cy="4140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ㅁ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289131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59493-3237-2060-E05C-530AD0749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1C7A22-C443-A102-E0E1-84852DA4B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Energy </a:t>
            </a:r>
            <a:r>
              <a:rPr lang="ko-KR" altLang="en-US" dirty="0"/>
              <a:t>어원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628BB4-220F-FFBE-B592-D8DC1F4E1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193383-2897-A54A-2C79-6228A995A1E3}"/>
              </a:ext>
            </a:extLst>
          </p:cNvPr>
          <p:cNvSpPr txBox="1"/>
          <p:nvPr/>
        </p:nvSpPr>
        <p:spPr>
          <a:xfrm>
            <a:off x="288790" y="958844"/>
            <a:ext cx="11693660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energy = </a:t>
            </a:r>
            <a:r>
              <a:rPr lang="en-US" altLang="ko-KR" sz="1600" spc="-50" dirty="0" err="1"/>
              <a:t>en</a:t>
            </a:r>
            <a:r>
              <a:rPr lang="en-US" altLang="ko-KR" sz="1600" spc="-50" dirty="0"/>
              <a:t> + </a:t>
            </a:r>
            <a:r>
              <a:rPr lang="en-US" altLang="ko-KR" sz="1600" spc="-50" dirty="0" err="1"/>
              <a:t>ergy</a:t>
            </a:r>
            <a:r>
              <a:rPr lang="en-US" altLang="ko-KR" sz="1600" spc="-50" dirty="0"/>
              <a:t>   : </a:t>
            </a:r>
            <a:r>
              <a:rPr lang="ko-KR" altLang="en-US" sz="1600" spc="-50" dirty="0"/>
              <a:t>고대 그리스어로 풀어보면 아래와 같다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 err="1"/>
              <a:t>en</a:t>
            </a:r>
            <a:r>
              <a:rPr lang="en-US" altLang="ko-KR" sz="1600" spc="-50" dirty="0"/>
              <a:t> = -</a:t>
            </a:r>
            <a:r>
              <a:rPr lang="ko-KR" altLang="en-US" sz="1600" spc="-50" dirty="0"/>
              <a:t>안에</a:t>
            </a:r>
            <a:r>
              <a:rPr lang="en-US" altLang="ko-KR" sz="1600" spc="-50" dirty="0"/>
              <a:t>, -</a:t>
            </a:r>
            <a:r>
              <a:rPr lang="ko-KR" altLang="en-US" sz="1600" spc="-50" dirty="0"/>
              <a:t>내부에 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현대 영어로 넘어오면서 </a:t>
            </a:r>
            <a:r>
              <a:rPr lang="en-US" altLang="ko-KR" sz="1600" spc="-50" dirty="0"/>
              <a:t>‘</a:t>
            </a:r>
            <a:r>
              <a:rPr lang="ko-KR" altLang="en-US" sz="1600" spc="-50" dirty="0"/>
              <a:t>안에 넣다</a:t>
            </a:r>
            <a:r>
              <a:rPr lang="en-US" altLang="ko-KR" sz="1600" spc="-50" dirty="0"/>
              <a:t>‘ → ‘~</a:t>
            </a:r>
            <a:r>
              <a:rPr lang="ko-KR" altLang="en-US" sz="1600" spc="-50" dirty="0"/>
              <a:t>하게 만들다</a:t>
            </a:r>
            <a:r>
              <a:rPr lang="en-US" altLang="ko-KR" sz="1600" spc="-50" dirty="0"/>
              <a:t>‘ </a:t>
            </a:r>
            <a:r>
              <a:rPr lang="ko-KR" altLang="en-US" sz="1600" spc="-50" dirty="0"/>
              <a:t> 라는 식으로 의미 변화가 일어났다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예제</a:t>
            </a:r>
            <a:r>
              <a:rPr lang="en-US" altLang="ko-KR" sz="1600" spc="-50" dirty="0"/>
              <a:t>) </a:t>
            </a:r>
            <a:r>
              <a:rPr lang="en-US" altLang="ko-KR" sz="1600" b="1" spc="-50" dirty="0"/>
              <a:t>en</a:t>
            </a:r>
            <a:r>
              <a:rPr lang="en-US" altLang="ko-KR" sz="1600" spc="-50" dirty="0"/>
              <a:t>able: </a:t>
            </a:r>
            <a:r>
              <a:rPr lang="ko-KR" altLang="en-US" sz="1600" spc="-50" dirty="0"/>
              <a:t>가능하게 하다</a:t>
            </a:r>
            <a:r>
              <a:rPr lang="en-US" altLang="ko-KR" sz="1600" spc="-50" dirty="0"/>
              <a:t>,  </a:t>
            </a:r>
            <a:r>
              <a:rPr lang="en-US" altLang="ko-KR" sz="1600" b="1" spc="-50" dirty="0"/>
              <a:t>en</a:t>
            </a:r>
            <a:r>
              <a:rPr lang="en-US" altLang="ko-KR" sz="1600" spc="-50" dirty="0"/>
              <a:t>rich:</a:t>
            </a:r>
            <a:r>
              <a:rPr lang="ko-KR" altLang="en-US" sz="1600" spc="-50" dirty="0"/>
              <a:t> 풍요롭게 하다</a:t>
            </a:r>
            <a:r>
              <a:rPr lang="en-US" altLang="ko-KR" sz="1600" spc="-50" dirty="0"/>
              <a:t>, </a:t>
            </a:r>
            <a:r>
              <a:rPr lang="en-US" altLang="ko-KR" sz="1600" b="1" spc="-50" dirty="0"/>
              <a:t>en</a:t>
            </a:r>
            <a:r>
              <a:rPr lang="en-US" altLang="ko-KR" sz="1600" spc="-50" dirty="0"/>
              <a:t>courage: </a:t>
            </a:r>
            <a:r>
              <a:rPr lang="ko-KR" altLang="en-US" sz="1600" spc="-50" dirty="0"/>
              <a:t>용기를 북돋다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 err="1"/>
              <a:t>ergy</a:t>
            </a:r>
            <a:r>
              <a:rPr lang="en-US" altLang="ko-KR" sz="1600" spc="-50" dirty="0"/>
              <a:t> = </a:t>
            </a:r>
            <a:r>
              <a:rPr lang="ko-KR" altLang="en-US" sz="1600" spc="-50" dirty="0"/>
              <a:t>일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ergon</a:t>
            </a:r>
            <a:r>
              <a:rPr lang="ko-KR" altLang="en-US" sz="1600" spc="-50" dirty="0"/>
              <a:t>은 일</a:t>
            </a:r>
            <a:r>
              <a:rPr lang="en-US" altLang="ko-KR" sz="1600" spc="-50" dirty="0"/>
              <a:t>(work)</a:t>
            </a:r>
            <a:r>
              <a:rPr lang="ko-KR" altLang="en-US" sz="1600" spc="-50" dirty="0"/>
              <a:t>을 뜻하는 그리스어 단어</a:t>
            </a:r>
            <a:r>
              <a:rPr lang="en-US" altLang="ko-KR" sz="1600" spc="-50" dirty="0"/>
              <a:t>. ergon</a:t>
            </a:r>
            <a:r>
              <a:rPr lang="ko-KR" altLang="en-US" sz="1600" spc="-50" dirty="0"/>
              <a:t>의 파생형이</a:t>
            </a:r>
            <a:r>
              <a:rPr lang="en-US" altLang="ko-KR" sz="1600" spc="-50" dirty="0"/>
              <a:t> </a:t>
            </a:r>
            <a:r>
              <a:rPr lang="en-US" altLang="ko-KR" sz="1600" spc="-50" dirty="0" err="1"/>
              <a:t>ergy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예제</a:t>
            </a:r>
            <a:r>
              <a:rPr lang="en-US" altLang="ko-KR" sz="1600" spc="-50" dirty="0"/>
              <a:t>) </a:t>
            </a:r>
            <a:r>
              <a:rPr lang="en-US" altLang="ko-KR" sz="1600" b="1" spc="-50" dirty="0"/>
              <a:t>erg</a:t>
            </a:r>
            <a:r>
              <a:rPr lang="en-US" altLang="ko-KR" sz="1600" spc="-50" dirty="0"/>
              <a:t>onomics: </a:t>
            </a:r>
            <a:r>
              <a:rPr lang="ko-KR" altLang="en-US" sz="1600" spc="-50" dirty="0"/>
              <a:t>인체공학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일을 효율적으로 하는 법칙</a:t>
            </a:r>
            <a:r>
              <a:rPr lang="en-US" altLang="ko-KR" sz="1600" spc="-50" dirty="0"/>
              <a:t>))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따라서 </a:t>
            </a:r>
            <a:r>
              <a:rPr lang="en-US" altLang="ko-KR" sz="1600" spc="-50" dirty="0"/>
              <a:t>energy</a:t>
            </a:r>
            <a:r>
              <a:rPr lang="ko-KR" altLang="en-US" sz="1600" spc="-50" dirty="0"/>
              <a:t>는 원래 </a:t>
            </a:r>
            <a:r>
              <a:rPr lang="en-US" altLang="ko-KR" sz="1600" spc="-50" dirty="0"/>
              <a:t>‘</a:t>
            </a:r>
            <a:r>
              <a:rPr lang="ko-KR" altLang="en-US" sz="1600" spc="-50" dirty="0"/>
              <a:t>일</a:t>
            </a:r>
            <a:r>
              <a:rPr lang="en-US" altLang="ko-KR" sz="1600" spc="-50" dirty="0"/>
              <a:t>(work)</a:t>
            </a:r>
            <a:r>
              <a:rPr lang="ko-KR" altLang="en-US" sz="1600" spc="-50" dirty="0"/>
              <a:t>이 안에 있는 상태</a:t>
            </a:r>
            <a:r>
              <a:rPr lang="en-US" altLang="ko-KR" sz="1600" spc="-50" dirty="0"/>
              <a:t>‘</a:t>
            </a:r>
            <a:r>
              <a:rPr lang="ko-KR" altLang="en-US" sz="1600" spc="-50" dirty="0"/>
              <a:t>를 의미한다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이것이 오늘날 </a:t>
            </a:r>
            <a:r>
              <a:rPr lang="en-US" altLang="ko-KR" sz="1600" b="1" spc="-50" dirty="0"/>
              <a:t>‘</a:t>
            </a:r>
            <a:r>
              <a:rPr lang="ko-KR" altLang="en-US" sz="1600" b="1" spc="-50" dirty="0"/>
              <a:t>일을 할 수 있는 능력</a:t>
            </a:r>
            <a:r>
              <a:rPr lang="en-US" altLang="ko-KR" sz="1600" b="1" spc="-50" dirty="0"/>
              <a:t>’</a:t>
            </a:r>
            <a:r>
              <a:rPr lang="ko-KR" altLang="en-US" sz="1600" spc="-50" dirty="0"/>
              <a:t> 이라는 의미로 발전하였다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0E6184C-191A-AA52-FF3B-32CFB93EF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2284" y="3067663"/>
            <a:ext cx="2968222" cy="11073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2BA0A74-7ED3-F1FC-795A-ED8D9FCD9AB5}"/>
              </a:ext>
            </a:extLst>
          </p:cNvPr>
          <p:cNvSpPr txBox="1"/>
          <p:nvPr/>
        </p:nvSpPr>
        <p:spPr>
          <a:xfrm>
            <a:off x="9070142" y="2806053"/>
            <a:ext cx="23125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spc="-50" dirty="0"/>
              <a:t>&lt;</a:t>
            </a:r>
            <a:r>
              <a:rPr lang="ko-KR" altLang="en-US" sz="1100" spc="-50" dirty="0"/>
              <a:t>인체공학 키보드의 모델명</a:t>
            </a:r>
            <a:r>
              <a:rPr lang="en-US" altLang="ko-KR" sz="1100" spc="-50" dirty="0"/>
              <a:t>:</a:t>
            </a:r>
            <a:r>
              <a:rPr lang="ko-KR" altLang="en-US" sz="1100" spc="-50" dirty="0"/>
              <a:t> </a:t>
            </a:r>
            <a:r>
              <a:rPr lang="en-US" altLang="ko-KR" sz="1100" spc="-50" dirty="0"/>
              <a:t>ergo&gt;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659932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71EBB-D2D8-9617-09A3-D11B6FF72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22F78D-FB98-8132-782C-C73E86EAE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에너지의 여러가지 형태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8B8E7D-C741-21A2-7291-9DF4D2462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2EDD64-57EE-174F-25CE-330DED40693E}"/>
              </a:ext>
            </a:extLst>
          </p:cNvPr>
          <p:cNvSpPr txBox="1"/>
          <p:nvPr/>
        </p:nvSpPr>
        <p:spPr>
          <a:xfrm>
            <a:off x="288790" y="958844"/>
            <a:ext cx="11118453" cy="37380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직접 눈에 보이지는 않지만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일상 생활을 하다 보면 여러가지 형태의 에너지를 감지할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빛 에너지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햇빛이나 조명</a:t>
            </a:r>
            <a:r>
              <a:rPr lang="en-US" altLang="ko-KR" sz="1600" spc="-50" dirty="0"/>
              <a:t>(LED, </a:t>
            </a:r>
            <a:r>
              <a:rPr lang="ko-KR" altLang="en-US" sz="1600" spc="-50" dirty="0"/>
              <a:t>백열등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의 빛은 주변을 밝게 비추고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빛이 우리 눈에 들어와 사물을 볼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소리 에너지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사람 목소리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스피커 등에서 발생하는 소리는 공기의 진동이 우리 귀에 전달된다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열 에너지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따뜻한 커피가 담긴 컵을 만지면 열이 전달되면서 손이 따뜻하게 느껴진다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운동 에너지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달리는 자동차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흐르는 강물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등 움직이는 모든 물체는 운동 에너지를 갖는다</a:t>
            </a:r>
            <a:r>
              <a:rPr lang="en-US" altLang="ko-KR" sz="1600" spc="-5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전기 에너지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충전된 핸드폰으로 여러가지 일을 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자기 에너지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냉장고에 자석을 가까이 대면 저절로 움직여서 붙는다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위치 에너지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높은 곳에 있는 물체는 아래로 떨어지기 마련이다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화학 에너지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석탄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석유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천연가스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음식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배터리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등에는 화학 결합 속에 에너지가 저장되어 있다</a:t>
            </a:r>
            <a:r>
              <a:rPr lang="en-US" altLang="ko-KR" sz="1600" spc="-5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핵 에너지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원자핵 내부에는 막대한 에너지가 저장되어 있으며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원자력발전을 통해 이용할 수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222211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C3140-3073-FAD2-0D3D-7546D5E99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26CD74-A62C-1AA6-BED3-B2CCB7F56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다양한 에너지 변환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A9CD73-B454-8B86-0FC5-CC8697C9D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0CC514-5395-6E71-C8E4-133A03D17712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우리는 다양한 에너지 형태를 상황에 맞게 편리한 형태로 바꾸어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에너지 변환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 가면서 생활한다</a:t>
            </a:r>
            <a:r>
              <a:rPr lang="en-US" altLang="ko-KR" sz="1600" spc="-50" dirty="0"/>
              <a:t>.</a:t>
            </a:r>
            <a:r>
              <a:rPr lang="ko-KR" altLang="en-US" sz="1600" spc="-50" dirty="0"/>
              <a:t> 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 err="1"/>
              <a:t>헤어드라이기는</a:t>
            </a:r>
            <a:r>
              <a:rPr lang="ko-KR" altLang="en-US" sz="1600" spc="-50" dirty="0"/>
              <a:t> 전기를 열 에너지와 운동에너지로 변환 시킨다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콘센트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전기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를 꼽으면 뜨거운 바람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열</a:t>
            </a:r>
            <a:r>
              <a:rPr lang="en-US" altLang="ko-KR" sz="1600" spc="-50" dirty="0"/>
              <a:t>+</a:t>
            </a:r>
            <a:r>
              <a:rPr lang="ko-KR" altLang="en-US" sz="1600" spc="-50" dirty="0"/>
              <a:t>운동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이 나온다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사람 몸은 화학에너지를 운동에너지로 변환 시킨다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음식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화학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을 먹으면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걷고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뛰고 </a:t>
            </a:r>
            <a:r>
              <a:rPr lang="ko-KR" altLang="en-US" sz="1600" spc="-50" dirty="0" err="1"/>
              <a:t>움직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운동</a:t>
            </a:r>
            <a:r>
              <a:rPr lang="en-US" altLang="ko-KR" sz="1600" spc="-50" dirty="0"/>
              <a:t>+</a:t>
            </a:r>
            <a:r>
              <a:rPr lang="ko-KR" altLang="en-US" sz="1600" spc="-50" dirty="0"/>
              <a:t>열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일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선풍기는 전기에너지를 운동에너지로 변환 시킨다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콘센트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전기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를 꼽으면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날개가 돌아가서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운동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 바람이 분다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풍력발전은 운동에너지를 전기에너지로 변환 시킨다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바람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운동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이 불면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날개가 돌아가서 전기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전기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가 생성된다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자동차는 화학에너지를 열에너지로 바꾸고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열에너지는 다시 운동에너지로 변환 시킨다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휘발유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화학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를 연소시켜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고온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고압의 가스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열에너지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가 피스톤을 움직여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바퀴가 돌아간다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운동에너지</a:t>
            </a:r>
            <a:r>
              <a:rPr lang="en-US" altLang="ko-KR" sz="1600" spc="-5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417943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4B9DF-0E27-4FE3-8CA6-663D5F892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281199-1994-9321-1DE5-4A2347B7F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에너지 측정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40A506-1B5D-1AF9-3782-5B291087F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FC863E-D264-ABEC-C0AC-5A8C80DED4F6}"/>
              </a:ext>
            </a:extLst>
          </p:cNvPr>
          <p:cNvSpPr txBox="1"/>
          <p:nvPr/>
        </p:nvSpPr>
        <p:spPr>
          <a:xfrm>
            <a:off x="288790" y="958844"/>
            <a:ext cx="11222932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에너지 단위는 줄</a:t>
            </a:r>
            <a:r>
              <a:rPr lang="en-US" altLang="ko-KR" sz="1600" spc="-50" dirty="0"/>
              <a:t>(Joule)</a:t>
            </a:r>
            <a:r>
              <a:rPr lang="ko-KR" altLang="en-US" sz="1600" spc="-50" dirty="0"/>
              <a:t>로 측정한다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물리학적으로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줄이란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뉴턴</a:t>
            </a:r>
            <a:r>
              <a:rPr lang="en-US" altLang="ko-KR" sz="1600" spc="-50" dirty="0"/>
              <a:t>(N, Newton)</a:t>
            </a:r>
            <a:r>
              <a:rPr lang="ko-KR" altLang="en-US" sz="1600" spc="-50" dirty="0"/>
              <a:t>의 힘으로 물체를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미터 </a:t>
            </a:r>
            <a:r>
              <a:rPr lang="en-US" altLang="ko-KR" sz="1600" spc="-50" dirty="0"/>
              <a:t>(m, meter) </a:t>
            </a:r>
            <a:r>
              <a:rPr lang="ko-KR" altLang="en-US" sz="1600" spc="-50" dirty="0"/>
              <a:t>이동시키는데 필요한 에너지로 정의된다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여기서</a:t>
            </a:r>
            <a:r>
              <a:rPr lang="en-US" altLang="ko-KR" sz="1600" spc="-50" dirty="0"/>
              <a:t>, 1</a:t>
            </a:r>
            <a:r>
              <a:rPr lang="ko-KR" altLang="en-US" sz="1600" spc="-50" dirty="0"/>
              <a:t>뉴턴이란 질량 </a:t>
            </a:r>
            <a:r>
              <a:rPr lang="en-US" altLang="ko-KR" sz="1600" spc="-50" dirty="0"/>
              <a:t>1kg</a:t>
            </a:r>
            <a:r>
              <a:rPr lang="ko-KR" altLang="en-US" sz="1600" spc="-50" dirty="0"/>
              <a:t>인 물체를 </a:t>
            </a:r>
            <a:r>
              <a:rPr lang="en-US" altLang="ko-KR" sz="1600" spc="-50" dirty="0"/>
              <a:t>1m/s</a:t>
            </a:r>
            <a:r>
              <a:rPr lang="en-US" altLang="ko-KR" sz="1600" spc="-50" baseline="30000" dirty="0"/>
              <a:t>2 </a:t>
            </a:r>
            <a:r>
              <a:rPr lang="ko-KR" altLang="en-US" sz="1600" spc="-50" dirty="0"/>
              <a:t>의 가속도로 움직이게 하는 힘 으로 정의된다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1kg</a:t>
            </a:r>
            <a:r>
              <a:rPr lang="ko-KR" altLang="en-US" sz="1600" spc="-50" dirty="0"/>
              <a:t> </a:t>
            </a:r>
            <a:r>
              <a:rPr lang="ko-KR" altLang="en-US" sz="1600" spc="-50" dirty="0" err="1"/>
              <a:t>짜리</a:t>
            </a:r>
            <a:r>
              <a:rPr lang="ko-KR" altLang="en-US" sz="1600" spc="-50" dirty="0"/>
              <a:t> 물체에 </a:t>
            </a:r>
            <a:r>
              <a:rPr lang="en-US" altLang="ko-KR" sz="1600" spc="-50" dirty="0"/>
              <a:t>1N</a:t>
            </a:r>
            <a:r>
              <a:rPr lang="ko-KR" altLang="en-US" sz="1600" spc="-50" dirty="0"/>
              <a:t>의 힘을 가하면 그 물체는 </a:t>
            </a:r>
            <a:r>
              <a:rPr lang="en-US" altLang="ko-KR" sz="1600" spc="-50" dirty="0"/>
              <a:t>1m/s</a:t>
            </a:r>
            <a:r>
              <a:rPr lang="en-US" altLang="ko-KR" sz="1600" spc="-50" baseline="30000" dirty="0"/>
              <a:t>2  </a:t>
            </a:r>
            <a:r>
              <a:rPr lang="ko-KR" altLang="en-US" sz="1600" spc="-50" dirty="0"/>
              <a:t>의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가속도를 갖는다는 말로 이해해도 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1N</a:t>
            </a:r>
            <a:r>
              <a:rPr lang="ko-KR" altLang="en-US" sz="1600" spc="-50" dirty="0"/>
              <a:t>의 힘으로 물체를 </a:t>
            </a:r>
            <a:r>
              <a:rPr lang="en-US" altLang="ko-KR" sz="1600" spc="-50" dirty="0"/>
              <a:t>1m </a:t>
            </a:r>
            <a:r>
              <a:rPr lang="ko-KR" altLang="en-US" sz="1600" spc="-50" dirty="0"/>
              <a:t>이동시키면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그때 사용된 에너지는 </a:t>
            </a:r>
            <a:r>
              <a:rPr lang="en-US" altLang="ko-KR" sz="1600" spc="-50" dirty="0"/>
              <a:t>1J 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참고로</a:t>
            </a:r>
            <a:r>
              <a:rPr lang="en-US" altLang="ko-KR" sz="1600" spc="-50" dirty="0"/>
              <a:t>, 1N</a:t>
            </a:r>
            <a:r>
              <a:rPr lang="ko-KR" altLang="en-US" sz="1600" spc="-50" dirty="0"/>
              <a:t>은 </a:t>
            </a:r>
            <a:r>
              <a:rPr lang="en-US" altLang="ko-KR" sz="1600" spc="-50" dirty="0"/>
              <a:t>100g</a:t>
            </a:r>
            <a:r>
              <a:rPr lang="ko-KR" altLang="en-US" sz="1600" spc="-50" dirty="0"/>
              <a:t>의 물체를 손으로 들고 있을 때 필요한 힘과 비슷하다</a:t>
            </a:r>
            <a:r>
              <a:rPr lang="en-US" altLang="ko-KR" sz="1600" spc="-50" dirty="0"/>
              <a:t>..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달걀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개</a:t>
            </a:r>
            <a:r>
              <a:rPr lang="en-US" altLang="ko-KR" sz="1600" spc="-50" dirty="0"/>
              <a:t>   </a:t>
            </a:r>
            <a:r>
              <a:rPr lang="ko-KR" altLang="en-US" sz="1600" spc="-50" dirty="0"/>
              <a:t>혹은  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물이 </a:t>
            </a:r>
            <a:r>
              <a:rPr lang="ko-KR" altLang="en-US" sz="1600" spc="-50" dirty="0" err="1"/>
              <a:t>반쯤</a:t>
            </a:r>
            <a:r>
              <a:rPr lang="ko-KR" altLang="en-US" sz="1600" spc="-50" dirty="0"/>
              <a:t> 담긴 종이컵   정도가 </a:t>
            </a:r>
            <a:r>
              <a:rPr lang="en-US" altLang="ko-KR" sz="1600" spc="-50" dirty="0"/>
              <a:t>100g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따라서 내가 달걀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개를 들고 있을 때 손에 주고 있는 힘이 약 </a:t>
            </a:r>
            <a:r>
              <a:rPr lang="en-US" altLang="ko-KR" sz="1600" spc="-50" dirty="0"/>
              <a:t>1N</a:t>
            </a:r>
            <a:r>
              <a:rPr lang="ko-KR" altLang="en-US" sz="1600" spc="-50" dirty="0"/>
              <a:t>이라고 생각하면 된다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56464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FA1B6-E47A-D862-B031-D34E3D08D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3F8651-5FC5-5703-3451-0D53AEC02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에너지 측정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4E82B3-8268-AAE8-34C5-6EA6C6D7A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C8F547-D35E-D5EC-2E7E-29A19E15EA4C}"/>
              </a:ext>
            </a:extLst>
          </p:cNvPr>
          <p:cNvSpPr txBox="1"/>
          <p:nvPr/>
        </p:nvSpPr>
        <p:spPr>
          <a:xfrm>
            <a:off x="288790" y="958844"/>
            <a:ext cx="11222932" cy="11526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살펴본 모든 에너지 형태</a:t>
            </a:r>
            <a:r>
              <a:rPr lang="en-US" altLang="ko-KR" sz="1600" spc="-50" dirty="0"/>
              <a:t> (</a:t>
            </a:r>
            <a:r>
              <a:rPr lang="ko-KR" altLang="en-US" sz="1600" spc="-50" dirty="0"/>
              <a:t>빛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운동 </a:t>
            </a:r>
            <a:r>
              <a:rPr lang="en-US" altLang="ko-KR" sz="1600" spc="-50" dirty="0"/>
              <a:t>··· </a:t>
            </a:r>
            <a:r>
              <a:rPr lang="ko-KR" altLang="en-US" sz="1600" spc="-50" dirty="0"/>
              <a:t>등등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에 대해 그 에너지의 양은 모두 줄</a:t>
            </a:r>
            <a:r>
              <a:rPr lang="en-US" altLang="ko-KR" sz="1600" spc="-50" dirty="0"/>
              <a:t>(J)</a:t>
            </a:r>
            <a:r>
              <a:rPr lang="ko-KR" altLang="en-US" sz="1600" spc="-50" dirty="0"/>
              <a:t>로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측정이 가능하다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그러나 우리가 생활하면서 보는 에너지 대부분의 단위는 </a:t>
            </a:r>
            <a:r>
              <a:rPr lang="en-US" altLang="ko-KR" sz="1600" spc="-50" dirty="0"/>
              <a:t>kcal </a:t>
            </a:r>
            <a:r>
              <a:rPr lang="ko-KR" altLang="en-US" sz="1600" spc="-50" dirty="0"/>
              <a:t>혹은 </a:t>
            </a:r>
            <a:r>
              <a:rPr lang="en-US" altLang="ko-KR" sz="1600" spc="-50" dirty="0"/>
              <a:t>kWh 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다음 슬라이드부터 에너지의 단위 변환에 대해 알아보자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D328AF8-A4BE-AA60-0ED1-7AF2A271E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0144" y="2749634"/>
            <a:ext cx="2072588" cy="251571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512B3A1-5734-C2EE-0F96-5F5D8386F9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202" y="2696634"/>
            <a:ext cx="2653659" cy="256871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D5322CA7-4791-1675-D425-2B68AD88AC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497" y="2892413"/>
            <a:ext cx="1536740" cy="44181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D940511-665C-7270-4810-17D2F4CD430B}"/>
              </a:ext>
            </a:extLst>
          </p:cNvPr>
          <p:cNvSpPr txBox="1"/>
          <p:nvPr/>
        </p:nvSpPr>
        <p:spPr>
          <a:xfrm>
            <a:off x="7660218" y="3060660"/>
            <a:ext cx="2118783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4400" spc="-50"/>
              <a:t>우리집 전기요금표</a:t>
            </a:r>
            <a:endParaRPr lang="ko-KR" altLang="en-US" sz="4400" dirty="0"/>
          </a:p>
        </p:txBody>
      </p:sp>
    </p:spTree>
    <p:extLst>
      <p:ext uri="{BB962C8B-B14F-4D97-AF65-F5344CB8AC3E}">
        <p14:creationId xmlns:p14="http://schemas.microsoft.com/office/powerpoint/2010/main" val="7971732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03222F-C683-AD65-D283-AE30AFDA8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(</a:t>
            </a:r>
            <a:r>
              <a:rPr lang="ko-KR" altLang="en-US" dirty="0"/>
              <a:t>참고자료</a:t>
            </a:r>
            <a:r>
              <a:rPr lang="en-US" altLang="ko-KR" dirty="0"/>
              <a:t>) SI </a:t>
            </a:r>
            <a:r>
              <a:rPr lang="ko-KR" altLang="en-US" dirty="0"/>
              <a:t>접두어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8583F4-A729-47CF-A318-D08799C0E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FA2FB6-C5ED-9F02-34BB-9636C91CEC3B}"/>
              </a:ext>
            </a:extLst>
          </p:cNvPr>
          <p:cNvSpPr txBox="1"/>
          <p:nvPr/>
        </p:nvSpPr>
        <p:spPr>
          <a:xfrm>
            <a:off x="288790" y="958844"/>
            <a:ext cx="11229216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u="sng" dirty="0">
                <a:ln w="3175">
                  <a:noFill/>
                </a:ln>
                <a:latin typeface="+mn-ea"/>
              </a:rPr>
              <a:t>평소에 들어본 킬로</a:t>
            </a:r>
            <a:r>
              <a:rPr lang="en-US" altLang="ko-KR" sz="1600" b="1" u="sng" dirty="0">
                <a:ln w="3175">
                  <a:noFill/>
                </a:ln>
                <a:latin typeface="+mn-ea"/>
              </a:rPr>
              <a:t>, </a:t>
            </a:r>
            <a:r>
              <a:rPr lang="ko-KR" altLang="en-US" sz="1600" b="1" u="sng" dirty="0">
                <a:ln w="3175">
                  <a:noFill/>
                </a:ln>
                <a:latin typeface="+mn-ea"/>
              </a:rPr>
              <a:t>메가</a:t>
            </a:r>
            <a:r>
              <a:rPr lang="en-US" altLang="ko-KR" sz="1600" b="1" u="sng" dirty="0">
                <a:ln w="3175">
                  <a:noFill/>
                </a:ln>
                <a:latin typeface="+mn-ea"/>
              </a:rPr>
              <a:t>, </a:t>
            </a:r>
            <a:r>
              <a:rPr lang="ko-KR" altLang="en-US" sz="1600" b="1" u="sng" dirty="0">
                <a:ln w="3175">
                  <a:noFill/>
                </a:ln>
                <a:latin typeface="+mn-ea"/>
              </a:rPr>
              <a:t>기가</a:t>
            </a:r>
            <a:r>
              <a:rPr lang="en-US" altLang="ko-KR" sz="1600" b="1" u="sng" dirty="0">
                <a:ln w="3175">
                  <a:noFill/>
                </a:ln>
                <a:latin typeface="+mn-ea"/>
              </a:rPr>
              <a:t> </a:t>
            </a:r>
            <a:r>
              <a:rPr lang="ko-KR" altLang="en-US" sz="1600" b="1" u="sng" dirty="0">
                <a:ln w="3175">
                  <a:noFill/>
                </a:ln>
                <a:latin typeface="+mn-ea"/>
              </a:rPr>
              <a:t>이런 단위가 </a:t>
            </a:r>
            <a:r>
              <a:rPr lang="ko-KR" altLang="en-US" sz="1600" b="1" u="sng" dirty="0" err="1">
                <a:ln w="3175">
                  <a:noFill/>
                </a:ln>
                <a:latin typeface="+mn-ea"/>
              </a:rPr>
              <a:t>뭘까</a:t>
            </a:r>
            <a:r>
              <a:rPr lang="en-US" altLang="ko-KR" sz="1600" b="1" u="sng" dirty="0">
                <a:ln w="3175">
                  <a:noFill/>
                </a:ln>
                <a:latin typeface="+mn-ea"/>
              </a:rPr>
              <a:t>?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킬로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메가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기가와 같은 단위를 </a:t>
            </a:r>
            <a:r>
              <a:rPr lang="en-US" altLang="ko-KR" sz="1600" spc="-50" dirty="0"/>
              <a:t>SI </a:t>
            </a:r>
            <a:r>
              <a:rPr lang="ko-KR" altLang="en-US" sz="1600" spc="-50" dirty="0" err="1"/>
              <a:t>접두어라고</a:t>
            </a:r>
            <a:r>
              <a:rPr lang="ko-KR" altLang="en-US" sz="1600" spc="-50" dirty="0"/>
              <a:t> 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너무 큰 숫자를 표기할 때</a:t>
            </a:r>
            <a:r>
              <a:rPr lang="en-US" altLang="ko-KR" sz="1600" spc="-50" dirty="0"/>
              <a:t>, 0</a:t>
            </a:r>
            <a:r>
              <a:rPr lang="ko-KR" altLang="en-US" sz="1600" spc="-50" dirty="0"/>
              <a:t>을 보기 힘들게 많이 표시하지 말고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접두어를</a:t>
            </a:r>
            <a:r>
              <a:rPr lang="ko-KR" altLang="en-US" sz="1600" spc="-50" dirty="0"/>
              <a:t> 활용하자는 약속이다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첫번째 파일의 크기는 눈에 쉽게 들어오고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읽기도 편하다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오른쪽 예시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두번째 파일의 크기는 바로 눈에 쉽게 안 들어오고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읽기 불편하다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이러한 불편함을 없애고자 </a:t>
            </a:r>
            <a:r>
              <a:rPr lang="en-US" altLang="ko-KR" sz="1600" spc="-50" dirty="0"/>
              <a:t>1,000</a:t>
            </a:r>
            <a:r>
              <a:rPr lang="ko-KR" altLang="en-US" sz="1600" spc="-50" dirty="0"/>
              <a:t>배씩 단위를 만들어 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SI </a:t>
            </a:r>
            <a:r>
              <a:rPr lang="ko-KR" altLang="en-US" sz="1600" spc="-50" dirty="0" err="1"/>
              <a:t>접두어를</a:t>
            </a:r>
            <a:r>
              <a:rPr lang="ko-KR" altLang="en-US" sz="1600" spc="-50" dirty="0"/>
              <a:t> 활용해서 두번째 파일을 읽어보면 </a:t>
            </a:r>
            <a:r>
              <a:rPr lang="en-US" altLang="ko-KR" sz="1600" spc="-50" dirty="0"/>
              <a:t>107.9</a:t>
            </a:r>
            <a:r>
              <a:rPr lang="ko-KR" altLang="en-US" sz="1600" spc="-50" dirty="0"/>
              <a:t>메가바이트 혹은 </a:t>
            </a:r>
            <a:r>
              <a:rPr lang="en-US" altLang="ko-KR" sz="1600" spc="-50" dirty="0"/>
              <a:t>1.079 </a:t>
            </a:r>
            <a:r>
              <a:rPr lang="ko-KR" altLang="en-US" sz="1600" spc="-50" dirty="0"/>
              <a:t>기가바이트 라고 읽을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한밭대에서 부산역까지 거리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고속도로 기준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가 </a:t>
            </a:r>
            <a:r>
              <a:rPr lang="en-US" altLang="ko-KR" sz="1600" spc="-50" dirty="0"/>
              <a:t>275km</a:t>
            </a:r>
            <a:r>
              <a:rPr lang="ko-KR" altLang="en-US" sz="1600" spc="-50" dirty="0"/>
              <a:t>인데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이를 </a:t>
            </a:r>
            <a:r>
              <a:rPr lang="en-US" altLang="ko-KR" sz="1600" spc="-50" dirty="0"/>
              <a:t>0.284Mm (</a:t>
            </a:r>
            <a:r>
              <a:rPr lang="ko-KR" altLang="en-US" sz="1600" spc="-50" dirty="0" err="1"/>
              <a:t>메가미터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로 표현할 수도 있다</a:t>
            </a:r>
            <a:r>
              <a:rPr lang="en-US" altLang="ko-KR" sz="1600" spc="-5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내 몸무게를 </a:t>
            </a:r>
            <a:r>
              <a:rPr lang="en-US" altLang="ko-KR" sz="1600" spc="-50" dirty="0"/>
              <a:t>70,000g </a:t>
            </a:r>
            <a:r>
              <a:rPr lang="ko-KR" altLang="en-US" sz="1600" spc="-50" dirty="0"/>
              <a:t>이라고 이야기할 수도 있고</a:t>
            </a:r>
            <a:r>
              <a:rPr lang="en-US" altLang="ko-KR" sz="1600" spc="-50" dirty="0"/>
              <a:t>, 70kg </a:t>
            </a:r>
            <a:r>
              <a:rPr lang="ko-KR" altLang="en-US" sz="1600" spc="-50" dirty="0"/>
              <a:t>혹은 </a:t>
            </a:r>
            <a:r>
              <a:rPr lang="en-US" altLang="ko-KR" sz="1600" spc="-50" dirty="0"/>
              <a:t>0.07Mg </a:t>
            </a:r>
            <a:r>
              <a:rPr lang="ko-KR" altLang="en-US" sz="1600" spc="-50" dirty="0"/>
              <a:t>이라고 표현할 수도 있다</a:t>
            </a:r>
            <a:r>
              <a:rPr lang="en-US" altLang="ko-KR" sz="1600" spc="-50" dirty="0"/>
              <a:t>.</a:t>
            </a:r>
          </a:p>
          <a:p>
            <a:pPr marL="92075">
              <a:lnSpc>
                <a:spcPct val="150000"/>
              </a:lnSpc>
            </a:pPr>
            <a:r>
              <a:rPr lang="en-US" altLang="ko-KR" sz="1600" spc="-50" dirty="0"/>
              <a:t>※  </a:t>
            </a:r>
            <a:r>
              <a:rPr lang="ko-KR" altLang="en-US" sz="1600" spc="-50" dirty="0"/>
              <a:t>이런 식으로 읽어도 틀린 말은 아니지만 보통 일상생활에서는 상대방이 알아듣기 쉽게 적절한 단위를 쓰며 생활하자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7039E972-0D3D-2DAA-CAEB-C7C3ABFCC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3852" y="2368348"/>
            <a:ext cx="4339358" cy="769513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B17D570E-DFCE-B125-7566-3F3CB9847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8538922"/>
              </p:ext>
            </p:extLst>
          </p:nvPr>
        </p:nvGraphicFramePr>
        <p:xfrm>
          <a:off x="917945" y="3264003"/>
          <a:ext cx="6156757" cy="1733291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539189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1539189">
                  <a:extLst>
                    <a:ext uri="{9D8B030D-6E8A-4147-A177-3AD203B41FA5}">
                      <a16:colId xmlns:a16="http://schemas.microsoft.com/office/drawing/2014/main" val="3036950207"/>
                    </a:ext>
                  </a:extLst>
                </a:gridCol>
                <a:gridCol w="1539190">
                  <a:extLst>
                    <a:ext uri="{9D8B030D-6E8A-4147-A177-3AD203B41FA5}">
                      <a16:colId xmlns:a16="http://schemas.microsoft.com/office/drawing/2014/main" val="2699398209"/>
                    </a:ext>
                  </a:extLst>
                </a:gridCol>
                <a:gridCol w="1539189">
                  <a:extLst>
                    <a:ext uri="{9D8B030D-6E8A-4147-A177-3AD203B41FA5}">
                      <a16:colId xmlns:a16="http://schemas.microsoft.com/office/drawing/2014/main" val="65536541"/>
                    </a:ext>
                  </a:extLst>
                </a:gridCol>
              </a:tblGrid>
              <a:tr h="15862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기호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10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 거듭제곱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십진법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밀리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en-US" altLang="ko-KR" sz="1300" b="0" kern="0" spc="0" baseline="30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킬로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en-US" altLang="ko-KR" sz="1300" b="0" kern="0" spc="0" baseline="30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1,000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73522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메가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en-US" altLang="ko-KR" sz="1300" b="0" kern="0" spc="0" baseline="30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1,000,000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5653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기가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en-US" altLang="ko-KR" sz="1300" b="0" kern="0" spc="0" baseline="30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1,000,000,000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5595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테라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en-US" altLang="ko-KR" sz="1300" b="0" kern="0" spc="0" baseline="30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1,000,000,000,000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922772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···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계속해서 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1,000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배씩 나가며 현재 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en-US" altLang="ko-KR" sz="1300" b="0" kern="0" spc="0" baseline="30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r>
                        <a:rPr lang="en-US" altLang="ko-KR" sz="1300" b="0" kern="0" spc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en-US" sz="1300" b="0" kern="0" spc="0" baseline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퀘타</a:t>
                      </a:r>
                      <a:r>
                        <a:rPr lang="en-US" altLang="ko-KR" sz="1300" b="0" kern="0" spc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300" b="0" kern="0" spc="0" baseline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quetta</a:t>
                      </a:r>
                      <a:r>
                        <a:rPr lang="en-US" altLang="ko-KR" sz="1300" b="0" kern="0" spc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Q)</a:t>
                      </a:r>
                      <a:r>
                        <a:rPr lang="ko-KR" altLang="en-US" sz="1300" b="0" kern="0" spc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까지 정의되어 있음</a:t>
                      </a:r>
                      <a:endParaRPr lang="en-US" altLang="ko-KR" sz="1300" b="0" kern="0" spc="0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11468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BF624-26E9-2E60-F460-597C1B6DA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3A0CB6-A471-A379-E6F2-9D851173A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에너지 단위 변환 </a:t>
            </a:r>
            <a:r>
              <a:rPr lang="en-US" altLang="ko-KR" dirty="0"/>
              <a:t>(</a:t>
            </a:r>
            <a:r>
              <a:rPr lang="ko-KR" altLang="en-US" dirty="0"/>
              <a:t>콜라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B18857-BE01-254C-4058-2D3ACC429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27916E-1F92-C0E3-A9D4-F760E4E298A6}"/>
              </a:ext>
            </a:extLst>
          </p:cNvPr>
          <p:cNvSpPr txBox="1"/>
          <p:nvPr/>
        </p:nvSpPr>
        <p:spPr>
          <a:xfrm>
            <a:off x="288790" y="958844"/>
            <a:ext cx="11118453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우리는 줄</a:t>
            </a:r>
            <a:r>
              <a:rPr lang="en-US" altLang="ko-KR" sz="1600" spc="-50" dirty="0"/>
              <a:t>(J)</a:t>
            </a:r>
            <a:r>
              <a:rPr lang="ko-KR" altLang="en-US" sz="1600" spc="-50" dirty="0"/>
              <a:t> 이라는 단위보다 음식 포장지에 적힌 칼로리</a:t>
            </a:r>
            <a:r>
              <a:rPr lang="en-US" altLang="ko-KR" sz="1600" spc="-50" dirty="0"/>
              <a:t>(</a:t>
            </a:r>
            <a:r>
              <a:rPr lang="en-US" altLang="ko-KR" sz="1600" spc="-50" dirty="0" err="1"/>
              <a:t>cal</a:t>
            </a:r>
            <a:r>
              <a:rPr lang="en-US" altLang="ko-KR" sz="1600" spc="-50" dirty="0"/>
              <a:t>, calorie)</a:t>
            </a:r>
            <a:r>
              <a:rPr lang="ko-KR" altLang="en-US" sz="1600" spc="-50" dirty="0"/>
              <a:t> 라고 하는 단위가 더 익숙하다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우리가 길이를 </a:t>
            </a:r>
            <a:r>
              <a:rPr lang="en-US" altLang="ko-KR" sz="1600" spc="-50" dirty="0"/>
              <a:t>cm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inch, </a:t>
            </a:r>
            <a:r>
              <a:rPr lang="ko-KR" altLang="en-US" sz="1600" spc="-50" dirty="0"/>
              <a:t>온도를 섭씨와 화씨로 다양하게 표현하는 것처럼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줄과 칼로리 모두 에너지양을 측정하는 단위로서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서로 다른 크기로 에너지 양을 나타내는 것일 뿐이다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         </a:t>
            </a:r>
            <a:r>
              <a:rPr lang="ko-KR" altLang="en-US" sz="1600" spc="-50" dirty="0"/>
              <a:t>이 직선의 길이는 </a:t>
            </a:r>
            <a:r>
              <a:rPr lang="en-US" altLang="ko-KR" sz="1600" spc="-50" dirty="0"/>
              <a:t>1cm </a:t>
            </a:r>
            <a:r>
              <a:rPr lang="ko-KR" altLang="en-US" sz="1600" spc="-50" dirty="0"/>
              <a:t>혹은 </a:t>
            </a:r>
            <a:r>
              <a:rPr lang="en-US" altLang="ko-KR" sz="1600" spc="-50" dirty="0"/>
              <a:t>0.39inch,</a:t>
            </a:r>
            <a:r>
              <a:rPr lang="ko-KR" altLang="en-US" sz="1600" spc="-50" dirty="0"/>
              <a:t> 혹은 </a:t>
            </a:r>
            <a:r>
              <a:rPr lang="en-US" altLang="ko-KR" sz="1600" spc="-50" dirty="0"/>
              <a:t>0.0000062mile,</a:t>
            </a:r>
            <a:r>
              <a:rPr lang="ko-KR" altLang="en-US" sz="1600" spc="-50" dirty="0"/>
              <a:t>  어떤 단위로 표현해도 무방하다</a:t>
            </a:r>
            <a:r>
              <a:rPr lang="en-US" altLang="ko-KR" sz="1600" spc="-50" dirty="0"/>
              <a:t>.</a:t>
            </a:r>
            <a:r>
              <a:rPr lang="ko-KR" altLang="en-US" sz="1600" spc="-50" dirty="0"/>
              <a:t> 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온도를 나타내는 </a:t>
            </a:r>
            <a:r>
              <a:rPr lang="en-US" altLang="ko-KR" sz="1600" spc="-50" dirty="0"/>
              <a:t>10</a:t>
            </a:r>
            <a:r>
              <a:rPr lang="ko-KR" altLang="en-US" sz="1600" spc="-50" dirty="0"/>
              <a:t>℃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섭씨 </a:t>
            </a:r>
            <a:r>
              <a:rPr lang="en-US" altLang="ko-KR" sz="1600" spc="-50" dirty="0"/>
              <a:t>10</a:t>
            </a:r>
            <a:r>
              <a:rPr lang="ko-KR" altLang="en-US" sz="1600" spc="-50" dirty="0"/>
              <a:t>도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50</a:t>
            </a:r>
            <a:r>
              <a:rPr lang="ko-KR" altLang="en-US" sz="1600" spc="-50" dirty="0"/>
              <a:t>℉</a:t>
            </a:r>
            <a:r>
              <a:rPr lang="en-US" altLang="ko-KR" sz="1600" spc="-50" dirty="0"/>
              <a:t> (</a:t>
            </a:r>
            <a:r>
              <a:rPr lang="ko-KR" altLang="en-US" sz="1600" spc="-50" dirty="0"/>
              <a:t>화씨</a:t>
            </a:r>
            <a:r>
              <a:rPr lang="en-US" altLang="ko-KR" sz="1600" spc="-50" dirty="0"/>
              <a:t>50</a:t>
            </a:r>
            <a:r>
              <a:rPr lang="ko-KR" altLang="en-US" sz="1600" spc="-50" dirty="0"/>
              <a:t>도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와 같다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에너지도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마찬가지로 </a:t>
            </a:r>
            <a:r>
              <a:rPr lang="en-US" altLang="ko-KR" sz="1600" b="1" spc="-50" dirty="0"/>
              <a:t>1J</a:t>
            </a:r>
            <a:r>
              <a:rPr lang="ko-KR" altLang="en-US" sz="1600" b="1" spc="-50" dirty="0"/>
              <a:t> </a:t>
            </a:r>
            <a:r>
              <a:rPr lang="en-US" altLang="ko-KR" sz="1600" b="1" spc="-50" dirty="0"/>
              <a:t>= 0.239cal</a:t>
            </a:r>
            <a:r>
              <a:rPr lang="en-US" altLang="ko-KR" sz="1600" spc="-50" dirty="0"/>
              <a:t>  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A3B9CB-390C-1C34-AC08-A1178D3F1A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4598" y="3184939"/>
            <a:ext cx="852132" cy="188147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25D3A79-264D-03C4-1562-ADA8A051A3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5757" y="5159269"/>
            <a:ext cx="2469815" cy="1188612"/>
          </a:xfrm>
          <a:prstGeom prst="rect">
            <a:avLst/>
          </a:prstGeom>
        </p:spPr>
      </p:pic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4AD9EF54-5960-AC20-47F3-09BEC3CC5499}"/>
              </a:ext>
            </a:extLst>
          </p:cNvPr>
          <p:cNvCxnSpPr>
            <a:cxnSpLocks/>
          </p:cNvCxnSpPr>
          <p:nvPr/>
        </p:nvCxnSpPr>
        <p:spPr>
          <a:xfrm>
            <a:off x="1760883" y="2302566"/>
            <a:ext cx="36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32EAA17-942A-9156-DDC8-3B111DC76A9F}"/>
              </a:ext>
            </a:extLst>
          </p:cNvPr>
          <p:cNvSpPr txBox="1"/>
          <p:nvPr/>
        </p:nvSpPr>
        <p:spPr>
          <a:xfrm>
            <a:off x="288790" y="3227901"/>
            <a:ext cx="8622377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오른쪽에 보이는 </a:t>
            </a:r>
            <a:r>
              <a:rPr lang="en-US" altLang="ko-KR" sz="1600" spc="-50" dirty="0"/>
              <a:t>250</a:t>
            </a:r>
            <a:r>
              <a:rPr lang="ko-KR" altLang="en-US" sz="1600" spc="-50" dirty="0"/>
              <a:t>밀리리터</a:t>
            </a:r>
            <a:r>
              <a:rPr lang="en-US" altLang="ko-KR" sz="1600" spc="-50" dirty="0"/>
              <a:t>(ml, milliliter)</a:t>
            </a:r>
            <a:r>
              <a:rPr lang="ko-KR" altLang="en-US" sz="1600" spc="-50" dirty="0" err="1"/>
              <a:t>짜리</a:t>
            </a:r>
            <a:r>
              <a:rPr lang="ko-KR" altLang="en-US" sz="1600" spc="-50" dirty="0"/>
              <a:t> </a:t>
            </a:r>
            <a:r>
              <a:rPr lang="ko-KR" altLang="en-US" sz="1600" spc="-50" dirty="0" err="1"/>
              <a:t>캔콜라는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108kcal (108,000cal)</a:t>
            </a:r>
            <a:r>
              <a:rPr lang="ko-KR" altLang="en-US" sz="1600" spc="-50" dirty="0"/>
              <a:t> 의 에너지를 갖고 있다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콜라가 갖고 있는 에너지 형태는 화학에너지이다</a:t>
            </a:r>
            <a:r>
              <a:rPr lang="en-US" altLang="ko-KR" sz="1600" spc="-50" dirty="0"/>
              <a:t>.)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줄</a:t>
            </a:r>
            <a:r>
              <a:rPr lang="en-US" altLang="ko-KR" sz="1600" spc="-50" dirty="0"/>
              <a:t>(J)</a:t>
            </a:r>
            <a:r>
              <a:rPr lang="ko-KR" altLang="en-US" sz="1600" spc="-50" dirty="0"/>
              <a:t> 단위로 환산하면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대략 </a:t>
            </a:r>
            <a:r>
              <a:rPr lang="en-US" altLang="ko-KR" sz="1600" spc="-50" dirty="0"/>
              <a:t>451,882 J (=108,000(</a:t>
            </a:r>
            <a:r>
              <a:rPr lang="en-US" altLang="ko-KR" sz="1600" spc="-50" dirty="0" err="1"/>
              <a:t>cal</a:t>
            </a:r>
            <a:r>
              <a:rPr lang="en-US" altLang="ko-KR" sz="1600" spc="-50" dirty="0"/>
              <a:t>) / 0.239(</a:t>
            </a:r>
            <a:r>
              <a:rPr lang="en-US" altLang="ko-KR" sz="1600" spc="-50" dirty="0" err="1"/>
              <a:t>cal</a:t>
            </a:r>
            <a:r>
              <a:rPr lang="en-US" altLang="ko-KR" sz="1600" spc="-50" dirty="0"/>
              <a:t>/J))</a:t>
            </a:r>
            <a:r>
              <a:rPr lang="ko-KR" altLang="en-US" sz="1600" spc="-50" dirty="0"/>
              <a:t>의 에너지를 갖고 있는 것과 같다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SI </a:t>
            </a:r>
            <a:r>
              <a:rPr lang="ko-KR" altLang="en-US" sz="1600" spc="-50" dirty="0" err="1"/>
              <a:t>접두어를</a:t>
            </a:r>
            <a:r>
              <a:rPr lang="ko-KR" altLang="en-US" sz="1600" spc="-50" dirty="0"/>
              <a:t> 활용하면 </a:t>
            </a:r>
            <a:r>
              <a:rPr lang="en-US" altLang="ko-KR" sz="1600" spc="-50" dirty="0"/>
              <a:t>451.882 kJ(</a:t>
            </a:r>
            <a:r>
              <a:rPr lang="ko-KR" altLang="en-US" sz="1600" spc="-50" dirty="0"/>
              <a:t>킬로 줄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혹은 </a:t>
            </a:r>
            <a:r>
              <a:rPr lang="en-US" altLang="ko-KR" sz="1600" spc="-50" dirty="0"/>
              <a:t>0.451882 MJ(</a:t>
            </a:r>
            <a:r>
              <a:rPr lang="ko-KR" altLang="en-US" sz="1600" spc="-50" dirty="0" err="1"/>
              <a:t>메가줄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과 같다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줄</a:t>
            </a:r>
            <a:r>
              <a:rPr lang="en-US" altLang="ko-KR" sz="1600" spc="-50" dirty="0"/>
              <a:t>(J)</a:t>
            </a:r>
            <a:r>
              <a:rPr lang="ko-KR" altLang="en-US" sz="1600" spc="-50" dirty="0"/>
              <a:t>의 정의에 따라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콜라</a:t>
            </a:r>
            <a:r>
              <a:rPr lang="en-US" altLang="ko-KR" sz="1600" spc="-50" dirty="0"/>
              <a:t>(250ml)</a:t>
            </a:r>
            <a:r>
              <a:rPr lang="ko-KR" altLang="en-US" sz="1600" spc="-50" dirty="0"/>
              <a:t>가 갖고 있는 에너지는 </a:t>
            </a:r>
            <a:r>
              <a:rPr lang="en-US" altLang="ko-KR" sz="1600" spc="-50" dirty="0"/>
              <a:t>1N</a:t>
            </a:r>
            <a:r>
              <a:rPr lang="ko-KR" altLang="en-US" sz="1600" spc="-50" dirty="0"/>
              <a:t>의 힘으로 물체를 대략 </a:t>
            </a:r>
            <a:r>
              <a:rPr lang="en-US" altLang="ko-KR" sz="1600" spc="-50" dirty="0"/>
              <a:t>452km </a:t>
            </a:r>
            <a:r>
              <a:rPr lang="ko-KR" altLang="en-US" sz="1600" spc="-50" dirty="0"/>
              <a:t>이동시키는 일의 양과 비슷하다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콜라 한 캔을 마셨을 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이만큼의 일을 해야 칼로리를 소비한다는 것을 의미하지는 않는다</a:t>
            </a:r>
            <a:r>
              <a:rPr lang="en-US" altLang="ko-KR" sz="1600" spc="-50" dirty="0"/>
              <a:t>.  (</a:t>
            </a:r>
            <a:r>
              <a:rPr lang="ko-KR" altLang="en-US" sz="1600" spc="-50" dirty="0"/>
              <a:t>사람은 마셨을 때 다른 곳에도 에너지를 쓰기 때문이다</a:t>
            </a:r>
            <a:r>
              <a:rPr lang="en-US" altLang="ko-KR" sz="1600" spc="-50" dirty="0"/>
              <a:t>.)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A877138-F0BE-AC84-B15C-B9CB5C912DBF}"/>
              </a:ext>
            </a:extLst>
          </p:cNvPr>
          <p:cNvSpPr/>
          <p:nvPr/>
        </p:nvSpPr>
        <p:spPr>
          <a:xfrm>
            <a:off x="10736730" y="5108291"/>
            <a:ext cx="914400" cy="441609"/>
          </a:xfrm>
          <a:prstGeom prst="rect">
            <a:avLst/>
          </a:prstGeom>
          <a:solidFill>
            <a:srgbClr val="FFFF00">
              <a:alpha val="4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32962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278DC-6714-7BB2-0471-849C495A2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E18469E-3BC0-DC94-9C18-544784CA3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6939" y="4550500"/>
            <a:ext cx="1939522" cy="143015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59215071-B201-A020-08FE-ECAEDEADB9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0024" y="2039522"/>
            <a:ext cx="1457814" cy="247785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89F4D8B-574D-DBF8-C357-01A0B42C3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에너지 단위 변환 </a:t>
            </a:r>
            <a:r>
              <a:rPr lang="en-US" altLang="ko-KR" dirty="0"/>
              <a:t>(</a:t>
            </a:r>
            <a:r>
              <a:rPr lang="ko-KR" altLang="en-US" dirty="0"/>
              <a:t>선풍기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E0334F-D152-904A-0252-8BB01DB83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80531F-D7E7-05C0-02E3-D4012B3C5F43}"/>
              </a:ext>
            </a:extLst>
          </p:cNvPr>
          <p:cNvSpPr txBox="1"/>
          <p:nvPr/>
        </p:nvSpPr>
        <p:spPr>
          <a:xfrm>
            <a:off x="288790" y="958844"/>
            <a:ext cx="11118453" cy="18913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전기제품으로 넘어오면</a:t>
            </a:r>
            <a:r>
              <a:rPr lang="en-US" altLang="ko-KR" sz="1600" spc="-50" dirty="0"/>
              <a:t>, </a:t>
            </a:r>
            <a:r>
              <a:rPr lang="en-US" altLang="ko-KR" sz="1600" spc="-50" dirty="0" err="1"/>
              <a:t>cal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단위는 쓰지 않고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와트시</a:t>
            </a:r>
            <a:r>
              <a:rPr lang="en-US" altLang="ko-KR" sz="1600" spc="-50" dirty="0"/>
              <a:t>(</a:t>
            </a:r>
            <a:r>
              <a:rPr lang="en-US" altLang="ko-KR" sz="1600" spc="-50" dirty="0" err="1"/>
              <a:t>Wh</a:t>
            </a:r>
            <a:r>
              <a:rPr lang="en-US" altLang="ko-KR" sz="1600" spc="-50" dirty="0"/>
              <a:t>, Watt-hour) </a:t>
            </a:r>
            <a:r>
              <a:rPr lang="ko-KR" altLang="en-US" sz="1600" spc="-50" dirty="0"/>
              <a:t>라는 단위를 많이 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J</a:t>
            </a:r>
            <a:r>
              <a:rPr lang="ko-KR" altLang="en-US" sz="1600" spc="-50" dirty="0"/>
              <a:t>을 </a:t>
            </a:r>
            <a:r>
              <a:rPr lang="en-US" altLang="ko-KR" sz="1600" spc="-50" dirty="0" err="1"/>
              <a:t>cal</a:t>
            </a:r>
            <a:r>
              <a:rPr lang="ko-KR" altLang="en-US" sz="1600" spc="-50" dirty="0"/>
              <a:t>로 변환할 수 있었듯이</a:t>
            </a:r>
            <a:r>
              <a:rPr lang="en-US" altLang="ko-KR" sz="1600" spc="-50" dirty="0"/>
              <a:t>, J</a:t>
            </a:r>
            <a:r>
              <a:rPr lang="ko-KR" altLang="en-US" sz="1600" spc="-50" dirty="0"/>
              <a:t>은 </a:t>
            </a:r>
            <a:r>
              <a:rPr lang="en-US" altLang="ko-KR" sz="1600" spc="-50" dirty="0" err="1"/>
              <a:t>Wh</a:t>
            </a:r>
            <a:r>
              <a:rPr lang="ko-KR" altLang="en-US" sz="1600" spc="-50" dirty="0"/>
              <a:t>로도 변환이 가능하다</a:t>
            </a:r>
            <a:r>
              <a:rPr lang="en-US" altLang="ko-KR" sz="1600" spc="-50" dirty="0"/>
              <a:t>.  </a:t>
            </a:r>
            <a:r>
              <a:rPr lang="en-US" altLang="ko-KR" sz="1600" b="1" spc="-50" dirty="0"/>
              <a:t>1J</a:t>
            </a:r>
            <a:r>
              <a:rPr lang="ko-KR" altLang="en-US" sz="1600" b="1" spc="-50" dirty="0"/>
              <a:t> </a:t>
            </a:r>
            <a:r>
              <a:rPr lang="en-US" altLang="ko-KR" sz="1600" b="1" spc="-50" dirty="0"/>
              <a:t>= 0.000278 </a:t>
            </a:r>
            <a:r>
              <a:rPr lang="en-US" altLang="ko-KR" sz="1600" b="1" spc="-50" dirty="0" err="1"/>
              <a:t>Wh</a:t>
            </a:r>
            <a:r>
              <a:rPr lang="en-US" altLang="ko-KR" sz="1600" b="1" spc="-50" dirty="0"/>
              <a:t> = 0.000000278 kWh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 err="1"/>
              <a:t>와트시</a:t>
            </a:r>
            <a:r>
              <a:rPr lang="en-US" altLang="ko-KR" sz="1600" spc="-50" dirty="0"/>
              <a:t>(</a:t>
            </a:r>
            <a:r>
              <a:rPr lang="en-US" altLang="ko-KR" sz="1600" spc="-50" dirty="0" err="1"/>
              <a:t>Wh</a:t>
            </a:r>
            <a:r>
              <a:rPr lang="en-US" altLang="ko-KR" sz="1600" spc="-50" dirty="0"/>
              <a:t>, Watt-hour)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Watt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hour</a:t>
            </a:r>
            <a:r>
              <a:rPr lang="ko-KR" altLang="en-US" sz="1600" spc="-50" dirty="0"/>
              <a:t>의 합성단위이다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전기는 시간 개념이 필요한 에너지 형태이다</a:t>
            </a:r>
            <a:r>
              <a:rPr lang="en-US" altLang="ko-KR" sz="1600" spc="-50" dirty="0"/>
              <a:t>.)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Watt(W)</a:t>
            </a:r>
            <a:r>
              <a:rPr lang="ko-KR" altLang="en-US" sz="1600" spc="-50" dirty="0"/>
              <a:t>는 전력을 의미하고</a:t>
            </a:r>
            <a:r>
              <a:rPr lang="en-US" altLang="ko-KR" sz="1600" spc="-50" dirty="0"/>
              <a:t>, 1</a:t>
            </a:r>
            <a:r>
              <a:rPr lang="ko-KR" altLang="en-US" sz="1600" spc="-50" dirty="0"/>
              <a:t>초</a:t>
            </a:r>
            <a:r>
              <a:rPr lang="en-US" altLang="ko-KR" sz="1600" spc="-50" dirty="0"/>
              <a:t>(s, second) </a:t>
            </a:r>
            <a:r>
              <a:rPr lang="ko-KR" altLang="en-US" sz="1600" spc="-50" dirty="0"/>
              <a:t>에 몇 </a:t>
            </a:r>
            <a:r>
              <a:rPr lang="en-US" altLang="ko-KR" sz="1600" spc="-50" dirty="0"/>
              <a:t>J</a:t>
            </a:r>
            <a:r>
              <a:rPr lang="ko-KR" altLang="en-US" sz="1600" spc="-50" dirty="0"/>
              <a:t>의 에너지를 사용하는가를 의미한다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1W = 1J/s </a:t>
            </a:r>
            <a:r>
              <a:rPr lang="ko-KR" altLang="en-US" sz="1600" spc="-50" dirty="0"/>
              <a:t>이고</a:t>
            </a:r>
            <a:r>
              <a:rPr lang="en-US" altLang="ko-KR" sz="1600" spc="-50" dirty="0"/>
              <a:t>, 1W(Watt)</a:t>
            </a:r>
            <a:r>
              <a:rPr lang="ko-KR" altLang="en-US" sz="1600" spc="-50" dirty="0"/>
              <a:t>의 전력으로 </a:t>
            </a:r>
            <a:r>
              <a:rPr lang="en-US" altLang="ko-KR" sz="1600" spc="-50" dirty="0"/>
              <a:t>1h(hour)</a:t>
            </a:r>
            <a:r>
              <a:rPr lang="ko-KR" altLang="en-US" sz="1600" spc="-50" dirty="0"/>
              <a:t>을 사용하면 </a:t>
            </a:r>
            <a:r>
              <a:rPr lang="en-US" altLang="ko-KR" sz="1600" spc="-50" dirty="0"/>
              <a:t>1Wh</a:t>
            </a:r>
            <a:r>
              <a:rPr lang="ko-KR" altLang="en-US" sz="1600" spc="-50" dirty="0"/>
              <a:t>으로 표현한다</a:t>
            </a:r>
            <a:r>
              <a:rPr lang="en-US" altLang="ko-KR" sz="1600" spc="-50" dirty="0"/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45BDD1-6E47-5CD6-B17B-DAF45C1E9EBC}"/>
              </a:ext>
            </a:extLst>
          </p:cNvPr>
          <p:cNvSpPr txBox="1"/>
          <p:nvPr/>
        </p:nvSpPr>
        <p:spPr>
          <a:xfrm>
            <a:off x="288790" y="3023578"/>
            <a:ext cx="8950460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오른쪽의 선풍기는 소비전력이 </a:t>
            </a:r>
            <a:r>
              <a:rPr lang="en-US" altLang="ko-KR" sz="1600" spc="-50" dirty="0"/>
              <a:t>50W</a:t>
            </a:r>
            <a:r>
              <a:rPr lang="ko-KR" altLang="en-US" sz="1600" spc="-50" dirty="0"/>
              <a:t>라고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 선풍기는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초당 </a:t>
            </a:r>
            <a:r>
              <a:rPr lang="en-US" altLang="ko-KR" sz="1600" spc="-50" dirty="0"/>
              <a:t>50J</a:t>
            </a:r>
            <a:r>
              <a:rPr lang="ko-KR" altLang="en-US" sz="1600" spc="-50" dirty="0"/>
              <a:t>의 전기에너지를 소비한다는 의미이다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 선풍기를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시간 틀면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전기에너지를 </a:t>
            </a:r>
            <a:r>
              <a:rPr lang="en-US" altLang="ko-KR" sz="1600" spc="-50" dirty="0"/>
              <a:t>50Wh</a:t>
            </a:r>
            <a:r>
              <a:rPr lang="ko-KR" altLang="en-US" sz="1600" spc="-50" dirty="0"/>
              <a:t>사용하게 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Watt(W)</a:t>
            </a:r>
            <a:r>
              <a:rPr lang="ko-KR" altLang="en-US" sz="1600" spc="-50" dirty="0"/>
              <a:t>의 정의에 따라</a:t>
            </a:r>
            <a:r>
              <a:rPr lang="en-US" altLang="ko-KR" sz="1600" spc="-50" dirty="0"/>
              <a:t>, 180,000J (50J/s x 60s x 60m(minutes))</a:t>
            </a:r>
            <a:r>
              <a:rPr lang="ko-KR" altLang="en-US" sz="1600" spc="-50" dirty="0"/>
              <a:t>을 사용하는 것 과 같다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변환계수를 사용해도 비슷한 결과를 얻는다</a:t>
            </a:r>
            <a:r>
              <a:rPr lang="en-US" altLang="ko-KR" sz="1600" spc="-50" dirty="0"/>
              <a:t>. 50Wh / 0.000278(</a:t>
            </a:r>
            <a:r>
              <a:rPr lang="en-US" altLang="ko-KR" sz="1600" spc="-50" dirty="0" err="1"/>
              <a:t>Wh</a:t>
            </a:r>
            <a:r>
              <a:rPr lang="en-US" altLang="ko-KR" sz="1600" spc="-50" dirty="0"/>
              <a:t>/J) = 179,856J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50Wh</a:t>
            </a:r>
            <a:r>
              <a:rPr lang="ko-KR" altLang="en-US" sz="1600" spc="-50" dirty="0"/>
              <a:t>를 칼로리</a:t>
            </a:r>
            <a:r>
              <a:rPr lang="en-US" altLang="ko-KR" sz="1600" spc="-50" dirty="0"/>
              <a:t>(</a:t>
            </a:r>
            <a:r>
              <a:rPr lang="en-US" altLang="ko-KR" sz="1600" spc="-50" dirty="0" err="1"/>
              <a:t>cal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로 변환하면 대략 </a:t>
            </a:r>
            <a:r>
              <a:rPr lang="en-US" altLang="ko-KR" sz="1600" spc="-50" dirty="0"/>
              <a:t>42,985cal (</a:t>
            </a:r>
            <a:r>
              <a:rPr lang="ko-KR" altLang="en-US" sz="1600" spc="-50" dirty="0"/>
              <a:t>혹은 </a:t>
            </a:r>
            <a:r>
              <a:rPr lang="en-US" altLang="ko-KR" sz="1600" spc="-50" dirty="0"/>
              <a:t>42.985kcal)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50 </a:t>
            </a:r>
            <a:r>
              <a:rPr lang="en-US" altLang="ko-KR" sz="1600" spc="-50" dirty="0" err="1"/>
              <a:t>Wh</a:t>
            </a:r>
            <a:r>
              <a:rPr lang="en-US" altLang="ko-KR" sz="1600" spc="-50" dirty="0"/>
              <a:t> ÷ 0.000278 </a:t>
            </a:r>
            <a:r>
              <a:rPr lang="en-US" altLang="ko-KR" sz="1600" spc="-50" dirty="0" err="1"/>
              <a:t>Wh</a:t>
            </a:r>
            <a:r>
              <a:rPr lang="en-US" altLang="ko-KR" sz="1600" spc="-50" dirty="0"/>
              <a:t>/J x 0.239 </a:t>
            </a:r>
            <a:r>
              <a:rPr lang="en-US" altLang="ko-KR" sz="1600" spc="-50" dirty="0" err="1"/>
              <a:t>cal</a:t>
            </a:r>
            <a:r>
              <a:rPr lang="en-US" altLang="ko-KR" sz="1600" spc="-50" dirty="0"/>
              <a:t>/J   = 42,985 </a:t>
            </a:r>
            <a:r>
              <a:rPr lang="en-US" altLang="ko-KR" sz="1600" spc="-50" dirty="0" err="1"/>
              <a:t>cal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종합해보면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 선풍기는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시간에 </a:t>
            </a:r>
            <a:r>
              <a:rPr lang="en-US" altLang="ko-KR" sz="1600" spc="-50" dirty="0"/>
              <a:t>50Wh </a:t>
            </a:r>
            <a:r>
              <a:rPr lang="ko-KR" altLang="en-US" sz="1600" spc="-50" dirty="0"/>
              <a:t>혹은 </a:t>
            </a:r>
            <a:r>
              <a:rPr lang="en-US" altLang="ko-KR" sz="1600" spc="-50" dirty="0"/>
              <a:t>180,000J </a:t>
            </a:r>
            <a:r>
              <a:rPr lang="ko-KR" altLang="en-US" sz="1600" spc="-50" dirty="0"/>
              <a:t>혹은 </a:t>
            </a:r>
            <a:r>
              <a:rPr lang="en-US" altLang="ko-KR" sz="1600" spc="-50" dirty="0"/>
              <a:t>42,985cal </a:t>
            </a:r>
            <a:r>
              <a:rPr lang="ko-KR" altLang="en-US" sz="1600" spc="-50" dirty="0"/>
              <a:t>의 에너지를 사용한다</a:t>
            </a:r>
            <a:r>
              <a:rPr lang="en-US" altLang="ko-KR" sz="1600" spc="-50" dirty="0"/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B3020A-7A71-A263-9174-CBCB48AAE402}"/>
              </a:ext>
            </a:extLst>
          </p:cNvPr>
          <p:cNvSpPr txBox="1"/>
          <p:nvPr/>
        </p:nvSpPr>
        <p:spPr>
          <a:xfrm>
            <a:off x="9589330" y="6046893"/>
            <a:ext cx="201660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700" dirty="0"/>
              <a:t>https://www.coupang.com/vp/products/7212367661?itemId=18255669809&amp;vendorItemId=85402293544&amp;q=%EC%84%A0%ED%92%8D%EA%B8%B0&amp;searchId=c317d35b66775999&amp;sourceType=search&amp;itemsCount=60&amp;searchRank=3&amp;rank=3&amp;traceId=mqyu4fmz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8A38336-32B5-6A06-75A0-BD992DC1FEF6}"/>
              </a:ext>
            </a:extLst>
          </p:cNvPr>
          <p:cNvSpPr/>
          <p:nvPr/>
        </p:nvSpPr>
        <p:spPr>
          <a:xfrm>
            <a:off x="9878207" y="5202104"/>
            <a:ext cx="962071" cy="171116"/>
          </a:xfrm>
          <a:prstGeom prst="rect">
            <a:avLst/>
          </a:prstGeom>
          <a:solidFill>
            <a:srgbClr val="FFFF00">
              <a:alpha val="4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43619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A7523F-9CDF-8874-D177-634F152F8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어떤 보조배터리를 </a:t>
            </a:r>
            <a:r>
              <a:rPr lang="ko-KR" altLang="en-US" dirty="0" err="1"/>
              <a:t>사야할까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4EE485-568C-823A-D054-38BD81EE1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14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CF47C11-023E-622F-D686-A0A4087CB9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4790" y="3217117"/>
            <a:ext cx="2369256" cy="326458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10650B6-AD51-46A4-D530-6AB05A4D6C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6766" y="3041018"/>
            <a:ext cx="2197424" cy="343440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940ABC0-0FCD-D3FF-88FE-0819BC3C4F03}"/>
              </a:ext>
            </a:extLst>
          </p:cNvPr>
          <p:cNvSpPr txBox="1"/>
          <p:nvPr/>
        </p:nvSpPr>
        <p:spPr>
          <a:xfrm>
            <a:off x="7360937" y="2485481"/>
            <a:ext cx="1206679" cy="333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">
              <a:lnSpc>
                <a:spcPct val="150000"/>
              </a:lnSpc>
            </a:pPr>
            <a:r>
              <a:rPr lang="en-US" altLang="ko-KR" sz="1200" spc="-50" dirty="0"/>
              <a:t>&lt;13,900</a:t>
            </a:r>
            <a:r>
              <a:rPr lang="ko-KR" altLang="en-US" sz="1200" spc="-50" dirty="0"/>
              <a:t>원</a:t>
            </a:r>
            <a:r>
              <a:rPr lang="en-US" altLang="ko-KR" sz="1200" spc="-50" dirty="0"/>
              <a:t>&gt;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EFEAB4C-033A-F8F8-E5D6-089478B0A0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1549" y="1007164"/>
            <a:ext cx="1687657" cy="146842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68336A6-C9D1-DFB1-A042-BB70B7C191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92666" y="669736"/>
            <a:ext cx="1766952" cy="189519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A3C92F1-0CB7-2337-3EDE-7792EE4DE7C4}"/>
              </a:ext>
            </a:extLst>
          </p:cNvPr>
          <p:cNvSpPr txBox="1"/>
          <p:nvPr/>
        </p:nvSpPr>
        <p:spPr>
          <a:xfrm>
            <a:off x="9865597" y="2485481"/>
            <a:ext cx="1206679" cy="333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">
              <a:lnSpc>
                <a:spcPct val="150000"/>
              </a:lnSpc>
            </a:pPr>
            <a:r>
              <a:rPr lang="en-US" altLang="ko-KR" sz="1200" spc="-50" dirty="0"/>
              <a:t>&lt;34,800</a:t>
            </a:r>
            <a:r>
              <a:rPr lang="ko-KR" altLang="en-US" sz="1200" spc="-50" dirty="0"/>
              <a:t>원</a:t>
            </a:r>
            <a:r>
              <a:rPr lang="en-US" altLang="ko-KR" sz="1200" spc="-50" dirty="0"/>
              <a:t>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D59318-C132-A923-0D9D-214C984ED2EB}"/>
              </a:ext>
            </a:extLst>
          </p:cNvPr>
          <p:cNvSpPr txBox="1"/>
          <p:nvPr/>
        </p:nvSpPr>
        <p:spPr>
          <a:xfrm>
            <a:off x="288790" y="958844"/>
            <a:ext cx="6584671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보조배터리를 구매할 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여러 고민을 하게 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충전속도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보조배터리 자체가 얼마나 빨리 충전이 되는가</a:t>
            </a:r>
            <a:r>
              <a:rPr lang="en-US" altLang="ko-KR" sz="1600" spc="-50" dirty="0"/>
              <a:t>?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방전속도</a:t>
            </a:r>
            <a:r>
              <a:rPr lang="en-US" altLang="ko-KR" sz="1600" spc="-50" dirty="0"/>
              <a:t>) </a:t>
            </a:r>
            <a:r>
              <a:rPr lang="ko-KR" altLang="en-US" sz="1600" spc="-50" dirty="0" err="1"/>
              <a:t>다른기기를</a:t>
            </a:r>
            <a:r>
              <a:rPr lang="ko-KR" altLang="en-US" sz="1600" spc="-50" dirty="0"/>
              <a:t> 충전하는 속도는 얼마나 </a:t>
            </a:r>
            <a:r>
              <a:rPr lang="ko-KR" altLang="en-US" sz="1600" spc="-50" dirty="0" err="1"/>
              <a:t>빠른가</a:t>
            </a:r>
            <a:r>
              <a:rPr lang="en-US" altLang="ko-KR" sz="1600" spc="-50" dirty="0"/>
              <a:t>?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충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방전용량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내 핸드폰 완충이 몇 번 가능한가</a:t>
            </a:r>
            <a:r>
              <a:rPr lang="en-US" altLang="ko-KR" sz="1600" spc="-50" dirty="0"/>
              <a:t>?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간단한 공식으로 보조배터리의 스펙을 계산해볼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아까 얘기한 </a:t>
            </a:r>
            <a:r>
              <a:rPr lang="en-US" altLang="ko-KR" sz="1600" spc="-50" dirty="0"/>
              <a:t>Watt</a:t>
            </a:r>
            <a:r>
              <a:rPr lang="ko-KR" altLang="en-US" sz="1600" spc="-50" dirty="0"/>
              <a:t>가 전기에너지를 소비하는 속도라고 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보조배터리의</a:t>
            </a:r>
            <a:r>
              <a:rPr lang="en-US" altLang="ko-KR" sz="1600" spc="-50" dirty="0"/>
              <a:t> W</a:t>
            </a:r>
            <a:r>
              <a:rPr lang="ko-KR" altLang="en-US" sz="1600" spc="-50" dirty="0"/>
              <a:t>가 크면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충전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 속도가 빠르다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아까 얘기한 </a:t>
            </a:r>
            <a:r>
              <a:rPr lang="en-US" altLang="ko-KR" sz="1600" spc="-50" dirty="0"/>
              <a:t>Watt-hour</a:t>
            </a:r>
            <a:r>
              <a:rPr lang="ko-KR" altLang="en-US" sz="1600" spc="-50" dirty="0"/>
              <a:t>는 전기에너지의 양을 의미한다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보조배터리의 </a:t>
            </a:r>
            <a:r>
              <a:rPr lang="en-US" altLang="ko-KR" sz="1600" spc="-50" dirty="0" err="1"/>
              <a:t>Wh</a:t>
            </a:r>
            <a:r>
              <a:rPr lang="ko-KR" altLang="en-US" sz="1600" spc="-50" dirty="0"/>
              <a:t>가 크면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충전을 많이 할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다만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보조배터리 판매 사이트를 보면</a:t>
            </a:r>
            <a:r>
              <a:rPr lang="en-US" altLang="ko-KR" sz="1600" spc="-50" dirty="0"/>
              <a:t>, W</a:t>
            </a:r>
            <a:r>
              <a:rPr lang="ko-KR" altLang="en-US" sz="1600" spc="-50" dirty="0"/>
              <a:t>나 </a:t>
            </a:r>
            <a:r>
              <a:rPr lang="en-US" altLang="ko-KR" sz="1600" spc="-50" dirty="0" err="1"/>
              <a:t>Wh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표기는 없고</a:t>
            </a:r>
            <a:r>
              <a:rPr lang="en-US" altLang="ko-KR" sz="1600" spc="-50" dirty="0"/>
              <a:t>,   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V(Volt)</a:t>
            </a:r>
            <a:r>
              <a:rPr lang="ko-KR" altLang="en-US" sz="1600" spc="-50" dirty="0"/>
              <a:t>나 </a:t>
            </a:r>
            <a:r>
              <a:rPr lang="en-US" altLang="ko-KR" sz="1600" spc="-50" dirty="0"/>
              <a:t>Ah(Ampere-hour) </a:t>
            </a:r>
            <a:r>
              <a:rPr lang="ko-KR" altLang="en-US" sz="1600" spc="-50" dirty="0"/>
              <a:t>등의 단위를 볼 수 있는데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쉽게 </a:t>
            </a:r>
            <a:r>
              <a:rPr lang="en-US" altLang="ko-KR" sz="1600" spc="-50" dirty="0"/>
              <a:t>W</a:t>
            </a:r>
            <a:r>
              <a:rPr lang="ko-KR" altLang="en-US" sz="1600" spc="-50" dirty="0"/>
              <a:t>와 </a:t>
            </a:r>
            <a:r>
              <a:rPr lang="en-US" altLang="ko-KR" sz="1600" spc="-50" dirty="0" err="1"/>
              <a:t>Wh</a:t>
            </a:r>
            <a:r>
              <a:rPr lang="ko-KR" altLang="en-US" sz="1600" spc="-50" dirty="0"/>
              <a:t>로 변환 가능한 단위들이다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049251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596185-6ABA-322D-5F96-2D3DB1558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보조배터리 충전</a:t>
            </a:r>
            <a:r>
              <a:rPr lang="en-US" altLang="ko-KR" sz="2400" spc="-50" dirty="0"/>
              <a:t>·</a:t>
            </a:r>
            <a:r>
              <a:rPr lang="ko-KR" altLang="en-US" dirty="0"/>
              <a:t>방전 속도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D2B37C-637D-C72B-A9E3-2BEC7ED95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3CB7EE-8E39-5F0B-31F6-4006B661CAEA}"/>
              </a:ext>
            </a:extLst>
          </p:cNvPr>
          <p:cNvSpPr txBox="1"/>
          <p:nvPr/>
        </p:nvSpPr>
        <p:spPr>
          <a:xfrm>
            <a:off x="271857" y="2349304"/>
            <a:ext cx="11118453" cy="37380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549275" lvl="1">
              <a:lnSpc>
                <a:spcPct val="150000"/>
              </a:lnSpc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출력 부문</a:t>
            </a:r>
            <a:r>
              <a:rPr lang="en-US" altLang="ko-KR" sz="1600" spc="-50" dirty="0"/>
              <a:t>(</a:t>
            </a:r>
            <a:r>
              <a:rPr lang="ko-KR" altLang="en-US" sz="1600" spc="-50" dirty="0" err="1"/>
              <a:t>보조배터리→핸드폰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을 보면 </a:t>
            </a:r>
            <a:r>
              <a:rPr lang="en-US" altLang="ko-KR" sz="1600" spc="-50" dirty="0"/>
              <a:t>(5V, 3A), (9V, 2A), (12V, 1.67A) </a:t>
            </a:r>
            <a:r>
              <a:rPr lang="ko-KR" altLang="en-US" sz="1600" spc="-50" dirty="0"/>
              <a:t>라고 적혀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15W (=5Vx3A), 18W(=9Vx2A), 20W(=12Vx1.67A)</a:t>
            </a:r>
            <a:r>
              <a:rPr lang="ko-KR" altLang="en-US" sz="1600" spc="-50" dirty="0"/>
              <a:t>를 지원한다는 뜻이다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최소 </a:t>
            </a:r>
            <a:r>
              <a:rPr lang="en-US" altLang="ko-KR" sz="1600" spc="-50" dirty="0"/>
              <a:t>15W</a:t>
            </a:r>
            <a:r>
              <a:rPr lang="ko-KR" altLang="en-US" sz="1600" spc="-50" dirty="0"/>
              <a:t>에서 최대 </a:t>
            </a:r>
            <a:r>
              <a:rPr lang="en-US" altLang="ko-KR" sz="1600" spc="-50" dirty="0"/>
              <a:t>20W</a:t>
            </a:r>
            <a:r>
              <a:rPr lang="ko-KR" altLang="en-US" sz="1600" spc="-50" dirty="0"/>
              <a:t>의 속도로 전자기기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예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핸드폰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을 충전 시킨다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 보조배터리로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가장 빠른 속도로 핸드폰을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시간 충전시키면 </a:t>
            </a:r>
            <a:r>
              <a:rPr lang="en-US" altLang="ko-KR" sz="1600" spc="-50" dirty="0"/>
              <a:t>20Wh</a:t>
            </a:r>
            <a:r>
              <a:rPr lang="ko-KR" altLang="en-US" sz="1600" spc="-50" dirty="0"/>
              <a:t>의 전기에너지가 내 핸드폰에 저장된다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입력 부문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벽에 있는 </a:t>
            </a:r>
            <a:r>
              <a:rPr lang="ko-KR" altLang="en-US" sz="1600" spc="-50" dirty="0" err="1"/>
              <a:t>콘센트→보조배터리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을 보면 </a:t>
            </a:r>
            <a:r>
              <a:rPr lang="en-US" altLang="ko-KR" sz="1600" spc="-50" dirty="0"/>
              <a:t>(5V,3A), (9V,2A), (12V,1.5A)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15W (=5Vx3A), 18W(=9Vx2A), 18W(=12Vx1.5A)</a:t>
            </a:r>
            <a:r>
              <a:rPr lang="ko-KR" altLang="en-US" sz="1600" spc="-50" dirty="0"/>
              <a:t>를 지원한다는 뜻이다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최소 </a:t>
            </a:r>
            <a:r>
              <a:rPr lang="en-US" altLang="ko-KR" sz="1600" spc="-50" dirty="0"/>
              <a:t>15W</a:t>
            </a:r>
            <a:r>
              <a:rPr lang="ko-KR" altLang="en-US" sz="1600" spc="-50" dirty="0"/>
              <a:t>에서 최대 </a:t>
            </a:r>
            <a:r>
              <a:rPr lang="en-US" altLang="ko-KR" sz="1600" spc="-50" dirty="0"/>
              <a:t>18W</a:t>
            </a:r>
            <a:r>
              <a:rPr lang="ko-KR" altLang="en-US" sz="1600" spc="-50" dirty="0"/>
              <a:t>의 속도로 보조배터리가 충전된다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 보조배터리를 가장 빠른 속도로 충전시키면</a:t>
            </a:r>
            <a:r>
              <a:rPr lang="en-US" altLang="ko-KR" sz="1600" spc="-50" dirty="0"/>
              <a:t>, 1</a:t>
            </a:r>
            <a:r>
              <a:rPr lang="ko-KR" altLang="en-US" sz="1600" spc="-50" dirty="0"/>
              <a:t>시간에 </a:t>
            </a:r>
            <a:r>
              <a:rPr lang="en-US" altLang="ko-KR" sz="1600" spc="-50" dirty="0"/>
              <a:t>18Wh</a:t>
            </a:r>
            <a:r>
              <a:rPr lang="ko-KR" altLang="en-US" sz="1600" spc="-50" dirty="0"/>
              <a:t>의 전기에너지가 보조배터리 안에 충전된다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0B261BE-A7EE-0BAE-101B-AE5EB76E0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5617" y="1052904"/>
            <a:ext cx="2792354" cy="146842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36BB6FB2-EF18-EF8F-6945-8834057C34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844" y="880877"/>
            <a:ext cx="1687657" cy="1468427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F7FC47AA-6698-0CF3-424C-ECB89493BBE3}"/>
              </a:ext>
            </a:extLst>
          </p:cNvPr>
          <p:cNvSpPr/>
          <p:nvPr/>
        </p:nvSpPr>
        <p:spPr>
          <a:xfrm>
            <a:off x="8795617" y="1878626"/>
            <a:ext cx="2792354" cy="297308"/>
          </a:xfrm>
          <a:prstGeom prst="rect">
            <a:avLst/>
          </a:prstGeom>
          <a:solidFill>
            <a:srgbClr val="FFFF00">
              <a:alpha val="24000"/>
            </a:srgbClr>
          </a:solidFill>
          <a:ln>
            <a:solidFill>
              <a:schemeClr val="accent1">
                <a:shade val="1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B84FE1-770E-1F16-FCCD-163C0281FE55}"/>
              </a:ext>
            </a:extLst>
          </p:cNvPr>
          <p:cNvSpPr txBox="1"/>
          <p:nvPr/>
        </p:nvSpPr>
        <p:spPr>
          <a:xfrm>
            <a:off x="271858" y="926904"/>
            <a:ext cx="6018876" cy="18913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오른쪽 보조배터리의 충전속도는 얼마일까</a:t>
            </a:r>
            <a:r>
              <a:rPr lang="en-US" altLang="ko-KR" sz="1600" spc="-50" dirty="0"/>
              <a:t>?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앞서 배운 </a:t>
            </a:r>
            <a:r>
              <a:rPr lang="en-US" altLang="ko-KR" sz="1600" spc="-50" dirty="0"/>
              <a:t>W(Watt)</a:t>
            </a:r>
            <a:r>
              <a:rPr lang="ko-KR" altLang="en-US" sz="1600" spc="-50" dirty="0"/>
              <a:t>가 몇인지 표시가 없다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하지만 우리는</a:t>
            </a:r>
            <a:r>
              <a:rPr lang="en-US" altLang="ko-KR" sz="1600" spc="-50" dirty="0"/>
              <a:t> V(</a:t>
            </a:r>
            <a:r>
              <a:rPr lang="ko-KR" altLang="en-US" sz="1600" spc="-50" dirty="0"/>
              <a:t>전압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A(</a:t>
            </a:r>
            <a:r>
              <a:rPr lang="ko-KR" altLang="en-US" sz="1600" spc="-50" dirty="0"/>
              <a:t>전류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의 곱으로 구할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Watt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=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A x V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8285411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23982-D55D-3D87-1A0C-4CB120FE7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71E76E-9A61-3427-4CFF-168AF2863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보조배터리 충전</a:t>
            </a:r>
            <a:r>
              <a:rPr lang="en-US" altLang="ko-KR" sz="2400" spc="-50" dirty="0"/>
              <a:t>·</a:t>
            </a:r>
            <a:r>
              <a:rPr lang="ko-KR" altLang="en-US" dirty="0"/>
              <a:t>방전 속도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D80DC3-DD08-733C-8F75-9AB332F45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9D1153-2A7F-3EDB-50E2-B6F75E42C979}"/>
              </a:ext>
            </a:extLst>
          </p:cNvPr>
          <p:cNvSpPr txBox="1"/>
          <p:nvPr/>
        </p:nvSpPr>
        <p:spPr>
          <a:xfrm>
            <a:off x="271857" y="2764169"/>
            <a:ext cx="11118453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출력 부문</a:t>
            </a:r>
            <a:r>
              <a:rPr lang="en-US" altLang="ko-KR" sz="1600" spc="-50" dirty="0"/>
              <a:t>(</a:t>
            </a:r>
            <a:r>
              <a:rPr lang="ko-KR" altLang="en-US" sz="1600" spc="-50" dirty="0" err="1"/>
              <a:t>보조배터리→핸드폰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을 보면 </a:t>
            </a:r>
            <a:r>
              <a:rPr lang="en-US" altLang="ko-KR" sz="1600" spc="-50" dirty="0"/>
              <a:t>(5V, 3A), ···, (20V, 3.25A) </a:t>
            </a:r>
            <a:r>
              <a:rPr lang="ko-KR" altLang="en-US" sz="1600" spc="-50" dirty="0"/>
              <a:t>라고 적혀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최소 </a:t>
            </a:r>
            <a:r>
              <a:rPr lang="en-US" altLang="ko-KR" sz="1600" spc="-50" dirty="0"/>
              <a:t>15W (=5Vx3A), </a:t>
            </a:r>
            <a:r>
              <a:rPr lang="ko-KR" altLang="en-US" sz="1600" spc="-50" dirty="0"/>
              <a:t>최대</a:t>
            </a:r>
            <a:r>
              <a:rPr lang="en-US" altLang="ko-KR" sz="1600" spc="-50" dirty="0"/>
              <a:t> 65W(=20Vx3.25A)</a:t>
            </a:r>
            <a:r>
              <a:rPr lang="ko-KR" altLang="en-US" sz="1600" spc="-50" dirty="0"/>
              <a:t>를 지원한다는 뜻이다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최소 </a:t>
            </a:r>
            <a:r>
              <a:rPr lang="en-US" altLang="ko-KR" sz="1600" spc="-50" dirty="0"/>
              <a:t>15W</a:t>
            </a:r>
            <a:r>
              <a:rPr lang="ko-KR" altLang="en-US" sz="1600" spc="-50" dirty="0"/>
              <a:t>에서 최대 </a:t>
            </a:r>
            <a:r>
              <a:rPr lang="en-US" altLang="ko-KR" sz="1600" spc="-50" dirty="0"/>
              <a:t>65W</a:t>
            </a:r>
            <a:r>
              <a:rPr lang="ko-KR" altLang="en-US" sz="1600" spc="-50" dirty="0"/>
              <a:t>의 속도로 보조배터리가 충전된다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 보조배터리로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가장 빠른 속도로 핸드폰을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시간 충전시키면 </a:t>
            </a:r>
            <a:r>
              <a:rPr lang="en-US" altLang="ko-KR" sz="1600" spc="-50" dirty="0"/>
              <a:t>65Wh</a:t>
            </a:r>
            <a:r>
              <a:rPr lang="ko-KR" altLang="en-US" sz="1600" spc="-50" dirty="0"/>
              <a:t>의 전기에너지가 내 핸드폰에 저장된다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입력 부문</a:t>
            </a:r>
            <a:r>
              <a:rPr lang="en-US" altLang="ko-KR" sz="1600" spc="-50" dirty="0"/>
              <a:t>(</a:t>
            </a:r>
            <a:r>
              <a:rPr lang="ko-KR" altLang="en-US" sz="1600" spc="-50" dirty="0" err="1"/>
              <a:t>콘센트→보조배터리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을 보면 </a:t>
            </a:r>
            <a:r>
              <a:rPr lang="en-US" altLang="ko-KR" sz="1600" spc="-50" dirty="0"/>
              <a:t>(5V, 3A), ···, (20V, 2A) </a:t>
            </a:r>
            <a:r>
              <a:rPr lang="ko-KR" altLang="en-US" sz="1600" spc="-50" dirty="0"/>
              <a:t>라고 적혀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최소 </a:t>
            </a:r>
            <a:r>
              <a:rPr lang="en-US" altLang="ko-KR" sz="1600" spc="-50" dirty="0"/>
              <a:t>15W (=5Vx3A), </a:t>
            </a:r>
            <a:r>
              <a:rPr lang="ko-KR" altLang="en-US" sz="1600" spc="-50" dirty="0"/>
              <a:t>최대</a:t>
            </a:r>
            <a:r>
              <a:rPr lang="en-US" altLang="ko-KR" sz="1600" spc="-50" dirty="0"/>
              <a:t> 40W(=20Vx2A)</a:t>
            </a:r>
            <a:r>
              <a:rPr lang="ko-KR" altLang="en-US" sz="1600" spc="-50" dirty="0"/>
              <a:t>를 지원한다는 뜻이다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최소 </a:t>
            </a:r>
            <a:r>
              <a:rPr lang="en-US" altLang="ko-KR" sz="1600" spc="-50" dirty="0"/>
              <a:t>15W</a:t>
            </a:r>
            <a:r>
              <a:rPr lang="ko-KR" altLang="en-US" sz="1600" spc="-50" dirty="0"/>
              <a:t>에서 최대 </a:t>
            </a:r>
            <a:r>
              <a:rPr lang="en-US" altLang="ko-KR" sz="1600" spc="-50" dirty="0"/>
              <a:t>40W</a:t>
            </a:r>
            <a:r>
              <a:rPr lang="ko-KR" altLang="en-US" sz="1600" spc="-50" dirty="0"/>
              <a:t>의 속도로 전자기기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예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핸드폰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을 충전 시킨다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 보조배터리를 가장 빠른 속도로 충전시키면</a:t>
            </a:r>
            <a:r>
              <a:rPr lang="en-US" altLang="ko-KR" sz="1600" spc="-50" dirty="0"/>
              <a:t>, 1</a:t>
            </a:r>
            <a:r>
              <a:rPr lang="ko-KR" altLang="en-US" sz="1600" spc="-50" dirty="0"/>
              <a:t>시간에 </a:t>
            </a:r>
            <a:r>
              <a:rPr lang="en-US" altLang="ko-KR" sz="1600" spc="-50" dirty="0"/>
              <a:t>40Wh</a:t>
            </a:r>
            <a:r>
              <a:rPr lang="ko-KR" altLang="en-US" sz="1600" spc="-50" dirty="0"/>
              <a:t>의 전기에너지가 보조배터리 안에 충전된다</a:t>
            </a:r>
            <a:r>
              <a:rPr lang="en-US" altLang="ko-KR" sz="1600" spc="-50" dirty="0"/>
              <a:t>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3AA0EDB-E730-EBC8-EFF4-E00D8E3467E6}"/>
              </a:ext>
            </a:extLst>
          </p:cNvPr>
          <p:cNvSpPr txBox="1"/>
          <p:nvPr/>
        </p:nvSpPr>
        <p:spPr>
          <a:xfrm>
            <a:off x="271858" y="926904"/>
            <a:ext cx="6018876" cy="4140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오른쪽 보조배터리의 충전속도는 얼마일까</a:t>
            </a:r>
            <a:r>
              <a:rPr lang="en-US" altLang="ko-KR" sz="1600" spc="-50" dirty="0"/>
              <a:t>?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6AAA127-4E46-963D-002E-22B88418F8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9400" y="906101"/>
            <a:ext cx="2597128" cy="245428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506F74B-7402-0089-3342-AD060A824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2730" y="807936"/>
            <a:ext cx="1766952" cy="1895199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6F2971F8-C2FF-1203-D957-DCE12A4C7E1E}"/>
              </a:ext>
            </a:extLst>
          </p:cNvPr>
          <p:cNvSpPr/>
          <p:nvPr/>
        </p:nvSpPr>
        <p:spPr>
          <a:xfrm>
            <a:off x="9119682" y="2331992"/>
            <a:ext cx="1456819" cy="140193"/>
          </a:xfrm>
          <a:prstGeom prst="rect">
            <a:avLst/>
          </a:prstGeom>
          <a:solidFill>
            <a:srgbClr val="FFFF00">
              <a:alpha val="2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42BA030-B1B9-8834-B352-1CCB071D3C76}"/>
              </a:ext>
            </a:extLst>
          </p:cNvPr>
          <p:cNvSpPr/>
          <p:nvPr/>
        </p:nvSpPr>
        <p:spPr>
          <a:xfrm>
            <a:off x="9169400" y="1824720"/>
            <a:ext cx="2597128" cy="259420"/>
          </a:xfrm>
          <a:prstGeom prst="rect">
            <a:avLst/>
          </a:prstGeom>
          <a:solidFill>
            <a:srgbClr val="FFFF00">
              <a:alpha val="2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60779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70AE5-33CC-1959-85A2-0D4B68D8D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1FFFE1-591D-9A87-815D-461AD5B8D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보조배터리 충전</a:t>
            </a:r>
            <a:r>
              <a:rPr lang="en-US" altLang="ko-KR" sz="2400" spc="-50" dirty="0"/>
              <a:t>·</a:t>
            </a:r>
            <a:r>
              <a:rPr lang="ko-KR" altLang="en-US" dirty="0"/>
              <a:t>방전 속도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CF717A-CEEB-11CE-839D-96FF820DE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7A5EEE-B616-E8F3-4FE7-41A370F6F2C1}"/>
              </a:ext>
            </a:extLst>
          </p:cNvPr>
          <p:cNvSpPr txBox="1"/>
          <p:nvPr/>
        </p:nvSpPr>
        <p:spPr>
          <a:xfrm>
            <a:off x="271857" y="3992572"/>
            <a:ext cx="11118453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보조 배터리의 용량을 다시 계산해보면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일단 배터리용량 부문을 보면 </a:t>
            </a:r>
            <a:r>
              <a:rPr lang="en-US" altLang="ko-KR" sz="1600" spc="-50" dirty="0"/>
              <a:t>(5000mAh, 3.7V) </a:t>
            </a:r>
            <a:r>
              <a:rPr lang="ko-KR" altLang="en-US" sz="1600" spc="-50" dirty="0"/>
              <a:t>라고 적혀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5,000mAh</a:t>
            </a:r>
            <a:r>
              <a:rPr lang="ko-KR" altLang="en-US" sz="1600" spc="-50" dirty="0"/>
              <a:t>에서 암페어부분</a:t>
            </a:r>
            <a:r>
              <a:rPr lang="en-US" altLang="ko-KR" sz="1600" spc="-50" dirty="0"/>
              <a:t>(mA)</a:t>
            </a:r>
            <a:r>
              <a:rPr lang="ko-KR" altLang="en-US" sz="1600" spc="-50" dirty="0"/>
              <a:t>과 시간</a:t>
            </a:r>
            <a:r>
              <a:rPr lang="en-US" altLang="ko-KR" sz="1600" spc="-50" dirty="0"/>
              <a:t>(h)</a:t>
            </a:r>
            <a:r>
              <a:rPr lang="ko-KR" altLang="en-US" sz="1600" spc="-50" dirty="0"/>
              <a:t> 부분을 따로 떼어 생각 해보면 아래와 같이 계산이 가능하다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5,000mA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x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3.7V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x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1hour = 18,500mA·V·hour = 18.5Wh        (</a:t>
            </a:r>
            <a:r>
              <a:rPr lang="en-US" altLang="ko-KR" sz="1600" spc="-50" dirty="0" err="1"/>
              <a:t>mili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1/1000</a:t>
            </a:r>
            <a:r>
              <a:rPr lang="ko-KR" altLang="en-US" sz="1600" spc="-50" dirty="0"/>
              <a:t>을 뜻하고</a:t>
            </a:r>
            <a:r>
              <a:rPr lang="en-US" altLang="ko-KR" sz="1600" spc="-50" dirty="0"/>
              <a:t>, A·V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W</a:t>
            </a:r>
            <a:r>
              <a:rPr lang="ko-KR" altLang="en-US" sz="1600" spc="-50" dirty="0"/>
              <a:t>로 바뀐다</a:t>
            </a:r>
            <a:r>
              <a:rPr lang="en-US" altLang="ko-KR" sz="1600" spc="-50" dirty="0"/>
              <a:t>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 보조배터리가 </a:t>
            </a:r>
            <a:r>
              <a:rPr lang="en-US" altLang="ko-KR" sz="1600" spc="-50" dirty="0"/>
              <a:t>100% </a:t>
            </a:r>
            <a:r>
              <a:rPr lang="ko-KR" altLang="en-US" sz="1600" spc="-50" dirty="0"/>
              <a:t>충전상태라면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나는 </a:t>
            </a:r>
            <a:r>
              <a:rPr lang="en-US" altLang="ko-KR" sz="1600" spc="-50" dirty="0"/>
              <a:t>18.5Wh</a:t>
            </a:r>
            <a:r>
              <a:rPr lang="ko-KR" altLang="en-US" sz="1600" spc="-50" dirty="0"/>
              <a:t>만큼의 전기에너지를 쓸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앞서 선풍기의 소비전력이 </a:t>
            </a:r>
            <a:r>
              <a:rPr lang="en-US" altLang="ko-KR" sz="1600" spc="-50" dirty="0"/>
              <a:t>50W</a:t>
            </a:r>
            <a:r>
              <a:rPr lang="ko-KR" altLang="en-US" sz="1600" spc="-50" dirty="0"/>
              <a:t>였으므로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미니 보조배터리로 선풍기를 대략 </a:t>
            </a:r>
            <a:r>
              <a:rPr lang="en-US" altLang="ko-KR" sz="1600" spc="-50" dirty="0"/>
              <a:t>22.2</a:t>
            </a:r>
            <a:r>
              <a:rPr lang="ko-KR" altLang="en-US" sz="1600" spc="-50" dirty="0"/>
              <a:t>분 돌릴 수 있다는 의미다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F258DE9-FADF-7F38-A360-95D287DC3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5617" y="1052904"/>
            <a:ext cx="2792354" cy="146842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16CC622A-8D6D-21A9-E8D3-E5C8BA6D9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844" y="880877"/>
            <a:ext cx="1687657" cy="1468427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2FC20ADE-1C90-48AB-5097-E74671AEB527}"/>
              </a:ext>
            </a:extLst>
          </p:cNvPr>
          <p:cNvSpPr/>
          <p:nvPr/>
        </p:nvSpPr>
        <p:spPr>
          <a:xfrm>
            <a:off x="8795617" y="1693096"/>
            <a:ext cx="2792354" cy="201965"/>
          </a:xfrm>
          <a:prstGeom prst="rect">
            <a:avLst/>
          </a:prstGeom>
          <a:solidFill>
            <a:srgbClr val="FFFF00">
              <a:alpha val="24000"/>
            </a:srgbClr>
          </a:solidFill>
          <a:ln>
            <a:solidFill>
              <a:schemeClr val="accent1">
                <a:shade val="1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E30FBA1-AE4F-DE66-DF7A-01B7AB5D6562}"/>
              </a:ext>
            </a:extLst>
          </p:cNvPr>
          <p:cNvSpPr txBox="1"/>
          <p:nvPr/>
        </p:nvSpPr>
        <p:spPr>
          <a:xfrm>
            <a:off x="271857" y="926904"/>
            <a:ext cx="6544177" cy="29993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오른쪽 보조배터리가 갖고 있는 전기에너지의 양은 얼마일까</a:t>
            </a:r>
            <a:r>
              <a:rPr lang="en-US" altLang="ko-KR" sz="1600" spc="-50" dirty="0"/>
              <a:t>?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앞서 배운 </a:t>
            </a:r>
            <a:r>
              <a:rPr lang="en-US" altLang="ko-KR" sz="1600" spc="-50" dirty="0" err="1"/>
              <a:t>Wh</a:t>
            </a:r>
            <a:r>
              <a:rPr lang="en-US" altLang="ko-KR" sz="1600" spc="-50" dirty="0"/>
              <a:t>(Watt-hour)</a:t>
            </a:r>
            <a:r>
              <a:rPr lang="ko-KR" altLang="en-US" sz="1600" spc="-50" dirty="0"/>
              <a:t>가 몇인지 표시는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없고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배터리용량에 </a:t>
            </a:r>
            <a:r>
              <a:rPr lang="en-US" altLang="ko-KR" sz="1600" spc="-50" dirty="0"/>
              <a:t>(5000mAh, 3.7V) </a:t>
            </a:r>
            <a:r>
              <a:rPr lang="ko-KR" altLang="en-US" sz="1600" spc="-50" dirty="0"/>
              <a:t>라고 적혀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여기서 </a:t>
            </a:r>
            <a:r>
              <a:rPr lang="en-US" altLang="ko-KR" sz="1600" spc="-50" dirty="0"/>
              <a:t>m</a:t>
            </a:r>
            <a:r>
              <a:rPr lang="ko-KR" altLang="en-US" sz="1600" spc="-50" dirty="0"/>
              <a:t>은 </a:t>
            </a:r>
            <a:r>
              <a:rPr lang="en-US" altLang="ko-KR" sz="1600" spc="-50" dirty="0" err="1"/>
              <a:t>mili</a:t>
            </a:r>
            <a:r>
              <a:rPr lang="en-US" altLang="ko-KR" sz="1600" spc="-50" dirty="0"/>
              <a:t>(10</a:t>
            </a:r>
            <a:r>
              <a:rPr lang="en-US" altLang="ko-KR" sz="1600" spc="-50" baseline="30000" dirty="0"/>
              <a:t>-3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을 뜻하고</a:t>
            </a:r>
            <a:r>
              <a:rPr lang="en-US" altLang="ko-KR" sz="1600" spc="-50" dirty="0"/>
              <a:t>, A</a:t>
            </a:r>
            <a:r>
              <a:rPr lang="ko-KR" altLang="en-US" sz="1600" spc="-50" dirty="0"/>
              <a:t>는 전류</a:t>
            </a:r>
            <a:r>
              <a:rPr lang="en-US" altLang="ko-KR" sz="1600" spc="-50" dirty="0"/>
              <a:t>, h</a:t>
            </a:r>
            <a:r>
              <a:rPr lang="ko-KR" altLang="en-US" sz="1600" spc="-50" dirty="0"/>
              <a:t>는 시간이다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전력</a:t>
            </a:r>
            <a:r>
              <a:rPr lang="en-US" altLang="ko-KR" sz="1600" spc="-50" dirty="0"/>
              <a:t>(W)</a:t>
            </a:r>
            <a:r>
              <a:rPr lang="ko-KR" altLang="en-US" sz="1600" spc="-50" dirty="0"/>
              <a:t>은 </a:t>
            </a:r>
            <a:r>
              <a:rPr lang="en-US" altLang="ko-KR" sz="1600" spc="-50" dirty="0"/>
              <a:t>V(</a:t>
            </a:r>
            <a:r>
              <a:rPr lang="ko-KR" altLang="en-US" sz="1600" spc="-50" dirty="0"/>
              <a:t>전압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A(</a:t>
            </a:r>
            <a:r>
              <a:rPr lang="ko-KR" altLang="en-US" sz="1600" spc="-50" dirty="0"/>
              <a:t>전류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의 곱으로 구할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Watt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=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A x V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전기에너지 양은 </a:t>
            </a:r>
            <a:r>
              <a:rPr lang="en-US" altLang="ko-KR" sz="1600" spc="-50" dirty="0"/>
              <a:t>W(</a:t>
            </a:r>
            <a:r>
              <a:rPr lang="ko-KR" altLang="en-US" sz="1600" spc="-50" dirty="0"/>
              <a:t>전력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과 </a:t>
            </a:r>
            <a:r>
              <a:rPr lang="en-US" altLang="ko-KR" sz="1600" spc="-50" dirty="0"/>
              <a:t>h(</a:t>
            </a:r>
            <a:r>
              <a:rPr lang="ko-KR" altLang="en-US" sz="1600" spc="-50" dirty="0"/>
              <a:t>시간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의 곱으로 구할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 err="1"/>
              <a:t>Wh</a:t>
            </a:r>
            <a:r>
              <a:rPr lang="en-US" altLang="ko-KR" sz="1600" spc="-50" dirty="0"/>
              <a:t> = Watt x hour</a:t>
            </a:r>
          </a:p>
        </p:txBody>
      </p:sp>
    </p:spTree>
    <p:extLst>
      <p:ext uri="{BB962C8B-B14F-4D97-AF65-F5344CB8AC3E}">
        <p14:creationId xmlns:p14="http://schemas.microsoft.com/office/powerpoint/2010/main" val="7411059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2965E-C231-C2C5-6D80-6AB661B0A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CE8672-A0FC-2DB8-BF52-06673C58F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보조배터리 충전</a:t>
            </a:r>
            <a:r>
              <a:rPr lang="en-US" altLang="ko-KR" sz="2400" spc="-50" dirty="0"/>
              <a:t>·</a:t>
            </a:r>
            <a:r>
              <a:rPr lang="ko-KR" altLang="en-US" dirty="0"/>
              <a:t>방전 속도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56B618-8A8A-21B0-11FA-70E19C71A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89C1F4-6C46-F06E-9943-6C1CDD616944}"/>
              </a:ext>
            </a:extLst>
          </p:cNvPr>
          <p:cNvSpPr txBox="1"/>
          <p:nvPr/>
        </p:nvSpPr>
        <p:spPr>
          <a:xfrm>
            <a:off x="271857" y="3992572"/>
            <a:ext cx="11118453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배터리용량 부문을 보면 </a:t>
            </a:r>
            <a:r>
              <a:rPr lang="en-US" altLang="ko-KR" sz="1600" spc="-50" dirty="0"/>
              <a:t>(20,000mAh, 3.8V) </a:t>
            </a:r>
            <a:r>
              <a:rPr lang="ko-KR" altLang="en-US" sz="1600" spc="-50" dirty="0"/>
              <a:t>라고 적혀 있다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이 모델은 친절히 </a:t>
            </a:r>
            <a:r>
              <a:rPr lang="en-US" altLang="ko-KR" sz="1600" spc="-50" dirty="0"/>
              <a:t>76Wh</a:t>
            </a:r>
            <a:r>
              <a:rPr lang="ko-KR" altLang="en-US" sz="1600" spc="-50" dirty="0"/>
              <a:t>로 계산이 되어 </a:t>
            </a:r>
            <a:r>
              <a:rPr lang="ko-KR" altLang="en-US" sz="1600" spc="-50" dirty="0" err="1"/>
              <a:t>있긴하다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20,000mAh</a:t>
            </a:r>
            <a:r>
              <a:rPr lang="ko-KR" altLang="en-US" sz="1600" spc="-50" dirty="0"/>
              <a:t>에서 암페어부분</a:t>
            </a:r>
            <a:r>
              <a:rPr lang="en-US" altLang="ko-KR" sz="1600" spc="-50" dirty="0"/>
              <a:t>(mA)</a:t>
            </a:r>
            <a:r>
              <a:rPr lang="ko-KR" altLang="en-US" sz="1600" spc="-50" dirty="0"/>
              <a:t>과 시간</a:t>
            </a:r>
            <a:r>
              <a:rPr lang="en-US" altLang="ko-KR" sz="1600" spc="-50" dirty="0"/>
              <a:t>(h)</a:t>
            </a:r>
            <a:r>
              <a:rPr lang="ko-KR" altLang="en-US" sz="1600" spc="-50" dirty="0"/>
              <a:t> 부분을 따로 떼어 생각 해보면 아래와 같이 계산이 가능하다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20,000mA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x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3.8V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x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1hour = 76,000mA·V·hour = 76Wh        (</a:t>
            </a:r>
            <a:r>
              <a:rPr lang="en-US" altLang="ko-KR" sz="1600" spc="-50" dirty="0" err="1"/>
              <a:t>mili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1/1000</a:t>
            </a:r>
            <a:r>
              <a:rPr lang="ko-KR" altLang="en-US" sz="1600" spc="-50" dirty="0"/>
              <a:t>을 뜻하고</a:t>
            </a:r>
            <a:r>
              <a:rPr lang="en-US" altLang="ko-KR" sz="1600" spc="-50" dirty="0"/>
              <a:t>, A·V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W</a:t>
            </a:r>
            <a:r>
              <a:rPr lang="ko-KR" altLang="en-US" sz="1600" spc="-50" dirty="0"/>
              <a:t>로 바뀐다</a:t>
            </a:r>
            <a:r>
              <a:rPr lang="en-US" altLang="ko-KR" sz="1600" spc="-50" dirty="0"/>
              <a:t>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 보조배터리가 </a:t>
            </a:r>
            <a:r>
              <a:rPr lang="en-US" altLang="ko-KR" sz="1600" spc="-50" dirty="0"/>
              <a:t>100% </a:t>
            </a:r>
            <a:r>
              <a:rPr lang="ko-KR" altLang="en-US" sz="1600" spc="-50" dirty="0"/>
              <a:t>충전상태라면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나는 </a:t>
            </a:r>
            <a:r>
              <a:rPr lang="en-US" altLang="ko-KR" sz="1600" spc="-50" dirty="0"/>
              <a:t>76Wh</a:t>
            </a:r>
            <a:r>
              <a:rPr lang="ko-KR" altLang="en-US" sz="1600" spc="-50" dirty="0"/>
              <a:t>만큼의 전기에너지를 쓸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앞서 선풍기의 소비전력이 </a:t>
            </a:r>
            <a:r>
              <a:rPr lang="en-US" altLang="ko-KR" sz="1600" spc="-50" dirty="0"/>
              <a:t>50W</a:t>
            </a:r>
            <a:r>
              <a:rPr lang="ko-KR" altLang="en-US" sz="1600" spc="-50" dirty="0"/>
              <a:t>였으므로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미니 보조배터리로 선풍기를 대략 </a:t>
            </a:r>
            <a:r>
              <a:rPr lang="en-US" altLang="ko-KR" sz="1600" spc="-50" dirty="0"/>
              <a:t>91</a:t>
            </a:r>
            <a:r>
              <a:rPr lang="ko-KR" altLang="en-US" sz="1600" spc="-50" dirty="0"/>
              <a:t>분 돌릴 수 있다는 의미다</a:t>
            </a:r>
            <a:r>
              <a:rPr lang="en-US" altLang="ko-KR" sz="1600" spc="-50" dirty="0"/>
              <a:t>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3391507-D714-8422-8FBB-9799709C30B8}"/>
              </a:ext>
            </a:extLst>
          </p:cNvPr>
          <p:cNvSpPr txBox="1"/>
          <p:nvPr/>
        </p:nvSpPr>
        <p:spPr>
          <a:xfrm>
            <a:off x="271857" y="926904"/>
            <a:ext cx="6544177" cy="4140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오른쪽 보조배터리가 갖고 있는 전기에너지의 양은 얼마일까</a:t>
            </a:r>
            <a:r>
              <a:rPr lang="en-US" altLang="ko-KR" sz="1600" spc="-50" dirty="0"/>
              <a:t>?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D4F9CD8-685D-D86A-0E5E-5C8FC1C87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9400" y="906101"/>
            <a:ext cx="2597128" cy="245428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E36B469-D203-C455-D9D6-9DC9FCE2B7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2730" y="807936"/>
            <a:ext cx="1766952" cy="1895199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7641EB84-4281-7B7A-FD94-595E8F0A29EF}"/>
              </a:ext>
            </a:extLst>
          </p:cNvPr>
          <p:cNvSpPr/>
          <p:nvPr/>
        </p:nvSpPr>
        <p:spPr>
          <a:xfrm>
            <a:off x="9119682" y="2331992"/>
            <a:ext cx="1456819" cy="140193"/>
          </a:xfrm>
          <a:prstGeom prst="rect">
            <a:avLst/>
          </a:prstGeom>
          <a:solidFill>
            <a:srgbClr val="FFFF00">
              <a:alpha val="2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CA9AD31-B437-B22F-D2CE-34792A4C9BE4}"/>
              </a:ext>
            </a:extLst>
          </p:cNvPr>
          <p:cNvSpPr/>
          <p:nvPr/>
        </p:nvSpPr>
        <p:spPr>
          <a:xfrm>
            <a:off x="9169400" y="1824720"/>
            <a:ext cx="2597128" cy="259420"/>
          </a:xfrm>
          <a:prstGeom prst="rect">
            <a:avLst/>
          </a:prstGeom>
          <a:solidFill>
            <a:srgbClr val="FFFF00">
              <a:alpha val="2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21529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FF806-B994-CA21-10BB-9BF85DE31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3671B647-8CA3-39F2-13C9-E7585CF6F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8163" y="4015891"/>
            <a:ext cx="1676458" cy="158596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2F0D6CF-0A45-23A4-FBAC-1B5F745AF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에너지 단위 변환 </a:t>
            </a:r>
            <a:r>
              <a:rPr lang="en-US" altLang="ko-KR" dirty="0"/>
              <a:t>(</a:t>
            </a:r>
            <a:r>
              <a:rPr lang="ko-KR" altLang="en-US" dirty="0"/>
              <a:t>미니 선풍기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84598B-A163-B812-DA7A-E609E0B03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ABEEC4-80A7-DEA0-9263-389BA0F83AE1}"/>
              </a:ext>
            </a:extLst>
          </p:cNvPr>
          <p:cNvSpPr txBox="1"/>
          <p:nvPr/>
        </p:nvSpPr>
        <p:spPr>
          <a:xfrm>
            <a:off x="288790" y="958844"/>
            <a:ext cx="11118453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일반 선풍기는 콘센트를 꼽지 않으면 </a:t>
            </a:r>
            <a:r>
              <a:rPr lang="ko-KR" altLang="en-US" sz="1600" spc="-50" dirty="0" err="1"/>
              <a:t>안돌아가는데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미니 선풍기는 콘센트 연결 없이 돌아간다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미니 선풍기 안에 배터리가 들어가 있기 때문에 가능하다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오른쪽 미니 선풍기의 입력 부문을 보면 </a:t>
            </a:r>
            <a:r>
              <a:rPr lang="en-US" altLang="ko-KR" sz="1600" spc="-50" dirty="0"/>
              <a:t>(5V, 2A)</a:t>
            </a:r>
            <a:r>
              <a:rPr lang="ko-KR" altLang="en-US" sz="1600" spc="-50" dirty="0"/>
              <a:t>로 되어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10W</a:t>
            </a:r>
            <a:r>
              <a:rPr lang="ko-KR" altLang="en-US" sz="1600" spc="-50" dirty="0"/>
              <a:t>의 전압으로 미니 선풍기가 충전된다는 의미다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출력 부문을 보면 </a:t>
            </a:r>
            <a:r>
              <a:rPr lang="en-US" altLang="ko-KR" sz="1600" spc="-50" dirty="0"/>
              <a:t>3.7V</a:t>
            </a:r>
            <a:r>
              <a:rPr lang="ko-KR" altLang="en-US" sz="1600" spc="-50" dirty="0"/>
              <a:t>로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표시되어 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전압이 </a:t>
            </a:r>
            <a:r>
              <a:rPr lang="en-US" altLang="ko-KR" sz="1600" spc="-50" dirty="0"/>
              <a:t>5W</a:t>
            </a:r>
            <a:r>
              <a:rPr lang="ko-KR" altLang="en-US" sz="1600" spc="-50" dirty="0"/>
              <a:t>로 되어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역산해보면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대략 </a:t>
            </a:r>
            <a:r>
              <a:rPr lang="en-US" altLang="ko-KR" sz="1600" spc="-50" dirty="0"/>
              <a:t>1.35A </a:t>
            </a:r>
            <a:r>
              <a:rPr lang="ko-KR" altLang="en-US" sz="1600" spc="-50" dirty="0"/>
              <a:t>로 출력될 것임을 유추할 수 있다</a:t>
            </a:r>
            <a:r>
              <a:rPr lang="en-US" altLang="ko-KR" sz="1600" spc="-50" dirty="0"/>
              <a:t>. (W = V x A)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출력부문은 </a:t>
            </a:r>
            <a:r>
              <a:rPr lang="en-US" altLang="ko-KR" sz="1600" spc="-50" dirty="0"/>
              <a:t>(3.7V, 1.35A)</a:t>
            </a:r>
            <a:r>
              <a:rPr lang="ko-KR" altLang="en-US" sz="1600" spc="-50" dirty="0"/>
              <a:t>로서 </a:t>
            </a:r>
            <a:r>
              <a:rPr lang="en-US" altLang="ko-KR" sz="1600" spc="-50" dirty="0"/>
              <a:t>5W</a:t>
            </a:r>
            <a:r>
              <a:rPr lang="ko-KR" altLang="en-US" sz="1600" spc="-50" dirty="0"/>
              <a:t>의 전압으로 전기에너지를 소비한다는 의미다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1</a:t>
            </a:r>
            <a:r>
              <a:rPr lang="ko-KR" altLang="en-US" sz="1600" spc="-50" dirty="0"/>
              <a:t>시간 동안 사용하면 </a:t>
            </a:r>
            <a:r>
              <a:rPr lang="en-US" altLang="ko-KR" sz="1600" spc="-50" dirty="0"/>
              <a:t>5Wh</a:t>
            </a:r>
            <a:r>
              <a:rPr lang="ko-KR" altLang="en-US" sz="1600" spc="-50" dirty="0"/>
              <a:t>의 전기에너지를 소비하게 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배터리용량은 </a:t>
            </a:r>
            <a:r>
              <a:rPr lang="en-US" altLang="ko-KR" sz="1600" spc="-50" dirty="0"/>
              <a:t>4.5Ah (=4,500mAh) </a:t>
            </a:r>
            <a:r>
              <a:rPr lang="ko-KR" altLang="en-US" sz="1600" spc="-50" dirty="0"/>
              <a:t>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정격전압이 </a:t>
            </a:r>
            <a:r>
              <a:rPr lang="en-US" altLang="ko-KR" sz="1600" spc="-50" dirty="0"/>
              <a:t>3.7V 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보조배터리가 </a:t>
            </a:r>
            <a:r>
              <a:rPr lang="en-US" altLang="ko-KR" sz="1600" spc="-50" dirty="0"/>
              <a:t>100% </a:t>
            </a:r>
            <a:r>
              <a:rPr lang="ko-KR" altLang="en-US" sz="1600" spc="-50" dirty="0"/>
              <a:t>충전상태라면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16.65Wh (= 4.5Ah x 3.7V) </a:t>
            </a:r>
            <a:r>
              <a:rPr lang="ko-KR" altLang="en-US" sz="1600" spc="-50" dirty="0"/>
              <a:t>만큼의 전기에너지를 쓸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10W</a:t>
            </a:r>
            <a:r>
              <a:rPr lang="ko-KR" altLang="en-US" sz="1600" spc="-50" dirty="0"/>
              <a:t>의 전압으로 충전하므로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선풍기가 </a:t>
            </a:r>
            <a:r>
              <a:rPr lang="en-US" altLang="ko-KR" sz="1600" spc="-50" dirty="0"/>
              <a:t>0%</a:t>
            </a:r>
            <a:r>
              <a:rPr lang="ko-KR" altLang="en-US" sz="1600" spc="-50" dirty="0"/>
              <a:t>에서 </a:t>
            </a:r>
            <a:r>
              <a:rPr lang="en-US" altLang="ko-KR" sz="1600" spc="-50" dirty="0"/>
              <a:t>100%</a:t>
            </a:r>
            <a:r>
              <a:rPr lang="ko-KR" altLang="en-US" sz="1600" spc="-50" dirty="0"/>
              <a:t>까지 충전되는데 </a:t>
            </a:r>
            <a:r>
              <a:rPr lang="en-US" altLang="ko-KR" sz="1600" spc="-50" dirty="0"/>
              <a:t>1.65</a:t>
            </a:r>
            <a:r>
              <a:rPr lang="ko-KR" altLang="en-US" sz="1600" spc="-50" dirty="0"/>
              <a:t>시간</a:t>
            </a:r>
            <a:r>
              <a:rPr lang="en-US" altLang="ko-KR" sz="1600" spc="-50" dirty="0"/>
              <a:t>(99</a:t>
            </a:r>
            <a:r>
              <a:rPr lang="ko-KR" altLang="en-US" sz="1600" spc="-50" dirty="0"/>
              <a:t>분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소요된다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5W</a:t>
            </a:r>
            <a:r>
              <a:rPr lang="ko-KR" altLang="en-US" sz="1600" spc="-50" dirty="0"/>
              <a:t>의 전압으로 전기를 소비하므로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선풍기는 </a:t>
            </a:r>
            <a:r>
              <a:rPr lang="en-US" altLang="ko-KR" sz="1600" spc="-50" dirty="0"/>
              <a:t>3.3</a:t>
            </a:r>
            <a:r>
              <a:rPr lang="ko-KR" altLang="en-US" sz="1600" spc="-50" dirty="0"/>
              <a:t>시간 </a:t>
            </a:r>
            <a:r>
              <a:rPr lang="en-US" altLang="ko-KR" sz="1600" spc="-50" dirty="0"/>
              <a:t>(200</a:t>
            </a:r>
            <a:r>
              <a:rPr lang="ko-KR" altLang="en-US" sz="1600" spc="-50" dirty="0"/>
              <a:t>분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동안 쓸 수 있다</a:t>
            </a:r>
            <a:r>
              <a:rPr lang="en-US" altLang="ko-KR" sz="1600" spc="-50" dirty="0"/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45B046-4342-D746-0677-B8D162310D05}"/>
              </a:ext>
            </a:extLst>
          </p:cNvPr>
          <p:cNvSpPr txBox="1"/>
          <p:nvPr/>
        </p:nvSpPr>
        <p:spPr>
          <a:xfrm>
            <a:off x="9828090" y="5574453"/>
            <a:ext cx="2016604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700" dirty="0"/>
              <a:t>https://www.coupang.com/vp/products/8690517296?itemId=25231486136&amp;vendorItemId=92227684957&amp;sourceType=srp_product_ads&amp;clickEventId=81b0fc80-74f7-11f1-a7e4-fb540a9a1516&amp;korePlacement=15&amp;koreSubPlacement=1&amp;clickEventId=81b0fc80-74f7-11f1-a7e4-fb540a9a1516&amp;korePlacement=15&amp;koreSubPlacement=1&amp;traceId=mr1h97vj</a:t>
            </a:r>
            <a:endParaRPr lang="ko-KR" altLang="en-US" sz="7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58357DA-9172-B062-6020-75B010DE807A}"/>
              </a:ext>
            </a:extLst>
          </p:cNvPr>
          <p:cNvSpPr/>
          <p:nvPr/>
        </p:nvSpPr>
        <p:spPr>
          <a:xfrm>
            <a:off x="9998163" y="4884000"/>
            <a:ext cx="1409080" cy="732512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50F3D275-F4B3-0464-9312-56860D6162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6278" y="1795282"/>
            <a:ext cx="1400227" cy="2124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2073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C162E-3D87-126C-DB34-FEDD71C97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075777-CEFF-C33F-5235-8917CB340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에너지 단위 변환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AB7ABD-DD56-FC7C-E177-92FD45082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57D904-41AE-FF64-2DDD-5EBEF04821FD}"/>
              </a:ext>
            </a:extLst>
          </p:cNvPr>
          <p:cNvSpPr txBox="1"/>
          <p:nvPr/>
        </p:nvSpPr>
        <p:spPr>
          <a:xfrm>
            <a:off x="288790" y="958844"/>
            <a:ext cx="11118453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종합해보면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아래와 같다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100% </a:t>
            </a:r>
            <a:r>
              <a:rPr lang="ko-KR" altLang="en-US" sz="1600" spc="-50" dirty="0"/>
              <a:t>충전된 보조배터리로 </a:t>
            </a:r>
            <a:r>
              <a:rPr lang="ko-KR" altLang="en-US" sz="1600" spc="-50" dirty="0" err="1"/>
              <a:t>미니선풍기를</a:t>
            </a:r>
            <a:r>
              <a:rPr lang="ko-KR" altLang="en-US" sz="1600" spc="-50" dirty="0"/>
              <a:t> 충전하면 아래와 같은 상황이 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보조배터리는 </a:t>
            </a:r>
            <a:r>
              <a:rPr lang="en-US" altLang="ko-KR" sz="1600" spc="-50" dirty="0"/>
              <a:t>76Wh</a:t>
            </a:r>
            <a:r>
              <a:rPr lang="ko-KR" altLang="en-US" sz="1600" spc="-50" dirty="0"/>
              <a:t>의 전기에너지를 갖고 있으므로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미니 선풍기를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번 완충시키고도</a:t>
            </a:r>
            <a:r>
              <a:rPr lang="en-US" altLang="ko-KR" sz="1600" spc="-50" dirty="0"/>
              <a:t>, 59.35Wh</a:t>
            </a:r>
            <a:r>
              <a:rPr lang="ko-KR" altLang="en-US" sz="1600" spc="-50" dirty="0"/>
              <a:t>가 남는다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미니 보조배터리는 </a:t>
            </a:r>
            <a:r>
              <a:rPr lang="en-US" altLang="ko-KR" sz="1600" spc="-50" dirty="0"/>
              <a:t>18.5Wh</a:t>
            </a:r>
            <a:r>
              <a:rPr lang="ko-KR" altLang="en-US" sz="1600" spc="-50" dirty="0"/>
              <a:t>의 전기에너지를 갖고 있으므로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미니 선풍기를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번 충전시키면</a:t>
            </a:r>
            <a:r>
              <a:rPr lang="en-US" altLang="ko-KR" sz="1600" spc="-50" dirty="0"/>
              <a:t>, 1.85Wh</a:t>
            </a:r>
            <a:r>
              <a:rPr lang="ko-KR" altLang="en-US" sz="1600" spc="-50" dirty="0"/>
              <a:t>만 남는다</a:t>
            </a:r>
            <a:r>
              <a:rPr lang="en-US" altLang="ko-KR" sz="1600" spc="-50" dirty="0"/>
              <a:t>.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3147970-1BC9-69E9-4D42-38E625BC73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869696"/>
              </p:ext>
            </p:extLst>
          </p:nvPr>
        </p:nvGraphicFramePr>
        <p:xfrm>
          <a:off x="6452245" y="2498450"/>
          <a:ext cx="4279255" cy="15827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14458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1196975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  <a:gridCol w="1367822">
                  <a:extLst>
                    <a:ext uri="{9D8B030D-6E8A-4147-A177-3AD203B41FA5}">
                      <a16:colId xmlns:a16="http://schemas.microsoft.com/office/drawing/2014/main" val="1056637573"/>
                    </a:ext>
                  </a:extLst>
                </a:gridCol>
              </a:tblGrid>
              <a:tr h="15862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스펙</a:t>
                      </a:r>
                      <a:endParaRPr lang="en-US" altLang="ko-KR" sz="12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보조배터리</a:t>
                      </a:r>
                      <a:endParaRPr lang="en-US" altLang="ko-KR" sz="12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미니 보조배터리</a:t>
                      </a:r>
                      <a:endParaRPr lang="en-US" altLang="ko-KR" sz="12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450559">
                <a:tc>
                  <a:txBody>
                    <a:bodyPr/>
                    <a:lstStyle/>
                    <a:p>
                      <a:pPr marL="0" marR="0" lvl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방전속도</a:t>
                      </a:r>
                      <a:endParaRPr lang="en-US" altLang="ko-KR" sz="12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kern="0" spc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보조배터리→핸드폰</a:t>
                      </a:r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12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15W ~ 65W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15W ~ 20W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450559">
                <a:tc>
                  <a:txBody>
                    <a:bodyPr/>
                    <a:lstStyle/>
                    <a:p>
                      <a:pPr marL="0" marR="0" lvl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충전속도</a:t>
                      </a:r>
                      <a:endParaRPr lang="en-US" altLang="ko-KR" sz="12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kern="0" spc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콘센트→보조배터리</a:t>
                      </a:r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15W ~ 40W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15W ~ 18W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45055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배터리 용량</a:t>
                      </a:r>
                      <a:endParaRPr lang="en-US" sz="12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76Wh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18.5Wh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</a:tbl>
          </a:graphicData>
        </a:graphic>
      </p:graphicFrame>
      <p:pic>
        <p:nvPicPr>
          <p:cNvPr id="12" name="그림 11">
            <a:extLst>
              <a:ext uri="{FF2B5EF4-FFF2-40B4-BE49-F238E27FC236}">
                <a16:creationId xmlns:a16="http://schemas.microsoft.com/office/drawing/2014/main" id="{8D66117D-A561-F3BE-ED75-F9AC98139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6628" y="1791229"/>
            <a:ext cx="632147" cy="55003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90E2770-69B2-9663-29AE-35265C7A9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1872" y="1640833"/>
            <a:ext cx="661849" cy="709887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17FAE7A8-5C4F-2317-9759-5153F9076B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3844" y="1493576"/>
            <a:ext cx="518276" cy="880918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D2B6B473-3AB5-9AE3-8896-9FFC9179F7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4356" y="1720762"/>
            <a:ext cx="362520" cy="550030"/>
          </a:xfrm>
          <a:prstGeom prst="rect">
            <a:avLst/>
          </a:prstGeom>
        </p:spPr>
      </p:pic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2EFC5AA6-6F27-4240-88A8-78B4832BBB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1470672"/>
              </p:ext>
            </p:extLst>
          </p:nvPr>
        </p:nvGraphicFramePr>
        <p:xfrm>
          <a:off x="983403" y="2499503"/>
          <a:ext cx="4386625" cy="15827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687599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1349513">
                  <a:extLst>
                    <a:ext uri="{9D8B030D-6E8A-4147-A177-3AD203B41FA5}">
                      <a16:colId xmlns:a16="http://schemas.microsoft.com/office/drawing/2014/main" val="2699398209"/>
                    </a:ext>
                  </a:extLst>
                </a:gridCol>
                <a:gridCol w="1349513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15862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스펙</a:t>
                      </a:r>
                      <a:endParaRPr lang="en-US" altLang="ko-KR" sz="12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선풍기</a:t>
                      </a:r>
                      <a:endParaRPr lang="en-US" altLang="ko-KR" sz="12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미니선풍기</a:t>
                      </a:r>
                      <a:endParaRPr lang="en-US" altLang="ko-KR" sz="12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450559">
                <a:tc>
                  <a:txBody>
                    <a:bodyPr/>
                    <a:lstStyle/>
                    <a:p>
                      <a:pPr marL="0" marR="0" lvl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충전속도</a:t>
                      </a:r>
                      <a:endParaRPr lang="en-US" altLang="ko-KR" sz="12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kern="0" spc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콘센트→미니선풍기</a:t>
                      </a:r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12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15W ~ 65W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450559">
                <a:tc>
                  <a:txBody>
                    <a:bodyPr/>
                    <a:lstStyle/>
                    <a:p>
                      <a:pPr marL="0" marR="0" lvl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소비전력</a:t>
                      </a:r>
                      <a:endParaRPr lang="en-US" altLang="ko-KR" sz="12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50W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5W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3722784"/>
                  </a:ext>
                </a:extLst>
              </a:tr>
              <a:tr h="450559">
                <a:tc>
                  <a:txBody>
                    <a:bodyPr/>
                    <a:lstStyle/>
                    <a:p>
                      <a:pPr marL="0" marR="0" lvl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배터리 용량</a:t>
                      </a:r>
                      <a:endParaRPr lang="en-US" altLang="ko-KR" sz="12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16.65Wh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57005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42240-BED8-8FB0-93EC-5D1F2454E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C12E416-6B4E-36AA-DB12-445C6E0845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A39C78-1CC0-14B4-52FC-33A7A144D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D8B9C063-DD5C-2BB0-B339-EBD9A0284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2. </a:t>
            </a:r>
            <a:r>
              <a:rPr lang="ko-KR" altLang="en-US" sz="4000" b="1" i="0" spc="150" dirty="0"/>
              <a:t>우리집 전기요금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7093127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801E7-3E78-2723-A42D-D0835F338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DF6BCE-7739-C666-5FB0-1C0FE01D3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우리집 전기요금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C03D07-D125-EBBE-3052-12667E181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20A23A-75FA-F189-CB98-1454ACDAC535}"/>
              </a:ext>
            </a:extLst>
          </p:cNvPr>
          <p:cNvSpPr txBox="1"/>
          <p:nvPr/>
        </p:nvSpPr>
        <p:spPr>
          <a:xfrm>
            <a:off x="288789" y="958844"/>
            <a:ext cx="8144011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전기사용량에 근거하여 전기요금을 직접 계산 해보자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한전 홈페이지에 들어가서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계약자명으로 로그인을 하면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우리 집의 전기요금 상세 내역을 조회할 수 있다</a:t>
            </a:r>
            <a:r>
              <a:rPr lang="en-US" altLang="ko-KR" sz="1600" spc="-50" dirty="0"/>
              <a:t>.    </a:t>
            </a:r>
            <a:r>
              <a:rPr lang="en-US" altLang="ko-KR" sz="1600" spc="-50" dirty="0">
                <a:hlinkClick r:id="rId2"/>
              </a:rPr>
              <a:t>https://online.kepco.co.kr/MYM043D00</a:t>
            </a:r>
            <a:r>
              <a:rPr lang="en-US" altLang="ko-KR" sz="1600" spc="-50" dirty="0"/>
              <a:t>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2AA7D8B-09E6-6308-EA7C-9F03A90890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2505" y="2289875"/>
            <a:ext cx="4122192" cy="1118791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91055545-06E9-4D1A-3E59-7BDE7D04E1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1671" y="3429000"/>
            <a:ext cx="2863997" cy="533427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31C67EB6-38C4-F1B2-ED4F-34CCF5874C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3229" y="4147564"/>
            <a:ext cx="1303531" cy="224180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650C9643-0B43-24A0-BBD6-0E7E916B6E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6155" y="4122164"/>
            <a:ext cx="1426614" cy="2305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0899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C3A48-2A03-DE37-4EF7-450DA7707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6AD53C-A744-7D66-1AFA-2A01B93B0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우리집 전기요금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E56235-6140-5D8E-1B20-10A655CF0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694B23-26BF-505A-B95D-777FCA550546}"/>
              </a:ext>
            </a:extLst>
          </p:cNvPr>
          <p:cNvSpPr txBox="1"/>
          <p:nvPr/>
        </p:nvSpPr>
        <p:spPr>
          <a:xfrm>
            <a:off x="288790" y="958844"/>
            <a:ext cx="8027254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실제 어느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인 가구의 </a:t>
            </a:r>
            <a:r>
              <a:rPr lang="en-US" altLang="ko-KR" sz="1600" spc="-50" dirty="0"/>
              <a:t>2026</a:t>
            </a:r>
            <a:r>
              <a:rPr lang="ko-KR" altLang="en-US" sz="1600" spc="-50" dirty="0"/>
              <a:t>년 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월 한달간 전기사용 내역이다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집의 계량기는 전기소비량이 누적해서 올라가기 때문에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매월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일을 기준으로 검침을 해서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뺀 만큼을 해당 월의 전기소비량을 계산한다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검침일은 집마다 다를 수 있음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3</a:t>
            </a:r>
            <a:r>
              <a:rPr lang="ko-KR" altLang="en-US" sz="1600" spc="-50" dirty="0"/>
              <a:t>월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일 전기계량기</a:t>
            </a:r>
            <a:r>
              <a:rPr lang="en-US" altLang="ko-KR" sz="1600" spc="-50" dirty="0"/>
              <a:t>: 17,432 kWh (</a:t>
            </a:r>
            <a:r>
              <a:rPr lang="ko-KR" altLang="en-US" sz="1600" spc="-50" dirty="0"/>
              <a:t>전월지침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4</a:t>
            </a:r>
            <a:r>
              <a:rPr lang="ko-KR" altLang="en-US" sz="1600" spc="-50" dirty="0"/>
              <a:t>월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일 전기계량기</a:t>
            </a:r>
            <a:r>
              <a:rPr lang="en-US" altLang="ko-KR" sz="1600" spc="-50" dirty="0"/>
              <a:t>: 17,584 kWh (</a:t>
            </a:r>
            <a:r>
              <a:rPr lang="ko-KR" altLang="en-US" sz="1600" spc="-50" dirty="0"/>
              <a:t>당월지침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3</a:t>
            </a:r>
            <a:r>
              <a:rPr lang="ko-KR" altLang="en-US" sz="1600" spc="-50" dirty="0"/>
              <a:t>월 세대사용량</a:t>
            </a:r>
            <a:r>
              <a:rPr lang="en-US" altLang="ko-KR" sz="1600" spc="-50" dirty="0"/>
              <a:t>: 152 kWh (</a:t>
            </a:r>
            <a:r>
              <a:rPr lang="ko-KR" altLang="en-US" sz="1600" spc="-50" dirty="0"/>
              <a:t>세대사용량</a:t>
            </a:r>
            <a:r>
              <a:rPr lang="en-US" altLang="ko-KR" sz="1600" spc="-50" dirty="0"/>
              <a:t>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17,584 – 17,432 = 152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공용 사용량</a:t>
            </a:r>
            <a:r>
              <a:rPr lang="en-US" altLang="ko-KR" sz="1600" spc="-50" dirty="0"/>
              <a:t>: 62 kWh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엘리베이터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지하주차장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조명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복도 조명 등 아파트 단지 내 공동시설 전기 사용량을 세대별로 나누어 부담하는 것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종합해보면 이 가구의 </a:t>
            </a:r>
            <a:r>
              <a:rPr lang="en-US" altLang="ko-KR" sz="1600" spc="-50" dirty="0"/>
              <a:t>8</a:t>
            </a:r>
            <a:r>
              <a:rPr lang="ko-KR" altLang="en-US" sz="1600" spc="-50" dirty="0"/>
              <a:t>월 한달간 사용량</a:t>
            </a:r>
            <a:r>
              <a:rPr lang="en-US" altLang="ko-KR" sz="1600" spc="-50" dirty="0"/>
              <a:t>: 214 kWh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(=152 kWh + 62 kWh)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전월 사용량과 전년동월 사용량은 단순 참고용이다</a:t>
            </a:r>
            <a:r>
              <a:rPr lang="en-US" altLang="ko-KR" sz="1600" spc="-50" dirty="0"/>
              <a:t>. (</a:t>
            </a:r>
            <a:r>
              <a:rPr lang="ko-KR" altLang="en-US" sz="1600" spc="-50" dirty="0" err="1"/>
              <a:t>이번달</a:t>
            </a:r>
            <a:r>
              <a:rPr lang="ko-KR" altLang="en-US" sz="1600" spc="-50" dirty="0"/>
              <a:t> 전기요금과는 무관하다</a:t>
            </a:r>
            <a:r>
              <a:rPr lang="en-US" altLang="ko-KR" sz="1600" spc="-50" dirty="0"/>
              <a:t>.)</a:t>
            </a:r>
            <a:r>
              <a:rPr lang="ko-KR" altLang="en-US" sz="1600" spc="-50" dirty="0"/>
              <a:t> 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지난 달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월의 전기사용량은 </a:t>
            </a:r>
            <a:r>
              <a:rPr lang="en-US" altLang="ko-KR" sz="1600" spc="-50" dirty="0"/>
              <a:t>207 kWh (</a:t>
            </a:r>
            <a:r>
              <a:rPr lang="ko-KR" altLang="en-US" sz="1600" spc="-50" dirty="0"/>
              <a:t>전월 사용량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작년 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월의 전기사용량은 </a:t>
            </a:r>
            <a:r>
              <a:rPr lang="en-US" altLang="ko-KR" sz="1600" spc="-50" dirty="0"/>
              <a:t>244 kWh (</a:t>
            </a:r>
            <a:r>
              <a:rPr lang="ko-KR" altLang="en-US" sz="1600" spc="-50" dirty="0"/>
              <a:t>전년동월 사용량</a:t>
            </a:r>
            <a:r>
              <a:rPr lang="en-US" altLang="ko-KR" sz="1600" spc="-50" dirty="0"/>
              <a:t>)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6D77212-2BAA-619B-B054-37497C16F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6044" y="1167095"/>
            <a:ext cx="2696692" cy="4637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3620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4D992-D509-61E8-7026-B83F7FDD7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CC96A6-5ABB-BA3A-EA16-515932353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우리집 전기요금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AABA70-6268-414C-5999-572F86FD8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24</a:t>
            </a:fld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87CDDA9-2BB4-1077-0537-242315D38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4807" y="1255702"/>
            <a:ext cx="2689760" cy="434659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59C6604-D139-D649-5F0B-94F2258D24CF}"/>
              </a:ext>
            </a:extLst>
          </p:cNvPr>
          <p:cNvSpPr txBox="1"/>
          <p:nvPr/>
        </p:nvSpPr>
        <p:spPr>
          <a:xfrm>
            <a:off x="288789" y="958844"/>
            <a:ext cx="8516017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살펴 본 가구의 전기요금 세부내역이다</a:t>
            </a:r>
            <a:r>
              <a:rPr lang="en-US" altLang="ko-KR" sz="1600" spc="-50" dirty="0"/>
              <a:t>. (2026</a:t>
            </a:r>
            <a:r>
              <a:rPr lang="ko-KR" altLang="en-US" sz="1600" spc="-50" dirty="0"/>
              <a:t>년 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월분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기본요금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전력 공급을 위한 기본 유지 비용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전력 설비 유지 관리 등</a:t>
            </a:r>
            <a:r>
              <a:rPr lang="en-US" altLang="ko-KR" sz="1600" spc="-50" dirty="0"/>
              <a:t>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전기 사용량 구간에 따라 고정요금으로 부과된다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전력량요금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실제 사용한 전기에너지 생산 및 공급에 소요되는 비용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실제로 사용한 전력량</a:t>
            </a:r>
            <a:r>
              <a:rPr lang="en-US" altLang="ko-KR" sz="1600" spc="-50" dirty="0"/>
              <a:t>(kWh)</a:t>
            </a:r>
            <a:r>
              <a:rPr lang="ko-KR" altLang="en-US" sz="1600" spc="-50" dirty="0"/>
              <a:t>에 대해 요금이 부과된다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기후환경요금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깨끗하고 안전한 에너지 제공에 소요되는 비용</a:t>
            </a:r>
            <a:r>
              <a:rPr lang="en-US" altLang="ko-KR" sz="1600" spc="-50" dirty="0"/>
              <a:t> (</a:t>
            </a:r>
            <a:r>
              <a:rPr lang="ko-KR" altLang="en-US" sz="1600" spc="-50" dirty="0"/>
              <a:t>석탄발전 감축비용 등</a:t>
            </a:r>
            <a:r>
              <a:rPr lang="en-US" altLang="ko-KR" sz="1600" spc="-50" dirty="0"/>
              <a:t>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기후환경요금 </a:t>
            </a:r>
            <a:r>
              <a:rPr lang="en-US" altLang="ko-KR" sz="1600" spc="-50" dirty="0"/>
              <a:t>= </a:t>
            </a:r>
            <a:r>
              <a:rPr lang="ko-KR" altLang="en-US" sz="1600" spc="-50" dirty="0"/>
              <a:t>기후환경요금 단가 </a:t>
            </a:r>
            <a:r>
              <a:rPr lang="en-US" altLang="ko-KR" sz="1600" spc="-50" dirty="0"/>
              <a:t>x </a:t>
            </a:r>
            <a:r>
              <a:rPr lang="ko-KR" altLang="en-US" sz="1600" spc="-50" dirty="0" err="1"/>
              <a:t>사용전력량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기후환경요금 단가는 매년 변동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연료비조정요금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연료비 </a:t>
            </a:r>
            <a:r>
              <a:rPr lang="ko-KR" altLang="en-US" sz="1600" spc="-50" dirty="0" err="1"/>
              <a:t>변동분</a:t>
            </a:r>
            <a:r>
              <a:rPr lang="en-US" altLang="ko-KR" sz="1600" spc="-50" dirty="0"/>
              <a:t> (</a:t>
            </a:r>
            <a:r>
              <a:rPr lang="ko-KR" altLang="en-US" sz="1600" spc="-50" dirty="0"/>
              <a:t>석탄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천연가스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유류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을 반영하는 요금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연료비조정요금 </a:t>
            </a:r>
            <a:r>
              <a:rPr lang="en-US" altLang="ko-KR" sz="1600" spc="-50" dirty="0"/>
              <a:t>= </a:t>
            </a:r>
            <a:r>
              <a:rPr lang="ko-KR" altLang="en-US" sz="1600" spc="-50" dirty="0"/>
              <a:t>연료비조정단가 </a:t>
            </a:r>
            <a:r>
              <a:rPr lang="en-US" altLang="ko-KR" sz="1600" spc="-50" dirty="0"/>
              <a:t>x </a:t>
            </a:r>
            <a:r>
              <a:rPr lang="ko-KR" altLang="en-US" sz="1600" spc="-50" dirty="0" err="1"/>
              <a:t>사용전력량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연료비조정 단가는 매분기 변동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최종 청구금액은 전기요금 </a:t>
            </a:r>
            <a:r>
              <a:rPr lang="en-US" altLang="ko-KR" sz="1600" spc="-50" dirty="0"/>
              <a:t>+ </a:t>
            </a:r>
            <a:r>
              <a:rPr lang="ko-KR" altLang="en-US" sz="1600" spc="-50" dirty="0"/>
              <a:t>부가가치세 </a:t>
            </a:r>
            <a:r>
              <a:rPr lang="en-US" altLang="ko-KR" sz="1600" spc="-50" dirty="0"/>
              <a:t>+ </a:t>
            </a:r>
            <a:r>
              <a:rPr lang="ko-KR" altLang="en-US" sz="1600" spc="-50" dirty="0"/>
              <a:t>전력기금이다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부가가치세는 전기요금의 </a:t>
            </a:r>
            <a:r>
              <a:rPr lang="en-US" altLang="ko-KR" sz="1600" spc="-50" dirty="0"/>
              <a:t>10%  (27,692 x 0.1)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전력기금은 전기요금의 </a:t>
            </a:r>
            <a:r>
              <a:rPr lang="en-US" altLang="ko-KR" sz="1600" spc="-50" dirty="0"/>
              <a:t>2.7%    (27,692 x 0.027)</a:t>
            </a:r>
          </a:p>
        </p:txBody>
      </p:sp>
    </p:spTree>
    <p:extLst>
      <p:ext uri="{BB962C8B-B14F-4D97-AF65-F5344CB8AC3E}">
        <p14:creationId xmlns:p14="http://schemas.microsoft.com/office/powerpoint/2010/main" val="31570073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0C0FE-A2B2-B1BF-5332-525CFEA23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21187D-404A-5227-78F6-39FB29CBE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우리집 전기요금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37FF17-5BB2-6152-1333-49DCA3DD5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0E6D8D-091B-9B53-8FEE-DF91F55E9A95}"/>
              </a:ext>
            </a:extLst>
          </p:cNvPr>
          <p:cNvSpPr txBox="1"/>
          <p:nvPr/>
        </p:nvSpPr>
        <p:spPr>
          <a:xfrm>
            <a:off x="288790" y="958844"/>
            <a:ext cx="11118453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전기요금은 용도별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전압별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계절별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시간대별로 다르다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용도는 주택용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일반용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산업용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교육용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농사용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가로등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심야전력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기타요금</a:t>
            </a:r>
            <a:r>
              <a:rPr lang="en-US" altLang="ko-KR" sz="1600" spc="-50" dirty="0"/>
              <a:t> (</a:t>
            </a:r>
            <a:r>
              <a:rPr lang="ko-KR" altLang="en-US" sz="1600" spc="-50" dirty="0"/>
              <a:t>전기차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등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으로 나뉜다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전압은 저압</a:t>
            </a:r>
            <a:r>
              <a:rPr lang="en-US" altLang="ko-KR" sz="1600" spc="-50" dirty="0"/>
              <a:t>(110V~380V), </a:t>
            </a:r>
            <a:r>
              <a:rPr lang="ko-KR" altLang="en-US" sz="1600" spc="-50" dirty="0"/>
              <a:t>고압</a:t>
            </a:r>
            <a:r>
              <a:rPr lang="en-US" altLang="ko-KR" sz="1600" spc="-50" dirty="0"/>
              <a:t>A(3,300~66,000V), </a:t>
            </a:r>
            <a:r>
              <a:rPr lang="ko-KR" altLang="en-US" sz="1600" spc="-50" dirty="0"/>
              <a:t>고압</a:t>
            </a:r>
            <a:r>
              <a:rPr lang="en-US" altLang="ko-KR" sz="1600" spc="-50" dirty="0"/>
              <a:t>B(154,000V), </a:t>
            </a:r>
            <a:r>
              <a:rPr lang="ko-KR" altLang="en-US" sz="1600" spc="-50" dirty="0"/>
              <a:t>고압</a:t>
            </a:r>
            <a:r>
              <a:rPr lang="en-US" altLang="ko-KR" sz="1600" spc="-50" dirty="0"/>
              <a:t>C(345,000V </a:t>
            </a:r>
            <a:r>
              <a:rPr lang="ko-KR" altLang="en-US" sz="1600" spc="-50" dirty="0"/>
              <a:t>이상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로 나뉜다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계절은 여름</a:t>
            </a:r>
            <a:r>
              <a:rPr lang="en-US" altLang="ko-KR" sz="1600" spc="-50" dirty="0"/>
              <a:t>(6~8</a:t>
            </a:r>
            <a:r>
              <a:rPr lang="ko-KR" altLang="en-US" sz="1600" spc="-50" dirty="0"/>
              <a:t>월</a:t>
            </a:r>
            <a:r>
              <a:rPr lang="en-US" altLang="ko-KR" sz="1600" spc="-50" dirty="0"/>
              <a:t>), </a:t>
            </a:r>
            <a:r>
              <a:rPr lang="ko-KR" altLang="en-US" sz="1600" spc="-50" dirty="0"/>
              <a:t>봄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가을</a:t>
            </a:r>
            <a:r>
              <a:rPr lang="en-US" altLang="ko-KR" sz="1600" spc="-50" dirty="0"/>
              <a:t>(3~5</a:t>
            </a:r>
            <a:r>
              <a:rPr lang="ko-KR" altLang="en-US" sz="1600" spc="-50" dirty="0"/>
              <a:t>월</a:t>
            </a:r>
            <a:r>
              <a:rPr lang="en-US" altLang="ko-KR" sz="1600" spc="-50" dirty="0"/>
              <a:t>, 9~10</a:t>
            </a:r>
            <a:r>
              <a:rPr lang="ko-KR" altLang="en-US" sz="1600" spc="-50" dirty="0"/>
              <a:t>월</a:t>
            </a:r>
            <a:r>
              <a:rPr lang="en-US" altLang="ko-KR" sz="1600" spc="-50" dirty="0"/>
              <a:t>), </a:t>
            </a:r>
            <a:r>
              <a:rPr lang="ko-KR" altLang="en-US" sz="1600" spc="-50" dirty="0"/>
              <a:t>겨울철</a:t>
            </a:r>
            <a:r>
              <a:rPr lang="en-US" altLang="ko-KR" sz="1600" spc="-50" dirty="0"/>
              <a:t>(11~2</a:t>
            </a:r>
            <a:r>
              <a:rPr lang="ko-KR" altLang="en-US" sz="1600" spc="-50" dirty="0"/>
              <a:t>월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로 나뉜다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시간은 </a:t>
            </a:r>
            <a:r>
              <a:rPr lang="ko-KR" altLang="en-US" sz="1600" spc="-50" dirty="0" err="1"/>
              <a:t>경부하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중간부하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최대부하 로 나뉜다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아래와 같이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계절별로 시간대 구분이 다르다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현재 한전에서 제공하는 대략 </a:t>
            </a:r>
            <a:r>
              <a:rPr lang="en-US" altLang="ko-KR" sz="1600" spc="-50" dirty="0"/>
              <a:t>70</a:t>
            </a:r>
            <a:r>
              <a:rPr lang="ko-KR" altLang="en-US" sz="1600" spc="-50" dirty="0"/>
              <a:t>여개의 계약종은 용도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전압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계절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시간 조건의 여러 조합으로 구성된다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56CB411-CBD9-1978-809A-7265D945D4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284" y="2938670"/>
            <a:ext cx="4298873" cy="1564194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446593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EA389-B420-2BA0-B81F-8FA22B51F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8972C80-701C-65F1-CC5D-2A56DF58E4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5672087"/>
              </p:ext>
            </p:extLst>
          </p:nvPr>
        </p:nvGraphicFramePr>
        <p:xfrm>
          <a:off x="8971332" y="897437"/>
          <a:ext cx="2595828" cy="563947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595828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</a:tblGrid>
              <a:tr h="563947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4857FB26-5818-4997-FB93-A77A09134A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5672087"/>
              </p:ext>
            </p:extLst>
          </p:nvPr>
        </p:nvGraphicFramePr>
        <p:xfrm>
          <a:off x="6192572" y="897437"/>
          <a:ext cx="2595828" cy="563947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595828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</a:tblGrid>
              <a:tr h="563947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</a:tbl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D43B3A88-568D-BCB6-2D88-CBA389407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주택용</a:t>
            </a:r>
            <a:r>
              <a:rPr lang="en-US" altLang="ko-KR" dirty="0"/>
              <a:t>, </a:t>
            </a:r>
            <a:r>
              <a:rPr lang="ko-KR" altLang="en-US" dirty="0"/>
              <a:t>교육용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4773B6-A193-E145-B1FA-91304A6FC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BC258B-C744-2A0B-9614-F23A78743DF2}"/>
              </a:ext>
            </a:extLst>
          </p:cNvPr>
          <p:cNvSpPr txBox="1"/>
          <p:nvPr/>
        </p:nvSpPr>
        <p:spPr>
          <a:xfrm>
            <a:off x="288790" y="958844"/>
            <a:ext cx="5710639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주택용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가정집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아파트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빌라 등 사람이 거주하는 곳에서 사용하는 전기 요금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기본요금이 각 호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집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별로 다르다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기본요금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전력량요금이 사용한 전력량의 구간에 따라 다르다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교육용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학교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유치원 등 교육시설에서 사용하는 전기 요금</a:t>
            </a:r>
            <a:endParaRPr lang="en-US" altLang="ko-KR" sz="1600" spc="-50" dirty="0"/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기본요금이 계약전력</a:t>
            </a:r>
            <a:r>
              <a:rPr lang="en-US" altLang="ko-KR" sz="1600" spc="-50" dirty="0"/>
              <a:t>(kW)</a:t>
            </a:r>
            <a:r>
              <a:rPr lang="ko-KR" altLang="en-US" sz="1600" spc="-50" dirty="0"/>
              <a:t>별로 다르다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교육용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갑</a:t>
            </a:r>
            <a:r>
              <a:rPr lang="en-US" altLang="ko-KR" sz="1600" spc="-50" dirty="0"/>
              <a:t>): </a:t>
            </a:r>
            <a:r>
              <a:rPr lang="ko-KR" altLang="en-US" sz="1600" spc="-50" dirty="0"/>
              <a:t>계약전력이 </a:t>
            </a:r>
            <a:r>
              <a:rPr lang="en-US" altLang="ko-KR" sz="1600" spc="-50" dirty="0"/>
              <a:t>1,000kW </a:t>
            </a:r>
            <a:r>
              <a:rPr lang="ko-KR" altLang="en-US" sz="1600" spc="-50" dirty="0"/>
              <a:t>미만인 경우</a:t>
            </a:r>
            <a:endParaRPr lang="en-US" altLang="ko-KR" sz="1600" spc="-50" dirty="0"/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교육용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을</a:t>
            </a:r>
            <a:r>
              <a:rPr lang="en-US" altLang="ko-KR" sz="1600" spc="-50" dirty="0"/>
              <a:t>): </a:t>
            </a:r>
            <a:r>
              <a:rPr lang="ko-KR" altLang="en-US" sz="1600" spc="-50" dirty="0"/>
              <a:t>계약전력이 </a:t>
            </a:r>
            <a:r>
              <a:rPr lang="en-US" altLang="ko-KR" sz="1600" spc="-50" dirty="0"/>
              <a:t>1,000kW </a:t>
            </a:r>
            <a:r>
              <a:rPr lang="ko-KR" altLang="en-US" sz="1600" spc="-50" dirty="0"/>
              <a:t>이상인 경우</a:t>
            </a:r>
            <a:endParaRPr lang="en-US" altLang="ko-KR" sz="1600" spc="-50" dirty="0"/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구분이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선택별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선택</a:t>
            </a:r>
            <a:r>
              <a:rPr lang="en-US" altLang="ko-KR" sz="1600" spc="-50" dirty="0"/>
              <a:t>I, II)</a:t>
            </a:r>
            <a:r>
              <a:rPr lang="ko-KR" altLang="en-US" sz="1600" spc="-50" dirty="0"/>
              <a:t>로도 나뉜다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선택</a:t>
            </a:r>
            <a:r>
              <a:rPr lang="en-US" altLang="ko-KR" sz="1600" spc="-50" dirty="0"/>
              <a:t>I</a:t>
            </a:r>
            <a:r>
              <a:rPr lang="ko-KR" altLang="en-US" sz="1600" spc="-50" dirty="0"/>
              <a:t>은 기본요금이 저렴한 대신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전력량요금이 비싸다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선택</a:t>
            </a:r>
            <a:r>
              <a:rPr lang="en-US" altLang="ko-KR" sz="1600" spc="-50" dirty="0"/>
              <a:t>II</a:t>
            </a:r>
            <a:r>
              <a:rPr lang="ko-KR" altLang="en-US" sz="1600" spc="-50" dirty="0"/>
              <a:t>는 기본요금이 비싼 대신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전력량요금이 저렴하다</a:t>
            </a:r>
            <a:r>
              <a:rPr lang="en-US" altLang="ko-KR" sz="1600" spc="-50" dirty="0"/>
              <a:t>.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C363C409-E572-BE2C-343E-15A5E31DDF64}"/>
              </a:ext>
            </a:extLst>
          </p:cNvPr>
          <p:cNvGrpSpPr/>
          <p:nvPr/>
        </p:nvGrpSpPr>
        <p:grpSpPr>
          <a:xfrm>
            <a:off x="6299477" y="975875"/>
            <a:ext cx="2416916" cy="5482594"/>
            <a:chOff x="6313466" y="958844"/>
            <a:chExt cx="2663257" cy="6041399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C0D0B4AF-6650-BA21-201B-5586804E9E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13466" y="958844"/>
              <a:ext cx="2663256" cy="460280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96DD4F02-5801-0FEC-03FC-5BC66B4BA8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13467" y="5586296"/>
              <a:ext cx="2663256" cy="1413947"/>
            </a:xfrm>
            <a:prstGeom prst="rect">
              <a:avLst/>
            </a:prstGeom>
          </p:spPr>
        </p:pic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id="{3129AA8C-DAA5-71D9-AA42-C41E333EBC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0484" y="1535214"/>
            <a:ext cx="2393248" cy="3509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7229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A5C37-9F86-F3AD-FFAA-18E74E555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DD24CE-B8A9-17AA-F6B8-6CE5365CF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일반용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AE77A5-7941-C79B-0245-11AC8E590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F0FCC5-B0DB-9955-D310-BC499A58352C}"/>
              </a:ext>
            </a:extLst>
          </p:cNvPr>
          <p:cNvSpPr txBox="1"/>
          <p:nvPr/>
        </p:nvSpPr>
        <p:spPr>
          <a:xfrm>
            <a:off x="288790" y="958844"/>
            <a:ext cx="5710639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일반용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상업시설이나 업무시설에서 사용하는 전기요금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상가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사무실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음식점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카페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등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일반용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갑</a:t>
            </a:r>
            <a:r>
              <a:rPr lang="en-US" altLang="ko-KR" sz="1600" spc="-50" dirty="0"/>
              <a:t>) I : </a:t>
            </a:r>
            <a:r>
              <a:rPr lang="ko-KR" altLang="en-US" sz="1600" spc="-50" dirty="0"/>
              <a:t>계약전력이 </a:t>
            </a:r>
            <a:r>
              <a:rPr lang="en-US" altLang="ko-KR" sz="1600" spc="-50" dirty="0"/>
              <a:t>300kW </a:t>
            </a:r>
            <a:r>
              <a:rPr lang="ko-KR" altLang="en-US" sz="1600" spc="-50" dirty="0"/>
              <a:t>미만인 경우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일반용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갑</a:t>
            </a:r>
            <a:r>
              <a:rPr lang="en-US" altLang="ko-KR" sz="1600" spc="-50" dirty="0"/>
              <a:t>) II : </a:t>
            </a:r>
            <a:r>
              <a:rPr lang="ko-KR" altLang="en-US" sz="1600" spc="-50" dirty="0"/>
              <a:t>계약전력 </a:t>
            </a:r>
            <a:r>
              <a:rPr lang="en-US" altLang="ko-KR" sz="1600" spc="-50" dirty="0"/>
              <a:t>300kW</a:t>
            </a:r>
            <a:r>
              <a:rPr lang="ko-KR" altLang="en-US" sz="1600" spc="-50" dirty="0"/>
              <a:t>미만이고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시간대별 구분 계량기가 설치되어 있는 경우 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일반용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을</a:t>
            </a:r>
            <a:r>
              <a:rPr lang="en-US" altLang="ko-KR" sz="1600" spc="-50" dirty="0"/>
              <a:t>) : </a:t>
            </a:r>
            <a:r>
              <a:rPr lang="ko-KR" altLang="en-US" sz="1600" spc="-50" dirty="0"/>
              <a:t>계약전력이 </a:t>
            </a:r>
            <a:r>
              <a:rPr lang="en-US" altLang="ko-KR" sz="1600" spc="-50" dirty="0"/>
              <a:t>300kW </a:t>
            </a:r>
            <a:r>
              <a:rPr lang="ko-KR" altLang="en-US" sz="1600" spc="-50" dirty="0"/>
              <a:t>이상인 경우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일반용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갑</a:t>
            </a:r>
            <a:r>
              <a:rPr lang="en-US" altLang="ko-KR" sz="1600" spc="-50" dirty="0"/>
              <a:t>) II</a:t>
            </a:r>
            <a:r>
              <a:rPr lang="ko-KR" altLang="en-US" sz="1600" spc="-50" dirty="0"/>
              <a:t>에는 시간대 구분 없이 단일 요금을 적용하는 선택</a:t>
            </a:r>
            <a:r>
              <a:rPr lang="en-US" altLang="ko-KR" sz="1600" spc="-50" dirty="0"/>
              <a:t>III</a:t>
            </a:r>
            <a:r>
              <a:rPr lang="ko-KR" altLang="en-US" sz="1600" spc="-50" dirty="0"/>
              <a:t>과 선택</a:t>
            </a:r>
            <a:r>
              <a:rPr lang="en-US" altLang="ko-KR" sz="1600" spc="-50" dirty="0"/>
              <a:t>IV</a:t>
            </a:r>
            <a:r>
              <a:rPr lang="ko-KR" altLang="en-US" sz="1600" spc="-50" dirty="0"/>
              <a:t>가 추가되었다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선택</a:t>
            </a:r>
            <a:r>
              <a:rPr lang="en-US" altLang="ko-KR" sz="1600" spc="-50" dirty="0"/>
              <a:t>III : </a:t>
            </a:r>
            <a:r>
              <a:rPr lang="ko-KR" altLang="en-US" sz="1600" spc="-50" dirty="0"/>
              <a:t>기본요금이 저렴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전력량요금이 비쌈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선택</a:t>
            </a:r>
            <a:r>
              <a:rPr lang="en-US" altLang="ko-KR" sz="1600" spc="-50" dirty="0"/>
              <a:t>IV: </a:t>
            </a:r>
            <a:r>
              <a:rPr lang="ko-KR" altLang="en-US" sz="1600" spc="-50" dirty="0"/>
              <a:t>기본요금이 비싸고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전력량요금이 저렴</a:t>
            </a:r>
            <a:endParaRPr lang="en-US" altLang="ko-KR" sz="1600" spc="-50" dirty="0"/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EAA11C2D-4993-9895-C91E-DE1AA6DC16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572962"/>
              </p:ext>
            </p:extLst>
          </p:nvPr>
        </p:nvGraphicFramePr>
        <p:xfrm>
          <a:off x="6192572" y="897437"/>
          <a:ext cx="5374588" cy="563947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374588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</a:tblGrid>
              <a:tr h="563947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</a:tbl>
          </a:graphicData>
        </a:graphic>
      </p:graphicFrame>
      <p:pic>
        <p:nvPicPr>
          <p:cNvPr id="20" name="그림 19">
            <a:extLst>
              <a:ext uri="{FF2B5EF4-FFF2-40B4-BE49-F238E27FC236}">
                <a16:creationId xmlns:a16="http://schemas.microsoft.com/office/drawing/2014/main" id="{F5667E1B-52B9-0158-0900-71CB30C86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5286" y="995001"/>
            <a:ext cx="2412000" cy="1216983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89A83522-A08D-60DD-3EC0-9A272B45AF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5286" y="2573261"/>
            <a:ext cx="2412000" cy="322769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EBF1B352-0F1E-AF69-01F6-1FC316B908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2349" y="1623812"/>
            <a:ext cx="2412000" cy="2941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5867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2D7CC-D09E-7AEA-9EA9-BC34BF6F1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408875-F43B-1C07-80AA-B2D2E93DE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산업용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5A510D-09C8-B8CC-E6C4-6D2C8D81E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55FCD0-0FB7-A496-5CEE-124A460900B5}"/>
              </a:ext>
            </a:extLst>
          </p:cNvPr>
          <p:cNvSpPr txBox="1"/>
          <p:nvPr/>
        </p:nvSpPr>
        <p:spPr>
          <a:xfrm>
            <a:off x="288791" y="958844"/>
            <a:ext cx="5728778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산업용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공장 및 산업시설에서 사용하는 전기요금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반도체 공장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철강공장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자동차 공장 등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산업용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을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에는 고압</a:t>
            </a:r>
            <a:r>
              <a:rPr lang="en-US" altLang="ko-KR" sz="1600" spc="-50" dirty="0"/>
              <a:t>C</a:t>
            </a:r>
            <a:r>
              <a:rPr lang="ko-KR" altLang="en-US" sz="1600" spc="-50" dirty="0"/>
              <a:t>가 추가된다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산업용은 특히 대규모 전력을 효율적으로 사용하기 위해 </a:t>
            </a:r>
            <a:r>
              <a:rPr lang="ko-KR" altLang="en-US" sz="1600" spc="-50" dirty="0" err="1"/>
              <a:t>초고압</a:t>
            </a:r>
            <a:r>
              <a:rPr lang="ko-KR" altLang="en-US" sz="1600" spc="-50" dirty="0"/>
              <a:t> 전압을 사용하기도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63A4190F-1F8D-ACEE-1D4F-0683F4EC7C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4790409"/>
              </p:ext>
            </p:extLst>
          </p:nvPr>
        </p:nvGraphicFramePr>
        <p:xfrm>
          <a:off x="6192572" y="554625"/>
          <a:ext cx="5374588" cy="598228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374588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</a:tblGrid>
              <a:tr h="598228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7BA4EBAF-6105-2278-EAD0-CA00B6558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0225" y="1487650"/>
            <a:ext cx="2412000" cy="421989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E8F4E0B-4C59-E4BB-1DA0-1B161CA9F1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4882" y="609298"/>
            <a:ext cx="2412000" cy="588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5542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5525B-B45B-C741-49CA-6664FCB81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9CDD165D-D9A0-D9A2-C203-D8E1C0B793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3832003"/>
              </p:ext>
            </p:extLst>
          </p:nvPr>
        </p:nvGraphicFramePr>
        <p:xfrm>
          <a:off x="6192137" y="3338516"/>
          <a:ext cx="2529788" cy="341788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529788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</a:tblGrid>
              <a:tr h="341788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</a:tbl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C2D52681-B819-944F-F9B6-6229CA7AA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농사용</a:t>
            </a:r>
            <a:r>
              <a:rPr lang="en-US" altLang="ko-KR" dirty="0"/>
              <a:t>, </a:t>
            </a:r>
            <a:r>
              <a:rPr lang="ko-KR" altLang="en-US" dirty="0"/>
              <a:t>가로등</a:t>
            </a:r>
            <a:r>
              <a:rPr lang="en-US" altLang="ko-KR" dirty="0"/>
              <a:t>, </a:t>
            </a:r>
            <a:r>
              <a:rPr lang="ko-KR" altLang="en-US" dirty="0"/>
              <a:t>심야전력</a:t>
            </a:r>
            <a:r>
              <a:rPr lang="en-US" altLang="ko-KR" dirty="0"/>
              <a:t>, </a:t>
            </a:r>
            <a:r>
              <a:rPr lang="ko-KR" altLang="en-US" dirty="0"/>
              <a:t>전기차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7F4CAB-0E90-5411-E3A8-502B8C6FB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7BBAC1-176C-ED5A-F5B0-D0CCAC8BFB6F}"/>
              </a:ext>
            </a:extLst>
          </p:cNvPr>
          <p:cNvSpPr txBox="1"/>
          <p:nvPr/>
        </p:nvSpPr>
        <p:spPr>
          <a:xfrm>
            <a:off x="288791" y="958844"/>
            <a:ext cx="5334770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가로등의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계약전력에 의해 갑</a:t>
            </a:r>
            <a:r>
              <a:rPr lang="en-US" altLang="ko-KR" sz="1600" spc="-50" dirty="0"/>
              <a:t>/</a:t>
            </a:r>
            <a:r>
              <a:rPr lang="ko-KR" altLang="en-US" sz="1600" spc="-50" dirty="0"/>
              <a:t>을 구분을 하지 않고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정액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종량에</a:t>
            </a:r>
            <a:r>
              <a:rPr lang="ko-KR" altLang="en-US" sz="1600" spc="-50" dirty="0"/>
              <a:t> 따라 갑</a:t>
            </a:r>
            <a:r>
              <a:rPr lang="en-US" altLang="ko-KR" sz="1600" spc="-50" dirty="0"/>
              <a:t>/</a:t>
            </a:r>
            <a:r>
              <a:rPr lang="ko-KR" altLang="en-US" sz="1600" spc="-50" dirty="0"/>
              <a:t>을 구분을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가로등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갑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의 경우 실제 전력소비량을 측정하지 않고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가로등의</a:t>
            </a:r>
            <a:r>
              <a:rPr lang="en-US" altLang="ko-KR" sz="1600" spc="-50" dirty="0"/>
              <a:t> W(</a:t>
            </a:r>
            <a:r>
              <a:rPr lang="ko-KR" altLang="en-US" sz="1600" spc="-50" dirty="0"/>
              <a:t>전압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당 </a:t>
            </a:r>
            <a:r>
              <a:rPr lang="en-US" altLang="ko-KR" sz="1600" spc="-50" dirty="0"/>
              <a:t>47.2</a:t>
            </a:r>
            <a:r>
              <a:rPr lang="ko-KR" altLang="en-US" sz="1600" spc="-50" dirty="0"/>
              <a:t>원을 부과한다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한편 가로등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을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은 실제 전력소비량을 측정하여 소비한 전력량에 따라 전기요금을 부과한다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전기차 충전요금의 경우 자가소비용과 사업자용으로 구분된다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자가소비용의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전기 판매 목적이 아니고 </a:t>
            </a:r>
            <a:r>
              <a:rPr lang="ko-KR" altLang="en-US" sz="1600" spc="-50" dirty="0" err="1"/>
              <a:t>자차</a:t>
            </a:r>
            <a:r>
              <a:rPr lang="ko-KR" altLang="en-US" sz="1600" spc="-50" dirty="0"/>
              <a:t> 충전을 위해 사용하는 것을 의미한다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내 집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주택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에 충전기를 설치하여 내가 사용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사업자의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전기 판매 목적으로 전기차 충전소를 운영하는 것을 의미한다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고속도로 휴게소에서 충전기 설치 운영</a:t>
            </a:r>
            <a:endParaRPr lang="en-US" altLang="ko-KR" sz="1600" spc="-50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954219C-5250-8023-D6BF-6B52B2D41E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524570"/>
              </p:ext>
            </p:extLst>
          </p:nvPr>
        </p:nvGraphicFramePr>
        <p:xfrm>
          <a:off x="6192572" y="897437"/>
          <a:ext cx="2529788" cy="126156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529788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</a:tblGrid>
              <a:tr h="126156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</a:tbl>
          </a:graphicData>
        </a:graphic>
      </p:graphicFrame>
      <p:pic>
        <p:nvPicPr>
          <p:cNvPr id="12" name="그림 11">
            <a:extLst>
              <a:ext uri="{FF2B5EF4-FFF2-40B4-BE49-F238E27FC236}">
                <a16:creationId xmlns:a16="http://schemas.microsoft.com/office/drawing/2014/main" id="{19FACBB0-49B6-5225-D96B-4590B5C612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2732" y="958844"/>
            <a:ext cx="2412000" cy="1102702"/>
          </a:xfrm>
          <a:prstGeom prst="rect">
            <a:avLst/>
          </a:prstGeom>
        </p:spPr>
      </p:pic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F45C593E-AA4E-8FA4-8AEF-348EE0C8A5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5212754"/>
              </p:ext>
            </p:extLst>
          </p:nvPr>
        </p:nvGraphicFramePr>
        <p:xfrm>
          <a:off x="6192572" y="2321700"/>
          <a:ext cx="2529788" cy="86210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529788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</a:tblGrid>
              <a:tr h="86210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</a:tbl>
          </a:graphicData>
        </a:graphic>
      </p:graphicFrame>
      <p:pic>
        <p:nvPicPr>
          <p:cNvPr id="15" name="그림 14">
            <a:extLst>
              <a:ext uri="{FF2B5EF4-FFF2-40B4-BE49-F238E27FC236}">
                <a16:creationId xmlns:a16="http://schemas.microsoft.com/office/drawing/2014/main" id="{33E9D0EA-8223-B951-EA0F-94E55A535E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2732" y="2410372"/>
            <a:ext cx="2415600" cy="681991"/>
          </a:xfrm>
          <a:prstGeom prst="rect">
            <a:avLst/>
          </a:prstGeom>
        </p:spPr>
      </p:pic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1ED3A959-4BBD-D1AB-7569-60A82A2525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3299934"/>
              </p:ext>
            </p:extLst>
          </p:nvPr>
        </p:nvGraphicFramePr>
        <p:xfrm>
          <a:off x="8937615" y="487263"/>
          <a:ext cx="2529788" cy="627195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529788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</a:tblGrid>
              <a:tr h="627195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</a:tbl>
          </a:graphicData>
        </a:graphic>
      </p:graphicFrame>
      <p:pic>
        <p:nvPicPr>
          <p:cNvPr id="19" name="그림 18">
            <a:extLst>
              <a:ext uri="{FF2B5EF4-FFF2-40B4-BE49-F238E27FC236}">
                <a16:creationId xmlns:a16="http://schemas.microsoft.com/office/drawing/2014/main" id="{F452F167-C357-71F4-7DFB-C2B3C1EF2B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1031" y="3363916"/>
            <a:ext cx="2412000" cy="3375950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0AC8E4E1-BACA-D6C9-C562-2091D58642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8657" y="534653"/>
            <a:ext cx="2415600" cy="1771667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1410CCE1-DEA5-D2E9-EA05-CE463664A0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2257" y="2393017"/>
            <a:ext cx="2412000" cy="4272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2745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B5356-F3B4-78E8-38E0-1ECD2B669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9FFABC-2591-7736-24B4-D965345D0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우리집 전기요금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93A562-F4E1-AE66-7814-AF0D7B201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E29AC8-8ADF-998B-4226-43B2D31426F3}"/>
              </a:ext>
            </a:extLst>
          </p:cNvPr>
          <p:cNvSpPr txBox="1"/>
          <p:nvPr/>
        </p:nvSpPr>
        <p:spPr>
          <a:xfrm>
            <a:off x="288791" y="958844"/>
            <a:ext cx="7844290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아파트에서 살고 있다고 가정하면</a:t>
            </a:r>
            <a:r>
              <a:rPr lang="en-US" altLang="ko-KR" sz="1600" spc="-50" dirty="0"/>
              <a:t>, </a:t>
            </a:r>
            <a:r>
              <a:rPr lang="ko-KR" altLang="en-US" sz="1600" b="1" spc="-50" dirty="0"/>
              <a:t>주택용 고압</a:t>
            </a:r>
            <a:r>
              <a:rPr lang="ko-KR" altLang="en-US" sz="1600" spc="-50" dirty="0"/>
              <a:t> 요금체계를 따르게 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3</a:t>
            </a:r>
            <a:r>
              <a:rPr lang="ko-KR" altLang="en-US" sz="1600" spc="-50" dirty="0"/>
              <a:t>월에 사용한 전기에 대한 요금이므로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</a:t>
            </a:r>
            <a:r>
              <a:rPr lang="ko-KR" altLang="en-US" sz="1600" b="1" spc="-50" dirty="0"/>
              <a:t>기타계절</a:t>
            </a:r>
            <a:r>
              <a:rPr lang="ko-KR" altLang="en-US" sz="1600" spc="-50" dirty="0"/>
              <a:t>의 요금표를 적용 받는다</a:t>
            </a:r>
            <a:r>
              <a:rPr lang="en-US" altLang="ko-KR" sz="1600" spc="-50" dirty="0"/>
              <a:t>.</a:t>
            </a:r>
          </a:p>
          <a:p>
            <a:pPr marL="549275" lvl="1">
              <a:lnSpc>
                <a:spcPct val="150000"/>
              </a:lnSpc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기본요금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이 가구의 전기사용량은 </a:t>
            </a:r>
            <a:r>
              <a:rPr lang="en-US" altLang="ko-KR" sz="1600" spc="-50" dirty="0"/>
              <a:t>214kWh </a:t>
            </a:r>
            <a:r>
              <a:rPr lang="ko-KR" altLang="en-US" sz="1600" spc="-50" dirty="0"/>
              <a:t>이므로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기본요금 두번째 구간 </a:t>
            </a:r>
            <a:r>
              <a:rPr lang="en-US" altLang="ko-KR" sz="1600" spc="-50" dirty="0"/>
              <a:t>(201~400kWh)</a:t>
            </a:r>
            <a:r>
              <a:rPr lang="ko-KR" altLang="en-US" sz="1600" spc="-50" dirty="0"/>
              <a:t>에 속하기 때문에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기본요금은 </a:t>
            </a:r>
            <a:r>
              <a:rPr lang="en-US" altLang="ko-KR" sz="1600" spc="-50" dirty="0"/>
              <a:t>1,260</a:t>
            </a:r>
            <a:r>
              <a:rPr lang="ko-KR" altLang="en-US" sz="1600" spc="-50" dirty="0"/>
              <a:t>원이 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전력량요금</a:t>
            </a:r>
            <a:r>
              <a:rPr lang="en-US" altLang="ko-KR" sz="1600" spc="-50" dirty="0"/>
              <a:t>) 0~200kWh </a:t>
            </a:r>
            <a:r>
              <a:rPr lang="ko-KR" altLang="en-US" sz="1600" spc="-50" dirty="0"/>
              <a:t>구간에서는 </a:t>
            </a:r>
            <a:r>
              <a:rPr lang="en-US" altLang="ko-KR" sz="1600" spc="-50" dirty="0"/>
              <a:t>kWh</a:t>
            </a:r>
            <a:r>
              <a:rPr lang="ko-KR" altLang="en-US" sz="1600" spc="-50" dirty="0"/>
              <a:t>당</a:t>
            </a:r>
            <a:r>
              <a:rPr lang="en-US" altLang="ko-KR" sz="1600" spc="-50" dirty="0"/>
              <a:t> 105.0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, 200kWh~400kWh </a:t>
            </a:r>
            <a:r>
              <a:rPr lang="ko-KR" altLang="en-US" sz="1600" spc="-50" dirty="0"/>
              <a:t>구간에서는 </a:t>
            </a:r>
            <a:r>
              <a:rPr lang="en-US" altLang="ko-KR" sz="1600" spc="-50" dirty="0"/>
              <a:t>kWh</a:t>
            </a:r>
            <a:r>
              <a:rPr lang="ko-KR" altLang="en-US" sz="1600" spc="-50" dirty="0"/>
              <a:t>당 </a:t>
            </a:r>
            <a:r>
              <a:rPr lang="en-US" altLang="ko-KR" sz="1600" spc="-50" dirty="0"/>
              <a:t>174</a:t>
            </a:r>
            <a:r>
              <a:rPr lang="ko-KR" altLang="en-US" sz="1600" spc="-50" dirty="0"/>
              <a:t>원이다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따라서 전력량요금은 총 </a:t>
            </a:r>
            <a:r>
              <a:rPr lang="en-US" altLang="ko-KR" sz="1600" spc="-50" dirty="0"/>
              <a:t>23,436</a:t>
            </a:r>
            <a:r>
              <a:rPr lang="ko-KR" altLang="en-US" sz="1600" spc="-50" dirty="0"/>
              <a:t>원이 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200kWh x 105(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/kWh) + 14kWh x 174(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/kWh) = 23,436 </a:t>
            </a:r>
            <a:r>
              <a:rPr lang="ko-KR" altLang="en-US" sz="1600" spc="-50" dirty="0"/>
              <a:t>원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기후환경요금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기후환경요금 단가는 </a:t>
            </a:r>
            <a:r>
              <a:rPr lang="en-US" altLang="ko-KR" sz="1600" spc="-50" dirty="0"/>
              <a:t>9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/kWh 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214(kWh) x 9(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/kWh) = 1,926</a:t>
            </a:r>
            <a:r>
              <a:rPr lang="ko-KR" altLang="en-US" sz="1600" spc="-50" dirty="0"/>
              <a:t>원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연료비조정요금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연료비조정요금 단가는 </a:t>
            </a:r>
            <a:r>
              <a:rPr lang="en-US" altLang="ko-KR" sz="1600" spc="-50" dirty="0"/>
              <a:t>5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/kWh 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214(kWh) x 5(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/kWh) = 1,070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5FDBED3-B290-9990-9C65-974923397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9388" y="5548636"/>
            <a:ext cx="2216264" cy="120656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507F6E3-9852-0F78-D576-B9263B7FF9FA}"/>
              </a:ext>
            </a:extLst>
          </p:cNvPr>
          <p:cNvSpPr txBox="1"/>
          <p:nvPr/>
        </p:nvSpPr>
        <p:spPr>
          <a:xfrm>
            <a:off x="11982450" y="6755198"/>
            <a:ext cx="26276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https://online.kepco.co.kr/PRM004D00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D945FF2-D053-C754-3BE7-5BAFE1E15C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6010" y="1017151"/>
            <a:ext cx="2277110" cy="391616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A326222-3EBF-7495-8859-1B9463636D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1561" y="5299731"/>
            <a:ext cx="3054507" cy="1162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982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750E0-B534-2982-9F39-0EBDE79CB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74235F-A908-51B3-594A-7701F3CCD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우리집 전기요금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241EB7-4FC0-9312-74DF-6AE4FB384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31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B22D0D1-CE71-EE36-2A54-7A31B011B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6628" y="4482331"/>
            <a:ext cx="2216264" cy="120656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68335CE-5367-D51B-0C68-343148B19F65}"/>
              </a:ext>
            </a:extLst>
          </p:cNvPr>
          <p:cNvSpPr txBox="1"/>
          <p:nvPr/>
        </p:nvSpPr>
        <p:spPr>
          <a:xfrm>
            <a:off x="8949690" y="5688893"/>
            <a:ext cx="26276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https://online.kepco.co.kr/PRM004D00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529DB0-06A9-6E17-4655-2421C7F9D3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9615" y="2245916"/>
            <a:ext cx="2286162" cy="36943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06E672D-7DB1-85C7-8039-155186BADD06}"/>
              </a:ext>
            </a:extLst>
          </p:cNvPr>
          <p:cNvSpPr txBox="1"/>
          <p:nvPr/>
        </p:nvSpPr>
        <p:spPr>
          <a:xfrm>
            <a:off x="288790" y="958844"/>
            <a:ext cx="11118453" cy="11526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우리의 계산 과정을 종합해보면 </a:t>
            </a:r>
            <a:r>
              <a:rPr lang="en-US" altLang="ko-KR" sz="1600" spc="-50" dirty="0"/>
              <a:t>2026</a:t>
            </a:r>
            <a:r>
              <a:rPr lang="ko-KR" altLang="en-US" sz="1600" spc="-50" dirty="0"/>
              <a:t>년 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월분 전기요금은 총 </a:t>
            </a:r>
            <a:r>
              <a:rPr lang="en-US" altLang="ko-KR" sz="1600" spc="-50" dirty="0"/>
              <a:t>27,692</a:t>
            </a:r>
            <a:r>
              <a:rPr lang="ko-KR" altLang="en-US" sz="1600" spc="-50" dirty="0"/>
              <a:t>원 이며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홈페이지에서도 똑같은 결과를 보여준다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기본요금 </a:t>
            </a:r>
            <a:r>
              <a:rPr lang="en-US" altLang="ko-KR" sz="1600" spc="-50" dirty="0"/>
              <a:t>1,260</a:t>
            </a:r>
            <a:r>
              <a:rPr lang="ko-KR" altLang="en-US" sz="1600" spc="-50" dirty="0"/>
              <a:t>원 </a:t>
            </a:r>
            <a:r>
              <a:rPr lang="en-US" altLang="ko-KR" sz="1600" spc="-50" dirty="0"/>
              <a:t>+ </a:t>
            </a:r>
            <a:r>
              <a:rPr lang="ko-KR" altLang="en-US" sz="1600" spc="-50" dirty="0"/>
              <a:t>전력량요금 </a:t>
            </a:r>
            <a:r>
              <a:rPr lang="en-US" altLang="ko-KR" sz="1600" spc="-50" dirty="0"/>
              <a:t>23,436</a:t>
            </a:r>
            <a:r>
              <a:rPr lang="ko-KR" altLang="en-US" sz="1600" spc="-50" dirty="0"/>
              <a:t>원 </a:t>
            </a:r>
            <a:r>
              <a:rPr lang="en-US" altLang="ko-KR" sz="1600" spc="-50" dirty="0"/>
              <a:t>+ </a:t>
            </a:r>
            <a:r>
              <a:rPr lang="ko-KR" altLang="en-US" sz="1600" spc="-50" dirty="0"/>
              <a:t>기후환경요금 </a:t>
            </a:r>
            <a:r>
              <a:rPr lang="en-US" altLang="ko-KR" sz="1600" spc="-50" dirty="0"/>
              <a:t>1,926</a:t>
            </a:r>
            <a:r>
              <a:rPr lang="ko-KR" altLang="en-US" sz="1600" spc="-50" dirty="0"/>
              <a:t>원 </a:t>
            </a:r>
            <a:r>
              <a:rPr lang="en-US" altLang="ko-KR" sz="1600" spc="-50" dirty="0"/>
              <a:t>+ </a:t>
            </a:r>
            <a:r>
              <a:rPr lang="ko-KR" altLang="en-US" sz="1600" spc="-50" dirty="0"/>
              <a:t>연료비조정요금 </a:t>
            </a:r>
            <a:r>
              <a:rPr lang="en-US" altLang="ko-KR" sz="1600" spc="-50" dirty="0"/>
              <a:t>1,070</a:t>
            </a:r>
            <a:r>
              <a:rPr lang="ko-KR" altLang="en-US" sz="1600" spc="-50" dirty="0"/>
              <a:t>원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4F303B6-7C51-C77F-14A0-96EB1DFA9F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0450" y="2235756"/>
            <a:ext cx="2277110" cy="3916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0150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E5E9E-CF20-1E98-BECC-E478EEBDD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37E9BE-F36B-2286-5322-E0DB877E5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우리집 전기 소비 내역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D27F1C-1621-DEDD-D97C-E675B5648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95E0A0-2DB4-E301-FC98-60832484716F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냉장고</a:t>
            </a:r>
            <a:r>
              <a:rPr lang="en-US" altLang="ko-KR" sz="1600" spc="-50" dirty="0"/>
              <a:t>, TV, </a:t>
            </a:r>
            <a:r>
              <a:rPr lang="ko-KR" altLang="en-US" sz="1600" spc="-50" dirty="0"/>
              <a:t>컴퓨터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모니터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식기세척기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세탁기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건조기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청소기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전기밥솥은 아래의 모델을 가정한다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전자기기의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홈페이지에서 </a:t>
            </a:r>
            <a:r>
              <a:rPr lang="ko-KR" altLang="en-US" sz="1600" spc="-50" dirty="0" err="1"/>
              <a:t>상세스펙을</a:t>
            </a:r>
            <a:r>
              <a:rPr lang="ko-KR" altLang="en-US" sz="1600" spc="-50" dirty="0"/>
              <a:t> 살펴보면 대부분 소비전력이 고지되어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소비전력은 해당기기가 최대로 작동하고 있을 때의 </a:t>
            </a:r>
            <a:r>
              <a:rPr lang="ko-KR" altLang="en-US" sz="1600" spc="-50" dirty="0" err="1"/>
              <a:t>전력값을</a:t>
            </a:r>
            <a:r>
              <a:rPr lang="ko-KR" altLang="en-US" sz="1600" spc="-50" dirty="0"/>
              <a:t> 의미한다</a:t>
            </a:r>
            <a:r>
              <a:rPr lang="en-US" altLang="ko-KR" sz="1600" spc="-5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위에 보이는 가전기기의 출처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홈페이지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에 들어가보면 각각 소비전력을 알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냉장고의 소비전력은 </a:t>
            </a:r>
            <a:r>
              <a:rPr lang="en-US" altLang="ko-KR" sz="1600" spc="-50" dirty="0"/>
              <a:t>43.7kWh/</a:t>
            </a:r>
            <a:r>
              <a:rPr lang="ko-KR" altLang="en-US" sz="1600" spc="-50" dirty="0"/>
              <a:t>월  으로 표시되어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TV</a:t>
            </a:r>
            <a:r>
              <a:rPr lang="ko-KR" altLang="en-US" sz="1600" spc="-50" dirty="0"/>
              <a:t>의 소비전력은 </a:t>
            </a:r>
            <a:r>
              <a:rPr lang="en-US" altLang="ko-KR" sz="1600" spc="-50" dirty="0"/>
              <a:t>84W  </a:t>
            </a:r>
            <a:r>
              <a:rPr lang="ko-KR" altLang="en-US" sz="1600" spc="-50" dirty="0"/>
              <a:t>으로 표시되어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세탁기와 건조기의 경우 사용패턴에 따라 소비전력의 변동이 매우 크다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홈페이지에 고지된 소비전력보다는 적게 전력을 사용할 가능성이 높다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A7FCDFC-8C80-0F9E-AC98-00F8852C3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851" y="1636868"/>
            <a:ext cx="1786854" cy="104049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A81D205-FDDA-CBCA-F307-25CFD606B70E}"/>
              </a:ext>
            </a:extLst>
          </p:cNvPr>
          <p:cNvSpPr txBox="1"/>
          <p:nvPr/>
        </p:nvSpPr>
        <p:spPr>
          <a:xfrm>
            <a:off x="1690608" y="2843409"/>
            <a:ext cx="211963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600" dirty="0"/>
              <a:t>https://www.lge.co.kr/tvs/75nu850bena-wall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8544913C-552F-2CFC-756C-C24CF69FF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9318" y="1646933"/>
            <a:ext cx="491243" cy="1040493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79CE0228-B49F-C31C-0683-E62A5BB6F794}"/>
              </a:ext>
            </a:extLst>
          </p:cNvPr>
          <p:cNvSpPr txBox="1"/>
          <p:nvPr/>
        </p:nvSpPr>
        <p:spPr>
          <a:xfrm>
            <a:off x="3693288" y="2843409"/>
            <a:ext cx="11044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600" dirty="0"/>
              <a:t>https://www.lge.co.kr/all-in-one-pc-and-desktop/b81lvax4509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420CCFCF-4794-C094-870E-F94071B230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9782" y="1562256"/>
            <a:ext cx="443143" cy="1168902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BC59EDEF-1933-CA44-0C42-DC80CFCCA6C5}"/>
              </a:ext>
            </a:extLst>
          </p:cNvPr>
          <p:cNvSpPr txBox="1"/>
          <p:nvPr/>
        </p:nvSpPr>
        <p:spPr>
          <a:xfrm>
            <a:off x="8120983" y="2843409"/>
            <a:ext cx="12204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600" dirty="0"/>
              <a:t>https://www.lge.co.kr/wash-tower/wl21wdu</a:t>
            </a:r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7C3DE0EB-A779-6E10-AB3F-D956EB870E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8185" y="1577394"/>
            <a:ext cx="1078909" cy="1138627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4DC7B264-A444-04D7-B3C3-EE49BBB52B08}"/>
              </a:ext>
            </a:extLst>
          </p:cNvPr>
          <p:cNvSpPr txBox="1"/>
          <p:nvPr/>
        </p:nvSpPr>
        <p:spPr>
          <a:xfrm>
            <a:off x="6652023" y="2843409"/>
            <a:ext cx="12204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600" dirty="0"/>
              <a:t>https://www.lge.co.kr/dishwashers/due6bgl2e</a:t>
            </a:r>
          </a:p>
        </p:txBody>
      </p:sp>
      <p:pic>
        <p:nvPicPr>
          <p:cNvPr id="55" name="그림 54">
            <a:extLst>
              <a:ext uri="{FF2B5EF4-FFF2-40B4-BE49-F238E27FC236}">
                <a16:creationId xmlns:a16="http://schemas.microsoft.com/office/drawing/2014/main" id="{2E4DD31B-A2BD-B0B0-4492-B3579F250D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8348" y="1545459"/>
            <a:ext cx="349310" cy="1212960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36743D9A-54E1-1751-327E-6A8FB257A066}"/>
              </a:ext>
            </a:extLst>
          </p:cNvPr>
          <p:cNvSpPr txBox="1"/>
          <p:nvPr/>
        </p:nvSpPr>
        <p:spPr>
          <a:xfrm>
            <a:off x="9352575" y="2843409"/>
            <a:ext cx="12204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600" dirty="0"/>
              <a:t>https://www.lge.co.kr/vacuum-cleaners/ax920bwe-bkor1</a:t>
            </a:r>
          </a:p>
        </p:txBody>
      </p:sp>
      <p:pic>
        <p:nvPicPr>
          <p:cNvPr id="59" name="그림 58">
            <a:extLst>
              <a:ext uri="{FF2B5EF4-FFF2-40B4-BE49-F238E27FC236}">
                <a16:creationId xmlns:a16="http://schemas.microsoft.com/office/drawing/2014/main" id="{5EB59267-ECD2-DB9D-4A83-79BEFEA027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098" y="1580305"/>
            <a:ext cx="648938" cy="1226899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C6AE601A-737A-DE54-4693-A8FC738CD6C2}"/>
              </a:ext>
            </a:extLst>
          </p:cNvPr>
          <p:cNvSpPr txBox="1"/>
          <p:nvPr/>
        </p:nvSpPr>
        <p:spPr>
          <a:xfrm>
            <a:off x="726208" y="2843409"/>
            <a:ext cx="8739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600" dirty="0"/>
              <a:t>https://www.lge.co.kr/refrigerators/t873mee111</a:t>
            </a:r>
          </a:p>
        </p:txBody>
      </p:sp>
      <p:pic>
        <p:nvPicPr>
          <p:cNvPr id="63" name="그림 62">
            <a:extLst>
              <a:ext uri="{FF2B5EF4-FFF2-40B4-BE49-F238E27FC236}">
                <a16:creationId xmlns:a16="http://schemas.microsoft.com/office/drawing/2014/main" id="{46C945B1-3F8D-A59E-92F1-1B523654199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51057" y="1718878"/>
            <a:ext cx="750507" cy="811418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C0E7A3C9-A508-A131-DDB6-D54DD0CF372E}"/>
              </a:ext>
            </a:extLst>
          </p:cNvPr>
          <p:cNvSpPr txBox="1"/>
          <p:nvPr/>
        </p:nvSpPr>
        <p:spPr>
          <a:xfrm>
            <a:off x="10655014" y="2843409"/>
            <a:ext cx="13473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600" dirty="0"/>
              <a:t>https://www.cuckoo.co.kr/mall/productView?productNo=9921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99B3484-393C-2012-035B-12446F871B6B}"/>
              </a:ext>
            </a:extLst>
          </p:cNvPr>
          <p:cNvSpPr txBox="1"/>
          <p:nvPr/>
        </p:nvSpPr>
        <p:spPr>
          <a:xfrm>
            <a:off x="4843053" y="2843409"/>
            <a:ext cx="15367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600" dirty="0"/>
              <a:t>https://www.lge.co.kr/monitors/27u631a</a:t>
            </a:r>
          </a:p>
        </p:txBody>
      </p:sp>
      <p:pic>
        <p:nvPicPr>
          <p:cNvPr id="69" name="그림 68">
            <a:extLst>
              <a:ext uri="{FF2B5EF4-FFF2-40B4-BE49-F238E27FC236}">
                <a16:creationId xmlns:a16="http://schemas.microsoft.com/office/drawing/2014/main" id="{AA33D2D8-8F82-901A-DC10-F5CB29A1736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7785" y="1602326"/>
            <a:ext cx="1522052" cy="1097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4248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AB987-4D4D-C6DF-4DC3-467E42D3C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7B5002-2DD6-CA27-2729-C51E6E3EB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우리집 전기 소비 내역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ECAA4E-0B59-5B37-B086-D52C7BC56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DD9647-DCDE-F4C0-4027-432A110D5155}"/>
              </a:ext>
            </a:extLst>
          </p:cNvPr>
          <p:cNvSpPr txBox="1"/>
          <p:nvPr/>
        </p:nvSpPr>
        <p:spPr>
          <a:xfrm>
            <a:off x="288790" y="958844"/>
            <a:ext cx="11118453" cy="15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3</a:t>
            </a:r>
            <a:r>
              <a:rPr lang="ko-KR" altLang="en-US" sz="1600" spc="-50" dirty="0"/>
              <a:t>월에 해당 가구에서 사용한 </a:t>
            </a:r>
            <a:r>
              <a:rPr lang="en-US" altLang="ko-KR" sz="1600" spc="-50" dirty="0"/>
              <a:t>152kWh</a:t>
            </a:r>
            <a:r>
              <a:rPr lang="ko-KR" altLang="en-US" sz="1600" spc="-50" dirty="0"/>
              <a:t>는 아래와 같이 가전기기 소비를 가정하여 추정해볼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3</a:t>
            </a:r>
            <a:r>
              <a:rPr lang="ko-KR" altLang="en-US" sz="1600" spc="-50" dirty="0"/>
              <a:t>월이기 때문에 냉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난방을 하지 않았다고 가정한다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가전기기는 최신형으로 임의 가정한다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사용시간은 대략적으로 가정한다</a:t>
            </a:r>
            <a:r>
              <a:rPr lang="en-US" altLang="ko-KR" sz="1600" spc="-50" dirty="0"/>
              <a:t>.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FA585CB0-F838-9755-21EC-AD14F2EC07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6416166"/>
              </p:ext>
            </p:extLst>
          </p:nvPr>
        </p:nvGraphicFramePr>
        <p:xfrm>
          <a:off x="1810148" y="2817703"/>
          <a:ext cx="7111602" cy="346658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955402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1282700">
                  <a:extLst>
                    <a:ext uri="{9D8B030D-6E8A-4147-A177-3AD203B41FA5}">
                      <a16:colId xmlns:a16="http://schemas.microsoft.com/office/drawing/2014/main" val="2699398209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4042259682"/>
                    </a:ext>
                  </a:extLst>
                </a:gridCol>
                <a:gridCol w="977900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15862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전자기기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사용시간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전기에너지 소비량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냉장고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상시 가동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30kWh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TV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하루 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시간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84W x 4h/day x 30days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10.4kWh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컴퓨터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하루 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시간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50W x 1h/day x 30days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1.6kWh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모니터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하루 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시간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20W x 1h/day x 30days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0.6kWh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식기세척기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 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1.2kWh/time x 4times/week x 4weeks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20.6kWh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세탁기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 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1.0kWh/time x 4times/week x 4weeks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17.1kWh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305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건조기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 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2.0kWh/time x 4times/week x 4weeks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34.3kWh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980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청소기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하루 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분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1,600W x 0.08h/day x 30days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4.1kWh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764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전기밥솥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하루 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분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1,090W x 0.5h/day x 30days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16.9kWh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7994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조명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수시로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10kWh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9459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핸드폰 충전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하루 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20Wh/day x 30days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0.6kWh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9880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공유기 및 대기전력 등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상시 가동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10kWh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8498776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총합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rtl="0" fontAlgn="ctr">
                        <a:buNone/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156.2kWh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17358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0629B-6FB8-AFE1-FD42-A0A2CBD9A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5FBF3B1-5A73-F6DC-49FA-DEE6E72866F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A3538B-D621-6953-45A2-20903A8F5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6D56F34F-4002-7CF6-3C1E-88CDBFA21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3. </a:t>
            </a:r>
            <a:r>
              <a:rPr lang="ko-KR" altLang="en-US" sz="4000" b="1" i="0" spc="150" dirty="0"/>
              <a:t>휘발유 차 </a:t>
            </a:r>
            <a:r>
              <a:rPr lang="en-US" altLang="ko-KR" sz="4000" b="1" i="0" spc="150" dirty="0"/>
              <a:t>vs. </a:t>
            </a:r>
            <a:r>
              <a:rPr lang="ko-KR" altLang="en-US" sz="4000" b="1" i="0" spc="150" dirty="0"/>
              <a:t>전기 차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13996846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21131-49FC-5E59-765B-09583F21A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6F3914-DEA8-A8DB-5991-37F82D975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휘발유차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00D34A-1FF1-0E4F-0883-D4B1585BB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CB5154-EF85-D93D-4A2A-FDEBB1B52670}"/>
              </a:ext>
            </a:extLst>
          </p:cNvPr>
          <p:cNvSpPr txBox="1"/>
          <p:nvPr/>
        </p:nvSpPr>
        <p:spPr>
          <a:xfrm>
            <a:off x="288790" y="958844"/>
            <a:ext cx="11118453" cy="15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새차를</a:t>
            </a:r>
            <a:r>
              <a:rPr lang="ko-KR" altLang="en-US" sz="1600" spc="-50" dirty="0"/>
              <a:t> 구입하려고 하는데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휘발유차와 전기차 둘 중에 고민을 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첫번째 후보는 아반떼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휘발유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이며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스펙은 다음과 같다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복합연비</a:t>
            </a:r>
            <a:r>
              <a:rPr lang="en-US" altLang="ko-KR" sz="1600" spc="-50" dirty="0"/>
              <a:t>: 15km/liter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연료 가득일 때 주행거리</a:t>
            </a:r>
            <a:r>
              <a:rPr lang="en-US" altLang="ko-KR" sz="1600" spc="-50" dirty="0"/>
              <a:t>: 47liter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x 15km/liter = 705km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6D4CF4E-B8B6-563E-ABCD-50F0F7205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274" y="2689126"/>
            <a:ext cx="3206915" cy="385464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7692489-E849-9B74-1F63-1544AC2B0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367" y="3368631"/>
            <a:ext cx="3225966" cy="2781443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C210F9B-CBF5-F077-022C-62AAEECCB6F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5240"/>
          <a:stretch>
            <a:fillRect/>
          </a:stretch>
        </p:blipFill>
        <p:spPr>
          <a:xfrm>
            <a:off x="8137607" y="2983118"/>
            <a:ext cx="3168813" cy="1776234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63785147-A011-FE9C-C881-B57375E41D78}"/>
              </a:ext>
            </a:extLst>
          </p:cNvPr>
          <p:cNvSpPr/>
          <p:nvPr/>
        </p:nvSpPr>
        <p:spPr>
          <a:xfrm>
            <a:off x="10302963" y="2983118"/>
            <a:ext cx="1003457" cy="503032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41178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E77B1-56D3-893A-0CA5-0202CA8A4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CA08C9F3-C916-5F99-6E9A-F05C57A62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252" y="5255300"/>
            <a:ext cx="10854911" cy="98587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BDB4DB0-381A-1C97-6700-64F2B7F88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전기차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151520-508C-DF95-EE85-E46B221B9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D0B7F25-4BAC-7368-7B27-B80C237ACB4B}"/>
              </a:ext>
            </a:extLst>
          </p:cNvPr>
          <p:cNvSpPr/>
          <p:nvPr/>
        </p:nvSpPr>
        <p:spPr>
          <a:xfrm>
            <a:off x="8556713" y="5647640"/>
            <a:ext cx="1003457" cy="593536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F48E9A3-7D86-4063-C480-3248CAE78F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0838" y="2470982"/>
            <a:ext cx="2705321" cy="264481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2B618B9-85C8-B242-58C8-66FDD2918C83}"/>
              </a:ext>
            </a:extLst>
          </p:cNvPr>
          <p:cNvSpPr txBox="1"/>
          <p:nvPr/>
        </p:nvSpPr>
        <p:spPr>
          <a:xfrm>
            <a:off x="288790" y="958844"/>
            <a:ext cx="11118453" cy="11526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두번째 후보는 </a:t>
            </a:r>
            <a:r>
              <a:rPr lang="ko-KR" altLang="en-US" sz="1600" spc="-50" dirty="0" err="1"/>
              <a:t>아이오닉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전기차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이며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스펙은 다음과 같다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복합연비</a:t>
            </a:r>
            <a:r>
              <a:rPr lang="en-US" altLang="ko-KR" sz="1600" spc="-50" dirty="0"/>
              <a:t>: 5.1km/kWh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1</a:t>
            </a:r>
            <a:r>
              <a:rPr lang="ko-KR" altLang="en-US" sz="1600" spc="-50" dirty="0"/>
              <a:t>회 충전 주행거리 </a:t>
            </a:r>
            <a:r>
              <a:rPr lang="en-US" altLang="ko-KR" sz="1600" spc="-50" dirty="0"/>
              <a:t>368km (</a:t>
            </a:r>
            <a:r>
              <a:rPr lang="ko-KR" altLang="en-US" sz="1600" spc="-50" dirty="0" err="1"/>
              <a:t>복합연비기준</a:t>
            </a:r>
            <a:r>
              <a:rPr lang="en-US" altLang="ko-KR" sz="1600" spc="-5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438853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27D9F-252D-998B-077D-1417AFF31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DCCF47-3A02-014B-5F0D-5179428AB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비용 비교 </a:t>
            </a:r>
            <a:r>
              <a:rPr lang="en-US" altLang="ko-KR" dirty="0"/>
              <a:t>(</a:t>
            </a:r>
            <a:r>
              <a:rPr lang="ko-KR" altLang="en-US" dirty="0"/>
              <a:t>휘발유차 </a:t>
            </a:r>
            <a:r>
              <a:rPr lang="en-US" altLang="ko-KR" dirty="0"/>
              <a:t>vs. </a:t>
            </a:r>
            <a:r>
              <a:rPr lang="ko-KR" altLang="en-US" dirty="0"/>
              <a:t>전기차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25580B-7FD7-9902-2B0B-6E7A8BF8F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37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0D9980-5E76-88EE-C0A9-8E0D6D5E299A}"/>
              </a:ext>
            </a:extLst>
          </p:cNvPr>
          <p:cNvSpPr txBox="1"/>
          <p:nvPr/>
        </p:nvSpPr>
        <p:spPr>
          <a:xfrm>
            <a:off x="288790" y="958844"/>
            <a:ext cx="11118453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집에서 학교까지 편도 </a:t>
            </a:r>
            <a:r>
              <a:rPr lang="en-US" altLang="ko-KR" sz="1600" spc="-50" dirty="0"/>
              <a:t>20km(</a:t>
            </a:r>
            <a:r>
              <a:rPr lang="ko-KR" altLang="en-US" sz="1600" spc="-50" dirty="0"/>
              <a:t>왕복</a:t>
            </a:r>
            <a:r>
              <a:rPr lang="en-US" altLang="ko-KR" sz="1600" spc="-50" dirty="0"/>
              <a:t>40km) </a:t>
            </a:r>
            <a:r>
              <a:rPr lang="ko-KR" altLang="en-US" sz="1600" spc="-50" dirty="0"/>
              <a:t>를 가정한다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휘발유 가격은 </a:t>
            </a:r>
            <a:r>
              <a:rPr lang="en-US" altLang="ko-KR" sz="1600" spc="-50" dirty="0"/>
              <a:t>1,800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/liter,  </a:t>
            </a:r>
            <a:r>
              <a:rPr lang="ko-KR" altLang="en-US" sz="1600" spc="-50" dirty="0"/>
              <a:t>전기차 충전요금 </a:t>
            </a:r>
            <a:r>
              <a:rPr lang="en-US" altLang="ko-KR" sz="1600" spc="-50" dirty="0"/>
              <a:t>320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/kWh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급속충전 기준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 을 가정한다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아까 본 아반떼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연비</a:t>
            </a:r>
            <a:r>
              <a:rPr lang="en-US" altLang="ko-KR" sz="1600" spc="-50" dirty="0"/>
              <a:t>: 15km/liter)</a:t>
            </a:r>
            <a:r>
              <a:rPr lang="ko-KR" altLang="en-US" sz="1600" spc="-50" dirty="0"/>
              <a:t>를 타는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연료비는 다음의 식으로 계산할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1,800(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/liter) x 1/15(liter/km) x 40km = 4,800</a:t>
            </a:r>
            <a:r>
              <a:rPr lang="ko-KR" altLang="en-US" sz="1600" spc="-50" dirty="0"/>
              <a:t>원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아까 본 </a:t>
            </a:r>
            <a:r>
              <a:rPr lang="ko-KR" altLang="en-US" sz="1600" spc="-50" dirty="0" err="1"/>
              <a:t>아이오닉</a:t>
            </a:r>
            <a:r>
              <a:rPr lang="en-US" altLang="ko-KR" sz="1600" spc="-50" dirty="0"/>
              <a:t>5(</a:t>
            </a:r>
            <a:r>
              <a:rPr lang="ko-KR" altLang="en-US" sz="1600" spc="-50" dirty="0"/>
              <a:t>전비</a:t>
            </a:r>
            <a:r>
              <a:rPr lang="en-US" altLang="ko-KR" sz="1600" spc="-50" dirty="0"/>
              <a:t>: 5.1km/liter)</a:t>
            </a:r>
            <a:r>
              <a:rPr lang="ko-KR" altLang="en-US" sz="1600" spc="-50" dirty="0"/>
              <a:t>를 타는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충전비용은 다음의 식으로 계산할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320(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/kWh) x 1/5.1(kWh/km) x 40km = 2,510</a:t>
            </a:r>
            <a:r>
              <a:rPr lang="ko-KR" altLang="en-US" sz="1600" spc="-50" dirty="0"/>
              <a:t>원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같은 </a:t>
            </a:r>
            <a:r>
              <a:rPr lang="en-US" altLang="ko-KR" sz="1600" spc="-50" dirty="0"/>
              <a:t>40km</a:t>
            </a:r>
            <a:r>
              <a:rPr lang="ko-KR" altLang="en-US" sz="1600" spc="-50" dirty="0"/>
              <a:t>를 가는데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아반떼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휘발유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4,800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아이오닉</a:t>
            </a:r>
            <a:r>
              <a:rPr lang="en-US" altLang="ko-KR" sz="1600" spc="-50" dirty="0"/>
              <a:t>5(</a:t>
            </a:r>
            <a:r>
              <a:rPr lang="ko-KR" altLang="en-US" sz="1600" spc="-50" dirty="0"/>
              <a:t>전기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2,510</a:t>
            </a:r>
            <a:r>
              <a:rPr lang="ko-KR" altLang="en-US" sz="1600" spc="-50" dirty="0"/>
              <a:t>원의 비용이 든다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 err="1"/>
              <a:t>아이오닉</a:t>
            </a:r>
            <a:r>
              <a:rPr lang="en-US" altLang="ko-KR" sz="1600" spc="-50" dirty="0"/>
              <a:t>5</a:t>
            </a:r>
            <a:r>
              <a:rPr lang="ko-KR" altLang="en-US" sz="1600" spc="-50" dirty="0"/>
              <a:t>의 충전비용은 아반떼 연료비용의 </a:t>
            </a:r>
            <a:r>
              <a:rPr lang="en-US" altLang="ko-KR" sz="1600" spc="-50" dirty="0"/>
              <a:t>52% </a:t>
            </a:r>
            <a:r>
              <a:rPr lang="ko-KR" altLang="en-US" sz="1600" spc="-50" dirty="0"/>
              <a:t>수준이다</a:t>
            </a:r>
            <a:r>
              <a:rPr lang="en-US" altLang="ko-KR" sz="1600" spc="-50" dirty="0"/>
              <a:t>. (2,510/4,800 = 0.52)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B870053-AD0E-EBB3-81A7-285BCA554000}"/>
                  </a:ext>
                </a:extLst>
              </p:cNvPr>
              <p:cNvSpPr txBox="1"/>
              <p:nvPr/>
            </p:nvSpPr>
            <p:spPr>
              <a:xfrm>
                <a:off x="522474" y="2458517"/>
                <a:ext cx="7387007" cy="32938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연료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비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용</m:t>
                      </m:r>
                      <m:d>
                        <m:dPr>
                          <m:ctrlPr>
                            <a:rPr lang="ko-KR" alt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원</m:t>
                          </m:r>
                        </m:e>
                      </m:d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휘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발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유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가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격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ko-KR" alt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원</m:t>
                          </m:r>
                        </m:num>
                        <m:den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𝑙𝑖𝑡𝑒𝑟</m:t>
                          </m:r>
                        </m:den>
                      </m:f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ko-KR" altLang="en-US" sz="1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sz="1400" i="1" smtClean="0">
                              <a:latin typeface="Cambria Math" panose="02040503050406030204" pitchFamily="18" charset="0"/>
                            </a:rPr>
                            <m:t>연비</m:t>
                          </m:r>
                        </m:e>
                        <m:sup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𝑙𝑖𝑡𝑒𝑟</m:t>
                          </m:r>
                        </m:num>
                        <m:den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𝑘𝑚</m:t>
                          </m:r>
                        </m:den>
                      </m:f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altLang="ko-KR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주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행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거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리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𝑘𝑚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B870053-AD0E-EBB3-81A7-285BCA5540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474" y="2458517"/>
                <a:ext cx="7387007" cy="329386"/>
              </a:xfrm>
              <a:prstGeom prst="rect">
                <a:avLst/>
              </a:prstGeom>
              <a:blipFill>
                <a:blip r:embed="rId2"/>
                <a:stretch>
                  <a:fillRect t="-125926" b="-2074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900081B-9D9E-19F1-35EF-D46FDB0F0BB7}"/>
                  </a:ext>
                </a:extLst>
              </p:cNvPr>
              <p:cNvSpPr txBox="1"/>
              <p:nvPr/>
            </p:nvSpPr>
            <p:spPr>
              <a:xfrm>
                <a:off x="428340" y="4287576"/>
                <a:ext cx="7387007" cy="32938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충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전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비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용</m:t>
                      </m:r>
                      <m:d>
                        <m:dPr>
                          <m:ctrlPr>
                            <a:rPr lang="ko-KR" alt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원</m:t>
                          </m:r>
                        </m:e>
                      </m:d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충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전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요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금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ko-KR" alt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원</m:t>
                          </m:r>
                        </m:num>
                        <m:den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𝑘𝑊ℎ</m:t>
                          </m:r>
                        </m:den>
                      </m:f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ko-KR" altLang="en-U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전</m:t>
                          </m:r>
                          <m:r>
                            <a:rPr lang="ko-KR" altLang="en-US" sz="1400" i="1" smtClean="0">
                              <a:latin typeface="Cambria Math" panose="02040503050406030204" pitchFamily="18" charset="0"/>
                            </a:rPr>
                            <m:t>비</m:t>
                          </m:r>
                        </m:e>
                        <m:sup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𝑘𝑊ℎ</m:t>
                          </m:r>
                        </m:num>
                        <m:den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𝑘𝑚</m:t>
                          </m:r>
                        </m:den>
                      </m:f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altLang="ko-KR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주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행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거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리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𝑘𝑚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900081B-9D9E-19F1-35EF-D46FDB0F0B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340" y="4287576"/>
                <a:ext cx="7387007" cy="329386"/>
              </a:xfrm>
              <a:prstGeom prst="rect">
                <a:avLst/>
              </a:prstGeom>
              <a:blipFill>
                <a:blip r:embed="rId3"/>
                <a:stretch>
                  <a:fillRect t="-125926" b="-2074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35099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D866A-9ECF-735C-D9AF-0403D5FD8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9BD43C-D839-C93C-91E9-7FD2DC0F7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에너지효율 비교 </a:t>
            </a:r>
            <a:r>
              <a:rPr lang="en-US" altLang="ko-KR" dirty="0"/>
              <a:t>(</a:t>
            </a:r>
            <a:r>
              <a:rPr lang="ko-KR" altLang="en-US" dirty="0"/>
              <a:t>휘발유차 </a:t>
            </a:r>
            <a:r>
              <a:rPr lang="en-US" altLang="ko-KR" dirty="0"/>
              <a:t>vs. </a:t>
            </a:r>
            <a:r>
              <a:rPr lang="ko-KR" altLang="en-US" dirty="0"/>
              <a:t>전기차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D015D3-005F-48FC-4C72-BFA03A09F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38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86F131-777C-659F-7141-3D47F1086ABC}"/>
              </a:ext>
            </a:extLst>
          </p:cNvPr>
          <p:cNvSpPr txBox="1"/>
          <p:nvPr/>
        </p:nvSpPr>
        <p:spPr>
          <a:xfrm>
            <a:off x="288790" y="958844"/>
            <a:ext cx="7447546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이번에는 에너지 효율 측면에서 비교해 보자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여기서 에너지 효율은 같은 거리를 가는데 에너지를 얼마나 쓰는지 의미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아반떼는 </a:t>
            </a:r>
            <a:r>
              <a:rPr lang="en-US" altLang="ko-KR" sz="1600" spc="-50" dirty="0"/>
              <a:t>40km </a:t>
            </a:r>
            <a:r>
              <a:rPr lang="ko-KR" altLang="en-US" sz="1600" spc="-50" dirty="0"/>
              <a:t>가는데 몇</a:t>
            </a:r>
            <a:r>
              <a:rPr lang="en-US" altLang="ko-KR" sz="1600" spc="-50" dirty="0"/>
              <a:t> liter</a:t>
            </a:r>
            <a:r>
              <a:rPr lang="ko-KR" altLang="en-US" sz="1600" spc="-50" dirty="0"/>
              <a:t>의 휘발유를 소비할까</a:t>
            </a:r>
            <a:r>
              <a:rPr lang="en-US" altLang="ko-KR" sz="1600" spc="-50" dirty="0"/>
              <a:t>?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40(km)/15(km/liter) = 2.7 liter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오른쪽 </a:t>
            </a:r>
            <a:r>
              <a:rPr lang="ko-KR" altLang="en-US" sz="1600" spc="-50" dirty="0" err="1"/>
              <a:t>표에서와</a:t>
            </a:r>
            <a:r>
              <a:rPr lang="ko-KR" altLang="en-US" sz="1600" spc="-50" dirty="0"/>
              <a:t> 같이 휘발유 </a:t>
            </a:r>
            <a:r>
              <a:rPr lang="en-US" altLang="ko-KR" sz="1600" spc="-50" dirty="0"/>
              <a:t>1liter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32.4 MJ(</a:t>
            </a:r>
            <a:r>
              <a:rPr lang="ko-KR" altLang="en-US" sz="1600" spc="-50" dirty="0" err="1"/>
              <a:t>메가줄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혹은 </a:t>
            </a:r>
            <a:r>
              <a:rPr lang="en-US" altLang="ko-KR" sz="1600" spc="-50" dirty="0"/>
              <a:t>7,750 kcal(</a:t>
            </a:r>
            <a:r>
              <a:rPr lang="ko-KR" altLang="en-US" sz="1600" spc="-50" dirty="0"/>
              <a:t>킬로칼로리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의 에너지를 갖고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아반떼는 </a:t>
            </a:r>
            <a:r>
              <a:rPr lang="en-US" altLang="ko-KR" sz="1600" spc="-50" dirty="0"/>
              <a:t>87.5 MJ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(2.7 x 32.4) </a:t>
            </a:r>
            <a:r>
              <a:rPr lang="ko-KR" altLang="en-US" sz="1600" spc="-50" dirty="0"/>
              <a:t>혹은 </a:t>
            </a:r>
            <a:r>
              <a:rPr lang="en-US" altLang="ko-KR" sz="1600" spc="-50" dirty="0"/>
              <a:t>20,925 kcal (2.7 x 7,750)</a:t>
            </a:r>
            <a:r>
              <a:rPr lang="ko-KR" altLang="en-US" sz="1600" spc="-50" dirty="0"/>
              <a:t>의 에너지를 사용해야 </a:t>
            </a:r>
            <a:r>
              <a:rPr lang="en-US" altLang="ko-KR" sz="1600" spc="-50" dirty="0"/>
              <a:t>40km</a:t>
            </a:r>
            <a:r>
              <a:rPr lang="ko-KR" altLang="en-US" sz="1600" spc="-50" dirty="0"/>
              <a:t>를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갈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아이오닉은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40km </a:t>
            </a:r>
            <a:r>
              <a:rPr lang="ko-KR" altLang="en-US" sz="1600" spc="-50" dirty="0"/>
              <a:t>가는데 몇 </a:t>
            </a:r>
            <a:r>
              <a:rPr lang="en-US" altLang="ko-KR" sz="1600" spc="-50" dirty="0"/>
              <a:t>kWh</a:t>
            </a:r>
            <a:r>
              <a:rPr lang="ko-KR" altLang="en-US" sz="1600" spc="-50" dirty="0"/>
              <a:t>의 휘발유를 소비할까</a:t>
            </a:r>
            <a:r>
              <a:rPr lang="en-US" altLang="ko-KR" sz="1600" spc="-50" dirty="0"/>
              <a:t>?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40km/5.1(km/kWh) = 7.8 kWh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전기 </a:t>
            </a:r>
            <a:r>
              <a:rPr lang="en-US" altLang="ko-KR" sz="1600" spc="-50" dirty="0"/>
              <a:t>1kWh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9.6MJ </a:t>
            </a:r>
            <a:r>
              <a:rPr lang="ko-KR" altLang="en-US" sz="1600" spc="-50" dirty="0"/>
              <a:t>혹은 </a:t>
            </a:r>
            <a:r>
              <a:rPr lang="en-US" altLang="ko-KR" sz="1600" spc="-50" dirty="0"/>
              <a:t>2,290 kcal</a:t>
            </a:r>
            <a:r>
              <a:rPr lang="ko-KR" altLang="en-US" sz="1600" spc="-50" dirty="0"/>
              <a:t>의 에너지를 갖고 있다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오른쪽 표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</a:t>
            </a:r>
            <a:r>
              <a:rPr lang="ko-KR" altLang="en-US" sz="1600" spc="-50" dirty="0" err="1"/>
              <a:t>아이오닉은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74.9 MJ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(7.8 x 9.6) </a:t>
            </a:r>
            <a:r>
              <a:rPr lang="ko-KR" altLang="en-US" sz="1600" spc="-50" dirty="0"/>
              <a:t>혹은 </a:t>
            </a:r>
            <a:r>
              <a:rPr lang="en-US" altLang="ko-KR" sz="1600" spc="-50" dirty="0"/>
              <a:t>17,862 kcal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(7.8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x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2,290)</a:t>
            </a:r>
            <a:r>
              <a:rPr lang="ko-KR" altLang="en-US" sz="1600" spc="-50" dirty="0"/>
              <a:t>의 에너지를 사용해야 </a:t>
            </a:r>
            <a:r>
              <a:rPr lang="en-US" altLang="ko-KR" sz="1600" spc="-50" dirty="0"/>
              <a:t>40km</a:t>
            </a:r>
            <a:r>
              <a:rPr lang="ko-KR" altLang="en-US" sz="1600" spc="-50" dirty="0"/>
              <a:t>를 갈 수 있다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9E7C012-9201-085C-3DED-279F6B7D0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6336" y="794231"/>
            <a:ext cx="4163980" cy="5578063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1DD57BE4-4F5B-FF93-D9EB-FD7B5C6EDE97}"/>
              </a:ext>
            </a:extLst>
          </p:cNvPr>
          <p:cNvSpPr/>
          <p:nvPr/>
        </p:nvSpPr>
        <p:spPr>
          <a:xfrm>
            <a:off x="8056856" y="1477048"/>
            <a:ext cx="3843460" cy="163493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C87B0C1-07AD-5DCB-0195-2E4A3DA366DE}"/>
              </a:ext>
            </a:extLst>
          </p:cNvPr>
          <p:cNvSpPr/>
          <p:nvPr/>
        </p:nvSpPr>
        <p:spPr>
          <a:xfrm>
            <a:off x="9232079" y="1477048"/>
            <a:ext cx="379600" cy="163493"/>
          </a:xfrm>
          <a:prstGeom prst="rect">
            <a:avLst/>
          </a:prstGeom>
          <a:noFill/>
          <a:ln w="63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9B08917-6F43-601B-8413-10A1B0C071A2}"/>
              </a:ext>
            </a:extLst>
          </p:cNvPr>
          <p:cNvSpPr/>
          <p:nvPr/>
        </p:nvSpPr>
        <p:spPr>
          <a:xfrm>
            <a:off x="9653559" y="1477048"/>
            <a:ext cx="402291" cy="163493"/>
          </a:xfrm>
          <a:prstGeom prst="rect">
            <a:avLst/>
          </a:prstGeom>
          <a:noFill/>
          <a:ln w="63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E6CC028-BD3D-7108-1AEA-B919FB329787}"/>
              </a:ext>
            </a:extLst>
          </p:cNvPr>
          <p:cNvSpPr/>
          <p:nvPr/>
        </p:nvSpPr>
        <p:spPr>
          <a:xfrm>
            <a:off x="8056856" y="5217459"/>
            <a:ext cx="3843460" cy="163493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2C7D3E6-3EFD-C153-8DB2-2F9EC1B76C78}"/>
              </a:ext>
            </a:extLst>
          </p:cNvPr>
          <p:cNvSpPr/>
          <p:nvPr/>
        </p:nvSpPr>
        <p:spPr>
          <a:xfrm>
            <a:off x="9232079" y="5217459"/>
            <a:ext cx="379600" cy="163493"/>
          </a:xfrm>
          <a:prstGeom prst="rect">
            <a:avLst/>
          </a:prstGeom>
          <a:noFill/>
          <a:ln w="63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DAB50AF-44B2-1E46-1C45-A23880273460}"/>
              </a:ext>
            </a:extLst>
          </p:cNvPr>
          <p:cNvSpPr/>
          <p:nvPr/>
        </p:nvSpPr>
        <p:spPr>
          <a:xfrm>
            <a:off x="9653559" y="5217459"/>
            <a:ext cx="402291" cy="163493"/>
          </a:xfrm>
          <a:prstGeom prst="rect">
            <a:avLst/>
          </a:prstGeom>
          <a:noFill/>
          <a:ln w="63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52748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541FC-39A3-C293-1C0D-CC337F69C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2284A47-D6E7-787B-583A-7BD50BCABBA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1B81D5-ADEB-E606-3F8E-92A42A42D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AE91B051-A94F-C5C3-0DC7-640F303F0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4. </a:t>
            </a:r>
            <a:r>
              <a:rPr lang="ko-KR" altLang="en-US" sz="4000" b="1" i="0" spc="150" dirty="0"/>
              <a:t>도시가스 요금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15073163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92607-0F12-2E31-62AB-1E7BD1D28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23DD91-C6CB-E783-A4CE-B36531A19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도시가스 요금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8F1E9B-23E0-BF5A-F08F-378E0FCA5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40</a:t>
            </a:fld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AA35181-7F03-5702-1DBB-F6FDCC6074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" y="2713206"/>
            <a:ext cx="7261860" cy="382370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07935C7-E7C7-D26D-D462-B321CA5D9964}"/>
              </a:ext>
            </a:extLst>
          </p:cNvPr>
          <p:cNvSpPr txBox="1"/>
          <p:nvPr/>
        </p:nvSpPr>
        <p:spPr>
          <a:xfrm>
            <a:off x="288790" y="958844"/>
            <a:ext cx="11118453" cy="15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우리가 일상생활에서 가스를 사용하는 경우는 주방에서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요리할 때 도시가스를 사용하고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CNG </a:t>
            </a:r>
            <a:r>
              <a:rPr lang="ko-KR" altLang="en-US" sz="1600" spc="-50" dirty="0"/>
              <a:t>시내버스를 타면 그 버스의 연료는 압축천연가스</a:t>
            </a:r>
            <a:r>
              <a:rPr lang="en-US" altLang="ko-KR" sz="1600" spc="-50" dirty="0"/>
              <a:t>(CNG, Compressed Natural Gas) 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가스도 전기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휘발유와 마찬가지로 사용량에 단가를 곱하여 가스요금 계산할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가스는 </a:t>
            </a:r>
            <a:r>
              <a:rPr lang="en-US" altLang="ko-KR" sz="1600" spc="-50" dirty="0"/>
              <a:t>m</a:t>
            </a:r>
            <a:r>
              <a:rPr lang="en-US" altLang="ko-KR" sz="1600" spc="-50" baseline="30000" dirty="0"/>
              <a:t>3 </a:t>
            </a:r>
            <a:r>
              <a:rPr lang="ko-KR" altLang="en-US" sz="1600" spc="-50" dirty="0"/>
              <a:t>라는 부피를 기준으로 에너지사용을 측정한다</a:t>
            </a:r>
            <a:r>
              <a:rPr lang="en-US" altLang="ko-KR" sz="1600" spc="-50" dirty="0"/>
              <a:t>.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A4B3928-A142-852C-D14E-3B0C938E0C9C}"/>
              </a:ext>
            </a:extLst>
          </p:cNvPr>
          <p:cNvSpPr/>
          <p:nvPr/>
        </p:nvSpPr>
        <p:spPr>
          <a:xfrm>
            <a:off x="7848600" y="2730308"/>
            <a:ext cx="48768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m</a:t>
            </a:r>
            <a:r>
              <a:rPr lang="en-US" altLang="ko-KR" baseline="30000" dirty="0">
                <a:solidFill>
                  <a:schemeClr val="tx1"/>
                </a:solidFill>
              </a:rPr>
              <a:t>3</a:t>
            </a:r>
            <a:endParaRPr lang="ko-KR" altLang="en-US" baseline="30000" dirty="0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F83414F-FDFF-212E-94F9-E95AEBDBC6E4}"/>
              </a:ext>
            </a:extLst>
          </p:cNvPr>
          <p:cNvSpPr/>
          <p:nvPr/>
        </p:nvSpPr>
        <p:spPr>
          <a:xfrm>
            <a:off x="4884420" y="3959642"/>
            <a:ext cx="487680" cy="787618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aseline="30000" dirty="0">
              <a:solidFill>
                <a:schemeClr val="tx1"/>
              </a:solidFill>
            </a:endParaRPr>
          </a:p>
        </p:txBody>
      </p:sp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3D69AE95-7D15-2C3B-1254-8D6576C49E10}"/>
              </a:ext>
            </a:extLst>
          </p:cNvPr>
          <p:cNvCxnSpPr>
            <a:cxnSpLocks/>
            <a:stCxn id="16" idx="3"/>
            <a:endCxn id="15" idx="1"/>
          </p:cNvCxnSpPr>
          <p:nvPr/>
        </p:nvCxnSpPr>
        <p:spPr>
          <a:xfrm flipV="1">
            <a:off x="5372100" y="2989388"/>
            <a:ext cx="2476500" cy="1364063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C58DBAA-84DC-7628-966B-49AFD993CE90}"/>
              </a:ext>
            </a:extLst>
          </p:cNvPr>
          <p:cNvSpPr txBox="1"/>
          <p:nvPr/>
        </p:nvSpPr>
        <p:spPr>
          <a:xfrm>
            <a:off x="7632700" y="3365580"/>
            <a:ext cx="4133850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가스는 기체이므로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부피</a:t>
            </a:r>
            <a:r>
              <a:rPr lang="en-US" altLang="ko-KR" sz="1600" spc="-50" dirty="0"/>
              <a:t>(m</a:t>
            </a:r>
            <a:r>
              <a:rPr lang="en-US" altLang="ko-KR" sz="1600" spc="-50" baseline="30000" dirty="0"/>
              <a:t>3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로 측정한다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휘발유는 액체 형태이므로</a:t>
            </a:r>
            <a:r>
              <a:rPr lang="en-US" altLang="ko-KR" sz="1600" spc="-50" dirty="0"/>
              <a:t>, liter</a:t>
            </a:r>
            <a:r>
              <a:rPr lang="ko-KR" altLang="en-US" sz="1600" spc="-50" dirty="0"/>
              <a:t>를 사용한다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전기는 전기 형태이므로</a:t>
            </a:r>
            <a:r>
              <a:rPr lang="en-US" altLang="ko-KR" sz="1600" spc="-50" dirty="0"/>
              <a:t>, kWh</a:t>
            </a:r>
            <a:r>
              <a:rPr lang="ko-KR" altLang="en-US" sz="1600" spc="-50" dirty="0"/>
              <a:t>를 사용한다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석탄은 고체 형태이므로</a:t>
            </a:r>
            <a:r>
              <a:rPr lang="en-US" altLang="ko-KR" sz="1600" spc="-50" dirty="0"/>
              <a:t>, kg</a:t>
            </a:r>
            <a:r>
              <a:rPr lang="ko-KR" altLang="en-US" sz="1600" spc="-50" dirty="0"/>
              <a:t>을 사용한다</a:t>
            </a:r>
            <a:r>
              <a:rPr lang="en-US" altLang="ko-KR" sz="1600" spc="-50" dirty="0"/>
              <a:t>.</a:t>
            </a:r>
          </a:p>
        </p:txBody>
      </p:sp>
      <p:sp>
        <p:nvSpPr>
          <p:cNvPr id="23" name="정육면체 22">
            <a:extLst>
              <a:ext uri="{FF2B5EF4-FFF2-40B4-BE49-F238E27FC236}">
                <a16:creationId xmlns:a16="http://schemas.microsoft.com/office/drawing/2014/main" id="{EEF3AB59-E652-EE29-2651-C819DDBF9188}"/>
              </a:ext>
            </a:extLst>
          </p:cNvPr>
          <p:cNvSpPr/>
          <p:nvPr/>
        </p:nvSpPr>
        <p:spPr>
          <a:xfrm>
            <a:off x="9729978" y="1668931"/>
            <a:ext cx="1216152" cy="1216152"/>
          </a:xfrm>
          <a:prstGeom prst="cub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왼쪽 중괄호 25">
            <a:extLst>
              <a:ext uri="{FF2B5EF4-FFF2-40B4-BE49-F238E27FC236}">
                <a16:creationId xmlns:a16="http://schemas.microsoft.com/office/drawing/2014/main" id="{F2C288A7-3919-FD49-4D4A-224DBED215B9}"/>
              </a:ext>
            </a:extLst>
          </p:cNvPr>
          <p:cNvSpPr/>
          <p:nvPr/>
        </p:nvSpPr>
        <p:spPr>
          <a:xfrm>
            <a:off x="9538716" y="1979749"/>
            <a:ext cx="155448" cy="905334"/>
          </a:xfrm>
          <a:prstGeom prst="leftBrace">
            <a:avLst>
              <a:gd name="adj1" fmla="val 8333"/>
              <a:gd name="adj2" fmla="val 50789"/>
            </a:avLst>
          </a:prstGeom>
          <a:ln w="3175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왼쪽 중괄호 27">
            <a:extLst>
              <a:ext uri="{FF2B5EF4-FFF2-40B4-BE49-F238E27FC236}">
                <a16:creationId xmlns:a16="http://schemas.microsoft.com/office/drawing/2014/main" id="{7D17E994-9537-04C9-B42E-D97C47EFC7CE}"/>
              </a:ext>
            </a:extLst>
          </p:cNvPr>
          <p:cNvSpPr/>
          <p:nvPr/>
        </p:nvSpPr>
        <p:spPr>
          <a:xfrm rot="16200000">
            <a:off x="10109683" y="2535651"/>
            <a:ext cx="155448" cy="905334"/>
          </a:xfrm>
          <a:prstGeom prst="leftBrace">
            <a:avLst>
              <a:gd name="adj1" fmla="val 8333"/>
              <a:gd name="adj2" fmla="val 50789"/>
            </a:avLst>
          </a:prstGeom>
          <a:ln w="3175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왼쪽 중괄호 28">
            <a:extLst>
              <a:ext uri="{FF2B5EF4-FFF2-40B4-BE49-F238E27FC236}">
                <a16:creationId xmlns:a16="http://schemas.microsoft.com/office/drawing/2014/main" id="{D3B4CC32-EA1C-2149-5298-886D152877CC}"/>
              </a:ext>
            </a:extLst>
          </p:cNvPr>
          <p:cNvSpPr/>
          <p:nvPr/>
        </p:nvSpPr>
        <p:spPr>
          <a:xfrm rot="13509751">
            <a:off x="10790149" y="2583354"/>
            <a:ext cx="155448" cy="432218"/>
          </a:xfrm>
          <a:prstGeom prst="leftBrace">
            <a:avLst>
              <a:gd name="adj1" fmla="val 8333"/>
              <a:gd name="adj2" fmla="val 50789"/>
            </a:avLst>
          </a:prstGeom>
          <a:ln w="3175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95230AA-27E4-365E-5CDA-7D5604407DF0}"/>
              </a:ext>
            </a:extLst>
          </p:cNvPr>
          <p:cNvSpPr/>
          <p:nvPr/>
        </p:nvSpPr>
        <p:spPr>
          <a:xfrm>
            <a:off x="9215661" y="2311351"/>
            <a:ext cx="386525" cy="2312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1m</a:t>
            </a:r>
            <a:endParaRPr lang="ko-KR" altLang="en-US" sz="1000" baseline="30000" dirty="0">
              <a:solidFill>
                <a:schemeClr val="tx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F6079B0-94C4-8E12-026A-3757AF9D446A}"/>
              </a:ext>
            </a:extLst>
          </p:cNvPr>
          <p:cNvSpPr/>
          <p:nvPr/>
        </p:nvSpPr>
        <p:spPr>
          <a:xfrm>
            <a:off x="10003837" y="3013199"/>
            <a:ext cx="386525" cy="2312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1m</a:t>
            </a:r>
            <a:endParaRPr lang="ko-KR" altLang="en-US" sz="1000" baseline="30000" dirty="0">
              <a:solidFill>
                <a:schemeClr val="tx1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9169BA5-B0B1-AE02-97AA-DD5CAD1012B7}"/>
              </a:ext>
            </a:extLst>
          </p:cNvPr>
          <p:cNvSpPr/>
          <p:nvPr/>
        </p:nvSpPr>
        <p:spPr>
          <a:xfrm>
            <a:off x="10781728" y="2813374"/>
            <a:ext cx="386525" cy="2312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1m</a:t>
            </a:r>
            <a:endParaRPr lang="ko-KR" altLang="en-US" sz="1000" baseline="30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03430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753B8-4AB1-9763-6BA8-F519C13A9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2B098F-A592-3355-073E-E5F2A2EE8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도시가스 요금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487BC3-1A87-99E6-1DD8-96E944A28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41</a:t>
            </a:fld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7C210A-1598-4F1B-1466-6E4A77D1BACE}"/>
              </a:ext>
            </a:extLst>
          </p:cNvPr>
          <p:cNvSpPr txBox="1"/>
          <p:nvPr/>
        </p:nvSpPr>
        <p:spPr>
          <a:xfrm>
            <a:off x="288791" y="958844"/>
            <a:ext cx="7396204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오른쪽 표에서 도시가스를 보면 단순 </a:t>
            </a:r>
            <a:r>
              <a:rPr lang="en-US" altLang="ko-KR" sz="1600" spc="-50" dirty="0"/>
              <a:t>m</a:t>
            </a:r>
            <a:r>
              <a:rPr lang="en-US" altLang="ko-KR" sz="1600" spc="-50" baseline="30000" dirty="0"/>
              <a:t>3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이 아니라</a:t>
            </a:r>
            <a:r>
              <a:rPr lang="en-US" altLang="ko-KR" sz="1600" spc="-50" dirty="0"/>
              <a:t>, Nm</a:t>
            </a:r>
            <a:r>
              <a:rPr lang="en-US" altLang="ko-KR" sz="1600" spc="-50" baseline="30000" dirty="0"/>
              <a:t>3</a:t>
            </a:r>
            <a:r>
              <a:rPr lang="ko-KR" altLang="en-US" sz="1600" spc="-50" dirty="0"/>
              <a:t>란 단위를 사용한다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1Nm</a:t>
            </a:r>
            <a:r>
              <a:rPr lang="en-US" altLang="ko-KR" sz="1600" spc="-50" baseline="30000" dirty="0"/>
              <a:t>3</a:t>
            </a:r>
            <a:r>
              <a:rPr lang="ko-KR" altLang="en-US" sz="1600" spc="-50" dirty="0"/>
              <a:t>란 </a:t>
            </a:r>
            <a:r>
              <a:rPr lang="en-US" altLang="ko-KR" sz="1600" spc="-50" dirty="0"/>
              <a:t>0℃, 1</a:t>
            </a:r>
            <a:r>
              <a:rPr lang="ko-KR" altLang="en-US" sz="1600" spc="-50" dirty="0"/>
              <a:t>기압 상태에서의 기체 </a:t>
            </a:r>
            <a:r>
              <a:rPr lang="en-US" altLang="ko-KR" sz="1600" spc="-50" dirty="0"/>
              <a:t>1m</a:t>
            </a:r>
            <a:r>
              <a:rPr lang="en-US" altLang="ko-KR" sz="1600" spc="-50" baseline="30000" dirty="0"/>
              <a:t>3</a:t>
            </a:r>
            <a:r>
              <a:rPr lang="ko-KR" altLang="en-US" sz="1600" spc="-50" dirty="0"/>
              <a:t> 를 의미한다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0℃, 1</a:t>
            </a:r>
            <a:r>
              <a:rPr lang="ko-KR" altLang="en-US" sz="1600" spc="-50" dirty="0"/>
              <a:t>기압인 상태를 표준 상태라고 보통 표현한다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표준상태일 때의 기체 부피를 의미한다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표준상태라고 하는 기준이 필요한 이유는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온도가 올라가면 부피는 커지고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온도가 내려가면 부피는 작아진다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또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압력을 높이면 부피는 작아지고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압력을 낮추면 부피는 커진다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따라서 표준상태라는 기준을 정의하지 않으면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여름과 겨울에 똑같은 양의 가스를 사용해도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여름에 가스요금을 더 많이 내게 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우리가 집에서 쓰는 도시가스는 </a:t>
            </a:r>
            <a:r>
              <a:rPr lang="en-US" altLang="ko-KR" sz="1600" spc="-50" dirty="0"/>
              <a:t>LNG</a:t>
            </a:r>
            <a:r>
              <a:rPr lang="ko-KR" altLang="en-US" sz="1600" spc="-50" dirty="0"/>
              <a:t>로서</a:t>
            </a:r>
            <a:r>
              <a:rPr lang="en-US" altLang="ko-KR" sz="1600" spc="-50" dirty="0"/>
              <a:t>, 1Nm</a:t>
            </a:r>
            <a:r>
              <a:rPr lang="en-US" altLang="ko-KR" sz="1600" spc="-50" baseline="30000" dirty="0"/>
              <a:t>3</a:t>
            </a:r>
            <a:r>
              <a:rPr lang="ko-KR" altLang="en-US" sz="1600" spc="-50" dirty="0"/>
              <a:t>당 </a:t>
            </a:r>
            <a:r>
              <a:rPr lang="en-US" altLang="ko-KR" sz="1600" spc="-50" dirty="0"/>
              <a:t>42.7MJ </a:t>
            </a:r>
            <a:r>
              <a:rPr lang="ko-KR" altLang="en-US" sz="1600" spc="-50" dirty="0"/>
              <a:t>혹은 </a:t>
            </a:r>
            <a:r>
              <a:rPr lang="en-US" altLang="ko-KR" sz="1600" spc="-50" dirty="0"/>
              <a:t>10,190kcal</a:t>
            </a:r>
            <a:r>
              <a:rPr lang="ko-KR" altLang="en-US" sz="1600" spc="-50" dirty="0"/>
              <a:t>의 에너지를 갖고 있다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63B95D6-3EB9-2169-6230-593B5CAF6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6336" y="794231"/>
            <a:ext cx="4163980" cy="5578063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9064604B-77D0-72E8-D3AA-4BDEF15DCCCD}"/>
              </a:ext>
            </a:extLst>
          </p:cNvPr>
          <p:cNvSpPr/>
          <p:nvPr/>
        </p:nvSpPr>
        <p:spPr>
          <a:xfrm>
            <a:off x="8056856" y="3879477"/>
            <a:ext cx="3843460" cy="163493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6108B08-E460-92D4-0FA7-4066DBC5D3A9}"/>
              </a:ext>
            </a:extLst>
          </p:cNvPr>
          <p:cNvSpPr/>
          <p:nvPr/>
        </p:nvSpPr>
        <p:spPr>
          <a:xfrm>
            <a:off x="9232079" y="3879477"/>
            <a:ext cx="379600" cy="163493"/>
          </a:xfrm>
          <a:prstGeom prst="rect">
            <a:avLst/>
          </a:prstGeom>
          <a:noFill/>
          <a:ln w="63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E7A1EAD-8FB8-F1BD-6875-45390C7DBEAE}"/>
              </a:ext>
            </a:extLst>
          </p:cNvPr>
          <p:cNvSpPr/>
          <p:nvPr/>
        </p:nvSpPr>
        <p:spPr>
          <a:xfrm>
            <a:off x="9653559" y="3879477"/>
            <a:ext cx="402291" cy="163493"/>
          </a:xfrm>
          <a:prstGeom prst="rect">
            <a:avLst/>
          </a:prstGeom>
          <a:noFill/>
          <a:ln w="63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25786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E2EED-ED97-05C3-7A45-9D6F19F2A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0E9057-5AD5-C997-A298-BEC0194BD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도시가스 요금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CE5435-EBD6-A694-B2A1-B9A2A4CA1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42</a:t>
            </a:fld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8A23AC-16A7-0CE2-9898-14CDFC1071C3}"/>
              </a:ext>
            </a:extLst>
          </p:cNvPr>
          <p:cNvSpPr txBox="1"/>
          <p:nvPr/>
        </p:nvSpPr>
        <p:spPr>
          <a:xfrm>
            <a:off x="288790" y="958844"/>
            <a:ext cx="11118453" cy="15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도시가스 요금은 아래와 같이 계산한다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온압보정계수는</a:t>
            </a:r>
            <a:r>
              <a:rPr lang="ko-KR" altLang="en-US" sz="1600" spc="-50" dirty="0"/>
              <a:t> 도시가스 계량기가 측정한 가스의 부피</a:t>
            </a:r>
            <a:r>
              <a:rPr lang="en-US" altLang="ko-KR" sz="1600" spc="-50" dirty="0"/>
              <a:t>(m</a:t>
            </a:r>
            <a:r>
              <a:rPr lang="en-US" altLang="ko-KR" sz="1600" spc="-50" baseline="30000" dirty="0"/>
              <a:t>3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를 표준상태의 부피로 </a:t>
            </a:r>
            <a:r>
              <a:rPr lang="en-US" altLang="ko-KR" sz="1600" spc="-50" dirty="0"/>
              <a:t>(Nm</a:t>
            </a:r>
            <a:r>
              <a:rPr lang="en-US" altLang="ko-KR" sz="1600" spc="-50" baseline="30000" dirty="0"/>
              <a:t>3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로 환산하기 위한 계수이다</a:t>
            </a:r>
            <a:r>
              <a:rPr lang="en-US" altLang="ko-KR" sz="1600" spc="-5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2D9C6E6-E2A3-D67D-FF57-11D2E985C96A}"/>
                  </a:ext>
                </a:extLst>
              </p:cNvPr>
              <p:cNvSpPr txBox="1"/>
              <p:nvPr/>
            </p:nvSpPr>
            <p:spPr>
              <a:xfrm>
                <a:off x="1176251" y="1430033"/>
                <a:ext cx="8515506" cy="2431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도시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가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스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사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용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요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금</m:t>
                      </m:r>
                      <m:d>
                        <m:dPr>
                          <m:ctrlPr>
                            <a:rPr lang="ko-KR" alt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원</m:t>
                          </m:r>
                        </m:e>
                      </m:d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사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용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량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d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온압보정계수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평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균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열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량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𝑀𝐽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/</m:t>
                      </m:r>
                      <m:sSup>
                        <m:sSup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ko-KR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사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용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단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가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원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𝑀𝐽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2D9C6E6-E2A3-D67D-FF57-11D2E985C9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6251" y="1430033"/>
                <a:ext cx="8515506" cy="243143"/>
              </a:xfrm>
              <a:prstGeom prst="rect">
                <a:avLst/>
              </a:prstGeom>
              <a:blipFill>
                <a:blip r:embed="rId2"/>
                <a:stretch>
                  <a:fillRect l="-859" t="-7692" b="-256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그림 6">
            <a:extLst>
              <a:ext uri="{FF2B5EF4-FFF2-40B4-BE49-F238E27FC236}">
                <a16:creationId xmlns:a16="http://schemas.microsoft.com/office/drawing/2014/main" id="{75A88289-B9FE-1A08-255F-8DEE9B345B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8493" y="3307964"/>
            <a:ext cx="2042380" cy="31438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62CBC7A-F124-49B9-1F49-E458CD9CF6B8}"/>
              </a:ext>
            </a:extLst>
          </p:cNvPr>
          <p:cNvSpPr txBox="1"/>
          <p:nvPr/>
        </p:nvSpPr>
        <p:spPr>
          <a:xfrm>
            <a:off x="9609171" y="3050394"/>
            <a:ext cx="24498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&lt;2025</a:t>
            </a:r>
            <a:r>
              <a:rPr lang="ko-KR" altLang="en-US" sz="1200" spc="-50" dirty="0"/>
              <a:t>년 도시가스 </a:t>
            </a:r>
            <a:r>
              <a:rPr lang="ko-KR" altLang="en-US" sz="1200" spc="-50" dirty="0" err="1"/>
              <a:t>온압보정계수</a:t>
            </a:r>
            <a:r>
              <a:rPr lang="en-US" altLang="ko-KR" sz="1200" spc="-50" dirty="0"/>
              <a:t>&gt;</a:t>
            </a:r>
            <a:endParaRPr lang="ko-KR" altLang="en-US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940D92-D33A-4C34-7F25-A8203B9E5D99}"/>
              </a:ext>
            </a:extLst>
          </p:cNvPr>
          <p:cNvSpPr txBox="1"/>
          <p:nvPr/>
        </p:nvSpPr>
        <p:spPr>
          <a:xfrm>
            <a:off x="288790" y="2664989"/>
            <a:ext cx="9345539" cy="37380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지역별로 기온과 기압이 다르므로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오른쪽 표와 같이 </a:t>
            </a:r>
            <a:r>
              <a:rPr lang="ko-KR" altLang="en-US" sz="1600" spc="-50" dirty="0" err="1"/>
              <a:t>온압보정계수를</a:t>
            </a:r>
            <a:r>
              <a:rPr lang="ko-KR" altLang="en-US" sz="1600" spc="-50" dirty="0"/>
              <a:t> 지역별로 적용한다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서울의 경우 </a:t>
            </a:r>
            <a:r>
              <a:rPr lang="en-US" altLang="ko-KR" sz="1600" spc="-50" dirty="0"/>
              <a:t>1m</a:t>
            </a:r>
            <a:r>
              <a:rPr lang="en-US" altLang="ko-KR" sz="1600" spc="-50" baseline="30000" dirty="0"/>
              <a:t>3</a:t>
            </a:r>
            <a:r>
              <a:rPr lang="ko-KR" altLang="en-US" sz="1600" spc="-50" dirty="0"/>
              <a:t>의 가스는 표준상태로 환산해보면 </a:t>
            </a:r>
            <a:r>
              <a:rPr lang="en-US" altLang="ko-KR" sz="1600" spc="-50" dirty="0"/>
              <a:t>0.9944 Nm</a:t>
            </a:r>
            <a:r>
              <a:rPr lang="en-US" altLang="ko-KR" sz="1600" spc="-50" baseline="30000" dirty="0"/>
              <a:t>3</a:t>
            </a:r>
            <a:r>
              <a:rPr lang="ko-KR" altLang="en-US" sz="1600" spc="-50" baseline="30000" dirty="0"/>
              <a:t> 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제주의 경우 </a:t>
            </a:r>
            <a:r>
              <a:rPr lang="en-US" altLang="ko-KR" sz="1600" spc="-50" dirty="0"/>
              <a:t>1m</a:t>
            </a:r>
            <a:r>
              <a:rPr lang="en-US" altLang="ko-KR" sz="1600" spc="-50" baseline="30000" dirty="0"/>
              <a:t>3</a:t>
            </a:r>
            <a:r>
              <a:rPr lang="ko-KR" altLang="en-US" sz="1600" spc="-50" dirty="0"/>
              <a:t>의 가스는 표준상태로 환산해보면 </a:t>
            </a:r>
            <a:r>
              <a:rPr lang="en-US" altLang="ko-KR" sz="1600" spc="-50" dirty="0"/>
              <a:t>0.9731 Nm</a:t>
            </a:r>
            <a:r>
              <a:rPr lang="en-US" altLang="ko-KR" sz="1600" spc="-50" baseline="30000" dirty="0"/>
              <a:t>3</a:t>
            </a:r>
            <a:r>
              <a:rPr lang="ko-KR" altLang="en-US" sz="1600" spc="-50" baseline="30000" dirty="0"/>
              <a:t> 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제주는 서울보다 평균 기온이 높아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같은 양의 가스 분자라도 보다 큰 부피를 갖는다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따라서 보정을 해주지 않으면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가스 사용량이 과대측정되기 때문에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낮은 보정계수를 적용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제천의 경우 </a:t>
            </a:r>
            <a:r>
              <a:rPr lang="en-US" altLang="ko-KR" sz="1600" spc="-50" dirty="0"/>
              <a:t>1m</a:t>
            </a:r>
            <a:r>
              <a:rPr lang="en-US" altLang="ko-KR" sz="1600" spc="-50" baseline="30000" dirty="0"/>
              <a:t>3</a:t>
            </a:r>
            <a:r>
              <a:rPr lang="ko-KR" altLang="en-US" sz="1600" spc="-50" dirty="0"/>
              <a:t>의 가스는 표준상태로 환산해보면 </a:t>
            </a:r>
            <a:r>
              <a:rPr lang="en-US" altLang="ko-KR" sz="1600" spc="-50" dirty="0"/>
              <a:t>0.9748 Nm</a:t>
            </a:r>
            <a:r>
              <a:rPr lang="en-US" altLang="ko-KR" sz="1600" spc="-50" baseline="30000" dirty="0"/>
              <a:t>3</a:t>
            </a:r>
            <a:r>
              <a:rPr lang="ko-KR" altLang="en-US" sz="1600" spc="-50" baseline="30000" dirty="0"/>
              <a:t> 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제천은 제주와 달리 충주 옆에 위치한 내륙지역임에도 불구하고 </a:t>
            </a:r>
            <a:r>
              <a:rPr lang="ko-KR" altLang="en-US" sz="1600" spc="-50" dirty="0" err="1"/>
              <a:t>온압보정계수가</a:t>
            </a:r>
            <a:r>
              <a:rPr lang="ko-KR" altLang="en-US" sz="1600" spc="-50" dirty="0"/>
              <a:t> 낮다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제천은 다른 지역보다 해발고도가 높은 지역인데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해발고도가 높으면 기압이 낮아져서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같은 양의 가스 분자라도 보다 큰 부피를 차지한다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따라서 보정을 해주지 않으면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가스 사용량이 과대측정되기 때문에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낮은 보정계수를 적용</a:t>
            </a:r>
            <a:r>
              <a:rPr lang="en-US" altLang="ko-KR" sz="1600" spc="-50" dirty="0"/>
              <a:t>.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E9EB67D-3FCB-AD0D-1F48-A82326A5CBBF}"/>
              </a:ext>
            </a:extLst>
          </p:cNvPr>
          <p:cNvSpPr/>
          <p:nvPr/>
        </p:nvSpPr>
        <p:spPr>
          <a:xfrm>
            <a:off x="9885039" y="3319712"/>
            <a:ext cx="897128" cy="135932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5A38100-4984-C768-D2BF-AE49B06D4A5B}"/>
              </a:ext>
            </a:extLst>
          </p:cNvPr>
          <p:cNvSpPr/>
          <p:nvPr/>
        </p:nvSpPr>
        <p:spPr>
          <a:xfrm>
            <a:off x="9885039" y="4576705"/>
            <a:ext cx="897128" cy="135932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1E865AA-F37A-C658-7AFF-5E9BA125E53B}"/>
              </a:ext>
            </a:extLst>
          </p:cNvPr>
          <p:cNvSpPr/>
          <p:nvPr/>
        </p:nvSpPr>
        <p:spPr>
          <a:xfrm>
            <a:off x="10941679" y="6186911"/>
            <a:ext cx="897128" cy="135932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451430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5ADB1-456F-C566-8D5E-914EBC83A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170007-EA5C-A92E-1DE2-75053F801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도시가스 요금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B5E98C-A9A3-4D38-1498-6225EFBD5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43</a:t>
            </a:fld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C22E70-D429-13E1-C4CD-77C07439EF51}"/>
              </a:ext>
            </a:extLst>
          </p:cNvPr>
          <p:cNvSpPr txBox="1"/>
          <p:nvPr/>
        </p:nvSpPr>
        <p:spPr>
          <a:xfrm>
            <a:off x="288790" y="958844"/>
            <a:ext cx="11118453" cy="18913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우리나라는 한국가스공사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도매업자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가 해외로부터 천연가스를 수입하여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파이프라인을 통해 국내 각지에 공급하고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각 지역의 가스공급업자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소매업자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는 해당지역에서 독점적 지위로서 소비자들에게 가스를 판매한다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도시가스 사용단가는 지역별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공급업체별로 약간씩 다르다</a:t>
            </a:r>
            <a:r>
              <a:rPr lang="en-US" altLang="ko-KR" sz="1600" spc="-50" dirty="0"/>
              <a:t>.</a:t>
            </a:r>
            <a:r>
              <a:rPr lang="ko-KR" altLang="en-US" sz="1600" spc="-50" dirty="0"/>
              <a:t>  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용도별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주택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업무난방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일반용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로 나뉘고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용도에 따라 가격이 다르다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0593D00-D1B4-9F70-6E08-09815BC181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1707" y="3479800"/>
            <a:ext cx="6084732" cy="274328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7AA271C-1F98-92CC-6803-5456D72AA0A7}"/>
              </a:ext>
            </a:extLst>
          </p:cNvPr>
          <p:cNvSpPr txBox="1"/>
          <p:nvPr/>
        </p:nvSpPr>
        <p:spPr>
          <a:xfrm>
            <a:off x="9527540" y="6223086"/>
            <a:ext cx="225679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/>
              <a:t>출처</a:t>
            </a:r>
            <a:r>
              <a:rPr lang="en-US" altLang="ko-KR" sz="800" dirty="0"/>
              <a:t>: </a:t>
            </a:r>
            <a:r>
              <a:rPr lang="ko-KR" altLang="en-US" sz="800" dirty="0"/>
              <a:t>http://www.citygas.or.kr/info/charge.jsp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D501CC7-A93C-177F-557B-561A46FDC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26" y="2868669"/>
            <a:ext cx="3543827" cy="366823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1CF1DFD-0079-56C4-64F5-6E14FF23D39E}"/>
              </a:ext>
            </a:extLst>
          </p:cNvPr>
          <p:cNvSpPr txBox="1"/>
          <p:nvPr/>
        </p:nvSpPr>
        <p:spPr>
          <a:xfrm>
            <a:off x="1547211" y="3070714"/>
            <a:ext cx="24498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도시가스 회사 현황</a:t>
            </a:r>
            <a:r>
              <a:rPr lang="en-US" altLang="ko-KR" sz="1200" spc="-50" dirty="0"/>
              <a:t>&gt;</a:t>
            </a:r>
            <a:endParaRPr lang="ko-KR" altLang="en-US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F2ECD8-06EA-5CAA-B784-A045D94CAAF7}"/>
              </a:ext>
            </a:extLst>
          </p:cNvPr>
          <p:cNvSpPr txBox="1"/>
          <p:nvPr/>
        </p:nvSpPr>
        <p:spPr>
          <a:xfrm>
            <a:off x="1852930" y="6330808"/>
            <a:ext cx="2084070" cy="206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700" dirty="0"/>
              <a:t>http://www.citygas.or.kr/company/situation.jsp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659CB0-A21B-1E4A-B3BD-1C3BC3177112}"/>
              </a:ext>
            </a:extLst>
          </p:cNvPr>
          <p:cNvSpPr txBox="1"/>
          <p:nvPr/>
        </p:nvSpPr>
        <p:spPr>
          <a:xfrm>
            <a:off x="7495891" y="3290500"/>
            <a:ext cx="24498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도시가스 </a:t>
            </a:r>
            <a:r>
              <a:rPr lang="ko-KR" altLang="en-US" sz="1200" spc="-50" dirty="0" err="1"/>
              <a:t>요금표</a:t>
            </a:r>
            <a:r>
              <a:rPr lang="en-US" altLang="ko-KR" sz="1200" spc="-50" dirty="0"/>
              <a:t>&gt;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61985884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5775A-C5EA-E66A-9608-DD8536D90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D417AE-4BF1-B500-EF34-86E9DE24A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도시가스 요금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D9B1B5-6E87-E910-FA08-851ECA1EA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44</a:t>
            </a:fld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35C9BC-54D8-3123-3CEF-FDEF0B0286A5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물 </a:t>
            </a:r>
            <a:r>
              <a:rPr lang="en-US" altLang="ko-KR" sz="1600" spc="-50" dirty="0"/>
              <a:t>500ml (</a:t>
            </a:r>
            <a:r>
              <a:rPr lang="ko-KR" altLang="en-US" sz="1600" spc="-50" dirty="0"/>
              <a:t>라면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봉지에 필요한 물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를 끓이는 데 도시가스는 얼마나 필요하고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요금은 얼마일지 계산해보자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대략 </a:t>
            </a:r>
            <a:r>
              <a:rPr lang="en-US" altLang="ko-KR" sz="1600" spc="-50" dirty="0"/>
              <a:t>400,000 J (=0.4 MJ)</a:t>
            </a:r>
            <a:r>
              <a:rPr lang="ko-KR" altLang="en-US" sz="1600" spc="-50" dirty="0"/>
              <a:t>의 에너지가 필요하다고 하자</a:t>
            </a:r>
            <a:r>
              <a:rPr lang="en-US" altLang="ko-KR" sz="1600" spc="-50" dirty="0"/>
              <a:t>. (20℃ → 100℃)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앞서 </a:t>
            </a:r>
            <a:r>
              <a:rPr lang="en-US" altLang="ko-KR" sz="1600" spc="-50" dirty="0"/>
              <a:t>1Nm</a:t>
            </a:r>
            <a:r>
              <a:rPr lang="en-US" altLang="ko-KR" sz="1600" spc="-50" baseline="30000" dirty="0"/>
              <a:t>3</a:t>
            </a:r>
            <a:r>
              <a:rPr lang="ko-KR" altLang="en-US" sz="1600" spc="-50" dirty="0"/>
              <a:t>의 도시가스는 </a:t>
            </a:r>
            <a:r>
              <a:rPr lang="en-US" altLang="ko-KR" sz="1600" spc="-50" dirty="0"/>
              <a:t>42.7MJ</a:t>
            </a:r>
            <a:r>
              <a:rPr lang="ko-KR" altLang="en-US" sz="1600" spc="-50" dirty="0"/>
              <a:t> 의 에너지를 갖고 있었다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슬라이드 </a:t>
            </a:r>
            <a:r>
              <a:rPr lang="en-US" altLang="ko-KR" sz="1600" spc="-50" dirty="0"/>
              <a:t>40 </a:t>
            </a:r>
            <a:r>
              <a:rPr lang="ko-KR" altLang="en-US" sz="1600" spc="-50" dirty="0"/>
              <a:t>참고</a:t>
            </a:r>
            <a:r>
              <a:rPr lang="en-US" altLang="ko-KR" sz="1600" spc="-50" dirty="0"/>
              <a:t>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따라서 </a:t>
            </a:r>
            <a:r>
              <a:rPr lang="en-US" altLang="ko-KR" sz="1600" spc="-50" dirty="0"/>
              <a:t>0.4 MJ x 1/42.7 (Nm</a:t>
            </a:r>
            <a:r>
              <a:rPr lang="en-US" altLang="ko-KR" sz="1600" spc="-50" baseline="30000" dirty="0"/>
              <a:t>3</a:t>
            </a:r>
            <a:r>
              <a:rPr lang="en-US" altLang="ko-KR" sz="1600" spc="-50" dirty="0"/>
              <a:t>/MJ) = 0.009Nm</a:t>
            </a:r>
            <a:r>
              <a:rPr lang="en-US" altLang="ko-KR" sz="1600" spc="-50" baseline="30000" dirty="0"/>
              <a:t>3</a:t>
            </a:r>
            <a:r>
              <a:rPr lang="ko-KR" altLang="en-US" sz="1600" spc="-50" dirty="0"/>
              <a:t>의 도시가스가 필요하다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대략 </a:t>
            </a:r>
            <a:r>
              <a:rPr lang="en-US" altLang="ko-KR" sz="1600" spc="-50" dirty="0"/>
              <a:t>0.208m x 0.208m x 0.208m = 0.009 m</a:t>
            </a:r>
            <a:r>
              <a:rPr lang="en-US" altLang="ko-KR" sz="1600" spc="-50" baseline="30000" dirty="0"/>
              <a:t>3</a:t>
            </a:r>
            <a:r>
              <a:rPr lang="en-US" altLang="ko-KR" sz="1600" spc="-50" dirty="0"/>
              <a:t>  </a:t>
            </a:r>
            <a:r>
              <a:rPr lang="ko-KR" altLang="en-US" sz="1600" spc="-50" dirty="0"/>
              <a:t>이므로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표준상태</a:t>
            </a:r>
            <a:r>
              <a:rPr lang="en-US" altLang="ko-KR" sz="1600" spc="-50" dirty="0"/>
              <a:t>(0℃, 1</a:t>
            </a:r>
            <a:r>
              <a:rPr lang="ko-KR" altLang="en-US" sz="1600" spc="-50" dirty="0"/>
              <a:t>기압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일 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물 </a:t>
            </a:r>
            <a:r>
              <a:rPr lang="en-US" altLang="ko-KR" sz="1600" spc="-50" dirty="0"/>
              <a:t>500ml </a:t>
            </a:r>
            <a:r>
              <a:rPr lang="ko-KR" altLang="en-US" sz="1600" spc="-50" dirty="0"/>
              <a:t>를 끓이기 위해서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아래와 같이 한 변이 </a:t>
            </a:r>
            <a:r>
              <a:rPr lang="en-US" altLang="ko-KR" sz="1600" spc="-50" dirty="0"/>
              <a:t>20.8cm (0.208m)</a:t>
            </a:r>
            <a:r>
              <a:rPr lang="ko-KR" altLang="en-US" sz="1600" spc="-50" dirty="0"/>
              <a:t>인 정육면체 부피 만큼의 도시가스가 필요하다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앞서 대전지역에서 주택 취사용 도시가스의 가격은 </a:t>
            </a:r>
            <a:r>
              <a:rPr lang="en-US" altLang="ko-KR" sz="1600" spc="-50" dirty="0"/>
              <a:t>22.8732 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/MJ </a:t>
            </a:r>
            <a:r>
              <a:rPr lang="ko-KR" altLang="en-US" sz="1600" spc="-50" dirty="0"/>
              <a:t>이었다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슬라이드 </a:t>
            </a:r>
            <a:r>
              <a:rPr lang="en-US" altLang="ko-KR" sz="1600" spc="-50" dirty="0"/>
              <a:t>42 </a:t>
            </a:r>
            <a:r>
              <a:rPr lang="ko-KR" altLang="en-US" sz="1600" spc="-50" dirty="0"/>
              <a:t>참고</a:t>
            </a:r>
            <a:r>
              <a:rPr lang="en-US" altLang="ko-KR" sz="1600" spc="-50" dirty="0"/>
              <a:t>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따라서 </a:t>
            </a:r>
            <a:r>
              <a:rPr lang="en-US" altLang="ko-KR" sz="1600" spc="-50" dirty="0"/>
              <a:t>0.4MJ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x 22.8732 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/MJ = 9.1</a:t>
            </a:r>
            <a:r>
              <a:rPr lang="ko-KR" altLang="en-US" sz="1600" spc="-50" dirty="0"/>
              <a:t>원의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도시가스 요금이 발생한다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  <p:sp>
        <p:nvSpPr>
          <p:cNvPr id="8" name="왼쪽 중괄호 7">
            <a:extLst>
              <a:ext uri="{FF2B5EF4-FFF2-40B4-BE49-F238E27FC236}">
                <a16:creationId xmlns:a16="http://schemas.microsoft.com/office/drawing/2014/main" id="{BED43F26-E393-3364-D0A4-79D568F24E69}"/>
              </a:ext>
            </a:extLst>
          </p:cNvPr>
          <p:cNvSpPr/>
          <p:nvPr/>
        </p:nvSpPr>
        <p:spPr>
          <a:xfrm>
            <a:off x="3330956" y="3993818"/>
            <a:ext cx="155448" cy="562839"/>
          </a:xfrm>
          <a:prstGeom prst="leftBrace">
            <a:avLst>
              <a:gd name="adj1" fmla="val 8333"/>
              <a:gd name="adj2" fmla="val 50789"/>
            </a:avLst>
          </a:prstGeom>
          <a:ln w="3175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왼쪽 중괄호 10">
            <a:extLst>
              <a:ext uri="{FF2B5EF4-FFF2-40B4-BE49-F238E27FC236}">
                <a16:creationId xmlns:a16="http://schemas.microsoft.com/office/drawing/2014/main" id="{6A726663-8301-128C-8A45-1120C4AF13A1}"/>
              </a:ext>
            </a:extLst>
          </p:cNvPr>
          <p:cNvSpPr/>
          <p:nvPr/>
        </p:nvSpPr>
        <p:spPr>
          <a:xfrm rot="16200000">
            <a:off x="3707820" y="4392841"/>
            <a:ext cx="155448" cy="553739"/>
          </a:xfrm>
          <a:prstGeom prst="leftBrace">
            <a:avLst>
              <a:gd name="adj1" fmla="val 8333"/>
              <a:gd name="adj2" fmla="val 50789"/>
            </a:avLst>
          </a:prstGeom>
          <a:ln w="3175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왼쪽 중괄호 15">
            <a:extLst>
              <a:ext uri="{FF2B5EF4-FFF2-40B4-BE49-F238E27FC236}">
                <a16:creationId xmlns:a16="http://schemas.microsoft.com/office/drawing/2014/main" id="{17B27489-6C22-238D-24A1-F6B939034713}"/>
              </a:ext>
            </a:extLst>
          </p:cNvPr>
          <p:cNvSpPr/>
          <p:nvPr/>
        </p:nvSpPr>
        <p:spPr>
          <a:xfrm rot="13509751">
            <a:off x="4155758" y="4409090"/>
            <a:ext cx="155448" cy="265107"/>
          </a:xfrm>
          <a:prstGeom prst="leftBrace">
            <a:avLst>
              <a:gd name="adj1" fmla="val 8333"/>
              <a:gd name="adj2" fmla="val 50789"/>
            </a:avLst>
          </a:prstGeom>
          <a:ln w="3175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0BC63CC-03F6-D8C8-418D-62776B40D59A}"/>
              </a:ext>
            </a:extLst>
          </p:cNvPr>
          <p:cNvSpPr/>
          <p:nvPr/>
        </p:nvSpPr>
        <p:spPr>
          <a:xfrm>
            <a:off x="3480096" y="4729639"/>
            <a:ext cx="618761" cy="2312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20.8cm</a:t>
            </a:r>
            <a:endParaRPr lang="ko-KR" altLang="en-US" sz="1000" baseline="30000" dirty="0">
              <a:solidFill>
                <a:schemeClr val="tx1"/>
              </a:solidFill>
            </a:endParaRPr>
          </a:p>
        </p:txBody>
      </p:sp>
      <p:sp>
        <p:nvSpPr>
          <p:cNvPr id="25" name="정육면체 24">
            <a:extLst>
              <a:ext uri="{FF2B5EF4-FFF2-40B4-BE49-F238E27FC236}">
                <a16:creationId xmlns:a16="http://schemas.microsoft.com/office/drawing/2014/main" id="{B2A56D92-3E7D-5DF7-786E-DBB7D501CBC3}"/>
              </a:ext>
            </a:extLst>
          </p:cNvPr>
          <p:cNvSpPr/>
          <p:nvPr/>
        </p:nvSpPr>
        <p:spPr>
          <a:xfrm>
            <a:off x="3508674" y="3819493"/>
            <a:ext cx="737164" cy="737164"/>
          </a:xfrm>
          <a:prstGeom prst="cub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C96565E-F264-E962-5321-F0B9BA191E3A}"/>
              </a:ext>
            </a:extLst>
          </p:cNvPr>
          <p:cNvSpPr/>
          <p:nvPr/>
        </p:nvSpPr>
        <p:spPr>
          <a:xfrm>
            <a:off x="4133910" y="4556657"/>
            <a:ext cx="618761" cy="2312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20.8cm</a:t>
            </a:r>
            <a:endParaRPr lang="ko-KR" altLang="en-US" sz="1000" baseline="30000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5B2E9B0-AA03-50FD-857C-06CC1A771AC7}"/>
              </a:ext>
            </a:extLst>
          </p:cNvPr>
          <p:cNvSpPr/>
          <p:nvPr/>
        </p:nvSpPr>
        <p:spPr>
          <a:xfrm>
            <a:off x="2806996" y="4151679"/>
            <a:ext cx="618761" cy="2312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20.8cm</a:t>
            </a:r>
            <a:endParaRPr lang="ko-KR" altLang="en-US" sz="1000" baseline="30000" dirty="0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F9AC41A-FD11-0508-75D1-4EF554559C60}"/>
              </a:ext>
            </a:extLst>
          </p:cNvPr>
          <p:cNvSpPr/>
          <p:nvPr/>
        </p:nvSpPr>
        <p:spPr>
          <a:xfrm>
            <a:off x="3553701" y="4147308"/>
            <a:ext cx="530982" cy="2312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</a:rPr>
              <a:t>도시가스</a:t>
            </a:r>
            <a:endParaRPr lang="ko-KR" altLang="en-US" sz="1000" baseline="30000" dirty="0">
              <a:solidFill>
                <a:schemeClr val="tx1"/>
              </a:solidFill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04E6C29B-DB5E-00E6-427D-635A2BAB6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6390" y="3617217"/>
            <a:ext cx="1902640" cy="1522655"/>
          </a:xfrm>
          <a:prstGeom prst="rect">
            <a:avLst/>
          </a:prstGeom>
        </p:spPr>
      </p:pic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AD4C0D7B-EB24-6B2D-214D-328D07A3D52E}"/>
              </a:ext>
            </a:extLst>
          </p:cNvPr>
          <p:cNvCxnSpPr>
            <a:cxnSpLocks/>
            <a:stCxn id="25" idx="5"/>
            <a:endCxn id="35" idx="2"/>
          </p:cNvCxnSpPr>
          <p:nvPr/>
        </p:nvCxnSpPr>
        <p:spPr>
          <a:xfrm>
            <a:off x="4245838" y="4095930"/>
            <a:ext cx="2431872" cy="1043942"/>
          </a:xfrm>
          <a:prstGeom prst="bentConnector4">
            <a:avLst>
              <a:gd name="adj1" fmla="val 30441"/>
              <a:gd name="adj2" fmla="val 12189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317945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8B0EB-74B1-B51C-A4E6-7DD41C0B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24993C-D1C3-8436-D8C1-21698BE6D1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51A9577-CCBA-F474-5E82-99100C452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>
                <a:solidFill>
                  <a:schemeClr val="accent2"/>
                </a:solidFill>
              </a:rPr>
              <a:t>T</a:t>
            </a:r>
            <a:r>
              <a:rPr lang="en-US" altLang="ko-KR" sz="5400" i="0" spc="100"/>
              <a:t>hank you</a:t>
            </a:r>
            <a:endParaRPr lang="ko-KR" altLang="en-US" sz="5400" i="0" spc="1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4898E0-926C-D8DA-8874-21A66F64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404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11137</TotalTime>
  <Words>4972</Words>
  <Application>Microsoft Office PowerPoint</Application>
  <PresentationFormat>와이드스크린</PresentationFormat>
  <Paragraphs>597</Paragraphs>
  <Slides>45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45</vt:i4>
      </vt:variant>
    </vt:vector>
  </HeadingPairs>
  <TitlesOfParts>
    <vt:vector size="52" baseType="lpstr">
      <vt:lpstr>HY헤드라인M</vt:lpstr>
      <vt:lpstr>KoPub돋움체 Light</vt:lpstr>
      <vt:lpstr>맑은 고딕</vt:lpstr>
      <vt:lpstr>Arial</vt:lpstr>
      <vt:lpstr>Cambria Math</vt:lpstr>
      <vt:lpstr>Wingdings</vt:lpstr>
      <vt:lpstr>Office 테마</vt:lpstr>
      <vt:lpstr>자원·에너지 경제학</vt:lpstr>
      <vt:lpstr>서론</vt:lpstr>
      <vt:lpstr>Chapter 1  에너지 생성</vt:lpstr>
      <vt:lpstr>Section 1. 우주의 탄생</vt:lpstr>
      <vt:lpstr>서론</vt:lpstr>
      <vt:lpstr>Energy 어원</vt:lpstr>
      <vt:lpstr>에너지의 여러가지 형태</vt:lpstr>
      <vt:lpstr>다양한 에너지 변환</vt:lpstr>
      <vt:lpstr>에너지 측정</vt:lpstr>
      <vt:lpstr>에너지 측정</vt:lpstr>
      <vt:lpstr>(참고자료) SI 접두어</vt:lpstr>
      <vt:lpstr>에너지 단위 변환 (콜라)</vt:lpstr>
      <vt:lpstr>에너지 단위 변환 (선풍기)</vt:lpstr>
      <vt:lpstr>어떤 보조배터리를 사야할까?</vt:lpstr>
      <vt:lpstr>보조배터리 충전·방전 속도</vt:lpstr>
      <vt:lpstr>보조배터리 충전·방전 속도</vt:lpstr>
      <vt:lpstr>보조배터리 충전·방전 속도</vt:lpstr>
      <vt:lpstr>보조배터리 충전·방전 속도</vt:lpstr>
      <vt:lpstr>에너지 단위 변환 (미니 선풍기)</vt:lpstr>
      <vt:lpstr>에너지 단위 변환</vt:lpstr>
      <vt:lpstr>Section 2. 우리집 전기요금</vt:lpstr>
      <vt:lpstr>우리집 전기요금</vt:lpstr>
      <vt:lpstr>우리집 전기요금</vt:lpstr>
      <vt:lpstr>우리집 전기요금</vt:lpstr>
      <vt:lpstr>우리집 전기요금</vt:lpstr>
      <vt:lpstr>주택용, 교육용</vt:lpstr>
      <vt:lpstr>일반용</vt:lpstr>
      <vt:lpstr>산업용</vt:lpstr>
      <vt:lpstr>농사용, 가로등, 심야전력, 전기차</vt:lpstr>
      <vt:lpstr>우리집 전기요금</vt:lpstr>
      <vt:lpstr>우리집 전기요금</vt:lpstr>
      <vt:lpstr>우리집 전기 소비 내역</vt:lpstr>
      <vt:lpstr>우리집 전기 소비 내역</vt:lpstr>
      <vt:lpstr>Section 3. 휘발유 차 vs. 전기 차</vt:lpstr>
      <vt:lpstr>휘발유차</vt:lpstr>
      <vt:lpstr>전기차</vt:lpstr>
      <vt:lpstr>비용 비교 (휘발유차 vs. 전기차)</vt:lpstr>
      <vt:lpstr>에너지효율 비교 (휘발유차 vs. 전기차)</vt:lpstr>
      <vt:lpstr>Section 4. 도시가스 요금</vt:lpstr>
      <vt:lpstr>도시가스 요금</vt:lpstr>
      <vt:lpstr>도시가스 요금</vt:lpstr>
      <vt:lpstr>도시가스 요금</vt:lpstr>
      <vt:lpstr>도시가스 요금</vt:lpstr>
      <vt:lpstr>도시가스 요금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Seungho Jeon</cp:lastModifiedBy>
  <cp:revision>409</cp:revision>
  <dcterms:created xsi:type="dcterms:W3CDTF">2025-07-05T05:15:23Z</dcterms:created>
  <dcterms:modified xsi:type="dcterms:W3CDTF">2026-07-07T22:24:58Z</dcterms:modified>
</cp:coreProperties>
</file>