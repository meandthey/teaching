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6"/>
  </p:notesMasterIdLst>
  <p:sldIdLst>
    <p:sldId id="375" r:id="rId2"/>
    <p:sldId id="405" r:id="rId3"/>
    <p:sldId id="550" r:id="rId4"/>
    <p:sldId id="376" r:id="rId5"/>
    <p:sldId id="553" r:id="rId6"/>
    <p:sldId id="555" r:id="rId7"/>
    <p:sldId id="557" r:id="rId8"/>
    <p:sldId id="558" r:id="rId9"/>
    <p:sldId id="632" r:id="rId10"/>
    <p:sldId id="631" r:id="rId11"/>
    <p:sldId id="559" r:id="rId12"/>
    <p:sldId id="633" r:id="rId13"/>
    <p:sldId id="638" r:id="rId14"/>
    <p:sldId id="639" r:id="rId15"/>
    <p:sldId id="642" r:id="rId16"/>
    <p:sldId id="643" r:id="rId17"/>
    <p:sldId id="644" r:id="rId18"/>
    <p:sldId id="646" r:id="rId19"/>
    <p:sldId id="645" r:id="rId20"/>
    <p:sldId id="650" r:id="rId21"/>
    <p:sldId id="651" r:id="rId22"/>
    <p:sldId id="648" r:id="rId23"/>
    <p:sldId id="554" r:id="rId24"/>
    <p:sldId id="634" r:id="rId25"/>
    <p:sldId id="654" r:id="rId26"/>
    <p:sldId id="653" r:id="rId27"/>
    <p:sldId id="655" r:id="rId28"/>
    <p:sldId id="656" r:id="rId29"/>
    <p:sldId id="657" r:id="rId30"/>
    <p:sldId id="658" r:id="rId31"/>
    <p:sldId id="659" r:id="rId32"/>
    <p:sldId id="661" r:id="rId33"/>
    <p:sldId id="662" r:id="rId34"/>
    <p:sldId id="663" r:id="rId35"/>
    <p:sldId id="665" r:id="rId36"/>
    <p:sldId id="664" r:id="rId37"/>
    <p:sldId id="667" r:id="rId38"/>
    <p:sldId id="668" r:id="rId39"/>
    <p:sldId id="669" r:id="rId40"/>
    <p:sldId id="670" r:id="rId41"/>
    <p:sldId id="671" r:id="rId42"/>
    <p:sldId id="672" r:id="rId43"/>
    <p:sldId id="673" r:id="rId44"/>
    <p:sldId id="364" r:id="rId4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4" d="100"/>
          <a:sy n="144" d="100"/>
        </p:scale>
        <p:origin x="900" y="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online.kepco.co.kr/MYM043D0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생성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</a:t>
            </a:r>
            <a:r>
              <a:rPr lang="en-US" altLang="ko-KR" sz="4000" b="1" i="0" spc="150"/>
              <a:t>. </a:t>
            </a:r>
            <a:r>
              <a:rPr lang="ko-KR" altLang="en-US" sz="4000" b="1" i="0" spc="150"/>
              <a:t>우주의 탄생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지구가 어떻게 돌아가는지</a:t>
            </a:r>
            <a:r>
              <a:rPr lang="en-US" altLang="ko-KR" sz="1600" spc="-50" dirty="0"/>
              <a:t>?? (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 등등</a:t>
            </a:r>
            <a:r>
              <a:rPr lang="en-US" altLang="ko-KR" sz="1600" spc="-50"/>
              <a:t>?)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 구분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시스템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에너지란 무엇인가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일상생활에서 쓰는 에너지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= </a:t>
            </a:r>
            <a:r>
              <a:rPr lang="en-US" altLang="ko-KR" sz="1600" spc="-50" dirty="0" err="1"/>
              <a:t>en</a:t>
            </a:r>
            <a:r>
              <a:rPr lang="en-US" altLang="ko-KR" sz="1600" spc="-50" dirty="0"/>
              <a:t> +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  : </a:t>
            </a:r>
            <a:r>
              <a:rPr lang="ko-KR" altLang="en-US" sz="1600" spc="-50" dirty="0"/>
              <a:t>고대 그리스어로 풀어보면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 영어로 넘어오면서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안에 넣다</a:t>
            </a:r>
            <a:r>
              <a:rPr lang="en-US" altLang="ko-KR" sz="1600" spc="-50" dirty="0"/>
              <a:t>‘ → ‘~</a:t>
            </a:r>
            <a:r>
              <a:rPr lang="ko-KR" altLang="en-US" sz="1600" spc="-50" dirty="0"/>
              <a:t>하게 만들다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 라는 식으로 의미 변화가 일어났다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able: </a:t>
            </a:r>
            <a:r>
              <a:rPr lang="ko-KR" altLang="en-US" sz="1600" spc="-50" dirty="0"/>
              <a:t>가능하게 하다</a:t>
            </a:r>
            <a:r>
              <a:rPr lang="en-US" altLang="ko-KR" sz="1600" spc="-50" dirty="0"/>
              <a:t>, 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rich:</a:t>
            </a:r>
            <a:r>
              <a:rPr lang="ko-KR" altLang="en-US" sz="1600" spc="-50" dirty="0"/>
              <a:t> 풍요롭게 하다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courage: </a:t>
            </a:r>
            <a:r>
              <a:rPr lang="ko-KR" altLang="en-US" sz="1600" spc="-50" dirty="0"/>
              <a:t>용기를 북돋다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ergon</a:t>
            </a:r>
            <a:r>
              <a:rPr lang="ko-KR" altLang="en-US" sz="1600" spc="-50" dirty="0"/>
              <a:t>은 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을 뜻하는 그리스어 단어</a:t>
            </a:r>
            <a:r>
              <a:rPr lang="en-US" altLang="ko-KR" sz="1600" spc="-50" dirty="0"/>
              <a:t>. ergon</a:t>
            </a:r>
            <a:r>
              <a:rPr lang="ko-KR" altLang="en-US" sz="1600" spc="-50" dirty="0"/>
              <a:t>의 파생형이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energy</a:t>
            </a:r>
            <a:r>
              <a:rPr lang="ko-KR" altLang="en-US" sz="1600" spc="-50" dirty="0"/>
              <a:t>는 원래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이 안에 있는 상태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이것이 오늘날 </a:t>
            </a:r>
            <a:r>
              <a:rPr lang="en-US" altLang="ko-KR" sz="1600" b="1" spc="-50" dirty="0"/>
              <a:t>‘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’</a:t>
            </a:r>
            <a:r>
              <a:rPr lang="ko-KR" altLang="en-US" sz="1600" spc="-50" dirty="0"/>
              <a:t> 이라는 의미로 발전하였다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284" y="3067663"/>
            <a:ext cx="2968222" cy="11073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9070142" y="280605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여러가지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헤어드라이기는</a:t>
            </a:r>
            <a:r>
              <a:rPr lang="ko-KR" altLang="en-US" sz="1600" spc="-50" dirty="0"/>
              <a:t> 전기를 열 에너지와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 뜨거운 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44" y="27496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D940511-665C-7270-4810-17D2F4CD430B}"/>
              </a:ext>
            </a:extLst>
          </p:cNvPr>
          <p:cNvSpPr txBox="1"/>
          <p:nvPr/>
        </p:nvSpPr>
        <p:spPr>
          <a:xfrm>
            <a:off x="7660218" y="3060660"/>
            <a:ext cx="211878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spc="-50"/>
              <a:t>우리집 전기요금표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538922"/>
              </p:ext>
            </p:extLst>
          </p:nvPr>
        </p:nvGraphicFramePr>
        <p:xfrm>
          <a:off x="917945" y="3264003"/>
          <a:ext cx="6156757" cy="17332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/ 0.239(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6939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024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90" y="3023578"/>
            <a:ext cx="89504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50Wh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180,000J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42,985cal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589330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다른기기를</a:t>
            </a:r>
            <a:r>
              <a:rPr lang="ko-KR" altLang="en-US" sz="1600" spc="-50" dirty="0"/>
              <a:t>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22.2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5441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91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</a:t>
            </a:r>
            <a:r>
              <a:rPr lang="ko-KR" altLang="en-US" sz="1600" spc="-50" dirty="0" err="1"/>
              <a:t>안돌아가는데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2240-BED8-8FB0-93EC-5D1F2454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12E416-6B4E-36AA-DB12-445C6E0845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A39C78-1CC0-14B4-52FC-33A7A144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8B9C063-DD5C-2BB0-B339-EBD9A028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우리집 전기요금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9312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801E7-3E78-2723-A42D-D0835F338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F6BCE-7739-C666-5FB0-1C0FE01D3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03D07-D125-EBBE-3052-12667E18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0A23A-75FA-F189-CB98-1454ACDAC535}"/>
              </a:ext>
            </a:extLst>
          </p:cNvPr>
          <p:cNvSpPr txBox="1"/>
          <p:nvPr/>
        </p:nvSpPr>
        <p:spPr>
          <a:xfrm>
            <a:off x="288789" y="958844"/>
            <a:ext cx="8144011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계약자명으로 로그인을 하면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 집의 전기요금 상세 내역을 조회할 수 있다</a:t>
            </a:r>
            <a:r>
              <a:rPr lang="en-US" altLang="ko-KR" sz="1600" spc="-50" dirty="0"/>
              <a:t>.    </a:t>
            </a:r>
            <a:r>
              <a:rPr lang="en-US" altLang="ko-KR" sz="1600" spc="-50" dirty="0">
                <a:hlinkClick r:id="rId2"/>
              </a:rPr>
              <a:t>https://online.kepco.co.kr/MYM043D00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2AA7D8B-09E6-6308-EA7C-9F03A9089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505" y="2289875"/>
            <a:ext cx="4122192" cy="111879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1055545-06E9-4D1A-3E59-7BDE7D04E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671" y="3429000"/>
            <a:ext cx="2863997" cy="5334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1C67EB6-38C4-F1B2-ED4F-34CCF5874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229" y="4147564"/>
            <a:ext cx="1303531" cy="224180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50C9643-0B43-24A0-BBD6-0E7E916B6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155" y="4122164"/>
            <a:ext cx="1426614" cy="23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899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3A48-2A03-DE37-4EF7-450DA770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AD53C-A744-7D66-1AFA-2A01B93B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56235-6140-5D8E-1B20-10A655CF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94B23-26BF-505A-B95D-777FCA550546}"/>
              </a:ext>
            </a:extLst>
          </p:cNvPr>
          <p:cNvSpPr txBox="1"/>
          <p:nvPr/>
        </p:nvSpPr>
        <p:spPr>
          <a:xfrm>
            <a:off x="288790" y="958844"/>
            <a:ext cx="8027254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 어느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인 가구의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한달간 전기사용 내역이다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집의 계량기는 전기소비량이 누적해서 올라가기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일을 기준으로 검침을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뺀 만큼을 해당 월의 전기소비량을 계산한다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검침일은 집마다 다를 수 있음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17,432 kWh (</a:t>
            </a:r>
            <a:r>
              <a:rPr lang="ko-KR" altLang="en-US" sz="1600" spc="-50" dirty="0"/>
              <a:t>전월지침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17,584 kWh (</a:t>
            </a:r>
            <a:r>
              <a:rPr lang="ko-KR" altLang="en-US" sz="1600" spc="-50" dirty="0"/>
              <a:t>당월지침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세대사용량</a:t>
            </a:r>
            <a:r>
              <a:rPr lang="en-US" altLang="ko-KR" sz="1600" spc="-50" dirty="0"/>
              <a:t>: 152 kWh (</a:t>
            </a: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17,584 – 17,432 = 152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공용 사용량</a:t>
            </a:r>
            <a:r>
              <a:rPr lang="en-US" altLang="ko-KR" sz="1600" spc="-50" dirty="0"/>
              <a:t>: 62 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엘리베이터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지하주차장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복도 조명 등 아파트 단지 내 공동시설 전기 사용량을 세대별로 나누어 부담하는 것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이 가구의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월 한달간 사용량</a:t>
            </a:r>
            <a:r>
              <a:rPr lang="en-US" altLang="ko-KR" sz="1600" spc="-50" dirty="0"/>
              <a:t>: 214 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(=152 kWh + 62 kWh)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전월 사용량과 전년동월 사용량은 단순 참고용이다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이번달</a:t>
            </a:r>
            <a:r>
              <a:rPr lang="ko-KR" altLang="en-US" sz="1600" spc="-50" dirty="0"/>
              <a:t> 전기요금과는 무관하다</a:t>
            </a:r>
            <a:r>
              <a:rPr lang="en-US" altLang="ko-KR" sz="1600" spc="-50" dirty="0"/>
              <a:t>.)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지난 달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207 kWh (</a:t>
            </a:r>
            <a:r>
              <a:rPr lang="ko-KR" altLang="en-US" sz="1600" spc="-50" dirty="0"/>
              <a:t>전월 사용량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244 kWh (</a:t>
            </a:r>
            <a:r>
              <a:rPr lang="ko-KR" altLang="en-US" sz="1600" spc="-50" dirty="0"/>
              <a:t>전년동월 사용량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D77212-2BAA-619B-B054-37497C16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4" y="1167095"/>
            <a:ext cx="2696692" cy="463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620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7CDDA9-2BB4-1077-0537-242315D3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807" y="1255702"/>
            <a:ext cx="2689760" cy="43465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C6604-D139-D649-5F0B-94F2258D24CF}"/>
              </a:ext>
            </a:extLst>
          </p:cNvPr>
          <p:cNvSpPr txBox="1"/>
          <p:nvPr/>
        </p:nvSpPr>
        <p:spPr>
          <a:xfrm>
            <a:off x="288789" y="958844"/>
            <a:ext cx="851601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가구의 전기요금 세부내역이다</a:t>
            </a:r>
            <a:r>
              <a:rPr lang="en-US" altLang="ko-KR" sz="1600" spc="-50" dirty="0"/>
              <a:t>. (2026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 공급을 위한 기본 유지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 설비 유지 관리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 사용량 구간에 따라 고정요금으로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실제 사용한 전기에너지 생산 및 공급에 소요되는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실제로 사용한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에 대해 요금이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깨끗하고 안전한 에너지 제공에 소요되는 비용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석탄발전 감축비용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기후환경요금 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단가는 매년 변동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연료비 </a:t>
            </a:r>
            <a:r>
              <a:rPr lang="ko-KR" altLang="en-US" sz="1600" spc="-50" dirty="0" err="1"/>
              <a:t>변동분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반영하는 요금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연료비조정단가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 단가는 매분기 변동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 청구금액은 전기요금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부가가치세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전력기금이다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부가가치세는 전기요금의 </a:t>
            </a:r>
            <a:r>
              <a:rPr lang="en-US" altLang="ko-KR" sz="1600" spc="-50" dirty="0"/>
              <a:t>10%  (27,692 x 0.1)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전력기금은 전기요금의 </a:t>
            </a:r>
            <a:r>
              <a:rPr lang="en-US" altLang="ko-KR" sz="1600" spc="-50" dirty="0"/>
              <a:t>2.7%    (27,692 x 0.027)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전기요금은 용도별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용도는 주택용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농사용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심야전력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기타요금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전압은 저압</a:t>
            </a:r>
            <a:r>
              <a:rPr lang="en-US" altLang="ko-KR" sz="1600" spc="-50" dirty="0"/>
              <a:t>(110V~380V),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A(3,300~66,000V),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B(154,000V),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C(345,000V </a:t>
            </a:r>
            <a:r>
              <a:rPr lang="ko-KR" altLang="en-US" sz="1600" spc="-50" dirty="0"/>
              <a:t>이상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계절은 여름</a:t>
            </a:r>
            <a:r>
              <a:rPr lang="en-US" altLang="ko-KR" sz="1600" spc="-50" dirty="0"/>
              <a:t>(6~8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가을</a:t>
            </a:r>
            <a:r>
              <a:rPr lang="en-US" altLang="ko-KR" sz="1600" spc="-50" dirty="0"/>
              <a:t>(3~5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, 9~10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겨울철</a:t>
            </a:r>
            <a:r>
              <a:rPr lang="en-US" altLang="ko-KR" sz="1600" spc="-50" dirty="0"/>
              <a:t>(11~2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시간은 </a:t>
            </a:r>
            <a:r>
              <a:rPr lang="ko-KR" altLang="en-US" sz="1600" spc="-50" dirty="0" err="1"/>
              <a:t>경부하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최대부하 로 나뉜다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계절별로 시간대 구분이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한전에서 제공하는 대략 </a:t>
            </a:r>
            <a:r>
              <a:rPr lang="en-US" altLang="ko-KR" sz="1600" spc="-50" dirty="0"/>
              <a:t>70</a:t>
            </a:r>
            <a:r>
              <a:rPr lang="ko-KR" altLang="en-US" sz="1600" spc="-50" dirty="0"/>
              <a:t>여개의 계약종은 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 조건의 여러 조합으로 구성된다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6CB411-CBD9-1978-809A-7265D945D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284" y="2938670"/>
            <a:ext cx="4298873" cy="1564194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A389-B420-2BA0-B81F-8FA22B51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8972C80-701C-65F1-CC5D-2A56DF58E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897133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57FB26-5818-4997-FB93-A77A09134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619257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D43B3A88-568D-BCB6-2D88-CBA38940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주택용</a:t>
            </a:r>
            <a:r>
              <a:rPr lang="en-US" altLang="ko-KR" dirty="0"/>
              <a:t>, </a:t>
            </a:r>
            <a:r>
              <a:rPr lang="ko-KR" altLang="en-US" dirty="0"/>
              <a:t>교육용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773B6-A193-E145-B1FA-91304A6F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C258B-C744-2A0B-9614-F23A78743DF2}"/>
              </a:ext>
            </a:extLst>
          </p:cNvPr>
          <p:cNvSpPr txBox="1"/>
          <p:nvPr/>
        </p:nvSpPr>
        <p:spPr>
          <a:xfrm>
            <a:off x="288790" y="958844"/>
            <a:ext cx="5710639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주택용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가정집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빌라 등 사람이 거주하는 곳에서 사용하는 전기 요금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각 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사용한 전력량의 구간에 따라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학교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유치원 등 교육시설에서 사용하는 전기 요금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구분이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선택별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선택</a:t>
            </a:r>
            <a:r>
              <a:rPr lang="en-US" altLang="ko-KR" sz="1600" spc="-50" dirty="0"/>
              <a:t>I, II)</a:t>
            </a:r>
            <a:r>
              <a:rPr lang="ko-KR" altLang="en-US" sz="1600" spc="-50" dirty="0"/>
              <a:t>로도 나뉜다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</a:t>
            </a:r>
            <a:r>
              <a:rPr lang="ko-KR" altLang="en-US" sz="1600" spc="-50" dirty="0"/>
              <a:t>은 기본요금이 저렴한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비싸다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</a:t>
            </a:r>
            <a:r>
              <a:rPr lang="ko-KR" altLang="en-US" sz="1600" spc="-50" dirty="0"/>
              <a:t>는 기본요금이 비싼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저렴하다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63C409-E572-BE2C-343E-15A5E31DDF64}"/>
              </a:ext>
            </a:extLst>
          </p:cNvPr>
          <p:cNvGrpSpPr/>
          <p:nvPr/>
        </p:nvGrpSpPr>
        <p:grpSpPr>
          <a:xfrm>
            <a:off x="6299477" y="975875"/>
            <a:ext cx="2416916" cy="5482594"/>
            <a:chOff x="6313466" y="958844"/>
            <a:chExt cx="2663257" cy="604139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0D0B4AF-6650-BA21-201B-5586804E9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3466" y="958844"/>
              <a:ext cx="2663256" cy="460280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6DD4F02-5801-0FEC-03FC-5BC66B4BA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3467" y="5586296"/>
              <a:ext cx="2663256" cy="1413947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3129AA8C-DAA5-71D9-AA42-C41E333EB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484" y="1535214"/>
            <a:ext cx="2393248" cy="350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229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A5C37-9F86-F3AD-FFAA-18E74E55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D24CE-B8A9-17AA-F6B8-6CE5365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E77A5-7941-C79B-0245-11AC8E590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0FCC5-B0DB-9955-D310-BC499A58352C}"/>
              </a:ext>
            </a:extLst>
          </p:cNvPr>
          <p:cNvSpPr txBox="1"/>
          <p:nvPr/>
        </p:nvSpPr>
        <p:spPr>
          <a:xfrm>
            <a:off x="288790" y="958844"/>
            <a:ext cx="5710639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상업시설이나 업무시설에서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사무실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카페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 : </a:t>
            </a:r>
            <a:r>
              <a:rPr lang="ko-KR" altLang="en-US" sz="1600" spc="-50" dirty="0"/>
              <a:t>계약전력 </a:t>
            </a:r>
            <a:r>
              <a:rPr lang="en-US" altLang="ko-KR" sz="1600" spc="-50" dirty="0"/>
              <a:t>300kW</a:t>
            </a:r>
            <a:r>
              <a:rPr lang="ko-KR" altLang="en-US" sz="1600" spc="-50" dirty="0"/>
              <a:t>미만이고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 구분 계량기가 설치되어 있는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</a:t>
            </a:r>
            <a:r>
              <a:rPr lang="ko-KR" altLang="en-US" sz="1600" spc="-50" dirty="0"/>
              <a:t>에는 시간대 구분 없이 단일 요금을 적용하는 선택</a:t>
            </a:r>
            <a:r>
              <a:rPr lang="en-US" altLang="ko-KR" sz="1600" spc="-50" dirty="0"/>
              <a:t>III</a:t>
            </a:r>
            <a:r>
              <a:rPr lang="ko-KR" altLang="en-US" sz="1600" spc="-50" dirty="0"/>
              <a:t>과 선택</a:t>
            </a:r>
            <a:r>
              <a:rPr lang="en-US" altLang="ko-KR" sz="1600" spc="-50" dirty="0"/>
              <a:t>IV</a:t>
            </a:r>
            <a:r>
              <a:rPr lang="ko-KR" altLang="en-US" sz="1600" spc="-50" dirty="0"/>
              <a:t>가 추가되었다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III : </a:t>
            </a:r>
            <a:r>
              <a:rPr lang="ko-KR" altLang="en-US" sz="1600" spc="-50" dirty="0"/>
              <a:t>기본요금이 저렴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전력량요금이 비쌈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IV: </a:t>
            </a:r>
            <a:r>
              <a:rPr lang="ko-KR" altLang="en-US" sz="1600" spc="-50" dirty="0"/>
              <a:t>기본요금이 비싸고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</a:t>
            </a: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AA11C2D-4993-9895-C91E-DE1AA6DC1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72962"/>
              </p:ext>
            </p:extLst>
          </p:nvPr>
        </p:nvGraphicFramePr>
        <p:xfrm>
          <a:off x="6192572" y="897437"/>
          <a:ext cx="537458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F5667E1B-52B9-0158-0900-71CB30C8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286" y="995001"/>
            <a:ext cx="2412000" cy="121698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9A83522-A08D-60DD-3EC0-9A272B45A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286" y="2573261"/>
            <a:ext cx="2412000" cy="32276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BF1B352-0F1E-AF69-01F6-1FC316B90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2349" y="1623812"/>
            <a:ext cx="2412000" cy="294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6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2D7CC-D09E-7AEA-9EA9-BC34BF6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08875-F43B-1C07-80AA-B2D2E93D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5A510D-09C8-B8CC-E6C4-6D2C8D81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5FCD0-0FB7-A496-5CEE-124A460900B5}"/>
              </a:ext>
            </a:extLst>
          </p:cNvPr>
          <p:cNvSpPr txBox="1"/>
          <p:nvPr/>
        </p:nvSpPr>
        <p:spPr>
          <a:xfrm>
            <a:off x="288791" y="958844"/>
            <a:ext cx="572877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 및 산업시설에서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반도체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공장 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고압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추가된다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산업용은 특히 대규모 전력을 효율적으로 사용하기 위해 </a:t>
            </a:r>
            <a:r>
              <a:rPr lang="ko-KR" altLang="en-US" sz="1600" spc="-50" dirty="0" err="1"/>
              <a:t>초고압</a:t>
            </a:r>
            <a:r>
              <a:rPr lang="ko-KR" altLang="en-US" sz="1600" spc="-50" dirty="0"/>
              <a:t> 전압을 사용하기도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3A4190F-1F8D-ACEE-1D4F-0683F4EC7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790409"/>
              </p:ext>
            </p:extLst>
          </p:nvPr>
        </p:nvGraphicFramePr>
        <p:xfrm>
          <a:off x="6192572" y="554625"/>
          <a:ext cx="5374588" cy="59822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98228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BA4EBAF-6105-2278-EAD0-CA00B6558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225" y="1487650"/>
            <a:ext cx="2412000" cy="42198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8F4E0B-4C59-E4BB-1DA0-1B161CA9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882" y="609298"/>
            <a:ext cx="2412000" cy="588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542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525B-B45B-C741-49CA-6664FCB8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CDD165D-D9A0-D9A2-C203-D8E1C0B79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832003"/>
              </p:ext>
            </p:extLst>
          </p:nvPr>
        </p:nvGraphicFramePr>
        <p:xfrm>
          <a:off x="6192137" y="3338516"/>
          <a:ext cx="2529788" cy="34178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341788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C2D52681-B819-944F-F9B6-6229CA7AA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농사용</a:t>
            </a:r>
            <a:r>
              <a:rPr lang="en-US" altLang="ko-KR" dirty="0"/>
              <a:t>, </a:t>
            </a:r>
            <a:r>
              <a:rPr lang="ko-KR" altLang="en-US" dirty="0"/>
              <a:t>가로등</a:t>
            </a:r>
            <a:r>
              <a:rPr lang="en-US" altLang="ko-KR" dirty="0"/>
              <a:t>, </a:t>
            </a:r>
            <a:r>
              <a:rPr lang="ko-KR" altLang="en-US" dirty="0"/>
              <a:t>심야전력</a:t>
            </a:r>
            <a:r>
              <a:rPr lang="en-US" altLang="ko-KR" dirty="0"/>
              <a:t>, </a:t>
            </a:r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7F4CAB-0E90-5411-E3A8-502B8C6F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BBAC1-176C-ED5A-F5B0-D0CCAC8BFB6F}"/>
              </a:ext>
            </a:extLst>
          </p:cNvPr>
          <p:cNvSpPr txBox="1"/>
          <p:nvPr/>
        </p:nvSpPr>
        <p:spPr>
          <a:xfrm>
            <a:off x="288791" y="958844"/>
            <a:ext cx="533477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가로등의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계약전력에 의해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정액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종량에</a:t>
            </a:r>
            <a:r>
              <a:rPr lang="ko-KR" altLang="en-US" sz="1600" spc="-50" dirty="0"/>
              <a:t> 따라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경우 실제 전력소비량을 측정하지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가로등의</a:t>
            </a:r>
            <a:r>
              <a:rPr lang="en-US" altLang="ko-KR" sz="1600" spc="-50" dirty="0"/>
              <a:t> W(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47.2</a:t>
            </a:r>
            <a:r>
              <a:rPr lang="ko-KR" altLang="en-US" sz="1600" spc="-50" dirty="0"/>
              <a:t>원을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실제 전력소비량을 측정하여 소비한 전력량에 따라 전기요금을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전기차 충전요금의 경우 자가소비용과 사업자용으로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자가소비용의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목적이 아니고 </a:t>
            </a:r>
            <a:r>
              <a:rPr lang="ko-KR" altLang="en-US" sz="1600" spc="-50" dirty="0" err="1"/>
              <a:t>자차</a:t>
            </a:r>
            <a:r>
              <a:rPr lang="ko-KR" altLang="en-US" sz="1600" spc="-50" dirty="0"/>
              <a:t> 충전을 위해 사용하는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내 집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충전기를 설치하여 내가 사용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목적으로 전기차 충전소를 운영하는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고속도로 휴게소에서 충전기 설치 운영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954219C-5250-8023-D6BF-6B52B2D41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24570"/>
              </p:ext>
            </p:extLst>
          </p:nvPr>
        </p:nvGraphicFramePr>
        <p:xfrm>
          <a:off x="6192572" y="897437"/>
          <a:ext cx="2529788" cy="126156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126156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19FACBB0-49B6-5225-D96B-4590B5C61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732" y="958844"/>
            <a:ext cx="2412000" cy="1102702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45C593E-AA4E-8FA4-8AEF-348EE0C8A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212754"/>
              </p:ext>
            </p:extLst>
          </p:nvPr>
        </p:nvGraphicFramePr>
        <p:xfrm>
          <a:off x="6192572" y="2321700"/>
          <a:ext cx="2529788" cy="8621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86210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33E9D0EA-8223-B951-EA0F-94E55A535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2410372"/>
            <a:ext cx="2415600" cy="681991"/>
          </a:xfrm>
          <a:prstGeom prst="rect">
            <a:avLst/>
          </a:prstGeom>
        </p:spPr>
      </p:pic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1ED3A959-4BBD-D1AB-7569-60A82A252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299934"/>
              </p:ext>
            </p:extLst>
          </p:nvPr>
        </p:nvGraphicFramePr>
        <p:xfrm>
          <a:off x="8937615" y="487263"/>
          <a:ext cx="2529788" cy="627195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627195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F452F167-C357-71F4-7DFB-C2B3C1EF2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031" y="3363916"/>
            <a:ext cx="2412000" cy="337595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AC8E4E1-BACA-D6C9-C562-2091D5864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657" y="534653"/>
            <a:ext cx="2415600" cy="177166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410CCE1-DEA5-D2E9-EA05-CE463664A0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2257" y="2393017"/>
            <a:ext cx="2412000" cy="4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2745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5356-F3B4-78E8-38E0-1ECD2B66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9FFABC-2591-7736-24B4-D965345D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93A562-F4E1-AE66-7814-AF0D7B2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E29AC8-8ADF-998B-4226-43B2D31426F3}"/>
              </a:ext>
            </a:extLst>
          </p:cNvPr>
          <p:cNvSpPr txBox="1"/>
          <p:nvPr/>
        </p:nvSpPr>
        <p:spPr>
          <a:xfrm>
            <a:off x="288791" y="958844"/>
            <a:ext cx="784429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아파트에서 살고 있다고 가정하면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주택용 고압</a:t>
            </a:r>
            <a:r>
              <a:rPr lang="ko-KR" altLang="en-US" sz="1600" spc="-50" dirty="0"/>
              <a:t> 요금체계를 따르게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사용한 전기에 대한 요금이므로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ko-KR" altLang="en-US" sz="1600" b="1" spc="-50" dirty="0"/>
              <a:t>기타계절</a:t>
            </a:r>
            <a:r>
              <a:rPr lang="ko-KR" altLang="en-US" sz="1600" spc="-50" dirty="0"/>
              <a:t>의 요금표를 적용 받는다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기본요금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 가구의 전기사용량은 </a:t>
            </a:r>
            <a:r>
              <a:rPr lang="en-US" altLang="ko-KR" sz="1600" spc="-50" dirty="0"/>
              <a:t>214kWh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 두번째 구간 </a:t>
            </a:r>
            <a:r>
              <a:rPr lang="en-US" altLang="ko-KR" sz="1600" spc="-50" dirty="0"/>
              <a:t>(201~400kWh)</a:t>
            </a:r>
            <a:r>
              <a:rPr lang="ko-KR" altLang="en-US" sz="1600" spc="-50" dirty="0"/>
              <a:t>에 속하기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기본요금은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) 0~200kWh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105.0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200kWh~400kWh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174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전력량요금은 총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200kWh x 105(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+ 14kWh x 174(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23,436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기후환경요금 단가는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9(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1,926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연료비조정요금 단가는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1,070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FDBED3-B290-9990-9C65-974923397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9388" y="5548636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07F6E3-9852-0F78-D576-B9263B7FF9FA}"/>
              </a:ext>
            </a:extLst>
          </p:cNvPr>
          <p:cNvSpPr txBox="1"/>
          <p:nvPr/>
        </p:nvSpPr>
        <p:spPr>
          <a:xfrm>
            <a:off x="11982450" y="6755198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945FF2-D053-C754-3BE7-5BAFE1E15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010" y="1017151"/>
            <a:ext cx="2277110" cy="39161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A326222-3EBF-7495-8859-1B9463636D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1561" y="5299731"/>
            <a:ext cx="3054507" cy="116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4982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750E0-B534-2982-9F39-0EBDE79C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4235F-A908-51B3-594A-7701F3CCD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41EB7-4FC0-9312-74DF-6AE4FB38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22D0D1-CE71-EE36-2A54-7A31B011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6628" y="4482331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8335CE-5367-D51B-0C68-343148B19F65}"/>
              </a:ext>
            </a:extLst>
          </p:cNvPr>
          <p:cNvSpPr txBox="1"/>
          <p:nvPr/>
        </p:nvSpPr>
        <p:spPr>
          <a:xfrm>
            <a:off x="8949690" y="5688893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529DB0-06A9-6E17-4655-2421C7F9D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615" y="2245916"/>
            <a:ext cx="2286162" cy="36943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6E672D-7DB1-85C7-8039-155186BADD06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계산 과정을 종합해보면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 전기요금은 총 </a:t>
            </a:r>
            <a:r>
              <a:rPr lang="en-US" altLang="ko-KR" sz="1600" spc="-50" dirty="0"/>
              <a:t>27,692</a:t>
            </a:r>
            <a:r>
              <a:rPr lang="ko-KR" altLang="en-US" sz="1600" spc="-50" dirty="0"/>
              <a:t>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홈페이지에서도 똑같은 결과를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전력량요금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1,926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1,070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4F303B6-7C51-C77F-14A0-96EB1DFA9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450" y="2235756"/>
            <a:ext cx="2277110" cy="391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0150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E5E9E-CF20-1E98-BECC-E478EEBD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7E9BE-F36B-2286-5322-E0DB877E5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27F1C-1621-DEDD-D97C-E675B564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5E0A0-2DB4-E301-FC98-6083248471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, TV, </a:t>
            </a:r>
            <a:r>
              <a:rPr lang="ko-KR" altLang="en-US" sz="1600" spc="-50" dirty="0"/>
              <a:t>컴퓨터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모니터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세탁기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전기밥솥은 아래의 모델을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전자기기의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 </a:t>
            </a:r>
            <a:r>
              <a:rPr lang="ko-KR" altLang="en-US" sz="1600" spc="-50" dirty="0" err="1"/>
              <a:t>상세스펙을</a:t>
            </a:r>
            <a:r>
              <a:rPr lang="ko-KR" altLang="en-US" sz="1600" spc="-50" dirty="0"/>
              <a:t> 살펴보면 대부분 소비전력이 고지되어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소비전력은 해당기기가 최대로 작동하고 있을 때의 </a:t>
            </a:r>
            <a:r>
              <a:rPr lang="ko-KR" altLang="en-US" sz="1600" spc="-50" dirty="0" err="1"/>
              <a:t>전력값을</a:t>
            </a:r>
            <a:r>
              <a:rPr lang="ko-KR" altLang="en-US" sz="1600" spc="-50" dirty="0"/>
              <a:t> 의미한다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 보이는 가전기기의 출처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홈페이지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들어가보면 각각 소비전력을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냉장고의 소비전력은 </a:t>
            </a:r>
            <a:r>
              <a:rPr lang="en-US" altLang="ko-KR" sz="1600" spc="-50" dirty="0"/>
              <a:t>43.7kWh/</a:t>
            </a:r>
            <a:r>
              <a:rPr lang="ko-KR" altLang="en-US" sz="1600" spc="-50" dirty="0"/>
              <a:t>월  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TV</a:t>
            </a:r>
            <a:r>
              <a:rPr lang="ko-KR" altLang="en-US" sz="1600" spc="-50" dirty="0"/>
              <a:t>의 소비전력은 </a:t>
            </a:r>
            <a:r>
              <a:rPr lang="en-US" altLang="ko-KR" sz="1600" spc="-50" dirty="0"/>
              <a:t>84W  </a:t>
            </a:r>
            <a:r>
              <a:rPr lang="ko-KR" altLang="en-US" sz="1600" spc="-50" dirty="0"/>
              <a:t>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세탁기와 건조기의 경우 사용패턴에 따라 소비전력의 변동이 매우 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홈페이지에 고지된 소비전력보다는 적게 전력을 사용할 가능성이 높다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A7FCDFC-8C80-0F9E-AC98-00F8852C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851" y="1636868"/>
            <a:ext cx="1786854" cy="10404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A81D205-FDDA-CBCA-F307-25CFD606B70E}"/>
              </a:ext>
            </a:extLst>
          </p:cNvPr>
          <p:cNvSpPr txBox="1"/>
          <p:nvPr/>
        </p:nvSpPr>
        <p:spPr>
          <a:xfrm>
            <a:off x="1690608" y="2843409"/>
            <a:ext cx="211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https://www.lge.co.kr/tvs/75nu850bena-wall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544913C-552F-2CFC-756C-C24CF69FF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318" y="1646933"/>
            <a:ext cx="491243" cy="104049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9CE0228-B49F-C31C-0683-E62A5BB6F794}"/>
              </a:ext>
            </a:extLst>
          </p:cNvPr>
          <p:cNvSpPr txBox="1"/>
          <p:nvPr/>
        </p:nvSpPr>
        <p:spPr>
          <a:xfrm>
            <a:off x="3693288" y="2843409"/>
            <a:ext cx="1104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https://www.lge.co.kr/all-in-one-pc-and-desktop/b81lvax4509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420CCFCF-4794-C094-870E-F94071B23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782" y="1562256"/>
            <a:ext cx="443143" cy="116890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C59EDEF-1933-CA44-0C42-DC80CFCCA6C5}"/>
              </a:ext>
            </a:extLst>
          </p:cNvPr>
          <p:cNvSpPr txBox="1"/>
          <p:nvPr/>
        </p:nvSpPr>
        <p:spPr>
          <a:xfrm>
            <a:off x="812098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https://www.lge.co.kr/wash-tower/wl21wdu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C3DE0EB-A779-6E10-AB3F-D956EB870E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185" y="1577394"/>
            <a:ext cx="1078909" cy="1138627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DC7B264-A444-04D7-B3C3-EE49BBB52B08}"/>
              </a:ext>
            </a:extLst>
          </p:cNvPr>
          <p:cNvSpPr txBox="1"/>
          <p:nvPr/>
        </p:nvSpPr>
        <p:spPr>
          <a:xfrm>
            <a:off x="665202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https://www.lge.co.kr/dishwashers/due6bgl2e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2E4DD31B-A2BD-B0B0-4492-B3579F250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8348" y="1545459"/>
            <a:ext cx="349310" cy="121296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6743D9A-54E1-1751-327E-6A8FB257A066}"/>
              </a:ext>
            </a:extLst>
          </p:cNvPr>
          <p:cNvSpPr txBox="1"/>
          <p:nvPr/>
        </p:nvSpPr>
        <p:spPr>
          <a:xfrm>
            <a:off x="9352575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https://www.lge.co.kr/vacuum-cleaners/ax920bwe-bkor1</a:t>
            </a: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5EB59267-ECD2-DB9D-4A83-79BEFEA027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98" y="1580305"/>
            <a:ext cx="648938" cy="1226899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6AE601A-737A-DE54-4693-A8FC738CD6C2}"/>
              </a:ext>
            </a:extLst>
          </p:cNvPr>
          <p:cNvSpPr txBox="1"/>
          <p:nvPr/>
        </p:nvSpPr>
        <p:spPr>
          <a:xfrm>
            <a:off x="726208" y="2843409"/>
            <a:ext cx="8739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https://www.lge.co.kr/refrigerators/t873mee111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46C945B1-3F8D-A59E-92F1-1B52365419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1057" y="1718878"/>
            <a:ext cx="750507" cy="81141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C0E7A3C9-A508-A131-DDB6-D54DD0CF372E}"/>
              </a:ext>
            </a:extLst>
          </p:cNvPr>
          <p:cNvSpPr txBox="1"/>
          <p:nvPr/>
        </p:nvSpPr>
        <p:spPr>
          <a:xfrm>
            <a:off x="10655014" y="2843409"/>
            <a:ext cx="1347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https://www.cuckoo.co.kr/mall/productView?productNo=9921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9B3484-393C-2012-035B-12446F871B6B}"/>
              </a:ext>
            </a:extLst>
          </p:cNvPr>
          <p:cNvSpPr txBox="1"/>
          <p:nvPr/>
        </p:nvSpPr>
        <p:spPr>
          <a:xfrm>
            <a:off x="4843053" y="2843409"/>
            <a:ext cx="1536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https://www.lge.co.kr/monitors/27u631a</a:t>
            </a: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AA33D2D8-8F82-901A-DC10-F5CB29A173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785" y="1602326"/>
            <a:ext cx="1522052" cy="10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248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AB987-4D4D-C6DF-4DC3-467E42D3C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7B5002-2DD6-CA27-2729-C51E6E3EB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ECAA4E-0B59-5B37-B086-D52C7BC56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DD9647-DCDE-F4C0-4027-432A110D515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해당 가구에서 사용한 </a:t>
            </a:r>
            <a:r>
              <a:rPr lang="en-US" altLang="ko-KR" sz="1600" spc="-50" dirty="0"/>
              <a:t>152kWh</a:t>
            </a:r>
            <a:r>
              <a:rPr lang="ko-KR" altLang="en-US" sz="1600" spc="-50" dirty="0"/>
              <a:t>는 아래와 같이 가전기기 소비를 가정하여 추정해볼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월이기 때문에 냉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난방을 하지 않았다고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가전기기는 최신형으로 임의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사용시간은 대략적으로 가정한다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A585CB0-F838-9755-21EC-AD14F2EC07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416166"/>
              </p:ext>
            </p:extLst>
          </p:nvPr>
        </p:nvGraphicFramePr>
        <p:xfrm>
          <a:off x="1810148" y="2817703"/>
          <a:ext cx="7111602" cy="34665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5540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전자기기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사용시간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전기에너지 소비량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냉장고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TV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84W x 4h/day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컴퓨터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모니터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식기세척기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세탁기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건조기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청소기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1,600W x 0.08h/day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전기밥솥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1,090W x 0.5h/day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994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조명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수시로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459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핸드폰 충전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공유기 및 대기전력 등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498776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156.2kWh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17358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629B-6FB8-AFE1-FD42-A0A2CBD9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FBF3B1-5A73-F6DC-49FA-DEE6E72866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A3538B-D621-6953-45A2-20903A8F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56F34F-4002-7CF6-3C1E-88CDBFA21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휘발유 차 </a:t>
            </a:r>
            <a:r>
              <a:rPr lang="en-US" altLang="ko-KR" sz="4000" b="1" i="0" spc="150" dirty="0"/>
              <a:t>vs. </a:t>
            </a:r>
            <a:r>
              <a:rPr lang="ko-KR" altLang="en-US" sz="4000" b="1" i="0" spc="150" dirty="0"/>
              <a:t>전기 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3996846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21131-49FC-5E59-765B-09583F21A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6F3914-DEA8-A8DB-5991-37F82D97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휘발유차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0D34A-1FF1-0E4F-0883-D4B1585BB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B5154-EF85-D93D-4A2A-FDEBB1B52670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새차를</a:t>
            </a:r>
            <a:r>
              <a:rPr lang="ko-KR" altLang="en-US" sz="1600" spc="-50" dirty="0"/>
              <a:t> 구입하려고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휘발유차와 전기차 둘 중에 고민을 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후보는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15km/liter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가득일 때 주행거리</a:t>
            </a:r>
            <a:r>
              <a:rPr lang="en-US" altLang="ko-KR" sz="1600" spc="-50" dirty="0"/>
              <a:t>: 47liter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15km/liter = 705km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6D4CF4E-B8B6-563E-ABCD-50F0F720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274" y="2689126"/>
            <a:ext cx="3206915" cy="385464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7692489-E849-9B74-1F63-1544AC2B0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367" y="3368631"/>
            <a:ext cx="3225966" cy="278144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C210F9B-CBF5-F077-022C-62AAEECCB6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240"/>
          <a:stretch>
            <a:fillRect/>
          </a:stretch>
        </p:blipFill>
        <p:spPr>
          <a:xfrm>
            <a:off x="8137607" y="2983118"/>
            <a:ext cx="3168813" cy="1776234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785147-A011-FE9C-C881-B57375E41D78}"/>
              </a:ext>
            </a:extLst>
          </p:cNvPr>
          <p:cNvSpPr/>
          <p:nvPr/>
        </p:nvSpPr>
        <p:spPr>
          <a:xfrm>
            <a:off x="10302963" y="2983118"/>
            <a:ext cx="1003457" cy="5030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1178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E77B1-56D3-893A-0CA5-0202CA8A4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A08C9F3-C916-5F99-6E9A-F05C57A62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52" y="5255300"/>
            <a:ext cx="10854911" cy="98587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BDB4DB0-381A-1C97-6700-64F2B7F88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151520-508C-DF95-EE85-E46B221B9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0B7F25-4BAC-7368-7B27-B80C237ACB4B}"/>
              </a:ext>
            </a:extLst>
          </p:cNvPr>
          <p:cNvSpPr/>
          <p:nvPr/>
        </p:nvSpPr>
        <p:spPr>
          <a:xfrm>
            <a:off x="8556713" y="5647640"/>
            <a:ext cx="1003457" cy="5935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48E9A3-7D86-4063-C480-3248CAE78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838" y="2470982"/>
            <a:ext cx="2705321" cy="26448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B618B9-85C8-B242-58C8-66FDD2918C8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후보는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5.1km/kWh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회 충전 주행거리 </a:t>
            </a:r>
            <a:r>
              <a:rPr lang="en-US" altLang="ko-KR" sz="1600" spc="-50" dirty="0"/>
              <a:t>368km (</a:t>
            </a:r>
            <a:r>
              <a:rPr lang="ko-KR" altLang="en-US" sz="1600" spc="-50" dirty="0" err="1"/>
              <a:t>복합연비기준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38853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27D9F-252D-998B-077D-1417AFF31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CCF47-3A02-014B-5F0D-5179428AB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5580B-7FD7-9902-2B0B-6E7A8BF8F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0D9980-5E76-88EE-C0A9-8E0D6D5E299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집에서 학교까지 편도 </a:t>
            </a:r>
            <a:r>
              <a:rPr lang="en-US" altLang="ko-KR" sz="1600" spc="-50" dirty="0"/>
              <a:t>20km(</a:t>
            </a:r>
            <a:r>
              <a:rPr lang="ko-KR" altLang="en-US" sz="1600" spc="-50" dirty="0"/>
              <a:t>왕복</a:t>
            </a:r>
            <a:r>
              <a:rPr lang="en-US" altLang="ko-KR" sz="1600" spc="-50" dirty="0"/>
              <a:t>40km) </a:t>
            </a:r>
            <a:r>
              <a:rPr lang="ko-KR" altLang="en-US" sz="1600" spc="-50" dirty="0"/>
              <a:t>를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 가격은 </a:t>
            </a:r>
            <a:r>
              <a:rPr lang="en-US" altLang="ko-KR" sz="1600" spc="-50" dirty="0"/>
              <a:t>1,800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/liter,  </a:t>
            </a:r>
            <a:r>
              <a:rPr lang="ko-KR" altLang="en-US" sz="1600" spc="-50" dirty="0"/>
              <a:t>전기차 충전요금 </a:t>
            </a:r>
            <a:r>
              <a:rPr lang="en-US" altLang="ko-KR" sz="1600" spc="-50" dirty="0"/>
              <a:t>320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급속충전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: 15km/liter)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연료비는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1,800(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/liter) x 1/15(liter/km) x 40km = 4,800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전비</a:t>
            </a:r>
            <a:r>
              <a:rPr lang="en-US" altLang="ko-KR" sz="1600" spc="-50" dirty="0"/>
              <a:t>: 5.1km/liter)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충전비용은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320(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x 1/5.1(kWh/km) x 40km = 2,510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같은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가는데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2,510</a:t>
            </a:r>
            <a:r>
              <a:rPr lang="ko-KR" altLang="en-US" sz="1600" spc="-50" dirty="0"/>
              <a:t>원의 비용이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의 충전비용은 아반떼 연료비용의 </a:t>
            </a:r>
            <a:r>
              <a:rPr lang="en-US" altLang="ko-KR" sz="1600" spc="-50" dirty="0"/>
              <a:t>52% </a:t>
            </a:r>
            <a:r>
              <a:rPr lang="ko-KR" altLang="en-US" sz="1600" spc="-50" dirty="0"/>
              <a:t>수준이다</a:t>
            </a:r>
            <a:r>
              <a:rPr lang="en-US" altLang="ko-KR" sz="1600" spc="-50" dirty="0"/>
              <a:t>. (2,510/4,800 = 0.52)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/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연비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/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전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blipFill>
                <a:blip r:embed="rId3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35099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D866A-9ECF-735C-D9AF-0403D5FD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BD43C-D839-C93C-91E9-7FD2DC0F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에너지효율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D015D3-005F-48FC-4C72-BFA03A09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86F131-777C-659F-7141-3D47F1086ABC}"/>
              </a:ext>
            </a:extLst>
          </p:cNvPr>
          <p:cNvSpPr txBox="1"/>
          <p:nvPr/>
        </p:nvSpPr>
        <p:spPr>
          <a:xfrm>
            <a:off x="288790" y="958844"/>
            <a:ext cx="744754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에너지 효율 측면에서 비교해 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에너지 효율은 같은 거리를 가는데 에너지를 얼마나 쓰는지 의미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아반떼는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</a:t>
            </a:r>
            <a:r>
              <a:rPr lang="en-US" altLang="ko-KR" sz="1600" spc="-50" dirty="0"/>
              <a:t> liter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40(km)/15(km/liter) = 2.7 liter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</a:t>
            </a:r>
            <a:r>
              <a:rPr lang="ko-KR" altLang="en-US" sz="1600" spc="-50" dirty="0" err="1"/>
              <a:t>표에서와</a:t>
            </a:r>
            <a:r>
              <a:rPr lang="ko-KR" altLang="en-US" sz="1600" spc="-50" dirty="0"/>
              <a:t> 같이 휘발유 </a:t>
            </a:r>
            <a:r>
              <a:rPr lang="en-US" altLang="ko-KR" sz="1600" spc="-50" dirty="0"/>
              <a:t>1liter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32.4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7,750 kcal(</a:t>
            </a:r>
            <a:r>
              <a:rPr lang="ko-KR" altLang="en-US" sz="1600" spc="-50" dirty="0"/>
              <a:t>킬로칼로리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아반떼는 </a:t>
            </a:r>
            <a:r>
              <a:rPr lang="en-US" altLang="ko-KR" sz="1600" spc="-50" dirty="0"/>
              <a:t>87.5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(2.7 x 32.4)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20,925 kcal (2.7 x 7,750)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40km/5.1(km/kWh) = 7.8 kWh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 </a:t>
            </a:r>
            <a:r>
              <a:rPr lang="en-US" altLang="ko-KR" sz="1600" spc="-50" dirty="0"/>
              <a:t>1kWh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9.6MJ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2,290 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74.9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 x 9.6)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17,862 kcal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2,290)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갈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E7C012-9201-085C-3DED-279F6B7D0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1DD57BE4-4F5B-FF93-D9EB-FD7B5C6EDE97}"/>
              </a:ext>
            </a:extLst>
          </p:cNvPr>
          <p:cNvSpPr/>
          <p:nvPr/>
        </p:nvSpPr>
        <p:spPr>
          <a:xfrm>
            <a:off x="8056856" y="1477048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87B0C1-07AD-5DCB-0195-2E4A3DA366DE}"/>
              </a:ext>
            </a:extLst>
          </p:cNvPr>
          <p:cNvSpPr/>
          <p:nvPr/>
        </p:nvSpPr>
        <p:spPr>
          <a:xfrm>
            <a:off x="9232079" y="1477048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9B08917-6F43-601B-8413-10A1B0C071A2}"/>
              </a:ext>
            </a:extLst>
          </p:cNvPr>
          <p:cNvSpPr/>
          <p:nvPr/>
        </p:nvSpPr>
        <p:spPr>
          <a:xfrm>
            <a:off x="9653559" y="1477048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E6CC028-BD3D-7108-1AEA-B919FB329787}"/>
              </a:ext>
            </a:extLst>
          </p:cNvPr>
          <p:cNvSpPr/>
          <p:nvPr/>
        </p:nvSpPr>
        <p:spPr>
          <a:xfrm>
            <a:off x="8056856" y="5217459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2C7D3E6-3EFD-C153-8DB2-2F9EC1B76C78}"/>
              </a:ext>
            </a:extLst>
          </p:cNvPr>
          <p:cNvSpPr/>
          <p:nvPr/>
        </p:nvSpPr>
        <p:spPr>
          <a:xfrm>
            <a:off x="9232079" y="5217459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AB50AF-44B2-1E46-1C45-A23880273460}"/>
              </a:ext>
            </a:extLst>
          </p:cNvPr>
          <p:cNvSpPr/>
          <p:nvPr/>
        </p:nvSpPr>
        <p:spPr>
          <a:xfrm>
            <a:off x="9653559" y="5217459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2748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541FC-39A3-C293-1C0D-CC337F69C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284A47-D6E7-787B-583A-7BD50BCABBA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B81D5-ADEB-E606-3F8E-92A42A42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E91B051-A94F-C5C3-0DC7-640F303F0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도시가스 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073163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92607-0F12-2E31-62AB-1E7BD1D28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23DD91-C6CB-E783-A4CE-B36531A1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8F1E9B-23E0-BF5A-F08F-378E0FCA5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A35181-7F03-5702-1DBB-F6FDCC607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" y="2713206"/>
            <a:ext cx="7261860" cy="38237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7935C7-E7C7-D26D-D462-B321CA5D9964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일상생활에서 가스를 사용하는 경우는 주방에서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요리할 때 도시가스를 사용하고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CNG </a:t>
            </a:r>
            <a:r>
              <a:rPr lang="ko-KR" altLang="en-US" sz="1600" spc="-50" dirty="0"/>
              <a:t>시내버스를 타면 그 버스의 연료는 압축천연가스</a:t>
            </a:r>
            <a:r>
              <a:rPr lang="en-US" altLang="ko-KR" sz="1600" spc="-50" dirty="0"/>
              <a:t>(CNG, Compressed Natural Gas)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가스도 전기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휘발유와 마찬가지로 사용량에 단가를 곱하여 가스요금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가스는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 </a:t>
            </a:r>
            <a:r>
              <a:rPr lang="ko-KR" altLang="en-US" sz="1600" spc="-50" dirty="0"/>
              <a:t>라는 부피를 기준으로 에너지사용을 측정한다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A4B3928-A142-852C-D14E-3B0C938E0C9C}"/>
              </a:ext>
            </a:extLst>
          </p:cNvPr>
          <p:cNvSpPr/>
          <p:nvPr/>
        </p:nvSpPr>
        <p:spPr>
          <a:xfrm>
            <a:off x="7848600" y="2730308"/>
            <a:ext cx="487680" cy="518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m</a:t>
            </a:r>
            <a:r>
              <a:rPr lang="en-US" altLang="ko-KR" baseline="30000" dirty="0">
                <a:solidFill>
                  <a:schemeClr val="tx1"/>
                </a:solidFill>
              </a:rPr>
              <a:t>3</a:t>
            </a:r>
            <a:endParaRPr lang="ko-KR" altLang="en-US" baseline="30000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F83414F-FDFF-212E-94F9-E95AEBDBC6E4}"/>
              </a:ext>
            </a:extLst>
          </p:cNvPr>
          <p:cNvSpPr/>
          <p:nvPr/>
        </p:nvSpPr>
        <p:spPr>
          <a:xfrm>
            <a:off x="4884420" y="3959642"/>
            <a:ext cx="487680" cy="78761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30000" dirty="0">
              <a:solidFill>
                <a:schemeClr val="tx1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3D69AE95-7D15-2C3B-1254-8D6576C49E10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 flipV="1">
            <a:off x="5372100" y="2989388"/>
            <a:ext cx="2476500" cy="136406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C58DBAA-84DC-7628-966B-49AFD993CE90}"/>
              </a:ext>
            </a:extLst>
          </p:cNvPr>
          <p:cNvSpPr txBox="1"/>
          <p:nvPr/>
        </p:nvSpPr>
        <p:spPr>
          <a:xfrm>
            <a:off x="7632700" y="3365580"/>
            <a:ext cx="413385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가스는 기체이므로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액체 형태이므로</a:t>
            </a:r>
            <a:r>
              <a:rPr lang="en-US" altLang="ko-KR" sz="1600" spc="-50" dirty="0"/>
              <a:t>, liter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전기는 전기 형태이므로</a:t>
            </a:r>
            <a:r>
              <a:rPr lang="en-US" altLang="ko-KR" sz="1600" spc="-50" dirty="0"/>
              <a:t>, kWh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석탄은 고체 형태이므로</a:t>
            </a:r>
            <a:r>
              <a:rPr lang="en-US" altLang="ko-KR" sz="1600" spc="-50" dirty="0"/>
              <a:t>, kg</a:t>
            </a:r>
            <a:r>
              <a:rPr lang="ko-KR" altLang="en-US" sz="1600" spc="-50" dirty="0"/>
              <a:t>을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EEF3AB59-E652-EE29-2651-C819DDBF9188}"/>
              </a:ext>
            </a:extLst>
          </p:cNvPr>
          <p:cNvSpPr/>
          <p:nvPr/>
        </p:nvSpPr>
        <p:spPr>
          <a:xfrm>
            <a:off x="9729978" y="1668931"/>
            <a:ext cx="1216152" cy="1216152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F2C288A7-3919-FD49-4D4A-224DBED215B9}"/>
              </a:ext>
            </a:extLst>
          </p:cNvPr>
          <p:cNvSpPr/>
          <p:nvPr/>
        </p:nvSpPr>
        <p:spPr>
          <a:xfrm>
            <a:off x="9538716" y="1979749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왼쪽 중괄호 27">
            <a:extLst>
              <a:ext uri="{FF2B5EF4-FFF2-40B4-BE49-F238E27FC236}">
                <a16:creationId xmlns:a16="http://schemas.microsoft.com/office/drawing/2014/main" id="{7D17E994-9537-04C9-B42E-D97C47EFC7CE}"/>
              </a:ext>
            </a:extLst>
          </p:cNvPr>
          <p:cNvSpPr/>
          <p:nvPr/>
        </p:nvSpPr>
        <p:spPr>
          <a:xfrm rot="16200000">
            <a:off x="10109683" y="2535651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왼쪽 중괄호 28">
            <a:extLst>
              <a:ext uri="{FF2B5EF4-FFF2-40B4-BE49-F238E27FC236}">
                <a16:creationId xmlns:a16="http://schemas.microsoft.com/office/drawing/2014/main" id="{D3B4CC32-EA1C-2149-5298-886D152877CC}"/>
              </a:ext>
            </a:extLst>
          </p:cNvPr>
          <p:cNvSpPr/>
          <p:nvPr/>
        </p:nvSpPr>
        <p:spPr>
          <a:xfrm rot="13509751">
            <a:off x="10790149" y="2583354"/>
            <a:ext cx="155448" cy="432218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95230AA-27E4-365E-5CDA-7D5604407DF0}"/>
              </a:ext>
            </a:extLst>
          </p:cNvPr>
          <p:cNvSpPr/>
          <p:nvPr/>
        </p:nvSpPr>
        <p:spPr>
          <a:xfrm>
            <a:off x="9215661" y="2311351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F6079B0-94C4-8E12-026A-3757AF9D446A}"/>
              </a:ext>
            </a:extLst>
          </p:cNvPr>
          <p:cNvSpPr/>
          <p:nvPr/>
        </p:nvSpPr>
        <p:spPr>
          <a:xfrm>
            <a:off x="10003837" y="3013199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9169BA5-B0B1-AE02-97AA-DD5CAD1012B7}"/>
              </a:ext>
            </a:extLst>
          </p:cNvPr>
          <p:cNvSpPr/>
          <p:nvPr/>
        </p:nvSpPr>
        <p:spPr>
          <a:xfrm>
            <a:off x="10781728" y="2813374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3430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53B8-4AB1-9763-6BA8-F519C13A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2B098F-A592-3355-073E-E5F2A2EE8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487BC3-1A87-99E6-1DD8-96E944A2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7C210A-1598-4F1B-1466-6E4A77D1BACE}"/>
              </a:ext>
            </a:extLst>
          </p:cNvPr>
          <p:cNvSpPr txBox="1"/>
          <p:nvPr/>
        </p:nvSpPr>
        <p:spPr>
          <a:xfrm>
            <a:off x="288791" y="958844"/>
            <a:ext cx="7396204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표에서 도시가스를 보면 단순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 아니라</a:t>
            </a:r>
            <a:r>
              <a:rPr lang="en-US" altLang="ko-KR" sz="1600" spc="-50" dirty="0"/>
              <a:t>,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단위를 사용한다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</a:t>
            </a: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 상태에서의 기체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 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기압인 상태를 표준 상태라고 보통 표현한다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표준상태일 때의 기체 부피를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표준상태라고 하는 기준이 필요한 이유는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온도가 올라가면 부피는 커지고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온도가 내려가면 부피는 작아진다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압력을 높이면 부피는 작아지고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압력을 낮추면 부피는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표준상태라는 기준을 정의하지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여름과 겨울에 똑같은 양의 가스를 사용해도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여름에 가스요금을 더 많이 내게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집에서 쓰는 도시가스는 </a:t>
            </a:r>
            <a:r>
              <a:rPr lang="en-US" altLang="ko-KR" sz="1600" spc="-50" dirty="0"/>
              <a:t>LNG</a:t>
            </a:r>
            <a:r>
              <a:rPr lang="ko-KR" altLang="en-US" sz="1600" spc="-50" dirty="0"/>
              <a:t>로서</a:t>
            </a:r>
            <a:r>
              <a:rPr lang="en-US" altLang="ko-KR" sz="1600" spc="-50" dirty="0"/>
              <a:t>, 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42.7MJ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10,190kcal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3B95D6-3EB9-2169-6230-593B5CAF6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064604B-77D0-72E8-D3AA-4BDEF15DCCCD}"/>
              </a:ext>
            </a:extLst>
          </p:cNvPr>
          <p:cNvSpPr/>
          <p:nvPr/>
        </p:nvSpPr>
        <p:spPr>
          <a:xfrm>
            <a:off x="8056856" y="3879477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108B08-E460-92D4-0FA7-4066DBC5D3A9}"/>
              </a:ext>
            </a:extLst>
          </p:cNvPr>
          <p:cNvSpPr/>
          <p:nvPr/>
        </p:nvSpPr>
        <p:spPr>
          <a:xfrm>
            <a:off x="9232079" y="3879477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E7A1EAD-8FB8-F1BD-6875-45390C7DBEAE}"/>
              </a:ext>
            </a:extLst>
          </p:cNvPr>
          <p:cNvSpPr/>
          <p:nvPr/>
        </p:nvSpPr>
        <p:spPr>
          <a:xfrm>
            <a:off x="9653559" y="3879477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5786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E2EED-ED97-05C3-7A45-9D6F19F2A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E9057-5AD5-C997-A298-BEC0194BD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CE5435-EBD6-A694-B2A1-B9A2A4CA1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8A23AC-16A7-0CE2-9898-14CDFC1071C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요금은 아래와 같이 계산한다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온압보정계수는</a:t>
            </a:r>
            <a:r>
              <a:rPr lang="ko-KR" altLang="en-US" sz="1600" spc="-50" dirty="0"/>
              <a:t> 도시가스 계량기가 측정한 가스의 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표준상태의 부피로 </a:t>
            </a:r>
            <a:r>
              <a:rPr lang="en-US" altLang="ko-KR" sz="1600" spc="-50" dirty="0"/>
              <a:t>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환산하기 위한 계수이다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/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도시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스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온압보정계수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균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단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원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blipFill>
                <a:blip r:embed="rId2"/>
                <a:stretch>
                  <a:fillRect l="-859" t="-7692" b="-256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75A88289-B9FE-1A08-255F-8DEE9B345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8493" y="3307964"/>
            <a:ext cx="2042380" cy="31438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62CBC7A-F124-49B9-1F49-E458CD9CF6B8}"/>
              </a:ext>
            </a:extLst>
          </p:cNvPr>
          <p:cNvSpPr txBox="1"/>
          <p:nvPr/>
        </p:nvSpPr>
        <p:spPr>
          <a:xfrm>
            <a:off x="9609171" y="305039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&lt;2025</a:t>
            </a:r>
            <a:r>
              <a:rPr lang="ko-KR" altLang="en-US" sz="1200" spc="-50" dirty="0"/>
              <a:t>년 도시가스 </a:t>
            </a:r>
            <a:r>
              <a:rPr lang="ko-KR" altLang="en-US" sz="1200" spc="-50" dirty="0" err="1"/>
              <a:t>온압보정계수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940D92-D33A-4C34-7F25-A8203B9E5D99}"/>
              </a:ext>
            </a:extLst>
          </p:cNvPr>
          <p:cNvSpPr txBox="1"/>
          <p:nvPr/>
        </p:nvSpPr>
        <p:spPr>
          <a:xfrm>
            <a:off x="288790" y="2664989"/>
            <a:ext cx="9345539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지역별로 기온과 기압이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오른쪽 표와 같이 </a:t>
            </a:r>
            <a:r>
              <a:rPr lang="ko-KR" altLang="en-US" sz="1600" spc="-50" dirty="0" err="1"/>
              <a:t>온압보정계수를</a:t>
            </a:r>
            <a:r>
              <a:rPr lang="ko-KR" altLang="en-US" sz="1600" spc="-50" dirty="0"/>
              <a:t> 지역별로 적용한다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0.9944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제주의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0.9731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제주는 서울보다 평균 기온이 높아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같은 양의 가스 분자라도 보다 큰 부피를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제천의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0.9748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제주와 달리 충주 옆에 위치한 내륙지역임에도 불구하고 </a:t>
            </a:r>
            <a:r>
              <a:rPr lang="ko-KR" altLang="en-US" sz="1600" spc="-50" dirty="0" err="1"/>
              <a:t>온압보정계수가</a:t>
            </a:r>
            <a:r>
              <a:rPr lang="ko-KR" altLang="en-US" sz="1600" spc="-50" dirty="0"/>
              <a:t> 낮다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다른 지역보다 해발고도가 높은 지역인데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해발고도가 높으면 기압이 낮아져서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양의 가스 분자라도 보다 큰 부피를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E9EB67D-3FCB-AD0D-1F48-A82326A5CBBF}"/>
              </a:ext>
            </a:extLst>
          </p:cNvPr>
          <p:cNvSpPr/>
          <p:nvPr/>
        </p:nvSpPr>
        <p:spPr>
          <a:xfrm>
            <a:off x="9885039" y="3319712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5A38100-4984-C768-D2BF-AE49B06D4A5B}"/>
              </a:ext>
            </a:extLst>
          </p:cNvPr>
          <p:cNvSpPr/>
          <p:nvPr/>
        </p:nvSpPr>
        <p:spPr>
          <a:xfrm>
            <a:off x="9885039" y="4576705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1E865AA-F37A-C658-7AFF-5E9BA125E53B}"/>
              </a:ext>
            </a:extLst>
          </p:cNvPr>
          <p:cNvSpPr/>
          <p:nvPr/>
        </p:nvSpPr>
        <p:spPr>
          <a:xfrm>
            <a:off x="10941679" y="6186911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5143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5ADB1-456F-C566-8D5E-914EBC83A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0007-EA5C-A92E-1DE2-75053F801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B5E98C-A9A3-4D38-1498-6225EFBD5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22E70-D429-13E1-C4CD-77C07439EF51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한국가스공사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도매업자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해외로부터 천연가스를 수입하여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파이프라인을 통해 국내 각지에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가스공급업자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해당지역에서 독점적 지위로서 소비자들에게 가스를 판매한다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사용단가는 지역별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공급업체별로 약간씩 다르다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업무난방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나뉘고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용도에 따라 가격이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0593D00-D1B4-9F70-6E08-09815BC18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707" y="3479800"/>
            <a:ext cx="6084732" cy="27432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AA271C-1F98-92CC-6803-5456D72AA0A7}"/>
              </a:ext>
            </a:extLst>
          </p:cNvPr>
          <p:cNvSpPr txBox="1"/>
          <p:nvPr/>
        </p:nvSpPr>
        <p:spPr>
          <a:xfrm>
            <a:off x="9527540" y="6223086"/>
            <a:ext cx="22567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http://www.citygas.or.kr/info/charge.jsp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D501CC7-A93C-177F-557B-561A46FDC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26" y="2868669"/>
            <a:ext cx="3543827" cy="36682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1CF1DFD-0079-56C4-64F5-6E14FF23D39E}"/>
              </a:ext>
            </a:extLst>
          </p:cNvPr>
          <p:cNvSpPr txBox="1"/>
          <p:nvPr/>
        </p:nvSpPr>
        <p:spPr>
          <a:xfrm>
            <a:off x="1547211" y="307071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회사 현황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F2ECD8-06EA-5CAA-B784-A045D94CAAF7}"/>
              </a:ext>
            </a:extLst>
          </p:cNvPr>
          <p:cNvSpPr txBox="1"/>
          <p:nvPr/>
        </p:nvSpPr>
        <p:spPr>
          <a:xfrm>
            <a:off x="1852930" y="6330808"/>
            <a:ext cx="2084070" cy="206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http://www.citygas.or.kr/company/situation.jsp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659CB0-A21B-1E4A-B3BD-1C3BC3177112}"/>
              </a:ext>
            </a:extLst>
          </p:cNvPr>
          <p:cNvSpPr txBox="1"/>
          <p:nvPr/>
        </p:nvSpPr>
        <p:spPr>
          <a:xfrm>
            <a:off x="7495891" y="3290500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</a:t>
            </a:r>
            <a:r>
              <a:rPr lang="ko-KR" altLang="en-US" sz="1200" spc="-50" dirty="0" err="1"/>
              <a:t>요금표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198588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5775A-C5EA-E66A-9608-DD8536D9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417AE-4BF1-B500-EF34-86E9DE24A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9B1B5-6E87-E910-FA08-851ECA1EA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35C9BC-54D8-3123-3CEF-FDEF0B0286A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 </a:t>
            </a:r>
            <a:r>
              <a:rPr lang="en-US" altLang="ko-KR" sz="1600" spc="-50" dirty="0"/>
              <a:t>500ml (</a:t>
            </a:r>
            <a:r>
              <a:rPr lang="ko-KR" altLang="en-US" sz="1600" spc="-50" dirty="0"/>
              <a:t>라면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봉지에 필요한 물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를 끓이는 데 도시가스는 얼마나 필요하고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요금은 얼마일지 계산해보자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400,000 J (=0.4 MJ)</a:t>
            </a:r>
            <a:r>
              <a:rPr lang="ko-KR" altLang="en-US" sz="1600" spc="-50" dirty="0"/>
              <a:t>의 에너지가 필요하다고 하자</a:t>
            </a:r>
            <a:r>
              <a:rPr lang="en-US" altLang="ko-KR" sz="1600" spc="-50" dirty="0"/>
              <a:t>. (20℃ → 100℃)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도시가스는 </a:t>
            </a:r>
            <a:r>
              <a:rPr lang="en-US" altLang="ko-KR" sz="1600" spc="-50" dirty="0"/>
              <a:t>42.7MJ</a:t>
            </a:r>
            <a:r>
              <a:rPr lang="ko-KR" altLang="en-US" sz="1600" spc="-50" dirty="0"/>
              <a:t> 의 에너지를 갖고 있었다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40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 MJ x 1/42.7 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/MJ) = 0.009Nm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0.208m x 0.208m x 0.208m = 0.009 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표준상태</a:t>
            </a:r>
            <a:r>
              <a:rPr lang="en-US" altLang="ko-KR" sz="1600" spc="-50" dirty="0"/>
              <a:t>(0℃, 1</a:t>
            </a:r>
            <a:r>
              <a:rPr lang="ko-KR" altLang="en-US" sz="1600" spc="-50" dirty="0"/>
              <a:t>기압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 </a:t>
            </a:r>
            <a:r>
              <a:rPr lang="en-US" altLang="ko-KR" sz="1600" spc="-50" dirty="0"/>
              <a:t>500ml </a:t>
            </a:r>
            <a:r>
              <a:rPr lang="ko-KR" altLang="en-US" sz="1600" spc="-50" dirty="0"/>
              <a:t>를 끓이기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아래와 같이 한 변이 </a:t>
            </a:r>
            <a:r>
              <a:rPr lang="en-US" altLang="ko-KR" sz="1600" spc="-50" dirty="0"/>
              <a:t>20.8cm (0.208m)</a:t>
            </a:r>
            <a:r>
              <a:rPr lang="ko-KR" altLang="en-US" sz="1600" spc="-50" dirty="0"/>
              <a:t>인 정육면체 부피 만큼의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대전지역에서 주택 취사용 도시가스의 가격은 </a:t>
            </a:r>
            <a:r>
              <a:rPr lang="en-US" altLang="ko-KR" sz="1600" spc="-50" dirty="0"/>
              <a:t>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42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= 9.1</a:t>
            </a:r>
            <a:r>
              <a:rPr lang="ko-KR" altLang="en-US" sz="1600" spc="-50" dirty="0"/>
              <a:t>원의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도시가스 요금이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BED43F26-E393-3364-D0A4-79D568F24E69}"/>
              </a:ext>
            </a:extLst>
          </p:cNvPr>
          <p:cNvSpPr/>
          <p:nvPr/>
        </p:nvSpPr>
        <p:spPr>
          <a:xfrm>
            <a:off x="3330956" y="3993818"/>
            <a:ext cx="155448" cy="5628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왼쪽 중괄호 10">
            <a:extLst>
              <a:ext uri="{FF2B5EF4-FFF2-40B4-BE49-F238E27FC236}">
                <a16:creationId xmlns:a16="http://schemas.microsoft.com/office/drawing/2014/main" id="{6A726663-8301-128C-8A45-1120C4AF13A1}"/>
              </a:ext>
            </a:extLst>
          </p:cNvPr>
          <p:cNvSpPr/>
          <p:nvPr/>
        </p:nvSpPr>
        <p:spPr>
          <a:xfrm rot="16200000">
            <a:off x="3707820" y="4392841"/>
            <a:ext cx="155448" cy="5537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왼쪽 중괄호 15">
            <a:extLst>
              <a:ext uri="{FF2B5EF4-FFF2-40B4-BE49-F238E27FC236}">
                <a16:creationId xmlns:a16="http://schemas.microsoft.com/office/drawing/2014/main" id="{17B27489-6C22-238D-24A1-F6B939034713}"/>
              </a:ext>
            </a:extLst>
          </p:cNvPr>
          <p:cNvSpPr/>
          <p:nvPr/>
        </p:nvSpPr>
        <p:spPr>
          <a:xfrm rot="13509751">
            <a:off x="4155758" y="4409090"/>
            <a:ext cx="155448" cy="265107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0BC63CC-03F6-D8C8-418D-62776B40D59A}"/>
              </a:ext>
            </a:extLst>
          </p:cNvPr>
          <p:cNvSpPr/>
          <p:nvPr/>
        </p:nvSpPr>
        <p:spPr>
          <a:xfrm>
            <a:off x="3480096" y="472963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5" name="정육면체 24">
            <a:extLst>
              <a:ext uri="{FF2B5EF4-FFF2-40B4-BE49-F238E27FC236}">
                <a16:creationId xmlns:a16="http://schemas.microsoft.com/office/drawing/2014/main" id="{B2A56D92-3E7D-5DF7-786E-DBB7D501CBC3}"/>
              </a:ext>
            </a:extLst>
          </p:cNvPr>
          <p:cNvSpPr/>
          <p:nvPr/>
        </p:nvSpPr>
        <p:spPr>
          <a:xfrm>
            <a:off x="3508674" y="3819493"/>
            <a:ext cx="737164" cy="737164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C96565E-F264-E962-5321-F0B9BA191E3A}"/>
              </a:ext>
            </a:extLst>
          </p:cNvPr>
          <p:cNvSpPr/>
          <p:nvPr/>
        </p:nvSpPr>
        <p:spPr>
          <a:xfrm>
            <a:off x="4133910" y="4556657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5B2E9B0-AA03-50FD-857C-06CC1A771AC7}"/>
              </a:ext>
            </a:extLst>
          </p:cNvPr>
          <p:cNvSpPr/>
          <p:nvPr/>
        </p:nvSpPr>
        <p:spPr>
          <a:xfrm>
            <a:off x="2806996" y="415167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F9AC41A-FD11-0508-75D1-4EF554559C60}"/>
              </a:ext>
            </a:extLst>
          </p:cNvPr>
          <p:cNvSpPr/>
          <p:nvPr/>
        </p:nvSpPr>
        <p:spPr>
          <a:xfrm>
            <a:off x="3553701" y="4147308"/>
            <a:ext cx="530982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도시가스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04E6C29B-DB5E-00E6-427D-635A2BAB6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390" y="3617217"/>
            <a:ext cx="1902640" cy="1522655"/>
          </a:xfrm>
          <a:prstGeom prst="rect">
            <a:avLst/>
          </a:prstGeom>
        </p:spPr>
      </p:pic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AD4C0D7B-EB24-6B2D-214D-328D07A3D52E}"/>
              </a:ext>
            </a:extLst>
          </p:cNvPr>
          <p:cNvCxnSpPr>
            <a:cxnSpLocks/>
            <a:stCxn id="25" idx="5"/>
            <a:endCxn id="35" idx="2"/>
          </p:cNvCxnSpPr>
          <p:nvPr/>
        </p:nvCxnSpPr>
        <p:spPr>
          <a:xfrm>
            <a:off x="4245838" y="4095930"/>
            <a:ext cx="2431872" cy="1043942"/>
          </a:xfrm>
          <a:prstGeom prst="bentConnector4">
            <a:avLst>
              <a:gd name="adj1" fmla="val 30441"/>
              <a:gd name="adj2" fmla="val 12189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31794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11083</TotalTime>
  <Words>4969</Words>
  <Application>Microsoft Office PowerPoint</Application>
  <PresentationFormat>와이드스크린</PresentationFormat>
  <Paragraphs>594</Paragraphs>
  <Slides>44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51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1  에너지 생성</vt:lpstr>
      <vt:lpstr>Section 1. 우주의 탄생</vt:lpstr>
      <vt:lpstr>서론</vt:lpstr>
      <vt:lpstr>Energy 어원</vt:lpstr>
      <vt:lpstr>에너지의 여러가지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Section 2. 우리집 전기요금</vt:lpstr>
      <vt:lpstr>우리집 전기요금</vt:lpstr>
      <vt:lpstr>우리집 전기요금</vt:lpstr>
      <vt:lpstr>우리집 전기요금</vt:lpstr>
      <vt:lpstr>우리집 전기요금</vt:lpstr>
      <vt:lpstr>주택용, 교육용</vt:lpstr>
      <vt:lpstr>일반용</vt:lpstr>
      <vt:lpstr>산업용</vt:lpstr>
      <vt:lpstr>농사용, 가로등, 심야전력, 전기차</vt:lpstr>
      <vt:lpstr>우리집 전기요금</vt:lpstr>
      <vt:lpstr>우리집 전기요금</vt:lpstr>
      <vt:lpstr>우리집 전기 소비 내역</vt:lpstr>
      <vt:lpstr>우리집 전기 소비 내역</vt:lpstr>
      <vt:lpstr>Section 3. 휘발유 차 vs. 전기 차</vt:lpstr>
      <vt:lpstr>휘발유차</vt:lpstr>
      <vt:lpstr>전기차</vt:lpstr>
      <vt:lpstr>비용 비교 (휘발유차 vs. 전기차)</vt:lpstr>
      <vt:lpstr>에너지효율 비교 (휘발유차 vs. 전기차)</vt:lpstr>
      <vt:lpstr>Section 4. 도시가스 요금</vt:lpstr>
      <vt:lpstr>도시가스 요금</vt:lpstr>
      <vt:lpstr>도시가스 요금</vt:lpstr>
      <vt:lpstr>도시가스 요금</vt:lpstr>
      <vt:lpstr>도시가스 요금</vt:lpstr>
      <vt:lpstr>도시가스 요금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408</cp:revision>
  <dcterms:created xsi:type="dcterms:W3CDTF">2025-07-05T05:15:23Z</dcterms:created>
  <dcterms:modified xsi:type="dcterms:W3CDTF">2026-07-07T08:28:22Z</dcterms:modified>
</cp:coreProperties>
</file>