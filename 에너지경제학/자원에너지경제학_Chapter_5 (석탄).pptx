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62"/>
  </p:notesMasterIdLst>
  <p:sldIdLst>
    <p:sldId id="375" r:id="rId2"/>
    <p:sldId id="405" r:id="rId3"/>
    <p:sldId id="550" r:id="rId4"/>
    <p:sldId id="376" r:id="rId5"/>
    <p:sldId id="609" r:id="rId6"/>
    <p:sldId id="599" r:id="rId7"/>
    <p:sldId id="610" r:id="rId8"/>
    <p:sldId id="611" r:id="rId9"/>
    <p:sldId id="601" r:id="rId10"/>
    <p:sldId id="612" r:id="rId11"/>
    <p:sldId id="613" r:id="rId12"/>
    <p:sldId id="614" r:id="rId13"/>
    <p:sldId id="618" r:id="rId14"/>
    <p:sldId id="615" r:id="rId15"/>
    <p:sldId id="617" r:id="rId16"/>
    <p:sldId id="602" r:id="rId17"/>
    <p:sldId id="619" r:id="rId18"/>
    <p:sldId id="620" r:id="rId19"/>
    <p:sldId id="621" r:id="rId20"/>
    <p:sldId id="622" r:id="rId21"/>
    <p:sldId id="623" r:id="rId22"/>
    <p:sldId id="624" r:id="rId23"/>
    <p:sldId id="649" r:id="rId24"/>
    <p:sldId id="650" r:id="rId25"/>
    <p:sldId id="651" r:id="rId26"/>
    <p:sldId id="652" r:id="rId27"/>
    <p:sldId id="653" r:id="rId28"/>
    <p:sldId id="654" r:id="rId29"/>
    <p:sldId id="603" r:id="rId30"/>
    <p:sldId id="626" r:id="rId31"/>
    <p:sldId id="627" r:id="rId32"/>
    <p:sldId id="604" r:id="rId33"/>
    <p:sldId id="628" r:id="rId34"/>
    <p:sldId id="629" r:id="rId35"/>
    <p:sldId id="655" r:id="rId36"/>
    <p:sldId id="656" r:id="rId37"/>
    <p:sldId id="606" r:id="rId38"/>
    <p:sldId id="630" r:id="rId39"/>
    <p:sldId id="631" r:id="rId40"/>
    <p:sldId id="605" r:id="rId41"/>
    <p:sldId id="632" r:id="rId42"/>
    <p:sldId id="633" r:id="rId43"/>
    <p:sldId id="648" r:id="rId44"/>
    <p:sldId id="634" r:id="rId45"/>
    <p:sldId id="635" r:id="rId46"/>
    <p:sldId id="636" r:id="rId47"/>
    <p:sldId id="637" r:id="rId48"/>
    <p:sldId id="638" r:id="rId49"/>
    <p:sldId id="639" r:id="rId50"/>
    <p:sldId id="640" r:id="rId51"/>
    <p:sldId id="641" r:id="rId52"/>
    <p:sldId id="642" r:id="rId53"/>
    <p:sldId id="607" r:id="rId54"/>
    <p:sldId id="643" r:id="rId55"/>
    <p:sldId id="644" r:id="rId56"/>
    <p:sldId id="645" r:id="rId57"/>
    <p:sldId id="608" r:id="rId58"/>
    <p:sldId id="646" r:id="rId59"/>
    <p:sldId id="647" r:id="rId60"/>
    <p:sldId id="598" r:id="rId6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15F5F"/>
    <a:srgbClr val="F8F7FC"/>
    <a:srgbClr val="2D72BE"/>
    <a:srgbClr val="070B12"/>
    <a:srgbClr val="0047A0"/>
    <a:srgbClr val="E3605B"/>
    <a:srgbClr val="FFFFFF"/>
    <a:srgbClr val="FFFDFF"/>
    <a:srgbClr val="00ADD0"/>
    <a:srgbClr val="EEF0E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D4F822-9B6C-2312-BC7C-289E6CBD8A83}" v="204" dt="2025-07-20T13:57:47.285"/>
    <p1510:client id="{6FC94FB9-0A6B-4253-B3BE-E28497FA5913}" v="13" dt="2025-07-21T06:43:27.973"/>
    <p1510:client id="{ACAA3603-E3D6-4895-8F10-727493C87641}" v="65" dt="2025-07-21T00:56:35.769"/>
    <p1510:client id="{F2AEC958-FA13-3020-BC15-FF90776EF069}" v="4" dt="2025-07-21T06:39:02.78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1885" autoAdjust="0"/>
  </p:normalViewPr>
  <p:slideViewPr>
    <p:cSldViewPr snapToGrid="0">
      <p:cViewPr varScale="1">
        <p:scale>
          <a:sx n="78" d="100"/>
          <a:sy n="78" d="100"/>
        </p:scale>
        <p:origin x="126" y="151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5E00EF-AEA4-43E2-9451-8F9C59A39471}" type="datetimeFigureOut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183C86-FCDD-4CD4-A668-4DF0BEDE3E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48368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AB1E38-39C7-48C4-086A-B6EF68CA5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E913856-496C-B1A2-D9C8-F0B2113C59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845EA-812B-B94C-5F91-4538C5B0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32C56F-BD27-4999-9E6D-D4EACE3DA9F4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27CC3D-4E75-B1F8-2261-C9EEA1AA9C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BF1B240-7572-2884-ADF8-CC4D01D4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18352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6E21D-82E6-C9AF-A630-9F90B7541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394455-1CD5-40DD-A267-639381E294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A468D34-B903-2F96-71AD-0A335A08665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B83F9E-22C9-45CA-9E85-070F1D3EF530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F736989-7205-0872-8F94-F68B3387B3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80E82D4-4058-837B-0186-DF1F17F36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7937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E35CB0-2E64-7E17-7F11-3E336F1ABC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2D50A24-08A9-B9E0-2E86-A56A1D9E74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D0B33A9-AC09-8991-549A-226E174EB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3278F45-FB3C-4C4D-B89A-7BC3F5F229F6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9A77B79-B6C6-4181-A645-4655A0A56B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D7EF39A-AD25-8789-D43C-8EA119BB9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554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자유형: 도형 5">
            <a:extLst>
              <a:ext uri="{FF2B5EF4-FFF2-40B4-BE49-F238E27FC236}">
                <a16:creationId xmlns:a16="http://schemas.microsoft.com/office/drawing/2014/main" id="{6B2B1356-24BE-84BC-4DC7-3DE366037E84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0F930236-B5C8-D9A4-EA14-40915FCDBA70}"/>
              </a:ext>
            </a:extLst>
          </p:cNvPr>
          <p:cNvSpPr/>
          <p:nvPr userDrawn="1"/>
        </p:nvSpPr>
        <p:spPr>
          <a:xfrm>
            <a:off x="1037626" y="520066"/>
            <a:ext cx="635786" cy="1578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8374F9DA-878E-E86E-075B-62CFB99FBDF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38FDAC3C-35A6-415C-9F03-738A6AC328B1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7EE000A-EE22-ABA9-FA89-DA9EA0B9A9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B5EA1F0-774A-3104-2C40-091586426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5" name="그림 4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4F494D8-0B43-4288-8718-B3CEFA7020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grpSp>
        <p:nvGrpSpPr>
          <p:cNvPr id="7" name="그룹 6">
            <a:extLst>
              <a:ext uri="{FF2B5EF4-FFF2-40B4-BE49-F238E27FC236}">
                <a16:creationId xmlns:a16="http://schemas.microsoft.com/office/drawing/2014/main" id="{965ECDD4-C7AB-0780-5C56-AF0432547CDE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8" name="타원 7">
              <a:extLst>
                <a:ext uri="{FF2B5EF4-FFF2-40B4-BE49-F238E27FC236}">
                  <a16:creationId xmlns:a16="http://schemas.microsoft.com/office/drawing/2014/main" id="{ED730A23-15D1-AC6C-BF3C-193DD65B5ED2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9" name="타원 8">
              <a:extLst>
                <a:ext uri="{FF2B5EF4-FFF2-40B4-BE49-F238E27FC236}">
                  <a16:creationId xmlns:a16="http://schemas.microsoft.com/office/drawing/2014/main" id="{9A8DF95E-63D4-C269-1A9E-58D5FB253590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0" name="타원 9">
              <a:extLst>
                <a:ext uri="{FF2B5EF4-FFF2-40B4-BE49-F238E27FC236}">
                  <a16:creationId xmlns:a16="http://schemas.microsoft.com/office/drawing/2014/main" id="{592BD15F-E509-254C-B07E-B9BE6F1576B5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11" name="Freeform 9">
            <a:extLst>
              <a:ext uri="{FF2B5EF4-FFF2-40B4-BE49-F238E27FC236}">
                <a16:creationId xmlns:a16="http://schemas.microsoft.com/office/drawing/2014/main" id="{47220B64-BDC8-944A-0E1A-C71EB0647CDA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3" name="제목 개체 틀 1">
            <a:extLst>
              <a:ext uri="{FF2B5EF4-FFF2-40B4-BE49-F238E27FC236}">
                <a16:creationId xmlns:a16="http://schemas.microsoft.com/office/drawing/2014/main" id="{8C980597-6F00-BBCB-9829-8C1C97B25C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9409982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FEEA165-3F0A-880B-9371-6CA4FC662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C7F3832-D575-B192-C9E5-3F5F5AF820B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2A0875B-5012-C4D4-34DD-64942B1EC8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5E6234D-EC06-5E2E-B205-92424C15624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07A0DF1-AEE6-4B0D-89D2-351E7B3EF65C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6D4A64-BD06-1C65-8FEE-8AB7FC5A97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EC033B-08C1-51C2-514D-21FE02EF1D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2093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4C80B3-2773-0186-7384-F0AD5CD4FE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F910DF1-53D0-7068-0730-1D1CCBC68F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2A78ACE-35BC-CE88-0216-E9051C73F5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A81F8D8-0F51-47D0-BB1F-D8D9CC1403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E14E3C8-8748-5265-4FD0-09D2757103B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0C317E0-79A6-DDA2-6311-F5CA96E315E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A93B8C9-630F-4D57-944D-04FD37CECCD3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C64B9B9B-DE29-812B-D879-30570E55D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781069FA-9B24-53DC-4E72-47AB792BD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21801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87BEAC6-B210-057A-EDB2-6820333F5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1C77D0B3-A47C-9147-4B3A-92CAB4BE49C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E986165A-AC43-4902-9541-874ECD310BA3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41131659-D086-7B2B-7BDA-2B7B4CA560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BA19E18-62FF-7A30-2F06-02E7580CA9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575045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DE71917-1F20-572F-E94C-A526C06852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D9E8E-1032-5491-08E1-2F612B3EA0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5900DF7-AD67-D88E-48D9-88D790EC2D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9CD9FBF-F3FA-7658-7936-0D1A2FF02DF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7E6EE6D-2B0E-43A9-87A2-7354CDB998F4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5A39D0C-3288-26C9-1E44-0431F48984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B7CA71F-AE7D-1B55-21A0-1A87DCD4C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91904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85D7F17-3594-D182-A5C0-437C03D88C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E04DF7D6-CE8D-00BB-75E2-3478943B7DE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5C66BC9-C6B7-805A-D64F-129BC27277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91EE813-70EE-6511-B077-F5126220657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CC5944E-0BC8-4FAA-9F94-6B4B05834E10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D1B9F22-5574-7ED4-D06B-C97AF0BD9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FEAF6C-BEDB-9F84-DFBC-95DABECC8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78076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95EE7C2-4CFD-C1E6-3632-13EC3CAC61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D19B1155-E241-263B-AF79-491CBDDA3B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B6A664C-62FC-AE91-4AEB-8FAEB493B8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EF4A19C-72C8-45CA-8E3F-68A7FA345D6C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E9205B3-A98D-6C78-D6F4-825DDC6BBF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523C234-845E-B13B-0C99-9B2EEA171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86265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68451ECF-85EC-C955-3B84-54453192B0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F7F4FAD-DE4B-C65A-B284-2FC60889FBF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B65CBDD-200F-9431-F587-79B0E4721B4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6A175B2-010B-4341-954C-5F8F5C70B124}" type="datetime1">
              <a:rPr lang="ko-KR" altLang="en-US" smtClean="0"/>
              <a:t>2026-10-26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0C0058-AB3B-AC27-3514-3ABE595D3F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93A7CF-BE0B-8336-2308-D2D592400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472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그림 30" descr="상징, 원, 로고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6D4470C-5E69-55C1-270F-9A78C936D5EB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50" y="173911"/>
            <a:ext cx="503999" cy="503999"/>
          </a:xfrm>
          <a:prstGeom prst="rect">
            <a:avLst/>
          </a:prstGeom>
        </p:spPr>
      </p:pic>
      <p:sp>
        <p:nvSpPr>
          <p:cNvPr id="15" name="자유형: 도형 14">
            <a:extLst>
              <a:ext uri="{FF2B5EF4-FFF2-40B4-BE49-F238E27FC236}">
                <a16:creationId xmlns:a16="http://schemas.microsoft.com/office/drawing/2014/main" id="{B6D54C95-5DE1-BB83-7600-92BCFDA2E6BA}"/>
              </a:ext>
            </a:extLst>
          </p:cNvPr>
          <p:cNvSpPr/>
          <p:nvPr userDrawn="1"/>
        </p:nvSpPr>
        <p:spPr>
          <a:xfrm>
            <a:off x="832348" y="226088"/>
            <a:ext cx="11070092" cy="399644"/>
          </a:xfrm>
          <a:custGeom>
            <a:avLst/>
            <a:gdLst>
              <a:gd name="connsiteX0" fmla="*/ 66609 w 11133508"/>
              <a:gd name="connsiteY0" fmla="*/ 0 h 399644"/>
              <a:gd name="connsiteX1" fmla="*/ 11066899 w 11133508"/>
              <a:gd name="connsiteY1" fmla="*/ 0 h 399644"/>
              <a:gd name="connsiteX2" fmla="*/ 11133508 w 11133508"/>
              <a:gd name="connsiteY2" fmla="*/ 66609 h 399644"/>
              <a:gd name="connsiteX3" fmla="*/ 11133508 w 11133508"/>
              <a:gd name="connsiteY3" fmla="*/ 333035 h 399644"/>
              <a:gd name="connsiteX4" fmla="*/ 11066899 w 11133508"/>
              <a:gd name="connsiteY4" fmla="*/ 399644 h 399644"/>
              <a:gd name="connsiteX5" fmla="*/ 613523 w 11133508"/>
              <a:gd name="connsiteY5" fmla="*/ 399644 h 399644"/>
              <a:gd name="connsiteX6" fmla="*/ 516629 w 11133508"/>
              <a:gd name="connsiteY6" fmla="*/ 232586 h 399644"/>
              <a:gd name="connsiteX7" fmla="*/ 419736 w 11133508"/>
              <a:gd name="connsiteY7" fmla="*/ 399644 h 399644"/>
              <a:gd name="connsiteX8" fmla="*/ 66609 w 11133508"/>
              <a:gd name="connsiteY8" fmla="*/ 399644 h 399644"/>
              <a:gd name="connsiteX9" fmla="*/ 0 w 11133508"/>
              <a:gd name="connsiteY9" fmla="*/ 333035 h 399644"/>
              <a:gd name="connsiteX10" fmla="*/ 0 w 11133508"/>
              <a:gd name="connsiteY10" fmla="*/ 66609 h 399644"/>
              <a:gd name="connsiteX11" fmla="*/ 66609 w 11133508"/>
              <a:gd name="connsiteY11" fmla="*/ 0 h 3996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1133508" h="399644">
                <a:moveTo>
                  <a:pt x="66609" y="0"/>
                </a:moveTo>
                <a:lnTo>
                  <a:pt x="11066899" y="0"/>
                </a:lnTo>
                <a:cubicBezTo>
                  <a:pt x="11103686" y="0"/>
                  <a:pt x="11133508" y="29822"/>
                  <a:pt x="11133508" y="66609"/>
                </a:cubicBezTo>
                <a:lnTo>
                  <a:pt x="11133508" y="333035"/>
                </a:lnTo>
                <a:cubicBezTo>
                  <a:pt x="11133508" y="369822"/>
                  <a:pt x="11103686" y="399644"/>
                  <a:pt x="11066899" y="399644"/>
                </a:cubicBezTo>
                <a:lnTo>
                  <a:pt x="613523" y="399644"/>
                </a:lnTo>
                <a:lnTo>
                  <a:pt x="516629" y="232586"/>
                </a:lnTo>
                <a:lnTo>
                  <a:pt x="419736" y="399644"/>
                </a:lnTo>
                <a:lnTo>
                  <a:pt x="66609" y="399644"/>
                </a:lnTo>
                <a:cubicBezTo>
                  <a:pt x="29822" y="399644"/>
                  <a:pt x="0" y="369822"/>
                  <a:pt x="0" y="333035"/>
                </a:cubicBezTo>
                <a:lnTo>
                  <a:pt x="0" y="66609"/>
                </a:lnTo>
                <a:cubicBezTo>
                  <a:pt x="0" y="29822"/>
                  <a:pt x="29822" y="0"/>
                  <a:pt x="66609" y="0"/>
                </a:cubicBezTo>
                <a:close/>
              </a:path>
            </a:pathLst>
          </a:custGeom>
          <a:solidFill>
            <a:schemeClr val="bg1"/>
          </a:solidFill>
          <a:ln w="92075" cap="rnd">
            <a:solidFill>
              <a:schemeClr val="bg1"/>
            </a:solidFill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174625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603500" algn="l"/>
              </a:tabLst>
              <a:defRPr/>
            </a:pPr>
            <a:endParaRPr kumimoji="0" lang="ko-KR" altLang="en-US" sz="1600" b="0" i="0" u="none" strike="noStrike" kern="1200" cap="none" spc="0" normalizeH="0" baseline="0" noProof="0">
              <a:ln>
                <a:noFill/>
              </a:ln>
              <a:solidFill>
                <a:prstClr val="white">
                  <a:lumMod val="85000"/>
                </a:prstClr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3D9701EA-CA45-03D3-8629-CACB976B13C7}"/>
              </a:ext>
            </a:extLst>
          </p:cNvPr>
          <p:cNvGrpSpPr/>
          <p:nvPr userDrawn="1"/>
        </p:nvGrpSpPr>
        <p:grpSpPr>
          <a:xfrm>
            <a:off x="965438" y="334122"/>
            <a:ext cx="36002" cy="185944"/>
            <a:chOff x="398695" y="310309"/>
            <a:chExt cx="36002" cy="185944"/>
          </a:xfrm>
        </p:grpSpPr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41659905-6BB4-F77A-C4B2-CD01EE50E9A3}"/>
                </a:ext>
              </a:extLst>
            </p:cNvPr>
            <p:cNvSpPr/>
            <p:nvPr/>
          </p:nvSpPr>
          <p:spPr>
            <a:xfrm>
              <a:off x="398697" y="310309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8" name="타원 17">
              <a:extLst>
                <a:ext uri="{FF2B5EF4-FFF2-40B4-BE49-F238E27FC236}">
                  <a16:creationId xmlns:a16="http://schemas.microsoft.com/office/drawing/2014/main" id="{56276BA2-601C-3FB1-B544-5F1FB3A4C59F}"/>
                </a:ext>
              </a:extLst>
            </p:cNvPr>
            <p:cNvSpPr/>
            <p:nvPr/>
          </p:nvSpPr>
          <p:spPr>
            <a:xfrm>
              <a:off x="398696" y="385281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  <p:sp>
          <p:nvSpPr>
            <p:cNvPr id="19" name="타원 18">
              <a:extLst>
                <a:ext uri="{FF2B5EF4-FFF2-40B4-BE49-F238E27FC236}">
                  <a16:creationId xmlns:a16="http://schemas.microsoft.com/office/drawing/2014/main" id="{6E75D259-5225-4C37-ABC2-39DA372499A1}"/>
                </a:ext>
              </a:extLst>
            </p:cNvPr>
            <p:cNvSpPr/>
            <p:nvPr/>
          </p:nvSpPr>
          <p:spPr>
            <a:xfrm>
              <a:off x="398695" y="460253"/>
              <a:ext cx="36000" cy="360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F0502020204030204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1" name="Freeform 9">
            <a:extLst>
              <a:ext uri="{FF2B5EF4-FFF2-40B4-BE49-F238E27FC236}">
                <a16:creationId xmlns:a16="http://schemas.microsoft.com/office/drawing/2014/main" id="{6514361D-8169-AF24-F568-2B5FC5AD42A2}"/>
              </a:ext>
            </a:extLst>
          </p:cNvPr>
          <p:cNvSpPr>
            <a:spLocks/>
          </p:cNvSpPr>
          <p:nvPr userDrawn="1"/>
        </p:nvSpPr>
        <p:spPr bwMode="auto">
          <a:xfrm>
            <a:off x="11662598" y="370122"/>
            <a:ext cx="106877" cy="141044"/>
          </a:xfrm>
          <a:custGeom>
            <a:avLst/>
            <a:gdLst>
              <a:gd name="T0" fmla="*/ 1093 w 9310"/>
              <a:gd name="T1" fmla="*/ 12245 h 12286"/>
              <a:gd name="T2" fmla="*/ 582 w 9310"/>
              <a:gd name="T3" fmla="*/ 12007 h 12286"/>
              <a:gd name="T4" fmla="*/ 279 w 9310"/>
              <a:gd name="T5" fmla="*/ 11710 h 12286"/>
              <a:gd name="T6" fmla="*/ 42 w 9310"/>
              <a:gd name="T7" fmla="*/ 11209 h 12286"/>
              <a:gd name="T8" fmla="*/ 0 w 9310"/>
              <a:gd name="T9" fmla="*/ 1919 h 12286"/>
              <a:gd name="T10" fmla="*/ 117 w 9310"/>
              <a:gd name="T11" fmla="*/ 1260 h 12286"/>
              <a:gd name="T12" fmla="*/ 498 w 9310"/>
              <a:gd name="T13" fmla="*/ 629 h 12286"/>
              <a:gd name="T14" fmla="*/ 1088 w 9310"/>
              <a:gd name="T15" fmla="*/ 189 h 12286"/>
              <a:gd name="T16" fmla="*/ 1821 w 9310"/>
              <a:gd name="T17" fmla="*/ 1 h 12286"/>
              <a:gd name="T18" fmla="*/ 7682 w 9310"/>
              <a:gd name="T19" fmla="*/ 22 h 12286"/>
              <a:gd name="T20" fmla="*/ 8385 w 9310"/>
              <a:gd name="T21" fmla="*/ 278 h 12286"/>
              <a:gd name="T22" fmla="*/ 8929 w 9310"/>
              <a:gd name="T23" fmla="*/ 772 h 12286"/>
              <a:gd name="T24" fmla="*/ 9250 w 9310"/>
              <a:gd name="T25" fmla="*/ 1440 h 12286"/>
              <a:gd name="T26" fmla="*/ 9310 w 9310"/>
              <a:gd name="T27" fmla="*/ 8471 h 12286"/>
              <a:gd name="T28" fmla="*/ 9201 w 9310"/>
              <a:gd name="T29" fmla="*/ 8777 h 12286"/>
              <a:gd name="T30" fmla="*/ 8880 w 9310"/>
              <a:gd name="T31" fmla="*/ 8949 h 12286"/>
              <a:gd name="T32" fmla="*/ 8601 w 9310"/>
              <a:gd name="T33" fmla="*/ 8894 h 12286"/>
              <a:gd name="T34" fmla="*/ 8370 w 9310"/>
              <a:gd name="T35" fmla="*/ 8615 h 12286"/>
              <a:gd name="T36" fmla="*/ 8349 w 9310"/>
              <a:gd name="T37" fmla="*/ 1870 h 12286"/>
              <a:gd name="T38" fmla="*/ 8255 w 9310"/>
              <a:gd name="T39" fmla="*/ 1503 h 12286"/>
              <a:gd name="T40" fmla="*/ 8035 w 9310"/>
              <a:gd name="T41" fmla="*/ 1209 h 12286"/>
              <a:gd name="T42" fmla="*/ 7720 w 9310"/>
              <a:gd name="T43" fmla="*/ 1018 h 12286"/>
              <a:gd name="T44" fmla="*/ 7390 w 9310"/>
              <a:gd name="T45" fmla="*/ 960 h 12286"/>
              <a:gd name="T46" fmla="*/ 1680 w 9310"/>
              <a:gd name="T47" fmla="*/ 989 h 12286"/>
              <a:gd name="T48" fmla="*/ 1346 w 9310"/>
              <a:gd name="T49" fmla="*/ 1150 h 12286"/>
              <a:gd name="T50" fmla="*/ 1098 w 9310"/>
              <a:gd name="T51" fmla="*/ 1423 h 12286"/>
              <a:gd name="T52" fmla="*/ 970 w 9310"/>
              <a:gd name="T53" fmla="*/ 1774 h 12286"/>
              <a:gd name="T54" fmla="*/ 962 w 9310"/>
              <a:gd name="T55" fmla="*/ 10904 h 12286"/>
              <a:gd name="T56" fmla="*/ 1091 w 9310"/>
              <a:gd name="T57" fmla="*/ 11185 h 12286"/>
              <a:gd name="T58" fmla="*/ 1405 w 9310"/>
              <a:gd name="T59" fmla="*/ 11326 h 12286"/>
              <a:gd name="T60" fmla="*/ 1677 w 9310"/>
              <a:gd name="T61" fmla="*/ 11273 h 12286"/>
              <a:gd name="T62" fmla="*/ 4346 w 9310"/>
              <a:gd name="T63" fmla="*/ 8559 h 12286"/>
              <a:gd name="T64" fmla="*/ 4655 w 9310"/>
              <a:gd name="T65" fmla="*/ 8448 h 12286"/>
              <a:gd name="T66" fmla="*/ 4964 w 9310"/>
              <a:gd name="T67" fmla="*/ 8559 h 12286"/>
              <a:gd name="T68" fmla="*/ 7633 w 9310"/>
              <a:gd name="T69" fmla="*/ 11273 h 12286"/>
              <a:gd name="T70" fmla="*/ 7902 w 9310"/>
              <a:gd name="T71" fmla="*/ 11326 h 12286"/>
              <a:gd name="T72" fmla="*/ 8215 w 9310"/>
              <a:gd name="T73" fmla="*/ 11182 h 12286"/>
              <a:gd name="T74" fmla="*/ 8349 w 9310"/>
              <a:gd name="T75" fmla="*/ 10897 h 12286"/>
              <a:gd name="T76" fmla="*/ 8408 w 9310"/>
              <a:gd name="T77" fmla="*/ 10618 h 12286"/>
              <a:gd name="T78" fmla="*/ 8687 w 9310"/>
              <a:gd name="T79" fmla="*/ 10387 h 12286"/>
              <a:gd name="T80" fmla="*/ 8974 w 9310"/>
              <a:gd name="T81" fmla="*/ 10387 h 12286"/>
              <a:gd name="T82" fmla="*/ 9253 w 9310"/>
              <a:gd name="T83" fmla="*/ 10618 h 12286"/>
              <a:gd name="T84" fmla="*/ 9309 w 9310"/>
              <a:gd name="T85" fmla="*/ 10920 h 12286"/>
              <a:gd name="T86" fmla="*/ 9174 w 9310"/>
              <a:gd name="T87" fmla="*/ 11466 h 12286"/>
              <a:gd name="T88" fmla="*/ 8890 w 9310"/>
              <a:gd name="T89" fmla="*/ 11865 h 12286"/>
              <a:gd name="T90" fmla="*/ 8474 w 9310"/>
              <a:gd name="T91" fmla="*/ 12151 h 12286"/>
              <a:gd name="T92" fmla="*/ 7913 w 9310"/>
              <a:gd name="T93" fmla="*/ 12286 h 12286"/>
              <a:gd name="T94" fmla="*/ 7489 w 9310"/>
              <a:gd name="T95" fmla="*/ 12242 h 12286"/>
              <a:gd name="T96" fmla="*/ 6997 w 9310"/>
              <a:gd name="T97" fmla="*/ 12001 h 12286"/>
              <a:gd name="T98" fmla="*/ 2472 w 9310"/>
              <a:gd name="T99" fmla="*/ 11859 h 12286"/>
              <a:gd name="T100" fmla="*/ 2080 w 9310"/>
              <a:gd name="T101" fmla="*/ 12145 h 12286"/>
              <a:gd name="T102" fmla="*/ 1545 w 9310"/>
              <a:gd name="T103" fmla="*/ 12285 h 122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9310" h="12286">
                <a:moveTo>
                  <a:pt x="1447" y="12286"/>
                </a:moveTo>
                <a:lnTo>
                  <a:pt x="1375" y="12286"/>
                </a:lnTo>
                <a:lnTo>
                  <a:pt x="1232" y="12272"/>
                </a:lnTo>
                <a:lnTo>
                  <a:pt x="1093" y="12245"/>
                </a:lnTo>
                <a:lnTo>
                  <a:pt x="957" y="12203"/>
                </a:lnTo>
                <a:lnTo>
                  <a:pt x="826" y="12150"/>
                </a:lnTo>
                <a:lnTo>
                  <a:pt x="700" y="12085"/>
                </a:lnTo>
                <a:lnTo>
                  <a:pt x="582" y="12007"/>
                </a:lnTo>
                <a:lnTo>
                  <a:pt x="471" y="11918"/>
                </a:lnTo>
                <a:lnTo>
                  <a:pt x="419" y="11869"/>
                </a:lnTo>
                <a:lnTo>
                  <a:pt x="370" y="11818"/>
                </a:lnTo>
                <a:lnTo>
                  <a:pt x="279" y="11710"/>
                </a:lnTo>
                <a:lnTo>
                  <a:pt x="202" y="11595"/>
                </a:lnTo>
                <a:lnTo>
                  <a:pt x="135" y="11471"/>
                </a:lnTo>
                <a:lnTo>
                  <a:pt x="82" y="11343"/>
                </a:lnTo>
                <a:lnTo>
                  <a:pt x="42" y="11209"/>
                </a:lnTo>
                <a:lnTo>
                  <a:pt x="14" y="11070"/>
                </a:lnTo>
                <a:lnTo>
                  <a:pt x="1" y="10927"/>
                </a:lnTo>
                <a:lnTo>
                  <a:pt x="0" y="10855"/>
                </a:lnTo>
                <a:lnTo>
                  <a:pt x="0" y="1919"/>
                </a:lnTo>
                <a:lnTo>
                  <a:pt x="1" y="1821"/>
                </a:lnTo>
                <a:lnTo>
                  <a:pt x="22" y="1627"/>
                </a:lnTo>
                <a:lnTo>
                  <a:pt x="60" y="1440"/>
                </a:lnTo>
                <a:lnTo>
                  <a:pt x="117" y="1260"/>
                </a:lnTo>
                <a:lnTo>
                  <a:pt x="189" y="1089"/>
                </a:lnTo>
                <a:lnTo>
                  <a:pt x="278" y="924"/>
                </a:lnTo>
                <a:lnTo>
                  <a:pt x="382" y="772"/>
                </a:lnTo>
                <a:lnTo>
                  <a:pt x="498" y="629"/>
                </a:lnTo>
                <a:lnTo>
                  <a:pt x="629" y="498"/>
                </a:lnTo>
                <a:lnTo>
                  <a:pt x="772" y="382"/>
                </a:lnTo>
                <a:lnTo>
                  <a:pt x="924" y="278"/>
                </a:lnTo>
                <a:lnTo>
                  <a:pt x="1088" y="189"/>
                </a:lnTo>
                <a:lnTo>
                  <a:pt x="1260" y="117"/>
                </a:lnTo>
                <a:lnTo>
                  <a:pt x="1440" y="60"/>
                </a:lnTo>
                <a:lnTo>
                  <a:pt x="1627" y="22"/>
                </a:lnTo>
                <a:lnTo>
                  <a:pt x="1821" y="1"/>
                </a:lnTo>
                <a:lnTo>
                  <a:pt x="1919" y="0"/>
                </a:lnTo>
                <a:lnTo>
                  <a:pt x="7390" y="0"/>
                </a:lnTo>
                <a:lnTo>
                  <a:pt x="7489" y="1"/>
                </a:lnTo>
                <a:lnTo>
                  <a:pt x="7682" y="22"/>
                </a:lnTo>
                <a:lnTo>
                  <a:pt x="7869" y="60"/>
                </a:lnTo>
                <a:lnTo>
                  <a:pt x="8049" y="117"/>
                </a:lnTo>
                <a:lnTo>
                  <a:pt x="8222" y="189"/>
                </a:lnTo>
                <a:lnTo>
                  <a:pt x="8385" y="278"/>
                </a:lnTo>
                <a:lnTo>
                  <a:pt x="8539" y="382"/>
                </a:lnTo>
                <a:lnTo>
                  <a:pt x="8681" y="498"/>
                </a:lnTo>
                <a:lnTo>
                  <a:pt x="8811" y="629"/>
                </a:lnTo>
                <a:lnTo>
                  <a:pt x="8929" y="772"/>
                </a:lnTo>
                <a:lnTo>
                  <a:pt x="9033" y="924"/>
                </a:lnTo>
                <a:lnTo>
                  <a:pt x="9120" y="1089"/>
                </a:lnTo>
                <a:lnTo>
                  <a:pt x="9194" y="1260"/>
                </a:lnTo>
                <a:lnTo>
                  <a:pt x="9250" y="1440"/>
                </a:lnTo>
                <a:lnTo>
                  <a:pt x="9289" y="1627"/>
                </a:lnTo>
                <a:lnTo>
                  <a:pt x="9308" y="1821"/>
                </a:lnTo>
                <a:lnTo>
                  <a:pt x="9310" y="1919"/>
                </a:lnTo>
                <a:lnTo>
                  <a:pt x="9310" y="8471"/>
                </a:lnTo>
                <a:lnTo>
                  <a:pt x="9308" y="8521"/>
                </a:lnTo>
                <a:lnTo>
                  <a:pt x="9289" y="8615"/>
                </a:lnTo>
                <a:lnTo>
                  <a:pt x="9253" y="8700"/>
                </a:lnTo>
                <a:lnTo>
                  <a:pt x="9201" y="8777"/>
                </a:lnTo>
                <a:lnTo>
                  <a:pt x="9136" y="8842"/>
                </a:lnTo>
                <a:lnTo>
                  <a:pt x="9058" y="8894"/>
                </a:lnTo>
                <a:lnTo>
                  <a:pt x="8974" y="8930"/>
                </a:lnTo>
                <a:lnTo>
                  <a:pt x="8880" y="8949"/>
                </a:lnTo>
                <a:lnTo>
                  <a:pt x="8830" y="8952"/>
                </a:lnTo>
                <a:lnTo>
                  <a:pt x="8781" y="8949"/>
                </a:lnTo>
                <a:lnTo>
                  <a:pt x="8687" y="8930"/>
                </a:lnTo>
                <a:lnTo>
                  <a:pt x="8601" y="8894"/>
                </a:lnTo>
                <a:lnTo>
                  <a:pt x="8524" y="8842"/>
                </a:lnTo>
                <a:lnTo>
                  <a:pt x="8460" y="8777"/>
                </a:lnTo>
                <a:lnTo>
                  <a:pt x="8408" y="8700"/>
                </a:lnTo>
                <a:lnTo>
                  <a:pt x="8370" y="8615"/>
                </a:lnTo>
                <a:lnTo>
                  <a:pt x="8352" y="8521"/>
                </a:lnTo>
                <a:lnTo>
                  <a:pt x="8350" y="8471"/>
                </a:lnTo>
                <a:lnTo>
                  <a:pt x="8350" y="1919"/>
                </a:lnTo>
                <a:lnTo>
                  <a:pt x="8349" y="1870"/>
                </a:lnTo>
                <a:lnTo>
                  <a:pt x="8340" y="1774"/>
                </a:lnTo>
                <a:lnTo>
                  <a:pt x="8320" y="1680"/>
                </a:lnTo>
                <a:lnTo>
                  <a:pt x="8293" y="1590"/>
                </a:lnTo>
                <a:lnTo>
                  <a:pt x="8255" y="1503"/>
                </a:lnTo>
                <a:lnTo>
                  <a:pt x="8211" y="1423"/>
                </a:lnTo>
                <a:lnTo>
                  <a:pt x="8160" y="1346"/>
                </a:lnTo>
                <a:lnTo>
                  <a:pt x="8101" y="1274"/>
                </a:lnTo>
                <a:lnTo>
                  <a:pt x="8035" y="1209"/>
                </a:lnTo>
                <a:lnTo>
                  <a:pt x="7964" y="1150"/>
                </a:lnTo>
                <a:lnTo>
                  <a:pt x="7888" y="1099"/>
                </a:lnTo>
                <a:lnTo>
                  <a:pt x="7806" y="1054"/>
                </a:lnTo>
                <a:lnTo>
                  <a:pt x="7720" y="1018"/>
                </a:lnTo>
                <a:lnTo>
                  <a:pt x="7630" y="989"/>
                </a:lnTo>
                <a:lnTo>
                  <a:pt x="7537" y="970"/>
                </a:lnTo>
                <a:lnTo>
                  <a:pt x="7440" y="960"/>
                </a:lnTo>
                <a:lnTo>
                  <a:pt x="7390" y="960"/>
                </a:lnTo>
                <a:lnTo>
                  <a:pt x="1919" y="960"/>
                </a:lnTo>
                <a:lnTo>
                  <a:pt x="1870" y="960"/>
                </a:lnTo>
                <a:lnTo>
                  <a:pt x="1774" y="970"/>
                </a:lnTo>
                <a:lnTo>
                  <a:pt x="1680" y="989"/>
                </a:lnTo>
                <a:lnTo>
                  <a:pt x="1589" y="1018"/>
                </a:lnTo>
                <a:lnTo>
                  <a:pt x="1503" y="1054"/>
                </a:lnTo>
                <a:lnTo>
                  <a:pt x="1422" y="1099"/>
                </a:lnTo>
                <a:lnTo>
                  <a:pt x="1346" y="1150"/>
                </a:lnTo>
                <a:lnTo>
                  <a:pt x="1274" y="1209"/>
                </a:lnTo>
                <a:lnTo>
                  <a:pt x="1209" y="1274"/>
                </a:lnTo>
                <a:lnTo>
                  <a:pt x="1150" y="1346"/>
                </a:lnTo>
                <a:lnTo>
                  <a:pt x="1098" y="1423"/>
                </a:lnTo>
                <a:lnTo>
                  <a:pt x="1054" y="1503"/>
                </a:lnTo>
                <a:lnTo>
                  <a:pt x="1018" y="1590"/>
                </a:lnTo>
                <a:lnTo>
                  <a:pt x="989" y="1680"/>
                </a:lnTo>
                <a:lnTo>
                  <a:pt x="970" y="1774"/>
                </a:lnTo>
                <a:lnTo>
                  <a:pt x="960" y="1870"/>
                </a:lnTo>
                <a:lnTo>
                  <a:pt x="960" y="1919"/>
                </a:lnTo>
                <a:lnTo>
                  <a:pt x="960" y="10855"/>
                </a:lnTo>
                <a:lnTo>
                  <a:pt x="962" y="10904"/>
                </a:lnTo>
                <a:lnTo>
                  <a:pt x="978" y="10995"/>
                </a:lnTo>
                <a:lnTo>
                  <a:pt x="1011" y="11078"/>
                </a:lnTo>
                <a:lnTo>
                  <a:pt x="1061" y="11152"/>
                </a:lnTo>
                <a:lnTo>
                  <a:pt x="1091" y="11185"/>
                </a:lnTo>
                <a:lnTo>
                  <a:pt x="1129" y="11218"/>
                </a:lnTo>
                <a:lnTo>
                  <a:pt x="1212" y="11271"/>
                </a:lnTo>
                <a:lnTo>
                  <a:pt x="1306" y="11307"/>
                </a:lnTo>
                <a:lnTo>
                  <a:pt x="1405" y="11326"/>
                </a:lnTo>
                <a:lnTo>
                  <a:pt x="1456" y="11327"/>
                </a:lnTo>
                <a:lnTo>
                  <a:pt x="1504" y="11325"/>
                </a:lnTo>
                <a:lnTo>
                  <a:pt x="1595" y="11307"/>
                </a:lnTo>
                <a:lnTo>
                  <a:pt x="1677" y="11273"/>
                </a:lnTo>
                <a:lnTo>
                  <a:pt x="1751" y="11222"/>
                </a:lnTo>
                <a:lnTo>
                  <a:pt x="1784" y="11191"/>
                </a:lnTo>
                <a:lnTo>
                  <a:pt x="4310" y="8592"/>
                </a:lnTo>
                <a:lnTo>
                  <a:pt x="4346" y="8559"/>
                </a:lnTo>
                <a:lnTo>
                  <a:pt x="4426" y="8505"/>
                </a:lnTo>
                <a:lnTo>
                  <a:pt x="4513" y="8468"/>
                </a:lnTo>
                <a:lnTo>
                  <a:pt x="4607" y="8449"/>
                </a:lnTo>
                <a:lnTo>
                  <a:pt x="4655" y="8448"/>
                </a:lnTo>
                <a:lnTo>
                  <a:pt x="4703" y="8449"/>
                </a:lnTo>
                <a:lnTo>
                  <a:pt x="4797" y="8468"/>
                </a:lnTo>
                <a:lnTo>
                  <a:pt x="4885" y="8505"/>
                </a:lnTo>
                <a:lnTo>
                  <a:pt x="4964" y="8559"/>
                </a:lnTo>
                <a:lnTo>
                  <a:pt x="4999" y="8592"/>
                </a:lnTo>
                <a:lnTo>
                  <a:pt x="7527" y="11191"/>
                </a:lnTo>
                <a:lnTo>
                  <a:pt x="7560" y="11222"/>
                </a:lnTo>
                <a:lnTo>
                  <a:pt x="7633" y="11273"/>
                </a:lnTo>
                <a:lnTo>
                  <a:pt x="7714" y="11307"/>
                </a:lnTo>
                <a:lnTo>
                  <a:pt x="7803" y="11325"/>
                </a:lnTo>
                <a:lnTo>
                  <a:pt x="7852" y="11327"/>
                </a:lnTo>
                <a:lnTo>
                  <a:pt x="7902" y="11326"/>
                </a:lnTo>
                <a:lnTo>
                  <a:pt x="8002" y="11306"/>
                </a:lnTo>
                <a:lnTo>
                  <a:pt x="8095" y="11270"/>
                </a:lnTo>
                <a:lnTo>
                  <a:pt x="8179" y="11215"/>
                </a:lnTo>
                <a:lnTo>
                  <a:pt x="8215" y="11182"/>
                </a:lnTo>
                <a:lnTo>
                  <a:pt x="8248" y="11148"/>
                </a:lnTo>
                <a:lnTo>
                  <a:pt x="8298" y="11073"/>
                </a:lnTo>
                <a:lnTo>
                  <a:pt x="8331" y="10989"/>
                </a:lnTo>
                <a:lnTo>
                  <a:pt x="8349" y="10897"/>
                </a:lnTo>
                <a:lnTo>
                  <a:pt x="8350" y="10847"/>
                </a:lnTo>
                <a:lnTo>
                  <a:pt x="8352" y="10798"/>
                </a:lnTo>
                <a:lnTo>
                  <a:pt x="8370" y="10704"/>
                </a:lnTo>
                <a:lnTo>
                  <a:pt x="8408" y="10618"/>
                </a:lnTo>
                <a:lnTo>
                  <a:pt x="8460" y="10541"/>
                </a:lnTo>
                <a:lnTo>
                  <a:pt x="8524" y="10477"/>
                </a:lnTo>
                <a:lnTo>
                  <a:pt x="8601" y="10425"/>
                </a:lnTo>
                <a:lnTo>
                  <a:pt x="8687" y="10387"/>
                </a:lnTo>
                <a:lnTo>
                  <a:pt x="8781" y="10369"/>
                </a:lnTo>
                <a:lnTo>
                  <a:pt x="8830" y="10367"/>
                </a:lnTo>
                <a:lnTo>
                  <a:pt x="8880" y="10369"/>
                </a:lnTo>
                <a:lnTo>
                  <a:pt x="8974" y="10387"/>
                </a:lnTo>
                <a:lnTo>
                  <a:pt x="9058" y="10425"/>
                </a:lnTo>
                <a:lnTo>
                  <a:pt x="9136" y="10477"/>
                </a:lnTo>
                <a:lnTo>
                  <a:pt x="9201" y="10541"/>
                </a:lnTo>
                <a:lnTo>
                  <a:pt x="9253" y="10618"/>
                </a:lnTo>
                <a:lnTo>
                  <a:pt x="9289" y="10704"/>
                </a:lnTo>
                <a:lnTo>
                  <a:pt x="9308" y="10798"/>
                </a:lnTo>
                <a:lnTo>
                  <a:pt x="9310" y="10847"/>
                </a:lnTo>
                <a:lnTo>
                  <a:pt x="9309" y="10920"/>
                </a:lnTo>
                <a:lnTo>
                  <a:pt x="9295" y="11063"/>
                </a:lnTo>
                <a:lnTo>
                  <a:pt x="9267" y="11202"/>
                </a:lnTo>
                <a:lnTo>
                  <a:pt x="9227" y="11336"/>
                </a:lnTo>
                <a:lnTo>
                  <a:pt x="9174" y="11466"/>
                </a:lnTo>
                <a:lnTo>
                  <a:pt x="9107" y="11588"/>
                </a:lnTo>
                <a:lnTo>
                  <a:pt x="9030" y="11705"/>
                </a:lnTo>
                <a:lnTo>
                  <a:pt x="8939" y="11814"/>
                </a:lnTo>
                <a:lnTo>
                  <a:pt x="8890" y="11865"/>
                </a:lnTo>
                <a:lnTo>
                  <a:pt x="8837" y="11915"/>
                </a:lnTo>
                <a:lnTo>
                  <a:pt x="8724" y="12006"/>
                </a:lnTo>
                <a:lnTo>
                  <a:pt x="8602" y="12085"/>
                </a:lnTo>
                <a:lnTo>
                  <a:pt x="8474" y="12151"/>
                </a:lnTo>
                <a:lnTo>
                  <a:pt x="8340" y="12206"/>
                </a:lnTo>
                <a:lnTo>
                  <a:pt x="8200" y="12246"/>
                </a:lnTo>
                <a:lnTo>
                  <a:pt x="8058" y="12273"/>
                </a:lnTo>
                <a:lnTo>
                  <a:pt x="7913" y="12286"/>
                </a:lnTo>
                <a:lnTo>
                  <a:pt x="7841" y="12286"/>
                </a:lnTo>
                <a:lnTo>
                  <a:pt x="7767" y="12285"/>
                </a:lnTo>
                <a:lnTo>
                  <a:pt x="7626" y="12269"/>
                </a:lnTo>
                <a:lnTo>
                  <a:pt x="7489" y="12242"/>
                </a:lnTo>
                <a:lnTo>
                  <a:pt x="7358" y="12200"/>
                </a:lnTo>
                <a:lnTo>
                  <a:pt x="7232" y="12147"/>
                </a:lnTo>
                <a:lnTo>
                  <a:pt x="7111" y="12079"/>
                </a:lnTo>
                <a:lnTo>
                  <a:pt x="6997" y="12001"/>
                </a:lnTo>
                <a:lnTo>
                  <a:pt x="6889" y="11911"/>
                </a:lnTo>
                <a:lnTo>
                  <a:pt x="6839" y="11859"/>
                </a:lnTo>
                <a:lnTo>
                  <a:pt x="4655" y="9615"/>
                </a:lnTo>
                <a:lnTo>
                  <a:pt x="2472" y="11859"/>
                </a:lnTo>
                <a:lnTo>
                  <a:pt x="2422" y="11909"/>
                </a:lnTo>
                <a:lnTo>
                  <a:pt x="2315" y="12000"/>
                </a:lnTo>
                <a:lnTo>
                  <a:pt x="2201" y="12079"/>
                </a:lnTo>
                <a:lnTo>
                  <a:pt x="2080" y="12145"/>
                </a:lnTo>
                <a:lnTo>
                  <a:pt x="1955" y="12199"/>
                </a:lnTo>
                <a:lnTo>
                  <a:pt x="1823" y="12240"/>
                </a:lnTo>
                <a:lnTo>
                  <a:pt x="1686" y="12269"/>
                </a:lnTo>
                <a:lnTo>
                  <a:pt x="1545" y="12285"/>
                </a:lnTo>
                <a:lnTo>
                  <a:pt x="1473" y="12286"/>
                </a:lnTo>
                <a:lnTo>
                  <a:pt x="1460" y="12286"/>
                </a:lnTo>
                <a:lnTo>
                  <a:pt x="1447" y="12286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8" name="이등변 삼각형 27">
            <a:extLst>
              <a:ext uri="{FF2B5EF4-FFF2-40B4-BE49-F238E27FC236}">
                <a16:creationId xmlns:a16="http://schemas.microsoft.com/office/drawing/2014/main" id="{AD4066BA-D2BC-37E9-976A-8204B8EF9F62}"/>
              </a:ext>
            </a:extLst>
          </p:cNvPr>
          <p:cNvSpPr/>
          <p:nvPr userDrawn="1"/>
        </p:nvSpPr>
        <p:spPr>
          <a:xfrm>
            <a:off x="1235851" y="667970"/>
            <a:ext cx="211949" cy="182715"/>
          </a:xfrm>
          <a:prstGeom prst="triangle">
            <a:avLst/>
          </a:prstGeom>
          <a:solidFill>
            <a:schemeClr val="bg1"/>
          </a:solidFill>
          <a:ln w="47625" cap="rnd">
            <a:solidFill>
              <a:schemeClr val="bg1"/>
            </a:soli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14" name="사각형: 둥근 모서리 13">
            <a:extLst>
              <a:ext uri="{FF2B5EF4-FFF2-40B4-BE49-F238E27FC236}">
                <a16:creationId xmlns:a16="http://schemas.microsoft.com/office/drawing/2014/main" id="{81DE6459-0E1B-62B4-B07B-EB5555E53206}"/>
              </a:ext>
            </a:extLst>
          </p:cNvPr>
          <p:cNvSpPr/>
          <p:nvPr userDrawn="1"/>
        </p:nvSpPr>
        <p:spPr>
          <a:xfrm>
            <a:off x="209550" y="778044"/>
            <a:ext cx="11756306" cy="5832862"/>
          </a:xfrm>
          <a:prstGeom prst="roundRect">
            <a:avLst>
              <a:gd name="adj" fmla="val 1861"/>
            </a:avLst>
          </a:prstGeom>
          <a:solidFill>
            <a:schemeClr val="bg1"/>
          </a:solidFill>
          <a:ln w="92075" cap="rnd">
            <a:noFill/>
            <a:round/>
          </a:ln>
          <a:effectLst>
            <a:outerShdw blurRad="254000" dist="38100" dir="2700000" algn="tl" rotWithShape="0">
              <a:prstClr val="black">
                <a:alpha val="5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F0502020204030204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9468F272-B293-6379-50B0-01D6BCACC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7626" y="321093"/>
            <a:ext cx="10430212" cy="23353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1675170-525C-B88C-2549-1515AC8C00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10559" y="1193822"/>
            <a:ext cx="10754289" cy="50013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86C6AE6-3A65-C287-7112-FF1BCC98D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39250" y="6611900"/>
            <a:ext cx="2743200" cy="23989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tx2"/>
                </a:solidFill>
                <a:latin typeface="+mn-lt"/>
              </a:defRPr>
            </a:lvl1pPr>
          </a:lstStyle>
          <a:p>
            <a:fld id="{109C872D-39A9-4065-8BF3-6A613116E2A1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48764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5" r:id="rId4"/>
    <p:sldLayoutId id="2147483652" r:id="rId5"/>
    <p:sldLayoutId id="2147483653" r:id="rId6"/>
    <p:sldLayoutId id="2147483654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2200" i="1" kern="1200">
          <a:solidFill>
            <a:schemeClr val="tx1"/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6d2rouq5br0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qmycB7l2Ia0" TargetMode="Externa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youtu.be/EfXCVfnWyWk?si=16SJhThLYQvx8WDP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lGiSF6RF33I" TargetMode="External"/><Relationship Id="rId2" Type="http://schemas.openxmlformats.org/officeDocument/2006/relationships/hyperlink" Target="https://www.youtube.com/watch?v=vdhCVePGLmM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DhRSYIM47u8" TargetMode="Externa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u_BEPSfkiqk" TargetMode="External"/><Relationship Id="rId2" Type="http://schemas.openxmlformats.org/officeDocument/2006/relationships/hyperlink" Target="https://www.youtube.com/watch?v=BC88fUrIPXU&amp;t=4s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ih-j2TJjXgM" TargetMode="Externa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vhwwMYvF1CE" TargetMode="Externa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959EC3-FDAD-5008-2635-A7E4EDD28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CEE82B6-2F0F-6FB8-F71F-495B423ABF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9950" y="192979"/>
            <a:ext cx="10452100" cy="2912171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ko-KR" altLang="en-US" sz="5400" b="1" i="0" dirty="0"/>
              <a:t>자원</a:t>
            </a:r>
            <a:r>
              <a:rPr lang="en-US" altLang="ko-KR" sz="5400" b="1" i="0" dirty="0"/>
              <a:t>·</a:t>
            </a:r>
            <a:r>
              <a:rPr lang="ko-KR" altLang="en-US" sz="5400" b="1" i="0" dirty="0"/>
              <a:t>에너지 경제학</a:t>
            </a:r>
            <a:endParaRPr lang="ko-KR" altLang="en-US" sz="4800" i="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D3B6547-3B8C-6CD4-91B3-9723EB5A4D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556665"/>
            <a:ext cx="9144000" cy="935960"/>
          </a:xfrm>
        </p:spPr>
        <p:txBody>
          <a:bodyPr>
            <a:normAutofit/>
          </a:bodyPr>
          <a:lstStyle/>
          <a:p>
            <a:endParaRPr lang="en-US" altLang="ko-KR" dirty="0"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r>
              <a:rPr lang="en-US" altLang="ko-KR" sz="2800" dirty="0">
                <a:latin typeface="HY헤드라인M" panose="02030600000101010101" pitchFamily="18" charset="-127"/>
                <a:ea typeface="HY헤드라인M" panose="02030600000101010101" pitchFamily="18" charset="-127"/>
              </a:rPr>
              <a:t>Chapter - 5</a:t>
            </a:r>
            <a:endParaRPr lang="ko-KR" altLang="en-US" sz="1700" dirty="0">
              <a:latin typeface="+mn-e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D5F631-FC1F-A584-173C-4EA4C43A874E}"/>
              </a:ext>
            </a:extLst>
          </p:cNvPr>
          <p:cNvSpPr txBox="1"/>
          <p:nvPr/>
        </p:nvSpPr>
        <p:spPr>
          <a:xfrm>
            <a:off x="5499100" y="5036208"/>
            <a:ext cx="1193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ko-KR" altLang="en-US" sz="1800" dirty="0">
                <a:latin typeface="KoPub돋움체 Light" panose="02020603020101020101" pitchFamily="18" charset="-127"/>
                <a:ea typeface="KoPub돋움체 Light" panose="02020603020101020101" pitchFamily="18" charset="-127"/>
              </a:rPr>
              <a:t>전 승 호</a:t>
            </a:r>
            <a:endParaRPr lang="ko-KR" altLang="en-US" dirty="0">
              <a:latin typeface="KoPub돋움체 Light" panose="02020603020101020101" pitchFamily="18" charset="-127"/>
              <a:ea typeface="KoPub돋움체 Light" panose="02020603020101020101" pitchFamily="18" charset="-127"/>
            </a:endParaRPr>
          </a:p>
        </p:txBody>
      </p:sp>
      <p:pic>
        <p:nvPicPr>
          <p:cNvPr id="7" name="그림 6" descr="텍스트, 폰트, 그래픽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266D5C0-E865-7613-63AD-5D846835D6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01325" y="6408811"/>
            <a:ext cx="1461138" cy="315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340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1D0659-CAFD-F53E-5E96-AE42A73FE9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5C3F3A0-36ED-43FB-2D13-6CAA30B083C2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8D19C74-D6C9-BA18-D11B-15A0CD9AF9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B58D8A77-45B6-C35A-AFD8-829E4435C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2478940"/>
            <a:ext cx="11007224" cy="193942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/>
              <a:t>Chapter 5</a:t>
            </a:r>
            <a:br>
              <a:rPr lang="en-US" altLang="ko-KR" sz="4000" b="1" i="0" spc="150" dirty="0"/>
            </a:br>
            <a:br>
              <a:rPr lang="en-US" altLang="ko-KR" sz="4000" b="1" i="0" spc="150" dirty="0"/>
            </a:br>
            <a:r>
              <a:rPr lang="ko-KR" altLang="en-US" sz="4000" b="1" i="0" spc="150" dirty="0"/>
              <a:t>석탄 시장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551236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05B55B-4FE0-4C0D-6AE9-E8B03A536F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468326-0C4F-70CF-91C2-93E0C5D03BA8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9E45BD-0D56-9ECF-89E6-4AF42F45BF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728B965C-181E-543B-9F2C-6FEAEBB87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1. </a:t>
            </a:r>
            <a:r>
              <a:rPr lang="ko-KR" altLang="en-US" sz="4000" b="1" i="0" spc="150" dirty="0"/>
              <a:t>개 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9570730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8E53AA-7D50-5F4A-320F-293F315471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E66E9B2-B0DB-FDCD-AA50-636EA4E5B2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27E35B-63AE-3D62-3078-BE10F308BEDD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산업은 수세기 동안 산업화의 견인차로서 글로벌 에너지 체계 형성에 중대한 역할을 수행해 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고대 중국과 로마 시대에도 석탄은 난방 및 금속 가공에 제한적으로 사용되었지만</a:t>
            </a:r>
            <a:r>
              <a:rPr lang="en-US" altLang="ko-KR" sz="1600" dirty="0"/>
              <a:t>, </a:t>
            </a:r>
            <a:r>
              <a:rPr lang="ko-KR" altLang="en-US" sz="1600" dirty="0"/>
              <a:t>그 전략적 중요성이 본격적으로 부각된 시기는 </a:t>
            </a:r>
            <a:r>
              <a:rPr lang="en-US" altLang="ko-KR" sz="1600" dirty="0"/>
              <a:t>18</a:t>
            </a:r>
            <a:r>
              <a:rPr lang="ko-KR" altLang="en-US" sz="1600" dirty="0"/>
              <a:t>세기 후반부터 시작된 산업혁명 시기다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 시기 석탄은 증기기관의 주요 연료로 사용되며 </a:t>
            </a:r>
            <a:r>
              <a:rPr lang="ko-KR" altLang="en-US" sz="1600" dirty="0" err="1"/>
              <a:t>면직업</a:t>
            </a:r>
            <a:r>
              <a:rPr lang="en-US" altLang="ko-KR" sz="1600" dirty="0"/>
              <a:t>, </a:t>
            </a:r>
            <a:r>
              <a:rPr lang="ko-KR" altLang="en-US" sz="1600" dirty="0"/>
              <a:t>철도 운송 등 기계화된 산업 부문의 비약적 성장을 가능하게 하였고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영국</a:t>
            </a:r>
            <a:r>
              <a:rPr lang="en-US" altLang="ko-KR" sz="1600" dirty="0"/>
              <a:t>, </a:t>
            </a:r>
            <a:r>
              <a:rPr lang="ko-KR" altLang="en-US" sz="1600" dirty="0"/>
              <a:t>독일</a:t>
            </a:r>
            <a:r>
              <a:rPr lang="en-US" altLang="ko-KR" sz="1600" dirty="0"/>
              <a:t>, </a:t>
            </a:r>
            <a:r>
              <a:rPr lang="ko-KR" altLang="en-US" sz="1600" dirty="0"/>
              <a:t>미국 등 주요 산업국의 경제적 도약을 견인하였다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</a:t>
            </a:r>
            <a:r>
              <a:rPr lang="ko-KR" altLang="en-US" sz="1600" dirty="0"/>
              <a:t>세기 후반부터 </a:t>
            </a:r>
            <a:r>
              <a:rPr lang="en-US" altLang="ko-KR" sz="1600" dirty="0"/>
              <a:t>20</a:t>
            </a:r>
            <a:r>
              <a:rPr lang="ko-KR" altLang="en-US" sz="1600" dirty="0"/>
              <a:t>세기 초반까지 석탄은 가정용 난방</a:t>
            </a:r>
            <a:r>
              <a:rPr lang="en-US" altLang="ko-KR" sz="1600" dirty="0"/>
              <a:t>, </a:t>
            </a:r>
            <a:r>
              <a:rPr lang="ko-KR" altLang="en-US" sz="1600" dirty="0"/>
              <a:t>공장동력</a:t>
            </a:r>
            <a:r>
              <a:rPr lang="en-US" altLang="ko-KR" sz="1600" dirty="0"/>
              <a:t>, </a:t>
            </a:r>
            <a:r>
              <a:rPr lang="ko-KR" altLang="en-US" sz="1600" dirty="0"/>
              <a:t>전력생산 등 광범위한 부문에서 주요 </a:t>
            </a:r>
            <a:r>
              <a:rPr lang="en-US" altLang="ko-KR" sz="1600" dirty="0"/>
              <a:t>1</a:t>
            </a:r>
            <a:r>
              <a:rPr lang="ko-KR" altLang="en-US" sz="1600" dirty="0"/>
              <a:t>차 에너지원으로 기능하며 에너지 소비의 중심축을 형성하였다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유럽과 북미 지역을 중심으로 대규모 광산 개발과 철도망 확충이 이루어지면서</a:t>
            </a:r>
            <a:r>
              <a:rPr lang="en-US" altLang="ko-KR" sz="1600" dirty="0"/>
              <a:t>, </a:t>
            </a:r>
            <a:r>
              <a:rPr lang="ko-KR" altLang="en-US" sz="1600" dirty="0"/>
              <a:t>석탄은 산업화와 도시화를 가속화하는 기반 인프라로 작용하였다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8300327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CA923-B4DD-A907-2D8B-D6044F6F5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E1A0F4-CC65-8E27-4A59-54417250F3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서론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D05026A-C2F6-E1CD-95EA-4269B6F0A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8FC786-BA6B-5C03-44D8-6D9CE0578FA6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20</a:t>
            </a:r>
            <a:r>
              <a:rPr lang="ko-KR" altLang="en-US" sz="1600" dirty="0"/>
              <a:t>세기 중반 이후 석유 및 천연가스와 같은</a:t>
            </a:r>
            <a:r>
              <a:rPr lang="en-US" altLang="ko-KR" sz="1600" dirty="0"/>
              <a:t>, </a:t>
            </a:r>
            <a:r>
              <a:rPr lang="ko-KR" altLang="en-US" sz="1600" dirty="0"/>
              <a:t>보다 높은 에너지 밀도와 유연성을 지닌 에너지원의 등장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원자력 발전의 도입은 석탄의 상대적 위상을 점차 약화시키는 계기가 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더욱이</a:t>
            </a:r>
            <a:r>
              <a:rPr lang="en-US" altLang="ko-KR" sz="1600" dirty="0"/>
              <a:t>, </a:t>
            </a:r>
            <a:r>
              <a:rPr lang="ko-KR" altLang="en-US" sz="1600" dirty="0"/>
              <a:t>석탄 채굴 및 연소 과정에서의 대기오염</a:t>
            </a:r>
            <a:r>
              <a:rPr lang="en-US" altLang="ko-KR" sz="1600" dirty="0"/>
              <a:t>, </a:t>
            </a:r>
            <a:r>
              <a:rPr lang="ko-KR" altLang="en-US" sz="1600" dirty="0"/>
              <a:t>온실가스 배출</a:t>
            </a:r>
            <a:r>
              <a:rPr lang="en-US" altLang="ko-KR" sz="1600" dirty="0"/>
              <a:t>, </a:t>
            </a:r>
            <a:r>
              <a:rPr lang="ko-KR" altLang="en-US" sz="1600" dirty="0"/>
              <a:t>광산 노동자의 건강 문제 등 부정적 외부효과는 석탄 산업에 대한 국제사회의 비판적 시각을 </a:t>
            </a:r>
            <a:r>
              <a:rPr lang="ko-KR" altLang="en-US" sz="1600" dirty="0" err="1"/>
              <a:t>강화시켰으며</a:t>
            </a:r>
            <a:r>
              <a:rPr lang="en-US" altLang="ko-KR" sz="1600" dirty="0"/>
              <a:t>, </a:t>
            </a:r>
            <a:r>
              <a:rPr lang="ko-KR" altLang="en-US" sz="1600" dirty="0"/>
              <a:t>환경 규제의 강화와 탈탄소화 전환을 촉진하는 요인으로 작용하였다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기후변화 대응을 위한 글로벌 협약과 국가별 탄소중립 목표는 석탄의 단계적 축소를 </a:t>
            </a:r>
            <a:r>
              <a:rPr lang="ko-KR" altLang="en-US" sz="1600" dirty="0" err="1"/>
              <a:t>가속화시키고</a:t>
            </a:r>
            <a:r>
              <a:rPr lang="ko-KR" altLang="en-US" sz="1600" dirty="0"/>
              <a:t> 있다</a:t>
            </a:r>
            <a:r>
              <a:rPr lang="en-US" altLang="ko-KR" sz="160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그럼에도 불구하고</a:t>
            </a:r>
            <a:r>
              <a:rPr lang="en-US" altLang="ko-KR" sz="1600" dirty="0"/>
              <a:t>, </a:t>
            </a:r>
            <a:r>
              <a:rPr lang="ko-KR" altLang="en-US" sz="1600" dirty="0"/>
              <a:t>석탄은 여전히 세계 에너지 믹스의 약 </a:t>
            </a:r>
            <a:r>
              <a:rPr lang="en-US" altLang="ko-KR" sz="1600" dirty="0"/>
              <a:t>25~30%</a:t>
            </a:r>
            <a:r>
              <a:rPr lang="ko-KR" altLang="en-US" sz="1600" dirty="0"/>
              <a:t>를 차지하는 주요 자원으로 남아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 수급의 신뢰성과 가격경쟁력을 중시하는 개발도상국에서는 에너지 안보 확보와 경제성 측면에서 여전히 전략적인 에너지원으로 활용되고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현대의 석탄시장은 공급망 리스크</a:t>
            </a:r>
            <a:r>
              <a:rPr lang="en-US" altLang="ko-KR" sz="1600" dirty="0"/>
              <a:t>, </a:t>
            </a:r>
            <a:r>
              <a:rPr lang="ko-KR" altLang="en-US" sz="1600" dirty="0"/>
              <a:t>지정학 변수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탈석탄</a:t>
            </a:r>
            <a:r>
              <a:rPr lang="ko-KR" altLang="en-US" sz="1600" dirty="0"/>
              <a:t> 정책과의 충돌</a:t>
            </a:r>
            <a:r>
              <a:rPr lang="en-US" altLang="ko-KR" sz="1600" dirty="0"/>
              <a:t>, </a:t>
            </a:r>
            <a:r>
              <a:rPr lang="ko-KR" altLang="en-US" sz="1600" dirty="0"/>
              <a:t>청정기술 도입</a:t>
            </a:r>
            <a:r>
              <a:rPr lang="en-US" altLang="ko-KR" sz="1600" dirty="0"/>
              <a:t>, </a:t>
            </a:r>
            <a:r>
              <a:rPr lang="ko-KR" altLang="en-US" sz="1600" dirty="0"/>
              <a:t>국제 금융의 탈석탄화 흐름</a:t>
            </a:r>
            <a:r>
              <a:rPr lang="en-US" altLang="ko-KR" sz="1600" dirty="0"/>
              <a:t> </a:t>
            </a:r>
            <a:r>
              <a:rPr lang="ko-KR" altLang="en-US" sz="1600" dirty="0"/>
              <a:t>등 복합적인 요소가 작용하는 불확실성으로 특징지어진다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8178189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A1B6B-7E50-1361-1865-152921E2F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9A5B9EC-1D0F-A920-3DDD-3C7E481F84BC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E81D2D4-A872-FD00-B41F-0BABB3074B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E9B24812-E156-DDA7-328C-86685F84E9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2. </a:t>
            </a:r>
            <a:r>
              <a:rPr lang="ko-KR" altLang="en-US" sz="4000" b="1" i="0" spc="150" dirty="0"/>
              <a:t>석탄산업의 역사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581071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28857B-3683-2BC3-A086-B64A2E17A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7328EF-F34F-8995-A223-A4E560812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25E0A92-85AA-8412-935C-D0C55D22B1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B2F4D06-06D6-0B4D-6DC6-5F57827D95E4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사용은 수천년 전으로 거슬러 올라가지만</a:t>
            </a:r>
            <a:r>
              <a:rPr lang="en-US" altLang="ko-KR" sz="1600" dirty="0"/>
              <a:t>, </a:t>
            </a:r>
            <a:r>
              <a:rPr lang="ko-KR" altLang="en-US" sz="1600" dirty="0"/>
              <a:t>본격적인 산업적인 용도의 활용은 근대 초기에 비로소 나타난다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기록에 따르면 중국에서는 기원전 </a:t>
            </a:r>
            <a:r>
              <a:rPr lang="en-US" altLang="ko-KR" sz="1600" dirty="0"/>
              <a:t>1000</a:t>
            </a:r>
            <a:r>
              <a:rPr lang="ko-KR" altLang="en-US" sz="1600" dirty="0" err="1"/>
              <a:t>년경부터</a:t>
            </a:r>
            <a:r>
              <a:rPr lang="ko-KR" altLang="en-US" sz="1600" dirty="0"/>
              <a:t> 석탄을 난방 연료로 사용하였다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로마 제국 시기인 서기 </a:t>
            </a:r>
            <a:r>
              <a:rPr lang="en-US" altLang="ko-KR" sz="1600" dirty="0"/>
              <a:t>200</a:t>
            </a:r>
            <a:r>
              <a:rPr lang="ko-KR" altLang="en-US" sz="1600" dirty="0" err="1"/>
              <a:t>년경에도</a:t>
            </a:r>
            <a:r>
              <a:rPr lang="ko-KR" altLang="en-US" sz="1600" dirty="0"/>
              <a:t> 석탄 사용이 확인된다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석탄이 산업적으로 광범위하게 사용되기 시작한 것은 </a:t>
            </a:r>
            <a:r>
              <a:rPr lang="en-US" altLang="ko-KR" sz="1600" dirty="0"/>
              <a:t>13</a:t>
            </a:r>
            <a:r>
              <a:rPr lang="ko-KR" altLang="en-US" sz="1600" dirty="0"/>
              <a:t>세기경 영국이며</a:t>
            </a:r>
            <a:r>
              <a:rPr lang="en-US" altLang="ko-KR" sz="1600" dirty="0"/>
              <a:t>, </a:t>
            </a:r>
            <a:r>
              <a:rPr lang="ko-KR" altLang="en-US" sz="1600" dirty="0"/>
              <a:t>난방과 대장장이업에서 사용되었다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16</a:t>
            </a:r>
            <a:r>
              <a:rPr lang="ko-KR" altLang="en-US" sz="1600" dirty="0"/>
              <a:t>세기 말부터 </a:t>
            </a:r>
            <a:r>
              <a:rPr lang="en-US" altLang="ko-KR" sz="1600" dirty="0"/>
              <a:t>17</a:t>
            </a:r>
            <a:r>
              <a:rPr lang="ko-KR" altLang="en-US" sz="1600" dirty="0"/>
              <a:t>세기 초</a:t>
            </a:r>
            <a:r>
              <a:rPr lang="en-US" altLang="ko-KR" sz="1600" dirty="0"/>
              <a:t>,</a:t>
            </a:r>
            <a:r>
              <a:rPr lang="ko-KR" altLang="en-US" sz="1600" dirty="0"/>
              <a:t> 인구증가와 수공업의 확대에 따라 에너지 수요가 급증하고 석탄채굴이 산업화 되었다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</a:t>
            </a:r>
            <a:r>
              <a:rPr lang="en-US" altLang="ko-KR" sz="1600" dirty="0"/>
              <a:t>17</a:t>
            </a:r>
            <a:r>
              <a:rPr lang="ko-KR" altLang="en-US" sz="1600" dirty="0"/>
              <a:t>세기 말까지 영국에서는 탄광이 경제의 핵심부문으로 성장하였다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석탄은 목재의 대체재로서 중요한 역할을 하기 시작하였다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18</a:t>
            </a:r>
            <a:r>
              <a:rPr lang="ko-KR" altLang="en-US" sz="1600" dirty="0"/>
              <a:t>세기 말 산업혁명의 도래는 석탄의 역사에서 결정적인 전환점을 이룬다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새로운 기술과 기계의 출현으로 에너지 수요가 급증한다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목재 및 숯을 대체하는 에너지원이 되었다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증기기관의 동력원으로서 섬유</a:t>
            </a:r>
            <a:r>
              <a:rPr lang="en-US" altLang="ko-KR" sz="1600" dirty="0"/>
              <a:t>, </a:t>
            </a:r>
            <a:r>
              <a:rPr lang="ko-KR" altLang="en-US" sz="1600" dirty="0"/>
              <a:t>철도</a:t>
            </a:r>
            <a:r>
              <a:rPr lang="en-US" altLang="ko-KR" sz="1600" dirty="0"/>
              <a:t>, </a:t>
            </a:r>
            <a:r>
              <a:rPr lang="ko-KR" altLang="en-US" sz="1600" dirty="0"/>
              <a:t>강철 산업 등의 기반이 되었다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19</a:t>
            </a:r>
            <a:r>
              <a:rPr lang="ko-KR" altLang="en-US" sz="1600" dirty="0"/>
              <a:t>세기 내내 석탄은 영국 경제의 중심이 되었으며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유사한 경향이 독일과 미국에서도 나타났다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611923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47412D-3BFB-B909-0EE7-82B7F857B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193ACDE-375F-F406-9EEA-DA57D0B247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석탄산업의 역사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2737CC-BE48-2795-5D30-5CE201BBF2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EA76E8-64EB-EBD7-1C9F-A0261C6B074C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20</a:t>
            </a:r>
            <a:r>
              <a:rPr lang="ko-KR" altLang="en-US" sz="1600" dirty="0"/>
              <a:t>세기에는 석탄 생산이 정점을 맞이하며</a:t>
            </a:r>
            <a:r>
              <a:rPr lang="en-US" altLang="ko-KR" sz="1600" dirty="0"/>
              <a:t>, </a:t>
            </a:r>
            <a:r>
              <a:rPr lang="ko-KR" altLang="en-US" sz="1600" dirty="0"/>
              <a:t>제</a:t>
            </a:r>
            <a:r>
              <a:rPr lang="en-US" altLang="ko-KR" sz="1600" dirty="0"/>
              <a:t>2</a:t>
            </a:r>
            <a:r>
              <a:rPr lang="ko-KR" altLang="en-US" sz="1600" dirty="0"/>
              <a:t>차 세계대전 기간 동안 군수 산업과 전쟁 수행에 있어 필수적인 에너지원으로 기능하였다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전후에는 석유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</a:t>
            </a:r>
            <a:r>
              <a:rPr lang="en-US" altLang="ko-KR" sz="1600" dirty="0"/>
              <a:t>, </a:t>
            </a:r>
            <a:r>
              <a:rPr lang="ko-KR" altLang="en-US" sz="1600" dirty="0"/>
              <a:t>원자력의 확산과 함께 석탄의 상대적 비중은 점차 하락하였다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또 석탄채굴과 연소로 인한 환경오염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대기질</a:t>
            </a:r>
            <a:r>
              <a:rPr lang="ko-KR" altLang="en-US" sz="1600" dirty="0"/>
              <a:t> 저하</a:t>
            </a:r>
            <a:r>
              <a:rPr lang="en-US" altLang="ko-KR" sz="1600" dirty="0"/>
              <a:t>, </a:t>
            </a:r>
            <a:r>
              <a:rPr lang="ko-KR" altLang="en-US" sz="1600" dirty="0"/>
              <a:t>건강 피해 등의 사회문제가 부상하며 쇠퇴하기 시작하였다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1952</a:t>
            </a:r>
            <a:r>
              <a:rPr lang="ko-KR" altLang="en-US" sz="1600" dirty="0"/>
              <a:t>년 런던 스모그 사건</a:t>
            </a:r>
            <a:r>
              <a:rPr lang="en-US" altLang="ko-KR" sz="1600" dirty="0"/>
              <a:t>:</a:t>
            </a:r>
            <a:r>
              <a:rPr lang="ko-KR" altLang="en-US" sz="1600" dirty="0"/>
              <a:t>  </a:t>
            </a:r>
            <a:r>
              <a:rPr lang="en-US" altLang="ko-KR" sz="1600" dirty="0">
                <a:hlinkClick r:id="rId2"/>
              </a:rPr>
              <a:t>https://www.youtube.com/watch?v=6d2rouq5br0</a:t>
            </a:r>
            <a:r>
              <a:rPr lang="en-US" altLang="ko-KR" sz="160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20</a:t>
            </a:r>
            <a:r>
              <a:rPr lang="ko-KR" altLang="en-US" sz="1600" dirty="0"/>
              <a:t>세기 후반 이후 유럽과 북미의 많은 탄광이 폐쇄되고</a:t>
            </a:r>
            <a:r>
              <a:rPr lang="en-US" altLang="ko-KR" sz="1600" dirty="0"/>
              <a:t>, </a:t>
            </a:r>
            <a:r>
              <a:rPr lang="ko-KR" altLang="en-US" sz="1600" dirty="0"/>
              <a:t>석탄 산업의 중심은 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인도네시아 등 생산비용이 낮고 수요가 지속되는 지역으로 이동하였다</a:t>
            </a:r>
            <a:r>
              <a:rPr lang="en-US" altLang="ko-KR" sz="160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이와 같은 </a:t>
            </a:r>
            <a:r>
              <a:rPr lang="ko-KR" altLang="en-US" sz="1600" dirty="0" err="1"/>
              <a:t>쇄락에도</a:t>
            </a:r>
            <a:r>
              <a:rPr lang="ko-KR" altLang="en-US" sz="1600" dirty="0"/>
              <a:t> 불구하고 여전히 개발도상국에서는 접근성과 경제성 측면에서 유리한 에너지원이다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21</a:t>
            </a:r>
            <a:r>
              <a:rPr lang="ko-KR" altLang="en-US" sz="1600" dirty="0"/>
              <a:t>세기 들어서면서 석탄 산업은 전 세계적으로 복합적인 도전에 직면하고 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탈탄소화를 위한 환경규제 강화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기술의 확산</a:t>
            </a:r>
            <a:r>
              <a:rPr lang="en-US" altLang="ko-KR" sz="1600" dirty="0"/>
              <a:t>, </a:t>
            </a:r>
            <a:r>
              <a:rPr lang="ko-KR" altLang="en-US" sz="1600" dirty="0"/>
              <a:t>금융기관의 석탄 투자 회피 등은 석탄 생산 및 소비에 지속적인 압력을 가하고 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많은 선진국에서는 석탄이 청정에너지로 점차 대체되고 있으나</a:t>
            </a:r>
            <a:r>
              <a:rPr lang="en-US" altLang="ko-KR" sz="1600" dirty="0"/>
              <a:t>, </a:t>
            </a:r>
            <a:r>
              <a:rPr lang="ko-KR" altLang="en-US" sz="1600" dirty="0"/>
              <a:t>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아프리카 일부 국가에서는 여전히 석탄이 에너지믹스의 중추적인 역할을 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10144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24925B-FC5E-7414-224B-EA1EA7745E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2070160-2621-1C89-F1B7-14BFDDB3A72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73B466-923D-9B07-EDF4-95ACD444B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CFA0951-55A3-A100-0D0F-267D31818C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3. </a:t>
            </a:r>
            <a:r>
              <a:rPr lang="ko-KR" altLang="en-US" sz="4000" b="1" i="0" spc="150" dirty="0"/>
              <a:t>석탄의 분류와 특징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646686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618232-325B-109E-E755-C7762A1881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5093F-8BE7-16FE-9229-C179F9D56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석탄의 분류와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22DAA90-9C6A-88B8-8B4B-6481FA05E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19CCB4-17D0-C488-9EDC-1B2A7D071D41}"/>
              </a:ext>
            </a:extLst>
          </p:cNvPr>
          <p:cNvSpPr txBox="1"/>
          <p:nvPr/>
        </p:nvSpPr>
        <p:spPr>
          <a:xfrm>
            <a:off x="288790" y="95884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물리적 및 화학적 특성은 석탄화 과정에서 원 식물 유기물이 얼마나 완전히 탄화 되었는지에 따라 결정된다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석탄화 과정은 유기물이 열과 압력을 받아 석탄으로 전환되는 탄화과정을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 석탄화 정도에 따라 석탄은 탄소 함량</a:t>
            </a:r>
            <a:r>
              <a:rPr lang="en-US" altLang="ko-KR" sz="1600" dirty="0"/>
              <a:t>, </a:t>
            </a:r>
            <a:r>
              <a:rPr lang="ko-KR" altLang="en-US" sz="1600" dirty="0"/>
              <a:t>수분</a:t>
            </a:r>
            <a:r>
              <a:rPr lang="en-US" altLang="ko-KR" sz="1600" dirty="0"/>
              <a:t>, </a:t>
            </a:r>
            <a:r>
              <a:rPr lang="ko-KR" altLang="en-US" sz="1600" dirty="0"/>
              <a:t>휘발성분</a:t>
            </a:r>
            <a:r>
              <a:rPr lang="en-US" altLang="ko-KR" sz="1600" dirty="0"/>
              <a:t>, </a:t>
            </a:r>
            <a:r>
              <a:rPr lang="ko-KR" altLang="en-US" sz="1600" dirty="0"/>
              <a:t>회분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밀도 등의 특성이 달라진다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일반적으로</a:t>
            </a:r>
            <a:r>
              <a:rPr lang="en-US" altLang="ko-KR" sz="1600" dirty="0"/>
              <a:t>, </a:t>
            </a:r>
            <a:r>
              <a:rPr lang="ko-KR" altLang="en-US" sz="1600" dirty="0"/>
              <a:t>갈탄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아역청탄</a:t>
            </a:r>
            <a:r>
              <a:rPr lang="en-US" altLang="ko-KR" sz="1600" dirty="0"/>
              <a:t>, </a:t>
            </a:r>
            <a:r>
              <a:rPr lang="ko-KR" altLang="en-US" sz="1600" dirty="0"/>
              <a:t>역청탄</a:t>
            </a:r>
            <a:r>
              <a:rPr lang="en-US" altLang="ko-KR" sz="1600" dirty="0"/>
              <a:t>, </a:t>
            </a:r>
            <a:r>
              <a:rPr lang="ko-KR" altLang="en-US" sz="1600" dirty="0"/>
              <a:t>무연탄 으로 분류된다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석탄은 경제적 측면에서 가장 저렴한 화석연료로 간주되고</a:t>
            </a:r>
            <a:r>
              <a:rPr lang="en-US" altLang="ko-KR" sz="1600" dirty="0"/>
              <a:t>, </a:t>
            </a:r>
            <a:r>
              <a:rPr lang="ko-KR" altLang="en-US" sz="1600" dirty="0"/>
              <a:t>석유나 천연가스에 비해 채굴</a:t>
            </a:r>
            <a:r>
              <a:rPr lang="en-US" altLang="ko-KR" sz="1600" dirty="0"/>
              <a:t>·</a:t>
            </a:r>
            <a:r>
              <a:rPr lang="ko-KR" altLang="en-US" sz="1600" dirty="0"/>
              <a:t>취급 비용이 낮다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재생에너지의 비용이 지속적으로 하락하고</a:t>
            </a:r>
            <a:r>
              <a:rPr lang="en-US" altLang="ko-KR" sz="1600" dirty="0"/>
              <a:t>, </a:t>
            </a:r>
            <a:r>
              <a:rPr lang="ko-KR" altLang="en-US" sz="1600" dirty="0"/>
              <a:t>환경규제와 탄소가격제도가 강화되면서 석탄의 경제성은 점점 악화되고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  <p:pic>
        <p:nvPicPr>
          <p:cNvPr id="5" name="그림 4" descr="미국 펜실베이니아주립대 맥스 로이드 교수는 전 세계에서 채집한 목재와 갈탄, 아역청탄, 역청탄 표본(왼쪽부터)을 분석해 혐기성 미생물이 메탄의 전구물질인 석탄 속 메톡실기를 떼어낸다는 사실을 밝혀냈다. [Patrick Mansell, Penn State 제공. 재판매 및 DB 금지]">
            <a:extLst>
              <a:ext uri="{FF2B5EF4-FFF2-40B4-BE49-F238E27FC236}">
                <a16:creationId xmlns:a16="http://schemas.microsoft.com/office/drawing/2014/main" id="{27ED252B-3B30-1FB9-AD62-3005F0FA55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288" y="3918022"/>
            <a:ext cx="3863931" cy="25888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3B5F0A30-AFD3-FD35-E019-A105D8A5C0B1}"/>
              </a:ext>
            </a:extLst>
          </p:cNvPr>
          <p:cNvSpPr txBox="1"/>
          <p:nvPr/>
        </p:nvSpPr>
        <p:spPr>
          <a:xfrm>
            <a:off x="5321976" y="5506915"/>
            <a:ext cx="615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목재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7F43BA-19C6-1E7F-7122-BF31226971B8}"/>
              </a:ext>
            </a:extLst>
          </p:cNvPr>
          <p:cNvSpPr txBox="1"/>
          <p:nvPr/>
        </p:nvSpPr>
        <p:spPr>
          <a:xfrm>
            <a:off x="6065272" y="5506915"/>
            <a:ext cx="615185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갈탄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3515376-1AA7-5DC5-DEAE-FB917C34A92E}"/>
              </a:ext>
            </a:extLst>
          </p:cNvPr>
          <p:cNvSpPr txBox="1"/>
          <p:nvPr/>
        </p:nvSpPr>
        <p:spPr>
          <a:xfrm>
            <a:off x="6723387" y="5506915"/>
            <a:ext cx="6151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 err="1">
                <a:solidFill>
                  <a:schemeClr val="bg1"/>
                </a:solidFill>
              </a:rPr>
              <a:t>아역청탄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5160E1-2959-D336-9FAC-593BF696C6F1}"/>
              </a:ext>
            </a:extLst>
          </p:cNvPr>
          <p:cNvSpPr txBox="1"/>
          <p:nvPr/>
        </p:nvSpPr>
        <p:spPr>
          <a:xfrm>
            <a:off x="7404317" y="5630025"/>
            <a:ext cx="83651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600" dirty="0">
                <a:solidFill>
                  <a:schemeClr val="bg1"/>
                </a:solidFill>
              </a:rPr>
              <a:t>역청탄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1F3DA3-7F24-5E4A-9675-2814DC4752AE}"/>
              </a:ext>
            </a:extLst>
          </p:cNvPr>
          <p:cNvSpPr txBox="1"/>
          <p:nvPr/>
        </p:nvSpPr>
        <p:spPr>
          <a:xfrm>
            <a:off x="5836315" y="6245412"/>
            <a:ext cx="2921318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900" dirty="0">
                <a:solidFill>
                  <a:schemeClr val="bg1"/>
                </a:solidFill>
              </a:rPr>
              <a:t>https://www.yna.co.kr/view/AKR20211112098800009</a:t>
            </a:r>
            <a:endParaRPr lang="ko-KR" altLang="en-US" sz="10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1235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090F2C-3F1B-38F6-9C0F-C2AB119393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690FD-974C-97D3-ED43-51CCE2E273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석탄의 분류와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BA5B807-831D-CED5-05BB-BA2EA954C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7029CBC-506A-EA60-A9F6-E4FB6145ED85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갈탄</a:t>
            </a: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갈탄은 탄화과정이 충분히 진행되지 않은</a:t>
            </a:r>
            <a:r>
              <a:rPr lang="en-US" altLang="ko-KR" sz="1600" dirty="0"/>
              <a:t>, </a:t>
            </a:r>
            <a:r>
              <a:rPr lang="ko-KR" altLang="en-US" sz="1600" dirty="0"/>
              <a:t>석탄화 정도가 가장 낮은 </a:t>
            </a:r>
            <a:r>
              <a:rPr lang="ko-KR" altLang="en-US" sz="1600" dirty="0" err="1"/>
              <a:t>저등급</a:t>
            </a:r>
            <a:r>
              <a:rPr lang="ko-KR" altLang="en-US" sz="1600" dirty="0"/>
              <a:t> 석탄이다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탄소 함량이 </a:t>
            </a:r>
            <a:r>
              <a:rPr lang="en-US" altLang="ko-KR" sz="1600" dirty="0"/>
              <a:t>30%</a:t>
            </a:r>
            <a:r>
              <a:rPr lang="ko-KR" altLang="en-US" sz="1600" dirty="0"/>
              <a:t>에 불과하고</a:t>
            </a:r>
            <a:r>
              <a:rPr lang="en-US" altLang="ko-KR" sz="1600" dirty="0"/>
              <a:t>, </a:t>
            </a:r>
            <a:r>
              <a:rPr lang="ko-KR" altLang="en-US" sz="1600" dirty="0"/>
              <a:t>수분 함량이 높고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인해 연소 효율이 낮고</a:t>
            </a:r>
            <a:r>
              <a:rPr lang="en-US" altLang="ko-KR" sz="1600" dirty="0"/>
              <a:t>, </a:t>
            </a:r>
            <a:r>
              <a:rPr lang="ko-KR" altLang="en-US" sz="1600" dirty="0"/>
              <a:t>저장 운송과정에도 제약이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외관상 흑갈색을 띠며</a:t>
            </a:r>
            <a:r>
              <a:rPr lang="en-US" altLang="ko-KR" sz="1600" dirty="0"/>
              <a:t>, </a:t>
            </a:r>
            <a:r>
              <a:rPr lang="ko-KR" altLang="en-US" sz="1600" dirty="0"/>
              <a:t>구조는 부드럽고 쉽게 부서지는 성질을 갖고 있어</a:t>
            </a:r>
            <a:r>
              <a:rPr lang="en-US" altLang="ko-KR" sz="1600" dirty="0"/>
              <a:t>, </a:t>
            </a:r>
            <a:r>
              <a:rPr lang="ko-KR" altLang="en-US" sz="1600" dirty="0"/>
              <a:t>분쇄는 용이하나</a:t>
            </a:r>
            <a:r>
              <a:rPr lang="en-US" altLang="ko-KR" sz="1600" dirty="0"/>
              <a:t>, </a:t>
            </a:r>
            <a:r>
              <a:rPr lang="ko-KR" altLang="en-US" sz="1600" dirty="0"/>
              <a:t>취급 과정에서 손실이 발생하기 쉽다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갈탄의 발열량은 다른 탄에 비해 낮은 수준이다</a:t>
            </a:r>
            <a:r>
              <a:rPr lang="en-US" altLang="ko-KR" sz="1600" dirty="0"/>
              <a:t>. (10~20 MJ/kg)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이로 인해 갈탄은 대규모 산업용보다 발전소에서 전력 생산용 연료로 사용된다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장거리 </a:t>
            </a:r>
            <a:r>
              <a:rPr lang="ko-KR" altLang="en-US" sz="1600" dirty="0" err="1"/>
              <a:t>수송시</a:t>
            </a:r>
            <a:r>
              <a:rPr lang="ko-KR" altLang="en-US" sz="1600" dirty="0"/>
              <a:t> 수분이 증발하여 에너지손실과 물류비용이 커지기 때문에 광산 인근에 위치한 광산밀착형 발전소에서 직접 소비되는 경우가 일반적이다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갈탄은 에너지 밀도가 낮고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연소시</a:t>
            </a:r>
            <a:r>
              <a:rPr lang="ko-KR" altLang="en-US" sz="1600" dirty="0"/>
              <a:t> 오염물질 </a:t>
            </a:r>
            <a:r>
              <a:rPr lang="en-US" altLang="ko-KR" sz="1600" dirty="0"/>
              <a:t>(</a:t>
            </a:r>
            <a:r>
              <a:rPr lang="ko-KR" altLang="en-US" sz="1600" dirty="0"/>
              <a:t>이산화탄소</a:t>
            </a:r>
            <a:r>
              <a:rPr lang="en-US" altLang="ko-KR" sz="1600" dirty="0"/>
              <a:t>, </a:t>
            </a:r>
            <a:r>
              <a:rPr lang="ko-KR" altLang="en-US" sz="1600" dirty="0"/>
              <a:t>질소산화물</a:t>
            </a:r>
            <a:r>
              <a:rPr lang="en-US" altLang="ko-KR" sz="1600" dirty="0"/>
              <a:t>, </a:t>
            </a:r>
            <a:r>
              <a:rPr lang="ko-KR" altLang="en-US" sz="1600" dirty="0"/>
              <a:t>황산화물 등</a:t>
            </a:r>
            <a:r>
              <a:rPr lang="en-US" altLang="ko-KR" sz="1600" dirty="0"/>
              <a:t>)</a:t>
            </a:r>
            <a:r>
              <a:rPr lang="ko-KR" altLang="en-US" sz="1600" dirty="0"/>
              <a:t>을 다량 배출하기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환경적 측면에서는 가장 부정적인 평가를 받는다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환경문제로 많은 국가에서 갈탄 기반 발전소 신규건설을 제한하고</a:t>
            </a:r>
            <a:r>
              <a:rPr lang="en-US" altLang="ko-KR" sz="1600" dirty="0"/>
              <a:t>, </a:t>
            </a:r>
            <a:r>
              <a:rPr lang="ko-KR" altLang="en-US" sz="1600" dirty="0"/>
              <a:t>조기퇴출을 검토하고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갈탄 자원이 풍부한 국가에서는 여전히 경제성과 접근성 측면에서 중요한 역할을 담당하고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872208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4680E-2B40-5B44-0272-709EBC024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BA020-5B08-FF16-59E4-0CE13A9DA9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석탄의 분류와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60FCC8-15D6-8232-334B-E4FCE59F6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C1A781F-C092-84FA-21D4-8D4A01C77E78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 err="1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아역청탄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아역청탄은</a:t>
            </a:r>
            <a:r>
              <a:rPr lang="ko-KR" altLang="en-US" sz="1600" dirty="0"/>
              <a:t> 석탄화 정도가 갈탄보다 더 진행된 중간단계의 </a:t>
            </a:r>
            <a:r>
              <a:rPr lang="ko-KR" altLang="en-US" sz="1600" dirty="0" err="1"/>
              <a:t>저등급</a:t>
            </a:r>
            <a:r>
              <a:rPr lang="ko-KR" altLang="en-US" sz="1600" dirty="0"/>
              <a:t> 석탄이다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탄소함량은 </a:t>
            </a:r>
            <a:r>
              <a:rPr lang="en-US" altLang="ko-KR" sz="1600" dirty="0"/>
              <a:t>40% </a:t>
            </a:r>
            <a:r>
              <a:rPr lang="ko-KR" altLang="en-US" sz="1600" dirty="0"/>
              <a:t>수준이고</a:t>
            </a:r>
            <a:r>
              <a:rPr lang="en-US" altLang="ko-KR" sz="1600" dirty="0"/>
              <a:t>, </a:t>
            </a:r>
            <a:r>
              <a:rPr lang="ko-KR" altLang="en-US" sz="1600" dirty="0"/>
              <a:t>상대적으로 낮은 휘발분과 수분함량을 갖고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외관상 칙칙한 검은색 또는 어두운 회갈색이며</a:t>
            </a:r>
            <a:r>
              <a:rPr lang="en-US" altLang="ko-KR" sz="1600" dirty="0"/>
              <a:t>, </a:t>
            </a:r>
            <a:r>
              <a:rPr lang="ko-KR" altLang="en-US" sz="1600" dirty="0"/>
              <a:t>조직은 갈탄보다 치밀하고 견고하나</a:t>
            </a:r>
            <a:r>
              <a:rPr lang="en-US" altLang="ko-KR" sz="1600" dirty="0"/>
              <a:t>, </a:t>
            </a:r>
            <a:r>
              <a:rPr lang="ko-KR" altLang="en-US" sz="1600" dirty="0"/>
              <a:t>무연탄이나 역청탄에 비해 부드럽다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아역청탄은</a:t>
            </a:r>
            <a:r>
              <a:rPr lang="ko-KR" altLang="en-US" sz="1600" dirty="0"/>
              <a:t> 갈탄에 비해 상대적으로 발열량이 높다</a:t>
            </a:r>
            <a:r>
              <a:rPr lang="en-US" altLang="ko-KR" sz="1600" dirty="0"/>
              <a:t>. (18~24 MJ/kg)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갈탄에 비해 에너지 효율이 높아 전력 생산용으로 널리 활용된다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연소 특성이 안정적이고</a:t>
            </a:r>
            <a:r>
              <a:rPr lang="en-US" altLang="ko-KR" sz="1600" dirty="0"/>
              <a:t>, </a:t>
            </a:r>
            <a:r>
              <a:rPr lang="ko-KR" altLang="en-US" sz="1600" dirty="0"/>
              <a:t>회분 함량이 낮고</a:t>
            </a:r>
            <a:r>
              <a:rPr lang="en-US" altLang="ko-KR" sz="1600" dirty="0"/>
              <a:t>, </a:t>
            </a:r>
            <a:r>
              <a:rPr lang="ko-KR" altLang="en-US" sz="1600" dirty="0"/>
              <a:t>연소 온도가 상대적으로 낮다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석탄화력을 주요 전력 공급원으로 작용하는 국가에서는 경제성과 실용성을 갖춘 연료로 활용된다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아역청탄은</a:t>
            </a:r>
            <a:r>
              <a:rPr lang="ko-KR" altLang="en-US" sz="1600" dirty="0"/>
              <a:t> 미국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인도네시아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, </a:t>
            </a:r>
            <a:r>
              <a:rPr lang="ko-KR" altLang="en-US" sz="1600" dirty="0"/>
              <a:t>중국 등 광범위하게 매장되어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 </a:t>
            </a:r>
            <a:r>
              <a:rPr lang="ko-KR" altLang="en-US" sz="1600" dirty="0" err="1"/>
              <a:t>와이오밍</a:t>
            </a:r>
            <a:r>
              <a:rPr lang="ko-KR" altLang="en-US" sz="1600" dirty="0"/>
              <a:t> 주의 </a:t>
            </a:r>
            <a:r>
              <a:rPr lang="ko-KR" altLang="en-US" sz="1600" dirty="0" err="1"/>
              <a:t>파우더리버</a:t>
            </a:r>
            <a:r>
              <a:rPr lang="ko-KR" altLang="en-US" sz="1600" dirty="0"/>
              <a:t> 분지는 세계에서 가장 큰 </a:t>
            </a:r>
            <a:r>
              <a:rPr lang="ko-KR" altLang="en-US" sz="1600" dirty="0" err="1"/>
              <a:t>아역청탄</a:t>
            </a:r>
            <a:r>
              <a:rPr lang="ko-KR" altLang="en-US" sz="1600" dirty="0"/>
              <a:t> 생산지 중 하나이다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인도네시아는 동남아시아 최대의 석탄 수출국으로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아역청탄을</a:t>
            </a:r>
            <a:r>
              <a:rPr lang="ko-KR" altLang="en-US" sz="1600" dirty="0"/>
              <a:t> 중심으로 아시아 시장에 대한 공급을 지속적으로 확대하고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환경적 측면에서 </a:t>
            </a:r>
            <a:r>
              <a:rPr lang="ko-KR" altLang="en-US" sz="1600" dirty="0" err="1"/>
              <a:t>아역청탄이</a:t>
            </a:r>
            <a:r>
              <a:rPr lang="ko-KR" altLang="en-US" sz="1600" dirty="0"/>
              <a:t> 갈탄보다 온실가스 및 대기오염물질 배출량이 적지만</a:t>
            </a:r>
            <a:r>
              <a:rPr lang="en-US" altLang="ko-KR" sz="1600" dirty="0"/>
              <a:t>, </a:t>
            </a:r>
            <a:r>
              <a:rPr lang="ko-KR" altLang="en-US" sz="1600" dirty="0"/>
              <a:t>여전히 재생에너지 및 천연가스에 비해 탄소배출량이 높아 기후정책에 의해 제한되는 추세이다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163231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61E90-1FE1-AF37-2721-221E12852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8272C6C-31D2-8655-9596-EE07524E5A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석탄의 분류와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0997A5-FE4B-3496-3AA7-DECAD83E6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6564D71-ED20-F9EA-E6CC-E5FE2A1F7759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역청탄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전세계적으로 가장 널리 사용되는 중</a:t>
            </a:r>
            <a:r>
              <a:rPr lang="en-US" altLang="ko-KR" sz="1600" dirty="0"/>
              <a:t>·</a:t>
            </a:r>
            <a:r>
              <a:rPr lang="ko-KR" altLang="en-US" sz="1600" dirty="0" err="1"/>
              <a:t>고등급</a:t>
            </a:r>
            <a:r>
              <a:rPr lang="ko-KR" altLang="en-US" sz="1600" dirty="0"/>
              <a:t> 석탄이다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석탄화 정도가 갈탄이나 </a:t>
            </a:r>
            <a:r>
              <a:rPr lang="ko-KR" altLang="en-US" sz="1600" dirty="0" err="1"/>
              <a:t>아역청탄보다</a:t>
            </a:r>
            <a:r>
              <a:rPr lang="ko-KR" altLang="en-US" sz="1600" dirty="0"/>
              <a:t> 훨씬 높고</a:t>
            </a:r>
            <a:r>
              <a:rPr lang="en-US" altLang="ko-KR" sz="1600" dirty="0"/>
              <a:t>, </a:t>
            </a:r>
            <a:r>
              <a:rPr lang="ko-KR" altLang="en-US" sz="1600" dirty="0"/>
              <a:t>탄소 함량은 </a:t>
            </a:r>
            <a:r>
              <a:rPr lang="en-US" altLang="ko-KR" sz="1600" dirty="0"/>
              <a:t>45~86%</a:t>
            </a:r>
            <a:r>
              <a:rPr lang="ko-KR" altLang="en-US" sz="1600" dirty="0"/>
              <a:t>에 이른다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수분과 </a:t>
            </a:r>
            <a:r>
              <a:rPr lang="ko-KR" altLang="en-US" sz="1600" dirty="0" err="1"/>
              <a:t>휘발분</a:t>
            </a:r>
            <a:r>
              <a:rPr lang="ko-KR" altLang="en-US" sz="1600" dirty="0"/>
              <a:t> 함량이 낮아 </a:t>
            </a:r>
            <a:r>
              <a:rPr lang="ko-KR" altLang="en-US" sz="1600" dirty="0" err="1"/>
              <a:t>연료로서의</a:t>
            </a:r>
            <a:r>
              <a:rPr lang="ko-KR" altLang="en-US" sz="1600" dirty="0"/>
              <a:t> 품질이 우수하고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밀도가 높다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광택이 나는 흑색이고</a:t>
            </a:r>
            <a:r>
              <a:rPr lang="en-US" altLang="ko-KR" sz="1600" dirty="0"/>
              <a:t>, </a:t>
            </a:r>
            <a:r>
              <a:rPr lang="ko-KR" altLang="en-US" sz="1600" dirty="0"/>
              <a:t>구조는 단단하고 치밀하여 기계적 강도가 높다</a:t>
            </a:r>
            <a:r>
              <a:rPr lang="en-US" altLang="ko-KR" sz="1600" dirty="0"/>
              <a:t>.</a:t>
            </a:r>
          </a:p>
          <a:p>
            <a:pPr marL="549275" lvl="1">
              <a:lnSpc>
                <a:spcPct val="150000"/>
              </a:lnSpc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역청탄의 발열량은 약 </a:t>
            </a:r>
            <a:r>
              <a:rPr lang="en-US" altLang="ko-KR" sz="1600" dirty="0"/>
              <a:t>24~35MJ/kg</a:t>
            </a:r>
            <a:r>
              <a:rPr lang="ko-KR" altLang="en-US" sz="1600" dirty="0"/>
              <a:t>으로 </a:t>
            </a:r>
            <a:r>
              <a:rPr lang="ko-KR" altLang="en-US" sz="1600" dirty="0" err="1"/>
              <a:t>아역청탄보다</a:t>
            </a:r>
            <a:r>
              <a:rPr lang="ko-KR" altLang="en-US" sz="1600" dirty="0"/>
              <a:t> 높다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 생산을 위한 연료로 널리 활용되고</a:t>
            </a:r>
            <a:r>
              <a:rPr lang="en-US" altLang="ko-KR" sz="1600" dirty="0"/>
              <a:t>, </a:t>
            </a:r>
            <a:r>
              <a:rPr lang="ko-KR" altLang="en-US" sz="1600" dirty="0"/>
              <a:t>산업부문에서는 철강 생산에 필수적인 원료로 사용된다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역청탄 중에서도 </a:t>
            </a:r>
            <a:r>
              <a:rPr lang="ko-KR" altLang="en-US" sz="1600" dirty="0" err="1"/>
              <a:t>코킹탄은</a:t>
            </a:r>
            <a:r>
              <a:rPr lang="ko-KR" altLang="en-US" sz="1600" dirty="0"/>
              <a:t> 고온 처리 시 휘발분이 제거되고 탄화가 진행되며</a:t>
            </a:r>
            <a:r>
              <a:rPr lang="en-US" altLang="ko-KR" sz="1600" dirty="0"/>
              <a:t>, </a:t>
            </a:r>
            <a:r>
              <a:rPr lang="ko-KR" altLang="en-US" sz="1600" dirty="0"/>
              <a:t>금속 제조에 사용되는 코크스로 전환된다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 코크스는 용광로에서 철광석을 환원시키고 고온을 유지하는 데 핵심적 역할을 하고</a:t>
            </a:r>
            <a:r>
              <a:rPr lang="en-US" altLang="ko-KR" sz="1600" dirty="0"/>
              <a:t>, </a:t>
            </a:r>
            <a:r>
              <a:rPr lang="ko-KR" altLang="en-US" sz="1600" dirty="0"/>
              <a:t>제철 공정에서 필수적인 소재이다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53102248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23B9FD-50EF-1878-18D2-965469CAE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630702-5896-0E4E-8729-F9719CB74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석탄의 분류와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E936D8B-D49E-1258-8401-5546AAF8B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BDCA5A2-149B-8670-3C3C-C1CBBFDD1FB2}"/>
              </a:ext>
            </a:extLst>
          </p:cNvPr>
          <p:cNvSpPr txBox="1"/>
          <p:nvPr/>
        </p:nvSpPr>
        <p:spPr>
          <a:xfrm>
            <a:off x="288790" y="958844"/>
            <a:ext cx="11118453" cy="410734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역청탄은 미국</a:t>
            </a:r>
            <a:r>
              <a:rPr lang="en-US" altLang="ko-KR" sz="1600" dirty="0"/>
              <a:t>, </a:t>
            </a:r>
            <a:r>
              <a:rPr lang="ko-KR" altLang="en-US" sz="1600" dirty="0"/>
              <a:t>중국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, </a:t>
            </a: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호주</a:t>
            </a:r>
            <a:r>
              <a:rPr lang="en-US" altLang="ko-KR" sz="1600" dirty="0"/>
              <a:t> </a:t>
            </a:r>
            <a:r>
              <a:rPr lang="ko-KR" altLang="en-US" sz="1600" dirty="0"/>
              <a:t>등지에서 대규모로 채굴되고 있고</a:t>
            </a:r>
            <a:r>
              <a:rPr lang="en-US" altLang="ko-KR" sz="1600" dirty="0"/>
              <a:t>, </a:t>
            </a:r>
            <a:r>
              <a:rPr lang="ko-KR" altLang="en-US" sz="1600" dirty="0"/>
              <a:t>국제 석탄시장에서 가장 활발히 거래되는 품종 중 하나이다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/>
              <a:t>특히 고급 </a:t>
            </a:r>
            <a:r>
              <a:rPr lang="ko-KR" altLang="en-US" sz="1600" spc="-100" dirty="0" err="1"/>
              <a:t>코킹탄은</a:t>
            </a:r>
            <a:r>
              <a:rPr lang="ko-KR" altLang="en-US" sz="1600" spc="-100" dirty="0"/>
              <a:t> 품질</a:t>
            </a:r>
            <a:r>
              <a:rPr lang="en-US" altLang="ko-KR" sz="1600" spc="-100" dirty="0"/>
              <a:t>, </a:t>
            </a:r>
            <a:r>
              <a:rPr lang="ko-KR" altLang="en-US" sz="1600" spc="-100" dirty="0" err="1"/>
              <a:t>점결력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휘발성 등에 따라 가격이 차별화되어 거래되며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철강수요와 밀접한 연계를 보인다</a:t>
            </a:r>
            <a:r>
              <a:rPr lang="en-US" altLang="ko-KR" sz="1600" spc="-1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1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환경적 측면에서는 역청탄이 높은 에너지효율을 지닌 반면</a:t>
            </a:r>
            <a:r>
              <a:rPr lang="en-US" altLang="ko-KR" sz="1600" dirty="0"/>
              <a:t>, </a:t>
            </a:r>
            <a:r>
              <a:rPr lang="ko-KR" altLang="en-US" sz="1600" dirty="0"/>
              <a:t>황 함량이 상대적으로 높아 연소 시 이산화황 배출이 많아지는 문제가 있다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이산화황은 산성비의 원인이 되어</a:t>
            </a:r>
            <a:r>
              <a:rPr lang="en-US" altLang="ko-KR" sz="1600" dirty="0"/>
              <a:t>, </a:t>
            </a:r>
            <a:r>
              <a:rPr lang="ko-KR" altLang="en-US" sz="1600" dirty="0"/>
              <a:t>환경 규제가 엄격한 국가에서는 황 제거 기술 도입이 필수적이다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 발전소에서는 질소산화물</a:t>
            </a:r>
            <a:r>
              <a:rPr lang="en-US" altLang="ko-KR" sz="1600" dirty="0"/>
              <a:t>, </a:t>
            </a:r>
            <a:r>
              <a:rPr lang="ko-KR" altLang="en-US" sz="1600" dirty="0"/>
              <a:t>미세먼지</a:t>
            </a:r>
            <a:r>
              <a:rPr lang="en-US" altLang="ko-KR" sz="1600" dirty="0"/>
              <a:t>, </a:t>
            </a:r>
            <a:r>
              <a:rPr lang="ko-KR" altLang="en-US" sz="1600" dirty="0"/>
              <a:t>수은 등 다양한 유해물질에 대한 규제가 강화되고 있어</a:t>
            </a:r>
            <a:r>
              <a:rPr lang="en-US" altLang="ko-KR" sz="1600" dirty="0"/>
              <a:t>, </a:t>
            </a:r>
            <a:r>
              <a:rPr lang="ko-KR" altLang="en-US" sz="1600" dirty="0"/>
              <a:t>역청탄 사용에는 점점 높은 수준의 환경관리 기술이 요구되고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83009569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8937D-DC6D-C78B-3821-7CDC71687A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8A4425-4E04-35FE-384C-7D546C62D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석탄의 분류와 특징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87EF550-A3FA-C004-157B-ED378F65B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EA17002-61F6-AA30-7FCF-7255A154CE00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무연탄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석탄화 정도가 가장 진전된 </a:t>
            </a:r>
            <a:r>
              <a:rPr lang="ko-KR" altLang="en-US" sz="1600" dirty="0" err="1"/>
              <a:t>고등급</a:t>
            </a:r>
            <a:r>
              <a:rPr lang="ko-KR" altLang="en-US" sz="1600" dirty="0"/>
              <a:t> 석탄으로</a:t>
            </a:r>
            <a:r>
              <a:rPr lang="en-US" altLang="ko-KR" sz="1600" dirty="0"/>
              <a:t>, </a:t>
            </a:r>
            <a:r>
              <a:rPr lang="ko-KR" altLang="en-US" sz="1600" dirty="0"/>
              <a:t>탄소 함량이 </a:t>
            </a:r>
            <a:r>
              <a:rPr lang="en-US" altLang="ko-KR" sz="1600" dirty="0"/>
              <a:t>86% </a:t>
            </a:r>
            <a:r>
              <a:rPr lang="ko-KR" altLang="en-US" sz="1600" dirty="0"/>
              <a:t>이상에 달하며</a:t>
            </a:r>
            <a:r>
              <a:rPr lang="en-US" altLang="ko-KR" sz="1600" dirty="0"/>
              <a:t>, </a:t>
            </a:r>
            <a:r>
              <a:rPr lang="ko-KR" altLang="en-US" sz="1600" dirty="0"/>
              <a:t>수분과 휘발성분은 매우 낮은 반면</a:t>
            </a:r>
            <a:r>
              <a:rPr lang="en-US" altLang="ko-KR" sz="1600" dirty="0"/>
              <a:t>, </a:t>
            </a:r>
            <a:r>
              <a:rPr lang="ko-KR" altLang="en-US" sz="1600" dirty="0"/>
              <a:t>고체 탄소의 밀도는 가장 높은 수준을 보인다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특성은 무연탄을 다른 석탄과 </a:t>
            </a:r>
            <a:r>
              <a:rPr lang="ko-KR" altLang="en-US" sz="1600" dirty="0" err="1"/>
              <a:t>구분짓는</a:t>
            </a:r>
            <a:r>
              <a:rPr lang="ko-KR" altLang="en-US" sz="1600" dirty="0"/>
              <a:t> 핵심 요소로</a:t>
            </a:r>
            <a:r>
              <a:rPr lang="en-US" altLang="ko-KR" sz="1600" dirty="0"/>
              <a:t>, </a:t>
            </a:r>
            <a:r>
              <a:rPr lang="ko-KR" altLang="en-US" sz="1600" dirty="0"/>
              <a:t>구조는 단단하고 광택이 나는 흑색이다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연소 시 연기가 거의 없고</a:t>
            </a:r>
            <a:r>
              <a:rPr lang="en-US" altLang="ko-KR" sz="1600" dirty="0"/>
              <a:t>, </a:t>
            </a:r>
            <a:r>
              <a:rPr lang="ko-KR" altLang="en-US" sz="1600" dirty="0"/>
              <a:t>불꽃도 적어 </a:t>
            </a:r>
            <a:r>
              <a:rPr lang="en-US" altLang="ko-KR" sz="1600" dirty="0"/>
              <a:t>‘</a:t>
            </a:r>
            <a:r>
              <a:rPr lang="ko-KR" altLang="en-US" sz="1600" dirty="0"/>
              <a:t>청정 석탄</a:t>
            </a:r>
            <a:r>
              <a:rPr lang="en-US" altLang="ko-KR" sz="1600" dirty="0"/>
              <a:t>’</a:t>
            </a:r>
            <a:r>
              <a:rPr lang="ko-KR" altLang="en-US" sz="1600" dirty="0"/>
              <a:t> 이라고 불리기도 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무연탄의 발열량은 </a:t>
            </a:r>
            <a:r>
              <a:rPr lang="en-US" altLang="ko-KR" sz="1600" dirty="0"/>
              <a:t>30~35MJ/kg</a:t>
            </a:r>
            <a:r>
              <a:rPr lang="ko-KR" altLang="en-US" sz="1600" dirty="0"/>
              <a:t> 이고</a:t>
            </a:r>
            <a:r>
              <a:rPr lang="en-US" altLang="ko-KR" sz="1600" dirty="0"/>
              <a:t>, </a:t>
            </a:r>
            <a:r>
              <a:rPr lang="ko-KR" altLang="en-US" sz="1600" dirty="0"/>
              <a:t>높은 에너지 밀도와 안정된 연소 특성을 보인다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특성으로 가정용 연탄이나 산업용 열원으로 사용되는 경우가 많다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주요 생산국으로는 중국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, </a:t>
            </a:r>
            <a:r>
              <a:rPr lang="ko-KR" altLang="en-US" sz="1600" dirty="0"/>
              <a:t>우크라이나 등이 있다</a:t>
            </a: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무연탄은 지질학적으로 희소성이 높은 자원이고</a:t>
            </a:r>
            <a:r>
              <a:rPr lang="en-US" altLang="ko-KR" sz="1600" dirty="0"/>
              <a:t>, </a:t>
            </a:r>
            <a:r>
              <a:rPr lang="ko-KR" altLang="en-US" sz="1600" dirty="0"/>
              <a:t>전 세계 석탄 매장량 중 차지하는 비중은 </a:t>
            </a:r>
            <a:r>
              <a:rPr lang="en-US" altLang="ko-KR" sz="1600" dirty="0"/>
              <a:t>1%</a:t>
            </a:r>
            <a:r>
              <a:rPr lang="ko-KR" altLang="en-US" sz="1600" dirty="0"/>
              <a:t>에 불과하다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대한민국도 한때 무연탄 생산국이었고</a:t>
            </a:r>
            <a:r>
              <a:rPr lang="en-US" altLang="ko-KR" sz="1600" dirty="0"/>
              <a:t>, 20</a:t>
            </a:r>
            <a:r>
              <a:rPr lang="ko-KR" altLang="en-US" sz="1600" dirty="0"/>
              <a:t>세기 중반까지 가정용 난방에 널리 사용된 바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무연탄은 고정 탄소 함량이 높고 불완전 연소가 적어 이산화탄소 및 오염물질 배출이 비교적 적다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 중 가장 높은 탄소 함량과 낮은 휘발분을 가져 연소 효율이 높고 오염물질 배출이 상대적으로 적다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다만 전세계 생산량이 제한적이고</a:t>
            </a:r>
            <a:r>
              <a:rPr lang="en-US" altLang="ko-KR" sz="1600" dirty="0"/>
              <a:t>, </a:t>
            </a:r>
            <a:r>
              <a:rPr lang="ko-KR" altLang="en-US" sz="1600" dirty="0"/>
              <a:t>채굴 비용이 높아</a:t>
            </a:r>
            <a:r>
              <a:rPr lang="en-US" altLang="ko-KR" sz="1600" dirty="0"/>
              <a:t>, </a:t>
            </a:r>
            <a:r>
              <a:rPr lang="ko-KR" altLang="en-US" sz="1600" dirty="0"/>
              <a:t>가격경쟁력과 안정성 측면에서 한계가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0270241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A68F1B-5E34-A367-7110-ABB9A9ECC8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E294C9B-2391-6A16-58AE-051EF8904E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E82732C-F866-045D-71C3-7E6540659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16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1E2ABE6B-B9BA-E122-0E00-4787041552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4. </a:t>
            </a:r>
            <a:r>
              <a:rPr lang="ko-KR" altLang="en-US" sz="4000" b="1" i="0" spc="150" dirty="0"/>
              <a:t>석탄의 가치사슬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42048551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8B9A0-832A-1E5B-D29B-FCF36908B2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B34616-C531-CADA-B43F-640D86EB4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탐사와 채굴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9F9FE50-AB47-084D-83A3-0DD2DCC79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17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A0E748-BACE-2CD9-89AC-89AB471117DF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가치사슬의 주요 단계는 탐사 및 채굴</a:t>
            </a:r>
            <a:r>
              <a:rPr lang="en-US" altLang="ko-KR" sz="1600" dirty="0"/>
              <a:t>, </a:t>
            </a:r>
            <a:r>
              <a:rPr lang="ko-KR" altLang="en-US" sz="1600" dirty="0"/>
              <a:t>처리 및 세정</a:t>
            </a:r>
            <a:r>
              <a:rPr lang="en-US" altLang="ko-KR" sz="1600" dirty="0"/>
              <a:t>, </a:t>
            </a:r>
            <a:r>
              <a:rPr lang="ko-KR" altLang="en-US" sz="1600" dirty="0"/>
              <a:t>수송과 물류</a:t>
            </a:r>
            <a:r>
              <a:rPr lang="en-US" altLang="ko-KR" sz="1600" dirty="0"/>
              <a:t>, </a:t>
            </a:r>
            <a:r>
              <a:rPr lang="ko-KR" altLang="en-US" sz="1600" dirty="0"/>
              <a:t>전환 및 활용</a:t>
            </a:r>
            <a:r>
              <a:rPr lang="en-US" altLang="ko-KR" sz="1600" dirty="0"/>
              <a:t>,</a:t>
            </a:r>
            <a:r>
              <a:rPr lang="ko-KR" altLang="en-US" sz="1600" dirty="0"/>
              <a:t> 그리고 최종판매로 구성된다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탐사와 채굴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첫단계로서</a:t>
            </a:r>
            <a:r>
              <a:rPr lang="ko-KR" altLang="en-US" sz="1600" dirty="0"/>
              <a:t> 지질학적 탐사를 하게 되며</a:t>
            </a:r>
            <a:r>
              <a:rPr lang="en-US" altLang="ko-KR" sz="1600" dirty="0"/>
              <a:t>, </a:t>
            </a:r>
            <a:r>
              <a:rPr lang="ko-KR" altLang="en-US" sz="1600" dirty="0"/>
              <a:t>위성영상</a:t>
            </a:r>
            <a:r>
              <a:rPr lang="en-US" altLang="ko-KR" sz="1600" dirty="0"/>
              <a:t>, </a:t>
            </a:r>
            <a:r>
              <a:rPr lang="ko-KR" altLang="en-US" sz="1600" dirty="0"/>
              <a:t>항공사진 분석</a:t>
            </a:r>
            <a:r>
              <a:rPr lang="en-US" altLang="ko-KR" sz="1600" dirty="0"/>
              <a:t>, </a:t>
            </a:r>
            <a:r>
              <a:rPr lang="ko-KR" altLang="en-US" sz="1600" dirty="0"/>
              <a:t>지표조사</a:t>
            </a:r>
            <a:r>
              <a:rPr lang="en-US" altLang="ko-KR" sz="1600" dirty="0"/>
              <a:t>, </a:t>
            </a:r>
            <a:r>
              <a:rPr lang="ko-KR" altLang="en-US" sz="1600" dirty="0"/>
              <a:t>물리탐사와 같은 예비조사에 이어 시추와 탄질분석을 통해 실제 탄층의 위치</a:t>
            </a:r>
            <a:r>
              <a:rPr lang="en-US" altLang="ko-KR" sz="1600" dirty="0"/>
              <a:t>, </a:t>
            </a:r>
            <a:r>
              <a:rPr lang="ko-KR" altLang="en-US" sz="1600" dirty="0"/>
              <a:t>두께</a:t>
            </a:r>
            <a:r>
              <a:rPr lang="en-US" altLang="ko-KR" sz="1600" dirty="0"/>
              <a:t>, </a:t>
            </a:r>
            <a:r>
              <a:rPr lang="ko-KR" altLang="en-US" sz="1600" dirty="0"/>
              <a:t>품질 및 연속성을 파악한다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석탄층이 확인되고 경제성이 확보되면 본격적인 채굴 단계로 들어간다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채굴 방식은 탄층의 깊이</a:t>
            </a:r>
            <a:r>
              <a:rPr lang="en-US" altLang="ko-KR" sz="1600" dirty="0"/>
              <a:t>, </a:t>
            </a:r>
            <a:r>
              <a:rPr lang="ko-KR" altLang="en-US" sz="1600" dirty="0"/>
              <a:t>두께</a:t>
            </a:r>
            <a:r>
              <a:rPr lang="en-US" altLang="ko-KR" sz="1600" dirty="0"/>
              <a:t>, </a:t>
            </a:r>
            <a:r>
              <a:rPr lang="ko-KR" altLang="en-US" sz="1600" dirty="0"/>
              <a:t>경사도</a:t>
            </a:r>
            <a:r>
              <a:rPr lang="en-US" altLang="ko-KR" sz="1600" dirty="0"/>
              <a:t>, </a:t>
            </a:r>
            <a:r>
              <a:rPr lang="ko-KR" altLang="en-US" sz="1600" dirty="0"/>
              <a:t>피복층의 조건</a:t>
            </a:r>
            <a:r>
              <a:rPr lang="en-US" altLang="ko-KR" sz="1600" dirty="0"/>
              <a:t>,</a:t>
            </a:r>
            <a:r>
              <a:rPr lang="ko-KR" altLang="en-US" sz="1600" dirty="0"/>
              <a:t> 지형 및 환경 규제 등 다양한 요인에 의해 결정된다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일반적으로 노천채굴은 지표면에서 가까운 얕은 탄층을 대상으로 하며</a:t>
            </a:r>
            <a:r>
              <a:rPr lang="en-US" altLang="ko-KR" sz="1600" dirty="0"/>
              <a:t>, </a:t>
            </a:r>
            <a:r>
              <a:rPr lang="ko-KR" altLang="en-US" sz="1600" dirty="0"/>
              <a:t>광범위한 기계화가 가능하고 단위 생산비용이 낮다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미국 서부</a:t>
            </a:r>
            <a:r>
              <a:rPr lang="en-US" altLang="ko-KR" sz="1600" dirty="0"/>
              <a:t>, </a:t>
            </a:r>
            <a:r>
              <a:rPr lang="ko-KR" altLang="en-US" sz="1600" dirty="0"/>
              <a:t>호주</a:t>
            </a:r>
            <a:r>
              <a:rPr lang="en-US" altLang="ko-KR" sz="1600" dirty="0"/>
              <a:t>, </a:t>
            </a:r>
            <a:r>
              <a:rPr lang="ko-KR" altLang="en-US" sz="1600" dirty="0"/>
              <a:t>인도네시아 등 광활한 토지가 확보된 지역에서 널리 활용된다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지하채굴은 탄층이 깊거나 지형적 제약이 있는 지역에서 선택된다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갱도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경사갱을</a:t>
            </a:r>
            <a:r>
              <a:rPr lang="ko-KR" altLang="en-US" sz="1600" dirty="0"/>
              <a:t> 통해 진입하고</a:t>
            </a:r>
            <a:r>
              <a:rPr lang="en-US" altLang="ko-KR" sz="1600" dirty="0"/>
              <a:t>, </a:t>
            </a:r>
            <a:r>
              <a:rPr lang="ko-KR" altLang="en-US" sz="1600" dirty="0"/>
              <a:t>채굴한 석탄을 컨베이어나 승강 시스템으로 지표면으로 운반한다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지하채굴은 상대적으로 고비용 구조이며</a:t>
            </a:r>
            <a:r>
              <a:rPr lang="en-US" altLang="ko-KR" sz="1600" dirty="0"/>
              <a:t>, </a:t>
            </a:r>
            <a:r>
              <a:rPr lang="ko-KR" altLang="en-US" sz="1600" dirty="0"/>
              <a:t>환기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붕괴 방지용 </a:t>
            </a:r>
            <a:r>
              <a:rPr lang="ko-KR" altLang="en-US" sz="1600" dirty="0" err="1"/>
              <a:t>지보공</a:t>
            </a:r>
            <a:r>
              <a:rPr lang="en-US" altLang="ko-KR" sz="1600" dirty="0"/>
              <a:t>, </a:t>
            </a:r>
            <a:r>
              <a:rPr lang="ko-KR" altLang="en-US" sz="1600" dirty="0"/>
              <a:t>채굴 후 복원 계획 등 안전 및 환경 요소에 대한 고려가 복잡하다</a:t>
            </a:r>
            <a:r>
              <a:rPr lang="en-US" altLang="ko-KR" sz="1600" dirty="0"/>
              <a:t>. 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채굴된 석탄은 이물질 제거</a:t>
            </a:r>
            <a:r>
              <a:rPr lang="en-US" altLang="ko-KR" sz="1600" dirty="0"/>
              <a:t>, </a:t>
            </a:r>
            <a:r>
              <a:rPr lang="ko-KR" altLang="en-US" sz="1600" dirty="0"/>
              <a:t>크기 분류</a:t>
            </a:r>
            <a:r>
              <a:rPr lang="en-US" altLang="ko-KR" sz="1600" dirty="0"/>
              <a:t>, </a:t>
            </a:r>
            <a:r>
              <a:rPr lang="ko-KR" altLang="en-US" sz="1600" dirty="0"/>
              <a:t>수분 조절 등을 위한 세정 및 </a:t>
            </a:r>
            <a:r>
              <a:rPr lang="ko-KR" altLang="en-US" sz="1600" dirty="0" err="1"/>
              <a:t>전처리</a:t>
            </a:r>
            <a:r>
              <a:rPr lang="ko-KR" altLang="en-US" sz="1600" dirty="0"/>
              <a:t> 단계를 거쳐 다음 단계로 이동한다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4035042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2DFC8F-C710-0528-FA35-08C6B3E36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87979C-6193-145D-A99C-4F9B4CB04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처리 및 세정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692672E-ADC6-D6DF-6DA2-D611CA5F89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18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D917C9A-4943-9580-2FF5-E19865F4DBC9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채굴된 원석탄은 토사</a:t>
            </a:r>
            <a:r>
              <a:rPr lang="en-US" altLang="ko-KR" sz="1600" dirty="0"/>
              <a:t>, </a:t>
            </a:r>
            <a:r>
              <a:rPr lang="ko-KR" altLang="en-US" sz="1600" dirty="0"/>
              <a:t>바위</a:t>
            </a:r>
            <a:r>
              <a:rPr lang="en-US" altLang="ko-KR" sz="1600" dirty="0"/>
              <a:t>, </a:t>
            </a:r>
            <a:r>
              <a:rPr lang="ko-KR" altLang="en-US" sz="1600" dirty="0"/>
              <a:t>점토</a:t>
            </a:r>
            <a:r>
              <a:rPr lang="en-US" altLang="ko-KR" sz="1600" dirty="0"/>
              <a:t>, </a:t>
            </a:r>
            <a:r>
              <a:rPr lang="ko-KR" altLang="en-US" sz="1600" dirty="0"/>
              <a:t>황 화합물 등 다양한 불순물을 포함하고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불순물은 석탄의 연소 효율을 저하시키고 대기오염을 유발하는 주요 원인이 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연료 품질을 향상시키고</a:t>
            </a:r>
            <a:r>
              <a:rPr lang="en-US" altLang="ko-KR" sz="1600" dirty="0"/>
              <a:t>, </a:t>
            </a:r>
            <a:r>
              <a:rPr lang="ko-KR" altLang="en-US" sz="1600" dirty="0"/>
              <a:t>환경 영향을 줄이기 위해서는 석탄세정 혹은 석탄준비라고 하는 정제 과정을 거쳐야 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세정은 물리적 방법을 통해 수행되며</a:t>
            </a:r>
            <a:r>
              <a:rPr lang="en-US" altLang="ko-KR" sz="1600" dirty="0"/>
              <a:t>, </a:t>
            </a:r>
            <a:r>
              <a:rPr lang="ko-KR" altLang="en-US" sz="1600" dirty="0"/>
              <a:t>석탄과 불순물 간의 밀도 차이를 활용하여 분리하는 방식이다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대표적인 방법으로는 중력 분리</a:t>
            </a:r>
            <a:r>
              <a:rPr lang="en-US" altLang="ko-KR" sz="1600" dirty="0"/>
              <a:t>, </a:t>
            </a:r>
            <a:r>
              <a:rPr lang="ko-KR" altLang="en-US" sz="1600" dirty="0"/>
              <a:t>사이클론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플로테이션</a:t>
            </a:r>
            <a:r>
              <a:rPr lang="ko-KR" altLang="en-US" sz="1600" dirty="0"/>
              <a:t> 공정 등이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기계적 처리는 석탄을 일정한 크기로 분쇄하고</a:t>
            </a:r>
            <a:r>
              <a:rPr lang="en-US" altLang="ko-KR" sz="1600" dirty="0"/>
              <a:t>, </a:t>
            </a:r>
            <a:r>
              <a:rPr lang="ko-KR" altLang="en-US" sz="1600" dirty="0"/>
              <a:t>크기별로 선별하는 과정을 포함한다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일부 </a:t>
            </a:r>
            <a:r>
              <a:rPr lang="ko-KR" altLang="en-US" sz="1600" dirty="0" err="1"/>
              <a:t>고황함유</a:t>
            </a:r>
            <a:r>
              <a:rPr lang="ko-KR" altLang="en-US" sz="1600" dirty="0"/>
              <a:t> 석탄의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화학적 처리를 통해 황을 제거하거나</a:t>
            </a:r>
            <a:r>
              <a:rPr lang="en-US" altLang="ko-KR" sz="1600" dirty="0"/>
              <a:t>, </a:t>
            </a:r>
            <a:r>
              <a:rPr lang="ko-KR" altLang="en-US" sz="1600" dirty="0"/>
              <a:t>황산화물 배출을 줄이기 위한 사전 조치가 이루어지기도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세정 과정을 통해 석탄의 발열량은 증가하고</a:t>
            </a:r>
            <a:r>
              <a:rPr lang="en-US" altLang="ko-KR" sz="1600" dirty="0"/>
              <a:t>, </a:t>
            </a:r>
            <a:r>
              <a:rPr lang="ko-KR" altLang="en-US" sz="1600" dirty="0"/>
              <a:t>회분 및 황 함량은 감소함으로써 연소 과정에서 발생하는 이산화황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미세먼지등의</a:t>
            </a:r>
            <a:r>
              <a:rPr lang="ko-KR" altLang="en-US" sz="1600" dirty="0"/>
              <a:t> 오염물질 배출량을 줄일 수 있다</a:t>
            </a:r>
            <a:r>
              <a:rPr lang="en-US" altLang="ko-KR" sz="160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세정이 완료된 석탄은 일반적으로 입자 크기별로 분류되고</a:t>
            </a:r>
            <a:r>
              <a:rPr lang="en-US" altLang="ko-KR" sz="1600" dirty="0"/>
              <a:t>, </a:t>
            </a:r>
            <a:r>
              <a:rPr lang="ko-KR" altLang="en-US" sz="1600" dirty="0"/>
              <a:t>용도별로 </a:t>
            </a:r>
            <a:r>
              <a:rPr lang="ko-KR" altLang="en-US" sz="1600" dirty="0" err="1"/>
              <a:t>등급화된다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입자가 큰 석탄은 코크스용</a:t>
            </a:r>
            <a:r>
              <a:rPr lang="en-US" altLang="ko-KR" sz="1600" dirty="0"/>
              <a:t>, </a:t>
            </a:r>
            <a:r>
              <a:rPr lang="ko-KR" altLang="en-US" sz="1600" dirty="0"/>
              <a:t>중간입자는 전력 발전용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세립탄은</a:t>
            </a:r>
            <a:r>
              <a:rPr lang="ko-KR" altLang="en-US" sz="1600" dirty="0"/>
              <a:t> 산업용 보일러 또는 가정용 난방으로 공급된다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3114073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6A5D0F-52DC-8C17-278B-C01AC6196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9B247A-38BC-1D04-0C2D-8831F1C0E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수송과 물류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D298B12-3289-7642-E92D-690AC3CF6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19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114A95C-65F7-1045-09EC-8B11A1978CED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석탄은 고체 연료로서 단위 부피당 에너지 밀도가 낮고 무게가 무거우며</a:t>
            </a:r>
            <a:r>
              <a:rPr lang="en-US" altLang="ko-KR" sz="1600" dirty="0"/>
              <a:t>, </a:t>
            </a:r>
            <a:r>
              <a:rPr lang="ko-KR" altLang="en-US" sz="1600" dirty="0"/>
              <a:t>일반적으로 생산지와 소비지가 지리적으로 멀기 때문에</a:t>
            </a:r>
            <a:r>
              <a:rPr lang="en-US" altLang="ko-KR" sz="1600" dirty="0"/>
              <a:t>, </a:t>
            </a:r>
            <a:r>
              <a:rPr lang="ko-KR" altLang="en-US" sz="1600" dirty="0"/>
              <a:t>수송비용이 전체 공급비용에서 차지하는 비중이 높다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수송에는 다양한 운송 수단이 활용되고</a:t>
            </a:r>
            <a:r>
              <a:rPr lang="en-US" altLang="ko-KR" sz="1600" dirty="0"/>
              <a:t>, </a:t>
            </a:r>
            <a:r>
              <a:rPr lang="ko-KR" altLang="en-US" sz="1600" dirty="0"/>
              <a:t>거리</a:t>
            </a:r>
            <a:r>
              <a:rPr lang="en-US" altLang="ko-KR" sz="1600" dirty="0"/>
              <a:t>, </a:t>
            </a:r>
            <a:r>
              <a:rPr lang="ko-KR" altLang="en-US" sz="1600" dirty="0"/>
              <a:t>지형 물류</a:t>
            </a:r>
            <a:r>
              <a:rPr lang="en-US" altLang="ko-KR" sz="1600" dirty="0"/>
              <a:t> </a:t>
            </a:r>
            <a:r>
              <a:rPr lang="ko-KR" altLang="en-US" sz="1600" dirty="0"/>
              <a:t>인프라</a:t>
            </a:r>
            <a:r>
              <a:rPr lang="en-US" altLang="ko-KR" sz="1600" dirty="0"/>
              <a:t> </a:t>
            </a:r>
            <a:r>
              <a:rPr lang="ko-KR" altLang="en-US" sz="1600" dirty="0"/>
              <a:t>등에 따라 선택이 달라진다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주요 방식으로 철도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벨트컨베이어</a:t>
            </a:r>
            <a:r>
              <a:rPr lang="en-US" altLang="ko-KR" sz="1600" dirty="0"/>
              <a:t>, </a:t>
            </a:r>
            <a:r>
              <a:rPr lang="ko-KR" altLang="en-US" sz="1600" dirty="0"/>
              <a:t>트럭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내륙수운</a:t>
            </a:r>
            <a:r>
              <a:rPr lang="en-US" altLang="ko-KR" sz="1600" dirty="0"/>
              <a:t>, </a:t>
            </a:r>
            <a:r>
              <a:rPr lang="ko-KR" altLang="en-US" sz="1600" dirty="0"/>
              <a:t>해상운송 등이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단거리 이송에는 트럭이나 컨베이어 벨트</a:t>
            </a:r>
            <a:r>
              <a:rPr lang="en-US" altLang="ko-KR" sz="1600" dirty="0"/>
              <a:t>, </a:t>
            </a:r>
            <a:r>
              <a:rPr lang="ko-KR" altLang="en-US" sz="1600" dirty="0"/>
              <a:t>장거리 이송에는 철도와 해상 수송이 일반적이다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>
                <a:hlinkClick r:id="rId2"/>
              </a:rPr>
              <a:t>https://www.youtube.com/watch?v=qmycB7l2Ia0</a:t>
            </a:r>
            <a:r>
              <a:rPr lang="ko-KR" altLang="en-US" sz="1600" dirty="0"/>
              <a:t>  </a:t>
            </a:r>
            <a:r>
              <a:rPr lang="en-US" altLang="ko-KR" sz="1600" dirty="0"/>
              <a:t>(</a:t>
            </a:r>
            <a:r>
              <a:rPr lang="ko-KR" altLang="en-US" sz="1600" dirty="0"/>
              <a:t>석탄 단거리 이송 및 자연발화</a:t>
            </a:r>
            <a:r>
              <a:rPr lang="en-US" altLang="ko-KR" sz="1600" dirty="0"/>
              <a:t> </a:t>
            </a:r>
            <a:r>
              <a:rPr lang="ko-KR" altLang="en-US" sz="1600" dirty="0"/>
              <a:t>관련 영상</a:t>
            </a:r>
            <a:r>
              <a:rPr lang="en-US" altLang="ko-KR" sz="1600" dirty="0"/>
              <a:t>)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미국의 경우 철도 운송이 전체 석탄 수송의 </a:t>
            </a:r>
            <a:r>
              <a:rPr lang="en-US" altLang="ko-KR" sz="1600" dirty="0"/>
              <a:t>70% </a:t>
            </a:r>
            <a:r>
              <a:rPr lang="ko-KR" altLang="en-US" sz="1600" dirty="0"/>
              <a:t>이상을 차지하며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파우더리버</a:t>
            </a:r>
            <a:r>
              <a:rPr lang="ko-KR" altLang="en-US" sz="1600" dirty="0"/>
              <a:t> 분지에서 대형 발전소까지 장거리 이송을 위한 철도망이 정교하게 구축되어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인도네시아나 호주는 해상 수출을 위한 대형 항만시설과 연결된 물류 인프라가 중심이며</a:t>
            </a:r>
            <a:r>
              <a:rPr lang="en-US" altLang="ko-KR" sz="1600" dirty="0"/>
              <a:t>, </a:t>
            </a:r>
            <a:r>
              <a:rPr lang="ko-KR" altLang="en-US" sz="1600" dirty="0"/>
              <a:t>광산에서 항만까지의 연결성을 최적화하는데 초점을 둔다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수송단계에서는 경제성뿐 아니라 연료의 품질 유지가 중요한 고려사항이다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석탄은 수송 중 분진 발생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열손실</a:t>
            </a:r>
            <a:r>
              <a:rPr lang="en-US" altLang="ko-KR" sz="1600" dirty="0"/>
              <a:t>, </a:t>
            </a:r>
            <a:r>
              <a:rPr lang="ko-KR" altLang="en-US" sz="1600" dirty="0"/>
              <a:t>습기 흡수로 인해 발열량이 저하 될 수 있고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자발연</a:t>
            </a:r>
            <a:r>
              <a:rPr lang="ko-KR" altLang="en-US" sz="1600" dirty="0"/>
              <a:t> 위험도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손실을 방지하기 위해 적재</a:t>
            </a:r>
            <a:r>
              <a:rPr lang="en-US" altLang="ko-KR" sz="1600" dirty="0"/>
              <a:t>·</a:t>
            </a:r>
            <a:r>
              <a:rPr lang="ko-KR" altLang="en-US" sz="1600" dirty="0"/>
              <a:t>피복</a:t>
            </a:r>
            <a:r>
              <a:rPr lang="en-US" altLang="ko-KR" sz="1600" dirty="0"/>
              <a:t>·</a:t>
            </a:r>
            <a:r>
              <a:rPr lang="ko-KR" altLang="en-US" sz="1600" dirty="0"/>
              <a:t>환기 전략이 병행되어야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20724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16D5A-2A2F-B81C-F7CB-15757CF87D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3B01AC-0FB1-91A1-DD98-B130DBE10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전환과 활용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81637A-55E1-2C77-342B-325307B473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F4664C-9B64-CEBB-17CA-5BE8D94E653C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92075">
              <a:lnSpc>
                <a:spcPct val="150000"/>
              </a:lnSpc>
            </a:pPr>
            <a:r>
              <a:rPr lang="ko-KR" altLang="en-US" sz="1600" u="sng" dirty="0">
                <a:ln w="3175">
                  <a:noFill/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전환과 활용</a:t>
            </a:r>
            <a:endParaRPr lang="en-US" altLang="ko-KR" sz="1600" u="sng" dirty="0">
              <a:ln w="3175">
                <a:noFill/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주요 활용처는 전력 생산과 철강 산업으로</a:t>
            </a:r>
            <a:r>
              <a:rPr lang="en-US" altLang="ko-KR" sz="1600" dirty="0"/>
              <a:t>, </a:t>
            </a:r>
            <a:r>
              <a:rPr lang="ko-KR" altLang="en-US" sz="1600" dirty="0"/>
              <a:t>이 두 부문이 전체 석탄 수요의 대부분을 차지하고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전력부문에서는 석탄이 연소 과정을 통해 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고압의 증기를 생성하고</a:t>
            </a:r>
            <a:r>
              <a:rPr lang="en-US" altLang="ko-KR" sz="1600" dirty="0"/>
              <a:t>, </a:t>
            </a:r>
            <a:r>
              <a:rPr lang="ko-KR" altLang="en-US" sz="1600" dirty="0"/>
              <a:t>이 증기로 증기터빈을 회전시켜 전기를 생산하는 방식이 일반적이다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이를 석탄화력 발전이라고 하며</a:t>
            </a:r>
            <a:r>
              <a:rPr lang="en-US" altLang="ko-KR" sz="1600" dirty="0"/>
              <a:t>, </a:t>
            </a:r>
            <a:r>
              <a:rPr lang="ko-KR" altLang="en-US" sz="1600" dirty="0"/>
              <a:t>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인도네시아와 같은 개발도상국에서는 석탄 발전이 여전히 전력 공급의 주축을 이루고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안보와 경제성 측면에서 중요한 위치를 차지하고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>
                <a:hlinkClick r:id="rId2"/>
              </a:rPr>
              <a:t>https://youtu.be/EfXCVfnWyWk?si=16SJhThLYQvx8WDP</a:t>
            </a:r>
            <a:r>
              <a:rPr lang="ko-KR" altLang="en-US" sz="1600" dirty="0"/>
              <a:t>  </a:t>
            </a:r>
            <a:r>
              <a:rPr lang="en-US" altLang="ko-KR" sz="1600" dirty="0"/>
              <a:t>(</a:t>
            </a:r>
            <a:r>
              <a:rPr lang="ko-KR" altLang="en-US" sz="1600" dirty="0"/>
              <a:t>화력발전소 작동 원리</a:t>
            </a:r>
            <a:r>
              <a:rPr lang="en-US" altLang="ko-KR" sz="160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철강산업에서는 필수적인 에너지원이자 환원제로 사용된다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역청탄은 </a:t>
            </a:r>
            <a:r>
              <a:rPr lang="ko-KR" altLang="en-US" sz="1600" dirty="0" err="1"/>
              <a:t>코킹</a:t>
            </a:r>
            <a:r>
              <a:rPr lang="ko-KR" altLang="en-US" sz="1600" dirty="0"/>
              <a:t> 과정을 거쳐 코크스로 전환되며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용광로에서 철광석을 환원시켜 쇳물을 생산하는 데 핵심적인 역할을 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코크스는 단순한 열원 이상의 역할을 하며</a:t>
            </a:r>
            <a:r>
              <a:rPr lang="en-US" altLang="ko-KR" sz="1600" dirty="0"/>
              <a:t>, </a:t>
            </a:r>
            <a:r>
              <a:rPr lang="ko-KR" altLang="en-US" sz="1600" dirty="0"/>
              <a:t>고온 유지</a:t>
            </a:r>
            <a:r>
              <a:rPr lang="en-US" altLang="ko-KR" sz="1600" dirty="0"/>
              <a:t>, </a:t>
            </a:r>
            <a:r>
              <a:rPr lang="ko-KR" altLang="en-US" sz="1600" dirty="0"/>
              <a:t>가스 투과성 확보</a:t>
            </a:r>
            <a:r>
              <a:rPr lang="en-US" altLang="ko-KR" sz="1600" dirty="0"/>
              <a:t>, </a:t>
            </a:r>
            <a:r>
              <a:rPr lang="ko-KR" altLang="en-US" sz="1600" dirty="0"/>
              <a:t>환원 반응 유도 등 다기능성 물질로 활용된다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용광로 기반 제철공정에서는 고품질 코크스 공급이 생산성과 직결된다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9556430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315ED4-EF61-75B1-069E-AA99B1BD9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33FE562-92A3-95D4-03DE-AD56DA191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전환과 활용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4E4C45-DC1F-C6A8-50C7-CBCF98BBD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FCB0206-CB69-CFCF-A12B-DB0EAAE63989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 외에도 석탄은 가스화 및 액화 등의 전환 기술을 통해 합성가스</a:t>
            </a:r>
            <a:r>
              <a:rPr lang="en-US" altLang="ko-KR" sz="1600" dirty="0"/>
              <a:t>, </a:t>
            </a:r>
            <a:r>
              <a:rPr lang="ko-KR" altLang="en-US" sz="1600" dirty="0"/>
              <a:t>화학제품</a:t>
            </a:r>
            <a:r>
              <a:rPr lang="en-US" altLang="ko-KR" sz="1600" dirty="0"/>
              <a:t>, </a:t>
            </a:r>
            <a:r>
              <a:rPr lang="ko-KR" altLang="en-US" sz="1600" dirty="0"/>
              <a:t>액체연료 등으로도 활용될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석탄가스화는 산소와 수증기 하에서 석탄을 불완전 연소시켜 일산화탄소와 수소를 생성하는 과정이다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 합성가스는 발전</a:t>
            </a:r>
            <a:r>
              <a:rPr lang="en-US" altLang="ko-KR" sz="1600" dirty="0"/>
              <a:t>, </a:t>
            </a:r>
            <a:r>
              <a:rPr lang="ko-KR" altLang="en-US" sz="1600" dirty="0"/>
              <a:t>수소 생산</a:t>
            </a:r>
            <a:r>
              <a:rPr lang="en-US" altLang="ko-KR" sz="1600" dirty="0"/>
              <a:t>, </a:t>
            </a:r>
            <a:r>
              <a:rPr lang="ko-KR" altLang="en-US" sz="1600" dirty="0"/>
              <a:t>화학 원료 등 다양한 용도로 사용될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석탄액화는 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 조건에서 석탄을 직접 또는 간접적으로 액체연료로 전환하는 기술이다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액체연료 수입 의존도가 높은 국가에서 에너지 안보 수단으로 활용될 수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이러한 석탄의 전환기술은 고비용</a:t>
            </a:r>
            <a:r>
              <a:rPr lang="en-US" altLang="ko-KR" sz="1600" dirty="0"/>
              <a:t>, </a:t>
            </a:r>
            <a:r>
              <a:rPr lang="ko-KR" altLang="en-US" sz="1600" dirty="0"/>
              <a:t>기술 복잡성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소비량이 크며</a:t>
            </a:r>
            <a:r>
              <a:rPr lang="en-US" altLang="ko-KR" sz="1600" dirty="0"/>
              <a:t>, </a:t>
            </a:r>
            <a:r>
              <a:rPr lang="ko-KR" altLang="en-US" sz="1600" dirty="0"/>
              <a:t>무엇보다도 이산화탄소 배출</a:t>
            </a:r>
            <a:r>
              <a:rPr lang="en-US" altLang="ko-KR" sz="1600" dirty="0"/>
              <a:t>, </a:t>
            </a:r>
            <a:r>
              <a:rPr lang="ko-KR" altLang="en-US" sz="1600" dirty="0"/>
              <a:t>폐수 및 고형폐기물 발생 등의 환경문제로 상업적 활용이 제한적이다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기후변화 대응이 국제적 의무로 자리잡은 이후에는 석탄 전환 기술의 상용화는 </a:t>
            </a:r>
            <a:r>
              <a:rPr lang="ko-KR" altLang="en-US" sz="1600" dirty="0" err="1"/>
              <a:t>탄소포집</a:t>
            </a:r>
            <a:r>
              <a:rPr lang="en-US" altLang="ko-KR" sz="1600" dirty="0"/>
              <a:t>·</a:t>
            </a:r>
            <a:r>
              <a:rPr lang="ko-KR" altLang="en-US" sz="1600" dirty="0"/>
              <a:t>저장 기술과의 연계 없이는 확장되기 어려운 상황이다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7537265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F516A-30EF-5EE6-8D04-32415C321E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96295E-9343-4F74-2074-0CFD49D183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판매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EC1FA6-7CD5-422D-1E44-D1D5E82160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22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CDB8E2-9DF9-B62E-BE95-B32FC3361710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주요 구매자는 화력발전소</a:t>
            </a:r>
            <a:r>
              <a:rPr lang="en-US" altLang="ko-KR" sz="1600" dirty="0"/>
              <a:t>, </a:t>
            </a:r>
            <a:r>
              <a:rPr lang="ko-KR" altLang="en-US" sz="1600" dirty="0"/>
              <a:t>제철소</a:t>
            </a:r>
            <a:r>
              <a:rPr lang="en-US" altLang="ko-KR" sz="1600" dirty="0"/>
              <a:t>, </a:t>
            </a:r>
            <a:r>
              <a:rPr lang="ko-KR" altLang="en-US" sz="1600" dirty="0"/>
              <a:t>시멘트 공장</a:t>
            </a:r>
            <a:r>
              <a:rPr lang="en-US" altLang="ko-KR" sz="1600" dirty="0"/>
              <a:t>, </a:t>
            </a:r>
            <a:r>
              <a:rPr lang="ko-KR" altLang="en-US" sz="1600" dirty="0"/>
              <a:t>산업용 보일러 시설 등으로 구성되며</a:t>
            </a:r>
            <a:r>
              <a:rPr lang="en-US" altLang="ko-KR" sz="1600" dirty="0"/>
              <a:t>, </a:t>
            </a:r>
            <a:r>
              <a:rPr lang="ko-KR" altLang="en-US" sz="1600" dirty="0"/>
              <a:t>판매는 일반적으로 직접 계약 또는 중개인을 통한 상업 거래 방식으로 이루어진다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거래는 일정 물량을 장기간에 걸쳐 공급하는 장기계약 형태로 체결되기도 하며</a:t>
            </a:r>
            <a:r>
              <a:rPr lang="en-US" altLang="ko-KR" sz="1600" dirty="0"/>
              <a:t>, </a:t>
            </a:r>
            <a:r>
              <a:rPr lang="ko-KR" altLang="en-US" sz="1600" dirty="0"/>
              <a:t>시장 가격 변동에 따라 수시로 조정되는 단기 현물거래를 병행하는 경우도 많다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단기거래는 국제 시황에 민감하게 반응하며</a:t>
            </a:r>
            <a:r>
              <a:rPr lang="en-US" altLang="ko-KR" sz="1600" dirty="0"/>
              <a:t>, </a:t>
            </a:r>
            <a:r>
              <a:rPr lang="ko-KR" altLang="en-US" sz="1600" dirty="0"/>
              <a:t>계절 수요</a:t>
            </a:r>
            <a:r>
              <a:rPr lang="en-US" altLang="ko-KR" sz="1600" dirty="0"/>
              <a:t>, </a:t>
            </a:r>
            <a:r>
              <a:rPr lang="ko-KR" altLang="en-US" sz="1600" dirty="0"/>
              <a:t>해상물류 상황</a:t>
            </a:r>
            <a:r>
              <a:rPr lang="en-US" altLang="ko-KR" sz="1600" dirty="0"/>
              <a:t>, </a:t>
            </a:r>
            <a:r>
              <a:rPr lang="ko-KR" altLang="en-US" sz="1600" dirty="0"/>
              <a:t>환율 등에 영향을 받는다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가격은 여러 요인에 영향을 반영하여 결정되는데</a:t>
            </a:r>
            <a:r>
              <a:rPr lang="en-US" altLang="ko-KR" sz="1600" dirty="0"/>
              <a:t>, </a:t>
            </a:r>
            <a:r>
              <a:rPr lang="ko-KR" altLang="en-US" sz="1600" dirty="0"/>
              <a:t>가장 중요한 기준은 석탄의 발열량이다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발열량이 높을수록 더 높은 가격을 형성하지만</a:t>
            </a:r>
            <a:r>
              <a:rPr lang="en-US" altLang="ko-KR" sz="1600" dirty="0"/>
              <a:t>, </a:t>
            </a:r>
            <a:r>
              <a:rPr lang="ko-KR" altLang="en-US" sz="1600" dirty="0"/>
              <a:t>황과 회분 함량</a:t>
            </a:r>
            <a:r>
              <a:rPr lang="en-US" altLang="ko-KR" sz="1600" dirty="0"/>
              <a:t>, </a:t>
            </a:r>
            <a:r>
              <a:rPr lang="ko-KR" altLang="en-US" sz="1600" dirty="0"/>
              <a:t>수분 함량</a:t>
            </a:r>
            <a:r>
              <a:rPr lang="en-US" altLang="ko-KR" sz="1600" dirty="0"/>
              <a:t>, </a:t>
            </a:r>
            <a:r>
              <a:rPr lang="ko-KR" altLang="en-US" sz="1600" dirty="0"/>
              <a:t>입자 크기와 </a:t>
            </a:r>
            <a:r>
              <a:rPr lang="ko-KR" altLang="en-US" sz="1600" dirty="0" err="1"/>
              <a:t>균일성</a:t>
            </a:r>
            <a:r>
              <a:rPr lang="ko-KR" altLang="en-US" sz="1600" dirty="0"/>
              <a:t> 등도 중요한 가격 결정 변수로 작용한다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예컨대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고황</a:t>
            </a:r>
            <a:r>
              <a:rPr lang="ko-KR" altLang="en-US" sz="1600" dirty="0"/>
              <a:t> 석탄은 연소 시 이산화황 배출이 많아 환경규제 대응 비용이 크기 때문에 시장에서 할인되어 거래되며</a:t>
            </a:r>
            <a:r>
              <a:rPr lang="en-US" altLang="ko-KR" sz="1600" dirty="0"/>
              <a:t>, </a:t>
            </a:r>
            <a:r>
              <a:rPr lang="ko-KR" altLang="en-US" sz="1600" dirty="0"/>
              <a:t>반대로 </a:t>
            </a:r>
            <a:r>
              <a:rPr lang="ko-KR" altLang="en-US" sz="1600" dirty="0" err="1"/>
              <a:t>저황</a:t>
            </a:r>
            <a:r>
              <a:rPr lang="en-US" altLang="ko-KR" sz="1600" dirty="0"/>
              <a:t>·</a:t>
            </a:r>
            <a:r>
              <a:rPr lang="ko-KR" altLang="en-US" sz="1600" dirty="0" err="1"/>
              <a:t>고발열</a:t>
            </a:r>
            <a:r>
              <a:rPr lang="ko-KR" altLang="en-US" sz="1600" dirty="0"/>
              <a:t> 석탄은 상대적으로 프리미엄이 붙는 경향이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수송 거리와 방식 또한 중요한 변수로</a:t>
            </a:r>
            <a:r>
              <a:rPr lang="en-US" altLang="ko-KR" sz="1600" dirty="0"/>
              <a:t>, FOB(Free On Board</a:t>
            </a:r>
            <a:r>
              <a:rPr lang="ko-KR" altLang="en-US" sz="1600" dirty="0"/>
              <a:t>본선 인도</a:t>
            </a:r>
            <a:r>
              <a:rPr lang="en-US" altLang="ko-KR" sz="1600" dirty="0"/>
              <a:t>) </a:t>
            </a:r>
            <a:r>
              <a:rPr lang="ko-KR" altLang="en-US" sz="1600" dirty="0"/>
              <a:t>조건에서는 운송 비용은 구매자가 부담하고</a:t>
            </a:r>
            <a:r>
              <a:rPr lang="en-US" altLang="ko-KR" sz="1600" dirty="0"/>
              <a:t>, CIF(Cost, Insurance, Freight) </a:t>
            </a:r>
            <a:r>
              <a:rPr lang="ko-KR" altLang="en-US" sz="1600" dirty="0"/>
              <a:t>조건에서는 판매자가 물류 부담을 지게 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/>
              <a:t>단순한 가격 협상 외에도 품질 보증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규격 인증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환경규제 대응 등 다양한 기술적</a:t>
            </a:r>
            <a:r>
              <a:rPr lang="en-US" altLang="ko-KR" sz="1600" spc="-100" dirty="0"/>
              <a:t>·</a:t>
            </a:r>
            <a:r>
              <a:rPr lang="ko-KR" altLang="en-US" sz="1600" spc="-100" dirty="0"/>
              <a:t>행정적 요소가 함께 고려되어야 한다</a:t>
            </a:r>
            <a:r>
              <a:rPr lang="en-US" altLang="ko-KR" sz="1600" spc="-1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spc="-100" dirty="0"/>
              <a:t>최근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석탄 구매자는 공급자의 </a:t>
            </a:r>
            <a:r>
              <a:rPr lang="en-US" altLang="ko-KR" sz="1600" spc="-100" dirty="0"/>
              <a:t>ESG</a:t>
            </a:r>
            <a:r>
              <a:rPr lang="ko-KR" altLang="en-US" sz="1600" spc="-100" dirty="0"/>
              <a:t>기준 충족 수준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지역사회 영향</a:t>
            </a:r>
            <a:r>
              <a:rPr lang="en-US" altLang="ko-KR" sz="1600" spc="-100" dirty="0"/>
              <a:t>, </a:t>
            </a:r>
            <a:r>
              <a:rPr lang="ko-KR" altLang="en-US" sz="1600" spc="-100" dirty="0"/>
              <a:t>탄소배출 정보 등 다양한 측면을 요구하고 있다</a:t>
            </a:r>
            <a:r>
              <a:rPr lang="en-US" altLang="ko-KR" sz="1600" spc="-1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3529414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4106BA-CD23-77D7-D3A4-1B408595E2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D126A6-8396-4FEE-99E9-9DF1F6D345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철광석에서 강철까지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5DD5313-7842-D515-3D30-1CFE16564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457A66F8-16C3-7169-E9F1-5F2DF01A18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14375" y="2527198"/>
            <a:ext cx="10763250" cy="1041605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CBB53B0E-4230-AD69-F82D-55B345815247}"/>
              </a:ext>
            </a:extLst>
          </p:cNvPr>
          <p:cNvSpPr>
            <a:spLocks noGrp="1"/>
          </p:cNvSpPr>
          <p:nvPr/>
        </p:nvSpPr>
        <p:spPr>
          <a:xfrm>
            <a:off x="571500" y="4400550"/>
            <a:ext cx="2143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22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원료 준비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1E6C549-65E4-3D23-2B97-666144BD7B2A}"/>
              </a:ext>
            </a:extLst>
          </p:cNvPr>
          <p:cNvSpPr>
            <a:spLocks noGrp="1"/>
          </p:cNvSpPr>
          <p:nvPr/>
        </p:nvSpPr>
        <p:spPr>
          <a:xfrm>
            <a:off x="571500" y="4953000"/>
            <a:ext cx="2143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17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 dirty="0" err="1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철광석·코크스</a:t>
            </a:r>
            <a:endParaRPr lang="en-US" sz="1725" b="0" dirty="0">
              <a:solidFill>
                <a:srgbClr val="17344F"/>
              </a:solidFill>
              <a:latin typeface="Noto Sans KR"/>
              <a:ea typeface="Noto Sans KR"/>
              <a:cs typeface="Noto Sans KR"/>
            </a:endParaRPr>
          </a:p>
          <a:p>
            <a:pPr>
              <a:defRPr sz="17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lang="ko-KR" altLang="en-US" sz="1725" dirty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석회석</a:t>
            </a:r>
            <a:endParaRPr sz="1725" b="0" dirty="0">
              <a:solidFill>
                <a:srgbClr val="17344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0CBB8EE0-8F74-EF01-E72A-B96B9DF7E84D}"/>
              </a:ext>
            </a:extLst>
          </p:cNvPr>
          <p:cNvSpPr>
            <a:spLocks noGrp="1"/>
          </p:cNvSpPr>
          <p:nvPr/>
        </p:nvSpPr>
        <p:spPr>
          <a:xfrm>
            <a:off x="2867025" y="4400550"/>
            <a:ext cx="2143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D96524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2250" b="1">
                <a:solidFill>
                  <a:srgbClr val="D96524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D96524"/>
                </a:solidFill>
                <a:latin typeface="Noto Sans KR"/>
                <a:ea typeface="Noto Sans KR"/>
                <a:cs typeface="Noto Sans KR"/>
              </a:rPr>
              <a:t>제선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9BF99FE-B4EA-AB23-8D41-100F5599B1A1}"/>
              </a:ext>
            </a:extLst>
          </p:cNvPr>
          <p:cNvSpPr>
            <a:spLocks noGrp="1"/>
          </p:cNvSpPr>
          <p:nvPr/>
        </p:nvSpPr>
        <p:spPr>
          <a:xfrm>
            <a:off x="2867025" y="4953000"/>
            <a:ext cx="2143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17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산소 제거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ACFFF595-F43A-066B-A854-6CE852180221}"/>
              </a:ext>
            </a:extLst>
          </p:cNvPr>
          <p:cNvSpPr>
            <a:spLocks noGrp="1"/>
          </p:cNvSpPr>
          <p:nvPr/>
        </p:nvSpPr>
        <p:spPr>
          <a:xfrm>
            <a:off x="5162550" y="4400550"/>
            <a:ext cx="2143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D96524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2250" b="1">
                <a:solidFill>
                  <a:srgbClr val="D96524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D96524"/>
                </a:solidFill>
                <a:latin typeface="Noto Sans KR"/>
                <a:ea typeface="Noto Sans KR"/>
                <a:cs typeface="Noto Sans KR"/>
              </a:rPr>
              <a:t>제강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30387FF2-A024-F3B3-1CC4-E53693C5D556}"/>
              </a:ext>
            </a:extLst>
          </p:cNvPr>
          <p:cNvSpPr>
            <a:spLocks noGrp="1"/>
          </p:cNvSpPr>
          <p:nvPr/>
        </p:nvSpPr>
        <p:spPr>
          <a:xfrm>
            <a:off x="5162550" y="4953000"/>
            <a:ext cx="2143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17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성분 조절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A66B55C9-2F3E-BFF8-16B0-D659ECDF716E}"/>
              </a:ext>
            </a:extLst>
          </p:cNvPr>
          <p:cNvSpPr>
            <a:spLocks noGrp="1"/>
          </p:cNvSpPr>
          <p:nvPr/>
        </p:nvSpPr>
        <p:spPr>
          <a:xfrm>
            <a:off x="7458075" y="4400550"/>
            <a:ext cx="2143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22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연속주조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3F4B48A7-451F-64B8-58D4-7DF3A39EEAED}"/>
              </a:ext>
            </a:extLst>
          </p:cNvPr>
          <p:cNvSpPr>
            <a:spLocks noGrp="1"/>
          </p:cNvSpPr>
          <p:nvPr/>
        </p:nvSpPr>
        <p:spPr>
          <a:xfrm>
            <a:off x="7458075" y="4953000"/>
            <a:ext cx="2143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17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반제품 생산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DEC6961-3B1C-8453-4B1B-DA606F98FB10}"/>
              </a:ext>
            </a:extLst>
          </p:cNvPr>
          <p:cNvSpPr>
            <a:spLocks noGrp="1"/>
          </p:cNvSpPr>
          <p:nvPr/>
        </p:nvSpPr>
        <p:spPr>
          <a:xfrm>
            <a:off x="9753600" y="4400550"/>
            <a:ext cx="2143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2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22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22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압연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1CEAD85-D941-AE41-FE7E-85386E97CC1F}"/>
              </a:ext>
            </a:extLst>
          </p:cNvPr>
          <p:cNvSpPr>
            <a:spLocks noGrp="1"/>
          </p:cNvSpPr>
          <p:nvPr/>
        </p:nvSpPr>
        <p:spPr>
          <a:xfrm>
            <a:off x="9753600" y="4953000"/>
            <a:ext cx="2143125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7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17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17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모양 가공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776308-F068-0767-84E1-CA79E3167E0B}"/>
              </a:ext>
            </a:extLst>
          </p:cNvPr>
          <p:cNvSpPr txBox="1"/>
          <p:nvPr/>
        </p:nvSpPr>
        <p:spPr>
          <a:xfrm>
            <a:off x="288790" y="958844"/>
            <a:ext cx="11118453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원재료인 철광석에서 산소를 제거하고</a:t>
            </a:r>
            <a:r>
              <a:rPr lang="en-US" altLang="ko-KR" sz="1600" dirty="0"/>
              <a:t>, </a:t>
            </a:r>
            <a:r>
              <a:rPr lang="ko-KR" altLang="en-US" sz="1600" dirty="0"/>
              <a:t>성분을 조절하여</a:t>
            </a:r>
            <a:r>
              <a:rPr lang="en-US" altLang="ko-KR" sz="1600" dirty="0"/>
              <a:t>, </a:t>
            </a:r>
            <a:r>
              <a:rPr lang="ko-KR" altLang="en-US" sz="1600" dirty="0"/>
              <a:t>모양을 만들어 우리가 쓰는 철을 생산하게 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488723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D746A5-A2D3-7B30-A750-ADE77E5D44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384C01-7460-3F27-2881-24B853FD8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원료준비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5FB27E2-7146-031D-5A4C-AAA25E67D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24</a:t>
            </a:fld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43F0042-360C-C7D6-0524-4AE321BE90C4}"/>
              </a:ext>
            </a:extLst>
          </p:cNvPr>
          <p:cNvSpPr txBox="1"/>
          <p:nvPr/>
        </p:nvSpPr>
        <p:spPr>
          <a:xfrm>
            <a:off x="288790" y="958844"/>
            <a:ext cx="11118453" cy="414024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강철 생산을 위한 원료이자 연료인 코크스는 역청탄을 공기가 없는 상태에서 가열해 만든 물질이다</a:t>
            </a:r>
            <a:r>
              <a:rPr lang="en-US" altLang="ko-KR" sz="1600" dirty="0"/>
              <a:t>.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DFF35066-3668-E1AB-9E17-6F2EE4D83D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19125" y="1936238"/>
            <a:ext cx="10953750" cy="1366274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33235F90-00B4-C0B0-445F-9AB052BC6C16}"/>
              </a:ext>
            </a:extLst>
          </p:cNvPr>
          <p:cNvSpPr>
            <a:spLocks noGrp="1"/>
          </p:cNvSpPr>
          <p:nvPr/>
        </p:nvSpPr>
        <p:spPr>
          <a:xfrm>
            <a:off x="666750" y="3714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25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철광석</a:t>
            </a: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FB351243-CBA0-ACAD-FF17-CFBD07DBA3E2}"/>
              </a:ext>
            </a:extLst>
          </p:cNvPr>
          <p:cNvSpPr>
            <a:spLocks noGrp="1"/>
          </p:cNvSpPr>
          <p:nvPr/>
        </p:nvSpPr>
        <p:spPr>
          <a:xfrm>
            <a:off x="666750" y="4333875"/>
            <a:ext cx="34290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1950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철을 공급하는 원료</a:t>
            </a:r>
          </a:p>
          <a:p>
            <a:pPr>
              <a:defRPr sz="1950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소결광·펠릿 등으로 준비</a:t>
            </a: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2145F027-9F78-11F9-8105-101BC254AD0C}"/>
              </a:ext>
            </a:extLst>
          </p:cNvPr>
          <p:cNvSpPr>
            <a:spLocks noGrp="1"/>
          </p:cNvSpPr>
          <p:nvPr/>
        </p:nvSpPr>
        <p:spPr>
          <a:xfrm>
            <a:off x="4495800" y="3714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25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코크스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86A47198-97E1-DA0B-2326-F0393C104D16}"/>
              </a:ext>
            </a:extLst>
          </p:cNvPr>
          <p:cNvSpPr>
            <a:spLocks noGrp="1"/>
          </p:cNvSpPr>
          <p:nvPr/>
        </p:nvSpPr>
        <p:spPr>
          <a:xfrm>
            <a:off x="4495800" y="4333875"/>
            <a:ext cx="34290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1950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열과 환원제를 공급</a:t>
            </a:r>
          </a:p>
          <a:p>
            <a:pPr>
              <a:defRPr sz="1950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원료를 받치고 가스 통로 유지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BC6A77BB-2D68-2211-797C-1738A3A9C79A}"/>
              </a:ext>
            </a:extLst>
          </p:cNvPr>
          <p:cNvSpPr>
            <a:spLocks noGrp="1"/>
          </p:cNvSpPr>
          <p:nvPr/>
        </p:nvSpPr>
        <p:spPr>
          <a:xfrm>
            <a:off x="8324850" y="3714750"/>
            <a:ext cx="3429000" cy="52387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5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25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255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석회석</a:t>
            </a: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F6BE1680-7632-C7E0-61B6-FE99AB184D07}"/>
              </a:ext>
            </a:extLst>
          </p:cNvPr>
          <p:cNvSpPr>
            <a:spLocks noGrp="1"/>
          </p:cNvSpPr>
          <p:nvPr/>
        </p:nvSpPr>
        <p:spPr>
          <a:xfrm>
            <a:off x="8324850" y="4333875"/>
            <a:ext cx="3429000" cy="10477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950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1950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불순물 분리를 도움</a:t>
            </a:r>
          </a:p>
          <a:p>
            <a:pPr>
              <a:defRPr sz="1950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1950" b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슬래그 형성에 기여</a:t>
            </a:r>
          </a:p>
        </p:txBody>
      </p:sp>
    </p:spTree>
    <p:extLst>
      <p:ext uri="{BB962C8B-B14F-4D97-AF65-F5344CB8AC3E}">
        <p14:creationId xmlns:p14="http://schemas.microsoft.com/office/powerpoint/2010/main" val="10310068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635F3-EB74-6E7B-9438-FBF1CCB22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7555B-7364-3C9C-2EAE-76A0AF977F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제선</a:t>
            </a:r>
            <a:r>
              <a:rPr lang="en-US" altLang="ko-KR" dirty="0"/>
              <a:t>: </a:t>
            </a:r>
            <a:r>
              <a:rPr lang="ko-KR" altLang="en-US" dirty="0"/>
              <a:t>고로에서 쇳물 만들기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49254BA-4215-A9D9-620B-D647731A7A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25</a:t>
            </a:fld>
            <a:endParaRPr lang="ko-KR" alt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F80AC90-6A3A-39E3-1F72-8D51BF2DC838}"/>
              </a:ext>
            </a:extLst>
          </p:cNvPr>
          <p:cNvSpPr txBox="1"/>
          <p:nvPr/>
        </p:nvSpPr>
        <p:spPr>
          <a:xfrm>
            <a:off x="288791" y="958844"/>
            <a:ext cx="7043582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/>
              <a:t>철광석</a:t>
            </a:r>
            <a:r>
              <a:rPr lang="en-US" altLang="ko-KR" sz="1600" dirty="0"/>
              <a:t>,</a:t>
            </a:r>
            <a:r>
              <a:rPr lang="ko-KR" altLang="en-US" sz="1600" dirty="0"/>
              <a:t> 코크스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석회석를</a:t>
            </a:r>
            <a:r>
              <a:rPr lang="ko-KR" altLang="en-US" sz="1600" dirty="0"/>
              <a:t> 투입하고</a:t>
            </a:r>
            <a:r>
              <a:rPr lang="en-US" altLang="ko-KR" sz="1600" dirty="0"/>
              <a:t>, </a:t>
            </a:r>
            <a:r>
              <a:rPr lang="ko-KR" altLang="en-US" sz="1600" dirty="0"/>
              <a:t>뜨거운 공기를 공급한다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코크스가 뜨거운 공기에 반응하여</a:t>
            </a:r>
            <a:r>
              <a:rPr lang="en-US" altLang="ko-KR" sz="1600" dirty="0"/>
              <a:t>, </a:t>
            </a:r>
            <a:r>
              <a:rPr lang="ko-KR" altLang="en-US" sz="1600" dirty="0"/>
              <a:t>열과 </a:t>
            </a:r>
            <a:r>
              <a:rPr lang="en-US" altLang="ko-KR" sz="1600" dirty="0"/>
              <a:t>CO(</a:t>
            </a:r>
            <a:r>
              <a:rPr lang="ko-KR" altLang="en-US" sz="1600" dirty="0"/>
              <a:t>일산화탄소</a:t>
            </a:r>
            <a:r>
              <a:rPr lang="en-US" altLang="ko-KR" sz="1600" dirty="0"/>
              <a:t>)</a:t>
            </a:r>
            <a:r>
              <a:rPr lang="ko-KR" altLang="en-US" sz="1600" dirty="0"/>
              <a:t>를 만들어낸다</a:t>
            </a:r>
            <a:r>
              <a:rPr lang="en-US" altLang="ko-KR" sz="1600" dirty="0"/>
              <a:t>.</a:t>
            </a:r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en-US" altLang="ko-KR" sz="1600" dirty="0"/>
              <a:t>CO(</a:t>
            </a:r>
            <a:r>
              <a:rPr lang="ko-KR" altLang="en-US" sz="1600" dirty="0"/>
              <a:t>일산화탄소</a:t>
            </a:r>
            <a:r>
              <a:rPr lang="en-US" altLang="ko-KR" sz="1600" dirty="0"/>
              <a:t>)</a:t>
            </a:r>
            <a:r>
              <a:rPr lang="ko-KR" altLang="en-US" sz="1600" dirty="0"/>
              <a:t>가 철광석에 붙어 있는 산소들을 제거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 err="1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Fe₂O</a:t>
            </a:r>
            <a:r>
              <a:rPr lang="en-US" altLang="ko-KR" sz="1600" b="1" dirty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₃ + 3CO → 2Fe + 3CO₂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+mj-lt"/>
              <a:buAutoNum type="arabicPeriod"/>
            </a:pPr>
            <a:r>
              <a:rPr lang="ko-KR" altLang="en-US" sz="1600" dirty="0"/>
              <a:t>산소가 제거되어 만들어진 철은 </a:t>
            </a:r>
            <a:r>
              <a:rPr lang="ko-KR" altLang="en-US" sz="1600" dirty="0" err="1"/>
              <a:t>고온에서</a:t>
            </a:r>
            <a:r>
              <a:rPr lang="ko-KR" altLang="en-US" sz="1600" dirty="0"/>
              <a:t> 녹아 쇳물로 모이고</a:t>
            </a:r>
            <a:r>
              <a:rPr lang="en-US" altLang="ko-KR" sz="1600" dirty="0"/>
              <a:t>, </a:t>
            </a:r>
            <a:r>
              <a:rPr lang="ko-KR" altLang="en-US" sz="1600" dirty="0"/>
              <a:t>불순물은 슬래그로 분리된다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쇳물인 용선은 탄소 함량이 </a:t>
            </a:r>
            <a:r>
              <a:rPr lang="en-US" altLang="ko-KR" sz="1600" dirty="0"/>
              <a:t>4~5%</a:t>
            </a:r>
            <a:r>
              <a:rPr lang="ko-KR" altLang="en-US" sz="1600" dirty="0"/>
              <a:t>이며</a:t>
            </a:r>
            <a:r>
              <a:rPr lang="en-US" altLang="ko-KR" sz="1600" dirty="0"/>
              <a:t>, </a:t>
            </a:r>
            <a:r>
              <a:rPr lang="ko-KR" altLang="en-US" sz="1600" dirty="0"/>
              <a:t>이후 제강 공정에서 성분을 조절해 강철로 만든다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철광석의 불순물은 석회석에서 생성된 성분과 결합해 슬래그를 형성한다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고로 슬래그는 냉각</a:t>
            </a:r>
            <a:r>
              <a:rPr lang="en-US" altLang="ko-KR" sz="1600" dirty="0"/>
              <a:t>, </a:t>
            </a:r>
            <a:r>
              <a:rPr lang="ko-KR" altLang="en-US" sz="1600" dirty="0"/>
              <a:t>가공 과정을 거쳐 시멘트 원료나 </a:t>
            </a:r>
            <a:r>
              <a:rPr lang="ko-KR" altLang="en-US" sz="1600" dirty="0" err="1"/>
              <a:t>혼합재</a:t>
            </a:r>
            <a:r>
              <a:rPr lang="ko-KR" altLang="en-US" sz="1600" dirty="0"/>
              <a:t> 등으로 재활용할 수 있다</a:t>
            </a:r>
            <a:r>
              <a:rPr lang="en-US" altLang="ko-KR" sz="16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B8428EB-B765-7F08-F7A5-2D86D5F8C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7742349" y="1710669"/>
            <a:ext cx="3429000" cy="3914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01647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00964-0CD6-7B4B-442A-ED6D86604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28E43A-A84A-DF6A-626C-B641C00C33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제강</a:t>
            </a:r>
            <a:r>
              <a:rPr lang="en-US" altLang="ko-KR" dirty="0"/>
              <a:t>: </a:t>
            </a:r>
            <a:r>
              <a:rPr lang="ko-KR" altLang="en-US" dirty="0"/>
              <a:t>탄소와 불순물 조절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7B6980-B914-1EE3-BC79-B51527397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26</a:t>
            </a:fld>
            <a:endParaRPr lang="ko-KR" altLang="en-US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A6D6C7DF-BD76-A482-9425-D3A286AADD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666750" y="1844386"/>
            <a:ext cx="3619500" cy="3550227"/>
          </a:xfrm>
          <a:prstGeom prst="rect">
            <a:avLst/>
          </a:prstGeom>
        </p:spPr>
      </p:pic>
      <p:sp>
        <p:nvSpPr>
          <p:cNvPr id="18" name="직사각형 17">
            <a:extLst>
              <a:ext uri="{FF2B5EF4-FFF2-40B4-BE49-F238E27FC236}">
                <a16:creationId xmlns:a16="http://schemas.microsoft.com/office/drawing/2014/main" id="{7C1DDC5E-5867-251A-34C2-B23CDB362066}"/>
              </a:ext>
            </a:extLst>
          </p:cNvPr>
          <p:cNvSpPr>
            <a:spLocks noGrp="1"/>
          </p:cNvSpPr>
          <p:nvPr/>
        </p:nvSpPr>
        <p:spPr>
          <a:xfrm>
            <a:off x="666750" y="5800725"/>
            <a:ext cx="10858500" cy="428625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1875" b="1">
                <a:solidFill>
                  <a:srgbClr val="387D88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1875" b="1">
                <a:solidFill>
                  <a:srgbClr val="387D88"/>
                </a:solidFill>
                <a:latin typeface="Noto Sans KR"/>
                <a:ea typeface="Noto Sans KR"/>
                <a:cs typeface="Noto Sans KR"/>
              </a:defRPr>
            </a:pPr>
            <a:r>
              <a:rPr sz="1875" b="1">
                <a:solidFill>
                  <a:srgbClr val="387D88"/>
                </a:solidFill>
                <a:latin typeface="Noto Sans KR"/>
                <a:ea typeface="Noto Sans KR"/>
                <a:cs typeface="Noto Sans KR"/>
              </a:rPr>
              <a:t>탄소 함량과 합금 성분에 따라 강도와 가공성이 달라진다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A66495-89B1-D7A5-B94E-835FCB62F174}"/>
              </a:ext>
            </a:extLst>
          </p:cNvPr>
          <p:cNvSpPr txBox="1"/>
          <p:nvPr/>
        </p:nvSpPr>
        <p:spPr>
          <a:xfrm>
            <a:off x="4664209" y="958844"/>
            <a:ext cx="7043582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전로에 용선</a:t>
            </a:r>
            <a:r>
              <a:rPr lang="en-US" altLang="ko-KR" sz="1600" dirty="0"/>
              <a:t>(</a:t>
            </a:r>
            <a:r>
              <a:rPr lang="ko-KR" altLang="en-US" sz="1600" dirty="0"/>
              <a:t>쇳물</a:t>
            </a:r>
            <a:r>
              <a:rPr lang="en-US" altLang="ko-KR" sz="1600" dirty="0"/>
              <a:t>)</a:t>
            </a:r>
            <a:r>
              <a:rPr lang="ko-KR" altLang="en-US" sz="1600" dirty="0"/>
              <a:t>과 </a:t>
            </a:r>
            <a:r>
              <a:rPr lang="ko-KR" altLang="en-US" sz="1600" dirty="0" err="1"/>
              <a:t>철스크랩을</a:t>
            </a:r>
            <a:r>
              <a:rPr lang="ko-KR" altLang="en-US" sz="1600" dirty="0"/>
              <a:t> 넣는다</a:t>
            </a:r>
            <a:r>
              <a:rPr lang="en-US" altLang="ko-KR" sz="1600" dirty="0"/>
              <a:t>.</a:t>
            </a:r>
            <a:r>
              <a:rPr lang="ko-KR" altLang="en-US" sz="1600" dirty="0"/>
              <a:t> </a:t>
            </a:r>
            <a:endParaRPr lang="en-US" altLang="ko-KR" sz="160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철스크랩은</a:t>
            </a:r>
            <a:r>
              <a:rPr lang="ko-KR" altLang="en-US" sz="1600" dirty="0"/>
              <a:t> 회수한 고철인데</a:t>
            </a:r>
            <a:r>
              <a:rPr lang="en-US" altLang="ko-KR" sz="1600" dirty="0"/>
              <a:t>, </a:t>
            </a:r>
            <a:r>
              <a:rPr lang="ko-KR" altLang="en-US" sz="1600" dirty="0"/>
              <a:t>철 원료를 재활용하는 동시에</a:t>
            </a:r>
            <a:r>
              <a:rPr lang="en-US" altLang="ko-KR" sz="1600" dirty="0"/>
              <a:t>, </a:t>
            </a:r>
            <a:r>
              <a:rPr lang="ko-KR" altLang="en-US" sz="1600" dirty="0"/>
              <a:t>녹으면서 열을 흡수하여 전로의 온도를 조절한다</a:t>
            </a:r>
            <a:r>
              <a:rPr lang="en-US" altLang="ko-KR" sz="160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산소를 불어넣어 과도한 탄소를 제거한다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고로에서 나온 용선</a:t>
            </a:r>
            <a:r>
              <a:rPr lang="en-US" altLang="ko-KR" sz="1600" dirty="0"/>
              <a:t>(</a:t>
            </a:r>
            <a:r>
              <a:rPr lang="ko-KR" altLang="en-US" sz="1600" dirty="0"/>
              <a:t>쇳물</a:t>
            </a:r>
            <a:r>
              <a:rPr lang="en-US" altLang="ko-KR" sz="1600" dirty="0"/>
              <a:t>)</a:t>
            </a:r>
            <a:r>
              <a:rPr lang="ko-KR" altLang="en-US" sz="1600" dirty="0"/>
              <a:t>에는 탄소가 </a:t>
            </a:r>
            <a:r>
              <a:rPr lang="en-US" altLang="ko-KR" sz="1600" dirty="0"/>
              <a:t>4~5% </a:t>
            </a:r>
            <a:r>
              <a:rPr lang="ko-KR" altLang="en-US" sz="1600" dirty="0"/>
              <a:t>포함되어 있는데</a:t>
            </a:r>
            <a:r>
              <a:rPr lang="en-US" altLang="ko-KR" sz="1600" dirty="0"/>
              <a:t>, </a:t>
            </a:r>
            <a:r>
              <a:rPr lang="ko-KR" altLang="en-US" sz="1600" dirty="0"/>
              <a:t>이 용선을 그대로 굳히면 단단하지만 </a:t>
            </a:r>
            <a:r>
              <a:rPr lang="ko-KR" altLang="en-US" sz="1600" dirty="0" err="1"/>
              <a:t>잘깨지고</a:t>
            </a:r>
            <a:r>
              <a:rPr lang="en-US" altLang="ko-KR" sz="1600" dirty="0"/>
              <a:t>, </a:t>
            </a:r>
            <a:r>
              <a:rPr lang="ko-KR" altLang="en-US" sz="1600" dirty="0"/>
              <a:t>얇게 펴거나 구부리는 가공이 어렵기 때문에 탄소를 어느정도 줄여서 조절해야 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b="1" dirty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2C + O₂ → 2CO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탄소는 </a:t>
            </a:r>
            <a:r>
              <a:rPr lang="en-US" altLang="ko-KR" sz="1600" dirty="0"/>
              <a:t>CO(</a:t>
            </a:r>
            <a:r>
              <a:rPr lang="ko-KR" altLang="en-US" sz="1600" dirty="0"/>
              <a:t>일산화탄소</a:t>
            </a:r>
            <a:r>
              <a:rPr lang="en-US" altLang="ko-KR" sz="1600" dirty="0"/>
              <a:t>)</a:t>
            </a:r>
            <a:r>
              <a:rPr lang="ko-KR" altLang="en-US" sz="1600" dirty="0"/>
              <a:t>등의 가스로 빠져 나가고</a:t>
            </a:r>
            <a:r>
              <a:rPr lang="en-US" altLang="ko-KR" sz="1600" dirty="0"/>
              <a:t>, </a:t>
            </a:r>
            <a:r>
              <a:rPr lang="ko-KR" altLang="en-US" sz="1600" dirty="0"/>
              <a:t>불순물은 슬래그로 분리 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7405523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88C810-3E0B-72FD-3321-23DD24358D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3BFB5E69-8720-7B15-3DE8-CBB8EE38782D}"/>
              </a:ext>
            </a:extLst>
          </p:cNvPr>
          <p:cNvSpPr txBox="1"/>
          <p:nvPr/>
        </p:nvSpPr>
        <p:spPr>
          <a:xfrm>
            <a:off x="288790" y="3986764"/>
            <a:ext cx="9020309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압연</a:t>
            </a:r>
            <a:r>
              <a:rPr lang="en-US" altLang="ko-KR" sz="1600" dirty="0"/>
              <a:t>: </a:t>
            </a:r>
            <a:r>
              <a:rPr lang="ko-KR" altLang="en-US" sz="1600" dirty="0"/>
              <a:t>롤 사이로 통과시켜 모양 만들기 </a:t>
            </a:r>
            <a:r>
              <a:rPr lang="en-US" altLang="ko-KR" sz="1600" dirty="0"/>
              <a:t>(</a:t>
            </a:r>
            <a:r>
              <a:rPr lang="ko-KR" altLang="en-US" sz="1600" dirty="0"/>
              <a:t>액체를 누르는 것이 아니라</a:t>
            </a:r>
            <a:r>
              <a:rPr lang="en-US" altLang="ko-KR" sz="1600" dirty="0"/>
              <a:t>, </a:t>
            </a:r>
            <a:r>
              <a:rPr lang="ko-KR" altLang="en-US" sz="1600" dirty="0"/>
              <a:t>굳은 강철을 가공</a:t>
            </a:r>
            <a:r>
              <a:rPr lang="en-US" altLang="ko-KR" sz="1600" dirty="0"/>
              <a:t>)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판재는 여러 차례 눌러 얇게 만들고</a:t>
            </a:r>
            <a:r>
              <a:rPr lang="en-US" altLang="ko-KR" sz="1600" dirty="0"/>
              <a:t>, </a:t>
            </a:r>
            <a:r>
              <a:rPr lang="ko-KR" altLang="en-US" sz="1600" dirty="0"/>
              <a:t>철근은 홈이 있는 롤을 이용해 단면 모양을 만든다</a:t>
            </a:r>
            <a:r>
              <a:rPr lang="en-US" altLang="ko-KR" sz="1600" dirty="0"/>
              <a:t>.</a:t>
            </a:r>
          </a:p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후처리</a:t>
            </a:r>
            <a:r>
              <a:rPr lang="en-US" altLang="ko-KR" sz="1600" dirty="0"/>
              <a:t>: </a:t>
            </a:r>
            <a:r>
              <a:rPr lang="ko-KR" altLang="en-US" sz="1600" dirty="0"/>
              <a:t>제품에 필요한 성질과 표면 만들기</a:t>
            </a:r>
            <a:endParaRPr lang="en-US" altLang="ko-KR" sz="1600" dirty="0"/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열처리</a:t>
            </a:r>
            <a:r>
              <a:rPr lang="en-US" altLang="ko-KR" sz="1600" dirty="0"/>
              <a:t>: </a:t>
            </a:r>
            <a:r>
              <a:rPr lang="ko-KR" altLang="en-US" sz="1600" dirty="0"/>
              <a:t>가열하고 식히는 조건을 조절해서 강도</a:t>
            </a:r>
            <a:r>
              <a:rPr lang="en-US" altLang="ko-KR" sz="1600" dirty="0"/>
              <a:t>, </a:t>
            </a:r>
            <a:r>
              <a:rPr lang="ko-KR" altLang="en-US" sz="1600" dirty="0"/>
              <a:t>경도 등을 조절한다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도금</a:t>
            </a:r>
            <a:r>
              <a:rPr lang="en-US" altLang="ko-KR" sz="1600" dirty="0"/>
              <a:t>: </a:t>
            </a:r>
            <a:r>
              <a:rPr lang="ko-KR" altLang="en-US" sz="1600" dirty="0"/>
              <a:t>표면을 다른 금속으로 덮어 부식을 막는다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61A68B95-4989-5542-568E-7911F1E92F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주조</a:t>
            </a:r>
            <a:r>
              <a:rPr lang="en-US" altLang="ko-KR" dirty="0"/>
              <a:t>·</a:t>
            </a:r>
            <a:r>
              <a:rPr lang="ko-KR" altLang="en-US" dirty="0"/>
              <a:t>압연</a:t>
            </a:r>
            <a:r>
              <a:rPr lang="en-US" altLang="ko-KR" dirty="0"/>
              <a:t>: </a:t>
            </a:r>
            <a:r>
              <a:rPr lang="ko-KR" altLang="en-US" dirty="0"/>
              <a:t>강철을 최종 제품으로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58BB54-7C9D-C21A-CF42-CD691FB71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27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D066305-6FE4-B687-7867-06ECB71A52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/>
        </p:blipFill>
        <p:spPr>
          <a:xfrm>
            <a:off x="571500" y="2201691"/>
            <a:ext cx="4294167" cy="801859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8038BB50-BCFB-1939-C23A-A6B69BE1CC11}"/>
              </a:ext>
            </a:extLst>
          </p:cNvPr>
          <p:cNvSpPr>
            <a:spLocks noGrp="1"/>
          </p:cNvSpPr>
          <p:nvPr/>
        </p:nvSpPr>
        <p:spPr>
          <a:xfrm>
            <a:off x="14207089" y="2129389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240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연속주조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32C9207-63CA-FA4D-7392-766A96B8E696}"/>
              </a:ext>
            </a:extLst>
          </p:cNvPr>
          <p:cNvSpPr>
            <a:spLocks noGrp="1"/>
          </p:cNvSpPr>
          <p:nvPr/>
        </p:nvSpPr>
        <p:spPr>
          <a:xfrm>
            <a:off x="14207089" y="2653264"/>
            <a:ext cx="5095875" cy="8763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20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 dirty="0" err="1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액체</a:t>
            </a:r>
            <a:r>
              <a:rPr sz="2025" b="0" dirty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025" b="0" dirty="0" err="1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강철을</a:t>
            </a:r>
            <a:r>
              <a:rPr sz="2025" b="0" dirty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025" b="0" dirty="0" err="1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냉각해</a:t>
            </a:r>
            <a:endParaRPr sz="2025" b="0" dirty="0">
              <a:solidFill>
                <a:srgbClr val="17344F"/>
              </a:solidFill>
              <a:latin typeface="Noto Sans KR"/>
              <a:ea typeface="Noto Sans KR"/>
              <a:cs typeface="Noto Sans KR"/>
            </a:endParaRPr>
          </a:p>
          <a:p>
            <a:pPr>
              <a:defRPr sz="20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 dirty="0" err="1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슬래브·빌릿</a:t>
            </a:r>
            <a:r>
              <a:rPr sz="2025" b="0" dirty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 등 </a:t>
            </a:r>
            <a:r>
              <a:rPr sz="2025" b="0" dirty="0" err="1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반제품으로</a:t>
            </a:r>
            <a:r>
              <a:rPr sz="2025" b="0" dirty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 </a:t>
            </a:r>
            <a:r>
              <a:rPr sz="2025" b="0" dirty="0" err="1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만든다</a:t>
            </a:r>
            <a:endParaRPr sz="2025" b="0" dirty="0">
              <a:solidFill>
                <a:srgbClr val="17344F"/>
              </a:solidFill>
              <a:latin typeface="Noto Sans KR"/>
              <a:ea typeface="Noto Sans KR"/>
              <a:cs typeface="Noto Sans KR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7D38908B-31C1-9179-363B-A049673A2EB7}"/>
              </a:ext>
            </a:extLst>
          </p:cNvPr>
          <p:cNvSpPr>
            <a:spLocks noGrp="1"/>
          </p:cNvSpPr>
          <p:nvPr/>
        </p:nvSpPr>
        <p:spPr>
          <a:xfrm>
            <a:off x="14207089" y="3986764"/>
            <a:ext cx="5095875" cy="47625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400" b="1">
                <a:solidFill>
                  <a:srgbClr val="D96524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2400" b="1">
                <a:solidFill>
                  <a:srgbClr val="D96524"/>
                </a:solidFill>
                <a:latin typeface="Noto Sans KR"/>
                <a:ea typeface="Noto Sans KR"/>
                <a:cs typeface="Noto Sans KR"/>
              </a:defRPr>
            </a:pPr>
            <a:r>
              <a:rPr sz="2400" b="1">
                <a:solidFill>
                  <a:srgbClr val="D96524"/>
                </a:solidFill>
                <a:latin typeface="Noto Sans KR"/>
                <a:ea typeface="Noto Sans KR"/>
                <a:cs typeface="Noto Sans KR"/>
              </a:rPr>
              <a:t>압연과 후처리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261CBDBE-8801-FF95-A8A1-A5D8B26A6B0D}"/>
              </a:ext>
            </a:extLst>
          </p:cNvPr>
          <p:cNvSpPr>
            <a:spLocks noGrp="1"/>
          </p:cNvSpPr>
          <p:nvPr/>
        </p:nvSpPr>
        <p:spPr>
          <a:xfrm>
            <a:off x="14207089" y="4520164"/>
            <a:ext cx="5095875" cy="952500"/>
          </a:xfrm>
          <a:prstGeom prst="rect">
            <a:avLst/>
          </a:prstGeom>
          <a:noFill/>
          <a:ln w="0">
            <a:noFill/>
          </a:ln>
        </p:spPr>
        <p:txBody>
          <a:bodyPr/>
          <a:lstStyle>
            <a:defPPr>
              <a:defRPr sz="20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defPPr>
          </a:lstStyle>
          <a:p>
            <a:pPr>
              <a:defRPr sz="20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롤로 눌러 판재·봉재 등을 만들고</a:t>
            </a:r>
          </a:p>
          <a:p>
            <a:pPr>
              <a:defRPr sz="20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defRPr>
            </a:pPr>
            <a:r>
              <a:rPr sz="2025" b="0">
                <a:solidFill>
                  <a:srgbClr val="17344F"/>
                </a:solidFill>
                <a:latin typeface="Noto Sans KR"/>
                <a:ea typeface="Noto Sans KR"/>
                <a:cs typeface="Noto Sans KR"/>
              </a:rPr>
              <a:t>열처리·도금 등으로 성질을 조절한다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1BCF091-6F4C-4E99-EFAB-A84D373B2B07}"/>
              </a:ext>
            </a:extLst>
          </p:cNvPr>
          <p:cNvSpPr txBox="1"/>
          <p:nvPr/>
        </p:nvSpPr>
        <p:spPr>
          <a:xfrm>
            <a:off x="4861059" y="958844"/>
            <a:ext cx="7043582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434975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연속주조</a:t>
            </a:r>
            <a:r>
              <a:rPr lang="en-US" altLang="ko-KR" sz="1600" dirty="0"/>
              <a:t>: </a:t>
            </a:r>
            <a:r>
              <a:rPr lang="ko-KR" altLang="en-US" sz="1600" dirty="0"/>
              <a:t>액체 강철을 긴 덩어리로 굳히기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제강을 마친 액체 강철을 냉각되는 주형에 </a:t>
            </a:r>
            <a:r>
              <a:rPr lang="ko-KR" altLang="en-US" sz="1600" dirty="0" err="1"/>
              <a:t>부으면</a:t>
            </a:r>
            <a:r>
              <a:rPr lang="ko-KR" altLang="en-US" sz="1600" dirty="0"/>
              <a:t> 겉부터 굳기 시작한다</a:t>
            </a:r>
            <a:r>
              <a:rPr lang="en-US" altLang="ko-KR" sz="1600" dirty="0"/>
              <a:t>. </a:t>
            </a:r>
            <a:r>
              <a:rPr lang="ko-KR" altLang="en-US" sz="1600" dirty="0"/>
              <a:t>붓고</a:t>
            </a:r>
            <a:r>
              <a:rPr lang="en-US" altLang="ko-KR" sz="1600" dirty="0"/>
              <a:t>,</a:t>
            </a:r>
            <a:r>
              <a:rPr lang="ko-KR" altLang="en-US" sz="1600" dirty="0"/>
              <a:t> 뽑아내고</a:t>
            </a:r>
            <a:r>
              <a:rPr lang="en-US" altLang="ko-KR" sz="1600" dirty="0"/>
              <a:t>, </a:t>
            </a:r>
            <a:r>
              <a:rPr lang="ko-KR" altLang="en-US" sz="1600" dirty="0"/>
              <a:t>필요한 길이로 계속 잘라내기 때문에 연속주조라고 한다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모양은 용도에 따라 달라진다</a:t>
            </a:r>
            <a:r>
              <a:rPr lang="en-US" altLang="ko-KR" sz="1600" dirty="0"/>
              <a:t>.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 err="1"/>
              <a:t>슬래브</a:t>
            </a:r>
            <a:r>
              <a:rPr lang="en-US" altLang="ko-KR" sz="1600" dirty="0"/>
              <a:t>: </a:t>
            </a:r>
            <a:r>
              <a:rPr lang="ko-KR" altLang="en-US" sz="1600" dirty="0"/>
              <a:t>넓고 두꺼운 판 </a:t>
            </a:r>
            <a:r>
              <a:rPr lang="en-US" altLang="ko-KR" sz="1600" dirty="0"/>
              <a:t>(</a:t>
            </a:r>
            <a:r>
              <a:rPr lang="ko-KR" altLang="en-US" sz="1600" dirty="0"/>
              <a:t>자동차용</a:t>
            </a:r>
            <a:r>
              <a:rPr lang="en-US" altLang="ko-KR" sz="1600" dirty="0"/>
              <a:t>, </a:t>
            </a:r>
            <a:r>
              <a:rPr lang="ko-KR" altLang="en-US" sz="1600" dirty="0"/>
              <a:t>선박용 강판</a:t>
            </a:r>
            <a:r>
              <a:rPr lang="en-US" altLang="ko-KR" sz="160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 err="1"/>
              <a:t>빌릿</a:t>
            </a:r>
            <a:r>
              <a:rPr lang="en-US" altLang="ko-KR" sz="1600" dirty="0"/>
              <a:t>:</a:t>
            </a:r>
            <a:r>
              <a:rPr lang="ko-KR" altLang="en-US" sz="1600" dirty="0"/>
              <a:t> 가늘고 긴 봉 형태 </a:t>
            </a:r>
            <a:r>
              <a:rPr lang="en-US" altLang="ko-KR" sz="1600" dirty="0"/>
              <a:t>(</a:t>
            </a:r>
            <a:r>
              <a:rPr lang="ko-KR" altLang="en-US" sz="1600" dirty="0"/>
              <a:t>철근</a:t>
            </a:r>
            <a:r>
              <a:rPr lang="en-US" altLang="ko-KR" sz="1600" dirty="0"/>
              <a:t>, </a:t>
            </a:r>
            <a:r>
              <a:rPr lang="ko-KR" altLang="en-US" sz="1600" dirty="0"/>
              <a:t>봉강</a:t>
            </a:r>
            <a:r>
              <a:rPr lang="en-US" altLang="ko-KR" sz="1600" dirty="0"/>
              <a:t>, </a:t>
            </a:r>
            <a:r>
              <a:rPr lang="ko-KR" altLang="en-US" sz="1600" dirty="0"/>
              <a:t>선재</a:t>
            </a:r>
            <a:r>
              <a:rPr lang="en-US" altLang="ko-KR" sz="160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 err="1"/>
              <a:t>블룸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빌릿보다</a:t>
            </a:r>
            <a:r>
              <a:rPr lang="ko-KR" altLang="en-US" sz="1600" dirty="0"/>
              <a:t> 굵은 덩어리</a:t>
            </a:r>
            <a:r>
              <a:rPr lang="en-US" altLang="ko-KR" sz="1600" dirty="0"/>
              <a:t> (</a:t>
            </a:r>
            <a:r>
              <a:rPr lang="ko-KR" altLang="en-US" sz="1600" dirty="0"/>
              <a:t>대형 </a:t>
            </a:r>
            <a:r>
              <a:rPr lang="ko-KR" altLang="en-US" sz="1600" dirty="0" err="1"/>
              <a:t>형강</a:t>
            </a:r>
            <a:r>
              <a:rPr lang="en-US" altLang="ko-KR" sz="1600" dirty="0"/>
              <a:t>, </a:t>
            </a:r>
            <a:r>
              <a:rPr lang="ko-KR" altLang="en-US" sz="1600" dirty="0"/>
              <a:t>레일 등</a:t>
            </a:r>
            <a:r>
              <a:rPr lang="en-US" altLang="ko-KR" sz="1600" dirty="0"/>
              <a:t>)</a:t>
            </a:r>
          </a:p>
          <a:p>
            <a:pPr marL="1349375" lvl="2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6832567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>
            <a:extLst>
              <a:ext uri="{FF2B5EF4-FFF2-40B4-BE49-F238E27FC236}">
                <a16:creationId xmlns:a16="http://schemas.microsoft.com/office/drawing/2014/main" id="{04A073AD-EB73-467D-5F99-0D3FB50188D0}"/>
              </a:ext>
            </a:extLst>
          </p:cNvPr>
          <p:cNvSpPr txBox="1"/>
          <p:nvPr/>
        </p:nvSpPr>
        <p:spPr>
          <a:xfrm>
            <a:off x="288790" y="958844"/>
            <a:ext cx="11118453" cy="415350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철강 생산과정 </a:t>
            </a:r>
            <a:r>
              <a:rPr lang="en-US" altLang="ko-KR" sz="1600" dirty="0"/>
              <a:t>(</a:t>
            </a:r>
            <a:r>
              <a:rPr lang="ko-KR" altLang="en-US" sz="1600" dirty="0"/>
              <a:t>고로 공정</a:t>
            </a:r>
            <a:r>
              <a:rPr lang="en-US" altLang="ko-KR" sz="160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hlinkClick r:id="rId2"/>
              </a:rPr>
              <a:t>https://www.youtube.com/watch?v=vdhCVePGLmM</a:t>
            </a:r>
            <a:endParaRPr lang="ko-KR" altLang="en-US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1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/>
              <a:t>위기의 철강 업계와 신기술 </a:t>
            </a:r>
            <a:endParaRPr lang="en-US" altLang="ko-KR" sz="1600" spc="-1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hlinkClick r:id="rId3"/>
              </a:rPr>
              <a:t>https://www.youtube.com/watch?v=lGiSF6RF33I</a:t>
            </a:r>
            <a:endParaRPr lang="ko-KR" altLang="en-US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https://www.youtube.com/watch?v=K2G1Eszu_q0</a:t>
            </a:r>
            <a:endParaRPr lang="en-US" altLang="ko-KR" sz="1600" spc="-1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spc="-1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spc="-100" dirty="0"/>
              <a:t>수소환원제철</a:t>
            </a:r>
            <a:endParaRPr lang="en-US" altLang="ko-KR" sz="1600" spc="-1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hlinkClick r:id="rId4"/>
              </a:rPr>
              <a:t>https://www.youtube.com/watch?v=DhRSYIM47u8</a:t>
            </a: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ko-KR" altLang="en-US" sz="1600" dirty="0"/>
          </a:p>
          <a:p>
            <a:pPr marL="549275" lvl="1">
              <a:lnSpc>
                <a:spcPct val="150000"/>
              </a:lnSpc>
            </a:pPr>
            <a:endParaRPr lang="en-US" altLang="ko-KR" sz="1600" spc="-100" dirty="0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3D9C958D-59B4-D94C-9911-43C1336651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0873AC9-3CF2-A2D9-507A-3DE3AA431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190570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536F5A-83E8-8B18-800C-F4D061E32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9E1E638-DB99-5028-2B0D-15C4F8986AF3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3DE9FF-AC43-300C-CC7B-2A47533DC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29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0A6F38EE-3A32-8A8E-3C54-16E9A1AF4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5. </a:t>
            </a:r>
            <a:r>
              <a:rPr lang="ko-KR" altLang="en-US" sz="4000" b="1" i="0" spc="150" dirty="0"/>
              <a:t>석탄생산기술과 비용구조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11227383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5DCBDD-5587-12CF-E54C-A14A43C878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50FB91A-1244-D544-66DF-0030741D48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석탄생산기술과 비용구조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5C320F-DFBA-0194-31D1-CF8CB945E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30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C5BF6A-ABA1-EDAD-F4D5-223867D76951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생산기술과 비용구조는 채굴방식</a:t>
            </a:r>
            <a:r>
              <a:rPr lang="en-US" altLang="ko-KR" sz="1600" dirty="0"/>
              <a:t>, </a:t>
            </a:r>
            <a:r>
              <a:rPr lang="ko-KR" altLang="en-US" sz="1600" dirty="0"/>
              <a:t>광상 깊이</a:t>
            </a:r>
            <a:r>
              <a:rPr lang="en-US" altLang="ko-KR" sz="1600" dirty="0"/>
              <a:t>, </a:t>
            </a:r>
            <a:r>
              <a:rPr lang="ko-KR" altLang="en-US" sz="1600" dirty="0"/>
              <a:t>지질조건</a:t>
            </a:r>
            <a:r>
              <a:rPr lang="en-US" altLang="ko-KR" sz="1600" dirty="0"/>
              <a:t>,</a:t>
            </a:r>
            <a:r>
              <a:rPr lang="ko-KR" altLang="en-US" sz="1600" dirty="0"/>
              <a:t> 기술수준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및 노동비용</a:t>
            </a:r>
            <a:r>
              <a:rPr lang="en-US" altLang="ko-KR" sz="1600" dirty="0"/>
              <a:t>, </a:t>
            </a:r>
            <a:r>
              <a:rPr lang="ko-KR" altLang="en-US" sz="1600" dirty="0"/>
              <a:t>환경규제 등 다양한 요인에 의해 결정된다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요인들은 생산지의 지역적 특성과 산업발전 수준에 따라 다르게 작용하고</a:t>
            </a:r>
            <a:r>
              <a:rPr lang="en-US" altLang="ko-KR" sz="1600" dirty="0"/>
              <a:t>, </a:t>
            </a:r>
            <a:r>
              <a:rPr lang="ko-KR" altLang="en-US" sz="1600" dirty="0"/>
              <a:t>결과적으로 단위당 생산비용에 상당한 이질성을 초래한다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채굴방식에 따라 비용구조가 크게 다른데</a:t>
            </a:r>
            <a:r>
              <a:rPr lang="en-US" altLang="ko-KR" sz="1600" dirty="0"/>
              <a:t>, </a:t>
            </a:r>
            <a:r>
              <a:rPr lang="ko-KR" altLang="en-US" sz="1600" dirty="0"/>
              <a:t>석탄 채굴 방식으로 노천채굴과 지하채굴로 구분하였었다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노천채굴은 지표면 가까이에 석탄이 위치하므로</a:t>
            </a:r>
            <a:r>
              <a:rPr lang="en-US" altLang="ko-KR" sz="1600" dirty="0"/>
              <a:t>, </a:t>
            </a:r>
            <a:r>
              <a:rPr lang="ko-KR" altLang="en-US" sz="1600" dirty="0"/>
              <a:t>대형 기계장비를 활용하여 자동화가 가능해 상대적으로 단위 생산비용이 낮다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미국이나 호주의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톤당 생산비용이 </a:t>
            </a:r>
            <a:r>
              <a:rPr lang="en-US" altLang="ko-KR" sz="1600" dirty="0"/>
              <a:t>20~30</a:t>
            </a:r>
            <a:r>
              <a:rPr lang="ko-KR" altLang="en-US" sz="1600" dirty="0"/>
              <a:t>달러 수준이다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 지하채굴은 깊은 지층의 석탄을 채굴하기 위해 복잡한 환기</a:t>
            </a:r>
            <a:r>
              <a:rPr lang="en-US" altLang="ko-KR" sz="1600" dirty="0"/>
              <a:t>, </a:t>
            </a:r>
            <a:r>
              <a:rPr lang="ko-KR" altLang="en-US" sz="1600" dirty="0"/>
              <a:t>안전</a:t>
            </a:r>
            <a:r>
              <a:rPr lang="en-US" altLang="ko-KR" sz="1600" dirty="0"/>
              <a:t>, </a:t>
            </a:r>
            <a:r>
              <a:rPr lang="ko-KR" altLang="en-US" sz="1600" dirty="0"/>
              <a:t>배수 설비를 설치해야 하므로 인건비 및 설비비용이 크게 증가한다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인도네시아</a:t>
            </a:r>
            <a:r>
              <a:rPr lang="en-US" altLang="ko-KR" sz="1600" dirty="0"/>
              <a:t>,</a:t>
            </a:r>
            <a:r>
              <a:rPr lang="ko-KR" altLang="en-US" sz="1600" dirty="0"/>
              <a:t> 중국의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톤당 </a:t>
            </a:r>
            <a:r>
              <a:rPr lang="en-US" altLang="ko-KR" sz="1600" dirty="0"/>
              <a:t>60~80</a:t>
            </a:r>
            <a:r>
              <a:rPr lang="ko-KR" altLang="en-US" sz="1600" dirty="0"/>
              <a:t>달러 이상으로 상승하는 경향이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생산기술의 자동화 및 기계화 수준도 비용구조에 결정적인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자동화 및 기계화 수준은 비용구조에 결정적인데</a:t>
            </a:r>
            <a:r>
              <a:rPr lang="en-US" altLang="ko-KR" sz="1600" dirty="0"/>
              <a:t>, </a:t>
            </a:r>
            <a:r>
              <a:rPr lang="ko-KR" altLang="en-US" sz="1600" dirty="0"/>
              <a:t>호주의 경우</a:t>
            </a:r>
            <a:r>
              <a:rPr lang="en-US" altLang="ko-KR" sz="1600" dirty="0"/>
              <a:t> </a:t>
            </a:r>
            <a:r>
              <a:rPr lang="ko-KR" altLang="en-US" sz="1600" dirty="0" err="1"/>
              <a:t>드론</a:t>
            </a:r>
            <a:r>
              <a:rPr lang="ko-KR" altLang="en-US" sz="1600" dirty="0"/>
              <a:t> 기반 측량</a:t>
            </a:r>
            <a:r>
              <a:rPr lang="en-US" altLang="ko-KR" sz="1600" dirty="0"/>
              <a:t>, </a:t>
            </a:r>
            <a:r>
              <a:rPr lang="ko-KR" altLang="en-US" sz="1600" dirty="0"/>
              <a:t>자율주행 차량을 도입하였다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개도국의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노동집약적 방식이 일반적이며</a:t>
            </a:r>
            <a:r>
              <a:rPr lang="en-US" altLang="ko-KR" sz="1600" dirty="0"/>
              <a:t>, </a:t>
            </a:r>
            <a:r>
              <a:rPr lang="ko-KR" altLang="en-US" sz="1600" dirty="0"/>
              <a:t>인건비</a:t>
            </a:r>
            <a:r>
              <a:rPr lang="en-US" altLang="ko-KR" sz="1600" dirty="0"/>
              <a:t>, </a:t>
            </a:r>
            <a:r>
              <a:rPr lang="ko-KR" altLang="en-US" sz="1600" dirty="0"/>
              <a:t>의료비용</a:t>
            </a:r>
            <a:r>
              <a:rPr lang="en-US" altLang="ko-KR" sz="1600" dirty="0"/>
              <a:t>, </a:t>
            </a:r>
            <a:r>
              <a:rPr lang="ko-KR" altLang="en-US" sz="1600" dirty="0"/>
              <a:t>보험료</a:t>
            </a:r>
            <a:r>
              <a:rPr lang="en-US" altLang="ko-KR" sz="1600" dirty="0"/>
              <a:t> </a:t>
            </a:r>
            <a:r>
              <a:rPr lang="ko-KR" altLang="en-US" sz="1600" dirty="0"/>
              <a:t>등 높은 비용이 소요된다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485663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D54912-6C05-E339-1029-A91F49C973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7401C6-7D23-0E35-BC44-20A9BF590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석탄생산기술과 비용구조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AD4166C-36B7-E061-11F1-FDACF8A215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31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EB3A4CF-3FDD-BB1D-C2E9-6DAFCF380B11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채굴은 대규모 전력 및 연료가 필요한 산업으로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가격 변동에 매우 민감하다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대형 장비 운용</a:t>
            </a:r>
            <a:r>
              <a:rPr lang="en-US" altLang="ko-KR" sz="1600" dirty="0"/>
              <a:t>, </a:t>
            </a:r>
            <a:r>
              <a:rPr lang="ko-KR" altLang="en-US" sz="1600" dirty="0"/>
              <a:t>환기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지하수 배수 시설 등은 막대한 전력소비를 필요로 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운영비에서 에너지비용이 </a:t>
            </a:r>
            <a:r>
              <a:rPr lang="en-US" altLang="ko-KR" sz="1600" dirty="0"/>
              <a:t>15~40%</a:t>
            </a:r>
            <a:r>
              <a:rPr lang="ko-KR" altLang="en-US" sz="1600" dirty="0"/>
              <a:t>의 비중을 차지하며</a:t>
            </a:r>
            <a:r>
              <a:rPr lang="en-US" altLang="ko-KR" sz="1600" dirty="0"/>
              <a:t>, </a:t>
            </a:r>
            <a:r>
              <a:rPr lang="ko-KR" altLang="en-US" sz="1600" dirty="0"/>
              <a:t>전력요금</a:t>
            </a:r>
            <a:r>
              <a:rPr lang="en-US" altLang="ko-KR" sz="1600" dirty="0"/>
              <a:t>, </a:t>
            </a:r>
            <a:r>
              <a:rPr lang="ko-KR" altLang="en-US" sz="1600" dirty="0"/>
              <a:t>유가 상승은 생산비 증가로 이어진다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환경규제는 석탄 생산비용에서 점차 중요한 외생요인 중 하나로 부상하고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많은 국가에서는 광산개발 단계에서 환경영향평가</a:t>
            </a:r>
            <a:r>
              <a:rPr lang="en-US" altLang="ko-KR" sz="1600" dirty="0"/>
              <a:t>, </a:t>
            </a:r>
            <a:r>
              <a:rPr lang="ko-KR" altLang="en-US" sz="1600" dirty="0"/>
              <a:t>복원계획</a:t>
            </a:r>
            <a:r>
              <a:rPr lang="en-US" altLang="ko-KR" sz="1600" dirty="0"/>
              <a:t>, </a:t>
            </a:r>
            <a:r>
              <a:rPr lang="ko-KR" altLang="en-US" sz="1600" dirty="0"/>
              <a:t>배출 기준 준수</a:t>
            </a:r>
            <a:r>
              <a:rPr lang="en-US" altLang="ko-KR" sz="1600" dirty="0"/>
              <a:t>, </a:t>
            </a:r>
            <a:r>
              <a:rPr lang="ko-KR" altLang="en-US" sz="1600" dirty="0"/>
              <a:t>지하수 보호</a:t>
            </a:r>
            <a:r>
              <a:rPr lang="en-US" altLang="ko-KR" sz="1600" dirty="0"/>
              <a:t>, </a:t>
            </a:r>
            <a:r>
              <a:rPr lang="ko-KR" altLang="en-US" sz="1600" dirty="0"/>
              <a:t>미세먼지 관리 등을 요구하며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따른 복구비용 및 규제 대응비용이 생산비용을 증가시키고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미국과 유럽에서는 광산 폐쇄 후 복구 복원비용을 포함한 부담금이 사전에 산정되어야 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프로젝트 수익성에 직접적인 영향을 미친다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생산비용에는 채굴 이후의 운송 및 물류 비용도 중요한 비중을 차지한다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철도</a:t>
            </a:r>
            <a:r>
              <a:rPr lang="en-US" altLang="ko-KR" sz="1600" dirty="0"/>
              <a:t>, </a:t>
            </a:r>
            <a:r>
              <a:rPr lang="ko-KR" altLang="en-US" sz="1600" dirty="0"/>
              <a:t>항만</a:t>
            </a:r>
            <a:r>
              <a:rPr lang="en-US" altLang="ko-KR" sz="1600" dirty="0"/>
              <a:t>, </a:t>
            </a:r>
            <a:r>
              <a:rPr lang="ko-KR" altLang="en-US" sz="1600" dirty="0"/>
              <a:t>도로 등 수송 인프라의 접근성은 물류비용과 공급 안정성에 직결된다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인프라가 미비한 지역에서는 생산된 석탄의 시장접근성이 떨어져 경쟁력이 약화될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석탄의 수분함량</a:t>
            </a:r>
            <a:r>
              <a:rPr lang="en-US" altLang="ko-KR" sz="1600" dirty="0"/>
              <a:t>, </a:t>
            </a:r>
            <a:r>
              <a:rPr lang="ko-KR" altLang="en-US" sz="1600" dirty="0"/>
              <a:t>분진 발생 특성상 운송 중 품질 저하와 손실 문제도 존재한다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67513470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68800B-CB6C-BBEA-6864-FD40CF8E5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197371F-099C-3A5C-5A23-755E558B5FF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403CE3D-FF37-6FEB-D958-7BF84F49A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32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DAE71EA6-541D-6782-1125-4EE46868B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6. </a:t>
            </a:r>
            <a:br>
              <a:rPr lang="en-US" altLang="ko-KR" sz="4000" b="1" i="0" spc="150" dirty="0"/>
            </a:br>
            <a:r>
              <a:rPr lang="ko-KR" altLang="en-US" sz="4000" b="1" i="0" spc="150" dirty="0"/>
              <a:t>석탄채굴 과정의 사회적 환경적 문제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26729945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F9D724-1E7C-8A49-84A0-3D7DF2FB2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474FB9-C6AD-A8A6-C15A-EFBF9CA50B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채굴과정에서의 사회적</a:t>
            </a:r>
            <a:r>
              <a:rPr lang="en-US" altLang="ko-KR" dirty="0"/>
              <a:t>·</a:t>
            </a:r>
            <a:r>
              <a:rPr lang="ko-KR" altLang="en-US" dirty="0"/>
              <a:t>환경적 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BE9E43-DB40-9537-65BA-52B738356C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33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F1BFB7-5BE9-62EB-BA3E-CD96FB479E42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채굴 과정은 에너지 자원 확보라는 경제적 이익에도 불구하고</a:t>
            </a:r>
            <a:r>
              <a:rPr lang="en-US" altLang="ko-KR" sz="1600" dirty="0"/>
              <a:t>, </a:t>
            </a:r>
            <a:r>
              <a:rPr lang="ko-KR" altLang="en-US" sz="1600" dirty="0"/>
              <a:t>다양한 환경적</a:t>
            </a:r>
            <a:r>
              <a:rPr lang="en-US" altLang="ko-KR" sz="1600" dirty="0"/>
              <a:t>·</a:t>
            </a:r>
            <a:r>
              <a:rPr lang="ko-KR" altLang="en-US" sz="1600" dirty="0"/>
              <a:t>사회적 문제를 초래하여 지속가능성과 형평성 측면에서 심각한 도전을 제기한다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기후변화 대응</a:t>
            </a:r>
            <a:r>
              <a:rPr lang="en-US" altLang="ko-KR" sz="1600" dirty="0"/>
              <a:t>, </a:t>
            </a:r>
            <a:r>
              <a:rPr lang="ko-KR" altLang="en-US" sz="1600" dirty="0"/>
              <a:t>생물다양성 손실</a:t>
            </a:r>
            <a:r>
              <a:rPr lang="en-US" altLang="ko-KR" sz="1600" dirty="0"/>
              <a:t>, </a:t>
            </a:r>
            <a:r>
              <a:rPr lang="ko-KR" altLang="en-US" sz="1600" dirty="0"/>
              <a:t>지역 불평등</a:t>
            </a:r>
            <a:r>
              <a:rPr lang="en-US" altLang="ko-KR" sz="1600" dirty="0"/>
              <a:t>, </a:t>
            </a:r>
            <a:r>
              <a:rPr lang="ko-KR" altLang="en-US" sz="1600" dirty="0"/>
              <a:t>노동권 침해 등 이슈는 세계적으로 중요한 관심사이다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채굴은 토지 훼손</a:t>
            </a:r>
            <a:r>
              <a:rPr lang="en-US" altLang="ko-KR" sz="1600" dirty="0"/>
              <a:t>, </a:t>
            </a:r>
            <a:r>
              <a:rPr lang="ko-KR" altLang="en-US" sz="1600" dirty="0"/>
              <a:t>생태계 파괴</a:t>
            </a:r>
            <a:r>
              <a:rPr lang="en-US" altLang="ko-KR" sz="1600" dirty="0"/>
              <a:t>, </a:t>
            </a:r>
            <a:r>
              <a:rPr lang="ko-KR" altLang="en-US" sz="1600" dirty="0"/>
              <a:t>수질 및 대기오염 등 다방면에서 환경에 심대한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탄광개발이 습지</a:t>
            </a:r>
            <a:r>
              <a:rPr lang="en-US" altLang="ko-KR" sz="1600" dirty="0"/>
              <a:t>, </a:t>
            </a:r>
            <a:r>
              <a:rPr lang="ko-KR" altLang="en-US" sz="1600" dirty="0"/>
              <a:t>강</a:t>
            </a:r>
            <a:r>
              <a:rPr lang="en-US" altLang="ko-KR" sz="1600" dirty="0"/>
              <a:t>, </a:t>
            </a:r>
            <a:r>
              <a:rPr lang="ko-KR" altLang="en-US" sz="1600" dirty="0"/>
              <a:t>하천</a:t>
            </a:r>
            <a:r>
              <a:rPr lang="en-US" altLang="ko-KR" sz="1600" dirty="0"/>
              <a:t>, </a:t>
            </a:r>
            <a:r>
              <a:rPr lang="ko-KR" altLang="en-US" sz="1600" dirty="0"/>
              <a:t>경작지 등 환경적 가치가 높은 지역에 위치하여 지속가능한 토지 이용과 충돌을 일으키고 있다</a:t>
            </a:r>
            <a:r>
              <a:rPr lang="en-US" altLang="ko-KR" sz="1600" dirty="0"/>
              <a:t>.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수질오염 역시 중요한 문제인데</a:t>
            </a:r>
            <a:r>
              <a:rPr lang="en-US" altLang="ko-KR" sz="1600" dirty="0"/>
              <a:t>, </a:t>
            </a:r>
            <a:r>
              <a:rPr lang="ko-KR" altLang="en-US" sz="1600" dirty="0"/>
              <a:t>석탄 채굴 과정에서 발생하는 산성광산배수는 황화광물의 산화로 인해 생성되며</a:t>
            </a:r>
            <a:r>
              <a:rPr lang="en-US" altLang="ko-KR" sz="1600" dirty="0"/>
              <a:t>, </a:t>
            </a:r>
            <a:r>
              <a:rPr lang="ko-KR" altLang="en-US" sz="1600" dirty="0"/>
              <a:t>중금속이 함유된 오염수가 하천 및 지하수로 유입되어 장기적으로 수자원 생태계와 인간 건강에 악영향을 미친다</a:t>
            </a:r>
            <a:r>
              <a:rPr lang="en-US" altLang="ko-KR" sz="1600" dirty="0"/>
              <a:t>. (</a:t>
            </a:r>
            <a:r>
              <a:rPr lang="ko-KR" altLang="en-US" sz="1600" dirty="0"/>
              <a:t>미국의 </a:t>
            </a:r>
            <a:r>
              <a:rPr lang="ko-KR" altLang="en-US" sz="1600" dirty="0" err="1"/>
              <a:t>웨스트버지니아</a:t>
            </a:r>
            <a:r>
              <a:rPr lang="en-US" altLang="ko-KR" sz="1600" dirty="0"/>
              <a:t>, </a:t>
            </a:r>
            <a:r>
              <a:rPr lang="ko-KR" altLang="en-US" sz="1600" dirty="0"/>
              <a:t>인도의 </a:t>
            </a:r>
            <a:r>
              <a:rPr lang="ko-KR" altLang="en-US" sz="1600" dirty="0" err="1"/>
              <a:t>자르칸드</a:t>
            </a:r>
            <a:r>
              <a:rPr lang="ko-KR" altLang="en-US" sz="1600" dirty="0"/>
              <a:t> 지역에 광산배수 오염사례</a:t>
            </a:r>
            <a:r>
              <a:rPr lang="en-US" altLang="ko-KR" sz="160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채굴현장에서 배출되는 분진 및 메탄가스는 지역 대기질을 저하시키고</a:t>
            </a:r>
            <a:r>
              <a:rPr lang="en-US" altLang="ko-KR" sz="1600" dirty="0"/>
              <a:t>, </a:t>
            </a:r>
            <a:r>
              <a:rPr lang="ko-KR" altLang="en-US" sz="1600" dirty="0"/>
              <a:t>광부 및 인근 주민의 호흡기 건강을 위협한다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26123978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C69D3A-0BA9-BE4C-8F21-BCCA9540A8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5C8CDA7-1165-24C3-9DC1-9C9FBD2C0A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채굴과정에서의 사회적</a:t>
            </a:r>
            <a:r>
              <a:rPr lang="en-US" altLang="ko-KR" dirty="0"/>
              <a:t>·</a:t>
            </a:r>
            <a:r>
              <a:rPr lang="ko-KR" altLang="en-US" dirty="0"/>
              <a:t>환경적 문제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67A3C5-0A0A-3B80-B5ED-76454E2E4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34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0C429F9-47B7-064A-249D-FCB2AF15A4C6}"/>
              </a:ext>
            </a:extLst>
          </p:cNvPr>
          <p:cNvSpPr txBox="1"/>
          <p:nvPr/>
        </p:nvSpPr>
        <p:spPr>
          <a:xfrm>
            <a:off x="288790" y="958844"/>
            <a:ext cx="11118453" cy="521533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채굴은 사회경제적으로 취약한 지역에 집중되는 경우가 많고</a:t>
            </a:r>
            <a:r>
              <a:rPr lang="en-US" altLang="ko-KR" sz="1600" dirty="0"/>
              <a:t>, </a:t>
            </a:r>
            <a:r>
              <a:rPr lang="ko-KR" altLang="en-US" sz="1600" dirty="0"/>
              <a:t>이로 인해 광산 개발은 지역사회의 불균형과 장기적 의존성을 </a:t>
            </a:r>
            <a:r>
              <a:rPr lang="ko-KR" altLang="en-US" sz="1600" dirty="0" err="1"/>
              <a:t>심화시킨다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광산 주변 지역은 산업 기반이 부족해 석탄 산업의 축소나 폐쇄 시 대규모 실업과 지역경제 붕괴로 이어진다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개발도상국의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채굴 노동 환경이 비공식적이고 위험한 조건 하에서 이루어지는 사례가 많다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아동 노동</a:t>
            </a:r>
            <a:r>
              <a:rPr lang="en-US" altLang="ko-KR" sz="1600" dirty="0"/>
              <a:t>, </a:t>
            </a:r>
            <a:r>
              <a:rPr lang="ko-KR" altLang="en-US" sz="1600" dirty="0"/>
              <a:t>불안정 고용</a:t>
            </a:r>
            <a:r>
              <a:rPr lang="en-US" altLang="ko-KR" sz="1600" dirty="0"/>
              <a:t>, </a:t>
            </a:r>
            <a:r>
              <a:rPr lang="ko-KR" altLang="en-US" sz="1600" dirty="0"/>
              <a:t>산업재해 등이 빈번하고</a:t>
            </a:r>
            <a:r>
              <a:rPr lang="en-US" altLang="ko-KR" sz="1600" dirty="0"/>
              <a:t>, </a:t>
            </a:r>
            <a:r>
              <a:rPr lang="ko-KR" altLang="en-US" sz="1600" dirty="0"/>
              <a:t>탄광 붕괴사고는 높은 </a:t>
            </a:r>
            <a:r>
              <a:rPr lang="ko-KR" altLang="en-US" sz="1600" dirty="0" err="1"/>
              <a:t>치명률을</a:t>
            </a:r>
            <a:r>
              <a:rPr lang="ko-KR" altLang="en-US" sz="1600" dirty="0"/>
              <a:t> 보인다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인도 및 콩고는 소규모 석탄 광산에서는 법적 규제 밖에서 운영되는 비공식 채굴활동이 사회적 이슈이다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또한</a:t>
            </a:r>
            <a:r>
              <a:rPr lang="en-US" altLang="ko-KR" sz="1600" dirty="0"/>
              <a:t>, </a:t>
            </a:r>
            <a:r>
              <a:rPr lang="ko-KR" altLang="en-US" sz="1600" dirty="0"/>
              <a:t>대규모 광산 개발은 강제 이주 및 토지 수용과 같은 인권 문제를 동반한다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개발 과정에서 주민의 재산권과 생계가 위협받을 수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이주보상 및 재정착 프로그램이 부실하거나 형식적인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지역사회의 구조적 갈등으로 번질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사회적 합의 없이 진행되는 프로젝트는 장기적인 반대운동</a:t>
            </a:r>
            <a:r>
              <a:rPr lang="en-US" altLang="ko-KR" sz="1600" dirty="0"/>
              <a:t>, </a:t>
            </a:r>
            <a:r>
              <a:rPr lang="ko-KR" altLang="en-US" sz="1600" dirty="0"/>
              <a:t>법적 소송</a:t>
            </a:r>
            <a:r>
              <a:rPr lang="en-US" altLang="ko-KR" sz="1600" dirty="0"/>
              <a:t>, </a:t>
            </a:r>
            <a:r>
              <a:rPr lang="ko-KR" altLang="en-US" sz="1600" dirty="0"/>
              <a:t>국제</a:t>
            </a:r>
            <a:r>
              <a:rPr lang="en-US" altLang="ko-KR" sz="1600" dirty="0"/>
              <a:t>NGO</a:t>
            </a:r>
            <a:r>
              <a:rPr lang="ko-KR" altLang="en-US" sz="1600" dirty="0"/>
              <a:t>의 개입 등 국제적 인권 이슈로 비화되기도 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산업은 여전히 개발도상국의 경제적 기반이기에</a:t>
            </a:r>
            <a:r>
              <a:rPr lang="en-US" altLang="ko-KR" sz="1600" dirty="0"/>
              <a:t>, </a:t>
            </a:r>
            <a:r>
              <a:rPr lang="ko-KR" altLang="en-US" sz="1600" dirty="0"/>
              <a:t>보다 엄격한 사회적 보호장치가 병행되어야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7179153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06897-AC6C-CA4B-2462-0A586AAE5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8EFD447-7763-6355-3785-601C43F7D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강원도 지역의 폐광과 지역경제 전환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207C27F-FCF9-E265-C39E-4A0BD5409F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35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ECA6FF-598F-3215-C47A-7B22C3118878}"/>
              </a:ext>
            </a:extLst>
          </p:cNvPr>
          <p:cNvSpPr txBox="1"/>
          <p:nvPr/>
        </p:nvSpPr>
        <p:spPr>
          <a:xfrm>
            <a:off x="288790" y="958844"/>
            <a:ext cx="11118453" cy="3368679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1960</a:t>
            </a:r>
            <a:r>
              <a:rPr lang="ko-KR" altLang="en-US" sz="1600" dirty="0"/>
              <a:t>년</a:t>
            </a:r>
            <a:r>
              <a:rPr lang="en-US" altLang="ko-KR" sz="1600" dirty="0"/>
              <a:t>~1980</a:t>
            </a:r>
            <a:r>
              <a:rPr lang="ko-KR" altLang="en-US" sz="1600" dirty="0"/>
              <a:t>년대에는 산업화와 연탄 수요를 바탕으로 탄광지역이 성장하였다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태백</a:t>
            </a:r>
            <a:r>
              <a:rPr lang="en-US" altLang="ko-KR" sz="1600" dirty="0"/>
              <a:t>, </a:t>
            </a:r>
            <a:r>
              <a:rPr lang="ko-KR" altLang="en-US" sz="1600" dirty="0"/>
              <a:t>삼척</a:t>
            </a:r>
            <a:r>
              <a:rPr lang="en-US" altLang="ko-KR" sz="1600" dirty="0"/>
              <a:t>, </a:t>
            </a:r>
            <a:r>
              <a:rPr lang="ko-KR" altLang="en-US" sz="1600" dirty="0"/>
              <a:t>정선</a:t>
            </a:r>
            <a:r>
              <a:rPr lang="en-US" altLang="ko-KR" sz="1600" dirty="0"/>
              <a:t>, </a:t>
            </a:r>
            <a:r>
              <a:rPr lang="ko-KR" altLang="en-US" sz="1600" dirty="0"/>
              <a:t>영월에는 대규모 탄광산업이 있어서 인구가 몰리고</a:t>
            </a:r>
            <a:r>
              <a:rPr lang="en-US" altLang="ko-KR" sz="1600" dirty="0"/>
              <a:t>, </a:t>
            </a:r>
            <a:r>
              <a:rPr lang="ko-KR" altLang="en-US" sz="1600" dirty="0"/>
              <a:t>경제활동이 활발한 지역이었다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그러나 </a:t>
            </a:r>
            <a:r>
              <a:rPr lang="en-US" altLang="ko-KR" sz="1600" dirty="0"/>
              <a:t>1980</a:t>
            </a:r>
            <a:r>
              <a:rPr lang="ko-KR" altLang="en-US" sz="1600" dirty="0"/>
              <a:t>년 후반부터 석탄 수요 감소와 채굴비용 상승으로 탄광업이 쇠퇴하였다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1989</a:t>
            </a:r>
            <a:r>
              <a:rPr lang="ko-KR" altLang="en-US" sz="1600" dirty="0"/>
              <a:t>년 석탄산업 합리화 정책에 따라 폐광이 본격화되면서 지역경제가 큰 충격을 받기 시작하였다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탄광기업은 자산 가치 하락과 투자 손실로 탄광사업을 지속하지 못하게 되었다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일을 하던 광부와 그 가족들은 실업과 소득 감소로 강원지역을 떠나게 </a:t>
            </a:r>
            <a:r>
              <a:rPr lang="ko-KR" altLang="en-US" sz="1600" dirty="0" err="1"/>
              <a:t>됬다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경제활동 감소로 지역 상권의 매출은 감소하고</a:t>
            </a:r>
            <a:r>
              <a:rPr lang="en-US" altLang="ko-KR" sz="1600" dirty="0"/>
              <a:t>, </a:t>
            </a:r>
            <a:r>
              <a:rPr lang="ko-KR" altLang="en-US" sz="1600" dirty="0"/>
              <a:t>주택시장에는 공실이 증가하였다</a:t>
            </a:r>
            <a:r>
              <a:rPr lang="en-US" altLang="ko-KR" sz="1600" dirty="0"/>
              <a:t>.</a:t>
            </a:r>
          </a:p>
          <a:p>
            <a:pPr marL="892175" lvl="1" indent="-34290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지방정부는 세입 감소와 지역 회생에 부담을 떠안게 된다</a:t>
            </a:r>
            <a:r>
              <a:rPr lang="en-US" altLang="ko-KR" sz="1600" dirty="0"/>
              <a:t>.</a:t>
            </a: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C3D64D4D-C6A0-1ACE-4329-24994C77D27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489" b="1489"/>
          <a:stretch>
            <a:fillRect/>
          </a:stretch>
        </p:blipFill>
        <p:spPr>
          <a:xfrm>
            <a:off x="2252133" y="4451065"/>
            <a:ext cx="3279543" cy="20372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38966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C20E0E-D4BD-5476-09FF-E78D32F29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3AB8C8-C209-0262-E0C3-629686C01E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강원도 지역의 폐광과 지역경제 전환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689B651-DEDB-3F22-8B15-C1FDB99D72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36</a:t>
            </a:fld>
            <a:endParaRPr lang="ko-KR" alt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C51770-43D4-6BAC-EBE0-597C9F1531F4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1995</a:t>
            </a:r>
            <a:r>
              <a:rPr lang="ko-KR" altLang="en-US" sz="1600" dirty="0"/>
              <a:t>년 정부는 지역경제를 살리기 위하여</a:t>
            </a:r>
            <a:r>
              <a:rPr lang="en-US" altLang="ko-KR" sz="1600" dirty="0"/>
              <a:t>, </a:t>
            </a:r>
            <a:r>
              <a:rPr lang="ko-KR" altLang="en-US" sz="1600" dirty="0"/>
              <a:t>폐광지역 개발지원에 관한 특별법을 제정한다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1998</a:t>
            </a:r>
            <a:r>
              <a:rPr lang="ko-KR" altLang="en-US" sz="1600" dirty="0"/>
              <a:t>년 이 특별법을 근거로</a:t>
            </a:r>
            <a:r>
              <a:rPr lang="en-US" altLang="ko-KR" sz="1600" dirty="0"/>
              <a:t> </a:t>
            </a:r>
            <a:r>
              <a:rPr lang="ko-KR" altLang="en-US" sz="1600" dirty="0"/>
              <a:t>정선군에 강원랜드가 설립된다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뿐만 아니라 좌초자산으로 남을 수 있었던 기존의 탄광시설들을 재활용하여 관광업에 활용한다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삼탄아트마인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철암탄광역사촌</a:t>
            </a:r>
            <a:r>
              <a:rPr lang="en-US" altLang="ko-KR" sz="1600" dirty="0"/>
              <a:t>, M650, </a:t>
            </a:r>
            <a:r>
              <a:rPr lang="ko-KR" altLang="en-US" sz="1600" dirty="0" err="1"/>
              <a:t>하이원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추추파크</a:t>
            </a:r>
            <a:r>
              <a:rPr lang="ko-KR" altLang="en-US" sz="1600" dirty="0"/>
              <a:t> 등</a:t>
            </a: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좌초자산을 직접적으로 활용하지는 않아도</a:t>
            </a:r>
            <a:r>
              <a:rPr lang="en-US" altLang="ko-KR" sz="1600" dirty="0"/>
              <a:t>, </a:t>
            </a:r>
            <a:r>
              <a:rPr lang="ko-KR" altLang="en-US" sz="1600" dirty="0"/>
              <a:t>지역경제 활성화를 위한 여러가지 대책을 마련하였다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강원도 지역의 폐광과 지역경제 활성화 관련 영상</a:t>
            </a: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>
                <a:hlinkClick r:id="rId2"/>
              </a:rPr>
              <a:t>https://www.youtube.com/watch?v=BC88fUrIPXU&amp;t=4s</a:t>
            </a:r>
            <a:endParaRPr lang="en-US" altLang="ko-KR" sz="160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우리나라 산업화의 핵심 자원이었던 석탄</a:t>
            </a: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hlinkClick r:id="rId3"/>
              </a:rPr>
              <a:t>https://www.youtube.com/watch?v=u_BEPSfkiqk</a:t>
            </a:r>
            <a:endParaRPr lang="en-US" altLang="ko-KR" sz="160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지역경제를 되살리기 위한 정부의 노력</a:t>
            </a:r>
            <a:endParaRPr lang="en-US" altLang="ko-KR" sz="1600" dirty="0"/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~3</a:t>
            </a:r>
            <a:r>
              <a:rPr lang="ko-KR" altLang="en-US" sz="1600" dirty="0"/>
              <a:t>분 </a:t>
            </a:r>
            <a:r>
              <a:rPr lang="en-US" altLang="ko-KR" sz="1600" dirty="0"/>
              <a:t>45</a:t>
            </a:r>
            <a:r>
              <a:rPr lang="ko-KR" altLang="en-US" sz="1600" dirty="0"/>
              <a:t>초</a:t>
            </a:r>
            <a:r>
              <a:rPr lang="en-US" altLang="ko-KR" sz="1600" dirty="0"/>
              <a:t>: </a:t>
            </a:r>
            <a:r>
              <a:rPr lang="ko-KR" altLang="en-US" sz="1600" dirty="0"/>
              <a:t>무너져 가는 강원지역의 경제를 되살리기 위한 대책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ko-KR" sz="1600" dirty="0"/>
              <a:t>3</a:t>
            </a:r>
            <a:r>
              <a:rPr lang="ko-KR" altLang="en-US" sz="1600" dirty="0"/>
              <a:t>분 </a:t>
            </a:r>
            <a:r>
              <a:rPr lang="en-US" altLang="ko-KR" sz="1600" dirty="0"/>
              <a:t>45</a:t>
            </a:r>
            <a:r>
              <a:rPr lang="ko-KR" altLang="en-US" sz="1600" dirty="0"/>
              <a:t>초</a:t>
            </a:r>
            <a:r>
              <a:rPr lang="en-US" altLang="ko-KR" sz="1600" dirty="0"/>
              <a:t> ~ : </a:t>
            </a:r>
            <a:r>
              <a:rPr lang="ko-KR" altLang="en-US" sz="1600" dirty="0"/>
              <a:t>강원랜드 운영 관련 문제 제기 </a:t>
            </a:r>
            <a:r>
              <a:rPr lang="en-US" altLang="ko-KR" sz="1600" dirty="0"/>
              <a:t>(</a:t>
            </a:r>
            <a:r>
              <a:rPr lang="ko-KR" altLang="en-US" sz="1600" dirty="0"/>
              <a:t>참고자료</a:t>
            </a:r>
            <a:r>
              <a:rPr lang="en-US" altLang="ko-KR" sz="1600" dirty="0"/>
              <a:t>)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>
                <a:hlinkClick r:id="rId4"/>
              </a:rPr>
              <a:t>https://www.youtube.com/watch?v=ih-j2TJjXgM</a:t>
            </a:r>
            <a:r>
              <a:rPr lang="ko-KR" altLang="en-US" sz="1600" dirty="0"/>
              <a:t> </a:t>
            </a:r>
            <a:r>
              <a:rPr lang="en-US" altLang="ko-KR" sz="1600" dirty="0"/>
              <a:t>(</a:t>
            </a:r>
            <a:r>
              <a:rPr lang="ko-KR" altLang="en-US" sz="1600" dirty="0"/>
              <a:t>폐광 지역의 부활을 위해 다른 나라 사례를 참고</a:t>
            </a:r>
            <a:r>
              <a:rPr lang="en-US" altLang="ko-KR" sz="16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8968484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B52C00-4FB8-6E54-7AB8-1AF3515CDC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A56A791-A436-FF30-C46F-320B6C969F65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C90D0E0-E6B8-B422-7F51-366317F7B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F7BA6FFD-890A-1B62-9230-139A08189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7. </a:t>
            </a:r>
            <a:r>
              <a:rPr lang="ko-KR" altLang="en-US" sz="4000" b="1" i="0" spc="150" dirty="0"/>
              <a:t>석탄산업의 구조와 경쟁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38622823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173D5A-6B99-6C7F-C5B4-CC7CEB1D3F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3742C4-1946-86D9-EEB0-403CB53210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산업구조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15C3145-8531-DF87-186B-8680EC4A5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4F1D460-2AF5-0F78-9D56-020397D36926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석탄산업의 구조는 상류</a:t>
            </a:r>
            <a:r>
              <a:rPr lang="en-US" altLang="ko-KR" sz="1600" dirty="0"/>
              <a:t>(</a:t>
            </a:r>
            <a:r>
              <a:rPr lang="ko-KR" altLang="en-US" sz="1600" dirty="0"/>
              <a:t>탐사 및 채굴</a:t>
            </a:r>
            <a:r>
              <a:rPr lang="en-US" altLang="ko-KR" sz="1600" dirty="0"/>
              <a:t>), </a:t>
            </a:r>
            <a:r>
              <a:rPr lang="ko-KR" altLang="en-US" sz="1600" dirty="0"/>
              <a:t>중류</a:t>
            </a:r>
            <a:r>
              <a:rPr lang="en-US" altLang="ko-KR" sz="1600" dirty="0"/>
              <a:t>(</a:t>
            </a:r>
            <a:r>
              <a:rPr lang="ko-KR" altLang="en-US" sz="1600" dirty="0"/>
              <a:t>처리 및 수송</a:t>
            </a:r>
            <a:r>
              <a:rPr lang="en-US" altLang="ko-KR" sz="1600" dirty="0"/>
              <a:t>), </a:t>
            </a:r>
            <a:r>
              <a:rPr lang="ko-KR" altLang="en-US" sz="1600" dirty="0"/>
              <a:t>하류</a:t>
            </a:r>
            <a:r>
              <a:rPr lang="en-US" altLang="ko-KR" sz="1600" dirty="0"/>
              <a:t>(</a:t>
            </a:r>
            <a:r>
              <a:rPr lang="ko-KR" altLang="en-US" sz="1600" dirty="0"/>
              <a:t>분배 및 소비</a:t>
            </a:r>
            <a:r>
              <a:rPr lang="en-US" altLang="ko-KR" sz="1600" dirty="0"/>
              <a:t>)</a:t>
            </a:r>
            <a:r>
              <a:rPr lang="ko-KR" altLang="en-US" sz="1600" dirty="0"/>
              <a:t>의 세 단계로 이루어진다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상류부문에서는 중국</a:t>
            </a:r>
            <a:r>
              <a:rPr lang="en-US" altLang="ko-KR" sz="1600" dirty="0"/>
              <a:t>, </a:t>
            </a:r>
            <a:r>
              <a:rPr lang="ko-KR" altLang="en-US" sz="1600" dirty="0"/>
              <a:t>호주</a:t>
            </a:r>
            <a:r>
              <a:rPr lang="en-US" altLang="ko-KR" sz="1600" dirty="0"/>
              <a:t>, </a:t>
            </a: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 등의 대형 자원기업들이 자본력과 기술력을 바탕으로 세계 시장을 주도하고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중류부문은 석탄의 세척</a:t>
            </a:r>
            <a:r>
              <a:rPr lang="en-US" altLang="ko-KR" sz="1600" dirty="0"/>
              <a:t>, </a:t>
            </a:r>
            <a:r>
              <a:rPr lang="ko-KR" altLang="en-US" sz="1600" dirty="0"/>
              <a:t>가공</a:t>
            </a:r>
            <a:r>
              <a:rPr lang="en-US" altLang="ko-KR" sz="1600" dirty="0"/>
              <a:t>, </a:t>
            </a:r>
            <a:r>
              <a:rPr lang="ko-KR" altLang="en-US" sz="1600" dirty="0"/>
              <a:t>운송을 포함하고</a:t>
            </a:r>
            <a:r>
              <a:rPr lang="en-US" altLang="ko-KR" sz="1600" dirty="0"/>
              <a:t>, </a:t>
            </a:r>
            <a:r>
              <a:rPr lang="ko-KR" altLang="en-US" sz="1600" dirty="0"/>
              <a:t>채굴기업뿐 아니라 물류기업과 인프라 운영기관이 참여한다</a:t>
            </a:r>
            <a:r>
              <a:rPr lang="en-US" altLang="ko-KR" sz="1600" dirty="0"/>
              <a:t>. 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철도 및 항만 인프라에 대한 접근성은 기업의 수송비용과 공급 안정성에 결정적인 영향을 미치고</a:t>
            </a:r>
            <a:r>
              <a:rPr lang="en-US" altLang="ko-KR" sz="1600" dirty="0"/>
              <a:t>, </a:t>
            </a:r>
            <a:r>
              <a:rPr lang="ko-KR" altLang="en-US" sz="1600" dirty="0"/>
              <a:t>시장과의 거리</a:t>
            </a:r>
            <a:r>
              <a:rPr lang="en-US" altLang="ko-KR" sz="1600" dirty="0"/>
              <a:t>, </a:t>
            </a:r>
            <a:r>
              <a:rPr lang="ko-KR" altLang="en-US" sz="1600" dirty="0"/>
              <a:t>물류 비용 차이가 기업 간 수익성을 크게 좌우한다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하류부문에서는 발전소</a:t>
            </a:r>
            <a:r>
              <a:rPr lang="en-US" altLang="ko-KR" sz="1600" dirty="0"/>
              <a:t>, </a:t>
            </a:r>
            <a:r>
              <a:rPr lang="ko-KR" altLang="en-US" sz="1600" dirty="0"/>
              <a:t>철강 및 시멘트 산업 등 대규모 소비자가 주요 수요자이다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일부 국가는 공기업이 석탄 유통을 독점하는 반면</a:t>
            </a:r>
            <a:r>
              <a:rPr lang="en-US" altLang="ko-KR" sz="1600" dirty="0"/>
              <a:t>, </a:t>
            </a:r>
            <a:r>
              <a:rPr lang="ko-KR" altLang="en-US" sz="1600" dirty="0"/>
              <a:t>자유경쟁이 허용된 국가에서는 민간기업 간의 경쟁이 활발하다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특히 전력산업의 구조와 규제 체계는 석탄 수요</a:t>
            </a:r>
            <a:r>
              <a:rPr lang="en-US" altLang="ko-KR" sz="1600" dirty="0"/>
              <a:t>, </a:t>
            </a:r>
            <a:r>
              <a:rPr lang="ko-KR" altLang="en-US" sz="1600" dirty="0"/>
              <a:t>계약 구조</a:t>
            </a:r>
            <a:r>
              <a:rPr lang="en-US" altLang="ko-KR" sz="1600" dirty="0"/>
              <a:t>, </a:t>
            </a:r>
            <a:r>
              <a:rPr lang="ko-KR" altLang="en-US" sz="1600" dirty="0"/>
              <a:t>공급 전략에 직접적인 영향을 미친다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3850616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049603-4833-BE41-ED74-F33E4DE8F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FC3599-4C7C-E45F-A1A8-FA8007DAA6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시장경쟁 요소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6DC9FB5-A46A-2F24-2390-E1B349CFA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39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861464-9798-283A-CD36-345441C51D3B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석탄산업의 경쟁구조는 수요</a:t>
            </a:r>
            <a:r>
              <a:rPr lang="en-US" altLang="ko-KR" sz="1600" dirty="0"/>
              <a:t>, </a:t>
            </a:r>
            <a:r>
              <a:rPr lang="ko-KR" altLang="en-US" sz="1600" dirty="0"/>
              <a:t>규제</a:t>
            </a:r>
            <a:r>
              <a:rPr lang="en-US" altLang="ko-KR" sz="1600" dirty="0"/>
              <a:t>, </a:t>
            </a:r>
            <a:r>
              <a:rPr lang="ko-KR" altLang="en-US" sz="1600" dirty="0"/>
              <a:t>기술</a:t>
            </a:r>
            <a:r>
              <a:rPr lang="en-US" altLang="ko-KR" sz="1600" dirty="0"/>
              <a:t>, </a:t>
            </a:r>
            <a:r>
              <a:rPr lang="ko-KR" altLang="en-US" sz="1600" dirty="0"/>
              <a:t>지정학적 요인의 상호작용에 따라 결정된다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 소비는 중국과 인도 등 신흥경제국의 산업 성장과 전력 수요 확대에 따라 유지되고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</a:t>
            </a:r>
            <a:r>
              <a:rPr lang="en-US" altLang="ko-KR" sz="1600" dirty="0"/>
              <a:t>, </a:t>
            </a: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유럽</a:t>
            </a:r>
            <a:r>
              <a:rPr lang="en-US" altLang="ko-KR" sz="1600" dirty="0"/>
              <a:t>, </a:t>
            </a:r>
            <a:r>
              <a:rPr lang="ko-KR" altLang="en-US" sz="1600" dirty="0"/>
              <a:t>한국 등 선진국에서는 탄소중립 목표와 재생에너지 보급 확대에 따라 석탄 수요가 지속적으로 감소하고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규제환경도 석탄산업의 경쟁력에 결정적인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유럽연합은 강력한 탄소배출권 거래제와 환경기준을 도입해 석탄 기업의 규제 준수 비용을 증가 시키고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 환경규제가 느슨한 일부 국가에서는 상대적으로 낮은 생산비용으로 수출 경쟁력을 유지하고 있어</a:t>
            </a:r>
            <a:r>
              <a:rPr lang="en-US" altLang="ko-KR" sz="1600" dirty="0"/>
              <a:t>, </a:t>
            </a:r>
            <a:r>
              <a:rPr lang="ko-KR" altLang="en-US" sz="1600" dirty="0"/>
              <a:t>규제 기반의 국제 경쟁 불균형이 문제로 지적되고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기술혁신 또한 석탄 산업의 경쟁력에 큰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태양광</a:t>
            </a:r>
            <a:r>
              <a:rPr lang="en-US" altLang="ko-KR" sz="1600" dirty="0"/>
              <a:t>, </a:t>
            </a:r>
            <a:r>
              <a:rPr lang="ko-KR" altLang="en-US" sz="1600" dirty="0"/>
              <a:t>풍력 기술의 급속한 발전은 석탄에 대한 구조적 대체 압력을 </a:t>
            </a:r>
            <a:r>
              <a:rPr lang="ko-KR" altLang="en-US" sz="1600" dirty="0" err="1"/>
              <a:t>심화시키고</a:t>
            </a:r>
            <a:r>
              <a:rPr lang="ko-KR" altLang="en-US" sz="1600" dirty="0"/>
              <a:t>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이에 대응하고자 석탄 기업들은 고효율</a:t>
            </a:r>
            <a:r>
              <a:rPr lang="en-US" altLang="ko-KR" sz="1600" dirty="0"/>
              <a:t>, </a:t>
            </a:r>
            <a:r>
              <a:rPr lang="ko-KR" altLang="en-US" sz="1600" dirty="0"/>
              <a:t>이산화탄소 </a:t>
            </a:r>
            <a:r>
              <a:rPr lang="ko-KR" altLang="en-US" sz="1600" dirty="0" err="1"/>
              <a:t>포집</a:t>
            </a:r>
            <a:r>
              <a:rPr lang="ko-KR" altLang="en-US" sz="1600" dirty="0"/>
              <a:t> 및 저장</a:t>
            </a:r>
            <a:r>
              <a:rPr lang="en-US" altLang="ko-KR" sz="1600" dirty="0"/>
              <a:t>, </a:t>
            </a:r>
            <a:r>
              <a:rPr lang="ko-KR" altLang="en-US" sz="1600" dirty="0"/>
              <a:t>수소 활용 기술 등 다각화를 추진하고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지정학적 요인 </a:t>
            </a:r>
            <a:r>
              <a:rPr lang="en-US" altLang="ko-KR" sz="1600" dirty="0"/>
              <a:t>(</a:t>
            </a:r>
            <a:r>
              <a:rPr lang="ko-KR" altLang="en-US" sz="1600" dirty="0"/>
              <a:t>무역분쟁</a:t>
            </a:r>
            <a:r>
              <a:rPr lang="en-US" altLang="ko-KR" sz="1600" dirty="0"/>
              <a:t>, </a:t>
            </a:r>
            <a:r>
              <a:rPr lang="ko-KR" altLang="en-US" sz="1600" dirty="0"/>
              <a:t>수출입규제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안보 전략</a:t>
            </a:r>
            <a:r>
              <a:rPr lang="en-US" altLang="ko-KR" sz="1600" dirty="0"/>
              <a:t> </a:t>
            </a:r>
            <a:r>
              <a:rPr lang="ko-KR" altLang="en-US" sz="1600" dirty="0"/>
              <a:t>등</a:t>
            </a:r>
            <a:r>
              <a:rPr lang="en-US" altLang="ko-KR" sz="1600" dirty="0"/>
              <a:t>)</a:t>
            </a:r>
            <a:r>
              <a:rPr lang="ko-KR" altLang="en-US" sz="1600" dirty="0"/>
              <a:t>도 석탄 산업에 많은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미중</a:t>
            </a:r>
            <a:r>
              <a:rPr lang="ko-KR" altLang="en-US" sz="1600" dirty="0"/>
              <a:t> 무역갈등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-</a:t>
            </a:r>
            <a:r>
              <a:rPr lang="ko-KR" altLang="en-US" sz="1600" dirty="0"/>
              <a:t>우크라이나 전쟁 등은 석탄의 수출입 경로와 가격 형성에 실질적 영향을 끼쳤다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193757306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EC7BC0-44CC-D7F4-E6DD-57DD5DF7A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81F0DEA-AE25-B4E8-343A-FEF36817CAB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5BD1CC-4832-28EA-F890-0A6C9BA90D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40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4E50D6D8-C49D-3D8B-C6BD-1CFAA1E59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8. </a:t>
            </a:r>
            <a:r>
              <a:rPr lang="ko-KR" altLang="en-US" sz="4000" b="1" i="0" spc="150" dirty="0"/>
              <a:t>석탄시장의 거래 현황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5239426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F66E8E-7692-3D40-5DE7-F4A9F9BE5C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319689-0BBA-B720-4A6E-10281AC89A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매장량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D28DB94-4CD8-C7CD-BA63-1997359A3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9C53DC4-49FD-BE2A-BC43-852731BEE475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석탄 매장량은 석유나 천연가스에 비해 지리적으로 넓게 분포되어 있으나</a:t>
            </a:r>
            <a:r>
              <a:rPr lang="en-US" altLang="ko-KR" sz="1600" dirty="0"/>
              <a:t>, </a:t>
            </a:r>
            <a:r>
              <a:rPr lang="ko-KR" altLang="en-US" sz="1600" dirty="0"/>
              <a:t>실제 확인 매장량의 대부분은 소수의 국가에 집중되어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2023</a:t>
            </a:r>
            <a:r>
              <a:rPr lang="ko-KR" altLang="en-US" sz="1600" dirty="0"/>
              <a:t>년 기준 전 세계 확인 매장량은 약 </a:t>
            </a:r>
            <a:r>
              <a:rPr lang="en-US" altLang="ko-KR" sz="1600" dirty="0"/>
              <a:t>1.1</a:t>
            </a:r>
            <a:r>
              <a:rPr lang="ko-KR" altLang="en-US" sz="1600" dirty="0"/>
              <a:t>조 톤으로 추정되며</a:t>
            </a:r>
            <a:r>
              <a:rPr lang="en-US" altLang="ko-KR" sz="1600" dirty="0"/>
              <a:t>, </a:t>
            </a:r>
            <a:r>
              <a:rPr lang="ko-KR" altLang="en-US" sz="1600" dirty="0"/>
              <a:t>현재 소비 기준을 기준으로 약 </a:t>
            </a:r>
            <a:r>
              <a:rPr lang="en-US" altLang="ko-KR" sz="1600" dirty="0"/>
              <a:t>130</a:t>
            </a:r>
            <a:r>
              <a:rPr lang="ko-KR" altLang="en-US" sz="1600" dirty="0"/>
              <a:t>년간 채굴이 가능한 수준으로 평가된다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국가별 석탄 유형도 상이하게 분포되어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호주</a:t>
            </a:r>
            <a:r>
              <a:rPr lang="en-US" altLang="ko-KR" sz="1600" dirty="0"/>
              <a:t>, </a:t>
            </a:r>
            <a:r>
              <a:rPr lang="ko-KR" altLang="en-US" sz="1600" dirty="0"/>
              <a:t>중국</a:t>
            </a:r>
            <a:r>
              <a:rPr lang="en-US" altLang="ko-KR" sz="1600" dirty="0"/>
              <a:t>, </a:t>
            </a:r>
            <a:r>
              <a:rPr lang="ko-KR" altLang="en-US" sz="1600" dirty="0"/>
              <a:t>남아공 등은 </a:t>
            </a:r>
            <a:r>
              <a:rPr lang="ko-KR" altLang="en-US" sz="1600" dirty="0" err="1"/>
              <a:t>고열량의</a:t>
            </a:r>
            <a:r>
              <a:rPr lang="ko-KR" altLang="en-US" sz="1600" dirty="0"/>
              <a:t> 무연탄 및 역청탄이 풍부하며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발전용뿐만 아니라 철강 생산의 핵심 원료로도 활용된다</a:t>
            </a:r>
            <a:r>
              <a:rPr lang="en-US" altLang="ko-KR" sz="1600" dirty="0"/>
              <a:t>. </a:t>
            </a:r>
            <a:r>
              <a:rPr lang="en-US" altLang="ko-KR" sz="1600" dirty="0">
                <a:hlinkClick r:id="rId2"/>
              </a:rPr>
              <a:t>https://www.youtube.com/watch?v=vhwwMYvF1CE</a:t>
            </a:r>
            <a:r>
              <a:rPr lang="en-US" altLang="ko-KR" sz="1600" dirty="0"/>
              <a:t> 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반면 독일</a:t>
            </a:r>
            <a:r>
              <a:rPr lang="en-US" altLang="ko-KR" sz="1600" dirty="0"/>
              <a:t>, </a:t>
            </a:r>
            <a:r>
              <a:rPr lang="ko-KR" altLang="en-US" sz="1600" dirty="0"/>
              <a:t>인도네시아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, </a:t>
            </a:r>
            <a:r>
              <a:rPr lang="ko-KR" altLang="en-US" sz="1600" dirty="0"/>
              <a:t>인도 등에서는 수분 함량이 높고</a:t>
            </a:r>
            <a:r>
              <a:rPr lang="en-US" altLang="ko-KR" sz="1600" dirty="0"/>
              <a:t>, </a:t>
            </a:r>
            <a:r>
              <a:rPr lang="ko-KR" altLang="en-US" sz="1600" dirty="0"/>
              <a:t>발열량이 낮은 갈탄이 주로 매장되어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이러한 </a:t>
            </a:r>
            <a:r>
              <a:rPr lang="ko-KR" altLang="en-US" sz="1600" dirty="0" err="1"/>
              <a:t>저품질</a:t>
            </a:r>
            <a:r>
              <a:rPr lang="ko-KR" altLang="en-US" sz="1600" dirty="0"/>
              <a:t> 석탄은 발전 효율이 낮고</a:t>
            </a:r>
            <a:r>
              <a:rPr lang="en-US" altLang="ko-KR" sz="1600" dirty="0"/>
              <a:t>, </a:t>
            </a:r>
            <a:r>
              <a:rPr lang="ko-KR" altLang="en-US" sz="1600" dirty="0"/>
              <a:t>환경오염 물질 배출이 많아 외부비용이 큰 자원으로 간주된다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석탄매장량은 일반적으로 석유나 천연가스에 비해 정치적 리스크가 낮은 지역에 분포되어 있어 전통적으로 에너지 안보의 안정적인 자원으로 간주되어 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특히 산업화 초기 단계의 국가들은 국내 자급이 가능한 석탄을 주요 기초 에너지원으로 활용해왔다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58998928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B076F3-F4BA-E73A-A37A-8B1300F2E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ECAD49-885F-BC71-304A-D29B4413E8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매장량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1F560D-B2C2-C0D3-39E8-6B0507F230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3B71E4D-E5B1-0B4C-F490-F9CD694B08DE}"/>
              </a:ext>
            </a:extLst>
          </p:cNvPr>
          <p:cNvSpPr txBox="1"/>
          <p:nvPr/>
        </p:nvSpPr>
        <p:spPr>
          <a:xfrm>
            <a:off x="288790" y="958844"/>
            <a:ext cx="11118453" cy="115268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최근 기후변화 대응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 목표</a:t>
            </a:r>
            <a:r>
              <a:rPr lang="en-US" altLang="ko-KR" sz="1600" dirty="0"/>
              <a:t>, </a:t>
            </a:r>
            <a:r>
              <a:rPr lang="ko-KR" altLang="en-US" sz="1600" dirty="0"/>
              <a:t>재생에너지 전환 정책 등이 본격화되면서 석탄의 경제적 가치는 하락하고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다수 국가에서 탄소 가격 제도를 도입하는 등에 따라 일부 석탄 자산은 향후 수익 창출이 어려운 </a:t>
            </a:r>
            <a:r>
              <a:rPr lang="en-US" altLang="ko-KR" sz="1600" dirty="0"/>
              <a:t>‘</a:t>
            </a:r>
            <a:r>
              <a:rPr lang="ko-KR" altLang="en-US" sz="1600" dirty="0"/>
              <a:t>좌초자산</a:t>
            </a:r>
            <a:r>
              <a:rPr lang="en-US" altLang="ko-KR" sz="1600" dirty="0"/>
              <a:t>’</a:t>
            </a:r>
            <a:r>
              <a:rPr lang="ko-KR" altLang="en-US" sz="1600" dirty="0"/>
              <a:t>으로 전환될 위험에 직면해 있다</a:t>
            </a:r>
            <a:r>
              <a:rPr lang="en-US" altLang="ko-KR" sz="1600" dirty="0"/>
              <a:t>.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C8EFEF91-3F16-6029-8A05-63CE455C89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38047534"/>
              </p:ext>
            </p:extLst>
          </p:nvPr>
        </p:nvGraphicFramePr>
        <p:xfrm>
          <a:off x="6757254" y="2147659"/>
          <a:ext cx="4963991" cy="439134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3687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894080">
                  <a:extLst>
                    <a:ext uri="{9D8B030D-6E8A-4147-A177-3AD203B41FA5}">
                      <a16:colId xmlns:a16="http://schemas.microsoft.com/office/drawing/2014/main" val="3578883964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무연탄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&amp;</a:t>
                      </a: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역청탄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 err="1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아역청탄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&amp;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갈탄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합계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224,444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32,290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256,734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218,938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30,003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248,941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59,084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78,156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137,240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독일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35,900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35,900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우크라이나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32,039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2,336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34,375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100,208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90,447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190,655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71,719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90,447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162,166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&amp;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15,974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16,040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아시아태평양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345,313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114,437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459,750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84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73,719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76,508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150,227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98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135,069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8,128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143,197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41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105,979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5,073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111,052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인도네시아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23,141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11,728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34,869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583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753,639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320,469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1,074,108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331,303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177,130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508,433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47.3%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422,336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143,339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565,675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D191509-DEF9-4F62-2229-7CAD0FA9CEF0}"/>
              </a:ext>
            </a:extLst>
          </p:cNvPr>
          <p:cNvSpPr txBox="1"/>
          <p:nvPr/>
        </p:nvSpPr>
        <p:spPr>
          <a:xfrm>
            <a:off x="7671736" y="1823288"/>
            <a:ext cx="315882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지역별 석탄 매장량</a:t>
            </a:r>
            <a:r>
              <a:rPr lang="en-US" altLang="ko-KR" sz="1200" spc="-50" dirty="0"/>
              <a:t> (</a:t>
            </a:r>
            <a:r>
              <a:rPr lang="ko-KR" altLang="en-US" sz="1200" spc="-50" dirty="0" err="1"/>
              <a:t>백만톤</a:t>
            </a:r>
            <a:r>
              <a:rPr lang="en-US" altLang="ko-KR" sz="1200" spc="-50" dirty="0"/>
              <a:t>), 2020</a:t>
            </a:r>
            <a:r>
              <a:rPr lang="ko-KR" altLang="en-US" sz="1200" spc="-50" dirty="0"/>
              <a:t>년 기준</a:t>
            </a:r>
            <a:r>
              <a:rPr lang="en-US" altLang="ko-KR" sz="1200" spc="-50" dirty="0"/>
              <a:t> &gt;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F37B449-9D10-F5F9-AD01-A7DED741A0C0}"/>
              </a:ext>
            </a:extLst>
          </p:cNvPr>
          <p:cNvSpPr txBox="1"/>
          <p:nvPr/>
        </p:nvSpPr>
        <p:spPr>
          <a:xfrm>
            <a:off x="288791" y="2147659"/>
            <a:ext cx="620345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오른쪽 표는 지역별 석탄매장량을 보여주고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 세계 석탄 매장량은 </a:t>
            </a:r>
            <a:r>
              <a:rPr lang="en-US" altLang="ko-KR" sz="1600" dirty="0"/>
              <a:t>1,074,108(</a:t>
            </a:r>
            <a:r>
              <a:rPr lang="ko-KR" altLang="en-US" sz="1600" dirty="0" err="1"/>
              <a:t>백만톤</a:t>
            </a:r>
            <a:r>
              <a:rPr lang="en-US" altLang="ko-KR" sz="1600" dirty="0"/>
              <a:t>) </a:t>
            </a:r>
            <a:r>
              <a:rPr lang="ko-KR" altLang="en-US" sz="1600" dirty="0"/>
              <a:t>이었으며</a:t>
            </a:r>
            <a:r>
              <a:rPr lang="en-US" altLang="ko-KR" sz="1600" dirty="0"/>
              <a:t>, </a:t>
            </a:r>
            <a:r>
              <a:rPr lang="ko-KR" altLang="en-US" sz="1600" dirty="0"/>
              <a:t>무연탄과 역청탄 매장량이 </a:t>
            </a:r>
            <a:r>
              <a:rPr lang="ko-KR" altLang="en-US" sz="1600" dirty="0" err="1"/>
              <a:t>아역청탄과</a:t>
            </a:r>
            <a:r>
              <a:rPr lang="ko-KR" altLang="en-US" sz="1600" dirty="0"/>
              <a:t> 갈탄 매장량의 두배를 상회하였다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아시아태평양이 가장 많은 매장량을 가지고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북미지역은 매장량의 </a:t>
            </a:r>
            <a:r>
              <a:rPr lang="en-US" altLang="ko-KR" sz="1600" dirty="0"/>
              <a:t>23.9%</a:t>
            </a:r>
            <a:r>
              <a:rPr lang="ko-KR" altLang="en-US" sz="1600" dirty="0"/>
              <a:t>를 보유하고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510860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2D6932B-72D0-2B01-8C30-3929E3DAE2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전 세계 석탄 매장량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570FBA5-6B2E-D7CE-59E7-0FF960DC35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43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F54AAAD9-4AB8-24CB-7360-E00876A61E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4274" y="811369"/>
            <a:ext cx="5694608" cy="5694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606775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BF143-7245-B222-49E5-B6092D06C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F9D373-5299-0573-8B3F-28CD71465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생산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B65BE9D-B554-7D09-00FB-5A3C3CE0C5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D7DA9C-ABDD-4B20-A8D8-A0160779F940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석탄 생산은 일부 국가들이 시장을 지배하는 </a:t>
            </a:r>
            <a:r>
              <a:rPr lang="ko-KR" altLang="en-US" sz="1600" dirty="0" err="1"/>
              <a:t>집중화된</a:t>
            </a:r>
            <a:r>
              <a:rPr lang="ko-KR" altLang="en-US" sz="1600" dirty="0"/>
              <a:t> 구조를 보이고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중국은 급증하는 전력수요와 산업용 석탄 수요의 구조적 고착성에 따라 높은 수준의 석탄 생산량을 유지해왔다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호주와 인도네시아는 자국 내 소비보다 해외 수출을 주된 목적으로 석탄을 생산하고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인도는 세계</a:t>
            </a:r>
            <a:r>
              <a:rPr lang="en-US" altLang="ko-KR" sz="1600" dirty="0"/>
              <a:t> 2</a:t>
            </a:r>
            <a:r>
              <a:rPr lang="ko-KR" altLang="en-US" sz="1600" dirty="0"/>
              <a:t>위 석탄 생산국임에도 불구하고</a:t>
            </a:r>
            <a:r>
              <a:rPr lang="en-US" altLang="ko-KR" sz="1600" dirty="0"/>
              <a:t>, </a:t>
            </a:r>
            <a:r>
              <a:rPr lang="ko-KR" altLang="en-US" sz="1600" dirty="0"/>
              <a:t>급속한 산업화에 따른 전력 수요 증가로 국내 생산만으로 수요를 충당하기 어려운 상황이다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이에 따라 매년 수천만 톤의 석탄을 해외에서 수입하고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835025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국가 간 석탄 생산 방식에는 기술 격차가 존재하며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생산 효율성과 노동 안정성에 중요한 영향을 미친다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미국과 호주는 자동화된 채굴장비</a:t>
            </a:r>
            <a:r>
              <a:rPr lang="en-US" altLang="ko-KR" sz="1600" dirty="0"/>
              <a:t>, </a:t>
            </a:r>
            <a:r>
              <a:rPr lang="ko-KR" altLang="en-US" sz="1600" dirty="0"/>
              <a:t>디지털 및 자율주행 기술 등의 도입으로 생산성을 제고하고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인도네시아 등 개발도상국은 여전히 노동집약적 방식으로 낮은 생산성을 보이고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1848469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45420-37D8-E88B-8E1F-BEF545380E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49ABB6-D2D2-3DEF-14B0-BEB05278E5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매장량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E5C2BD-38C3-113F-05A4-F2221784B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954B26-833F-F95A-FB15-3D1D68520648}"/>
              </a:ext>
            </a:extLst>
          </p:cNvPr>
          <p:cNvSpPr txBox="1"/>
          <p:nvPr/>
        </p:nvSpPr>
        <p:spPr>
          <a:xfrm>
            <a:off x="288791" y="958844"/>
            <a:ext cx="6218690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지역별로 살펴보면</a:t>
            </a:r>
            <a:r>
              <a:rPr lang="en-US" altLang="ko-KR" sz="1600" dirty="0"/>
              <a:t>, </a:t>
            </a:r>
            <a:r>
              <a:rPr lang="ko-KR" altLang="en-US" sz="1600" dirty="0"/>
              <a:t>아시아 지역이 전 세계 생산의 </a:t>
            </a:r>
            <a:r>
              <a:rPr lang="en-US" altLang="ko-KR" sz="1600" dirty="0"/>
              <a:t>79.0%</a:t>
            </a:r>
            <a:r>
              <a:rPr lang="ko-KR" altLang="en-US" sz="1600" dirty="0"/>
              <a:t>를 차지하고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중국이 </a:t>
            </a:r>
            <a:r>
              <a:rPr lang="en-US" altLang="ko-KR" sz="1600" dirty="0"/>
              <a:t>51.8%, </a:t>
            </a:r>
            <a:r>
              <a:rPr lang="ko-KR" altLang="en-US" sz="1600" dirty="0"/>
              <a:t>인도가 </a:t>
            </a:r>
            <a:r>
              <a:rPr lang="en-US" altLang="ko-KR" sz="1600" dirty="0"/>
              <a:t>11.1%, </a:t>
            </a:r>
            <a:r>
              <a:rPr lang="ko-KR" altLang="en-US" sz="1600" dirty="0"/>
              <a:t>인도네시아가 </a:t>
            </a:r>
            <a:r>
              <a:rPr lang="en-US" altLang="ko-KR" sz="1600" dirty="0"/>
              <a:t>8.5%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dirty="0"/>
              <a:t>OECD </a:t>
            </a:r>
            <a:r>
              <a:rPr lang="ko-KR" altLang="en-US" sz="1600" dirty="0"/>
              <a:t>국가는 최근 </a:t>
            </a:r>
            <a:r>
              <a:rPr lang="en-US" altLang="ko-KR" sz="1600" dirty="0"/>
              <a:t>10</a:t>
            </a:r>
            <a:r>
              <a:rPr lang="ko-KR" altLang="en-US" sz="1600" dirty="0"/>
              <a:t>년간 음의 연평균 증가율을 기록하였다</a:t>
            </a:r>
            <a:r>
              <a:rPr lang="en-US" altLang="ko-KR" sz="1600" dirty="0"/>
              <a:t>.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5FC90CB3-8E99-AE0F-9CD8-AFB2A2340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1153493" y="3484880"/>
            <a:ext cx="4734228" cy="2935923"/>
          </a:xfrm>
          <a:prstGeom prst="rect">
            <a:avLst/>
          </a:prstGeom>
        </p:spPr>
      </p:pic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DFF1C2D1-DD57-C4FA-E3D8-0AE7542CBC0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294623"/>
              </p:ext>
            </p:extLst>
          </p:nvPr>
        </p:nvGraphicFramePr>
        <p:xfrm>
          <a:off x="6874094" y="1649819"/>
          <a:ext cx="4748946" cy="4589468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3687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1046480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136235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연평균 증가율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580.6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526.5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</a:t>
                      </a: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남미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-4.6%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440.1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563.4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러시아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432.5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25332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257.1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 태평양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7,181.6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79.0%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84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호주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455.8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98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4,710.0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41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1,010.9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인도네시아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775.2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583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9,095.6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1,418.0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-3.9%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7,677.6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A7D78CE-E989-F543-AA6E-CAD1A45D1C71}"/>
              </a:ext>
            </a:extLst>
          </p:cNvPr>
          <p:cNvSpPr txBox="1"/>
          <p:nvPr/>
        </p:nvSpPr>
        <p:spPr>
          <a:xfrm>
            <a:off x="7839375" y="1325448"/>
            <a:ext cx="3057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지역별 석탄 생산량 및 비중</a:t>
            </a:r>
            <a:r>
              <a:rPr lang="en-US" altLang="ko-KR" sz="1200" spc="-50" dirty="0"/>
              <a:t> (</a:t>
            </a:r>
            <a:r>
              <a:rPr lang="ko-KR" altLang="en-US" sz="1200" spc="-50" dirty="0" err="1"/>
              <a:t>백만톤</a:t>
            </a:r>
            <a:r>
              <a:rPr lang="en-US" altLang="ko-KR" sz="1200" spc="-50" dirty="0"/>
              <a:t>) &gt;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E2D5909-D3F8-51CE-E7F2-81A015AAF9A4}"/>
              </a:ext>
            </a:extLst>
          </p:cNvPr>
          <p:cNvSpPr txBox="1"/>
          <p:nvPr/>
        </p:nvSpPr>
        <p:spPr>
          <a:xfrm>
            <a:off x="2312336" y="3234620"/>
            <a:ext cx="233586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지역별 석탄 생산량</a:t>
            </a:r>
            <a:r>
              <a:rPr lang="en-US" altLang="ko-KR" sz="1200" spc="-50" dirty="0"/>
              <a:t> (</a:t>
            </a:r>
            <a:r>
              <a:rPr lang="ko-KR" altLang="en-US" sz="1200" spc="-50" dirty="0" err="1"/>
              <a:t>백만톤</a:t>
            </a:r>
            <a:r>
              <a:rPr lang="en-US" altLang="ko-KR" sz="1200" spc="-50" dirty="0"/>
              <a:t>) 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362443255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A5B2CA-F955-792A-1D3C-2AE5E0EA15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03A63D-7FA1-07DB-E775-BF9732449C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소비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49369D3-3538-9BE3-40B1-DAA03D0F7A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4E5033-1B47-3D73-C22F-D3DE589BC94A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석탄 소비는 석유나 천연가스에 비해 국가 간 불균형이 더 뚜렷하게 나타난다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중국과 인도는 산업화 가속으로 인해 석탄 발전 비중이 여전히 높은 편이다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에너지 시스템의 구조적 제약으로 인해 단기적 소비 축소는 어렵다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미국</a:t>
            </a:r>
            <a:r>
              <a:rPr lang="en-US" altLang="ko-KR" sz="1600" dirty="0"/>
              <a:t>, </a:t>
            </a:r>
            <a:r>
              <a:rPr lang="ko-KR" altLang="en-US" sz="1600" dirty="0"/>
              <a:t>유럽연합 등의 </a:t>
            </a:r>
            <a:r>
              <a:rPr lang="en-US" altLang="ko-KR" sz="1600" dirty="0"/>
              <a:t>OECD</a:t>
            </a:r>
            <a:r>
              <a:rPr lang="ko-KR" altLang="en-US" sz="1600" dirty="0"/>
              <a:t>국가들은 석탄 소비가 이미 정점을 지나 감소 국면에 접어들었다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미세먼지</a:t>
            </a:r>
            <a:r>
              <a:rPr lang="en-US" altLang="ko-KR" sz="1600" dirty="0"/>
              <a:t>, </a:t>
            </a:r>
            <a:r>
              <a:rPr lang="ko-KR" altLang="en-US" sz="1600" dirty="0"/>
              <a:t>온실가스 배출 등에 대한 환경규제 강화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에너지전환 정책에 기인한다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석탄의 용도 측면에서는 여전히 전력 생산이 핵심이지만</a:t>
            </a:r>
            <a:r>
              <a:rPr lang="en-US" altLang="ko-KR" sz="1600" dirty="0"/>
              <a:t>, </a:t>
            </a:r>
            <a:r>
              <a:rPr lang="ko-KR" altLang="en-US" sz="1600" dirty="0"/>
              <a:t>철강</a:t>
            </a:r>
            <a:r>
              <a:rPr lang="en-US" altLang="ko-KR" sz="1600" dirty="0"/>
              <a:t>, </a:t>
            </a:r>
            <a:r>
              <a:rPr lang="ko-KR" altLang="en-US" sz="1600" dirty="0"/>
              <a:t>시멘트</a:t>
            </a:r>
            <a:r>
              <a:rPr lang="en-US" altLang="ko-KR" sz="1600" dirty="0"/>
              <a:t>, </a:t>
            </a:r>
            <a:r>
              <a:rPr lang="ko-KR" altLang="en-US" sz="1600" dirty="0"/>
              <a:t>화학산업 등 산업용 수요도 상당하다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제철 공정에서는 코크스를 활용한 철광석 환원 공정이 일반적이며</a:t>
            </a:r>
            <a:r>
              <a:rPr lang="en-US" altLang="ko-KR" sz="1600" dirty="0"/>
              <a:t>, </a:t>
            </a:r>
            <a:r>
              <a:rPr lang="ko-KR" altLang="en-US" sz="1600" dirty="0"/>
              <a:t>현재까지 </a:t>
            </a:r>
            <a:r>
              <a:rPr lang="ko-KR" altLang="en-US" sz="1600" dirty="0" err="1"/>
              <a:t>사용화된</a:t>
            </a:r>
            <a:r>
              <a:rPr lang="ko-KR" altLang="en-US" sz="1600" dirty="0"/>
              <a:t> 대체 기술이 부재하다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이로 인해 산업용 석탄 수요는 구조적으로 유지될 가능성이 높고</a:t>
            </a:r>
            <a:r>
              <a:rPr lang="en-US" altLang="ko-KR" sz="1600" dirty="0"/>
              <a:t>, </a:t>
            </a:r>
            <a:r>
              <a:rPr lang="ko-KR" altLang="en-US" sz="1600" dirty="0"/>
              <a:t>각국의 </a:t>
            </a:r>
            <a:r>
              <a:rPr lang="ko-KR" altLang="en-US" sz="1600" dirty="0" err="1"/>
              <a:t>탈석탄</a:t>
            </a:r>
            <a:r>
              <a:rPr lang="ko-KR" altLang="en-US" sz="1600" dirty="0"/>
              <a:t> 전략에 있어 제약 요인으로 작용한다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07703330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E35734-8ED2-256D-ED04-EBD4C805B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BB9A40-1FA2-A4E6-F383-F8EF309CB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소비량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F88683-CE4C-EAAE-0605-6DDD374DB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47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DD61E56-F2F6-6A84-8D60-811EFE4C0D9B}"/>
              </a:ext>
            </a:extLst>
          </p:cNvPr>
          <p:cNvSpPr txBox="1"/>
          <p:nvPr/>
        </p:nvSpPr>
        <p:spPr>
          <a:xfrm>
            <a:off x="288791" y="958844"/>
            <a:ext cx="6218690" cy="226068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지역별로 살펴보면</a:t>
            </a:r>
            <a:r>
              <a:rPr lang="en-US" altLang="ko-KR" sz="1600" dirty="0"/>
              <a:t>, </a:t>
            </a:r>
            <a:r>
              <a:rPr lang="ko-KR" altLang="en-US" sz="1600" dirty="0"/>
              <a:t>아시아 지역이 전 세계 소비의 </a:t>
            </a:r>
            <a:r>
              <a:rPr lang="en-US" altLang="ko-KR" sz="1600" dirty="0"/>
              <a:t>82.7%</a:t>
            </a:r>
            <a:r>
              <a:rPr lang="ko-KR" altLang="en-US" sz="1600" dirty="0"/>
              <a:t>를 차지하고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중국이 </a:t>
            </a:r>
            <a:r>
              <a:rPr lang="en-US" altLang="ko-KR" sz="1600" dirty="0"/>
              <a:t>56%, </a:t>
            </a:r>
            <a:r>
              <a:rPr lang="ko-KR" altLang="en-US" sz="1600" dirty="0"/>
              <a:t>인도가 </a:t>
            </a:r>
            <a:r>
              <a:rPr lang="en-US" altLang="ko-KR" sz="1600" dirty="0"/>
              <a:t>13.4%</a:t>
            </a:r>
            <a:r>
              <a:rPr lang="ko-KR" altLang="en-US" sz="1600" dirty="0"/>
              <a:t>의 비중을 나타내고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한국의 경우 전 세계 석탄소비의 </a:t>
            </a:r>
            <a:r>
              <a:rPr lang="en-US" altLang="ko-KR" sz="1600" dirty="0"/>
              <a:t>1.6%</a:t>
            </a:r>
            <a:r>
              <a:rPr lang="ko-KR" altLang="en-US" sz="1600" dirty="0"/>
              <a:t>를 차지하며</a:t>
            </a:r>
            <a:r>
              <a:rPr lang="en-US" altLang="ko-KR" sz="1600" dirty="0"/>
              <a:t>, </a:t>
            </a:r>
            <a:r>
              <a:rPr lang="ko-KR" altLang="en-US" sz="1600" dirty="0"/>
              <a:t>석탄 </a:t>
            </a:r>
            <a:r>
              <a:rPr lang="en-US" altLang="ko-KR" sz="1600" dirty="0"/>
              <a:t>10</a:t>
            </a:r>
            <a:r>
              <a:rPr lang="ko-KR" altLang="en-US" sz="1600" dirty="0"/>
              <a:t>대 소비국 중 하나이다</a:t>
            </a:r>
            <a:r>
              <a:rPr lang="en-US" altLang="ko-KR" sz="1600" dirty="0"/>
              <a:t>.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2BCF5EA6-9780-D9E7-1707-1E8ED0368E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9618651"/>
              </p:ext>
            </p:extLst>
          </p:nvPr>
        </p:nvGraphicFramePr>
        <p:xfrm>
          <a:off x="6924894" y="1644739"/>
          <a:ext cx="4748946" cy="4638961"/>
        </p:xfrm>
        <a:graphic>
          <a:graphicData uri="http://schemas.openxmlformats.org/drawingml/2006/table">
            <a:tbl>
              <a:tblPr firstRow="1" bandRow="1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336871">
                  <a:extLst>
                    <a:ext uri="{9D8B030D-6E8A-4147-A177-3AD203B41FA5}">
                      <a16:colId xmlns:a16="http://schemas.microsoft.com/office/drawing/2014/main" val="2218693278"/>
                    </a:ext>
                  </a:extLst>
                </a:gridCol>
                <a:gridCol w="933035">
                  <a:extLst>
                    <a:ext uri="{9D8B030D-6E8A-4147-A177-3AD203B41FA5}">
                      <a16:colId xmlns:a16="http://schemas.microsoft.com/office/drawing/2014/main" val="2699398209"/>
                    </a:ext>
                  </a:extLst>
                </a:gridCol>
                <a:gridCol w="1249680">
                  <a:extLst>
                    <a:ext uri="{9D8B030D-6E8A-4147-A177-3AD203B41FA5}">
                      <a16:colId xmlns:a16="http://schemas.microsoft.com/office/drawing/2014/main" val="4042259682"/>
                    </a:ext>
                  </a:extLst>
                </a:gridCol>
                <a:gridCol w="1229360">
                  <a:extLst>
                    <a:ext uri="{9D8B030D-6E8A-4147-A177-3AD203B41FA5}">
                      <a16:colId xmlns:a16="http://schemas.microsoft.com/office/drawing/2014/main" val="4050302428"/>
                    </a:ext>
                  </a:extLst>
                </a:gridCol>
              </a:tblGrid>
              <a:tr h="158628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지역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2013-2023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연평균 증가율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비중</a:t>
                      </a:r>
                      <a:endParaRPr lang="en-US" altLang="ko-KR" sz="1300" b="1" kern="0" spc="0" dirty="0"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latinLnBrk="1"/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(2023</a:t>
                      </a:r>
                      <a:r>
                        <a:rPr lang="ko-KR" altLang="en-US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년</a:t>
                      </a:r>
                      <a:r>
                        <a:rPr lang="en-US" altLang="ko-KR" sz="1300" b="1" kern="0" spc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60223" marR="60223" marT="16650" marB="1665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783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북미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8.83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-7.6%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3031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미국</a:t>
                      </a:r>
                      <a:endParaRPr lang="en-US" altLang="ko-KR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8.20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-7.6%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20443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</a:t>
                      </a: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남미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1.16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001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유럽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8.39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-6.1%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0014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CIS</a:t>
                      </a: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국가들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5.49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5589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중동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1305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아프리카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4.08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2980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아시아 태평양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135.70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82.7%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1848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중국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91.94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56.0%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5098118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21.98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04115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인도네시아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966345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일본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4.54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-1.1%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2.8%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513387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한국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2.69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-2.3%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1.6%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8933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베트남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2.32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12.5%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1.4%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25838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l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1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전 세계</a:t>
                      </a:r>
                      <a:endParaRPr lang="en-US" sz="1300" b="1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164.03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0.2%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100.0%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57187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25.15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-5.3%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15.3%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35584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indent="0" algn="ctr" fontAlgn="base" latinLnBrk="0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비</a:t>
                      </a: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OECD</a:t>
                      </a:r>
                      <a:endParaRPr lang="en-US" sz="1300" b="0" kern="0" spc="0" dirty="0">
                        <a:solidFill>
                          <a:srgbClr val="000000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0223" marR="60223" marT="16650" marB="1665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138.88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altLang="ko-KR" sz="1300" b="0" kern="0" spc="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84.7%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41274545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56C13698-6363-F1F4-A118-71C781D74BAD}"/>
              </a:ext>
            </a:extLst>
          </p:cNvPr>
          <p:cNvSpPr txBox="1"/>
          <p:nvPr/>
        </p:nvSpPr>
        <p:spPr>
          <a:xfrm>
            <a:off x="7890175" y="1320368"/>
            <a:ext cx="305722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지역별 석탄 소비량 및 비중</a:t>
            </a:r>
            <a:r>
              <a:rPr lang="en-US" altLang="ko-KR" sz="1200" spc="-50" dirty="0"/>
              <a:t> (</a:t>
            </a:r>
            <a:r>
              <a:rPr lang="ko-KR" altLang="en-US" sz="1200" spc="-50" dirty="0" err="1"/>
              <a:t>백만톤</a:t>
            </a:r>
            <a:r>
              <a:rPr lang="en-US" altLang="ko-KR" sz="1200" spc="-50" dirty="0"/>
              <a:t>) &gt;</a:t>
            </a:r>
            <a:endParaRPr lang="ko-KR" altLang="en-US" sz="1200" dirty="0"/>
          </a:p>
        </p:txBody>
      </p:sp>
      <p:pic>
        <p:nvPicPr>
          <p:cNvPr id="10" name="Content Placeholder 2">
            <a:extLst>
              <a:ext uri="{FF2B5EF4-FFF2-40B4-BE49-F238E27FC236}">
                <a16:creationId xmlns:a16="http://schemas.microsoft.com/office/drawing/2014/main" id="{EB6ECC48-32DE-2192-8133-3AD53D45F9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tretch>
            <a:fillRect/>
          </a:stretch>
        </p:blipFill>
        <p:spPr>
          <a:xfrm>
            <a:off x="429752" y="3443943"/>
            <a:ext cx="5666248" cy="316795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53E4A4-C257-21CA-503B-2AFA5C213BD0}"/>
              </a:ext>
            </a:extLst>
          </p:cNvPr>
          <p:cNvSpPr txBox="1"/>
          <p:nvPr/>
        </p:nvSpPr>
        <p:spPr>
          <a:xfrm>
            <a:off x="1650232" y="3300660"/>
            <a:ext cx="349580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</a:t>
            </a:r>
            <a:r>
              <a:rPr lang="ko-KR" altLang="en-US" sz="1200" spc="-50" dirty="0"/>
              <a:t>지역별 석탄 소비량</a:t>
            </a:r>
            <a:r>
              <a:rPr lang="en-US" altLang="ko-KR" sz="1200" spc="-50" dirty="0"/>
              <a:t> (</a:t>
            </a:r>
            <a:r>
              <a:rPr lang="ko-KR" altLang="en-US" sz="1200" spc="-50" dirty="0"/>
              <a:t>단위</a:t>
            </a:r>
            <a:r>
              <a:rPr lang="en-US" altLang="ko-KR" sz="1200" spc="-50" dirty="0"/>
              <a:t>: </a:t>
            </a:r>
            <a:r>
              <a:rPr lang="ko-KR" altLang="en-US" sz="1200" spc="-50" dirty="0" err="1"/>
              <a:t>엑사줄</a:t>
            </a:r>
            <a:r>
              <a:rPr lang="en-US" altLang="ko-KR" sz="1200" spc="-50" dirty="0"/>
              <a:t>, exajoules) 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121851648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46290-F616-6805-8E00-A2323E595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BBA19B-0600-1AEE-4248-AC9AF097D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수출입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067FA55-0EB1-6255-797C-3D927C7082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795DA04-EC5C-2C8E-671F-07D20499E18D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글로벌 석탄 교역은 생산과 소비가 특정 국가에 집중된 구조를 명확히 반영하고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 수출은 호주</a:t>
            </a:r>
            <a:r>
              <a:rPr lang="en-US" altLang="ko-KR" sz="1600" dirty="0"/>
              <a:t>, </a:t>
            </a:r>
            <a:r>
              <a:rPr lang="ko-KR" altLang="en-US" sz="1600" dirty="0"/>
              <a:t>인도네시아</a:t>
            </a:r>
            <a:r>
              <a:rPr lang="en-US" altLang="ko-KR" sz="1600" dirty="0"/>
              <a:t>, </a:t>
            </a:r>
            <a:r>
              <a:rPr lang="ko-KR" altLang="en-US" sz="1600" dirty="0"/>
              <a:t>러시아</a:t>
            </a:r>
            <a:r>
              <a:rPr lang="en-US" altLang="ko-KR" sz="1600" dirty="0"/>
              <a:t>, </a:t>
            </a:r>
            <a:r>
              <a:rPr lang="ko-KR" altLang="en-US" sz="1600" dirty="0"/>
              <a:t>남아공</a:t>
            </a:r>
            <a:r>
              <a:rPr lang="en-US" altLang="ko-KR" sz="1600" dirty="0"/>
              <a:t>, </a:t>
            </a:r>
            <a:r>
              <a:rPr lang="ko-KR" altLang="en-US" sz="1600" dirty="0"/>
              <a:t>미국 등 소수의 주요 생산국이 주도 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호주는 고품질 제철용 </a:t>
            </a:r>
            <a:r>
              <a:rPr lang="ko-KR" altLang="en-US" sz="1600" dirty="0" err="1"/>
              <a:t>코크스탄의</a:t>
            </a:r>
            <a:r>
              <a:rPr lang="ko-KR" altLang="en-US" sz="1600" dirty="0"/>
              <a:t> 최대 수출국으로 한국</a:t>
            </a:r>
            <a:r>
              <a:rPr lang="en-US" altLang="ko-KR" sz="1600" dirty="0"/>
              <a:t>, </a:t>
            </a:r>
            <a:r>
              <a:rPr lang="ko-KR" altLang="en-US" sz="1600" dirty="0"/>
              <a:t>일본</a:t>
            </a:r>
            <a:r>
              <a:rPr lang="en-US" altLang="ko-KR" sz="1600" dirty="0"/>
              <a:t>, </a:t>
            </a:r>
            <a:r>
              <a:rPr lang="ko-KR" altLang="en-US" sz="1600" dirty="0"/>
              <a:t>인도 등 주요 철강 생산국에 공급하고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인도네시아는 저비용 </a:t>
            </a:r>
            <a:r>
              <a:rPr lang="ko-KR" altLang="en-US" sz="1600" dirty="0" err="1"/>
              <a:t>저열량의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열탄을</a:t>
            </a:r>
            <a:r>
              <a:rPr lang="ko-KR" altLang="en-US" sz="1600" dirty="0"/>
              <a:t> 중심으로 아시아 발전시장에 특화된 공급구조를 형성하고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 수입은 에너지 수요가 많고</a:t>
            </a:r>
            <a:r>
              <a:rPr lang="en-US" altLang="ko-KR" sz="1600" dirty="0"/>
              <a:t>,</a:t>
            </a:r>
            <a:r>
              <a:rPr lang="ko-KR" altLang="en-US" sz="1600" dirty="0"/>
              <a:t> 자원 자립도가 낮은 국가를 중심으로 이루어지고</a:t>
            </a:r>
            <a:r>
              <a:rPr lang="en-US" altLang="ko-KR" sz="1600" dirty="0"/>
              <a:t>, </a:t>
            </a:r>
            <a:r>
              <a:rPr lang="ko-KR" altLang="en-US" sz="1600" dirty="0"/>
              <a:t>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일본</a:t>
            </a:r>
            <a:r>
              <a:rPr lang="en-US" altLang="ko-KR" sz="1600" dirty="0"/>
              <a:t>, </a:t>
            </a:r>
            <a:r>
              <a:rPr lang="ko-KR" altLang="en-US" sz="1600" dirty="0"/>
              <a:t>한국 등 아시아 국가들이 글로벌 수입 시장의 </a:t>
            </a:r>
            <a:r>
              <a:rPr lang="ko-KR" altLang="en-US" sz="1600" dirty="0" err="1"/>
              <a:t>핵심축이다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중국과 인도는 세계 최대 석탄 생산국임에도</a:t>
            </a:r>
            <a:r>
              <a:rPr lang="en-US" altLang="ko-KR" sz="1600" dirty="0"/>
              <a:t>, </a:t>
            </a:r>
            <a:r>
              <a:rPr lang="ko-KR" altLang="en-US" sz="1600" dirty="0"/>
              <a:t>특정 품질의 석탄에 대한 내적 부족</a:t>
            </a:r>
            <a:r>
              <a:rPr lang="en-US" altLang="ko-KR" sz="1600" dirty="0"/>
              <a:t>, </a:t>
            </a:r>
            <a:r>
              <a:rPr lang="ko-KR" altLang="en-US" sz="1600" dirty="0"/>
              <a:t>수급 불균형</a:t>
            </a:r>
            <a:r>
              <a:rPr lang="en-US" altLang="ko-KR" sz="1600" dirty="0"/>
              <a:t>, </a:t>
            </a:r>
            <a:r>
              <a:rPr lang="ko-KR" altLang="en-US" sz="1600" dirty="0"/>
              <a:t>물류 비효율성 등의 이유로 여전히 상당량의 석탄을 수입하고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일본과 한국은 국내 석탄 자원이 거의 전무한 전형적인 순수입국으로</a:t>
            </a:r>
            <a:r>
              <a:rPr lang="en-US" altLang="ko-KR" sz="1600" dirty="0"/>
              <a:t>, </a:t>
            </a:r>
            <a:r>
              <a:rPr lang="ko-KR" altLang="en-US" sz="1600" dirty="0"/>
              <a:t>국제 가격 변동성 및 지정학적 리스크에 민감하게 반응하며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따라 장기계약과 공급원 다변화 전략을 병행하고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5147964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92199-0FA2-522A-EFDA-39A9628D7C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2A0F025-487C-D0D3-07F2-6B151E53A7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수출입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5040264-DB57-B281-930D-B9611918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49</a:t>
            </a:fld>
            <a:endParaRPr lang="ko-KR" altLang="en-US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CCD7CA4D-B80F-D443-5AC0-E7B099AE6B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2407" b="4582"/>
          <a:stretch>
            <a:fillRect/>
          </a:stretch>
        </p:blipFill>
        <p:spPr>
          <a:xfrm>
            <a:off x="759793" y="2429564"/>
            <a:ext cx="4850296" cy="2663688"/>
          </a:xfrm>
          <a:prstGeom prst="rect">
            <a:avLst/>
          </a:prstGeom>
        </p:spPr>
      </p:pic>
      <p:pic>
        <p:nvPicPr>
          <p:cNvPr id="5" name="Content Placeholder 2">
            <a:extLst>
              <a:ext uri="{FF2B5EF4-FFF2-40B4-BE49-F238E27FC236}">
                <a16:creationId xmlns:a16="http://schemas.microsoft.com/office/drawing/2014/main" id="{4288E905-0032-8886-B168-F854BA5E3EF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934" b="6260"/>
          <a:stretch>
            <a:fillRect/>
          </a:stretch>
        </p:blipFill>
        <p:spPr>
          <a:xfrm>
            <a:off x="6517776" y="2376557"/>
            <a:ext cx="4850296" cy="271669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EDFB38-EE65-8DB1-F932-418377E59A3F}"/>
              </a:ext>
            </a:extLst>
          </p:cNvPr>
          <p:cNvSpPr txBox="1"/>
          <p:nvPr/>
        </p:nvSpPr>
        <p:spPr>
          <a:xfrm>
            <a:off x="1038356" y="2291064"/>
            <a:ext cx="40244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</a:t>
            </a:r>
            <a:r>
              <a:rPr lang="ko-KR" altLang="en-US" sz="1200" spc="-50" dirty="0"/>
              <a:t>주요 석탄 수입국의 수입량</a:t>
            </a:r>
            <a:r>
              <a:rPr lang="en-US" altLang="ko-KR" sz="1200" spc="-50" dirty="0"/>
              <a:t> (</a:t>
            </a:r>
            <a:r>
              <a:rPr lang="ko-KR" altLang="en-US" sz="1200" spc="-50" dirty="0"/>
              <a:t>단위</a:t>
            </a:r>
            <a:r>
              <a:rPr lang="en-US" altLang="ko-KR" sz="1200" spc="-50" dirty="0"/>
              <a:t>: </a:t>
            </a:r>
            <a:r>
              <a:rPr lang="ko-KR" altLang="en-US" sz="1200" spc="-50" dirty="0" err="1"/>
              <a:t>엑사줄</a:t>
            </a:r>
            <a:r>
              <a:rPr lang="en-US" altLang="ko-KR" sz="1200" spc="-50" dirty="0"/>
              <a:t>, exajoules) &gt;</a:t>
            </a:r>
            <a:endParaRPr lang="ko-KR" altLang="en-US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02E3014-0FF7-7712-DF7B-6BF8130B6D88}"/>
              </a:ext>
            </a:extLst>
          </p:cNvPr>
          <p:cNvSpPr txBox="1"/>
          <p:nvPr/>
        </p:nvSpPr>
        <p:spPr>
          <a:xfrm>
            <a:off x="6962539" y="2291064"/>
            <a:ext cx="382914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</a:t>
            </a:r>
            <a:r>
              <a:rPr lang="ko-KR" altLang="en-US" sz="1200" spc="-50" dirty="0"/>
              <a:t>주요 석탄 수출국의 수입량</a:t>
            </a:r>
            <a:r>
              <a:rPr lang="en-US" altLang="ko-KR" sz="1200" spc="-50" dirty="0"/>
              <a:t> (</a:t>
            </a:r>
            <a:r>
              <a:rPr lang="ko-KR" altLang="en-US" sz="1200" spc="-50" dirty="0"/>
              <a:t>단위</a:t>
            </a:r>
            <a:r>
              <a:rPr lang="en-US" altLang="ko-KR" sz="1200" spc="-50" dirty="0"/>
              <a:t>: </a:t>
            </a:r>
            <a:r>
              <a:rPr lang="ko-KR" altLang="en-US" sz="1200" spc="-50" dirty="0" err="1"/>
              <a:t>엑사줄</a:t>
            </a:r>
            <a:r>
              <a:rPr lang="en-US" altLang="ko-KR" sz="1200" spc="-50" dirty="0"/>
              <a:t>, exajoules) &gt;</a:t>
            </a:r>
            <a:endParaRPr lang="ko-KR" altLang="en-US" sz="12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9310A48-E158-8E85-FAD3-0B188DC9A901}"/>
              </a:ext>
            </a:extLst>
          </p:cNvPr>
          <p:cNvSpPr txBox="1"/>
          <p:nvPr/>
        </p:nvSpPr>
        <p:spPr>
          <a:xfrm>
            <a:off x="288790" y="958844"/>
            <a:ext cx="11118453" cy="783356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아래 그림은 </a:t>
            </a:r>
            <a:r>
              <a:rPr lang="en-US" altLang="ko-KR" sz="1600" dirty="0"/>
              <a:t>2013</a:t>
            </a:r>
            <a:r>
              <a:rPr lang="ko-KR" altLang="en-US" sz="1600" dirty="0"/>
              <a:t>년부터 </a:t>
            </a:r>
            <a:r>
              <a:rPr lang="en-US" altLang="ko-KR" sz="1600" dirty="0"/>
              <a:t>2023</a:t>
            </a:r>
            <a:r>
              <a:rPr lang="ko-KR" altLang="en-US" sz="1600" dirty="0"/>
              <a:t>년까지 주요국의 석탄 수입량과 수출량을 나타내고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설명은 전 슬라이드 참고</a:t>
            </a: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90404896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D0D8EE-1BD4-CD15-C2A4-77807A5408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F4B20-508C-57DF-CB58-22ADBE5F5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가격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1F065F-7C6B-4EC9-78BD-C20B30CF87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50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92839AA-357E-A2E4-FA06-0455661D7CAC}"/>
              </a:ext>
            </a:extLst>
          </p:cNvPr>
          <p:cNvSpPr txBox="1"/>
          <p:nvPr/>
        </p:nvSpPr>
        <p:spPr>
          <a:xfrm>
            <a:off x="288790" y="958844"/>
            <a:ext cx="11118453" cy="189135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가격 결정의 기본적 메커니즘은 시장에서의 수급 균형이다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공급 측면에서는 주요생산국인 중국</a:t>
            </a:r>
            <a:r>
              <a:rPr lang="en-US" altLang="ko-KR" sz="1600" dirty="0"/>
              <a:t>, </a:t>
            </a:r>
            <a:r>
              <a:rPr lang="ko-KR" altLang="en-US" sz="1600" dirty="0"/>
              <a:t>인도</a:t>
            </a:r>
            <a:r>
              <a:rPr lang="en-US" altLang="ko-KR" sz="1600" dirty="0"/>
              <a:t>, </a:t>
            </a:r>
            <a:r>
              <a:rPr lang="ko-KR" altLang="en-US" sz="1600" dirty="0"/>
              <a:t>호주</a:t>
            </a:r>
            <a:r>
              <a:rPr lang="en-US" altLang="ko-KR" sz="1600" dirty="0"/>
              <a:t>, </a:t>
            </a:r>
            <a:r>
              <a:rPr lang="ko-KR" altLang="en-US" sz="1600" dirty="0"/>
              <a:t>미국의 생산 능력</a:t>
            </a:r>
            <a:r>
              <a:rPr lang="en-US" altLang="ko-KR" sz="1600" dirty="0"/>
              <a:t>, </a:t>
            </a:r>
            <a:r>
              <a:rPr lang="ko-KR" altLang="en-US" sz="1600" dirty="0"/>
              <a:t>채굴비용</a:t>
            </a:r>
            <a:r>
              <a:rPr lang="en-US" altLang="ko-KR" sz="1600" dirty="0"/>
              <a:t>, </a:t>
            </a:r>
            <a:r>
              <a:rPr lang="ko-KR" altLang="en-US" sz="1600" dirty="0"/>
              <a:t>기후 및 정책 환경이 결정적 역할을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수요측면에서는 중국과 인도의 전력 수요 증가가 석탄소비를 견인하여 가격 상승 압력을 가중시킨다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아래는 지역별 석탄 가격을 보여주고 있다</a:t>
            </a:r>
            <a:r>
              <a:rPr lang="en-US" altLang="ko-KR" sz="1600" dirty="0"/>
              <a:t>. (</a:t>
            </a:r>
            <a:r>
              <a:rPr lang="ko-KR" altLang="en-US" sz="1600" dirty="0"/>
              <a:t>자세한 설명은 다음 슬라이드</a:t>
            </a:r>
            <a:r>
              <a:rPr lang="en-US" altLang="ko-KR" sz="1600" dirty="0"/>
              <a:t>)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B41A075B-C71D-3CE5-5915-747C1FD40F1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898758" y="3219581"/>
            <a:ext cx="5542878" cy="336157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CED08A4-C8B5-3C6E-D8E0-12A93032AA85}"/>
              </a:ext>
            </a:extLst>
          </p:cNvPr>
          <p:cNvSpPr txBox="1"/>
          <p:nvPr/>
        </p:nvSpPr>
        <p:spPr>
          <a:xfrm>
            <a:off x="3657978" y="3081081"/>
            <a:ext cx="4024436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200" spc="-50" dirty="0"/>
              <a:t>&lt; </a:t>
            </a:r>
            <a:r>
              <a:rPr lang="ko-KR" altLang="en-US" sz="1200" spc="-50" dirty="0"/>
              <a:t>지역별 석탄 가격 </a:t>
            </a:r>
            <a:r>
              <a:rPr lang="en-US" altLang="ko-KR" sz="1200" spc="-50" dirty="0"/>
              <a:t>(</a:t>
            </a:r>
            <a:r>
              <a:rPr lang="ko-KR" altLang="en-US" sz="1200" spc="-50" dirty="0"/>
              <a:t>달러</a:t>
            </a:r>
            <a:r>
              <a:rPr lang="en-US" altLang="ko-KR" sz="1200" spc="-50" dirty="0"/>
              <a:t>/</a:t>
            </a:r>
            <a:r>
              <a:rPr lang="ko-KR" altLang="en-US" sz="1200" spc="-50" dirty="0"/>
              <a:t>톤</a:t>
            </a:r>
            <a:r>
              <a:rPr lang="en-US" altLang="ko-KR" sz="1200" spc="-50" dirty="0"/>
              <a:t>) &gt;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9964989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1E337-E1DC-8A94-A7E5-9954464970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FC55EF-EB1A-8BD6-3719-39021C488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가격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B42DB1-6D48-FA09-33DC-3669912C89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51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F7EBA6-AE55-D2D7-A887-AB5AF2A302FA}"/>
              </a:ext>
            </a:extLst>
          </p:cNvPr>
          <p:cNvSpPr txBox="1"/>
          <p:nvPr/>
        </p:nvSpPr>
        <p:spPr>
          <a:xfrm>
            <a:off x="288790" y="958844"/>
            <a:ext cx="11118453" cy="55846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지정학적 갈등과 무역정책의 변화도 석탄 가격에 중대한 영향을 미친다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수출입 제재</a:t>
            </a:r>
            <a:r>
              <a:rPr lang="en-US" altLang="ko-KR" sz="1600" dirty="0"/>
              <a:t>, </a:t>
            </a:r>
            <a:r>
              <a:rPr lang="ko-KR" altLang="en-US" sz="1600" dirty="0"/>
              <a:t>수출 통제</a:t>
            </a:r>
            <a:r>
              <a:rPr lang="en-US" altLang="ko-KR" sz="1600" dirty="0"/>
              <a:t>, </a:t>
            </a:r>
            <a:r>
              <a:rPr lang="ko-KR" altLang="en-US" sz="1600" dirty="0"/>
              <a:t>무역 분쟁 등은 글로벌 공급망에 혼란을 야기하고 공급 부족을 초래하여 가격 급등을 유발할 수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러시아</a:t>
            </a:r>
            <a:r>
              <a:rPr lang="en-US" altLang="ko-KR" sz="1600" dirty="0"/>
              <a:t>-</a:t>
            </a:r>
            <a:r>
              <a:rPr lang="ko-KR" altLang="en-US" sz="1600" dirty="0"/>
              <a:t>우크라이나 전쟁 이후 유럽의 러시아산 석탄 수입 중단이 대표적인 사례로</a:t>
            </a:r>
            <a:r>
              <a:rPr lang="en-US" altLang="ko-KR" sz="1600" dirty="0"/>
              <a:t>, </a:t>
            </a:r>
            <a:r>
              <a:rPr lang="ko-KR" altLang="en-US" sz="1600" dirty="0"/>
              <a:t>비러시아산 석탄의 수입 수요가 증가하면서 가격이 크게 상승하였다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환경정책의 변화 또 석탄가격에 중요한 영향을 미치고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유럽 연합과 북미 지역은 강화된 탄소 규제를 통해 석탄 소비를 구조적으로 억제하고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환경규제가 느슨한 일부 개발도상국은 여전히 석탄이 주요 에너지원으로 활용되고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국가 내 시장 구조에 따라서도 석탄 가격이 달라진다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호주와 인도네시아처럼 소수의 대형 생산자가 우위를 점하고 있는 시장에서는 공급량의 전략적 조절로 인해 가격 안정성이 높아지는 경향이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한편 중소 생산자가 난립하는 시장에서는 경쟁 심화로 인해 가격 변동성이 크게 나타난다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353094759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4FF8D1-ABAE-ABB4-6592-797349E602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995533-90C1-4667-4C10-13C4DC0B1B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 가격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3656CD9-8DD8-38BA-0636-31124A128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52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B4D4BB-FC7F-1081-DA7D-4C3AE549AE48}"/>
              </a:ext>
            </a:extLst>
          </p:cNvPr>
          <p:cNvSpPr txBox="1"/>
          <p:nvPr/>
        </p:nvSpPr>
        <p:spPr>
          <a:xfrm>
            <a:off x="288790" y="958844"/>
            <a:ext cx="11118453" cy="3738011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 가격은 용도별로 구분되는 시장 구조의 영향을 받기도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발전용 석탄과 제철용 </a:t>
            </a:r>
            <a:r>
              <a:rPr lang="ko-KR" altLang="en-US" sz="1600" dirty="0" err="1"/>
              <a:t>코크스탄은</a:t>
            </a:r>
            <a:r>
              <a:rPr lang="ko-KR" altLang="en-US" sz="1600" dirty="0"/>
              <a:t> 각각 독립된 시장을 형성하고 있다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/>
              <a:t>발전용 석탄은 계절적 수요</a:t>
            </a:r>
            <a:r>
              <a:rPr lang="en-US" altLang="ko-KR" sz="1600" dirty="0"/>
              <a:t>, </a:t>
            </a:r>
            <a:r>
              <a:rPr lang="ko-KR" altLang="en-US" sz="1600" dirty="0"/>
              <a:t>기온</a:t>
            </a:r>
            <a:r>
              <a:rPr lang="en-US" altLang="ko-KR" sz="1600" dirty="0"/>
              <a:t>, LNG </a:t>
            </a:r>
            <a:r>
              <a:rPr lang="ko-KR" altLang="en-US" sz="1600" dirty="0"/>
              <a:t>가격에 민감한 반응을 보인다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ko-KR" altLang="en-US" sz="1600" dirty="0" err="1"/>
              <a:t>코크스탄은</a:t>
            </a:r>
            <a:r>
              <a:rPr lang="ko-KR" altLang="en-US" sz="1600" dirty="0"/>
              <a:t> 철강 수요와 글로벌 경기 흐름에 크게 의존한다</a:t>
            </a:r>
            <a:r>
              <a:rPr lang="en-US" altLang="ko-KR" sz="1600" dirty="0"/>
              <a:t>.</a:t>
            </a:r>
          </a:p>
          <a:p>
            <a:pPr marL="1292225" lvl="2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국제 석탄 시장에서는 표준화된 가격지수가 거래의 기준 역할을 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호주 뉴캐슬 가격지수는 아시아 지역의 발전용 석탄 가격을 반영한다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API2 </a:t>
            </a:r>
            <a:r>
              <a:rPr lang="ko-KR" altLang="en-US" sz="1600" dirty="0"/>
              <a:t>지수는 유럽 내 석탄 수입가격의 벤치마크로 활용된다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이들 지수는 품질</a:t>
            </a:r>
            <a:r>
              <a:rPr lang="en-US" altLang="ko-KR" sz="1600" dirty="0"/>
              <a:t>, </a:t>
            </a:r>
            <a:r>
              <a:rPr lang="ko-KR" altLang="en-US" sz="1600" dirty="0"/>
              <a:t>지역</a:t>
            </a:r>
            <a:r>
              <a:rPr lang="en-US" altLang="ko-KR" sz="1600" dirty="0"/>
              <a:t>, </a:t>
            </a:r>
            <a:r>
              <a:rPr lang="ko-KR" altLang="en-US" sz="1600" dirty="0"/>
              <a:t>운송조건 등을 반영한 가격정보를 제공하며</a:t>
            </a:r>
            <a:r>
              <a:rPr lang="en-US" altLang="ko-KR" sz="1600" dirty="0"/>
              <a:t>, </a:t>
            </a:r>
            <a:r>
              <a:rPr lang="ko-KR" altLang="en-US" sz="1600" dirty="0"/>
              <a:t>실물계약과 선물거래 모두에서 활용된다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</p:txBody>
      </p:sp>
    </p:spTree>
    <p:extLst>
      <p:ext uri="{BB962C8B-B14F-4D97-AF65-F5344CB8AC3E}">
        <p14:creationId xmlns:p14="http://schemas.microsoft.com/office/powerpoint/2010/main" val="4474308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6502F-0528-3EDF-A225-5DDABB306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2A372EA-D856-6D5C-A598-D9FB00ABE1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5FF8610-BFF7-A94E-BE6D-005ED2BAE1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53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64D21FAA-7D58-50E2-4F0A-D7ED0636E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9. </a:t>
            </a:r>
            <a:r>
              <a:rPr lang="ko-KR" altLang="en-US" sz="4000" b="1" i="0" spc="150" dirty="0"/>
              <a:t>청정 석탄기술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145395996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FB9157-59D8-5BEB-F154-C1B829A9E1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7A51B3-6FB5-4640-CD8E-98CEAF776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청정 석탄기술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340C0E2-4A6E-2496-BE6E-F9B8EA8D50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54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5A59A97-D98A-434E-33E2-8F34F74DAF98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전통적인 석탄 연소에 따른 환경적 영향을 완화 하고자 다양한 청정 석탄 기술이 개발되고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초초임계압 발전</a:t>
            </a:r>
            <a:r>
              <a:rPr lang="en-US" altLang="ko-KR" sz="1600" dirty="0"/>
              <a:t> (USC, Ultra-Supercritical), </a:t>
            </a:r>
            <a:r>
              <a:rPr lang="ko-KR" altLang="en-US" sz="1600" dirty="0"/>
              <a:t>석탄가스화 복합발전</a:t>
            </a:r>
            <a:r>
              <a:rPr lang="en-US" altLang="ko-KR" sz="1600" dirty="0"/>
              <a:t> (IGCC: Integrated Gasification Combined Cycle), </a:t>
            </a:r>
            <a:r>
              <a:rPr lang="ko-KR" altLang="en-US" sz="1600" dirty="0" err="1"/>
              <a:t>탄소포집저장</a:t>
            </a:r>
            <a:r>
              <a:rPr lang="en-US" altLang="ko-KR" sz="1600" dirty="0"/>
              <a:t> (CCS: Carbon Capture and Storage) </a:t>
            </a:r>
            <a:r>
              <a:rPr lang="ko-KR" altLang="en-US" sz="1600" dirty="0"/>
              <a:t>기술이 가장 널리 주목 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기술들은 석탄을 보다 효율적이고 친환경적으로 활용하기 위한 방안으로 제시되어 왔으며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일부 국가는 실제 발전소에 적용하여 상용화하거나 실증단계에 진입한 사례도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초초임계압 발전 기술은 물의 임계점인 </a:t>
            </a:r>
            <a:r>
              <a:rPr lang="en-US" altLang="ko-KR" sz="1600" dirty="0"/>
              <a:t>374℃</a:t>
            </a:r>
            <a:r>
              <a:rPr lang="ko-KR" altLang="en-US" sz="1600" dirty="0"/>
              <a:t>와 </a:t>
            </a:r>
            <a:r>
              <a:rPr lang="en-US" altLang="ko-KR" sz="1600" dirty="0"/>
              <a:t>22.1MPa</a:t>
            </a:r>
            <a:r>
              <a:rPr lang="ko-KR" altLang="en-US" sz="1600" dirty="0"/>
              <a:t>를 초과하는 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 조건에서 작동하여 증기터빈의 효율을 극대화함으로써 기존 석탄 발전 대비 열효율을 약 </a:t>
            </a:r>
            <a:r>
              <a:rPr lang="en-US" altLang="ko-KR" sz="1600" dirty="0"/>
              <a:t>10~15%</a:t>
            </a:r>
            <a:r>
              <a:rPr lang="ko-KR" altLang="en-US" sz="1600" dirty="0"/>
              <a:t>까지 향상시킬 수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이에 따라 이산화탄소 배출량도 동일한 전력 생산 기준에서 상당 부분 저감될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한국</a:t>
            </a:r>
            <a:r>
              <a:rPr lang="en-US" altLang="ko-KR" sz="1600" dirty="0"/>
              <a:t>, </a:t>
            </a:r>
            <a:r>
              <a:rPr lang="ko-KR" altLang="en-US" sz="1600" dirty="0"/>
              <a:t>일본</a:t>
            </a:r>
            <a:r>
              <a:rPr lang="en-US" altLang="ko-KR" sz="1600" dirty="0"/>
              <a:t>, </a:t>
            </a:r>
            <a:r>
              <a:rPr lang="ko-KR" altLang="en-US" sz="1600" dirty="0"/>
              <a:t>독일 등의 국가에서는 이미 </a:t>
            </a:r>
            <a:r>
              <a:rPr lang="en-US" altLang="ko-KR" sz="1600" dirty="0"/>
              <a:t>USC </a:t>
            </a:r>
            <a:r>
              <a:rPr lang="ko-KR" altLang="en-US" sz="1600" dirty="0"/>
              <a:t>기술을 상용화하여 발전소에 적용하고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기술 성숙도도 비교적 높은 수준으로 평가받고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여전히 석탄을 주연료로 한다는 점에서 탄소중립 목표 달성에는 구조적인 한계가 있고</a:t>
            </a:r>
            <a:r>
              <a:rPr lang="en-US" altLang="ko-KR" sz="1600" dirty="0"/>
              <a:t>, </a:t>
            </a:r>
            <a:r>
              <a:rPr lang="ko-KR" altLang="en-US" sz="1600" dirty="0"/>
              <a:t>기후변화 대응 전략과도 거리가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5310384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7B2A06-EBCC-693B-D736-E46231475B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8EEA1D4-2D13-E0D0-059B-4981719E5D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청정 석탄기술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D810118-6AE9-AB3B-8F6E-132032A606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55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DEF6FC-FAB0-6EE9-2D0C-2AA27A730C5B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석탄가스화 복합발전 </a:t>
            </a:r>
            <a:r>
              <a:rPr lang="en-US" altLang="ko-KR" sz="1600" dirty="0"/>
              <a:t>(IGCC)</a:t>
            </a:r>
            <a:r>
              <a:rPr lang="ko-KR" altLang="en-US" sz="1600" dirty="0"/>
              <a:t>은 석탄을 직접 연소하는 대신 </a:t>
            </a:r>
            <a:r>
              <a:rPr lang="ko-KR" altLang="en-US" sz="1600" dirty="0" err="1"/>
              <a:t>고온에서</a:t>
            </a:r>
            <a:r>
              <a:rPr lang="ko-KR" altLang="en-US" sz="1600" dirty="0"/>
              <a:t> </a:t>
            </a:r>
            <a:r>
              <a:rPr lang="ko-KR" altLang="en-US" sz="1600" dirty="0" err="1"/>
              <a:t>가스화하여</a:t>
            </a:r>
            <a:r>
              <a:rPr lang="ko-KR" altLang="en-US" sz="1600" dirty="0"/>
              <a:t> 일산화탄소와 수소로 구성된 합성가스를 생산한 뒤 이를 연소하여 터빈을 구동하는 방식으로 작동한다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오염물질을 연소 이전의 가스화 단계에서 제거하므로</a:t>
            </a:r>
            <a:r>
              <a:rPr lang="en-US" altLang="ko-KR" sz="1600" dirty="0"/>
              <a:t>,</a:t>
            </a:r>
            <a:r>
              <a:rPr lang="ko-KR" altLang="en-US" sz="1600" dirty="0"/>
              <a:t> 환경적 측면에서 상대적으로 우수한 기술로 평가된다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그러나 설계 및 운전 시스템이 복잡하고</a:t>
            </a:r>
            <a:r>
              <a:rPr lang="en-US" altLang="ko-KR" sz="1600" dirty="0"/>
              <a:t>, </a:t>
            </a:r>
            <a:r>
              <a:rPr lang="ko-KR" altLang="en-US" sz="1600" dirty="0"/>
              <a:t>초기 투자비용이 기존 발전소 대비 </a:t>
            </a:r>
            <a:r>
              <a:rPr lang="en-US" altLang="ko-KR" sz="1600" dirty="0"/>
              <a:t>30~50%</a:t>
            </a:r>
            <a:r>
              <a:rPr lang="ko-KR" altLang="en-US" sz="1600" dirty="0"/>
              <a:t>이상 높고</a:t>
            </a:r>
            <a:r>
              <a:rPr lang="en-US" altLang="ko-KR" sz="1600" dirty="0"/>
              <a:t>, </a:t>
            </a:r>
            <a:r>
              <a:rPr lang="ko-KR" altLang="en-US" sz="1600" dirty="0"/>
              <a:t>운영의 안정성 확보가 쉽지 않다는 점에서 경제적 확장성이 낮다는 평가를 받고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 err="1"/>
              <a:t>탄소포집저장</a:t>
            </a:r>
            <a:r>
              <a:rPr lang="ko-KR" altLang="en-US" sz="1600" dirty="0"/>
              <a:t> </a:t>
            </a:r>
            <a:r>
              <a:rPr lang="en-US" altLang="ko-KR" sz="1600" dirty="0"/>
              <a:t>(CCS) </a:t>
            </a:r>
            <a:r>
              <a:rPr lang="ko-KR" altLang="en-US" sz="1600" dirty="0"/>
              <a:t>기술은 석탄 연소 과정에서 배출되는 이산화탄소를 </a:t>
            </a:r>
            <a:r>
              <a:rPr lang="ko-KR" altLang="en-US" sz="1600" dirty="0" err="1"/>
              <a:t>포집하여</a:t>
            </a:r>
            <a:r>
              <a:rPr lang="ko-KR" altLang="en-US" sz="1600" dirty="0"/>
              <a:t> 압축한 뒤 지하 지질 구조에 영구 저장함으로써 대기 중 배출을 차단하는 기술로</a:t>
            </a:r>
            <a:r>
              <a:rPr lang="en-US" altLang="ko-KR" sz="1600" dirty="0"/>
              <a:t>, </a:t>
            </a:r>
            <a:r>
              <a:rPr lang="ko-KR" altLang="en-US" sz="1600" dirty="0"/>
              <a:t>이론적으로는 발전소에서 배출하는 이산화탄소의 </a:t>
            </a:r>
            <a:r>
              <a:rPr lang="en-US" altLang="ko-KR" sz="1600" dirty="0"/>
              <a:t>90% </a:t>
            </a:r>
            <a:r>
              <a:rPr lang="ko-KR" altLang="en-US" sz="1600" dirty="0"/>
              <a:t>이상을 제거할 수 있는 고효율 기술이다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높은 설비비와 운영비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포집한</a:t>
            </a:r>
            <a:r>
              <a:rPr lang="ko-KR" altLang="en-US" sz="1600" dirty="0"/>
              <a:t> 이산화탄소의 운송 및 저장에 따른 기술적</a:t>
            </a:r>
            <a:r>
              <a:rPr lang="en-US" altLang="ko-KR" sz="1600" dirty="0"/>
              <a:t>·</a:t>
            </a:r>
            <a:r>
              <a:rPr lang="ko-KR" altLang="en-US" sz="1600" dirty="0"/>
              <a:t>지질학적 리스크로 인해 경제성 확보에 큰 어려움이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전통 석탄화력발전소에 적용하는 경우 발전단가가 </a:t>
            </a:r>
            <a:r>
              <a:rPr lang="en-US" altLang="ko-KR" sz="1600" dirty="0"/>
              <a:t>50% </a:t>
            </a:r>
            <a:r>
              <a:rPr lang="ko-KR" altLang="en-US" sz="1600" dirty="0"/>
              <a:t>이상 증가할 수 있는 것으로 분석된다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65869301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82891-EEDE-D309-E8C3-7ADBDDDC5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5095BA-A911-18C5-4783-FA5D832D1C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청정 석탄기술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849E8E-A614-768A-1A2B-650A2C6CD4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56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893A53-418E-E89D-75BE-8C39114E44D3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앞서 설명한 기술들은 에너지 효율성 제고와 온실가스 감축 측면에서 분명한 가능성을 보이고 있으나 경제성과 사회적 수용성의 측면에서는 여전히 많은 도전 과제를 안고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초초임계압 발전은 고온</a:t>
            </a:r>
            <a:r>
              <a:rPr lang="en-US" altLang="ko-KR" sz="1600" dirty="0"/>
              <a:t>·</a:t>
            </a:r>
            <a:r>
              <a:rPr lang="ko-KR" altLang="en-US" sz="1600" dirty="0"/>
              <a:t>고압을 견딜 수 있는 특수 소재와 복잡한 운전 기술이 요구되기 때문에 건설 및 유지관리 비용이 높아</a:t>
            </a:r>
            <a:r>
              <a:rPr lang="en-US" altLang="ko-KR" sz="1600" dirty="0"/>
              <a:t>, </a:t>
            </a:r>
            <a:r>
              <a:rPr lang="ko-KR" altLang="en-US" sz="1600" dirty="0"/>
              <a:t>천연가스 복합발전이나 태양광</a:t>
            </a:r>
            <a:r>
              <a:rPr lang="en-US" altLang="ko-KR" sz="1600" dirty="0"/>
              <a:t>·</a:t>
            </a:r>
            <a:r>
              <a:rPr lang="ko-KR" altLang="en-US" sz="1600" dirty="0"/>
              <a:t>풍력 등 재생에너지에 비해 상대적으로 낮은 시장 경쟁력을 보인다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석탄가스화 복합발전은 이론적으로 이상적인 기술이나</a:t>
            </a:r>
            <a:r>
              <a:rPr lang="en-US" altLang="ko-KR" sz="1600" dirty="0"/>
              <a:t>, </a:t>
            </a:r>
            <a:r>
              <a:rPr lang="ko-KR" altLang="en-US" sz="1600" dirty="0"/>
              <a:t>공정의 복잡성과 수익성 부족으로 상업화에 어려움이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 err="1"/>
              <a:t>탄소포집저장</a:t>
            </a:r>
            <a:r>
              <a:rPr lang="ko-KR" altLang="en-US" sz="1600" dirty="0"/>
              <a:t> 기술 또한 정책적 지원 없이는 채택되기 어려운 수준의 경제성과 기술적 제약을 갖고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기술적</a:t>
            </a:r>
            <a:r>
              <a:rPr lang="en-US" altLang="ko-KR" sz="1600" dirty="0"/>
              <a:t>, </a:t>
            </a:r>
            <a:r>
              <a:rPr lang="ko-KR" altLang="en-US" sz="1600" dirty="0"/>
              <a:t>경제적 성숙도 외에도 정책</a:t>
            </a:r>
            <a:r>
              <a:rPr lang="en-US" altLang="ko-KR" sz="1600" dirty="0"/>
              <a:t>, </a:t>
            </a:r>
            <a:r>
              <a:rPr lang="ko-KR" altLang="en-US" sz="1600" dirty="0"/>
              <a:t>제도</a:t>
            </a:r>
            <a:r>
              <a:rPr lang="en-US" altLang="ko-KR" sz="1600" dirty="0"/>
              <a:t>, </a:t>
            </a:r>
            <a:r>
              <a:rPr lang="ko-KR" altLang="en-US" sz="1600" dirty="0"/>
              <a:t>사회 인식 등의 환경에 따라 기술의 확산 속도가 좌우 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en-US" altLang="ko-KR" sz="1600" dirty="0"/>
              <a:t>ESG </a:t>
            </a:r>
            <a:r>
              <a:rPr lang="ko-KR" altLang="en-US" sz="1600" dirty="0"/>
              <a:t>기준의 강화</a:t>
            </a:r>
            <a:r>
              <a:rPr lang="en-US" altLang="ko-KR" sz="1600" dirty="0"/>
              <a:t>, </a:t>
            </a:r>
            <a:r>
              <a:rPr lang="ko-KR" altLang="en-US" sz="1600" dirty="0"/>
              <a:t>금융기관의 </a:t>
            </a:r>
            <a:r>
              <a:rPr lang="ko-KR" altLang="en-US" sz="1600" dirty="0" err="1"/>
              <a:t>탈석탄</a:t>
            </a:r>
            <a:r>
              <a:rPr lang="ko-KR" altLang="en-US" sz="1600" dirty="0"/>
              <a:t> 선언</a:t>
            </a:r>
            <a:r>
              <a:rPr lang="en-US" altLang="ko-KR" sz="1600" dirty="0"/>
              <a:t>, </a:t>
            </a:r>
            <a:r>
              <a:rPr lang="ko-KR" altLang="en-US" sz="1600" dirty="0"/>
              <a:t>탄소중립을 명시한 국가들이 확산되면서 석탄을 기반으로 하는 기술에 대한 신규 투자는 정치적</a:t>
            </a:r>
            <a:r>
              <a:rPr lang="en-US" altLang="ko-KR" sz="1600" dirty="0"/>
              <a:t>, </a:t>
            </a:r>
            <a:r>
              <a:rPr lang="ko-KR" altLang="en-US" sz="1600" dirty="0"/>
              <a:t>사회적으로 부담이 커지고 있는 현실이다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88086590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AEBC00-A2FB-71AC-F2E7-A6AB1A2A6E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32D39AE-6E93-E852-0031-629430E3D819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216CA1-E430-58F6-13F3-CB0FBB12A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57</a:t>
            </a:fld>
            <a:endParaRPr lang="ko-KR" altLang="en-US"/>
          </a:p>
        </p:txBody>
      </p:sp>
      <p:sp>
        <p:nvSpPr>
          <p:cNvPr id="7" name="제목 1">
            <a:extLst>
              <a:ext uri="{FF2B5EF4-FFF2-40B4-BE49-F238E27FC236}">
                <a16:creationId xmlns:a16="http://schemas.microsoft.com/office/drawing/2014/main" id="{8D4DF8D8-9F32-5507-3E2A-E5E0B0B01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3765550"/>
            <a:ext cx="11150600" cy="652818"/>
          </a:xfrm>
          <a:effectLst>
            <a:reflection blurRad="50800" stA="45000" endPos="44000" dir="5400000" sy="-100000" algn="bl" rotWithShape="0"/>
          </a:effectLst>
        </p:spPr>
        <p:txBody>
          <a:bodyPr anchor="b"/>
          <a:lstStyle/>
          <a:p>
            <a:r>
              <a:rPr lang="en-US" altLang="ko-KR" sz="4000" b="1" i="0" spc="150" dirty="0"/>
              <a:t>Section 10. </a:t>
            </a:r>
            <a:r>
              <a:rPr lang="ko-KR" altLang="en-US" sz="4000" b="1" i="0" spc="150" dirty="0"/>
              <a:t>석탄시장의 구조변화와 좌초자산</a:t>
            </a:r>
            <a:endParaRPr lang="ko-KR" altLang="en-US" sz="3600" i="0" spc="150" dirty="0"/>
          </a:p>
        </p:txBody>
      </p:sp>
    </p:spTree>
    <p:extLst>
      <p:ext uri="{BB962C8B-B14F-4D97-AF65-F5344CB8AC3E}">
        <p14:creationId xmlns:p14="http://schemas.microsoft.com/office/powerpoint/2010/main" val="70744200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61C836-248D-B35F-E2E1-62C6055AD1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730B4B-1BEA-20AB-96D2-8E981D4D8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석탄시장의 구조변화와 좌초자산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62EB122-D369-3440-248C-6DFF5C58B3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58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97CAD7-EB33-9C78-F115-A8E6EEC95A1E}"/>
              </a:ext>
            </a:extLst>
          </p:cNvPr>
          <p:cNvSpPr txBox="1"/>
          <p:nvPr/>
        </p:nvSpPr>
        <p:spPr>
          <a:xfrm>
            <a:off x="288790" y="958844"/>
            <a:ext cx="11118453" cy="4846007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석탄시장은 세계적인 에너지 전환 흐름에 따라 근본적인 구조 변화를 겪고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재생에너지와 천연가스 기술의 진보</a:t>
            </a:r>
            <a:r>
              <a:rPr lang="en-US" altLang="ko-KR" sz="1600" dirty="0"/>
              <a:t>, </a:t>
            </a:r>
            <a:r>
              <a:rPr lang="ko-KR" altLang="en-US" sz="1600" dirty="0"/>
              <a:t>그리고 가격경쟁력의 향상으로 인해</a:t>
            </a:r>
            <a:r>
              <a:rPr lang="en-US" altLang="ko-KR" sz="1600" dirty="0"/>
              <a:t>, </a:t>
            </a:r>
            <a:r>
              <a:rPr lang="ko-KR" altLang="en-US" sz="1600" dirty="0"/>
              <a:t>과거 석탄에 의존하던 국가들조차 석탄 소비를 점차 줄이는 추세를 보이고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이러한 변화는 단순한 수요 감소를 넘어</a:t>
            </a:r>
            <a:r>
              <a:rPr lang="en-US" altLang="ko-KR" sz="1600" dirty="0"/>
              <a:t>, </a:t>
            </a:r>
            <a:r>
              <a:rPr lang="ko-KR" altLang="en-US" sz="1600" dirty="0"/>
              <a:t>석탄 발전소</a:t>
            </a:r>
            <a:r>
              <a:rPr lang="en-US" altLang="ko-KR" sz="1600" dirty="0"/>
              <a:t>, </a:t>
            </a:r>
            <a:r>
              <a:rPr lang="ko-KR" altLang="en-US" sz="1600" dirty="0"/>
              <a:t>탄광</a:t>
            </a:r>
            <a:r>
              <a:rPr lang="en-US" altLang="ko-KR" sz="1600" dirty="0"/>
              <a:t>, </a:t>
            </a:r>
            <a:r>
              <a:rPr lang="ko-KR" altLang="en-US" sz="1600" dirty="0"/>
              <a:t>물류 인프라 등 석탄 관련 자산의 경제적 가치 하락을 초래하며</a:t>
            </a:r>
            <a:r>
              <a:rPr lang="en-US" altLang="ko-KR" sz="1600" dirty="0"/>
              <a:t>, ‘</a:t>
            </a:r>
            <a:r>
              <a:rPr lang="ko-KR" altLang="en-US" sz="1600" dirty="0"/>
              <a:t>좌초자산 </a:t>
            </a:r>
            <a:r>
              <a:rPr lang="en-US" altLang="ko-KR" sz="1600" dirty="0"/>
              <a:t>(stranded assets)‘ </a:t>
            </a:r>
            <a:r>
              <a:rPr lang="ko-KR" altLang="en-US" sz="1600" dirty="0"/>
              <a:t>문제를 </a:t>
            </a:r>
            <a:r>
              <a:rPr lang="ko-KR" altLang="en-US" sz="1600" dirty="0" err="1"/>
              <a:t>심화시키고</a:t>
            </a:r>
            <a:r>
              <a:rPr lang="ko-KR" altLang="en-US" sz="1600" dirty="0"/>
              <a:t>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좌초자산은 기술</a:t>
            </a:r>
            <a:r>
              <a:rPr lang="en-US" altLang="ko-KR" sz="1600" dirty="0"/>
              <a:t>, </a:t>
            </a:r>
            <a:r>
              <a:rPr lang="ko-KR" altLang="en-US" sz="1600" dirty="0"/>
              <a:t>시장</a:t>
            </a:r>
            <a:r>
              <a:rPr lang="en-US" altLang="ko-KR" sz="1600" dirty="0"/>
              <a:t>, </a:t>
            </a:r>
            <a:r>
              <a:rPr lang="ko-KR" altLang="en-US" sz="1600" dirty="0"/>
              <a:t>규제 환경의 변화로 인해 자산으로부터 기대하던 수익을 실현하지 못하고 조기에 사용이 중단되는 자산을 의미한다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 화력발전소는 보통 </a:t>
            </a:r>
            <a:r>
              <a:rPr lang="en-US" altLang="ko-KR" sz="1600" dirty="0"/>
              <a:t>30~40</a:t>
            </a:r>
            <a:r>
              <a:rPr lang="ko-KR" altLang="en-US" sz="1600" dirty="0"/>
              <a:t>년의 경제적 수명을 전제로 설계되었으나</a:t>
            </a:r>
            <a:r>
              <a:rPr lang="en-US" altLang="ko-KR" sz="1600" dirty="0"/>
              <a:t>, </a:t>
            </a:r>
            <a:r>
              <a:rPr lang="ko-KR" altLang="en-US" sz="1600" dirty="0"/>
              <a:t>실제 운용기간이 단축되고 조기 </a:t>
            </a:r>
            <a:r>
              <a:rPr lang="ko-KR" altLang="en-US" sz="1600" dirty="0" err="1"/>
              <a:t>폐쇠하는</a:t>
            </a:r>
            <a:r>
              <a:rPr lang="ko-KR" altLang="en-US" sz="1600" dirty="0"/>
              <a:t> 사례가 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독일은 </a:t>
            </a:r>
            <a:r>
              <a:rPr lang="en-US" altLang="ko-KR" sz="1600" dirty="0"/>
              <a:t>2038</a:t>
            </a:r>
            <a:r>
              <a:rPr lang="ko-KR" altLang="en-US" sz="1600" dirty="0"/>
              <a:t>년까지 모든 석탄발전소를 폐쇄하겠다는 목표를 세워</a:t>
            </a:r>
            <a:r>
              <a:rPr lang="en-US" altLang="ko-KR" sz="1600" dirty="0"/>
              <a:t>, </a:t>
            </a:r>
            <a:r>
              <a:rPr lang="ko-KR" altLang="en-US" sz="1600" dirty="0"/>
              <a:t>상당수 발전설비가 좌초자산으로 전환되고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호주와</a:t>
            </a:r>
            <a:r>
              <a:rPr lang="en-US" altLang="ko-KR" sz="1600" dirty="0"/>
              <a:t> </a:t>
            </a:r>
            <a:r>
              <a:rPr lang="ko-KR" altLang="en-US" sz="1600" dirty="0"/>
              <a:t>미국에서도 석탄발전 설비의 조기 폐쇄와 설비 가동 중단이 급증하고 있다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216061975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44B4C5-1150-83E2-D4D5-8BB342F8B1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55F67C-1E0A-50C5-C12F-71FD205EE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석탄시장의 구조변화와 좌초자산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9D9B6CB-6C34-D0DE-D2E8-DEA423D5AE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59</a:t>
            </a:fld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B404B55-7FF2-119D-BB16-5CFE84DEFC00}"/>
              </a:ext>
            </a:extLst>
          </p:cNvPr>
          <p:cNvSpPr txBox="1"/>
          <p:nvPr/>
        </p:nvSpPr>
        <p:spPr>
          <a:xfrm>
            <a:off x="288790" y="958844"/>
            <a:ext cx="11118453" cy="4476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이러한 좌초자산 문제는 에너지 부문을 넘어 금융시장 전반에도 부정적인 파급효과를 가져오고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세계 주요 연기금과 민간 금융기관들은 석탄 관련 자산에서 투자 철회를 확대하고 있으며</a:t>
            </a:r>
            <a:r>
              <a:rPr lang="en-US" altLang="ko-KR" sz="1600" dirty="0"/>
              <a:t>, </a:t>
            </a:r>
            <a:r>
              <a:rPr lang="ko-KR" altLang="en-US" sz="1600" dirty="0"/>
              <a:t>그 결과로 석탄관련 기업의 주가 하락</a:t>
            </a:r>
            <a:r>
              <a:rPr lang="en-US" altLang="ko-KR" sz="1600" dirty="0"/>
              <a:t>, </a:t>
            </a:r>
            <a:r>
              <a:rPr lang="ko-KR" altLang="en-US" sz="1600" dirty="0"/>
              <a:t>신용등급 저하</a:t>
            </a:r>
            <a:r>
              <a:rPr lang="en-US" altLang="ko-KR" sz="1600" dirty="0"/>
              <a:t>, </a:t>
            </a:r>
            <a:r>
              <a:rPr lang="ko-KR" altLang="en-US" sz="1600" dirty="0"/>
              <a:t>자금조달 비용 상승 등 금융적 좌초 현상이 현실화되고 있다</a:t>
            </a:r>
            <a:r>
              <a:rPr lang="en-US" altLang="ko-KR" sz="1600" dirty="0"/>
              <a:t>.</a:t>
            </a:r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좌초자산은 지역사회와 고용시장에도 심각한 사회경제적 충격을 야기할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석탄 산업이 지역경제의 중심을 이루는 지방정부의 경우</a:t>
            </a:r>
            <a:r>
              <a:rPr lang="en-US" altLang="ko-KR" sz="1600" dirty="0"/>
              <a:t>, </a:t>
            </a:r>
            <a:r>
              <a:rPr lang="ko-KR" altLang="en-US" sz="1600" dirty="0"/>
              <a:t>석탄자산의 조기 퇴출은 고용 감소</a:t>
            </a:r>
            <a:r>
              <a:rPr lang="en-US" altLang="ko-KR" sz="1600" dirty="0"/>
              <a:t>, </a:t>
            </a:r>
            <a:r>
              <a:rPr lang="ko-KR" altLang="en-US" sz="1600" dirty="0"/>
              <a:t>세수 축소</a:t>
            </a:r>
            <a:r>
              <a:rPr lang="en-US" altLang="ko-KR" sz="1600" dirty="0"/>
              <a:t>, </a:t>
            </a:r>
            <a:r>
              <a:rPr lang="ko-KR" altLang="en-US" sz="1600" dirty="0"/>
              <a:t>소비 위축으로 이어지며</a:t>
            </a:r>
            <a:r>
              <a:rPr lang="en-US" altLang="ko-KR" sz="1600" dirty="0"/>
              <a:t>, </a:t>
            </a:r>
            <a:r>
              <a:rPr lang="ko-KR" altLang="en-US" sz="1600" dirty="0"/>
              <a:t>이는 에너지 전환 과정에서 정의롭지 못한 결과를 보여주는 사례가 될 수 있다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r>
              <a:rPr lang="ko-KR" altLang="en-US" sz="1600" dirty="0"/>
              <a:t>사회안전망이 취약한 개발도상국에서는 노동 전환이 어려워</a:t>
            </a:r>
            <a:r>
              <a:rPr lang="en-US" altLang="ko-KR" sz="1600" dirty="0"/>
              <a:t>, </a:t>
            </a:r>
            <a:r>
              <a:rPr lang="ko-KR" altLang="en-US" sz="1600" dirty="0"/>
              <a:t>에너지 정의와 </a:t>
            </a:r>
            <a:r>
              <a:rPr lang="en-US" altLang="ko-KR" sz="1600" dirty="0"/>
              <a:t>‘</a:t>
            </a:r>
            <a:r>
              <a:rPr lang="ko-KR" altLang="en-US" sz="1600" dirty="0"/>
              <a:t>공정 전환</a:t>
            </a:r>
            <a:r>
              <a:rPr lang="en-US" altLang="ko-KR" sz="1600" dirty="0"/>
              <a:t>‘ </a:t>
            </a:r>
            <a:r>
              <a:rPr lang="ko-KR" altLang="en-US" sz="1600" dirty="0"/>
              <a:t>실현을 위한 정책적 개입이 더욱 중요하다</a:t>
            </a:r>
            <a:r>
              <a:rPr lang="en-US" altLang="ko-KR" sz="1600" dirty="0"/>
              <a:t>.</a:t>
            </a:r>
          </a:p>
          <a:p>
            <a:pPr marL="835025" lvl="1" indent="-285750">
              <a:lnSpc>
                <a:spcPct val="150000"/>
              </a:lnSpc>
              <a:buFont typeface="Wingdings" panose="05000000000000000000" pitchFamily="2" charset="2"/>
              <a:buChar char="ü"/>
            </a:pPr>
            <a:endParaRPr lang="en-US" altLang="ko-KR" sz="1600" dirty="0"/>
          </a:p>
          <a:p>
            <a:pPr marL="377825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dirty="0"/>
              <a:t>이에 대한 정책적 대응 전략으로</a:t>
            </a:r>
            <a:r>
              <a:rPr lang="en-US" altLang="ko-KR" sz="1600" dirty="0"/>
              <a:t>, </a:t>
            </a:r>
            <a:r>
              <a:rPr lang="ko-KR" altLang="en-US" sz="1600" dirty="0"/>
              <a:t>좌초위험 자산의 조기 식별</a:t>
            </a:r>
            <a:r>
              <a:rPr lang="en-US" altLang="ko-KR" sz="1600" dirty="0"/>
              <a:t>, </a:t>
            </a:r>
            <a:r>
              <a:rPr lang="ko-KR" altLang="en-US" sz="1600" dirty="0"/>
              <a:t>평가 시스템 구축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탈석탄</a:t>
            </a:r>
            <a:r>
              <a:rPr lang="ko-KR" altLang="en-US" sz="1600" dirty="0"/>
              <a:t> 기업에 대한 보상 및 고용 전환 지원 프로그램 설계</a:t>
            </a:r>
            <a:r>
              <a:rPr lang="en-US" altLang="ko-KR" sz="1600" dirty="0"/>
              <a:t>, </a:t>
            </a:r>
            <a:r>
              <a:rPr lang="ko-KR" altLang="en-US" sz="1600" dirty="0"/>
              <a:t>재교육 인프라 확충</a:t>
            </a:r>
            <a:r>
              <a:rPr lang="en-US" altLang="ko-KR" sz="1600" dirty="0"/>
              <a:t> </a:t>
            </a:r>
            <a:r>
              <a:rPr lang="ko-KR" altLang="en-US" sz="1600" dirty="0"/>
              <a:t>등이 병행되어야 한다</a:t>
            </a:r>
            <a:r>
              <a:rPr lang="en-US" altLang="ko-KR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8769012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21EDDE-B308-8FA7-8116-DAD482D86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 descr="텍스트, 로고, 원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96FF0BD-25A1-7840-4B63-B2ECDF7CFA5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12070" y="1673061"/>
            <a:ext cx="4167861" cy="416786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CA03F291-495C-4A31-DF0A-8F9CC97672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9"/>
            <a:ext cx="10515600" cy="2134292"/>
          </a:xfrm>
          <a:effectLst>
            <a:reflection blurRad="50800" stA="45000" endPos="44000" dir="5400000" sy="-100000" algn="bl" rotWithShape="0"/>
          </a:effectLst>
        </p:spPr>
        <p:txBody>
          <a:bodyPr/>
          <a:lstStyle/>
          <a:p>
            <a:r>
              <a:rPr lang="en-US" altLang="ko-KR" b="1" i="0" spc="150" dirty="0">
                <a:solidFill>
                  <a:schemeClr val="accent2"/>
                </a:solidFill>
              </a:rPr>
              <a:t>T</a:t>
            </a:r>
            <a:r>
              <a:rPr lang="en-US" altLang="ko-KR" sz="5400" i="0" spc="100" dirty="0"/>
              <a:t>hank you</a:t>
            </a:r>
            <a:endParaRPr lang="ko-KR" altLang="en-US" sz="5400" i="0" spc="100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EFC0B50-C677-27B7-56F6-14F7BF9A70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9C872D-39A9-4065-8BF3-6A613116E2A1}" type="slidenum">
              <a:rPr lang="ko-KR" altLang="en-US" smtClean="0"/>
              <a:t>60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9391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사용자 지정 6">
      <a:dk1>
        <a:srgbClr val="262626"/>
      </a:dk1>
      <a:lt1>
        <a:sysClr val="window" lastClr="FFFFFF"/>
      </a:lt1>
      <a:dk2>
        <a:srgbClr val="262626"/>
      </a:dk2>
      <a:lt2>
        <a:srgbClr val="EFEFEF"/>
      </a:lt2>
      <a:accent1>
        <a:srgbClr val="2D72BE"/>
      </a:accent1>
      <a:accent2>
        <a:srgbClr val="E15F5F"/>
      </a:accent2>
      <a:accent3>
        <a:srgbClr val="DA9D6D"/>
      </a:accent3>
      <a:accent4>
        <a:srgbClr val="009AB7"/>
      </a:accent4>
      <a:accent5>
        <a:srgbClr val="FF6600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11743</TotalTime>
  <Words>6407</Words>
  <Application>Microsoft Office PowerPoint</Application>
  <PresentationFormat>와이드스크린</PresentationFormat>
  <Paragraphs>782</Paragraphs>
  <Slides>60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60</vt:i4>
      </vt:variant>
    </vt:vector>
  </HeadingPairs>
  <TitlesOfParts>
    <vt:vector size="67" baseType="lpstr">
      <vt:lpstr>HY헤드라인M</vt:lpstr>
      <vt:lpstr>KoPub돋움체 Light</vt:lpstr>
      <vt:lpstr>Noto Sans KR</vt:lpstr>
      <vt:lpstr>맑은 고딕</vt:lpstr>
      <vt:lpstr>Arial</vt:lpstr>
      <vt:lpstr>Wingdings</vt:lpstr>
      <vt:lpstr>Office 테마</vt:lpstr>
      <vt:lpstr>자원·에너지 경제학</vt:lpstr>
      <vt:lpstr>Chapter 5  석탄 시장</vt:lpstr>
      <vt:lpstr>Section 1. 개 론</vt:lpstr>
      <vt:lpstr>서론</vt:lpstr>
      <vt:lpstr>서론</vt:lpstr>
      <vt:lpstr>Section 2. 석탄산업의 역사</vt:lpstr>
      <vt:lpstr>석탄산업의 역사</vt:lpstr>
      <vt:lpstr>석탄산업의 역사</vt:lpstr>
      <vt:lpstr>Section 3. 석탄의 분류와 특징</vt:lpstr>
      <vt:lpstr>석탄의 분류와 특징</vt:lpstr>
      <vt:lpstr>석탄의 분류와 특징</vt:lpstr>
      <vt:lpstr>석탄의 분류와 특징</vt:lpstr>
      <vt:lpstr>석탄의 분류와 특징</vt:lpstr>
      <vt:lpstr>석탄의 분류와 특징</vt:lpstr>
      <vt:lpstr>석탄의 분류와 특징</vt:lpstr>
      <vt:lpstr>Section 4. 석탄의 가치사슬</vt:lpstr>
      <vt:lpstr>탐사와 채굴</vt:lpstr>
      <vt:lpstr>처리 및 세정</vt:lpstr>
      <vt:lpstr>수송과 물류</vt:lpstr>
      <vt:lpstr>전환과 활용</vt:lpstr>
      <vt:lpstr>전환과 활용</vt:lpstr>
      <vt:lpstr>판매</vt:lpstr>
      <vt:lpstr>철광석에서 강철까지</vt:lpstr>
      <vt:lpstr>원료준비</vt:lpstr>
      <vt:lpstr>제선: 고로에서 쇳물 만들기</vt:lpstr>
      <vt:lpstr>제강: 탄소와 불순물 조절</vt:lpstr>
      <vt:lpstr>주조·압연: 강철을 최종 제품으로</vt:lpstr>
      <vt:lpstr>PowerPoint 프레젠테이션</vt:lpstr>
      <vt:lpstr>Section 5. 석탄생산기술과 비용구조</vt:lpstr>
      <vt:lpstr>석탄생산기술과 비용구조</vt:lpstr>
      <vt:lpstr>석탄생산기술과 비용구조</vt:lpstr>
      <vt:lpstr>Section 6.  석탄채굴 과정의 사회적 환경적 문제</vt:lpstr>
      <vt:lpstr>채굴과정에서의 사회적·환경적 문제</vt:lpstr>
      <vt:lpstr>채굴과정에서의 사회적·환경적 문제</vt:lpstr>
      <vt:lpstr>강원도 지역의 폐광과 지역경제 전환</vt:lpstr>
      <vt:lpstr>강원도 지역의 폐광과 지역경제 전환</vt:lpstr>
      <vt:lpstr>Section 7. 석탄산업의 구조와 경쟁</vt:lpstr>
      <vt:lpstr>산업구조</vt:lpstr>
      <vt:lpstr>시장경쟁 요소</vt:lpstr>
      <vt:lpstr>Section 8. 석탄시장의 거래 현황</vt:lpstr>
      <vt:lpstr>석탄 매장량</vt:lpstr>
      <vt:lpstr>석탄 매장량</vt:lpstr>
      <vt:lpstr>전 세계 석탄 매장량</vt:lpstr>
      <vt:lpstr>석탄 생산</vt:lpstr>
      <vt:lpstr>석탄 매장량</vt:lpstr>
      <vt:lpstr>석탄 소비</vt:lpstr>
      <vt:lpstr>석탄 소비량</vt:lpstr>
      <vt:lpstr>석탄 수출입</vt:lpstr>
      <vt:lpstr>석탄 수출입</vt:lpstr>
      <vt:lpstr>석탄 가격</vt:lpstr>
      <vt:lpstr>석탄 가격</vt:lpstr>
      <vt:lpstr>석탄 가격</vt:lpstr>
      <vt:lpstr>Section 9. 청정 석탄기술</vt:lpstr>
      <vt:lpstr>청정 석탄기술</vt:lpstr>
      <vt:lpstr>청정 석탄기술</vt:lpstr>
      <vt:lpstr>청정 석탄기술</vt:lpstr>
      <vt:lpstr>Section 10. 석탄시장의 구조변화와 좌초자산</vt:lpstr>
      <vt:lpstr>석탄시장의 구조변화와 좌초자산</vt:lpstr>
      <vt:lpstr>석탄시장의 구조변화와 좌초자산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Minyoung Roh</dc:creator>
  <cp:lastModifiedBy>전승호</cp:lastModifiedBy>
  <cp:revision>500</cp:revision>
  <dcterms:created xsi:type="dcterms:W3CDTF">2025-07-05T05:15:23Z</dcterms:created>
  <dcterms:modified xsi:type="dcterms:W3CDTF">2026-10-25T23:07:52Z</dcterms:modified>
</cp:coreProperties>
</file>