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2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54" r:id="rId29"/>
    <p:sldId id="603" r:id="rId30"/>
    <p:sldId id="626" r:id="rId31"/>
    <p:sldId id="627" r:id="rId32"/>
    <p:sldId id="604" r:id="rId33"/>
    <p:sldId id="628" r:id="rId34"/>
    <p:sldId id="629" r:id="rId35"/>
    <p:sldId id="655" r:id="rId36"/>
    <p:sldId id="656" r:id="rId37"/>
    <p:sldId id="606" r:id="rId38"/>
    <p:sldId id="630" r:id="rId39"/>
    <p:sldId id="631" r:id="rId40"/>
    <p:sldId id="605" r:id="rId41"/>
    <p:sldId id="632" r:id="rId42"/>
    <p:sldId id="633" r:id="rId43"/>
    <p:sldId id="648" r:id="rId44"/>
    <p:sldId id="634" r:id="rId45"/>
    <p:sldId id="635" r:id="rId46"/>
    <p:sldId id="636" r:id="rId47"/>
    <p:sldId id="637" r:id="rId48"/>
    <p:sldId id="638" r:id="rId49"/>
    <p:sldId id="639" r:id="rId50"/>
    <p:sldId id="640" r:id="rId51"/>
    <p:sldId id="641" r:id="rId52"/>
    <p:sldId id="642" r:id="rId53"/>
    <p:sldId id="607" r:id="rId54"/>
    <p:sldId id="643" r:id="rId55"/>
    <p:sldId id="644" r:id="rId56"/>
    <p:sldId id="645" r:id="rId57"/>
    <p:sldId id="608" r:id="rId58"/>
    <p:sldId id="646" r:id="rId59"/>
    <p:sldId id="647" r:id="rId60"/>
    <p:sldId id="598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d2rouq5br0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GiSF6RF33I" TargetMode="External"/><Relationship Id="rId2" Type="http://schemas.openxmlformats.org/officeDocument/2006/relationships/hyperlink" Target="https://www.youtube.com/watch?v=vdhCVePGLm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DhRSYIM47u8" TargetMode="External"/><Relationship Id="rId4" Type="http://schemas.openxmlformats.org/officeDocument/2006/relationships/hyperlink" Target="https://www.youtube.com/watch?v=K2G1Eszu_q0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_BEPSfkiqk" TargetMode="External"/><Relationship Id="rId2" Type="http://schemas.openxmlformats.org/officeDocument/2006/relationships/hyperlink" Target="https://www.youtube.com/watch?v=BC88fUrIPXU&amp;t=4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ih-j2TJjXgM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hwwMYvF1C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omipo.co.kr/fr/content/35/main.do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m.ekn.kr/view.php?key=20260814023252770" TargetMode="External"/><Relationship Id="rId2" Type="http://schemas.openxmlformats.org/officeDocument/2006/relationships/hyperlink" Target="https://youtu.be/EwCy7MN1C8s?si=2dzTYdx_TjKg6dU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Gdf8LcZLrXQ?si=efldWkOlkhOyCukq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1952</a:t>
            </a:r>
            <a:r>
              <a:rPr lang="ko-KR" altLang="en-US" sz="1600" dirty="0"/>
              <a:t>년 런던 스모그 사건</a:t>
            </a:r>
            <a:r>
              <a:rPr lang="en-US" altLang="ko-KR" sz="1600" dirty="0"/>
              <a:t>:</a:t>
            </a:r>
            <a:r>
              <a:rPr lang="ko-KR" altLang="en-US" sz="1600" dirty="0"/>
              <a:t>  </a:t>
            </a:r>
            <a:r>
              <a:rPr lang="en-US" altLang="ko-KR" sz="1600" dirty="0">
                <a:hlinkClick r:id="rId2"/>
              </a:rPr>
              <a:t>https://www.youtube.com/watch?v=6d2rouq5br0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pic>
        <p:nvPicPr>
          <p:cNvPr id="5" name="그림 4" descr="미국 펜실베이니아주립대 맥스 로이드 교수는 전 세계에서 채집한 목재와 갈탄, 아역청탄, 역청탄 표본(왼쪽부터)을 분석해 혐기성 미생물이 메탄의 전구물질인 석탄 속 메톡실기를 떼어낸다는 사실을 밝혀냈다. [Patrick Mansell, Penn State 제공. 재판매 및 DB 금지]">
            <a:extLst>
              <a:ext uri="{FF2B5EF4-FFF2-40B4-BE49-F238E27FC236}">
                <a16:creationId xmlns:a16="http://schemas.microsoft.com/office/drawing/2014/main" id="{27ED252B-3B30-1FB9-AD62-3005F0FA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8" y="3918022"/>
            <a:ext cx="3863931" cy="25888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5F0A30-AFD3-FD35-E019-A105D8A5C0B1}"/>
              </a:ext>
            </a:extLst>
          </p:cNvPr>
          <p:cNvSpPr txBox="1"/>
          <p:nvPr/>
        </p:nvSpPr>
        <p:spPr>
          <a:xfrm>
            <a:off x="5321976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목재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F43BA-19C6-1E7F-7122-BF31226971B8}"/>
              </a:ext>
            </a:extLst>
          </p:cNvPr>
          <p:cNvSpPr txBox="1"/>
          <p:nvPr/>
        </p:nvSpPr>
        <p:spPr>
          <a:xfrm>
            <a:off x="6065272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갈탄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15376-1AA7-5DC5-DEAE-FB917C34A92E}"/>
              </a:ext>
            </a:extLst>
          </p:cNvPr>
          <p:cNvSpPr txBox="1"/>
          <p:nvPr/>
        </p:nvSpPr>
        <p:spPr>
          <a:xfrm>
            <a:off x="6723387" y="5506915"/>
            <a:ext cx="61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</a:rPr>
              <a:t>아역청탄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5160E1-2959-D336-9FAC-593BF696C6F1}"/>
              </a:ext>
            </a:extLst>
          </p:cNvPr>
          <p:cNvSpPr txBox="1"/>
          <p:nvPr/>
        </p:nvSpPr>
        <p:spPr>
          <a:xfrm>
            <a:off x="7404317" y="5630025"/>
            <a:ext cx="8365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F3DA3-7F24-5E4A-9675-2814DC4752AE}"/>
              </a:ext>
            </a:extLst>
          </p:cNvPr>
          <p:cNvSpPr txBox="1"/>
          <p:nvPr/>
        </p:nvSpPr>
        <p:spPr>
          <a:xfrm>
            <a:off x="5836315" y="6245412"/>
            <a:ext cx="29213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https://www.yna.co.kr/view/AKR20211112098800009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철광석의 불순물은 석회석에서 생성된 성분과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073AD-EB73-467D-5F99-0D3FB50188D0}"/>
              </a:ext>
            </a:extLst>
          </p:cNvPr>
          <p:cNvSpPr txBox="1"/>
          <p:nvPr/>
        </p:nvSpPr>
        <p:spPr>
          <a:xfrm>
            <a:off x="288790" y="958844"/>
            <a:ext cx="11118453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철강 생산과정 </a:t>
            </a:r>
            <a:r>
              <a:rPr lang="en-US" altLang="ko-KR" sz="1600" dirty="0"/>
              <a:t>(</a:t>
            </a:r>
            <a:r>
              <a:rPr lang="ko-KR" altLang="en-US" sz="1600" dirty="0"/>
              <a:t>고로 공정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https://www.youtube.com/watch?v=vdhCVePGLmM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위기의 철강 업계와 신기술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3"/>
              </a:rPr>
              <a:t>https://www.youtube.com/watch?v=lGiSF6RF33I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4"/>
              </a:rPr>
              <a:t>https://www.youtube.com/watch?v=K2G1Eszu_q0</a:t>
            </a:r>
            <a:r>
              <a:rPr lang="en-US" altLang="ko-KR" sz="1600" dirty="0"/>
              <a:t>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수소환원제철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5"/>
              </a:rPr>
              <a:t>https://www.youtube.com/watch?v=DhRSYIM47u8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ko-KR" altLang="en-US" sz="1600" dirty="0"/>
          </a:p>
          <a:p>
            <a:pPr marL="549275" lvl="1">
              <a:lnSpc>
                <a:spcPct val="150000"/>
              </a:lnSpc>
            </a:pPr>
            <a:endParaRPr lang="en-US" altLang="ko-KR" sz="1600" spc="-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D9C958D-59B4-D94C-9911-43C1336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73AC9-3CF2-A2D9-507A-3DE3AA4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57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</a:t>
            </a:r>
            <a:r>
              <a:rPr lang="en-US" altLang="ko-KR" sz="1600" dirty="0"/>
              <a:t>,</a:t>
            </a:r>
            <a:r>
              <a:rPr lang="ko-KR" altLang="en-US" sz="1600" dirty="0"/>
              <a:t>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6897-AC6C-CA4B-2462-0A586AA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EFD447-7763-6355-3785-601C43F7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7C27F-FCF9-E265-C39E-4A0BD540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CA6FF-598F-3215-C47A-7B22C3118878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1960</a:t>
            </a:r>
            <a:r>
              <a:rPr lang="ko-KR" altLang="en-US" sz="1600" dirty="0"/>
              <a:t>년</a:t>
            </a:r>
            <a:r>
              <a:rPr lang="en-US" altLang="ko-KR" sz="1600" dirty="0"/>
              <a:t>~1980</a:t>
            </a:r>
            <a:r>
              <a:rPr lang="ko-KR" altLang="en-US" sz="1600" dirty="0"/>
              <a:t>년대에는 산업화와 연탄 수요를 바탕으로 탄광지역이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태백</a:t>
            </a:r>
            <a:r>
              <a:rPr lang="en-US" altLang="ko-KR" sz="1600" dirty="0"/>
              <a:t>, </a:t>
            </a:r>
            <a:r>
              <a:rPr lang="ko-KR" altLang="en-US" sz="1600" dirty="0"/>
              <a:t>삼척</a:t>
            </a:r>
            <a:r>
              <a:rPr lang="en-US" altLang="ko-KR" sz="1600" dirty="0"/>
              <a:t>, </a:t>
            </a:r>
            <a:r>
              <a:rPr lang="ko-KR" altLang="en-US" sz="1600" dirty="0"/>
              <a:t>정선</a:t>
            </a:r>
            <a:r>
              <a:rPr lang="en-US" altLang="ko-KR" sz="1600" dirty="0"/>
              <a:t>, </a:t>
            </a:r>
            <a:r>
              <a:rPr lang="ko-KR" altLang="en-US" sz="1600" dirty="0"/>
              <a:t>영월에는 대규모 탄광산업이 있어서 인구가 몰리고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경제활동이 활발한 지역이었다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1980</a:t>
            </a:r>
            <a:r>
              <a:rPr lang="ko-KR" altLang="en-US" sz="1600" dirty="0"/>
              <a:t>년 후반부터 석탄 수요 감소와 채굴비용 상승으로 탄광업이 쇠퇴하였다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1989</a:t>
            </a:r>
            <a:r>
              <a:rPr lang="ko-KR" altLang="en-US" sz="1600" dirty="0"/>
              <a:t>년 석탄산업 합리화 정책에 따라 폐광이 본격화되면서 지역경제가 큰 충격을 받기 시작하였다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탄광기업은 자산 가치 하락과 투자 손실로 탄광사업을 지속하지 못하게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일을 하던 광부와 그 가족들은 실업과 소득 감소로 강원지역을 떠나게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경제활동 감소로 지역 상권의 매출은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주택시장에는 공실이 증가하였다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지방정부는 세입 감소와 지역 회생에 부담을 떠안게 된다</a:t>
            </a:r>
            <a:r>
              <a:rPr lang="en-US" altLang="ko-KR" sz="1600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3D64D4D-C6A0-1ACE-4329-24994C77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9" b="1489"/>
          <a:stretch>
            <a:fillRect/>
          </a:stretch>
        </p:blipFill>
        <p:spPr>
          <a:xfrm>
            <a:off x="2252133" y="4451065"/>
            <a:ext cx="3279543" cy="203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8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0E0E-D4BD-5476-09FF-E78D32F2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B8C8-C209-0262-E0C3-629686C0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9B651-DEDB-3F22-8B15-C1FDB99D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51770-43D4-6BAC-EBE0-597C9F1531F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1995</a:t>
            </a:r>
            <a:r>
              <a:rPr lang="ko-KR" altLang="en-US" sz="1600" dirty="0"/>
              <a:t>년 정부는 지역경제를 살리기 위하여</a:t>
            </a:r>
            <a:r>
              <a:rPr lang="en-US" altLang="ko-KR" sz="1600" dirty="0"/>
              <a:t>, </a:t>
            </a:r>
            <a:r>
              <a:rPr lang="ko-KR" altLang="en-US" sz="1600" dirty="0"/>
              <a:t>폐광지역 개발지원에 관한 특별법을 제정한다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 이 특별법을 근거로</a:t>
            </a:r>
            <a:r>
              <a:rPr lang="en-US" altLang="ko-KR" sz="1600" dirty="0"/>
              <a:t> </a:t>
            </a:r>
            <a:r>
              <a:rPr lang="ko-KR" altLang="en-US" sz="1600" dirty="0"/>
              <a:t>정선군에 강원랜드가 설립된다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뿐만 아니라 좌초자산으로 남을 수 있었던 기존의 탄광시설들을 재활용하여 관광업에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삼탄아트마인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철암탄광역사촌</a:t>
            </a:r>
            <a:r>
              <a:rPr lang="en-US" altLang="ko-KR" sz="1600" dirty="0"/>
              <a:t>, M650, </a:t>
            </a:r>
            <a:r>
              <a:rPr lang="ko-KR" altLang="en-US" sz="1600" dirty="0" err="1"/>
              <a:t>하이원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추추파크</a:t>
            </a:r>
            <a:r>
              <a:rPr lang="ko-KR" altLang="en-US" sz="1600" dirty="0"/>
              <a:t> 등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좌초자산을 직접적으로 활용하지는 않아도</a:t>
            </a:r>
            <a:r>
              <a:rPr lang="en-US" altLang="ko-KR" sz="1600" dirty="0"/>
              <a:t>, </a:t>
            </a:r>
            <a:r>
              <a:rPr lang="ko-KR" altLang="en-US" sz="1600" dirty="0"/>
              <a:t>지역경제 활성화를 위한 여러가지 대책을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강원도 지역의 폐광과 지역경제 활성화 관련 영상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https://www.youtube.com/watch?v=BC88fUrIPXU&amp;t=4s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우리나라 산업화의 핵심 자원이었던 석탄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3"/>
              </a:rPr>
              <a:t>https://www.youtube.com/watch?v=u_BEPSfkiqk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지역경제를 되살리기 위한 정부의 노력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~3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: </a:t>
            </a:r>
            <a:r>
              <a:rPr lang="ko-KR" altLang="en-US" sz="1600" dirty="0"/>
              <a:t>무너져 가는 강원지역의 경제를 되살리기 위한 대책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 ~ : </a:t>
            </a:r>
            <a:r>
              <a:rPr lang="ko-KR" altLang="en-US" sz="1600" dirty="0"/>
              <a:t>강원랜드 운영 관련 문제 제기 </a:t>
            </a:r>
            <a:r>
              <a:rPr lang="en-US" altLang="ko-KR" sz="1600" dirty="0"/>
              <a:t>(</a:t>
            </a:r>
            <a:r>
              <a:rPr lang="ko-KR" altLang="en-US" sz="1600" dirty="0"/>
              <a:t>참고자료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https://www.youtube.com/watch?v=ih-j2TJjXgM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폐광 지역의 부활을 위해 다른 나라 사례를 참고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6848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발전용뿐만 아니라 철강 생산의 핵심 원료로도 활용된다</a:t>
            </a:r>
            <a:r>
              <a:rPr lang="en-US" altLang="ko-KR" sz="1600" dirty="0"/>
              <a:t>. </a:t>
            </a:r>
            <a:r>
              <a:rPr lang="en-US" altLang="ko-KR" sz="1600" dirty="0">
                <a:hlinkClick r:id="rId2"/>
              </a:rPr>
              <a:t>https://www.youtube.com/watch?v=vhwwMYvF1CE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수출량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한국중부발전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https://www.komipo.co.kr/fr/content/35/main.do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(2016)IGCC </a:t>
            </a:r>
            <a:r>
              <a:rPr lang="ko-KR" altLang="en-US" sz="1600" dirty="0"/>
              <a:t>본격 시동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https://youtu.be/EwCy7MN1C8s?si=2dzTYdx_TjKg6dUF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서부발전 </a:t>
            </a:r>
            <a:r>
              <a:rPr lang="en-US" altLang="ko-KR" sz="1600" dirty="0"/>
              <a:t>(</a:t>
            </a:r>
            <a:r>
              <a:rPr lang="ko-KR" altLang="en-US" sz="1600" dirty="0"/>
              <a:t>태안</a:t>
            </a:r>
            <a:r>
              <a:rPr lang="en-US" altLang="ko-KR" sz="1600" dirty="0"/>
              <a:t>): </a:t>
            </a:r>
            <a:r>
              <a:rPr lang="en-US" altLang="ko-KR" sz="1600" dirty="0">
                <a:hlinkClick r:id="rId3"/>
              </a:rPr>
              <a:t>https://m.ekn.kr/view.php?key=20260814023252770</a:t>
            </a:r>
            <a:r>
              <a:rPr lang="en-US" altLang="ko-KR" sz="160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CCUS</a:t>
            </a:r>
            <a:r>
              <a:rPr lang="ko-KR" altLang="en-US" sz="1600" dirty="0"/>
              <a:t>기술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4"/>
              </a:rPr>
              <a:t>https://youtu.be/Gdf8LcZLrXQ?si=efldWkOlkhOyCukq</a:t>
            </a:r>
            <a:r>
              <a:rPr lang="en-US" altLang="ko-KR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11934</TotalTime>
  <Words>6482</Words>
  <Application>Microsoft Office PowerPoint</Application>
  <PresentationFormat>와이드스크린</PresentationFormat>
  <Paragraphs>786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7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PowerPoint 프레젠테이션</vt:lpstr>
      <vt:lpstr>Section 5. 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강원도 지역의 폐광과 지역경제 전환</vt:lpstr>
      <vt:lpstr>강원도 지역의 폐광과 지역경제 전환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507</cp:revision>
  <dcterms:created xsi:type="dcterms:W3CDTF">2025-07-05T05:15:23Z</dcterms:created>
  <dcterms:modified xsi:type="dcterms:W3CDTF">2026-10-27T00:57:17Z</dcterms:modified>
</cp:coreProperties>
</file>