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0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49" r:id="rId24"/>
    <p:sldId id="650" r:id="rId25"/>
    <p:sldId id="651" r:id="rId26"/>
    <p:sldId id="652" r:id="rId27"/>
    <p:sldId id="653" r:id="rId28"/>
    <p:sldId id="603" r:id="rId29"/>
    <p:sldId id="625" r:id="rId30"/>
    <p:sldId id="626" r:id="rId31"/>
    <p:sldId id="627" r:id="rId32"/>
    <p:sldId id="604" r:id="rId33"/>
    <p:sldId id="628" r:id="rId34"/>
    <p:sldId id="629" r:id="rId35"/>
    <p:sldId id="606" r:id="rId36"/>
    <p:sldId id="630" r:id="rId37"/>
    <p:sldId id="631" r:id="rId38"/>
    <p:sldId id="605" r:id="rId39"/>
    <p:sldId id="632" r:id="rId40"/>
    <p:sldId id="633" r:id="rId41"/>
    <p:sldId id="648" r:id="rId42"/>
    <p:sldId id="634" r:id="rId43"/>
    <p:sldId id="635" r:id="rId44"/>
    <p:sldId id="636" r:id="rId45"/>
    <p:sldId id="637" r:id="rId46"/>
    <p:sldId id="638" r:id="rId47"/>
    <p:sldId id="639" r:id="rId48"/>
    <p:sldId id="640" r:id="rId49"/>
    <p:sldId id="641" r:id="rId50"/>
    <p:sldId id="642" r:id="rId51"/>
    <p:sldId id="607" r:id="rId52"/>
    <p:sldId id="643" r:id="rId53"/>
    <p:sldId id="644" r:id="rId54"/>
    <p:sldId id="645" r:id="rId55"/>
    <p:sldId id="608" r:id="rId56"/>
    <p:sldId id="646" r:id="rId57"/>
    <p:sldId id="647" r:id="rId58"/>
    <p:sldId id="598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>
        <p:scale>
          <a:sx n="100" d="100"/>
          <a:sy n="100" d="100"/>
        </p:scale>
        <p:origin x="628" y="11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qmycB7l2Ia0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EfXCVfnWyWk?si=16SJhThLYQvx8WDP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E72777-91B1-E903-CA66-1C319C506ED3}"/>
              </a:ext>
            </a:extLst>
          </p:cNvPr>
          <p:cNvSpPr txBox="1"/>
          <p:nvPr/>
        </p:nvSpPr>
        <p:spPr>
          <a:xfrm>
            <a:off x="7075600" y="33515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화력발전소https://youtu.be/EfXCVfnWyWk?si=16SJhThLYQvx8WDP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17141B-7A19-0A1A-2EC3-57F2FE66D28C}"/>
              </a:ext>
            </a:extLst>
          </p:cNvPr>
          <p:cNvSpPr txBox="1"/>
          <p:nvPr/>
        </p:nvSpPr>
        <p:spPr>
          <a:xfrm>
            <a:off x="5842714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철강신기술</a:t>
            </a:r>
            <a:r>
              <a:rPr lang="en-US" altLang="ko-KR" dirty="0"/>
              <a:t>(</a:t>
            </a:r>
            <a:r>
              <a:rPr lang="ko-KR" altLang="en-US" dirty="0" err="1"/>
              <a:t>크랩</a:t>
            </a:r>
            <a:r>
              <a:rPr lang="en-US" altLang="ko-KR" dirty="0"/>
              <a:t>) 7</a:t>
            </a:r>
            <a:r>
              <a:rPr lang="ko-KR" altLang="en-US" dirty="0"/>
              <a:t>분</a:t>
            </a:r>
            <a:endParaRPr lang="en-US" altLang="ko-KR" dirty="0"/>
          </a:p>
          <a:p>
            <a:r>
              <a:rPr lang="en-US" altLang="ko-KR" dirty="0"/>
              <a:t>https://www.youtube.com/watch?v=lGiSF6RF33I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2DDD1-DD23-A2BE-E43C-D93D21627CA1}"/>
              </a:ext>
            </a:extLst>
          </p:cNvPr>
          <p:cNvSpPr txBox="1"/>
          <p:nvPr/>
        </p:nvSpPr>
        <p:spPr>
          <a:xfrm>
            <a:off x="4203748" y="205238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철 생산과정 </a:t>
            </a:r>
            <a:r>
              <a:rPr lang="en-US" altLang="ko-KR" dirty="0"/>
              <a:t>(EBS </a:t>
            </a:r>
            <a:r>
              <a:rPr lang="ko-KR" altLang="en-US" dirty="0"/>
              <a:t>컬렉션</a:t>
            </a:r>
            <a:r>
              <a:rPr lang="en-US" altLang="ko-KR" dirty="0"/>
              <a:t>) 7</a:t>
            </a:r>
            <a:r>
              <a:rPr lang="ko-KR" altLang="en-US" dirty="0"/>
              <a:t>분</a:t>
            </a:r>
            <a:endParaRPr lang="en-US" altLang="ko-KR" dirty="0"/>
          </a:p>
          <a:p>
            <a:r>
              <a:rPr lang="en-US" altLang="ko-KR" dirty="0"/>
              <a:t>https://www.youtube.com/watch?v=vdhCVePGLmM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DDF2BB-EB92-1386-61F7-ECDC83143974}"/>
              </a:ext>
            </a:extLst>
          </p:cNvPr>
          <p:cNvSpPr txBox="1"/>
          <p:nvPr/>
        </p:nvSpPr>
        <p:spPr>
          <a:xfrm>
            <a:off x="51514" y="613971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수소환원제철</a:t>
            </a:r>
            <a:r>
              <a:rPr lang="en-US" altLang="ko-KR" dirty="0"/>
              <a:t>(3</a:t>
            </a:r>
            <a:r>
              <a:rPr lang="ko-KR" altLang="en-US" dirty="0"/>
              <a:t>분</a:t>
            </a:r>
            <a:r>
              <a:rPr lang="en-US" altLang="ko-KR" dirty="0"/>
              <a:t>)XXX </a:t>
            </a:r>
            <a:r>
              <a:rPr lang="ko-KR" altLang="en-US" dirty="0" err="1"/>
              <a:t>크랩이랑</a:t>
            </a:r>
            <a:r>
              <a:rPr lang="ko-KR" altLang="en-US" dirty="0"/>
              <a:t> 겹침 </a:t>
            </a:r>
            <a:r>
              <a:rPr lang="en-US" altLang="ko-KR" dirty="0"/>
              <a:t>https://www.youtube.com/watch?v=K2G1Eszu_q0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B97CD6-910D-255B-674F-5025ABC806C0}"/>
              </a:ext>
            </a:extLst>
          </p:cNvPr>
          <p:cNvSpPr txBox="1"/>
          <p:nvPr/>
        </p:nvSpPr>
        <p:spPr>
          <a:xfrm>
            <a:off x="5842714" y="4620947"/>
            <a:ext cx="65853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포스코 수소환원제철</a:t>
            </a:r>
            <a:endParaRPr lang="en-US" altLang="ko-KR" dirty="0"/>
          </a:p>
          <a:p>
            <a:r>
              <a:rPr lang="ko-KR" altLang="en-US" dirty="0"/>
              <a:t>https://www.youtube.com/watch?v=DhRSYIM47u8</a:t>
            </a:r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https://www.youtube.com/watch?v=qmycB7l2Ia0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석탄 단거리 이송 및 자연발화</a:t>
            </a:r>
            <a:r>
              <a:rPr lang="en-US" altLang="ko-KR" sz="1600" dirty="0"/>
              <a:t> </a:t>
            </a:r>
            <a:r>
              <a:rPr lang="ko-KR" altLang="en-US" sz="1600" dirty="0"/>
              <a:t>관련 영상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https://youtu.be/EfXCVfnWyWk?si=16SJhThLYQvx8WDP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화력발전소 작동 원리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106BA-CD23-77D7-D3A4-1B408595E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D126A6-8396-4FEE-99E9-9DF1F6D34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철광석에서 강철까지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DD5313-7842-D515-3D30-1CFE1656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7A66F8-16C3-7169-E9F1-5F2DF01A1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14375" y="2527198"/>
            <a:ext cx="10763250" cy="104160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BB53B0E-4230-AD69-F82D-55B345815247}"/>
              </a:ext>
            </a:extLst>
          </p:cNvPr>
          <p:cNvSpPr>
            <a:spLocks noGrp="1"/>
          </p:cNvSpPr>
          <p:nvPr/>
        </p:nvSpPr>
        <p:spPr>
          <a:xfrm>
            <a:off x="5715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 준비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E6C549-65E4-3D23-2B97-666144BD7B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철광석·코크스</a:t>
            </a:r>
            <a:endParaRPr lang="en-US"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25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  <a:endParaRPr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CBB8EE0-8F74-EF01-E72A-B96B9DF7E84D}"/>
              </a:ext>
            </a:extLst>
          </p:cNvPr>
          <p:cNvSpPr>
            <a:spLocks noGrp="1"/>
          </p:cNvSpPr>
          <p:nvPr/>
        </p:nvSpPr>
        <p:spPr>
          <a:xfrm>
            <a:off x="286702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제선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9BF99FE-B4EA-AB23-8D41-100F5599B1A1}"/>
              </a:ext>
            </a:extLst>
          </p:cNvPr>
          <p:cNvSpPr>
            <a:spLocks noGrp="1"/>
          </p:cNvSpPr>
          <p:nvPr/>
        </p:nvSpPr>
        <p:spPr>
          <a:xfrm>
            <a:off x="286702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산소 제거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CFFF595-F43A-066B-A854-6CE852180221}"/>
              </a:ext>
            </a:extLst>
          </p:cNvPr>
          <p:cNvSpPr>
            <a:spLocks noGrp="1"/>
          </p:cNvSpPr>
          <p:nvPr/>
        </p:nvSpPr>
        <p:spPr>
          <a:xfrm>
            <a:off x="516255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제강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387FF2-A024-F3B3-1CC4-E53693C5D556}"/>
              </a:ext>
            </a:extLst>
          </p:cNvPr>
          <p:cNvSpPr>
            <a:spLocks noGrp="1"/>
          </p:cNvSpPr>
          <p:nvPr/>
        </p:nvSpPr>
        <p:spPr>
          <a:xfrm>
            <a:off x="516255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성분 조절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66B55C9-2F3E-BFF8-16B0-D659ECDF716E}"/>
              </a:ext>
            </a:extLst>
          </p:cNvPr>
          <p:cNvSpPr>
            <a:spLocks noGrp="1"/>
          </p:cNvSpPr>
          <p:nvPr/>
        </p:nvSpPr>
        <p:spPr>
          <a:xfrm>
            <a:off x="745807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F4B48A7-451F-64B8-58D4-7DF3A39EEAED}"/>
              </a:ext>
            </a:extLst>
          </p:cNvPr>
          <p:cNvSpPr>
            <a:spLocks noGrp="1"/>
          </p:cNvSpPr>
          <p:nvPr/>
        </p:nvSpPr>
        <p:spPr>
          <a:xfrm>
            <a:off x="745807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 생산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EC6961-3B1C-8453-4B1B-DA606F98FB10}"/>
              </a:ext>
            </a:extLst>
          </p:cNvPr>
          <p:cNvSpPr>
            <a:spLocks noGrp="1"/>
          </p:cNvSpPr>
          <p:nvPr/>
        </p:nvSpPr>
        <p:spPr>
          <a:xfrm>
            <a:off x="97536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압연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1CEAD85-D941-AE41-FE7E-85386E97CC1F}"/>
              </a:ext>
            </a:extLst>
          </p:cNvPr>
          <p:cNvSpPr>
            <a:spLocks noGrp="1"/>
          </p:cNvSpPr>
          <p:nvPr/>
        </p:nvSpPr>
        <p:spPr>
          <a:xfrm>
            <a:off x="97536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모양 가공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776308-F068-0767-84E1-CA79E3167E0B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원재료인 철광석에서 산소를 제거하고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성분을 조절하여</a:t>
            </a:r>
            <a:r>
              <a:rPr lang="en-US" altLang="ko-KR" sz="1600" dirty="0"/>
              <a:t>, </a:t>
            </a:r>
            <a:r>
              <a:rPr lang="ko-KR" altLang="en-US" sz="1600" dirty="0"/>
              <a:t>모양을 만들어 우리가 쓰는 철을 생산하게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8872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746A5-A2D3-7B30-A750-ADE77E5D4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384C01-7460-3F27-2881-24B853FD8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원료준비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FB27E2-7146-031D-5A4C-AAA25E67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3F0042-360C-C7D6-0524-4AE321BE90C4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강철 생산을 위한 원료이자 연료인 코크스는 역청탄을 공기가 없는 상태에서 가열해 만든 물질이다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F35066-3668-E1AB-9E17-6F2EE4D83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1936238"/>
            <a:ext cx="10953750" cy="136627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3235F90-00B4-C0B0-445F-9AB052BC6C16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351243-CBA0-ACAD-FF17-CFBD07DBA3E2}"/>
              </a:ext>
            </a:extLst>
          </p:cNvPr>
          <p:cNvSpPr>
            <a:spLocks noGrp="1"/>
          </p:cNvSpPr>
          <p:nvPr/>
        </p:nvSpPr>
        <p:spPr>
          <a:xfrm>
            <a:off x="6667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철을 공급하는 원료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소결광·펠릿 등으로 준비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145F027-9F78-11F9-8105-101BC254AD0C}"/>
              </a:ext>
            </a:extLst>
          </p:cNvPr>
          <p:cNvSpPr>
            <a:spLocks noGrp="1"/>
          </p:cNvSpPr>
          <p:nvPr/>
        </p:nvSpPr>
        <p:spPr>
          <a:xfrm>
            <a:off x="449580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코크스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6A47198-97E1-DA0B-2326-F0393C104D16}"/>
              </a:ext>
            </a:extLst>
          </p:cNvPr>
          <p:cNvSpPr>
            <a:spLocks noGrp="1"/>
          </p:cNvSpPr>
          <p:nvPr/>
        </p:nvSpPr>
        <p:spPr>
          <a:xfrm>
            <a:off x="449580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열과 환원제를 공급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원료를 받치고 가스 통로 유지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C6A77BB-2D68-2211-797C-1738A3A9C79A}"/>
              </a:ext>
            </a:extLst>
          </p:cNvPr>
          <p:cNvSpPr>
            <a:spLocks noGrp="1"/>
          </p:cNvSpPr>
          <p:nvPr/>
        </p:nvSpPr>
        <p:spPr>
          <a:xfrm>
            <a:off x="83248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6BE1680-7632-C7E0-61B6-FE99AB184D07}"/>
              </a:ext>
            </a:extLst>
          </p:cNvPr>
          <p:cNvSpPr>
            <a:spLocks noGrp="1"/>
          </p:cNvSpPr>
          <p:nvPr/>
        </p:nvSpPr>
        <p:spPr>
          <a:xfrm>
            <a:off x="83248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불순물 분리를 도움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슬래그 형성에 기여</a:t>
            </a:r>
          </a:p>
        </p:txBody>
      </p:sp>
    </p:spTree>
    <p:extLst>
      <p:ext uri="{BB962C8B-B14F-4D97-AF65-F5344CB8AC3E}">
        <p14:creationId xmlns:p14="http://schemas.microsoft.com/office/powerpoint/2010/main" val="1031006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635F3-EB74-6E7B-9438-FBF1CCB22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7555B-7364-3C9C-2EAE-76A0AF977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제선</a:t>
            </a:r>
            <a:r>
              <a:rPr lang="en-US" altLang="ko-KR" dirty="0"/>
              <a:t>: </a:t>
            </a:r>
            <a:r>
              <a:rPr lang="ko-KR" altLang="en-US" dirty="0"/>
              <a:t>고로에서 쇳물 만들기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9254BA-4215-A9D9-620B-D647731A7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80AC90-6A3A-39E3-1F72-8D51BF2DC838}"/>
              </a:ext>
            </a:extLst>
          </p:cNvPr>
          <p:cNvSpPr txBox="1"/>
          <p:nvPr/>
        </p:nvSpPr>
        <p:spPr>
          <a:xfrm>
            <a:off x="288791" y="958844"/>
            <a:ext cx="70435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철광석</a:t>
            </a:r>
            <a:r>
              <a:rPr lang="en-US" altLang="ko-KR" sz="1600" dirty="0"/>
              <a:t>,</a:t>
            </a:r>
            <a:r>
              <a:rPr lang="ko-KR" altLang="en-US" sz="1600" dirty="0"/>
              <a:t> 코크스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석회석를</a:t>
            </a:r>
            <a:r>
              <a:rPr lang="ko-KR" altLang="en-US" sz="1600" dirty="0"/>
              <a:t> 투입하고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뜨거운 공기를 공급한다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코크스가 뜨거운 공기에 반응하여</a:t>
            </a:r>
            <a:r>
              <a:rPr lang="en-US" altLang="ko-KR" sz="1600" dirty="0"/>
              <a:t>, </a:t>
            </a:r>
            <a:r>
              <a:rPr lang="ko-KR" altLang="en-US" sz="1600" dirty="0"/>
              <a:t>열과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만들어낸다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가 철광석에 붙어 있는 산소들을 제거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Fe₂O</a:t>
            </a: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₃ + 3CO → 2Fe + 3CO₂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산소가 제거되어 만들어진 철은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녹아 쇳물로 모이고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쇳물인 용선은 탄소 함량이 </a:t>
            </a:r>
            <a:r>
              <a:rPr lang="en-US" altLang="ko-KR" sz="1600" dirty="0"/>
              <a:t>4~5%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제강 공정에서 성분을 조절해 강철로 만든다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석회석에서 생성된 성분이 철광석의 불순물과 결합해 슬래그를 형성한다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고로 슬래그는 냉각</a:t>
            </a:r>
            <a:r>
              <a:rPr lang="en-US" altLang="ko-KR" sz="1600" dirty="0"/>
              <a:t>, </a:t>
            </a:r>
            <a:r>
              <a:rPr lang="ko-KR" altLang="en-US" sz="1600" dirty="0"/>
              <a:t>가공 과정을 거쳐 시멘트 원료나 </a:t>
            </a:r>
            <a:r>
              <a:rPr lang="ko-KR" altLang="en-US" sz="1600" dirty="0" err="1"/>
              <a:t>혼합재</a:t>
            </a:r>
            <a:r>
              <a:rPr lang="ko-KR" altLang="en-US" sz="1600" dirty="0"/>
              <a:t> 등으로 재활용할 수 있다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B8428EB-B765-7F08-F7A5-2D86D5F8C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742349" y="1710669"/>
            <a:ext cx="3429000" cy="391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1647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00964-0CD6-7B4B-442A-ED6D86604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28E43A-A84A-DF6A-626C-B641C00C3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제강</a:t>
            </a:r>
            <a:r>
              <a:rPr lang="en-US" altLang="ko-KR" dirty="0"/>
              <a:t>: </a:t>
            </a:r>
            <a:r>
              <a:rPr lang="ko-KR" altLang="en-US" dirty="0"/>
              <a:t>탄소와 불순물 조절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7B6980-B914-1EE3-BC79-B51527397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6D6C7DF-BD76-A482-9425-D3A286AAD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66750" y="1844386"/>
            <a:ext cx="3619500" cy="3550227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C1DDC5E-5867-251A-34C2-B23CDB362066}"/>
              </a:ext>
            </a:extLst>
          </p:cNvPr>
          <p:cNvSpPr>
            <a:spLocks noGrp="1"/>
          </p:cNvSpPr>
          <p:nvPr/>
        </p:nvSpPr>
        <p:spPr>
          <a:xfrm>
            <a:off x="666750" y="5800725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rPr>
              <a:t>탄소 함량과 합금 성분에 따라 강도와 가공성이 달라진다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A66495-89B1-D7A5-B94E-835FCB62F174}"/>
              </a:ext>
            </a:extLst>
          </p:cNvPr>
          <p:cNvSpPr txBox="1"/>
          <p:nvPr/>
        </p:nvSpPr>
        <p:spPr>
          <a:xfrm>
            <a:off x="4664209" y="958844"/>
            <a:ext cx="7043582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전로에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철스크랩을</a:t>
            </a:r>
            <a:r>
              <a:rPr lang="ko-KR" altLang="en-US" sz="1600" dirty="0"/>
              <a:t> 넣는다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철스크랩은</a:t>
            </a:r>
            <a:r>
              <a:rPr lang="ko-KR" altLang="en-US" sz="1600" dirty="0"/>
              <a:t> 회수한 고철인데</a:t>
            </a:r>
            <a:r>
              <a:rPr lang="en-US" altLang="ko-KR" sz="1600" dirty="0"/>
              <a:t>, </a:t>
            </a:r>
            <a:r>
              <a:rPr lang="ko-KR" altLang="en-US" sz="1600" dirty="0"/>
              <a:t>철 원료를 재활용하는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녹으면서 열을 흡수하여 전로의 온도를 조절한다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산소를 불어넣어 과도한 탄소를 제거한다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고로에서 나온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에는 탄소가 </a:t>
            </a:r>
            <a:r>
              <a:rPr lang="en-US" altLang="ko-KR" sz="1600" dirty="0"/>
              <a:t>4~5% </a:t>
            </a:r>
            <a:r>
              <a:rPr lang="ko-KR" altLang="en-US" sz="1600" dirty="0"/>
              <a:t>포함되어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용선을 그대로 굳히면 단단하지만 </a:t>
            </a:r>
            <a:r>
              <a:rPr lang="ko-KR" altLang="en-US" sz="1600" dirty="0" err="1"/>
              <a:t>잘깨지고</a:t>
            </a:r>
            <a:r>
              <a:rPr lang="en-US" altLang="ko-KR" sz="1600" dirty="0"/>
              <a:t>, </a:t>
            </a:r>
            <a:r>
              <a:rPr lang="ko-KR" altLang="en-US" sz="1600" dirty="0"/>
              <a:t>얇게 펴거나 구부리는 가공이 어렵기 때문에 탄소를 어느정도 줄여서 조절해야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2C + O₂ → 2CO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탄소는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등의 가스로 빠져 나가고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0552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8C810-3E0B-72FD-3321-23DD2435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3BFB5E69-8720-7B15-3DE8-CBB8EE38782D}"/>
              </a:ext>
            </a:extLst>
          </p:cNvPr>
          <p:cNvSpPr txBox="1"/>
          <p:nvPr/>
        </p:nvSpPr>
        <p:spPr>
          <a:xfrm>
            <a:off x="288790" y="3986764"/>
            <a:ext cx="9020309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압연</a:t>
            </a:r>
            <a:r>
              <a:rPr lang="en-US" altLang="ko-KR" sz="1600" dirty="0"/>
              <a:t>: </a:t>
            </a:r>
            <a:r>
              <a:rPr lang="ko-KR" altLang="en-US" sz="1600" dirty="0"/>
              <a:t>롤 사이로 통과시켜 모양 만들기 </a:t>
            </a:r>
            <a:r>
              <a:rPr lang="en-US" altLang="ko-KR" sz="1600" dirty="0"/>
              <a:t>(</a:t>
            </a:r>
            <a:r>
              <a:rPr lang="ko-KR" altLang="en-US" sz="1600" dirty="0"/>
              <a:t>액체를 누르는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굳은 강철을 가공</a:t>
            </a:r>
            <a:r>
              <a:rPr lang="en-US" altLang="ko-KR" sz="160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판재는 여러 차례 눌러 얇게 만들고</a:t>
            </a:r>
            <a:r>
              <a:rPr lang="en-US" altLang="ko-KR" sz="1600" dirty="0"/>
              <a:t>, </a:t>
            </a:r>
            <a:r>
              <a:rPr lang="ko-KR" altLang="en-US" sz="1600" dirty="0"/>
              <a:t>철근은 홈이 있는 롤을 이용해 단면 모양을 만든다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후처리</a:t>
            </a:r>
            <a:r>
              <a:rPr lang="en-US" altLang="ko-KR" sz="1600" dirty="0"/>
              <a:t>: </a:t>
            </a:r>
            <a:r>
              <a:rPr lang="ko-KR" altLang="en-US" sz="1600" dirty="0"/>
              <a:t>제품에 필요한 성질과 표면 만들기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열처리</a:t>
            </a:r>
            <a:r>
              <a:rPr lang="en-US" altLang="ko-KR" sz="1600" dirty="0"/>
              <a:t>: </a:t>
            </a:r>
            <a:r>
              <a:rPr lang="ko-KR" altLang="en-US" sz="1600" dirty="0"/>
              <a:t>가열하고 식히는 조건을 조절해서 강도</a:t>
            </a:r>
            <a:r>
              <a:rPr lang="en-US" altLang="ko-KR" sz="1600" dirty="0"/>
              <a:t>, </a:t>
            </a:r>
            <a:r>
              <a:rPr lang="ko-KR" altLang="en-US" sz="1600" dirty="0"/>
              <a:t>경도 등을 조절한다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도금</a:t>
            </a:r>
            <a:r>
              <a:rPr lang="en-US" altLang="ko-KR" sz="1600" dirty="0"/>
              <a:t>: </a:t>
            </a:r>
            <a:r>
              <a:rPr lang="ko-KR" altLang="en-US" sz="1600" dirty="0"/>
              <a:t>표면을 다른 금속으로 덮어 부식을 막는다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1A68B95-4989-5542-568E-7911F1E9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주조</a:t>
            </a:r>
            <a:r>
              <a:rPr lang="en-US" altLang="ko-KR" dirty="0"/>
              <a:t>·</a:t>
            </a:r>
            <a:r>
              <a:rPr lang="ko-KR" altLang="en-US" dirty="0"/>
              <a:t>압연</a:t>
            </a:r>
            <a:r>
              <a:rPr lang="en-US" altLang="ko-KR" dirty="0"/>
              <a:t>: </a:t>
            </a:r>
            <a:r>
              <a:rPr lang="ko-KR" altLang="en-US" dirty="0"/>
              <a:t>강철을 최종 제품으로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58BB54-7C9D-C21A-CF42-CD691FB71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D066305-6FE4-B687-7867-06ECB71A5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71500" y="2201691"/>
            <a:ext cx="4294167" cy="801859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038BB50-BCFB-1939-C23A-A6B69BE1CC11}"/>
              </a:ext>
            </a:extLst>
          </p:cNvPr>
          <p:cNvSpPr>
            <a:spLocks noGrp="1"/>
          </p:cNvSpPr>
          <p:nvPr/>
        </p:nvSpPr>
        <p:spPr>
          <a:xfrm>
            <a:off x="14207089" y="2129389"/>
            <a:ext cx="48577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32C9207-63CA-FA4D-7392-766A96B8E696}"/>
              </a:ext>
            </a:extLst>
          </p:cNvPr>
          <p:cNvSpPr>
            <a:spLocks noGrp="1"/>
          </p:cNvSpPr>
          <p:nvPr/>
        </p:nvSpPr>
        <p:spPr>
          <a:xfrm>
            <a:off x="14207089" y="2653264"/>
            <a:ext cx="509587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액체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강철을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냉각해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슬래브·빌릿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등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반제품으로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만든다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38908B-31C1-9179-363B-A049673A2EB7}"/>
              </a:ext>
            </a:extLst>
          </p:cNvPr>
          <p:cNvSpPr>
            <a:spLocks noGrp="1"/>
          </p:cNvSpPr>
          <p:nvPr/>
        </p:nvSpPr>
        <p:spPr>
          <a:xfrm>
            <a:off x="14207089" y="3986764"/>
            <a:ext cx="5095875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압연과 후처리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1CBDBE-8801-FF95-A8A1-A5D8B26A6B0D}"/>
              </a:ext>
            </a:extLst>
          </p:cNvPr>
          <p:cNvSpPr>
            <a:spLocks noGrp="1"/>
          </p:cNvSpPr>
          <p:nvPr/>
        </p:nvSpPr>
        <p:spPr>
          <a:xfrm>
            <a:off x="14207089" y="4520164"/>
            <a:ext cx="5095875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롤로 눌러 판재·봉재 등을 만들고</a:t>
            </a: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열처리·도금 등으로 성질을 조절한다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BCF091-6F4C-4E99-EFAB-A84D373B2B07}"/>
              </a:ext>
            </a:extLst>
          </p:cNvPr>
          <p:cNvSpPr txBox="1"/>
          <p:nvPr/>
        </p:nvSpPr>
        <p:spPr>
          <a:xfrm>
            <a:off x="4861059" y="958844"/>
            <a:ext cx="704358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연속주조</a:t>
            </a:r>
            <a:r>
              <a:rPr lang="en-US" altLang="ko-KR" sz="1600" dirty="0"/>
              <a:t>: </a:t>
            </a:r>
            <a:r>
              <a:rPr lang="ko-KR" altLang="en-US" sz="1600" dirty="0"/>
              <a:t>액체 강철을 긴 덩어리로 굳히기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제강을 마친 액체 강철을 냉각되는 주형에 </a:t>
            </a:r>
            <a:r>
              <a:rPr lang="ko-KR" altLang="en-US" sz="1600" dirty="0" err="1"/>
              <a:t>부으면</a:t>
            </a:r>
            <a:r>
              <a:rPr lang="ko-KR" altLang="en-US" sz="1600" dirty="0"/>
              <a:t> 겉부터 굳기 시작한다</a:t>
            </a:r>
            <a:r>
              <a:rPr lang="en-US" altLang="ko-KR" sz="1600" dirty="0"/>
              <a:t>. </a:t>
            </a:r>
            <a:r>
              <a:rPr lang="ko-KR" altLang="en-US" sz="1600" dirty="0"/>
              <a:t>붓고</a:t>
            </a:r>
            <a:r>
              <a:rPr lang="en-US" altLang="ko-KR" sz="1600" dirty="0"/>
              <a:t>,</a:t>
            </a:r>
            <a:r>
              <a:rPr lang="ko-KR" altLang="en-US" sz="1600" dirty="0"/>
              <a:t> 뽑아내고</a:t>
            </a:r>
            <a:r>
              <a:rPr lang="en-US" altLang="ko-KR" sz="1600" dirty="0"/>
              <a:t>, </a:t>
            </a:r>
            <a:r>
              <a:rPr lang="ko-KR" altLang="en-US" sz="1600" dirty="0"/>
              <a:t>필요한 길이로 계속 잘라내기 때문에 연속주조라고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모양은 용도에 따라 달라진다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슬래브</a:t>
            </a:r>
            <a:r>
              <a:rPr lang="en-US" altLang="ko-KR" sz="1600" dirty="0"/>
              <a:t>: </a:t>
            </a:r>
            <a:r>
              <a:rPr lang="ko-KR" altLang="en-US" sz="1600" dirty="0"/>
              <a:t>넓고 두꺼운 판 </a:t>
            </a:r>
            <a:r>
              <a:rPr lang="en-US" altLang="ko-KR" sz="1600" dirty="0"/>
              <a:t>(</a:t>
            </a:r>
            <a:r>
              <a:rPr lang="ko-KR" altLang="en-US" sz="1600" dirty="0"/>
              <a:t>자동차용</a:t>
            </a:r>
            <a:r>
              <a:rPr lang="en-US" altLang="ko-KR" sz="1600" dirty="0"/>
              <a:t>, </a:t>
            </a:r>
            <a:r>
              <a:rPr lang="ko-KR" altLang="en-US" sz="1600" dirty="0"/>
              <a:t>선박용 강판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빌릿</a:t>
            </a:r>
            <a:r>
              <a:rPr lang="en-US" altLang="ko-KR" sz="1600" dirty="0"/>
              <a:t>:</a:t>
            </a:r>
            <a:r>
              <a:rPr lang="ko-KR" altLang="en-US" sz="1600" dirty="0"/>
              <a:t> 가늘고 긴 봉 형태 </a:t>
            </a:r>
            <a:r>
              <a:rPr lang="en-US" altLang="ko-KR" sz="1600" dirty="0"/>
              <a:t>(</a:t>
            </a:r>
            <a:r>
              <a:rPr lang="ko-KR" altLang="en-US" sz="1600" dirty="0"/>
              <a:t>철근</a:t>
            </a:r>
            <a:r>
              <a:rPr lang="en-US" altLang="ko-KR" sz="1600" dirty="0"/>
              <a:t>, </a:t>
            </a:r>
            <a:r>
              <a:rPr lang="ko-KR" altLang="en-US" sz="1600" dirty="0"/>
              <a:t>봉강</a:t>
            </a:r>
            <a:r>
              <a:rPr lang="en-US" altLang="ko-KR" sz="1600" dirty="0"/>
              <a:t>, </a:t>
            </a:r>
            <a:r>
              <a:rPr lang="ko-KR" altLang="en-US" sz="1600" dirty="0"/>
              <a:t>선재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블룸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빌릿보다</a:t>
            </a:r>
            <a:r>
              <a:rPr lang="ko-KR" altLang="en-US" sz="1600" dirty="0"/>
              <a:t> 굵은 덩어리</a:t>
            </a:r>
            <a:r>
              <a:rPr lang="en-US" altLang="ko-KR" sz="1600" dirty="0"/>
              <a:t> (</a:t>
            </a:r>
            <a:r>
              <a:rPr lang="ko-KR" altLang="en-US" sz="1600" dirty="0"/>
              <a:t>대형 </a:t>
            </a:r>
            <a:r>
              <a:rPr lang="ko-KR" altLang="en-US" sz="1600" dirty="0" err="1"/>
              <a:t>형강</a:t>
            </a:r>
            <a:r>
              <a:rPr lang="en-US" altLang="ko-KR" sz="1600" dirty="0"/>
              <a:t>, </a:t>
            </a:r>
            <a:r>
              <a:rPr lang="ko-KR" altLang="en-US" sz="1600" dirty="0"/>
              <a:t>레일 등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832567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E780C-07E7-8AFA-6E5A-EE38FCB5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56505-7DA7-1B5B-0116-4BE07872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5216-1E75-EA94-EC10-9AE7E7F4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8BA9C-8451-C4CA-8C51-C302F29D51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운반차량이 </a:t>
            </a:r>
            <a:r>
              <a:rPr lang="ko-KR" altLang="en-US" sz="1600" dirty="0" err="1"/>
              <a:t>도입된는</a:t>
            </a:r>
            <a:r>
              <a:rPr lang="ko-KR" altLang="en-US" sz="1600" dirty="0"/>
              <a:t> 경우가 대표적인 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8087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/>
              <a:t>석탄채굴 과정의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ko-KR" altLang="en-US" sz="1600" dirty="0" err="1"/>
              <a:t>발전용뿐만</a:t>
            </a:r>
            <a:r>
              <a:rPr lang="ko-KR" altLang="en-US" sz="1600" dirty="0"/>
              <a:t> 아니라 철강 생산의 핵심 원료로도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6932B-72D0-2B01-8C30-3929E3DA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 세계 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0FBA5-6B2E-D7CE-59E7-0FF960DC3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4AAAD9-4AB8-24CB-7360-E00876A61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4" y="811369"/>
            <a:ext cx="5694608" cy="5694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677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11305</TotalTime>
  <Words>6246</Words>
  <Application>Microsoft Office PowerPoint</Application>
  <PresentationFormat>와이드스크린</PresentationFormat>
  <Paragraphs>755</Paragraphs>
  <Slides>58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5" baseType="lpstr">
      <vt:lpstr>HY헤드라인M</vt:lpstr>
      <vt:lpstr>KoPub돋움체 Light</vt:lpstr>
      <vt:lpstr>Noto Sans KR</vt:lpstr>
      <vt:lpstr>맑은 고딕</vt:lpstr>
      <vt:lpstr>Arial</vt:lpstr>
      <vt:lpstr>Wingdings</vt:lpstr>
      <vt:lpstr>Office 테마</vt:lpstr>
      <vt:lpstr>자원·에너지 경제학</vt:lpstr>
      <vt:lpstr>Chapter 5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철광석에서 강철까지</vt:lpstr>
      <vt:lpstr>원료준비</vt:lpstr>
      <vt:lpstr>제선: 고로에서 쇳물 만들기</vt:lpstr>
      <vt:lpstr>제강: 탄소와 불순물 조절</vt:lpstr>
      <vt:lpstr>주조·압연: 강철을 최종 제품으로</vt:lpstr>
      <vt:lpstr>Section 5. 석탄생산기술과 비용구조</vt:lpstr>
      <vt:lpstr>석탄생산기술과 비용구조</vt:lpstr>
      <vt:lpstr>석탄생산기술과 비용구조</vt:lpstr>
      <vt:lpstr>석탄생산기술과 비용구조</vt:lpstr>
      <vt:lpstr>Section 6.  석탄채굴 과정의 사회적 환경적 문제</vt:lpstr>
      <vt:lpstr>채굴과정에서의 사회적·환경적 문제</vt:lpstr>
      <vt:lpstr>채굴과정에서의 사회적·환경적 문제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전 세계 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486</cp:revision>
  <dcterms:created xsi:type="dcterms:W3CDTF">2025-07-05T05:15:23Z</dcterms:created>
  <dcterms:modified xsi:type="dcterms:W3CDTF">2026-10-11T05:51:06Z</dcterms:modified>
</cp:coreProperties>
</file>