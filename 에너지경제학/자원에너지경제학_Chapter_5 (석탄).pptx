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2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49" r:id="rId24"/>
    <p:sldId id="650" r:id="rId25"/>
    <p:sldId id="651" r:id="rId26"/>
    <p:sldId id="652" r:id="rId27"/>
    <p:sldId id="653" r:id="rId28"/>
    <p:sldId id="654" r:id="rId29"/>
    <p:sldId id="603" r:id="rId30"/>
    <p:sldId id="626" r:id="rId31"/>
    <p:sldId id="627" r:id="rId32"/>
    <p:sldId id="604" r:id="rId33"/>
    <p:sldId id="628" r:id="rId34"/>
    <p:sldId id="629" r:id="rId35"/>
    <p:sldId id="655" r:id="rId36"/>
    <p:sldId id="656" r:id="rId37"/>
    <p:sldId id="606" r:id="rId38"/>
    <p:sldId id="630" r:id="rId39"/>
    <p:sldId id="631" r:id="rId40"/>
    <p:sldId id="605" r:id="rId41"/>
    <p:sldId id="632" r:id="rId42"/>
    <p:sldId id="633" r:id="rId43"/>
    <p:sldId id="648" r:id="rId44"/>
    <p:sldId id="634" r:id="rId45"/>
    <p:sldId id="635" r:id="rId46"/>
    <p:sldId id="636" r:id="rId47"/>
    <p:sldId id="637" r:id="rId48"/>
    <p:sldId id="638" r:id="rId49"/>
    <p:sldId id="639" r:id="rId50"/>
    <p:sldId id="640" r:id="rId51"/>
    <p:sldId id="641" r:id="rId52"/>
    <p:sldId id="642" r:id="rId53"/>
    <p:sldId id="607" r:id="rId54"/>
    <p:sldId id="643" r:id="rId55"/>
    <p:sldId id="644" r:id="rId56"/>
    <p:sldId id="645" r:id="rId57"/>
    <p:sldId id="608" r:id="rId58"/>
    <p:sldId id="646" r:id="rId59"/>
    <p:sldId id="647" r:id="rId60"/>
    <p:sldId id="598" r:id="rId6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6d2rouq5br0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qmycB7l2Ia0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EfXCVfnWyWk?si=16SJhThLYQvx8WDP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GiSF6RF33I" TargetMode="External"/><Relationship Id="rId2" Type="http://schemas.openxmlformats.org/officeDocument/2006/relationships/hyperlink" Target="https://www.youtube.com/watch?v=vdhCVePGLm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DhRSYIM47u8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u_BEPSfkiqk" TargetMode="External"/><Relationship Id="rId2" Type="http://schemas.openxmlformats.org/officeDocument/2006/relationships/hyperlink" Target="https://www.youtube.com/watch?v=BC88fUrIPXU&amp;t=4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ih-j2TJjXgM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1952</a:t>
            </a:r>
            <a:r>
              <a:rPr lang="ko-KR" altLang="en-US" sz="1600" dirty="0"/>
              <a:t>년 런던 스모그 사건</a:t>
            </a:r>
            <a:r>
              <a:rPr lang="en-US" altLang="ko-KR" sz="1600" dirty="0"/>
              <a:t>:</a:t>
            </a:r>
            <a:r>
              <a:rPr lang="ko-KR" altLang="en-US" sz="1600" dirty="0"/>
              <a:t>  </a:t>
            </a:r>
            <a:r>
              <a:rPr lang="en-US" altLang="ko-KR" sz="1600" dirty="0">
                <a:hlinkClick r:id="rId2"/>
              </a:rPr>
              <a:t>https://www.youtube.com/watch?v=6d2rouq5br0</a:t>
            </a:r>
            <a:r>
              <a:rPr lang="en-US" altLang="ko-KR" sz="160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pic>
        <p:nvPicPr>
          <p:cNvPr id="5" name="그림 4" descr="미국 펜실베이니아주립대 맥스 로이드 교수는 전 세계에서 채집한 목재와 갈탄, 아역청탄, 역청탄 표본(왼쪽부터)을 분석해 혐기성 미생물이 메탄의 전구물질인 석탄 속 메톡실기를 떼어낸다는 사실을 밝혀냈다. [Patrick Mansell, Penn State 제공. 재판매 및 DB 금지]">
            <a:extLst>
              <a:ext uri="{FF2B5EF4-FFF2-40B4-BE49-F238E27FC236}">
                <a16:creationId xmlns:a16="http://schemas.microsoft.com/office/drawing/2014/main" id="{27ED252B-3B30-1FB9-AD62-3005F0FA5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288" y="3918022"/>
            <a:ext cx="3863931" cy="25888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5F0A30-AFD3-FD35-E019-A105D8A5C0B1}"/>
              </a:ext>
            </a:extLst>
          </p:cNvPr>
          <p:cNvSpPr txBox="1"/>
          <p:nvPr/>
        </p:nvSpPr>
        <p:spPr>
          <a:xfrm>
            <a:off x="5321976" y="5506915"/>
            <a:ext cx="615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목재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7F43BA-19C6-1E7F-7122-BF31226971B8}"/>
              </a:ext>
            </a:extLst>
          </p:cNvPr>
          <p:cNvSpPr txBox="1"/>
          <p:nvPr/>
        </p:nvSpPr>
        <p:spPr>
          <a:xfrm>
            <a:off x="6065272" y="5506915"/>
            <a:ext cx="615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갈탄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515376-1AA7-5DC5-DEAE-FB917C34A92E}"/>
              </a:ext>
            </a:extLst>
          </p:cNvPr>
          <p:cNvSpPr txBox="1"/>
          <p:nvPr/>
        </p:nvSpPr>
        <p:spPr>
          <a:xfrm>
            <a:off x="6723387" y="5506915"/>
            <a:ext cx="6151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</a:rPr>
              <a:t>아역청탄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5160E1-2959-D336-9FAC-593BF696C6F1}"/>
              </a:ext>
            </a:extLst>
          </p:cNvPr>
          <p:cNvSpPr txBox="1"/>
          <p:nvPr/>
        </p:nvSpPr>
        <p:spPr>
          <a:xfrm>
            <a:off x="7404317" y="5630025"/>
            <a:ext cx="8365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역청탄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1F3DA3-7F24-5E4A-9675-2814DC4752AE}"/>
              </a:ext>
            </a:extLst>
          </p:cNvPr>
          <p:cNvSpPr txBox="1"/>
          <p:nvPr/>
        </p:nvSpPr>
        <p:spPr>
          <a:xfrm>
            <a:off x="5836315" y="6245412"/>
            <a:ext cx="292131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https://www.yna.co.kr/view/AKR20211112098800009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hlinkClick r:id="rId2"/>
              </a:rPr>
              <a:t>https://www.youtube.com/watch?v=qmycB7l2Ia0</a:t>
            </a:r>
            <a:r>
              <a:rPr lang="ko-KR" altLang="en-US" sz="1600" dirty="0"/>
              <a:t>  </a:t>
            </a:r>
            <a:r>
              <a:rPr lang="en-US" altLang="ko-KR" sz="1600" dirty="0"/>
              <a:t>(</a:t>
            </a:r>
            <a:r>
              <a:rPr lang="ko-KR" altLang="en-US" sz="1600" dirty="0"/>
              <a:t>석탄 단거리 이송 및 자연발화</a:t>
            </a:r>
            <a:r>
              <a:rPr lang="en-US" altLang="ko-KR" sz="1600" dirty="0"/>
              <a:t> </a:t>
            </a:r>
            <a:r>
              <a:rPr lang="ko-KR" altLang="en-US" sz="1600" dirty="0"/>
              <a:t>관련 영상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hlinkClick r:id="rId2"/>
              </a:rPr>
              <a:t>https://youtu.be/EfXCVfnWyWk?si=16SJhThLYQvx8WDP</a:t>
            </a:r>
            <a:r>
              <a:rPr lang="ko-KR" altLang="en-US" sz="1600" dirty="0"/>
              <a:t>  </a:t>
            </a:r>
            <a:r>
              <a:rPr lang="en-US" altLang="ko-KR" sz="1600" dirty="0"/>
              <a:t>(</a:t>
            </a:r>
            <a:r>
              <a:rPr lang="ko-KR" altLang="en-US" sz="1600" dirty="0"/>
              <a:t>화력발전소 작동 원리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106BA-CD23-77D7-D3A4-1B408595E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D126A6-8396-4FEE-99E9-9DF1F6D34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철광석에서 강철까지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DD5313-7842-D515-3D30-1CFE1656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57A66F8-16C3-7169-E9F1-5F2DF01A1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14375" y="2527198"/>
            <a:ext cx="10763250" cy="104160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BB53B0E-4230-AD69-F82D-55B345815247}"/>
              </a:ext>
            </a:extLst>
          </p:cNvPr>
          <p:cNvSpPr>
            <a:spLocks noGrp="1"/>
          </p:cNvSpPr>
          <p:nvPr/>
        </p:nvSpPr>
        <p:spPr>
          <a:xfrm>
            <a:off x="57150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원료 준비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E6C549-65E4-3D23-2B97-666144BD7B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철광석·코크스</a:t>
            </a:r>
            <a:endParaRPr lang="en-US" sz="17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25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석회석</a:t>
            </a:r>
            <a:endParaRPr sz="17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CBB8EE0-8F74-EF01-E72A-B96B9DF7E84D}"/>
              </a:ext>
            </a:extLst>
          </p:cNvPr>
          <p:cNvSpPr>
            <a:spLocks noGrp="1"/>
          </p:cNvSpPr>
          <p:nvPr/>
        </p:nvSpPr>
        <p:spPr>
          <a:xfrm>
            <a:off x="2867025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제선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9BF99FE-B4EA-AB23-8D41-100F5599B1A1}"/>
              </a:ext>
            </a:extLst>
          </p:cNvPr>
          <p:cNvSpPr>
            <a:spLocks noGrp="1"/>
          </p:cNvSpPr>
          <p:nvPr/>
        </p:nvSpPr>
        <p:spPr>
          <a:xfrm>
            <a:off x="2867025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산소 제거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CFFF595-F43A-066B-A854-6CE852180221}"/>
              </a:ext>
            </a:extLst>
          </p:cNvPr>
          <p:cNvSpPr>
            <a:spLocks noGrp="1"/>
          </p:cNvSpPr>
          <p:nvPr/>
        </p:nvSpPr>
        <p:spPr>
          <a:xfrm>
            <a:off x="516255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제강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0387FF2-A024-F3B3-1CC4-E53693C5D556}"/>
              </a:ext>
            </a:extLst>
          </p:cNvPr>
          <p:cNvSpPr>
            <a:spLocks noGrp="1"/>
          </p:cNvSpPr>
          <p:nvPr/>
        </p:nvSpPr>
        <p:spPr>
          <a:xfrm>
            <a:off x="516255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성분 조절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66B55C9-2F3E-BFF8-16B0-D659ECDF716E}"/>
              </a:ext>
            </a:extLst>
          </p:cNvPr>
          <p:cNvSpPr>
            <a:spLocks noGrp="1"/>
          </p:cNvSpPr>
          <p:nvPr/>
        </p:nvSpPr>
        <p:spPr>
          <a:xfrm>
            <a:off x="7458075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연속주조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F4B48A7-451F-64B8-58D4-7DF3A39EEAED}"/>
              </a:ext>
            </a:extLst>
          </p:cNvPr>
          <p:cNvSpPr>
            <a:spLocks noGrp="1"/>
          </p:cNvSpPr>
          <p:nvPr/>
        </p:nvSpPr>
        <p:spPr>
          <a:xfrm>
            <a:off x="7458075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반제품 생산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EC6961-3B1C-8453-4B1B-DA606F98FB10}"/>
              </a:ext>
            </a:extLst>
          </p:cNvPr>
          <p:cNvSpPr>
            <a:spLocks noGrp="1"/>
          </p:cNvSpPr>
          <p:nvPr/>
        </p:nvSpPr>
        <p:spPr>
          <a:xfrm>
            <a:off x="975360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압연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1CEAD85-D941-AE41-FE7E-85386E97CC1F}"/>
              </a:ext>
            </a:extLst>
          </p:cNvPr>
          <p:cNvSpPr>
            <a:spLocks noGrp="1"/>
          </p:cNvSpPr>
          <p:nvPr/>
        </p:nvSpPr>
        <p:spPr>
          <a:xfrm>
            <a:off x="975360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모양 가공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776308-F068-0767-84E1-CA79E3167E0B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원재료인 철광석에서 산소를 제거하고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성분을 조절하여</a:t>
            </a:r>
            <a:r>
              <a:rPr lang="en-US" altLang="ko-KR" sz="1600" dirty="0"/>
              <a:t>, </a:t>
            </a:r>
            <a:r>
              <a:rPr lang="ko-KR" altLang="en-US" sz="1600" dirty="0"/>
              <a:t>모양을 만들어 우리가 쓰는 철을 생산하게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8872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746A5-A2D3-7B30-A750-ADE77E5D4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384C01-7460-3F27-2881-24B853FD8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원료준비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FB27E2-7146-031D-5A4C-AAA25E67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3F0042-360C-C7D6-0524-4AE321BE90C4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강철 생산을 위한 원료이자 연료인 코크스는 역청탄을 공기가 없는 상태에서 가열해 만든 물질이다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F35066-3668-E1AB-9E17-6F2EE4D83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19125" y="1936238"/>
            <a:ext cx="10953750" cy="136627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3235F90-00B4-C0B0-445F-9AB052BC6C16}"/>
              </a:ext>
            </a:extLst>
          </p:cNvPr>
          <p:cNvSpPr>
            <a:spLocks noGrp="1"/>
          </p:cNvSpPr>
          <p:nvPr/>
        </p:nvSpPr>
        <p:spPr>
          <a:xfrm>
            <a:off x="66675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철광석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351243-CBA0-ACAD-FF17-CFBD07DBA3E2}"/>
              </a:ext>
            </a:extLst>
          </p:cNvPr>
          <p:cNvSpPr>
            <a:spLocks noGrp="1"/>
          </p:cNvSpPr>
          <p:nvPr/>
        </p:nvSpPr>
        <p:spPr>
          <a:xfrm>
            <a:off x="66675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철을 공급하는 원료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소결광·펠릿 등으로 준비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145F027-9F78-11F9-8105-101BC254AD0C}"/>
              </a:ext>
            </a:extLst>
          </p:cNvPr>
          <p:cNvSpPr>
            <a:spLocks noGrp="1"/>
          </p:cNvSpPr>
          <p:nvPr/>
        </p:nvSpPr>
        <p:spPr>
          <a:xfrm>
            <a:off x="449580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코크스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6A47198-97E1-DA0B-2326-F0393C104D16}"/>
              </a:ext>
            </a:extLst>
          </p:cNvPr>
          <p:cNvSpPr>
            <a:spLocks noGrp="1"/>
          </p:cNvSpPr>
          <p:nvPr/>
        </p:nvSpPr>
        <p:spPr>
          <a:xfrm>
            <a:off x="449580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열과 환원제를 공급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원료를 받치고 가스 통로 유지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C6A77BB-2D68-2211-797C-1738A3A9C79A}"/>
              </a:ext>
            </a:extLst>
          </p:cNvPr>
          <p:cNvSpPr>
            <a:spLocks noGrp="1"/>
          </p:cNvSpPr>
          <p:nvPr/>
        </p:nvSpPr>
        <p:spPr>
          <a:xfrm>
            <a:off x="832485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석회석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6BE1680-7632-C7E0-61B6-FE99AB184D07}"/>
              </a:ext>
            </a:extLst>
          </p:cNvPr>
          <p:cNvSpPr>
            <a:spLocks noGrp="1"/>
          </p:cNvSpPr>
          <p:nvPr/>
        </p:nvSpPr>
        <p:spPr>
          <a:xfrm>
            <a:off x="832485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불순물 분리를 도움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슬래그 형성에 기여</a:t>
            </a:r>
          </a:p>
        </p:txBody>
      </p:sp>
    </p:spTree>
    <p:extLst>
      <p:ext uri="{BB962C8B-B14F-4D97-AF65-F5344CB8AC3E}">
        <p14:creationId xmlns:p14="http://schemas.microsoft.com/office/powerpoint/2010/main" val="1031006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635F3-EB74-6E7B-9438-FBF1CCB22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7555B-7364-3C9C-2EAE-76A0AF977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제선</a:t>
            </a:r>
            <a:r>
              <a:rPr lang="en-US" altLang="ko-KR" dirty="0"/>
              <a:t>: </a:t>
            </a:r>
            <a:r>
              <a:rPr lang="ko-KR" altLang="en-US" dirty="0"/>
              <a:t>고로에서 쇳물 만들기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9254BA-4215-A9D9-620B-D647731A7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80AC90-6A3A-39E3-1F72-8D51BF2DC838}"/>
              </a:ext>
            </a:extLst>
          </p:cNvPr>
          <p:cNvSpPr txBox="1"/>
          <p:nvPr/>
        </p:nvSpPr>
        <p:spPr>
          <a:xfrm>
            <a:off x="288791" y="958844"/>
            <a:ext cx="70435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철광석</a:t>
            </a:r>
            <a:r>
              <a:rPr lang="en-US" altLang="ko-KR" sz="1600" dirty="0"/>
              <a:t>,</a:t>
            </a:r>
            <a:r>
              <a:rPr lang="ko-KR" altLang="en-US" sz="1600" dirty="0"/>
              <a:t> 코크스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석회석를</a:t>
            </a:r>
            <a:r>
              <a:rPr lang="ko-KR" altLang="en-US" sz="1600" dirty="0"/>
              <a:t> 투입하고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뜨거운 공기를 공급한다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코크스가 뜨거운 공기에 반응하여</a:t>
            </a:r>
            <a:r>
              <a:rPr lang="en-US" altLang="ko-KR" sz="1600" dirty="0"/>
              <a:t>, </a:t>
            </a:r>
            <a:r>
              <a:rPr lang="ko-KR" altLang="en-US" sz="1600" dirty="0"/>
              <a:t>열과 </a:t>
            </a: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를 만들어낸다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가 철광석에 붙어 있는 산소들을 제거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Fe₂O</a:t>
            </a:r>
            <a:r>
              <a:rPr lang="en-US" altLang="ko-KR" sz="1600" b="1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₃ + 3CO → 2Fe + 3CO₂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산소가 제거되어 만들어진 철은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녹아 쇳물로 모이고</a:t>
            </a:r>
            <a:r>
              <a:rPr lang="en-US" altLang="ko-KR" sz="1600" dirty="0"/>
              <a:t>, </a:t>
            </a:r>
            <a:r>
              <a:rPr lang="ko-KR" altLang="en-US" sz="1600" dirty="0"/>
              <a:t>불순물은 슬래그로 분리된다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쇳물인 용선은 탄소 함량이 </a:t>
            </a:r>
            <a:r>
              <a:rPr lang="en-US" altLang="ko-KR" sz="1600" dirty="0"/>
              <a:t>4~5%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제강 공정에서 성분을 조절해 강철로 만든다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석회석에서 생성된 성분이 철광석의 불순물과 결합해 슬래그를 형성한다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고로 슬래그는 냉각</a:t>
            </a:r>
            <a:r>
              <a:rPr lang="en-US" altLang="ko-KR" sz="1600" dirty="0"/>
              <a:t>, </a:t>
            </a:r>
            <a:r>
              <a:rPr lang="ko-KR" altLang="en-US" sz="1600" dirty="0"/>
              <a:t>가공 과정을 거쳐 시멘트 원료나 </a:t>
            </a:r>
            <a:r>
              <a:rPr lang="ko-KR" altLang="en-US" sz="1600" dirty="0" err="1"/>
              <a:t>혼합재</a:t>
            </a:r>
            <a:r>
              <a:rPr lang="ko-KR" altLang="en-US" sz="1600" dirty="0"/>
              <a:t> 등으로 재활용할 수 있다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B8428EB-B765-7F08-F7A5-2D86D5F8C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742349" y="1710669"/>
            <a:ext cx="3429000" cy="391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1647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00964-0CD6-7B4B-442A-ED6D86604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28E43A-A84A-DF6A-626C-B641C00C3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제강</a:t>
            </a:r>
            <a:r>
              <a:rPr lang="en-US" altLang="ko-KR" dirty="0"/>
              <a:t>: </a:t>
            </a:r>
            <a:r>
              <a:rPr lang="ko-KR" altLang="en-US" dirty="0"/>
              <a:t>탄소와 불순물 조절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7B6980-B914-1EE3-BC79-B51527397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6D6C7DF-BD76-A482-9425-D3A286AAD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66750" y="1844386"/>
            <a:ext cx="3619500" cy="3550227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7C1DDC5E-5867-251A-34C2-B23CDB362066}"/>
              </a:ext>
            </a:extLst>
          </p:cNvPr>
          <p:cNvSpPr>
            <a:spLocks noGrp="1"/>
          </p:cNvSpPr>
          <p:nvPr/>
        </p:nvSpPr>
        <p:spPr>
          <a:xfrm>
            <a:off x="666750" y="5800725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rPr>
              <a:t>탄소 함량과 합금 성분에 따라 강도와 가공성이 달라진다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A66495-89B1-D7A5-B94E-835FCB62F174}"/>
              </a:ext>
            </a:extLst>
          </p:cNvPr>
          <p:cNvSpPr txBox="1"/>
          <p:nvPr/>
        </p:nvSpPr>
        <p:spPr>
          <a:xfrm>
            <a:off x="4664209" y="958844"/>
            <a:ext cx="7043582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전로에 용선</a:t>
            </a:r>
            <a:r>
              <a:rPr lang="en-US" altLang="ko-KR" sz="1600" dirty="0"/>
              <a:t>(</a:t>
            </a:r>
            <a:r>
              <a:rPr lang="ko-KR" altLang="en-US" sz="1600" dirty="0"/>
              <a:t>쇳물</a:t>
            </a:r>
            <a:r>
              <a:rPr lang="en-US" altLang="ko-KR" sz="1600" dirty="0"/>
              <a:t>)</a:t>
            </a:r>
            <a:r>
              <a:rPr lang="ko-KR" altLang="en-US" sz="1600" dirty="0"/>
              <a:t>과 </a:t>
            </a:r>
            <a:r>
              <a:rPr lang="ko-KR" altLang="en-US" sz="1600" dirty="0" err="1"/>
              <a:t>철스크랩을</a:t>
            </a:r>
            <a:r>
              <a:rPr lang="ko-KR" altLang="en-US" sz="1600" dirty="0"/>
              <a:t> 넣는다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철스크랩은</a:t>
            </a:r>
            <a:r>
              <a:rPr lang="ko-KR" altLang="en-US" sz="1600" dirty="0"/>
              <a:t> 회수한 고철인데</a:t>
            </a:r>
            <a:r>
              <a:rPr lang="en-US" altLang="ko-KR" sz="1600" dirty="0"/>
              <a:t>, </a:t>
            </a:r>
            <a:r>
              <a:rPr lang="ko-KR" altLang="en-US" sz="1600" dirty="0"/>
              <a:t>철 원료를 재활용하는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녹으면서 열을 흡수하여 전로의 온도를 조절한다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산소를 불어넣어 과도한 탄소를 제거한다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고로에서 나온 용선</a:t>
            </a:r>
            <a:r>
              <a:rPr lang="en-US" altLang="ko-KR" sz="1600" dirty="0"/>
              <a:t>(</a:t>
            </a:r>
            <a:r>
              <a:rPr lang="ko-KR" altLang="en-US" sz="1600" dirty="0"/>
              <a:t>쇳물</a:t>
            </a:r>
            <a:r>
              <a:rPr lang="en-US" altLang="ko-KR" sz="1600" dirty="0"/>
              <a:t>)</a:t>
            </a:r>
            <a:r>
              <a:rPr lang="ko-KR" altLang="en-US" sz="1600" dirty="0"/>
              <a:t>에는 탄소가 </a:t>
            </a:r>
            <a:r>
              <a:rPr lang="en-US" altLang="ko-KR" sz="1600" dirty="0"/>
              <a:t>4~5% </a:t>
            </a:r>
            <a:r>
              <a:rPr lang="ko-KR" altLang="en-US" sz="1600" dirty="0"/>
              <a:t>포함되어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용선을 그대로 굳히면 단단하지만 </a:t>
            </a:r>
            <a:r>
              <a:rPr lang="ko-KR" altLang="en-US" sz="1600" dirty="0" err="1"/>
              <a:t>잘깨지고</a:t>
            </a:r>
            <a:r>
              <a:rPr lang="en-US" altLang="ko-KR" sz="1600" dirty="0"/>
              <a:t>, </a:t>
            </a:r>
            <a:r>
              <a:rPr lang="ko-KR" altLang="en-US" sz="1600" dirty="0"/>
              <a:t>얇게 펴거나 구부리는 가공이 어렵기 때문에 탄소를 어느정도 줄여서 조절해야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2C + O₂ → 2CO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탄소는 </a:t>
            </a: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등의 가스로 빠져 나가고</a:t>
            </a:r>
            <a:r>
              <a:rPr lang="en-US" altLang="ko-KR" sz="1600" dirty="0"/>
              <a:t>, </a:t>
            </a:r>
            <a:r>
              <a:rPr lang="ko-KR" altLang="en-US" sz="1600" dirty="0"/>
              <a:t>불순물은 슬래그로 분리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0552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8C810-3E0B-72FD-3321-23DD24358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3BFB5E69-8720-7B15-3DE8-CBB8EE38782D}"/>
              </a:ext>
            </a:extLst>
          </p:cNvPr>
          <p:cNvSpPr txBox="1"/>
          <p:nvPr/>
        </p:nvSpPr>
        <p:spPr>
          <a:xfrm>
            <a:off x="288790" y="3986764"/>
            <a:ext cx="9020309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압연</a:t>
            </a:r>
            <a:r>
              <a:rPr lang="en-US" altLang="ko-KR" sz="1600" dirty="0"/>
              <a:t>: </a:t>
            </a:r>
            <a:r>
              <a:rPr lang="ko-KR" altLang="en-US" sz="1600" dirty="0"/>
              <a:t>롤 사이로 통과시켜 모양 만들기 </a:t>
            </a:r>
            <a:r>
              <a:rPr lang="en-US" altLang="ko-KR" sz="1600" dirty="0"/>
              <a:t>(</a:t>
            </a:r>
            <a:r>
              <a:rPr lang="ko-KR" altLang="en-US" sz="1600" dirty="0"/>
              <a:t>액체를 누르는 것이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굳은 강철을 가공</a:t>
            </a:r>
            <a:r>
              <a:rPr lang="en-US" altLang="ko-KR" sz="1600" dirty="0"/>
              <a:t>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판재는 여러 차례 눌러 얇게 만들고</a:t>
            </a:r>
            <a:r>
              <a:rPr lang="en-US" altLang="ko-KR" sz="1600" dirty="0"/>
              <a:t>, </a:t>
            </a:r>
            <a:r>
              <a:rPr lang="ko-KR" altLang="en-US" sz="1600" dirty="0"/>
              <a:t>철근은 홈이 있는 롤을 이용해 단면 모양을 만든다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후처리</a:t>
            </a:r>
            <a:r>
              <a:rPr lang="en-US" altLang="ko-KR" sz="1600" dirty="0"/>
              <a:t>: </a:t>
            </a:r>
            <a:r>
              <a:rPr lang="ko-KR" altLang="en-US" sz="1600" dirty="0"/>
              <a:t>제품에 필요한 성질과 표면 만들기</a:t>
            </a:r>
            <a:endParaRPr lang="en-US" altLang="ko-KR" sz="160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열처리</a:t>
            </a:r>
            <a:r>
              <a:rPr lang="en-US" altLang="ko-KR" sz="1600" dirty="0"/>
              <a:t>: </a:t>
            </a:r>
            <a:r>
              <a:rPr lang="ko-KR" altLang="en-US" sz="1600" dirty="0"/>
              <a:t>가열하고 식히는 조건을 조절해서 강도</a:t>
            </a:r>
            <a:r>
              <a:rPr lang="en-US" altLang="ko-KR" sz="1600" dirty="0"/>
              <a:t>, </a:t>
            </a:r>
            <a:r>
              <a:rPr lang="ko-KR" altLang="en-US" sz="1600" dirty="0"/>
              <a:t>경도 등을 조절한다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도금</a:t>
            </a:r>
            <a:r>
              <a:rPr lang="en-US" altLang="ko-KR" sz="1600" dirty="0"/>
              <a:t>: </a:t>
            </a:r>
            <a:r>
              <a:rPr lang="ko-KR" altLang="en-US" sz="1600" dirty="0"/>
              <a:t>표면을 다른 금속으로 덮어 부식을 막는다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1A68B95-4989-5542-568E-7911F1E9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주조</a:t>
            </a:r>
            <a:r>
              <a:rPr lang="en-US" altLang="ko-KR" dirty="0"/>
              <a:t>·</a:t>
            </a:r>
            <a:r>
              <a:rPr lang="ko-KR" altLang="en-US" dirty="0"/>
              <a:t>압연</a:t>
            </a:r>
            <a:r>
              <a:rPr lang="en-US" altLang="ko-KR" dirty="0"/>
              <a:t>: </a:t>
            </a:r>
            <a:r>
              <a:rPr lang="ko-KR" altLang="en-US" dirty="0"/>
              <a:t>강철을 최종 제품으로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58BB54-7C9D-C21A-CF42-CD691FB71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D066305-6FE4-B687-7867-06ECB71A5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571500" y="2201691"/>
            <a:ext cx="4294167" cy="801859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038BB50-BCFB-1939-C23A-A6B69BE1CC11}"/>
              </a:ext>
            </a:extLst>
          </p:cNvPr>
          <p:cNvSpPr>
            <a:spLocks noGrp="1"/>
          </p:cNvSpPr>
          <p:nvPr/>
        </p:nvSpPr>
        <p:spPr>
          <a:xfrm>
            <a:off x="14207089" y="2129389"/>
            <a:ext cx="48577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연속주조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32C9207-63CA-FA4D-7392-766A96B8E696}"/>
              </a:ext>
            </a:extLst>
          </p:cNvPr>
          <p:cNvSpPr>
            <a:spLocks noGrp="1"/>
          </p:cNvSpPr>
          <p:nvPr/>
        </p:nvSpPr>
        <p:spPr>
          <a:xfrm>
            <a:off x="14207089" y="2653264"/>
            <a:ext cx="509587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액체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강철을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냉각해</a:t>
            </a:r>
            <a:endParaRPr sz="20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슬래브·빌릿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등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반제품으로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만든다</a:t>
            </a:r>
            <a:endParaRPr sz="20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D38908B-31C1-9179-363B-A049673A2EB7}"/>
              </a:ext>
            </a:extLst>
          </p:cNvPr>
          <p:cNvSpPr>
            <a:spLocks noGrp="1"/>
          </p:cNvSpPr>
          <p:nvPr/>
        </p:nvSpPr>
        <p:spPr>
          <a:xfrm>
            <a:off x="14207089" y="3986764"/>
            <a:ext cx="5095875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압연과 후처리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1CBDBE-8801-FF95-A8A1-A5D8B26A6B0D}"/>
              </a:ext>
            </a:extLst>
          </p:cNvPr>
          <p:cNvSpPr>
            <a:spLocks noGrp="1"/>
          </p:cNvSpPr>
          <p:nvPr/>
        </p:nvSpPr>
        <p:spPr>
          <a:xfrm>
            <a:off x="14207089" y="4520164"/>
            <a:ext cx="5095875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롤로 눌러 판재·봉재 등을 만들고</a:t>
            </a:r>
          </a:p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열처리·도금 등으로 성질을 조절한다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BCF091-6F4C-4E99-EFAB-A84D373B2B07}"/>
              </a:ext>
            </a:extLst>
          </p:cNvPr>
          <p:cNvSpPr txBox="1"/>
          <p:nvPr/>
        </p:nvSpPr>
        <p:spPr>
          <a:xfrm>
            <a:off x="4861059" y="958844"/>
            <a:ext cx="704358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연속주조</a:t>
            </a:r>
            <a:r>
              <a:rPr lang="en-US" altLang="ko-KR" sz="1600" dirty="0"/>
              <a:t>: </a:t>
            </a:r>
            <a:r>
              <a:rPr lang="ko-KR" altLang="en-US" sz="1600" dirty="0"/>
              <a:t>액체 강철을 긴 덩어리로 굳히기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제강을 마친 액체 강철을 냉각되는 주형에 </a:t>
            </a:r>
            <a:r>
              <a:rPr lang="ko-KR" altLang="en-US" sz="1600" dirty="0" err="1"/>
              <a:t>부으면</a:t>
            </a:r>
            <a:r>
              <a:rPr lang="ko-KR" altLang="en-US" sz="1600" dirty="0"/>
              <a:t> 겉부터 굳기 시작한다</a:t>
            </a:r>
            <a:r>
              <a:rPr lang="en-US" altLang="ko-KR" sz="1600" dirty="0"/>
              <a:t>. </a:t>
            </a:r>
            <a:r>
              <a:rPr lang="ko-KR" altLang="en-US" sz="1600" dirty="0"/>
              <a:t>붓고</a:t>
            </a:r>
            <a:r>
              <a:rPr lang="en-US" altLang="ko-KR" sz="1600" dirty="0"/>
              <a:t>,</a:t>
            </a:r>
            <a:r>
              <a:rPr lang="ko-KR" altLang="en-US" sz="1600" dirty="0"/>
              <a:t> 뽑아내고</a:t>
            </a:r>
            <a:r>
              <a:rPr lang="en-US" altLang="ko-KR" sz="1600" dirty="0"/>
              <a:t>, </a:t>
            </a:r>
            <a:r>
              <a:rPr lang="ko-KR" altLang="en-US" sz="1600" dirty="0"/>
              <a:t>필요한 길이로 계속 잘라내기 때문에 연속주조라고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모양은 용도에 따라 달라진다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슬래브</a:t>
            </a:r>
            <a:r>
              <a:rPr lang="en-US" altLang="ko-KR" sz="1600" dirty="0"/>
              <a:t>: </a:t>
            </a:r>
            <a:r>
              <a:rPr lang="ko-KR" altLang="en-US" sz="1600" dirty="0"/>
              <a:t>넓고 두꺼운 판 </a:t>
            </a:r>
            <a:r>
              <a:rPr lang="en-US" altLang="ko-KR" sz="1600" dirty="0"/>
              <a:t>(</a:t>
            </a:r>
            <a:r>
              <a:rPr lang="ko-KR" altLang="en-US" sz="1600" dirty="0"/>
              <a:t>자동차용</a:t>
            </a:r>
            <a:r>
              <a:rPr lang="en-US" altLang="ko-KR" sz="1600" dirty="0"/>
              <a:t>, </a:t>
            </a:r>
            <a:r>
              <a:rPr lang="ko-KR" altLang="en-US" sz="1600" dirty="0"/>
              <a:t>선박용 강판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빌릿</a:t>
            </a:r>
            <a:r>
              <a:rPr lang="en-US" altLang="ko-KR" sz="1600" dirty="0"/>
              <a:t>:</a:t>
            </a:r>
            <a:r>
              <a:rPr lang="ko-KR" altLang="en-US" sz="1600" dirty="0"/>
              <a:t> 가늘고 긴 봉 형태 </a:t>
            </a:r>
            <a:r>
              <a:rPr lang="en-US" altLang="ko-KR" sz="1600" dirty="0"/>
              <a:t>(</a:t>
            </a:r>
            <a:r>
              <a:rPr lang="ko-KR" altLang="en-US" sz="1600" dirty="0"/>
              <a:t>철근</a:t>
            </a:r>
            <a:r>
              <a:rPr lang="en-US" altLang="ko-KR" sz="1600" dirty="0"/>
              <a:t>, </a:t>
            </a:r>
            <a:r>
              <a:rPr lang="ko-KR" altLang="en-US" sz="1600" dirty="0"/>
              <a:t>봉강</a:t>
            </a:r>
            <a:r>
              <a:rPr lang="en-US" altLang="ko-KR" sz="1600" dirty="0"/>
              <a:t>, </a:t>
            </a:r>
            <a:r>
              <a:rPr lang="ko-KR" altLang="en-US" sz="1600" dirty="0"/>
              <a:t>선재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블룸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빌릿보다</a:t>
            </a:r>
            <a:r>
              <a:rPr lang="ko-KR" altLang="en-US" sz="1600" dirty="0"/>
              <a:t> 굵은 덩어리</a:t>
            </a:r>
            <a:r>
              <a:rPr lang="en-US" altLang="ko-KR" sz="1600" dirty="0"/>
              <a:t> (</a:t>
            </a:r>
            <a:r>
              <a:rPr lang="ko-KR" altLang="en-US" sz="1600" dirty="0"/>
              <a:t>대형 </a:t>
            </a:r>
            <a:r>
              <a:rPr lang="ko-KR" altLang="en-US" sz="1600" dirty="0" err="1"/>
              <a:t>형강</a:t>
            </a:r>
            <a:r>
              <a:rPr lang="en-US" altLang="ko-KR" sz="1600" dirty="0"/>
              <a:t>, </a:t>
            </a:r>
            <a:r>
              <a:rPr lang="ko-KR" altLang="en-US" sz="1600" dirty="0"/>
              <a:t>레일 등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832567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04A073AD-EB73-467D-5F99-0D3FB50188D0}"/>
              </a:ext>
            </a:extLst>
          </p:cNvPr>
          <p:cNvSpPr txBox="1"/>
          <p:nvPr/>
        </p:nvSpPr>
        <p:spPr>
          <a:xfrm>
            <a:off x="288790" y="958844"/>
            <a:ext cx="11118453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철강 생산과정 </a:t>
            </a:r>
            <a:r>
              <a:rPr lang="en-US" altLang="ko-KR" sz="1600" dirty="0"/>
              <a:t>(</a:t>
            </a:r>
            <a:r>
              <a:rPr lang="ko-KR" altLang="en-US" sz="1600" dirty="0"/>
              <a:t>고로 공정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2"/>
              </a:rPr>
              <a:t>https://www.youtube.com/watch?v=vdhCVePGLmM</a:t>
            </a:r>
            <a:endParaRPr lang="ko-KR" altLang="en-US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위기의 철강 업계와 신기술 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3"/>
              </a:rPr>
              <a:t>https://www.youtube.com/watch?v=lGiSF6RF33I</a:t>
            </a:r>
            <a:endParaRPr lang="ko-KR" altLang="en-US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https://www.youtube.com/watch?v=K2G1Eszu_q0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수소환원제철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4"/>
              </a:rPr>
              <a:t>https://www.youtube.com/watch?v=DhRSYIM47u8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ko-KR" altLang="en-US" sz="1600" dirty="0"/>
          </a:p>
          <a:p>
            <a:pPr marL="549275" lvl="1">
              <a:lnSpc>
                <a:spcPct val="150000"/>
              </a:lnSpc>
            </a:pPr>
            <a:endParaRPr lang="en-US" altLang="ko-KR" sz="1600" spc="-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D9C958D-59B4-D94C-9911-43C13366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73AC9-3CF2-A2D9-507A-3DE3AA431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0570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</a:t>
            </a:r>
            <a:r>
              <a:rPr lang="en-US" altLang="ko-KR" sz="1600" dirty="0"/>
              <a:t>,</a:t>
            </a:r>
            <a:r>
              <a:rPr lang="ko-KR" altLang="en-US" sz="1600" dirty="0"/>
              <a:t>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/>
              <a:t>석탄채굴 과정의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06897-AC6C-CA4B-2462-0A586AAE5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EFD447-7763-6355-3785-601C43F7D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강원도 지역의 폐광과 지역경제 전환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07C27F-FCF9-E265-C39E-4A0BD540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ECA6FF-598F-3215-C47A-7B22C3118878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1960</a:t>
            </a:r>
            <a:r>
              <a:rPr lang="ko-KR" altLang="en-US" sz="1600" dirty="0"/>
              <a:t>년</a:t>
            </a:r>
            <a:r>
              <a:rPr lang="en-US" altLang="ko-KR" sz="1600" dirty="0"/>
              <a:t>~1980</a:t>
            </a:r>
            <a:r>
              <a:rPr lang="ko-KR" altLang="en-US" sz="1600" dirty="0"/>
              <a:t>년대에는 산업화와 연탄 수요를 바탕으로 탄광지역이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태백</a:t>
            </a:r>
            <a:r>
              <a:rPr lang="en-US" altLang="ko-KR" sz="1600" dirty="0"/>
              <a:t>, </a:t>
            </a:r>
            <a:r>
              <a:rPr lang="ko-KR" altLang="en-US" sz="1600" dirty="0"/>
              <a:t>삼척</a:t>
            </a:r>
            <a:r>
              <a:rPr lang="en-US" altLang="ko-KR" sz="1600" dirty="0"/>
              <a:t>, </a:t>
            </a:r>
            <a:r>
              <a:rPr lang="ko-KR" altLang="en-US" sz="1600" dirty="0"/>
              <a:t>정선</a:t>
            </a:r>
            <a:r>
              <a:rPr lang="en-US" altLang="ko-KR" sz="1600" dirty="0"/>
              <a:t>, </a:t>
            </a:r>
            <a:r>
              <a:rPr lang="ko-KR" altLang="en-US" sz="1600" dirty="0"/>
              <a:t>영월에는 대규모 탄광산업이 있어서 인구가 몰리고</a:t>
            </a:r>
            <a:r>
              <a:rPr lang="en-US" altLang="ko-KR" sz="1600" dirty="0"/>
              <a:t>, </a:t>
            </a:r>
            <a:r>
              <a:rPr lang="ko-KR" altLang="en-US" sz="1600" dirty="0"/>
              <a:t>경제활동이 활발한 지역이었다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</a:t>
            </a:r>
            <a:r>
              <a:rPr lang="en-US" altLang="ko-KR" sz="1600" dirty="0"/>
              <a:t>1980</a:t>
            </a:r>
            <a:r>
              <a:rPr lang="ko-KR" altLang="en-US" sz="1600" dirty="0"/>
              <a:t>년 후반부터 석탄 수요 감소와 채굴비용 상승으로 탄광업이 쇠퇴하였다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1989</a:t>
            </a:r>
            <a:r>
              <a:rPr lang="ko-KR" altLang="en-US" sz="1600" dirty="0"/>
              <a:t>년 석탄산업 합리화 정책에 따라 폐광이 본격화되면서 지역경제가 큰 충격을 받기 시작하였다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탄광기업은 자산 가치 하락과 투자 손실로 탄광사업을 지속하지 못하게 되었다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일을 하던 광부와 그 가족들은 실업과 소득 감소로 강원지역을 떠나게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경제활동 감소로 지역 상권의 매출은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주택시장에는 공실이 증가하였다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지방정부는 세입 감소와 지역 회생에 부담을 떠안게 된다</a:t>
            </a:r>
            <a:r>
              <a:rPr lang="en-US" altLang="ko-KR" sz="1600" dirty="0"/>
              <a:t>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3D64D4D-C6A0-1ACE-4329-24994C77D2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89" b="1489"/>
          <a:stretch>
            <a:fillRect/>
          </a:stretch>
        </p:blipFill>
        <p:spPr>
          <a:xfrm>
            <a:off x="2252133" y="4451065"/>
            <a:ext cx="3279543" cy="2037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3896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20E0E-D4BD-5476-09FF-E78D32F2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3AB8C8-C209-0262-E0C3-629686C0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강원도 지역의 폐광과 지역경제 전환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9B651-DEDB-3F22-8B15-C1FDB99D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C51770-43D4-6BAC-EBE0-597C9F1531F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1995</a:t>
            </a:r>
            <a:r>
              <a:rPr lang="ko-KR" altLang="en-US" sz="1600" dirty="0"/>
              <a:t>년 정부는 지역경제를 살리기 위하여</a:t>
            </a:r>
            <a:r>
              <a:rPr lang="en-US" altLang="ko-KR" sz="1600" dirty="0"/>
              <a:t>, </a:t>
            </a:r>
            <a:r>
              <a:rPr lang="ko-KR" altLang="en-US" sz="1600" dirty="0"/>
              <a:t>폐광지역 개발지원에 관한 특별법을 제정한다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1998</a:t>
            </a:r>
            <a:r>
              <a:rPr lang="ko-KR" altLang="en-US" sz="1600" dirty="0"/>
              <a:t>년 이 특별법을 근거로</a:t>
            </a:r>
            <a:r>
              <a:rPr lang="en-US" altLang="ko-KR" sz="1600" dirty="0"/>
              <a:t> </a:t>
            </a:r>
            <a:r>
              <a:rPr lang="ko-KR" altLang="en-US" sz="1600" dirty="0"/>
              <a:t>정선군에 강원랜드가 설립된다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뿐만 아니라 좌초자산으로 남을 수 있었던 기존의 탄광시설들을 재활용하여 관광업에 활용한다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삼탄아트마인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철암탄광역사촌</a:t>
            </a:r>
            <a:r>
              <a:rPr lang="en-US" altLang="ko-KR" sz="1600" dirty="0"/>
              <a:t>, M650, </a:t>
            </a:r>
            <a:r>
              <a:rPr lang="ko-KR" altLang="en-US" sz="1600" dirty="0" err="1"/>
              <a:t>하이원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추추파크</a:t>
            </a:r>
            <a:r>
              <a:rPr lang="ko-KR" altLang="en-US" sz="1600" dirty="0"/>
              <a:t> 등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좌초자산을 직접적으로 활용하지는 않아도</a:t>
            </a:r>
            <a:r>
              <a:rPr lang="en-US" altLang="ko-KR" sz="1600" dirty="0"/>
              <a:t>, </a:t>
            </a:r>
            <a:r>
              <a:rPr lang="ko-KR" altLang="en-US" sz="1600" dirty="0"/>
              <a:t>지역경제 활성화를 위한 여러가지 대책을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강원도 지역의 폐광과 지역경제 활성화 관련 영상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2"/>
              </a:rPr>
              <a:t>https://www.youtube.com/watch?v=BC88fUrIPXU&amp;t=4s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우리나라 산업화의 핵심 자원이었던 석탄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3"/>
              </a:rPr>
              <a:t>https://www.youtube.com/watch?v=u_BEPSfkiqk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지역경제를 되살리기 위한 정부의 노력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~3</a:t>
            </a:r>
            <a:r>
              <a:rPr lang="ko-KR" altLang="en-US" sz="1600" dirty="0"/>
              <a:t>분 </a:t>
            </a:r>
            <a:r>
              <a:rPr lang="en-US" altLang="ko-KR" sz="1600" dirty="0"/>
              <a:t>45</a:t>
            </a:r>
            <a:r>
              <a:rPr lang="ko-KR" altLang="en-US" sz="1600" dirty="0"/>
              <a:t>초</a:t>
            </a:r>
            <a:r>
              <a:rPr lang="en-US" altLang="ko-KR" sz="1600" dirty="0"/>
              <a:t>: </a:t>
            </a:r>
            <a:r>
              <a:rPr lang="ko-KR" altLang="en-US" sz="1600" dirty="0"/>
              <a:t>무너져 가는 강원지역의 경제를 되살리기 위한 대책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3</a:t>
            </a:r>
            <a:r>
              <a:rPr lang="ko-KR" altLang="en-US" sz="1600" dirty="0"/>
              <a:t>분 </a:t>
            </a:r>
            <a:r>
              <a:rPr lang="en-US" altLang="ko-KR" sz="1600" dirty="0"/>
              <a:t>45</a:t>
            </a:r>
            <a:r>
              <a:rPr lang="ko-KR" altLang="en-US" sz="1600" dirty="0"/>
              <a:t>초</a:t>
            </a:r>
            <a:r>
              <a:rPr lang="en-US" altLang="ko-KR" sz="1600" dirty="0"/>
              <a:t> ~ : </a:t>
            </a:r>
            <a:r>
              <a:rPr lang="ko-KR" altLang="en-US" sz="1600" dirty="0"/>
              <a:t>강원랜드 운영 관련 문제 제기 </a:t>
            </a:r>
            <a:r>
              <a:rPr lang="en-US" altLang="ko-KR" sz="1600" dirty="0"/>
              <a:t>(</a:t>
            </a:r>
            <a:r>
              <a:rPr lang="ko-KR" altLang="en-US" sz="1600" dirty="0"/>
              <a:t>참고자료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4"/>
              </a:rPr>
              <a:t>https://www.youtube.com/watch?v=ih-j2TJjXgM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폐광 지역의 부활을 위해 다른 나라 사례를 참고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968484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ko-KR" altLang="en-US" sz="1600" dirty="0" err="1"/>
              <a:t>발전용뿐만</a:t>
            </a:r>
            <a:r>
              <a:rPr lang="ko-KR" altLang="en-US" sz="1600" dirty="0"/>
              <a:t> 아니라 철강 생산의 핵심 원료로도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6932B-72D0-2B01-8C30-3929E3DA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 세계 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0FBA5-6B2E-D7CE-59E7-0FF960DC3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4AAAD9-4AB8-24CB-7360-E00876A61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274" y="811369"/>
            <a:ext cx="5694608" cy="5694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677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6290-F616-6805-8E00-A2323E59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BA19B-0600-1AEE-4248-AC9AF09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7FA55-0EB1-6255-797C-3D927C708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5DA04-EC5C-2C8E-671F-07D20499E18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교역은 생산과 소비가 특정 국가에 집중된 구조를 명확히 반영하고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수출은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소수의 주요 생산국이 주도 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고품질 제철용 </a:t>
            </a:r>
            <a:r>
              <a:rPr lang="ko-KR" altLang="en-US" sz="1600" dirty="0" err="1"/>
              <a:t>코크스탄의</a:t>
            </a:r>
            <a:r>
              <a:rPr lang="ko-KR" altLang="en-US" sz="1600" dirty="0"/>
              <a:t> 최대 수출국으로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 주요 철강 생산국에 공급하고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인도네시아는 저비용 </a:t>
            </a:r>
            <a:r>
              <a:rPr lang="ko-KR" altLang="en-US" sz="1600" dirty="0" err="1"/>
              <a:t>저열량의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열탄을</a:t>
            </a:r>
            <a:r>
              <a:rPr lang="ko-KR" altLang="en-US" sz="1600" dirty="0"/>
              <a:t> 중심으로 아시아 발전시장에 특화된 공급구조를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수입은 에너지 수요가 많고</a:t>
            </a:r>
            <a:r>
              <a:rPr lang="en-US" altLang="ko-KR" sz="1600" dirty="0"/>
              <a:t>,</a:t>
            </a:r>
            <a:r>
              <a:rPr lang="ko-KR" altLang="en-US" sz="1600" dirty="0"/>
              <a:t> 자원 자립도가 낮은 국가를 중심으로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아시아 국가들이 글로벌 수입 시장의 </a:t>
            </a:r>
            <a:r>
              <a:rPr lang="ko-KR" altLang="en-US" sz="1600" dirty="0" err="1"/>
              <a:t>핵심축이다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중국과 인도는 세계 최대 석탄 생산국임에도</a:t>
            </a:r>
            <a:r>
              <a:rPr lang="en-US" altLang="ko-KR" sz="1600" dirty="0"/>
              <a:t>, </a:t>
            </a:r>
            <a:r>
              <a:rPr lang="ko-KR" altLang="en-US" sz="1600" dirty="0"/>
              <a:t>특정 품질의 석탄에 대한 내적 부족</a:t>
            </a:r>
            <a:r>
              <a:rPr lang="en-US" altLang="ko-KR" sz="1600" dirty="0"/>
              <a:t>, </a:t>
            </a:r>
            <a:r>
              <a:rPr lang="ko-KR" altLang="en-US" sz="1600" dirty="0"/>
              <a:t>수급 불균형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비효율성 등의 이유로 여전히 상당량의 석탄을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일본과 한국은 국내 석탄 자원이 거의 전무한 전형적인 순수입국으로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가격 변동성 및 지정학적 리스크에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장기계약과 공급원 다변화 전략을 병행하고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14796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2199-0FA2-522A-EFDA-39A9628D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0F025-487C-D0D3-07F2-6B151E53A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40264-DB57-B281-930D-B9611918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CD7CA4D-B80F-D443-5AC0-E7B099AE6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7" b="4582"/>
          <a:stretch>
            <a:fillRect/>
          </a:stretch>
        </p:blipFill>
        <p:spPr>
          <a:xfrm>
            <a:off x="759793" y="2429564"/>
            <a:ext cx="4850296" cy="2663688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4288E905-0032-8886-B168-F854BA5E3E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4" b="6260"/>
          <a:stretch>
            <a:fillRect/>
          </a:stretch>
        </p:blipFill>
        <p:spPr>
          <a:xfrm>
            <a:off x="6517776" y="2376557"/>
            <a:ext cx="4850296" cy="2716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EDFB38-EE65-8DB1-F932-418377E59A3F}"/>
              </a:ext>
            </a:extLst>
          </p:cNvPr>
          <p:cNvSpPr txBox="1"/>
          <p:nvPr/>
        </p:nvSpPr>
        <p:spPr>
          <a:xfrm>
            <a:off x="1038356" y="2291064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수입국의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3014-0FF7-7712-DF7B-6BF8130B6D88}"/>
              </a:ext>
            </a:extLst>
          </p:cNvPr>
          <p:cNvSpPr txBox="1"/>
          <p:nvPr/>
        </p:nvSpPr>
        <p:spPr>
          <a:xfrm>
            <a:off x="6962539" y="2291064"/>
            <a:ext cx="3829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수출국의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10A48-E158-8E85-FAD3-0B188DC9A901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그림은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2023</a:t>
            </a:r>
            <a:r>
              <a:rPr lang="ko-KR" altLang="en-US" sz="1600" dirty="0"/>
              <a:t>년까지 주요국의 석탄 수입량과 수출량을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설명은 전 슬라이드 참고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904048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D8EE-1BD4-CD15-C2A4-77807A54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F4B20-508C-57DF-CB58-22ADBE5F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F065F-7C6B-4EC9-78BD-C20B30CF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839AA-357E-A2E4-FA06-0455661D7CAC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 결정의 기본적 메커니즘은 시장에서의 수급 균형이다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 측면에서는 주요생산국인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생산 능력</a:t>
            </a:r>
            <a:r>
              <a:rPr lang="en-US" altLang="ko-KR" sz="1600" dirty="0"/>
              <a:t>, </a:t>
            </a:r>
            <a:r>
              <a:rPr lang="ko-KR" altLang="en-US" sz="1600" dirty="0"/>
              <a:t>채굴비용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기후 및 정책 환경이 결정적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수요측면에서는 중국과 인도의 전력 수요 증가가 석탄소비를 견인하여 가격 상승 압력을 가중시킨다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아래는 지역별 석탄 가격을 보여주고 있다</a:t>
            </a:r>
            <a:r>
              <a:rPr lang="en-US" altLang="ko-KR" sz="1600" dirty="0"/>
              <a:t>. (</a:t>
            </a: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1A075B-C71D-3CE5-5915-747C1FD40F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8758" y="3219581"/>
            <a:ext cx="5542878" cy="33615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ED08A4-C8B5-3C6E-D8E0-12A93032AA85}"/>
              </a:ext>
            </a:extLst>
          </p:cNvPr>
          <p:cNvSpPr txBox="1"/>
          <p:nvPr/>
        </p:nvSpPr>
        <p:spPr>
          <a:xfrm>
            <a:off x="3657978" y="3081081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석탄 가격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달러</a:t>
            </a:r>
            <a:r>
              <a:rPr lang="en-US" altLang="ko-KR" sz="1200" spc="-50" dirty="0"/>
              <a:t>/</a:t>
            </a:r>
            <a:r>
              <a:rPr lang="ko-KR" altLang="en-US" sz="1200" spc="-50" dirty="0"/>
              <a:t>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64989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337-E1DC-8A94-A7E5-99544649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55EF-EB1A-8BD6-3719-39021C488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42DB1-6D48-FA09-33DC-3669912C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7EBA6-AE55-D2D7-A887-AB5AF2A302F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갈등과 무역정책의 변화도 석탄 가격에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수출입 제재</a:t>
            </a:r>
            <a:r>
              <a:rPr lang="en-US" altLang="ko-KR" sz="1600" dirty="0"/>
              <a:t>, </a:t>
            </a:r>
            <a:r>
              <a:rPr lang="ko-KR" altLang="en-US" sz="1600" dirty="0"/>
              <a:t>수출 통제</a:t>
            </a:r>
            <a:r>
              <a:rPr lang="en-US" altLang="ko-KR" sz="1600" dirty="0"/>
              <a:t>, </a:t>
            </a:r>
            <a:r>
              <a:rPr lang="ko-KR" altLang="en-US" sz="1600" dirty="0"/>
              <a:t>무역 분쟁 등은 글로벌 공급망에 혼란을 야기하고 공급 부족을 초래하여 가격 급등을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러시아산 석탄 수입 중단이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비러시아산 석탄의 수입 수요가 증가하면서 가격이 크게 상승하였다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변화 또 석탄가격에 중요한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연합과 북미 지역은 강화된 탄소 규제를 통해 석탄 소비를 구조적으로 억제하고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느슨한 일부 개발도상국은 여전히 석탄이 주요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내 시장 구조에 따라서도 석탄 가격이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인도네시아처럼 소수의 대형 생산자가 우위를 점하고 있는 시장에서는 공급량의 전략적 조절로 인해 가격 안정성이 높아지는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중소 생산자가 난립하는 시장에서는 경쟁 심화로 인해 가격 변동성이 크게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09475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F8D1-ABAE-ABB4-6592-797349E6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995533-90C1-4667-4C10-13C4DC0B1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656CD9-8DD8-38BA-0636-31124A12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4D4BB-FC7F-1081-DA7D-4C3AE549AE48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가격은 용도별로 구분되는 시장 구조의 영향을 받기도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발전용 석탄과 제철용 </a:t>
            </a:r>
            <a:r>
              <a:rPr lang="ko-KR" altLang="en-US" sz="1600" dirty="0" err="1"/>
              <a:t>코크스탄은</a:t>
            </a:r>
            <a:r>
              <a:rPr lang="ko-KR" altLang="en-US" sz="1600" dirty="0"/>
              <a:t> 각각 독립된 시장을 형성하고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발전용 석탄은 계절적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기온</a:t>
            </a:r>
            <a:r>
              <a:rPr lang="en-US" altLang="ko-KR" sz="1600" dirty="0"/>
              <a:t>, LNG </a:t>
            </a:r>
            <a:r>
              <a:rPr lang="ko-KR" altLang="en-US" sz="1600" dirty="0"/>
              <a:t>가격에 민감한 반응을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코크스탄은</a:t>
            </a:r>
            <a:r>
              <a:rPr lang="ko-KR" altLang="en-US" sz="1600" dirty="0"/>
              <a:t> 철강 수요와 글로벌 경기 흐름에 크게 의존한다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 석탄 시장에서는 표준화된 가격지수가 거래의 기준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 뉴캐슬 가격지수는 아시아 지역의 발전용 석탄 가격을 반영한다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API2 </a:t>
            </a:r>
            <a:r>
              <a:rPr lang="ko-KR" altLang="en-US" sz="1600" dirty="0"/>
              <a:t>지수는 유럽 내 석탄 수입가격의 벤치마크로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지수는 품질</a:t>
            </a:r>
            <a:r>
              <a:rPr lang="en-US" altLang="ko-KR" sz="1600" dirty="0"/>
              <a:t>, </a:t>
            </a:r>
            <a:r>
              <a:rPr lang="ko-KR" altLang="en-US" sz="1600" dirty="0"/>
              <a:t>지역</a:t>
            </a:r>
            <a:r>
              <a:rPr lang="en-US" altLang="ko-KR" sz="1600" dirty="0"/>
              <a:t>, </a:t>
            </a:r>
            <a:r>
              <a:rPr lang="ko-KR" altLang="en-US" sz="1600" dirty="0"/>
              <a:t>운송조건 등을 반영한 가격정보를 제공하며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실물계약과 선물거래 모두에서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474308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9157-59D8-5BEB-F154-C1B829A9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A51B3-6FB5-4640-CD8E-98CEAF776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40C0E2-4A6E-2496-BE6E-F9B8EA8D5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59A97-D98A-434E-33E2-8F34F74DAF9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전통적인 석탄 연소에 따른 환경적 영향을 완화 하고자 다양한 청정 석탄 기술이 개발되고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</a:t>
            </a:r>
            <a:r>
              <a:rPr lang="en-US" altLang="ko-KR" sz="1600" dirty="0"/>
              <a:t> (USC, Ultra-Supercritical), </a:t>
            </a:r>
            <a:r>
              <a:rPr lang="ko-KR" altLang="en-US" sz="1600" dirty="0"/>
              <a:t>석탄가스화 복합발전</a:t>
            </a:r>
            <a:r>
              <a:rPr lang="en-US" altLang="ko-KR" sz="1600" dirty="0"/>
              <a:t> (IGCC: Integrated Gasification Combined Cycle), </a:t>
            </a:r>
            <a:r>
              <a:rPr lang="ko-KR" altLang="en-US" sz="1600" dirty="0" err="1"/>
              <a:t>탄소포집저장</a:t>
            </a:r>
            <a:r>
              <a:rPr lang="en-US" altLang="ko-KR" sz="1600" dirty="0"/>
              <a:t> (CCS: Carbon Capture and Storage) </a:t>
            </a:r>
            <a:r>
              <a:rPr lang="ko-KR" altLang="en-US" sz="1600" dirty="0"/>
              <a:t>기술이 가장 널리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기술들은 석탄을 보다 효율적이고 친환경적으로 활용하기 위한 방안으로 제시되어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실제 발전소에 적용하여 상용화하거나 실증단계에 진입한 사례도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초초임계압 발전 기술은 물의 임계점인 </a:t>
            </a:r>
            <a:r>
              <a:rPr lang="en-US" altLang="ko-KR" sz="1600" dirty="0"/>
              <a:t>374℃</a:t>
            </a:r>
            <a:r>
              <a:rPr lang="ko-KR" altLang="en-US" sz="1600" dirty="0"/>
              <a:t>와 </a:t>
            </a:r>
            <a:r>
              <a:rPr lang="en-US" altLang="ko-KR" sz="1600" dirty="0"/>
              <a:t>22.1MPa</a:t>
            </a:r>
            <a:r>
              <a:rPr lang="ko-KR" altLang="en-US" sz="1600" dirty="0"/>
              <a:t>를 초과하는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작동하여 증기터빈의 효율을 극대화함으로써 기존 석탄 발전 대비 열효율을 약 </a:t>
            </a:r>
            <a:r>
              <a:rPr lang="en-US" altLang="ko-KR" sz="1600" dirty="0"/>
              <a:t>10~15%</a:t>
            </a:r>
            <a:r>
              <a:rPr lang="ko-KR" altLang="en-US" sz="1600" dirty="0"/>
              <a:t>까지 향상시킬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이산화탄소 배출량도 동일한 전력 생산 기준에서 상당 부분 저감될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독일 등의 국가에서는 이미 </a:t>
            </a:r>
            <a:r>
              <a:rPr lang="en-US" altLang="ko-KR" sz="1600" dirty="0"/>
              <a:t>USC </a:t>
            </a:r>
            <a:r>
              <a:rPr lang="ko-KR" altLang="en-US" sz="1600" dirty="0"/>
              <a:t>기술을 상용화하여 발전소에 적용하고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성숙도도 비교적 높은 수준으로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여전히 석탄을 주연료로 한다는 점에서 탄소중립 목표 달성에는 구조적인 한계가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 전략과도 거리가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31038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2A06-EBCC-693B-D736-E4623147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EA1D4-2D13-E0D0-059B-4981719E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10118-6AE9-AB3B-8F6E-132032A60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EF6FC-FAB0-6EE9-2D0C-2AA27A730C5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석탄가스화 복합발전 </a:t>
            </a:r>
            <a:r>
              <a:rPr lang="en-US" altLang="ko-KR" sz="1600" dirty="0"/>
              <a:t>(IGCC)</a:t>
            </a:r>
            <a:r>
              <a:rPr lang="ko-KR" altLang="en-US" sz="1600" dirty="0"/>
              <a:t>은 석탄을 직접 연소하는 대신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가스화하여</a:t>
            </a:r>
            <a:r>
              <a:rPr lang="ko-KR" altLang="en-US" sz="1600" dirty="0"/>
              <a:t> 일산화탄소와 수소로 구성된 합성가스를 생산한 뒤 이를 연소하여 터빈을 구동하는 방식으로 작동한다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오염물질을 연소 이전의 가스화 단계에서 제거하므로</a:t>
            </a:r>
            <a:r>
              <a:rPr lang="en-US" altLang="ko-KR" sz="1600" dirty="0"/>
              <a:t>,</a:t>
            </a:r>
            <a:r>
              <a:rPr lang="ko-KR" altLang="en-US" sz="1600" dirty="0"/>
              <a:t> 환경적 측면에서 상대적으로 우수한 기술로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설계 및 운전 시스템이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기존 발전소 대비 </a:t>
            </a:r>
            <a:r>
              <a:rPr lang="en-US" altLang="ko-KR" sz="1600" dirty="0"/>
              <a:t>30~50%</a:t>
            </a:r>
            <a:r>
              <a:rPr lang="ko-KR" altLang="en-US" sz="1600" dirty="0"/>
              <a:t>이상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운영의 안정성 확보가 쉽지 않다는 점에서 경제적 확장성이 낮다는 평가를 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</a:t>
            </a:r>
            <a:r>
              <a:rPr lang="en-US" altLang="ko-KR" sz="1600" dirty="0"/>
              <a:t>(CCS) </a:t>
            </a:r>
            <a:r>
              <a:rPr lang="ko-KR" altLang="en-US" sz="1600" dirty="0"/>
              <a:t>기술은 석탄 연소 과정에서 배출되는 이산화탄소를 </a:t>
            </a:r>
            <a:r>
              <a:rPr lang="ko-KR" altLang="en-US" sz="1600" dirty="0" err="1"/>
              <a:t>포집하여</a:t>
            </a:r>
            <a:r>
              <a:rPr lang="ko-KR" altLang="en-US" sz="1600" dirty="0"/>
              <a:t> 압축한 뒤 지하 지질 구조에 영구 저장함으로써 대기 중 배출을 차단하는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이론적으로는 발전소에서 배출하는 이산화탄소의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이상을 제거할 수 있는 고효율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설비비와 운영비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포집한</a:t>
            </a:r>
            <a:r>
              <a:rPr lang="ko-KR" altLang="en-US" sz="1600" dirty="0"/>
              <a:t> 이산화탄소의 운송 및 저장에 따른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지질학적 리스크로 인해 경제성 확보에 큰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 석탄화력발전소에 적용하는 경우 발전단가가 </a:t>
            </a:r>
            <a:r>
              <a:rPr lang="en-US" altLang="ko-KR" sz="1600" dirty="0"/>
              <a:t>50% </a:t>
            </a:r>
            <a:r>
              <a:rPr lang="ko-KR" altLang="en-US" sz="1600" dirty="0"/>
              <a:t>이상 증가할 수 있는 것으로 분석된다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8693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2891-EEDE-D309-E8C3-7ADBDDDC5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095BA-A911-18C5-4783-FA5D832D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49E8E-A614-768A-1A2B-650A2C6C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893A53-418E-E89D-75BE-8C39114E44D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기술들은 에너지 효율성 제고와 온실가스 감축 측면에서 분명한 가능성을 보이고 있으나 경제성과 사회적 수용성의 측면에서는 여전히 많은 도전 과제를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발전은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고압을 견딜 수 있는 특수 소재와 복잡한 운전 기술이 요구되기 때문에 건설 및 유지관리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복합발전이나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재생에너지에 비해 상대적으로 낮은 시장 경쟁력을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 복합발전은 이론적으로 이상적인 기술이나</a:t>
            </a:r>
            <a:r>
              <a:rPr lang="en-US" altLang="ko-KR" sz="1600" dirty="0"/>
              <a:t>, </a:t>
            </a:r>
            <a:r>
              <a:rPr lang="ko-KR" altLang="en-US" sz="1600" dirty="0"/>
              <a:t>공정의 복잡성과 수익성 부족으로 상업화에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기술 또한 정책적 지원 없이는 채택되기 어려운 수준의 경제성과 기술적 제약을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성숙도 외에도 정책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인식 등의 환경에 따라 기술의 확산 속도가 좌우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ESG </a:t>
            </a:r>
            <a:r>
              <a:rPr lang="ko-KR" altLang="en-US" sz="1600" dirty="0"/>
              <a:t>기준의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선언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탄소중립을 명시한 국가들이 확산되면서 석탄을 기반으로 하는 기술에 대한 신규 투자는 정치적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사회적으로 부담이 커지고 있는 현실이다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8659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C836-248D-B35F-E2E1-62C6055AD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30B4B-1BEA-20AB-96D2-8E981D4D8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EB122-D369-3440-248C-6DFF5C58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7CAD7-EB33-9C78-F115-A8E6EEC95A1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석탄시장은 세계적인 에너지 전환 흐름에 따라 근본적인 구조 변화를 겪고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재생에너지와 천연가스 기술의 진보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가격경쟁력의 향상으로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과거 석탄에 의존하던 국가들조차 석탄 소비를 점차 줄이는 추세를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단순한 수요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탄광</a:t>
            </a:r>
            <a:r>
              <a:rPr lang="en-US" altLang="ko-KR" sz="1600" dirty="0"/>
              <a:t>, </a:t>
            </a:r>
            <a:r>
              <a:rPr lang="ko-KR" altLang="en-US" sz="1600" dirty="0"/>
              <a:t>물류 인프라 등 석탄 관련 자산의 경제적 가치 하락을 초래하며</a:t>
            </a:r>
            <a:r>
              <a:rPr lang="en-US" altLang="ko-KR" sz="1600" dirty="0"/>
              <a:t>, ‘</a:t>
            </a:r>
            <a:r>
              <a:rPr lang="ko-KR" altLang="en-US" sz="1600" dirty="0"/>
              <a:t>좌초자산 </a:t>
            </a:r>
            <a:r>
              <a:rPr lang="en-US" altLang="ko-KR" sz="1600" dirty="0"/>
              <a:t>(stranded assets)‘ </a:t>
            </a:r>
            <a:r>
              <a:rPr lang="ko-KR" altLang="en-US" sz="1600" dirty="0"/>
              <a:t>문제를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시장</a:t>
            </a:r>
            <a:r>
              <a:rPr lang="en-US" altLang="ko-KR" sz="1600" dirty="0"/>
              <a:t>, </a:t>
            </a:r>
            <a:r>
              <a:rPr lang="ko-KR" altLang="en-US" sz="1600" dirty="0"/>
              <a:t>규제 환경의 변화로 인해 자산으로부터 기대하던 수익을 실현하지 못하고 조기에 사용이 중단되는 자산을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화력발전소는 보통 </a:t>
            </a:r>
            <a:r>
              <a:rPr lang="en-US" altLang="ko-KR" sz="1600" dirty="0"/>
              <a:t>30~40</a:t>
            </a:r>
            <a:r>
              <a:rPr lang="ko-KR" altLang="en-US" sz="1600" dirty="0"/>
              <a:t>년의 경제적 수명을 전제로 설계되었으나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운용기간이 단축되고 조기 </a:t>
            </a:r>
            <a:r>
              <a:rPr lang="ko-KR" altLang="en-US" sz="1600" dirty="0" err="1"/>
              <a:t>폐쇠하는</a:t>
            </a:r>
            <a:r>
              <a:rPr lang="ko-KR" altLang="en-US" sz="1600" dirty="0"/>
              <a:t> 사례가 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독일은 </a:t>
            </a:r>
            <a:r>
              <a:rPr lang="en-US" altLang="ko-KR" sz="1600" dirty="0"/>
              <a:t>2038</a:t>
            </a:r>
            <a:r>
              <a:rPr lang="ko-KR" altLang="en-US" sz="1600" dirty="0"/>
              <a:t>년까지 모든 석탄발전소를 폐쇄하겠다는 목표를 세워</a:t>
            </a:r>
            <a:r>
              <a:rPr lang="en-US" altLang="ko-KR" sz="1600" dirty="0"/>
              <a:t>, </a:t>
            </a:r>
            <a:r>
              <a:rPr lang="ko-KR" altLang="en-US" sz="1600" dirty="0"/>
              <a:t>상당수 발전설비가 좌초자산으로 전환되고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</a:t>
            </a:r>
            <a:r>
              <a:rPr lang="en-US" altLang="ko-KR" sz="1600" dirty="0"/>
              <a:t> </a:t>
            </a:r>
            <a:r>
              <a:rPr lang="ko-KR" altLang="en-US" sz="1600" dirty="0"/>
              <a:t>미국에서도 석탄발전 설비의 조기 폐쇄와 설비 가동 중단이 급증하고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061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4B4C5-1150-83E2-D4D5-8BB342F8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55F67C-1E0A-50C5-C12F-71FD205EE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D9B6CB-6C34-D0DE-D2E8-DEA423D5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04B55-7FF2-119D-BB16-5CFE84DEFC0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좌초자산 문제는 에너지 부문을 넘어 금융시장 전반에도 부정적인 파급효과를 가져오고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세계 주요 연기금과 민간 금융기관들은 석탄 관련 자산에서 투자 철회를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결과로 석탄관련 기업의 주가 하락</a:t>
            </a:r>
            <a:r>
              <a:rPr lang="en-US" altLang="ko-KR" sz="1600" dirty="0"/>
              <a:t>, </a:t>
            </a:r>
            <a:r>
              <a:rPr lang="ko-KR" altLang="en-US" sz="1600" dirty="0"/>
              <a:t>신용등급 저하</a:t>
            </a:r>
            <a:r>
              <a:rPr lang="en-US" altLang="ko-KR" sz="1600" dirty="0"/>
              <a:t>, </a:t>
            </a:r>
            <a:r>
              <a:rPr lang="ko-KR" altLang="en-US" sz="1600" dirty="0"/>
              <a:t>자금조달 비용 상승 등 금융적 좌초 현상이 현실화되고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지역사회와 고용시장에도 심각한 사회경제적 충격을 야기할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산업이 지역경제의 중심을 이루는 지방정부의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석탄자산의 조기 퇴출은 고용 감소</a:t>
            </a:r>
            <a:r>
              <a:rPr lang="en-US" altLang="ko-KR" sz="1600" dirty="0"/>
              <a:t>, </a:t>
            </a:r>
            <a:r>
              <a:rPr lang="ko-KR" altLang="en-US" sz="1600" dirty="0"/>
              <a:t>세수 축소</a:t>
            </a:r>
            <a:r>
              <a:rPr lang="en-US" altLang="ko-KR" sz="1600" dirty="0"/>
              <a:t>, </a:t>
            </a:r>
            <a:r>
              <a:rPr lang="ko-KR" altLang="en-US" sz="1600" dirty="0"/>
              <a:t>소비 위축으로 이어지며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에너지 전환 과정에서 정의롭지 못한 결과를 보여주는 사례가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사회안전망이 취약한 개발도상국에서는 노동 전환이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정의와 </a:t>
            </a:r>
            <a:r>
              <a:rPr lang="en-US" altLang="ko-KR" sz="1600" dirty="0"/>
              <a:t>‘</a:t>
            </a:r>
            <a:r>
              <a:rPr lang="ko-KR" altLang="en-US" sz="1600" dirty="0"/>
              <a:t>공정 전환</a:t>
            </a:r>
            <a:r>
              <a:rPr lang="en-US" altLang="ko-KR" sz="1600" dirty="0"/>
              <a:t>‘ </a:t>
            </a:r>
            <a:r>
              <a:rPr lang="ko-KR" altLang="en-US" sz="1600" dirty="0"/>
              <a:t>실현을 위한 정책적 개입이 더욱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대한 정책적 대응 전략으로</a:t>
            </a:r>
            <a:r>
              <a:rPr lang="en-US" altLang="ko-KR" sz="1600" dirty="0"/>
              <a:t>, </a:t>
            </a:r>
            <a:r>
              <a:rPr lang="ko-KR" altLang="en-US" sz="1600" dirty="0"/>
              <a:t>좌초위험 자산의 조기 식별</a:t>
            </a:r>
            <a:r>
              <a:rPr lang="en-US" altLang="ko-KR" sz="1600" dirty="0"/>
              <a:t>, </a:t>
            </a:r>
            <a:r>
              <a:rPr lang="ko-KR" altLang="en-US" sz="1600" dirty="0"/>
              <a:t>평가 시스템 구축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기업에 대한 보상 및 고용 전환 지원 프로그램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재교육 인프라 확충</a:t>
            </a:r>
            <a:r>
              <a:rPr lang="en-US" altLang="ko-KR" sz="1600" dirty="0"/>
              <a:t> </a:t>
            </a:r>
            <a:r>
              <a:rPr lang="ko-KR" altLang="en-US" sz="1600" dirty="0"/>
              <a:t>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76901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11660</TotalTime>
  <Words>6394</Words>
  <Application>Microsoft Office PowerPoint</Application>
  <PresentationFormat>와이드스크린</PresentationFormat>
  <Paragraphs>782</Paragraphs>
  <Slides>60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7" baseType="lpstr">
      <vt:lpstr>HY헤드라인M</vt:lpstr>
      <vt:lpstr>KoPub돋움체 Light</vt:lpstr>
      <vt:lpstr>Noto Sans KR</vt:lpstr>
      <vt:lpstr>맑은 고딕</vt:lpstr>
      <vt:lpstr>Arial</vt:lpstr>
      <vt:lpstr>Wingdings</vt:lpstr>
      <vt:lpstr>Office 테마</vt:lpstr>
      <vt:lpstr>자원·에너지 경제학</vt:lpstr>
      <vt:lpstr>Chapter 5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철광석에서 강철까지</vt:lpstr>
      <vt:lpstr>원료준비</vt:lpstr>
      <vt:lpstr>제선: 고로에서 쇳물 만들기</vt:lpstr>
      <vt:lpstr>제강: 탄소와 불순물 조절</vt:lpstr>
      <vt:lpstr>주조·압연: 강철을 최종 제품으로</vt:lpstr>
      <vt:lpstr>PowerPoint 프레젠테이션</vt:lpstr>
      <vt:lpstr>Section 5. 석탄생산기술과 비용구조</vt:lpstr>
      <vt:lpstr>석탄생산기술과 비용구조</vt:lpstr>
      <vt:lpstr>석탄생산기술과 비용구조</vt:lpstr>
      <vt:lpstr>Section 6.  석탄채굴 과정의 사회적 환경적 문제</vt:lpstr>
      <vt:lpstr>채굴과정에서의 사회적·환경적 문제</vt:lpstr>
      <vt:lpstr>채굴과정에서의 사회적·환경적 문제</vt:lpstr>
      <vt:lpstr>강원도 지역의 폐광과 지역경제 전환</vt:lpstr>
      <vt:lpstr>강원도 지역의 폐광과 지역경제 전환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전 세계 석탄 매장량</vt:lpstr>
      <vt:lpstr>석탄 생산</vt:lpstr>
      <vt:lpstr>석탄 매장량</vt:lpstr>
      <vt:lpstr>석탄 소비</vt:lpstr>
      <vt:lpstr>석탄 소비량</vt:lpstr>
      <vt:lpstr>석탄 수출입</vt:lpstr>
      <vt:lpstr>석탄 수출입</vt:lpstr>
      <vt:lpstr>석탄 가격</vt:lpstr>
      <vt:lpstr>석탄 가격</vt:lpstr>
      <vt:lpstr>석탄 가격</vt:lpstr>
      <vt:lpstr>Section 9. 청정 석탄기술</vt:lpstr>
      <vt:lpstr>청정 석탄기술</vt:lpstr>
      <vt:lpstr>청정 석탄기술</vt:lpstr>
      <vt:lpstr>청정 석탄기술</vt:lpstr>
      <vt:lpstr>Section 10. 석탄시장의 구조변화와 좌초자산</vt:lpstr>
      <vt:lpstr>석탄시장의 구조변화와 좌초자산</vt:lpstr>
      <vt:lpstr>석탄시장의 구조변화와 좌초자산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497</cp:revision>
  <dcterms:created xsi:type="dcterms:W3CDTF">2025-07-05T05:15:23Z</dcterms:created>
  <dcterms:modified xsi:type="dcterms:W3CDTF">2026-10-13T00:37:33Z</dcterms:modified>
</cp:coreProperties>
</file>