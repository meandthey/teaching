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1"/>
  </p:notesMasterIdLst>
  <p:sldIdLst>
    <p:sldId id="375" r:id="rId2"/>
    <p:sldId id="405" r:id="rId3"/>
    <p:sldId id="550" r:id="rId4"/>
    <p:sldId id="376" r:id="rId5"/>
    <p:sldId id="651" r:id="rId6"/>
    <p:sldId id="652" r:id="rId7"/>
    <p:sldId id="653" r:id="rId8"/>
    <p:sldId id="644" r:id="rId9"/>
    <p:sldId id="654" r:id="rId10"/>
    <p:sldId id="655" r:id="rId11"/>
    <p:sldId id="656" r:id="rId12"/>
    <p:sldId id="657" r:id="rId13"/>
    <p:sldId id="658" r:id="rId14"/>
    <p:sldId id="659" r:id="rId15"/>
    <p:sldId id="660" r:id="rId16"/>
    <p:sldId id="661" r:id="rId17"/>
    <p:sldId id="662" r:id="rId18"/>
    <p:sldId id="645" r:id="rId19"/>
    <p:sldId id="663" r:id="rId20"/>
    <p:sldId id="664" r:id="rId21"/>
    <p:sldId id="665" r:id="rId22"/>
    <p:sldId id="666" r:id="rId23"/>
    <p:sldId id="667" r:id="rId24"/>
    <p:sldId id="668" r:id="rId25"/>
    <p:sldId id="669" r:id="rId26"/>
    <p:sldId id="646" r:id="rId27"/>
    <p:sldId id="670" r:id="rId28"/>
    <p:sldId id="671" r:id="rId29"/>
    <p:sldId id="673" r:id="rId30"/>
    <p:sldId id="672" r:id="rId31"/>
    <p:sldId id="647" r:id="rId32"/>
    <p:sldId id="674" r:id="rId33"/>
    <p:sldId id="675" r:id="rId34"/>
    <p:sldId id="676" r:id="rId35"/>
    <p:sldId id="677" r:id="rId36"/>
    <p:sldId id="648" r:id="rId37"/>
    <p:sldId id="678" r:id="rId38"/>
    <p:sldId id="679" r:id="rId39"/>
    <p:sldId id="680" r:id="rId40"/>
    <p:sldId id="681" r:id="rId41"/>
    <p:sldId id="649" r:id="rId42"/>
    <p:sldId id="682" r:id="rId43"/>
    <p:sldId id="683" r:id="rId44"/>
    <p:sldId id="684" r:id="rId45"/>
    <p:sldId id="650" r:id="rId46"/>
    <p:sldId id="608" r:id="rId47"/>
    <p:sldId id="685" r:id="rId48"/>
    <p:sldId id="686" r:id="rId49"/>
    <p:sldId id="598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146" d="100"/>
          <a:sy n="146" d="100"/>
        </p:scale>
        <p:origin x="81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- 7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/>
            </a:br>
            <a:r>
              <a:rPr lang="ko-KR" altLang="en-US" sz="4000" b="1" i="0" spc="150" dirty="0"/>
              <a:t>재생에너지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정의와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는 재생에너지를 </a:t>
            </a:r>
            <a:r>
              <a:rPr lang="en-US" altLang="ko-KR" sz="1600" dirty="0"/>
              <a:t>‘</a:t>
            </a:r>
            <a:r>
              <a:rPr lang="ko-KR" altLang="en-US" sz="1600" dirty="0"/>
              <a:t>자연적으로 보충되는 자원에서 파생되는 에너지로</a:t>
            </a:r>
            <a:r>
              <a:rPr lang="en-US" altLang="ko-KR" sz="1600" dirty="0"/>
              <a:t>, </a:t>
            </a:r>
            <a:r>
              <a:rPr lang="ko-KR" altLang="en-US" sz="1600" dirty="0"/>
              <a:t>태양</a:t>
            </a:r>
            <a:r>
              <a:rPr lang="en-US" altLang="ko-KR" sz="1600" dirty="0"/>
              <a:t>, </a:t>
            </a:r>
            <a:r>
              <a:rPr lang="ko-KR" altLang="en-US" sz="1600" dirty="0"/>
              <a:t>바람</a:t>
            </a:r>
            <a:r>
              <a:rPr lang="en-US" altLang="ko-KR" sz="1600" dirty="0"/>
              <a:t>, </a:t>
            </a:r>
            <a:r>
              <a:rPr lang="ko-KR" altLang="en-US" sz="1600" dirty="0"/>
              <a:t>물의 흐름</a:t>
            </a:r>
            <a:r>
              <a:rPr lang="en-US" altLang="ko-KR" sz="1600" dirty="0"/>
              <a:t>, </a:t>
            </a:r>
            <a:r>
              <a:rPr lang="ko-KR" altLang="en-US" sz="1600" dirty="0"/>
              <a:t>지열</a:t>
            </a:r>
            <a:r>
              <a:rPr lang="en-US" altLang="ko-KR" sz="1600" dirty="0"/>
              <a:t>, </a:t>
            </a:r>
            <a:r>
              <a:rPr lang="ko-KR" altLang="en-US" sz="1600" dirty="0"/>
              <a:t>생물 유기물 등을 포함한다</a:t>
            </a:r>
            <a:r>
              <a:rPr lang="en-US" altLang="ko-KR" sz="1600" dirty="0"/>
              <a:t>‘ </a:t>
            </a:r>
            <a:r>
              <a:rPr lang="ko-KR" altLang="en-US" sz="1600" dirty="0"/>
              <a:t>고 정의한다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</a:t>
            </a:r>
            <a:r>
              <a:rPr lang="en-US" altLang="ko-KR" sz="1600" dirty="0"/>
              <a:t>, </a:t>
            </a:r>
            <a:r>
              <a:rPr lang="ko-KR" altLang="en-US" sz="1600" dirty="0"/>
              <a:t>수력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바이오에너지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지열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자원의 물리적 특성과 이용방식에 따라 </a:t>
            </a:r>
            <a:r>
              <a:rPr lang="ko-KR" altLang="en-US" sz="1600" dirty="0" err="1"/>
              <a:t>비고갈성</a:t>
            </a:r>
            <a:r>
              <a:rPr lang="ko-KR" altLang="en-US" sz="1600" dirty="0"/>
              <a:t> 자원과 조건부 </a:t>
            </a:r>
            <a:r>
              <a:rPr lang="ko-KR" altLang="en-US" sz="1600" dirty="0" err="1"/>
              <a:t>고갈성</a:t>
            </a:r>
            <a:r>
              <a:rPr lang="ko-KR" altLang="en-US" sz="1600" dirty="0"/>
              <a:t> 자원으로 구분되기도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비고갈성</a:t>
            </a:r>
            <a:r>
              <a:rPr lang="ko-KR" altLang="en-US" sz="1600" dirty="0"/>
              <a:t> 자원은 태양광 풍력</a:t>
            </a:r>
            <a:r>
              <a:rPr lang="en-US" altLang="ko-KR" sz="1600" dirty="0"/>
              <a:t>, </a:t>
            </a:r>
            <a:r>
              <a:rPr lang="ko-KR" altLang="en-US" sz="1600" dirty="0"/>
              <a:t>해양에너지처럼 인간의 사용으로 인해 </a:t>
            </a:r>
            <a:r>
              <a:rPr lang="ko-KR" altLang="en-US" sz="1600" dirty="0" err="1"/>
              <a:t>자원량이</a:t>
            </a:r>
            <a:r>
              <a:rPr lang="ko-KR" altLang="en-US" sz="1600" dirty="0"/>
              <a:t> 줄어들지 않으며</a:t>
            </a:r>
            <a:r>
              <a:rPr lang="en-US" altLang="ko-KR" sz="1600" dirty="0"/>
              <a:t>, </a:t>
            </a:r>
            <a:r>
              <a:rPr lang="ko-KR" altLang="en-US" sz="1600" dirty="0"/>
              <a:t>사실상 무한정 이용이 가능한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조건부 </a:t>
            </a:r>
            <a:r>
              <a:rPr lang="ko-KR" altLang="en-US" sz="1600" dirty="0" err="1"/>
              <a:t>고갈성</a:t>
            </a:r>
            <a:r>
              <a:rPr lang="ko-KR" altLang="en-US" sz="1600" dirty="0"/>
              <a:t> 자원은 </a:t>
            </a:r>
            <a:r>
              <a:rPr lang="ko-KR" altLang="en-US" sz="1600" dirty="0" err="1"/>
              <a:t>바이오에너지나</a:t>
            </a:r>
            <a:r>
              <a:rPr lang="en-US" altLang="ko-KR" sz="1600" dirty="0"/>
              <a:t>, </a:t>
            </a:r>
            <a:r>
              <a:rPr lang="ko-KR" altLang="en-US" sz="1600" dirty="0"/>
              <a:t>일부 수력처럼 자연적으로 재생되기는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토지</a:t>
            </a:r>
            <a:r>
              <a:rPr lang="en-US" altLang="ko-KR" sz="1600" dirty="0"/>
              <a:t>, </a:t>
            </a:r>
            <a:r>
              <a:rPr lang="ko-KR" altLang="en-US" sz="1600" dirty="0"/>
              <a:t>수자원</a:t>
            </a:r>
            <a:r>
              <a:rPr lang="en-US" altLang="ko-KR" sz="1600" dirty="0"/>
              <a:t>, </a:t>
            </a:r>
            <a:r>
              <a:rPr lang="ko-KR" altLang="en-US" sz="1600" dirty="0"/>
              <a:t>생물자원 등 유한한 생태 기반에 대한 의존도가 높아 과도한 </a:t>
            </a:r>
            <a:r>
              <a:rPr lang="ko-KR" altLang="en-US" sz="1600" dirty="0" err="1"/>
              <a:t>이용시</a:t>
            </a:r>
            <a:r>
              <a:rPr lang="ko-KR" altLang="en-US" sz="1600" dirty="0"/>
              <a:t> 지속가능성에 부정적인 영향을 미칠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이와 같은 구분은 재생에너지 간에도 지속가능성의 정도가 상이할 수 있음을 시사하고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 정책 수립 시 자원 경쟁 및 </a:t>
            </a:r>
            <a:r>
              <a:rPr lang="ko-KR" altLang="en-US" sz="1600" dirty="0" err="1"/>
              <a:t>생태적</a:t>
            </a:r>
            <a:r>
              <a:rPr lang="ko-KR" altLang="en-US" sz="1600" dirty="0"/>
              <a:t> 부담을 평가하는 데 유용한 기준이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들어 재생에너지는 단순한 에너지 공급원을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실현과 지속가능발전목표의 달성을 위한 핵심 수단으로 인식되고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따라 국제사회는 재생에너지 보급 확대를 위한 정책적</a:t>
            </a:r>
            <a:r>
              <a:rPr lang="en-US" altLang="ko-KR" sz="1600" dirty="0"/>
              <a:t>·</a:t>
            </a:r>
            <a:r>
              <a:rPr lang="ko-KR" altLang="en-US" sz="1600" dirty="0"/>
              <a:t>재정적 지원을 강화하고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D9DB-8227-87BB-C0B7-2A8E5194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942DA-E486-2924-FD6D-3433C95B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전통적 에너지원과의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65D11-D651-8884-B7DB-3E749357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F5356-9090-9566-BA82-93326711C090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석탄</a:t>
            </a:r>
            <a:r>
              <a:rPr lang="en-US" altLang="ko-KR" sz="1600" dirty="0"/>
              <a:t>, </a:t>
            </a:r>
            <a:r>
              <a:rPr lang="ko-KR" altLang="en-US" sz="1600" dirty="0"/>
              <a:t>석유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등 전통적 화석연료 기반 에너지원과 여러 측면에서 뚜렷한 차이가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자원 고갈성의 여부에서 큰 차이가 나타난다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화석연료는 수억 년에 걸쳐 지질학적 과정으로 형성된 유한한 자원이므로</a:t>
            </a:r>
            <a:r>
              <a:rPr lang="en-US" altLang="ko-KR" sz="1600" dirty="0"/>
              <a:t>, </a:t>
            </a:r>
            <a:r>
              <a:rPr lang="ko-KR" altLang="en-US" sz="1600" dirty="0"/>
              <a:t>지속적 소비는 필연적으로 고갈을 초래한다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재생에너지는 태양 복사</a:t>
            </a:r>
            <a:r>
              <a:rPr lang="en-US" altLang="ko-KR" sz="1600" dirty="0"/>
              <a:t>, </a:t>
            </a:r>
            <a:r>
              <a:rPr lang="ko-KR" altLang="en-US" sz="1600" dirty="0"/>
              <a:t>바람</a:t>
            </a:r>
            <a:r>
              <a:rPr lang="en-US" altLang="ko-KR" sz="1600" dirty="0"/>
              <a:t>, </a:t>
            </a:r>
            <a:r>
              <a:rPr lang="ko-KR" altLang="en-US" sz="1600" dirty="0"/>
              <a:t>물 순환 등 자연적 흐름에 기반하므로 인위적 고갈의 우려가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 영향의 측면에서도 중요한 차별점이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화석연료의 연소는 대기 중으로 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 등 다양한 오염물질을 방출하며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기후변화의 주된 원인이다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재생에너지원은 전력 생산 과정에서 온실가스</a:t>
            </a:r>
            <a:r>
              <a:rPr lang="en-US" altLang="ko-KR" sz="1600" dirty="0"/>
              <a:t>, </a:t>
            </a:r>
            <a:r>
              <a:rPr lang="ko-KR" altLang="en-US" sz="1600" dirty="0"/>
              <a:t>대기오염물질을 거의 생성하지 않는다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비용 구조에서도 뚜렷한 차이를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전통적인 발전 방식은 비교적 낮은 초기 투자비용과 높은 연료비용 구조를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한편 재생에너지는 초기 고정투자비용은 크지만 이후 한계비용이 거의 </a:t>
            </a:r>
            <a:r>
              <a:rPr lang="en-US" altLang="ko-KR" sz="1600" dirty="0"/>
              <a:t>‘</a:t>
            </a:r>
            <a:r>
              <a:rPr lang="ko-KR" altLang="en-US" sz="1600" dirty="0"/>
              <a:t>제로</a:t>
            </a:r>
            <a:r>
              <a:rPr lang="en-US" altLang="ko-KR" sz="1600" dirty="0"/>
              <a:t>‘</a:t>
            </a:r>
            <a:r>
              <a:rPr lang="ko-KR" altLang="en-US" sz="1600" dirty="0"/>
              <a:t>에 가까운 구조를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71269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486A-DBCD-FC40-5B22-432F5819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097A9-28AE-79DC-A298-5C80F5BF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전통적 에너지원과의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ACEB46-BD0D-3B2C-5DB4-F7CB5E09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14243-051C-1411-5DFC-09185FD07CA2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측면에서도 두 자원은 상반된 특성을 갖는다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 화석연료는 대부분 특정 지역에 집중되어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수입 의존도가 높은 국가에서는 가격 변동성과 공급 차단의 위험에 노출되어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재생에너지는 자국 내에서 생산이 가능하고</a:t>
            </a:r>
            <a:r>
              <a:rPr lang="en-US" altLang="ko-KR" sz="1600" dirty="0"/>
              <a:t>, </a:t>
            </a:r>
            <a:r>
              <a:rPr lang="ko-KR" altLang="en-US" sz="1600" dirty="0"/>
              <a:t>분산형으로 개발될 수 있어 에너지 자립도와 안보 측면에서 유리하다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통합성과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문제는 재생에너지의 한계로 자주 지적된다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태양광과 풍력은 자원의 가용성이 자연조건에 의존하기 때문에 전력 수요와 실시간 공급의 일치를 요구하는 전력 시스템 내에서는 유연성 확보와 보완적 기술</a:t>
            </a:r>
            <a:r>
              <a:rPr lang="en-US" altLang="ko-KR" sz="1600" dirty="0"/>
              <a:t>(</a:t>
            </a:r>
            <a:r>
              <a:rPr lang="ko-KR" altLang="en-US" sz="1600" dirty="0"/>
              <a:t>에너지저장</a:t>
            </a:r>
            <a:r>
              <a:rPr lang="en-US" altLang="ko-KR" sz="1600" dirty="0"/>
              <a:t>, </a:t>
            </a:r>
            <a:r>
              <a:rPr lang="ko-KR" altLang="en-US" sz="1600" dirty="0"/>
              <a:t>스마트그리드</a:t>
            </a:r>
            <a:r>
              <a:rPr lang="en-US" altLang="ko-KR" sz="1600" dirty="0"/>
              <a:t>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이 필요하다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 발전은 출력 조절이 가능하므로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ko-KR" altLang="en-US" sz="1600" dirty="0"/>
              <a:t>안정적인 기저 부하 전력을 공급하는 데 상대적으로 적합하다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94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2D222-4F20-2233-D828-53DC8B37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701C9-6E99-3865-08C9-98311F8B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재생에너지의 확산 배경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1A5E4-22AC-3721-2288-01454DBB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E04DE-5198-F4B3-CBA0-89D2E7BBA55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재생에너지가 세계 에너지 시스템에서 주목받기 시작한 배경은 다양한 측면에 기인한다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가장 중요한 요인은 기후변화 대응의 필요성이다</a:t>
            </a: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화석연료의 연소는 이산화탄소를 비롯한 온실가스를 다량 배출하여</a:t>
            </a:r>
            <a:r>
              <a:rPr lang="en-US" altLang="ko-KR" sz="1600" dirty="0"/>
              <a:t>, </a:t>
            </a:r>
            <a:r>
              <a:rPr lang="ko-KR" altLang="en-US" sz="1600" dirty="0"/>
              <a:t>지구 평균기온 상승</a:t>
            </a:r>
            <a:r>
              <a:rPr lang="en-US" altLang="ko-KR" sz="1600" dirty="0"/>
              <a:t>, </a:t>
            </a:r>
            <a:r>
              <a:rPr lang="ko-KR" altLang="en-US" sz="1600" dirty="0"/>
              <a:t>해수면 상승</a:t>
            </a:r>
            <a:r>
              <a:rPr lang="en-US" altLang="ko-KR" sz="1600" dirty="0"/>
              <a:t>, </a:t>
            </a:r>
            <a:r>
              <a:rPr lang="ko-KR" altLang="en-US" sz="1600" dirty="0"/>
              <a:t>이상기후 등 다양한 부정적 외부효과가 심화되고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에너지안보에 대한 우려이다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화석연료는 지역적으로 편재되어 있어 특정 국가에 공급이 집중되는 경향이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수입국들은 가격 변동성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리스크</a:t>
            </a:r>
            <a:r>
              <a:rPr lang="en-US" altLang="ko-KR" sz="1600" dirty="0"/>
              <a:t>, </a:t>
            </a:r>
            <a:r>
              <a:rPr lang="ko-KR" altLang="en-US" sz="1600" dirty="0"/>
              <a:t>공급 중단 등의 위험에 노출되어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발전과 비용 하락은 재생에너지 확산을 가능케 한 결정적 요인이었다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지난 </a:t>
            </a:r>
            <a:r>
              <a:rPr lang="en-US" altLang="ko-KR" sz="1600" dirty="0"/>
              <a:t>10</a:t>
            </a:r>
            <a:r>
              <a:rPr lang="ko-KR" altLang="en-US" sz="1600" dirty="0"/>
              <a:t>여 년간 태양광과 풍력 기술의 발전 단가의 급격한 하락이 경제성 우려를 해소하였다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정책적 지원과 국제적 협력도 중요한 촉진 요인으로 작용하였다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많은 국가들이 재생에너지 확대를 위한 보조금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공급의무제도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발전차액지원제도 등을 도입하여 시장 진입 초기의 위험을 완화시켰다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인식 변화와 지속가능성에 대한 관심 증대가 재생에너지 확산의 중요한 기반이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대중의 관심 증대</a:t>
            </a:r>
            <a:r>
              <a:rPr lang="en-US" altLang="ko-KR" sz="1600" dirty="0"/>
              <a:t>, </a:t>
            </a:r>
            <a:r>
              <a:rPr lang="ko-KR" altLang="en-US" sz="1600" dirty="0"/>
              <a:t>지속가능발전목표와 </a:t>
            </a:r>
            <a:r>
              <a:rPr lang="en-US" altLang="ko-KR" sz="1600" dirty="0"/>
              <a:t>ESG </a:t>
            </a:r>
            <a:r>
              <a:rPr lang="ko-KR" altLang="en-US" sz="1600" dirty="0"/>
              <a:t>경영이 확산되면서 기업과 정부 모두가 청정에너지로의 전환을 중요한 목표로 설정하고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404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6833D-86BF-6859-9207-AF714018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993FFD-8B24-A94E-0C54-D607433453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08D733-2F04-A0F9-F00D-8686BD5A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B5C12A-3CFE-9EDA-3437-17E2665D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76" y="3756991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주요 재생에너지 종류와 특성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3231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8416-4E6E-9194-1AAB-A91CBA21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AA7EE-E759-DDA1-585F-0F065D2A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543C8B-83EF-46B1-6BC6-AD01D5FB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8A1DD-EE89-9BC7-DA34-492A9BD340B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태양광 발전 </a:t>
            </a:r>
            <a:r>
              <a:rPr lang="en-US" altLang="ko-KR" sz="1600" dirty="0"/>
              <a:t>(solar photovoltaic, PV)</a:t>
            </a:r>
            <a:r>
              <a:rPr lang="ko-KR" altLang="en-US" sz="1600" dirty="0"/>
              <a:t>은 태양빛을 직접 전기로 변환하는 기술로</a:t>
            </a:r>
            <a:r>
              <a:rPr lang="en-US" altLang="ko-KR" sz="1600" dirty="0"/>
              <a:t>, </a:t>
            </a:r>
            <a:r>
              <a:rPr lang="ko-KR" altLang="en-US" sz="1600" dirty="0"/>
              <a:t>가장 빠른 속도로 성장하고 있는 재생에너지 형태 중 하나이다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태양전지는 반도체 소재</a:t>
            </a:r>
            <a:r>
              <a:rPr lang="en-US" altLang="ko-KR" sz="1600" dirty="0"/>
              <a:t>(</a:t>
            </a:r>
            <a:r>
              <a:rPr lang="ko-KR" altLang="en-US" sz="1600" dirty="0"/>
              <a:t>주로 실리콘</a:t>
            </a:r>
            <a:r>
              <a:rPr lang="en-US" altLang="ko-KR" sz="1600" dirty="0"/>
              <a:t>)</a:t>
            </a:r>
            <a:r>
              <a:rPr lang="ko-KR" altLang="en-US" sz="1600" dirty="0"/>
              <a:t>를 이용하여 광에너지를 전기에너지로 전환하는데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과정은 외부 연료나 물리적 연소 없이 진행되므로 온실가스 배출이 거의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기술적으로는 일반적인 고정식 패널에서부터 </a:t>
            </a:r>
            <a:r>
              <a:rPr lang="ko-KR" altLang="en-US" sz="1600" dirty="0" err="1"/>
              <a:t>추적식</a:t>
            </a:r>
            <a:r>
              <a:rPr lang="ko-KR" altLang="en-US" sz="1600" dirty="0"/>
              <a:t>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건물 일체형까지 다양한 형태로 구현이 가능하다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소규모 주택부터 대규모 부지까지 다양한 규모에 적용될 수 있는 유연성을 갖고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태양광의 가장 큰 장점 중 하나는 한계비용이 거의 </a:t>
            </a:r>
            <a:r>
              <a:rPr lang="en-US" altLang="ko-KR" sz="1600" dirty="0"/>
              <a:t>0</a:t>
            </a:r>
            <a:r>
              <a:rPr lang="ko-KR" altLang="en-US" sz="1600" dirty="0"/>
              <a:t>에 수렴한다는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설치를 </a:t>
            </a:r>
            <a:r>
              <a:rPr lang="ko-KR" altLang="en-US" sz="1600" dirty="0" err="1"/>
              <a:t>하고나면</a:t>
            </a:r>
            <a:r>
              <a:rPr lang="ko-KR" altLang="en-US" sz="1600" dirty="0"/>
              <a:t> 발전에 필요한 연료</a:t>
            </a:r>
            <a:r>
              <a:rPr lang="en-US" altLang="ko-KR" sz="1600" dirty="0"/>
              <a:t>(</a:t>
            </a:r>
            <a:r>
              <a:rPr lang="ko-KR" altLang="en-US" sz="1600" dirty="0"/>
              <a:t>태양빛</a:t>
            </a:r>
            <a:r>
              <a:rPr lang="en-US" altLang="ko-KR" sz="1600" dirty="0"/>
              <a:t>)</a:t>
            </a:r>
            <a:r>
              <a:rPr lang="ko-KR" altLang="en-US" sz="1600" dirty="0"/>
              <a:t>가 무료이며</a:t>
            </a:r>
            <a:r>
              <a:rPr lang="en-US" altLang="ko-KR" sz="1600" dirty="0"/>
              <a:t>, </a:t>
            </a:r>
            <a:r>
              <a:rPr lang="ko-KR" altLang="en-US" sz="1600" dirty="0"/>
              <a:t>운전과 유지비용도 상대적으로 낮다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태양광 발전에는 간헐성이라는 구조적 한계가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일사량에 따라 발전량이 달라지므로 야간이나 흐린 날에는 발전이 어렵다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공급의 변동성은 전력 시스템의 안정성 유지에 부담을 줄 수 있으므로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저장장치나 보완 발전원이 필수적으로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 패널의 수명</a:t>
            </a:r>
            <a:r>
              <a:rPr lang="en-US" altLang="ko-KR" sz="1600" dirty="0"/>
              <a:t>(25~30</a:t>
            </a:r>
            <a:r>
              <a:rPr lang="ko-KR" altLang="en-US" sz="1600" dirty="0"/>
              <a:t>년</a:t>
            </a:r>
            <a:r>
              <a:rPr lang="en-US" altLang="ko-KR" sz="1600" dirty="0"/>
              <a:t>)</a:t>
            </a:r>
            <a:r>
              <a:rPr lang="ko-KR" altLang="en-US" sz="1600" dirty="0"/>
              <a:t>이 다한 후 폐기물 처리</a:t>
            </a:r>
            <a:r>
              <a:rPr lang="en-US" altLang="ko-KR" sz="1600" dirty="0"/>
              <a:t>, </a:t>
            </a:r>
            <a:r>
              <a:rPr lang="ko-KR" altLang="en-US" sz="1600" dirty="0"/>
              <a:t>토지 이용 이슈도 환경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측면에서 고려해야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1252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B4275-A4A1-944E-EDD0-FE686BDE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7633D-7470-C656-1E66-D4DA548C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풍력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81770C-357D-20D8-9623-3CE1ADA3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DD7965-BD32-8A58-1322-A59B05956394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풍력발전은 공기의 흐름</a:t>
            </a:r>
            <a:r>
              <a:rPr lang="en-US" altLang="ko-KR" sz="1600" dirty="0"/>
              <a:t>, </a:t>
            </a:r>
            <a:r>
              <a:rPr lang="ko-KR" altLang="en-US" sz="1600" dirty="0"/>
              <a:t>즉 바람의 운동에너지를 기계적 회전력으로 전환하고 이를 다시 전기에너지로 변환하는 방식의 재생에너지 기술이다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터빈은 일반적으로 날개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회전자</a:t>
            </a:r>
            <a:r>
              <a:rPr lang="en-US" altLang="ko-KR" sz="1600" dirty="0"/>
              <a:t>, </a:t>
            </a:r>
            <a:r>
              <a:rPr lang="ko-KR" altLang="en-US" sz="1600" dirty="0"/>
              <a:t>기어박스</a:t>
            </a:r>
            <a:r>
              <a:rPr lang="en-US" altLang="ko-KR" sz="1600" dirty="0"/>
              <a:t>, </a:t>
            </a:r>
            <a:r>
              <a:rPr lang="ko-KR" altLang="en-US" sz="1600" dirty="0"/>
              <a:t>발전기 등으로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바람의 속도와 방향에 따라 발전량이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발전원리는 비교적 단순하지만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고도의 공학 기술과 기상 데이터</a:t>
            </a:r>
            <a:r>
              <a:rPr lang="en-US" altLang="ko-KR" sz="1600" dirty="0"/>
              <a:t>, </a:t>
            </a:r>
            <a:r>
              <a:rPr lang="ko-KR" altLang="en-US" sz="1600" dirty="0"/>
              <a:t>정교한 설치 및 운영시스템이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유럽과 중국</a:t>
            </a:r>
            <a:r>
              <a:rPr lang="en-US" altLang="ko-KR" sz="1600" dirty="0"/>
              <a:t>, </a:t>
            </a:r>
            <a:r>
              <a:rPr lang="ko-KR" altLang="en-US" sz="1600" dirty="0"/>
              <a:t>미국에서의 확대가 두드러지며</a:t>
            </a:r>
            <a:r>
              <a:rPr lang="en-US" altLang="ko-KR" sz="1600" dirty="0"/>
              <a:t>, </a:t>
            </a:r>
            <a:r>
              <a:rPr lang="ko-KR" altLang="en-US" sz="1600" dirty="0"/>
              <a:t>해상풍력의 경우 육상보다 더 높은 풍속과 넓은 공간을 활용할 수 있어 차세대 핵심 분야로 주목받고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풍력 발전의 가장 큰 장점은 태양광과 마찬가지로 연료비가 들지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및 대기오염물질을 배출하지 않는다는 점이다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4957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CF57-3571-80AF-544B-0405F0874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08037-0237-3D4D-0DAF-441B5678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풍력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5C1333-A53B-3443-D119-F720FB2E8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CB58E-2A9D-4C8A-3EB8-2C6766B7F797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풍력발전 역시 태양광과 마찬가지로 간헐성이라는 구조적 제약을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바람의 세기와 방향은 시간과 장소에 따라 크게 달라지기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실시간 전력 수요와 불일치 문제가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예측 정확도를 높이고</a:t>
            </a:r>
            <a:r>
              <a:rPr lang="en-US" altLang="ko-KR" sz="1600" dirty="0"/>
              <a:t>, </a:t>
            </a:r>
            <a:r>
              <a:rPr lang="ko-KR" altLang="en-US" sz="1600" dirty="0"/>
              <a:t>보완발전원 혹은 에너지 저장장치와 연계하는 것이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터빈의 날개가 조류 충돌이나 소음</a:t>
            </a:r>
            <a:r>
              <a:rPr lang="en-US" altLang="ko-KR" sz="1600" dirty="0"/>
              <a:t>, </a:t>
            </a:r>
            <a:r>
              <a:rPr lang="ko-KR" altLang="en-US" sz="1600" dirty="0"/>
              <a:t>경관 훼손 등의 사회적 반발을 초래하기도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해상풍력은 육상풍력이 초래하는 환경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문제를 완화할 수 있는</a:t>
            </a:r>
            <a:r>
              <a:rPr lang="en-US" altLang="ko-KR" sz="1600" dirty="0"/>
              <a:t> </a:t>
            </a:r>
            <a:r>
              <a:rPr lang="ko-KR" altLang="en-US" sz="1600" dirty="0"/>
              <a:t>대안으로 주목받고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해상은 바람이 더 강하고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일정하며</a:t>
            </a:r>
            <a:r>
              <a:rPr lang="en-US" altLang="ko-KR" sz="1600" dirty="0"/>
              <a:t>, </a:t>
            </a:r>
            <a:r>
              <a:rPr lang="ko-KR" altLang="en-US" sz="1600" dirty="0"/>
              <a:t>주민 수용성 문제도 상대적으로 적다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북해나 동중국해와 같은 바람이 풍부한 연안 지역에서는 이미 상업적 타당성을 갖춘 대규모 프로젝트들이 추진되고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해상풍력은 설치비용이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유지보수가 어렵다는 단점이 있다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805007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E76DC-B4F2-17D0-1942-27B02D6D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68061-DA04-9F00-6098-BC764533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9338E9-7AAF-442E-94DA-260417FA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2186C-0A0F-D3AB-F5F0-CED2949FCF19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수력 발전은 물의 위치에너지 또는 운동에너지를 이용하여 전기를 생산하는 방식으로</a:t>
            </a:r>
            <a:r>
              <a:rPr lang="en-US" altLang="ko-KR" sz="1600" dirty="0"/>
              <a:t>, </a:t>
            </a:r>
            <a:r>
              <a:rPr lang="ko-KR" altLang="en-US" sz="1600" dirty="0"/>
              <a:t>가장 오래된 형태의 재생에너지이자 현재까지도 전 세계 재생에너지 전력 생산에서 가장 큰 비중을 차지하는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높은 곳에 저장된 물을 터빈을 통해 </a:t>
            </a:r>
            <a:r>
              <a:rPr lang="ko-KR" altLang="en-US" sz="1600" dirty="0" err="1"/>
              <a:t>하강시키며</a:t>
            </a:r>
            <a:r>
              <a:rPr lang="ko-KR" altLang="en-US" sz="1600" dirty="0"/>
              <a:t> 생기는 운동 에너지를 기계적 회전력으로 전환하고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발전기로 연결해 전기를 생산한다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대형 </a:t>
            </a:r>
            <a:r>
              <a:rPr lang="ko-KR" altLang="en-US" sz="1600" dirty="0" err="1"/>
              <a:t>수력댐뿐만</a:t>
            </a:r>
            <a:r>
              <a:rPr lang="ko-KR" altLang="en-US" sz="1600" dirty="0"/>
              <a:t> 아니라 </a:t>
            </a:r>
            <a:r>
              <a:rPr lang="ko-KR" altLang="en-US" sz="1600" dirty="0" err="1"/>
              <a:t>소수력과</a:t>
            </a:r>
            <a:r>
              <a:rPr lang="ko-KR" altLang="en-US" sz="1600" dirty="0"/>
              <a:t> 마이크로 수력까지 다양한 규모로 활용이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수력 발전의 가장 큰 장점은 안정성과 조절 가능성이다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다른 재생에너지원과 달리 수력은 저장된 물의 양과 시간대를 조절함으로써 출력 제어가 가능하다는 점에서</a:t>
            </a:r>
            <a:r>
              <a:rPr lang="en-US" altLang="ko-KR" sz="1600" dirty="0"/>
              <a:t>, </a:t>
            </a:r>
            <a:r>
              <a:rPr lang="ko-KR" altLang="en-US" sz="1600" dirty="0"/>
              <a:t>기저부하 뿐만 아니라 피크부하 수요 대응에도 효과적이다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 효율이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이상으로 매우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중 온실가스 배출이 거의 없어 친환경적인 방식으로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경제성 측면에서도 초기 투자비용은 높지만</a:t>
            </a:r>
            <a:r>
              <a:rPr lang="en-US" altLang="ko-KR" sz="1600" dirty="0"/>
              <a:t>, </a:t>
            </a:r>
            <a:r>
              <a:rPr lang="ko-KR" altLang="en-US" sz="1600" dirty="0"/>
              <a:t>운영 및 유지비용이 낮고 수명이 </a:t>
            </a:r>
            <a:r>
              <a:rPr lang="en-US" altLang="ko-KR" sz="1600" dirty="0"/>
              <a:t>50</a:t>
            </a:r>
            <a:r>
              <a:rPr lang="ko-KR" altLang="en-US" sz="1600" dirty="0"/>
              <a:t>년 이상으로 길다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259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3BC87-A824-C97C-3CD6-01F77C7B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0E286-CE2D-1C5C-C8BB-8F88C5D9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4BF8BC-D3C6-D37D-EB87-2C957B17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18836-7264-7636-2846-154DF41F83A4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수력 발전은 몇 가지 중요한 제약 요인을 안고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생태계에 미치는 영향이다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댐 건설은 강의 흐름을 변경하고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하천 생태계와 어류 이동에 지장을 주고</a:t>
            </a:r>
            <a:r>
              <a:rPr lang="en-US" altLang="ko-KR" sz="1600" dirty="0"/>
              <a:t>, </a:t>
            </a:r>
            <a:r>
              <a:rPr lang="ko-KR" altLang="en-US" sz="1600" dirty="0"/>
              <a:t>생물다양성을 감소시킬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열대지역에서는 수몰 지역에서 유기물이 분해되며 메탄과 같은 강력한 온실가스를 배출하는 경우도 있어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탄소중립에 기여하는 정도에 대한 논란도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갈등과 지역사회 영향이다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대규모 </a:t>
            </a:r>
            <a:r>
              <a:rPr lang="ko-KR" altLang="en-US" sz="1600" dirty="0" err="1"/>
              <a:t>수력댐</a:t>
            </a:r>
            <a:r>
              <a:rPr lang="ko-KR" altLang="en-US" sz="1600" dirty="0"/>
              <a:t> 건설은 종종 대규모 이주를 동반하며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사회적 갈등</a:t>
            </a:r>
            <a:r>
              <a:rPr lang="en-US" altLang="ko-KR" sz="1600" dirty="0"/>
              <a:t>, </a:t>
            </a:r>
            <a:r>
              <a:rPr lang="ko-KR" altLang="en-US" sz="1600" dirty="0"/>
              <a:t>문화적 손실</a:t>
            </a:r>
            <a:r>
              <a:rPr lang="en-US" altLang="ko-KR" sz="1600" dirty="0"/>
              <a:t>, </a:t>
            </a:r>
            <a:r>
              <a:rPr lang="ko-KR" altLang="en-US" sz="1600" dirty="0"/>
              <a:t>재산권 문제가 발생할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자체가 수력 발전에 미치는 역효과도 무시할 수 없다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강우패턴과 유량의 변동성이 증가하면서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수력 발전량의 안정성이 장기적으로 위협받을 수 있다는 우려가 제기된다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이에 따라 최근에는 대형 수력 프로젝트보다는 소규모 수력 및 수자원 통합 관리가 가능한 친환경적 설계가 강조되고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262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8BF5-B68C-7D24-4A19-F117D2E8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57A4F-F2EE-DE71-890A-CA9D641C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바이오에너지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C4E62-E2EC-9FDE-DCA6-B7C20758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E2758-C29C-AE9E-074E-7BABD035920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바이오에너지는</a:t>
            </a:r>
            <a:r>
              <a:rPr lang="ko-KR" altLang="en-US" sz="1600" dirty="0"/>
              <a:t> 식물</a:t>
            </a:r>
            <a:r>
              <a:rPr lang="en-US" altLang="ko-KR" sz="1600" dirty="0"/>
              <a:t>, </a:t>
            </a:r>
            <a:r>
              <a:rPr lang="ko-KR" altLang="en-US" sz="1600" dirty="0"/>
              <a:t>동물</a:t>
            </a:r>
            <a:r>
              <a:rPr lang="en-US" altLang="ko-KR" sz="1600" dirty="0"/>
              <a:t>, </a:t>
            </a:r>
            <a:r>
              <a:rPr lang="ko-KR" altLang="en-US" sz="1600" dirty="0"/>
              <a:t>미생물 등의 생물 유기체에서 유래한 바이오매스를 연료로 사용하여</a:t>
            </a:r>
            <a:r>
              <a:rPr lang="en-US" altLang="ko-KR" sz="1600" dirty="0"/>
              <a:t>, </a:t>
            </a:r>
            <a:r>
              <a:rPr lang="ko-KR" altLang="en-US" sz="1600" dirty="0"/>
              <a:t>열</a:t>
            </a:r>
            <a:r>
              <a:rPr lang="en-US" altLang="ko-KR" sz="1600" dirty="0"/>
              <a:t>, </a:t>
            </a:r>
            <a:r>
              <a:rPr lang="ko-KR" altLang="en-US" sz="1600" dirty="0"/>
              <a:t>전기</a:t>
            </a:r>
            <a:r>
              <a:rPr lang="en-US" altLang="ko-KR" sz="1600" dirty="0"/>
              <a:t>, </a:t>
            </a:r>
            <a:r>
              <a:rPr lang="ko-KR" altLang="en-US" sz="1600" dirty="0"/>
              <a:t>또는 연료 형태의 에너지를 생산하는 방식이다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바이오매스는 목재</a:t>
            </a:r>
            <a:r>
              <a:rPr lang="en-US" altLang="ko-KR" sz="1600" dirty="0"/>
              <a:t>, </a:t>
            </a:r>
            <a:r>
              <a:rPr lang="ko-KR" altLang="en-US" sz="1600" dirty="0"/>
              <a:t>작물 잔재</a:t>
            </a:r>
            <a:r>
              <a:rPr lang="en-US" altLang="ko-KR" sz="1600" dirty="0"/>
              <a:t>, </a:t>
            </a:r>
            <a:r>
              <a:rPr lang="ko-KR" altLang="en-US" sz="1600" dirty="0"/>
              <a:t>음식물 쓰레기</a:t>
            </a:r>
            <a:r>
              <a:rPr lang="en-US" altLang="ko-KR" sz="1600" dirty="0"/>
              <a:t>, </a:t>
            </a:r>
            <a:r>
              <a:rPr lang="ko-KR" altLang="en-US" sz="1600" dirty="0"/>
              <a:t>가축 분뇨</a:t>
            </a:r>
            <a:r>
              <a:rPr lang="en-US" altLang="ko-KR" sz="1600" dirty="0"/>
              <a:t>, </a:t>
            </a:r>
            <a:r>
              <a:rPr lang="ko-KR" altLang="en-US" sz="1600" dirty="0"/>
              <a:t>도시 폐기물 등 다양한 유기성 자원을 포함하며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이들을 연소하거나 생화학적</a:t>
            </a:r>
            <a:r>
              <a:rPr lang="en-US" altLang="ko-KR" sz="1600" dirty="0"/>
              <a:t>·</a:t>
            </a:r>
            <a:r>
              <a:rPr lang="ko-KR" altLang="en-US" sz="1600" dirty="0"/>
              <a:t>열화학적 과정을 통해 에너지원으로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형태로는 바이오가스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바이오디젤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바이오에탄올</a:t>
            </a:r>
            <a:r>
              <a:rPr lang="en-US" altLang="ko-KR" sz="1600" dirty="0"/>
              <a:t>, </a:t>
            </a:r>
            <a:r>
              <a:rPr lang="ko-KR" altLang="en-US" sz="1600" dirty="0"/>
              <a:t>고형 연료 </a:t>
            </a:r>
            <a:r>
              <a:rPr lang="ko-KR" altLang="en-US" sz="1600" dirty="0" err="1"/>
              <a:t>펠릿</a:t>
            </a:r>
            <a:r>
              <a:rPr lang="ko-KR" altLang="en-US" sz="1600" dirty="0"/>
              <a:t> 등으로 다양하게 가공될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기술적으로 </a:t>
            </a:r>
            <a:r>
              <a:rPr lang="ko-KR" altLang="en-US" sz="1600" dirty="0" err="1"/>
              <a:t>바이오에너지는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열병합</a:t>
            </a:r>
            <a:r>
              <a:rPr lang="ko-KR" altLang="en-US" sz="1600" dirty="0"/>
              <a:t> 발전</a:t>
            </a:r>
            <a:r>
              <a:rPr lang="en-US" altLang="ko-KR" sz="1600" dirty="0"/>
              <a:t>, </a:t>
            </a:r>
            <a:r>
              <a:rPr lang="ko-KR" altLang="en-US" sz="1600" dirty="0"/>
              <a:t>혐기성 소화</a:t>
            </a:r>
            <a:r>
              <a:rPr lang="en-US" altLang="ko-KR" sz="1600" dirty="0"/>
              <a:t>, </a:t>
            </a:r>
            <a:r>
              <a:rPr lang="ko-KR" altLang="en-US" sz="1600" dirty="0"/>
              <a:t>발효 및 </a:t>
            </a:r>
            <a:r>
              <a:rPr lang="ko-KR" altLang="en-US" sz="1600" dirty="0" err="1"/>
              <a:t>에스테르화</a:t>
            </a:r>
            <a:r>
              <a:rPr lang="ko-KR" altLang="en-US" sz="1600" dirty="0"/>
              <a:t> 반응 등을 통해 활용되고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생산뿐 아니라 난방</a:t>
            </a:r>
            <a:r>
              <a:rPr lang="en-US" altLang="ko-KR" sz="1600" dirty="0"/>
              <a:t>, </a:t>
            </a:r>
            <a:r>
              <a:rPr lang="ko-KR" altLang="en-US" sz="1600" dirty="0"/>
              <a:t>수송 연료 등 다양한 용도에서 재생에너지 중 가장 폭넓게 적용된다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고체 바이오매스는 난방 및 소규모 발전용으로</a:t>
            </a:r>
            <a:r>
              <a:rPr lang="en-US" altLang="ko-KR" sz="1600" dirty="0"/>
              <a:t>, </a:t>
            </a:r>
            <a:r>
              <a:rPr lang="ko-KR" altLang="en-US" sz="1600" dirty="0"/>
              <a:t>액체 </a:t>
            </a:r>
            <a:r>
              <a:rPr lang="ko-KR" altLang="en-US" sz="1600" dirty="0" err="1"/>
              <a:t>바이오연료는</a:t>
            </a:r>
            <a:r>
              <a:rPr lang="ko-KR" altLang="en-US" sz="1600" dirty="0"/>
              <a:t> 교통 부문에서 화석연료 대체재로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바이오에너지의</a:t>
            </a:r>
            <a:r>
              <a:rPr lang="ko-KR" altLang="en-US" sz="1600" dirty="0"/>
              <a:t> 주요 강점은 기존 에너지 인프라와의 높은 호환성이다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기존 내연기관이나 보일러 시스템과의 결합이 가능하므로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전환 비용이 상대적으로 낮고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에너지 저장 및 수송도 용이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</a:t>
            </a:r>
            <a:r>
              <a:rPr lang="ko-KR" altLang="en-US" sz="1600" dirty="0" err="1"/>
              <a:t>바이오에너지원은</a:t>
            </a:r>
            <a:r>
              <a:rPr lang="ko-KR" altLang="en-US" sz="1600" dirty="0"/>
              <a:t> 폐기물 처리와 에너지 생산을 동시에 하는 자원순환형 에너지 시스템으로 기능한다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예를 들면</a:t>
            </a:r>
            <a:r>
              <a:rPr lang="en-US" altLang="ko-KR" sz="1600" dirty="0"/>
              <a:t>, </a:t>
            </a:r>
            <a:r>
              <a:rPr lang="ko-KR" altLang="en-US" sz="1600" dirty="0"/>
              <a:t>음식물 쓰레기나 축산 폐기물을 바이오가스로 전환함으로써 매립이나 방류로 인한 환경오염을 줄이고 에너지를 생산할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906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5FBB9-09C3-9E88-46B4-14FD662D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E6AB2-2AA1-167E-10A2-03AF8B85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바이오에너지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0BB4AD-F1A9-7483-8DC7-0C9137DB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243C8-34FC-E78B-41E2-1E75212EAD8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</a:t>
            </a:r>
            <a:r>
              <a:rPr lang="ko-KR" altLang="en-US" sz="1600" dirty="0" err="1"/>
              <a:t>바이오에너지는</a:t>
            </a:r>
            <a:r>
              <a:rPr lang="ko-KR" altLang="en-US" sz="1600" dirty="0"/>
              <a:t> 환경적 지속가능성 측면에서 논란의 여지가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간접적 토지이용변화와 식량</a:t>
            </a:r>
            <a:r>
              <a:rPr lang="en-US" altLang="ko-KR" sz="1600" dirty="0"/>
              <a:t>-</a:t>
            </a:r>
            <a:r>
              <a:rPr lang="ko-KR" altLang="en-US" sz="1600" dirty="0"/>
              <a:t>연료 경쟁문제이다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바이오연료</a:t>
            </a:r>
            <a:r>
              <a:rPr lang="ko-KR" altLang="en-US" sz="1600" dirty="0"/>
              <a:t> 생산을 위해 경작지를 확대할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숲이나 초지를 전환하면서 탄소흡수원이 훼손되고</a:t>
            </a:r>
            <a:r>
              <a:rPr lang="en-US" altLang="ko-KR" sz="1600" dirty="0"/>
              <a:t>, </a:t>
            </a:r>
            <a:r>
              <a:rPr lang="ko-KR" altLang="en-US" sz="1600" dirty="0"/>
              <a:t>생물다양성이 감소할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곡물기반의 연료는 식량 가격 상승을 유발하고</a:t>
            </a:r>
            <a:r>
              <a:rPr lang="en-US" altLang="ko-KR" sz="1600" dirty="0"/>
              <a:t>, </a:t>
            </a:r>
            <a:r>
              <a:rPr lang="ko-KR" altLang="en-US" sz="1600" dirty="0"/>
              <a:t>식량 안보에 부정적 영향을 줄 수 있다는 우려가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바이오에너지가</a:t>
            </a:r>
            <a:r>
              <a:rPr lang="ko-KR" altLang="en-US" sz="1600" dirty="0"/>
              <a:t> 탄소중립이라는 주장 역시 조건부이다</a:t>
            </a:r>
            <a:r>
              <a:rPr lang="en-US" altLang="ko-KR" sz="1600" dirty="0"/>
              <a:t>. </a:t>
            </a:r>
            <a:r>
              <a:rPr lang="ko-KR" altLang="en-US" sz="1600" dirty="0"/>
              <a:t>이론적으로 바이오매스는 생장 과정에서 흡수한 탄소를 연소 시 배출하기 때문에 순배출이 </a:t>
            </a:r>
            <a:r>
              <a:rPr lang="en-US" altLang="ko-KR" sz="1600" dirty="0"/>
              <a:t>0</a:t>
            </a:r>
            <a:r>
              <a:rPr lang="ko-KR" altLang="en-US" sz="1600" dirty="0"/>
              <a:t>이라는 개념이지만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실제로는 생산</a:t>
            </a:r>
            <a:r>
              <a:rPr lang="en-US" altLang="ko-KR" sz="1600" dirty="0"/>
              <a:t>, </a:t>
            </a:r>
            <a:r>
              <a:rPr lang="ko-KR" altLang="en-US" sz="1600" dirty="0"/>
              <a:t>수확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가공 과정에서 상당량의 온실가스가 추가로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한계를 극복하기 위해 최근에는 </a:t>
            </a:r>
            <a:r>
              <a:rPr lang="ko-KR" altLang="en-US" sz="1600" dirty="0" err="1"/>
              <a:t>잔재물</a:t>
            </a:r>
            <a:r>
              <a:rPr lang="ko-KR" altLang="en-US" sz="1600" dirty="0"/>
              <a:t> 기반의 </a:t>
            </a:r>
            <a:r>
              <a:rPr lang="ko-KR" altLang="en-US" sz="1600" dirty="0" err="1"/>
              <a:t>바이오에너지</a:t>
            </a:r>
            <a:r>
              <a:rPr lang="en-US" altLang="ko-KR" sz="1600" dirty="0"/>
              <a:t>, 2</a:t>
            </a:r>
            <a:r>
              <a:rPr lang="ko-KR" altLang="en-US" sz="1600" dirty="0"/>
              <a:t>세대</a:t>
            </a:r>
            <a:r>
              <a:rPr lang="en-US" altLang="ko-KR" sz="1600" dirty="0"/>
              <a:t>, 3</a:t>
            </a:r>
            <a:r>
              <a:rPr lang="ko-KR" altLang="en-US" sz="1600" dirty="0"/>
              <a:t>세대 </a:t>
            </a:r>
            <a:r>
              <a:rPr lang="ko-KR" altLang="en-US" sz="1600" dirty="0" err="1"/>
              <a:t>바이오연료</a:t>
            </a:r>
            <a:r>
              <a:rPr lang="ko-KR" altLang="en-US" sz="1600" dirty="0"/>
              <a:t> 등 지속가능한 형태의 기술이 개발되고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 해조류 기반의 </a:t>
            </a:r>
            <a:r>
              <a:rPr lang="ko-KR" altLang="en-US" sz="1600" dirty="0" err="1"/>
              <a:t>바이오연료는</a:t>
            </a:r>
            <a:r>
              <a:rPr lang="ko-KR" altLang="en-US" sz="1600" dirty="0"/>
              <a:t> 토지 경쟁 없이도 생산이 가능하며</a:t>
            </a:r>
            <a:r>
              <a:rPr lang="en-US" altLang="ko-KR" sz="1600" dirty="0"/>
              <a:t>, </a:t>
            </a:r>
            <a:r>
              <a:rPr lang="ko-KR" altLang="en-US" sz="1600" dirty="0"/>
              <a:t>담수 사용량이 적고 고효율이라는 장점이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695849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A69B2-23AB-E17A-FCFD-E1465FB1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6D6C2-DDC2-E5AC-660A-28A39626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지열에너지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D9C1C8-FED7-890F-7E51-7851A443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59A80-DB4B-511A-3010-0CD2FB50200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지열에너지는 지구 내부에서 발생하는 열에너지를 활용하여 전력이나 열을 생산하는 재생에너지의 한 형태이다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주로 지구의 마그마 활동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붕괴</a:t>
            </a:r>
            <a:r>
              <a:rPr lang="en-US" altLang="ko-KR" sz="1600" dirty="0"/>
              <a:t>, </a:t>
            </a:r>
            <a:r>
              <a:rPr lang="ko-KR" altLang="en-US" sz="1600" dirty="0"/>
              <a:t>지각 운동에 의해 생성된 열로부터 비롯되며</a:t>
            </a:r>
            <a:r>
              <a:rPr lang="en-US" altLang="ko-KR" sz="1600" dirty="0"/>
              <a:t>, </a:t>
            </a:r>
            <a:r>
              <a:rPr lang="ko-KR" altLang="en-US" sz="1600" dirty="0"/>
              <a:t>지표면 아래 저장된 고온의 증기나 온수를 이용해 터빈을 돌려 전기를 생산하거나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저온의 지열을 직접 난방이나 산업용 열원으로 활용할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자연 상태의 지열 자원이 표출되는 지역뿐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인공 지열 시스템을 통해 더 넓은 지역에서도 활용 가능성을 모색하고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지열 발전은 전통적인 화석연료 발전이나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풍력과 비교해 출력이 안정적이고 예측 가능하다는 점에서 큰 장점을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간헐성과 기상조건에 민감한 다른 재생에너지원과 달리</a:t>
            </a:r>
            <a:r>
              <a:rPr lang="en-US" altLang="ko-KR" sz="1600" dirty="0"/>
              <a:t>, </a:t>
            </a:r>
            <a:r>
              <a:rPr lang="ko-KR" altLang="en-US" sz="1600" dirty="0"/>
              <a:t>연중 무휴로 일정한 전력 공급이 가능하다는 의미이다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지열은 전력망의 기저 부하를 담당할 수 있는 드문 재생에너지로 평가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단위 면적당 에너지 밀도가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 효율도 우수한편이다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설치 이후에는 운영 비용이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및 대기오염물질 배출이 극히 적다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1682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97717-4595-E3E0-FDE4-5438D71CD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8DE10-7264-484E-290F-BF6AD4BE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지열에너지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E57519-309B-6972-1972-7FD797ED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DCAFC-2558-8783-4B6B-411D5DD797A3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경제성 측면에서는 초기 탐사 및 시추 비용이 매우 높은 편이며</a:t>
            </a:r>
            <a:r>
              <a:rPr lang="en-US" altLang="ko-KR" sz="1600" dirty="0"/>
              <a:t>, </a:t>
            </a:r>
            <a:r>
              <a:rPr lang="ko-KR" altLang="en-US" sz="1600" dirty="0"/>
              <a:t>지열 자원의 온도</a:t>
            </a:r>
            <a:r>
              <a:rPr lang="en-US" altLang="ko-KR" sz="1600" dirty="0"/>
              <a:t>·</a:t>
            </a:r>
            <a:r>
              <a:rPr lang="ko-KR" altLang="en-US" sz="1600" dirty="0"/>
              <a:t>압력 조건이 적합하지 않거나 예상과 다른 경우에는 프로젝트 실패 위험이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불확실성은 민간 투자 유인을 저하시킬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정부의 초기 위험 부담이나 기술 지원이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</a:t>
            </a:r>
            <a:r>
              <a:rPr lang="en-US" altLang="ko-KR" sz="1600" dirty="0"/>
              <a:t>, </a:t>
            </a:r>
            <a:r>
              <a:rPr lang="ko-KR" altLang="en-US" sz="1600" dirty="0"/>
              <a:t>지열 발전은 지열 자원의 지역적 편재성이 강하다는 제약이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전통적으로 지열 발전은 화산대나 판 경계 인근의 고열지대에 집중되어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조건을 갖춘 지역은 제한적이다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최근에는 인공 </a:t>
            </a:r>
            <a:r>
              <a:rPr lang="ko-KR" altLang="en-US" sz="1600" dirty="0" err="1"/>
              <a:t>저류층</a:t>
            </a:r>
            <a:r>
              <a:rPr lang="ko-KR" altLang="en-US" sz="1600" dirty="0"/>
              <a:t> 기술이나 지열 히트펌프 기술의 발전으로 인해 활용 가능 지역이 확대되고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환경적 측면에서 지열 발전은 일반적으로 친환경적이지만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특정 조건에서는 지반 침하</a:t>
            </a:r>
            <a:r>
              <a:rPr lang="en-US" altLang="ko-KR" sz="1600" dirty="0"/>
              <a:t>, </a:t>
            </a:r>
            <a:r>
              <a:rPr lang="ko-KR" altLang="en-US" sz="1600" dirty="0"/>
              <a:t>소규모 지진 유발</a:t>
            </a:r>
            <a:r>
              <a:rPr lang="en-US" altLang="ko-KR" sz="1600" dirty="0"/>
              <a:t>, </a:t>
            </a:r>
            <a:r>
              <a:rPr lang="ko-KR" altLang="en-US" sz="1600" dirty="0"/>
              <a:t>지하수 오염 등의 우려도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개선형 지열 시스템</a:t>
            </a:r>
            <a:r>
              <a:rPr lang="en-US" altLang="ko-KR" sz="1600" dirty="0"/>
              <a:t>(Enhanced Geothermal Systems, EGS) </a:t>
            </a:r>
            <a:r>
              <a:rPr lang="ko-KR" altLang="en-US" sz="1600" dirty="0"/>
              <a:t>기술을 적용하면 고압 주입이 지진활동을 유발할 가능성이 있어 사전 지질조사와 규제 설계가 필수적이다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5997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1F07-B931-918C-C639-5CF9172F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D11DE6-1CC8-5E8B-2085-D07483F811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D830EE-1321-7BAC-9FF6-22CB361F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ACF810-AF3C-C23E-5F04-75C09B6D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재생에너지의 경제적 특성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29728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D0C6-F872-E6D0-1CF0-5750A3B9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48929-40F6-65C6-D9C9-43274FD3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초기 고정비와 낮은 한계비용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21FEA-0CEF-241E-D3EE-C67B7A3B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36F72-8956-EE78-36EA-A0944067ACC5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재생에너지원은 일반적으로 초기 고정비용이 매우 높은 반면</a:t>
            </a:r>
            <a:r>
              <a:rPr lang="en-US" altLang="ko-KR" sz="1600" dirty="0"/>
              <a:t>, </a:t>
            </a:r>
            <a:r>
              <a:rPr lang="ko-KR" altLang="en-US" sz="1600" dirty="0"/>
              <a:t>한계비용은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가까운 독특한 비용구조를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 고정비용이란 발전소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장비 구매</a:t>
            </a:r>
            <a:r>
              <a:rPr lang="en-US" altLang="ko-KR" sz="1600" dirty="0"/>
              <a:t>, </a:t>
            </a:r>
            <a:r>
              <a:rPr lang="ko-KR" altLang="en-US" sz="1600" dirty="0"/>
              <a:t>설비 설치</a:t>
            </a:r>
            <a:r>
              <a:rPr lang="en-US" altLang="ko-KR" sz="1600" dirty="0"/>
              <a:t>, </a:t>
            </a:r>
            <a:r>
              <a:rPr lang="ko-KR" altLang="en-US" sz="1600" dirty="0"/>
              <a:t>계통 연계 등에 필요한 일회성 투자 비용을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재생에너지의 경우 이 비중이 전체 비용의 대부분을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한계비용이란</a:t>
            </a:r>
            <a:r>
              <a:rPr lang="ko-KR" altLang="en-US" sz="1600" dirty="0"/>
              <a:t> 추가적인 전력 한 단위를 생산하는 데 드는 비용을 의미한다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위와 같은 비용 구조는 재생에너지의 규모의 경제와 학습곡선 효과를 통해 장기적으로 비용이 점점 하락하는 현상과 밀접하게 연결된다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태양광과 풍력의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발전과 누적 설치 용량 증가에 따라 단위당 투자비용과 균등화 발전비용이 지속적으로 하락하였다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구조는 자본집약적이라는 특성을 수반하는데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 비용이 크다는 것은 높은 자본 접근성과 장기적인 투자 회수 기간을 필요로 함을 의미한다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자금조달 조건과 정책 지원 여부에 따라 프로젝트의 경제성이 좌우될 수 있음을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873623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6A6E-C7DB-BC1B-4854-7999FC4D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59E0C-678B-3A89-60E4-391FBB07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간헐성</a:t>
            </a:r>
            <a:r>
              <a:rPr lang="ko-KR" altLang="en-US" dirty="0"/>
              <a:t> 및 비제어성의 경제적 함의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40B9D-58A1-7B6E-41E8-1AF91B8EC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948CD-6299-2A2C-E7AE-B4E3F6A3DF62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태양광과 풍력과 같은 주요 재생에너지원은 자연조건에 의존하기 때문에 간헐성과 비제어성이라는 특성을 갖는다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간헐성이란</a:t>
            </a:r>
            <a:r>
              <a:rPr lang="ko-KR" altLang="en-US" sz="1600" dirty="0"/>
              <a:t> 자원의 이용 가능성이 시간에 따라 불규칙하게 변한다는 의미이고</a:t>
            </a:r>
            <a:r>
              <a:rPr lang="en-US" altLang="ko-KR" sz="160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비제어성은 발전량을 전력 수요에 맞추어 인위적으로 조절할 수 없다는 의미이다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간헐성과 비제어성은 전력의 실시간 균형 유지에 부담을 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전력은 수요와 공급이 실시간으로 일치해야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저장이 어렵기 때문에 공급의 예측 가능성과 조절 가능성이 매우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태양광은 일사량 변화</a:t>
            </a:r>
            <a:r>
              <a:rPr lang="en-US" altLang="ko-KR" sz="1600" dirty="0"/>
              <a:t>, </a:t>
            </a:r>
            <a:r>
              <a:rPr lang="ko-KR" altLang="en-US" sz="1600" dirty="0"/>
              <a:t>풍력은 바람의 세기와 방향에 따라 발전량이 크게 변동하므로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예측 오차가 발생할 경우 시스템 불안정성과 정전 위험이 증가한다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이를 보완하기 위해서는 유연성을 갖춘 </a:t>
            </a:r>
            <a:r>
              <a:rPr lang="ko-KR" altLang="en-US" sz="1600" dirty="0" err="1"/>
              <a:t>발전원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/>
              <a:t>가스발전</a:t>
            </a:r>
            <a:r>
              <a:rPr lang="en-US" altLang="ko-KR" sz="1600" dirty="0"/>
              <a:t>), </a:t>
            </a:r>
            <a:r>
              <a:rPr lang="ko-KR" altLang="en-US" sz="1600" dirty="0"/>
              <a:t>에너지 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수요 반응 등의 비용이 추가적으로 발생하게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0827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3499-EA49-AC6D-8FFE-98B1A306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5A495-1E35-D33C-B9B9-FCF39C27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간헐성</a:t>
            </a:r>
            <a:r>
              <a:rPr lang="ko-KR" altLang="en-US" dirty="0"/>
              <a:t> 및 비제어성의 경제적 함의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A5FAD8-B22A-D5AB-D37F-DCB34E01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07584-2171-0E05-6A8F-4DE09678392D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간헐성과 비제어성과 관련하여 재생에너지의 확대는 통합 비용을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재생에너지를 전력 시스템에 안정적으로 통합하기 위해 필요한 보완적 조치의 비용으로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예비력</a:t>
            </a:r>
            <a:r>
              <a:rPr lang="ko-KR" altLang="en-US" sz="1600" dirty="0"/>
              <a:t> 확충</a:t>
            </a:r>
            <a:r>
              <a:rPr lang="en-US" altLang="ko-KR" sz="1600" dirty="0"/>
              <a:t>, </a:t>
            </a:r>
            <a:r>
              <a:rPr lang="ko-KR" altLang="en-US" sz="1600" dirty="0"/>
              <a:t>계통 강화</a:t>
            </a:r>
            <a:r>
              <a:rPr lang="en-US" altLang="ko-KR" sz="1600" dirty="0"/>
              <a:t>, </a:t>
            </a:r>
            <a:r>
              <a:rPr lang="ko-KR" altLang="en-US" sz="1600" dirty="0"/>
              <a:t>예측 시스템 개발</a:t>
            </a:r>
            <a:r>
              <a:rPr lang="en-US" altLang="ko-KR" sz="1600" dirty="0"/>
              <a:t>, </a:t>
            </a:r>
            <a:r>
              <a:rPr lang="ko-KR" altLang="en-US" sz="1600" dirty="0"/>
              <a:t>저장 설비 구축 등을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재생에너지가 전체 발전량의 </a:t>
            </a:r>
            <a:r>
              <a:rPr lang="en-US" altLang="ko-KR" sz="1600" dirty="0"/>
              <a:t>20~30%</a:t>
            </a:r>
            <a:r>
              <a:rPr lang="ko-KR" altLang="en-US" sz="1600" dirty="0"/>
              <a:t>를 넘어가는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통합 비용은 기하급수적으로 증가할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간헐성과 비제어성은 재생에너지의 시장 수익성과 가치에도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전력시장에서 가격은 수요와 공급의 실시간 균형에 따라 결정되는데</a:t>
            </a:r>
            <a:r>
              <a:rPr lang="en-US" altLang="ko-KR" sz="1600" dirty="0"/>
              <a:t>, </a:t>
            </a:r>
            <a:r>
              <a:rPr lang="ko-KR" altLang="en-US" sz="1600" dirty="0"/>
              <a:t>태양광과 풍력은 특정 시간대에 대량 공급되는 경향이 있어 전력가격이 급락하는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가치 감소</a:t>
            </a:r>
            <a:r>
              <a:rPr lang="en-US" altLang="ko-KR" sz="1600" dirty="0"/>
              <a:t>‘ </a:t>
            </a:r>
            <a:r>
              <a:rPr lang="ko-KR" altLang="en-US" sz="1600" dirty="0"/>
              <a:t>현상이 발생한다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이로 인해 재생에너지의 단위 전력당 시장가치가 감소하며</a:t>
            </a:r>
            <a:r>
              <a:rPr lang="en-US" altLang="ko-KR" sz="1600" dirty="0"/>
              <a:t>, </a:t>
            </a:r>
            <a:r>
              <a:rPr lang="ko-KR" altLang="en-US" sz="1600" dirty="0"/>
              <a:t>투자 수익성이 악화될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종합해보면</a:t>
            </a:r>
            <a:r>
              <a:rPr lang="en-US" altLang="ko-KR" sz="1600" dirty="0"/>
              <a:t>, </a:t>
            </a:r>
            <a:r>
              <a:rPr lang="ko-KR" altLang="en-US" sz="1600" dirty="0"/>
              <a:t>간헐성과 비제어성은 재생에너지의 물리적</a:t>
            </a:r>
            <a:r>
              <a:rPr lang="en-US" altLang="ko-KR" sz="1600" dirty="0"/>
              <a:t>·</a:t>
            </a:r>
            <a:r>
              <a:rPr lang="ko-KR" altLang="en-US" sz="1600" dirty="0"/>
              <a:t> 특성으로부터 비롯되며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전력시장의 효율성과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투자 유인</a:t>
            </a:r>
            <a:r>
              <a:rPr lang="en-US" altLang="ko-KR" sz="1600" dirty="0"/>
              <a:t>, </a:t>
            </a:r>
            <a:r>
              <a:rPr lang="ko-KR" altLang="en-US" sz="1600" dirty="0"/>
              <a:t>정책 설계 등에 직간접적인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재생에너지 확대를 위한 전략은 기술적 비용 절감뿐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통합 비용과 시장가치 변동을 포함한 총사회적 비용 관점에서 접근할 필요가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2319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E0536-EBC6-9401-037E-6D8296058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57BF3-386D-3D97-ADB2-21C44018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규모의 경제와 학습곡선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4FD88-E210-E701-B2E0-8D2F66A0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EDC1D-BDE0-9755-21E8-DC6E911CA4E3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</a:t>
            </a:r>
            <a:r>
              <a:rPr lang="en-US" altLang="ko-KR" sz="1600" dirty="0"/>
              <a:t> </a:t>
            </a:r>
            <a:r>
              <a:rPr lang="ko-KR" altLang="en-US" sz="1600" dirty="0"/>
              <a:t>기술</a:t>
            </a:r>
            <a:r>
              <a:rPr lang="en-US" altLang="ko-KR" sz="1600" dirty="0"/>
              <a:t>, </a:t>
            </a:r>
            <a:r>
              <a:rPr lang="ko-KR" altLang="en-US" sz="1600" dirty="0"/>
              <a:t>특히 태양광과 풍력은 최근 수십 년간 급속한 비용 하락을 경험하였는데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 현상의 배경에는 규모의 경제와 학습곡선이라는 두 가지 경제학적 메커니즘이 핵심적으로 작용하였다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규모의 경제</a:t>
            </a:r>
            <a:r>
              <a:rPr lang="en-US" altLang="ko-KR" sz="1600" dirty="0"/>
              <a:t>, </a:t>
            </a:r>
            <a:r>
              <a:rPr lang="ko-KR" altLang="en-US" sz="1600" dirty="0"/>
              <a:t>학습곡선</a:t>
            </a:r>
            <a:r>
              <a:rPr lang="en-US" altLang="ko-KR" sz="1600" dirty="0"/>
              <a:t>.</a:t>
            </a:r>
            <a:r>
              <a:rPr lang="ko-KR" altLang="en-US" sz="1600" dirty="0"/>
              <a:t> 두 가지 모두 생산이 누적될수록 단위당 비용이 낮아지는 구조를 설명하지만 작동 방식은 상이하다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규모의 경제란 생산설비나 프로젝트의 규모가 커질수록 단위당 고정비용이 분산되어 생산비용이 감소하는 현상을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대규모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해상풍력 단지는 발전설비</a:t>
            </a:r>
            <a:r>
              <a:rPr lang="en-US" altLang="ko-KR" sz="1600" dirty="0"/>
              <a:t>, </a:t>
            </a:r>
            <a:r>
              <a:rPr lang="ko-KR" altLang="en-US" sz="1600" dirty="0"/>
              <a:t>인프라</a:t>
            </a:r>
            <a:r>
              <a:rPr lang="en-US" altLang="ko-KR" sz="1600" dirty="0"/>
              <a:t>, </a:t>
            </a:r>
            <a:r>
              <a:rPr lang="ko-KR" altLang="en-US" sz="1600" dirty="0"/>
              <a:t>운영 인력 등을 </a:t>
            </a:r>
            <a:r>
              <a:rPr lang="ko-KR" altLang="en-US" sz="1600" dirty="0" err="1"/>
              <a:t>규모화함으로써</a:t>
            </a:r>
            <a:r>
              <a:rPr lang="ko-KR" altLang="en-US" sz="1600" dirty="0"/>
              <a:t> 건설 및 운영 단가를 줄일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학습곡선은 누적 생산량이 증가함에 따라 생산성과 효율성이 향상되고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단위당 비용이 체계적으로 하락하는 현상을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반복적인 생산과 운용을 통해 축적된 </a:t>
            </a:r>
            <a:r>
              <a:rPr lang="ko-KR" altLang="en-US" sz="1600" dirty="0" err="1"/>
              <a:t>노후아</a:t>
            </a:r>
            <a:r>
              <a:rPr lang="en-US" altLang="ko-KR" sz="1600" dirty="0"/>
              <a:t>, </a:t>
            </a:r>
            <a:r>
              <a:rPr lang="ko-KR" altLang="en-US" sz="1600" dirty="0"/>
              <a:t>기술 혁신</a:t>
            </a:r>
            <a:r>
              <a:rPr lang="en-US" altLang="ko-KR" sz="1600" dirty="0"/>
              <a:t>, </a:t>
            </a:r>
            <a:r>
              <a:rPr lang="ko-KR" altLang="en-US" sz="1600" dirty="0"/>
              <a:t>공정 개선</a:t>
            </a:r>
            <a:r>
              <a:rPr lang="en-US" altLang="ko-KR" sz="1600" dirty="0"/>
              <a:t> </a:t>
            </a:r>
            <a:r>
              <a:rPr lang="ko-KR" altLang="en-US" sz="1600" dirty="0"/>
              <a:t>등에 의해 달성된다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730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CF61D-A23F-0306-B261-8ADCD68E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99D59-5D8B-48D4-63C4-F19D67CA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규모의 경제와 학습곡선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223ADB-3BFE-8EED-F15A-986EF6BF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59627-A5D2-735D-A7E6-856A085DE5B2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두 가지 메커니즘은 종종 동시에 작용하며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기술의 지속적 비용 하락과 시장 경쟁력 강화에 중대한 기여를 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정부의 초기 시장 형성 정책 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/>
              <a:t>보조금</a:t>
            </a:r>
            <a:r>
              <a:rPr lang="en-US" altLang="ko-KR" sz="1600" dirty="0"/>
              <a:t>)</a:t>
            </a:r>
            <a:r>
              <a:rPr lang="ko-KR" altLang="en-US" sz="1600" dirty="0"/>
              <a:t>들은 초기 수요를 창출함으로써 생산의 누적을 가속화하고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학습효과가 본격적으로 작동하도록 유도했다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학습곡선은 기술혁신의 외부성을 내포하고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공공부문의 선제투자가 정당화되는 이론적 근거를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비용 하락은 무한정 지속되는 것은 아니며</a:t>
            </a:r>
            <a:r>
              <a:rPr lang="en-US" altLang="ko-KR" sz="1600" dirty="0"/>
              <a:t>, </a:t>
            </a:r>
            <a:r>
              <a:rPr lang="ko-KR" altLang="en-US" sz="1600" dirty="0"/>
              <a:t>기술이 성숙기에 접어들면 학습 효과는 둔화된다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정책적으로는 단순한 기술 보급을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혁신의 지속성과 새로운 세대 기술의 개발을 위한 장기적 기술 포트폴리오 관리가 중요해지고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2848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613E6-EB02-3C2D-3C12-14A999CB1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AFF5D-960F-446C-D6B7-5F1192A1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 및 사회적 편익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DD52C7-BB98-6F46-BED0-1FF61002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575B1-4F4A-BBC4-D47E-284434C7E06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단순한 에너지원의 전환을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사회 전반에 긍정적인 외부효과를 창출하는 기술로 평가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발전과정에서 온실가스 및 대기오염물질 저감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강화</a:t>
            </a:r>
            <a:r>
              <a:rPr lang="en-US" altLang="ko-KR" sz="1600" dirty="0"/>
              <a:t>, </a:t>
            </a:r>
            <a:r>
              <a:rPr lang="ko-KR" altLang="en-US" sz="1600" dirty="0"/>
              <a:t>고용 창출</a:t>
            </a:r>
            <a:r>
              <a:rPr lang="en-US" altLang="ko-KR" sz="1600" dirty="0"/>
              <a:t> </a:t>
            </a:r>
            <a:r>
              <a:rPr lang="ko-KR" altLang="en-US" sz="1600" dirty="0"/>
              <a:t>등 다양한 사회적 편익을 제공한다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재생에너지가 갖는 가장 대표적인 외부효과는 온실가스 감축에 따른 기후변화 대응 기여이다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화석연료 기반 발전은 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메탄 등 온실가스를 배출하지만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발전과정에서 온실가스 배출이 거의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탄소 가격이 반영되지 않은 시장 상황에서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</a:t>
            </a:r>
            <a:r>
              <a:rPr lang="ko-KR" altLang="en-US" sz="1600" dirty="0" err="1"/>
              <a:t>과소공급될</a:t>
            </a:r>
            <a:r>
              <a:rPr lang="ko-KR" altLang="en-US" sz="1600" dirty="0"/>
              <a:t> 가능성이 높으므로 정부의 개입을 정당화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대기오염 저감과 건강 편익을 동시에 제공해준다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석탄이나 중유 발전소는 이산화황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 등을 배출하여 호흡기 질환</a:t>
            </a:r>
            <a:r>
              <a:rPr lang="en-US" altLang="ko-KR" sz="1600" dirty="0"/>
              <a:t>, </a:t>
            </a:r>
            <a:r>
              <a:rPr lang="ko-KR" altLang="en-US" sz="1600" dirty="0"/>
              <a:t>조기사망률</a:t>
            </a:r>
            <a:r>
              <a:rPr lang="en-US" altLang="ko-KR" sz="1600" dirty="0"/>
              <a:t>, </a:t>
            </a:r>
            <a:r>
              <a:rPr lang="ko-KR" altLang="en-US" sz="1600" dirty="0"/>
              <a:t>생산성 저하 등의 사회적 비용을 유발하는데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재생에너지로의 전환은 이와 같은 비용을 줄일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2092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9FB48-597D-CC21-2C85-B0AA4E91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50789-7FF9-AB38-4B26-CBB1E089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 및 사회적 편익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C90422-1A95-05C2-5B97-311A60B77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FA49F-C27A-B3E5-7CD5-68665A7C20D0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강화와 수입 대체 효과도 중요한 사회적 편익이다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자국 내 자원을 활용할 수 있으므로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 수입 의존도를 줄이고 에너지 가격의 국제적 변동성에 대한 노출을 완화시킨다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수입 에너지 의존도가 높은 국가에서는 장기적 전략 자산으로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지방경제 활성화와 고용 창출도 중요한 긍정적 외부효과이다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 산업은 지역 기반의 설치</a:t>
            </a:r>
            <a:r>
              <a:rPr lang="en-US" altLang="ko-KR" sz="1600" dirty="0"/>
              <a:t>·</a:t>
            </a:r>
            <a:r>
              <a:rPr lang="ko-KR" altLang="en-US" sz="1600" dirty="0"/>
              <a:t>운영</a:t>
            </a:r>
            <a:r>
              <a:rPr lang="en-US" altLang="ko-KR" sz="1600" dirty="0"/>
              <a:t>·</a:t>
            </a:r>
            <a:r>
              <a:rPr lang="ko-KR" altLang="en-US" sz="1600" dirty="0"/>
              <a:t>유지관리 인력을 필요로 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농촌이나 저개발 지역의 경제활동과 일자리 창출에 기여할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외부효과는 대부분 시장 가격에 반영되지 않는 비화폐적 편익이기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정책적</a:t>
            </a:r>
            <a:r>
              <a:rPr lang="en-US" altLang="ko-KR" sz="1600" dirty="0"/>
              <a:t>·</a:t>
            </a:r>
            <a:r>
              <a:rPr lang="ko-KR" altLang="en-US" sz="1600" dirty="0"/>
              <a:t> 공공적 개입 없이 시장 메커니즘만으로는 재생에너지가 충분히 공급되기 어렵다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</a:t>
            </a:r>
            <a:r>
              <a:rPr lang="ko-KR" altLang="en-US" sz="1600" dirty="0" err="1"/>
              <a:t>환경세</a:t>
            </a:r>
            <a:r>
              <a:rPr lang="en-US" altLang="ko-KR" sz="1600" dirty="0"/>
              <a:t>, </a:t>
            </a:r>
            <a:r>
              <a:rPr lang="ko-KR" altLang="en-US" sz="1600" dirty="0"/>
              <a:t>탄소가격제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</a:t>
            </a:r>
            <a:r>
              <a:rPr lang="en-US" altLang="ko-KR" sz="1600" dirty="0"/>
              <a:t>, </a:t>
            </a:r>
            <a:r>
              <a:rPr lang="ko-KR" altLang="en-US" sz="1600" dirty="0"/>
              <a:t>신재생에너지 의무공급제도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발전차액제도 등 다양한 정책 수단이 이러한 양의 외부효과를 </a:t>
            </a:r>
            <a:r>
              <a:rPr lang="ko-KR" altLang="en-US" sz="1600" dirty="0" err="1"/>
              <a:t>내재화하는</a:t>
            </a:r>
            <a:r>
              <a:rPr lang="ko-KR" altLang="en-US" sz="1600" dirty="0"/>
              <a:t> 방향으로 설계되어 왔다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3827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EC46-C795-F159-814C-E8F6F8AD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027D70-6863-74EA-3385-3C53838102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F13BF-B8EA-3A2D-A946-BE86C8DD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565C146-BBF7-1FE7-60CC-788093F7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재생에너지의 비용추이와 경쟁력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530667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28F2-92F6-080F-B148-63F2A2EE5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16AE4-B350-6E0F-5E37-7CDBAA8B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균등화 발전비용의 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0B73C-B65A-85E7-986B-24E46B6B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67F40-CA66-35BC-B734-2443B32E52B2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균등화 발전비용은 발전 설비의 수명기간 동안 총 비용을 총 발전량으로 나눈 값으로</a:t>
            </a:r>
            <a:r>
              <a:rPr lang="en-US" altLang="ko-KR" sz="1600" dirty="0"/>
              <a:t>, </a:t>
            </a:r>
            <a:r>
              <a:rPr lang="ko-KR" altLang="en-US" sz="1600" dirty="0"/>
              <a:t>서로 다른 발전 기술 간의 경제성을 비교하는 데 널리 사용되는 지표이다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 투자비용</a:t>
            </a:r>
            <a:r>
              <a:rPr lang="en-US" altLang="ko-KR" sz="1600" dirty="0"/>
              <a:t>, </a:t>
            </a:r>
            <a:r>
              <a:rPr lang="ko-KR" altLang="en-US" sz="1600" dirty="0"/>
              <a:t>운전 및 유지비용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</a:t>
            </a:r>
            <a:r>
              <a:rPr lang="en-US" altLang="ko-KR" sz="1600" dirty="0"/>
              <a:t>, </a:t>
            </a:r>
            <a:r>
              <a:rPr lang="ko-KR" altLang="en-US" sz="1600" dirty="0"/>
              <a:t>자본조달 비용 등을 종합적으로 고려하여 단위 전력당 생산비용을 계산하며</a:t>
            </a:r>
            <a:r>
              <a:rPr lang="en-US" altLang="ko-KR" sz="1600" dirty="0"/>
              <a:t>, </a:t>
            </a:r>
            <a:r>
              <a:rPr lang="ko-KR" altLang="en-US" sz="1600" dirty="0"/>
              <a:t>특정 기술의 장기적 경쟁력을 평가하는 데 핵심적이다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</a:t>
            </a:r>
            <a:r>
              <a:rPr lang="en-US" altLang="ko-KR" sz="1600" dirty="0"/>
              <a:t>10</a:t>
            </a:r>
            <a:r>
              <a:rPr lang="ko-KR" altLang="en-US" sz="1600" dirty="0"/>
              <a:t>여 년 동안 재생에너지 기술의 발전과 대규모 보급 확산으로 인해 태양광과 풍력의 균등화 발전비용은 급격한 하락세를 보여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국제재생에너지기구에 따르면</a:t>
            </a:r>
            <a:r>
              <a:rPr lang="en-US" altLang="ko-KR" sz="1600" dirty="0"/>
              <a:t>, 2010</a:t>
            </a:r>
            <a:r>
              <a:rPr lang="ko-KR" altLang="en-US" sz="1600" dirty="0"/>
              <a:t>년 대비 </a:t>
            </a:r>
            <a:r>
              <a:rPr lang="en-US" altLang="ko-KR" sz="1600" dirty="0"/>
              <a:t>2022</a:t>
            </a:r>
            <a:r>
              <a:rPr lang="ko-KR" altLang="en-US" sz="1600" dirty="0"/>
              <a:t>년 기준 태양광의 글로벌 평균 균등화 발전비용은 약 </a:t>
            </a:r>
            <a:r>
              <a:rPr lang="en-US" altLang="ko-KR" sz="1600" dirty="0"/>
              <a:t>90% </a:t>
            </a:r>
            <a:r>
              <a:rPr lang="ko-KR" altLang="en-US" sz="1600" dirty="0"/>
              <a:t>하락하였고</a:t>
            </a:r>
            <a:r>
              <a:rPr lang="en-US" altLang="ko-KR" sz="1600" dirty="0"/>
              <a:t>, </a:t>
            </a:r>
            <a:r>
              <a:rPr lang="ko-KR" altLang="en-US" sz="1600" dirty="0"/>
              <a:t>육상 풍력은 </a:t>
            </a:r>
            <a:r>
              <a:rPr lang="en-US" altLang="ko-KR" sz="1600" dirty="0"/>
              <a:t>70% </a:t>
            </a:r>
            <a:r>
              <a:rPr lang="ko-KR" altLang="en-US" sz="1600" dirty="0"/>
              <a:t>하락하였다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 효율 향상</a:t>
            </a:r>
            <a:r>
              <a:rPr lang="en-US" altLang="ko-KR" sz="1600" dirty="0"/>
              <a:t>, </a:t>
            </a:r>
            <a:r>
              <a:rPr lang="ko-KR" altLang="en-US" sz="1600" dirty="0"/>
              <a:t>생산 공정 최적화</a:t>
            </a:r>
            <a:r>
              <a:rPr lang="en-US" altLang="ko-KR" sz="1600" dirty="0"/>
              <a:t>, </a:t>
            </a:r>
            <a:r>
              <a:rPr lang="ko-KR" altLang="en-US" sz="1600" dirty="0"/>
              <a:t>공급망 확대</a:t>
            </a:r>
            <a:r>
              <a:rPr lang="en-US" altLang="ko-KR" sz="1600" dirty="0"/>
              <a:t>, </a:t>
            </a:r>
            <a:r>
              <a:rPr lang="ko-KR" altLang="en-US" sz="1600" dirty="0"/>
              <a:t>금융조건 개선 등 다양한 요인이 복합적으로 작용한 결과이다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다만 균등화 발전비용은 모든 비용을 단일 수치로 환산하는 특성상 </a:t>
            </a:r>
            <a:r>
              <a:rPr lang="ko-KR" altLang="en-US" sz="1600" dirty="0" err="1"/>
              <a:t>간헐성</a:t>
            </a:r>
            <a:r>
              <a:rPr lang="en-US" altLang="ko-KR" sz="1600" dirty="0"/>
              <a:t>, </a:t>
            </a:r>
            <a:r>
              <a:rPr lang="ko-KR" altLang="en-US" sz="1600" dirty="0"/>
              <a:t>계통 통합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위치 기반 제약 등은 반영하지 못하는 한계가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균등화 발전비용이 낮더라도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시스템 내에서의 실질 가치는 발전 시간대와 지역에 따라 달라질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3971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8983E-B6C2-687F-E786-C4ED7ECC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9205C-BE7D-1F3E-E0A1-4525FF33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균등화 발전비용의 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E1E59D-931D-6EF6-16E5-1C583BF3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24BDA-8E61-9524-BD5D-9CD857C3AD25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LCOE~</a:t>
            </a:r>
          </a:p>
        </p:txBody>
      </p:sp>
    </p:spTree>
    <p:extLst>
      <p:ext uri="{BB962C8B-B14F-4D97-AF65-F5344CB8AC3E}">
        <p14:creationId xmlns:p14="http://schemas.microsoft.com/office/powerpoint/2010/main" val="543391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2834-86D8-BFB8-6751-A1D39B676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BF98A-1939-7D9C-F7D2-CBD74E39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</a:t>
            </a:r>
            <a:r>
              <a:rPr lang="en-US" altLang="ko-KR" dirty="0"/>
              <a:t>vs. </a:t>
            </a:r>
            <a:r>
              <a:rPr lang="ko-KR" altLang="en-US" dirty="0"/>
              <a:t>화석연료 발전의 경제성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EDB0A3-70A3-0907-3B24-D82F1349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12DC2-2A67-A0A4-6219-6FF35B5C5DE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재생에너지와 화석연료 발전 간의 경제성 비교는 단순한 발전 단가 수준을 넘어서</a:t>
            </a:r>
            <a:r>
              <a:rPr lang="en-US" altLang="ko-KR" sz="1600" dirty="0"/>
              <a:t>, </a:t>
            </a:r>
            <a:r>
              <a:rPr lang="ko-KR" altLang="en-US" sz="1600" dirty="0"/>
              <a:t>비용구조의 차이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가격의 변동성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정책 지원 등 다양한 요소를 종합적으로 고려해야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과거에는 화석연료 발전이 전통적으로 낮은 발전단가를 바탕으로 경제성 면에서 우위를 점해 왔으나</a:t>
            </a:r>
            <a:r>
              <a:rPr lang="en-US" altLang="ko-KR" sz="1600" dirty="0"/>
              <a:t>, </a:t>
            </a:r>
            <a:r>
              <a:rPr lang="ko-KR" altLang="en-US" sz="1600" dirty="0"/>
              <a:t>최근에는 기술 발전과 규모 확장에 따라 재생에너지가 비용 경쟁력 측면에서 급속히 격차를 좁혀 왔으며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경우에는 경제적 우위를 확보하였다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</a:t>
            </a:r>
            <a:r>
              <a:rPr lang="ko-KR" altLang="en-US" sz="1600" dirty="0"/>
              <a:t> 발전단가 측면에서 보면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고정비 비중이 높고 한계비용이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가까운 구조인 한편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 발전은 연료비 비중이 높아 운영 비용의 변동성이 크다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2023</a:t>
            </a:r>
            <a:r>
              <a:rPr lang="ko-KR" altLang="en-US" sz="1600" dirty="0"/>
              <a:t>년 전 세계 태양광 및 육상풍력 발전의 평균 균등화발전단가는 </a:t>
            </a:r>
            <a:r>
              <a:rPr lang="en-US" altLang="ko-KR" sz="1600" dirty="0"/>
              <a:t>MWh</a:t>
            </a:r>
            <a:r>
              <a:rPr lang="ko-KR" altLang="en-US" sz="1600" dirty="0"/>
              <a:t>당 </a:t>
            </a:r>
            <a:r>
              <a:rPr lang="en-US" altLang="ko-KR" sz="1600" dirty="0"/>
              <a:t>46</a:t>
            </a:r>
            <a:r>
              <a:rPr lang="ko-KR" altLang="en-US" sz="1600" dirty="0"/>
              <a:t>달러 및 </a:t>
            </a:r>
            <a:r>
              <a:rPr lang="en-US" altLang="ko-KR" sz="1600" dirty="0"/>
              <a:t>33</a:t>
            </a:r>
            <a:r>
              <a:rPr lang="ko-KR" altLang="en-US" sz="1600" dirty="0"/>
              <a:t>달러로</a:t>
            </a:r>
            <a:r>
              <a:rPr lang="en-US" altLang="ko-KR" sz="1600" dirty="0"/>
              <a:t>, </a:t>
            </a:r>
            <a:r>
              <a:rPr lang="ko-KR" altLang="en-US" sz="1600" dirty="0"/>
              <a:t>이는 화석연료들의 평균 균등화 발전비용에 비하여 각각 </a:t>
            </a:r>
            <a:r>
              <a:rPr lang="en-US" altLang="ko-KR" sz="1600" dirty="0"/>
              <a:t>56%, 67% </a:t>
            </a:r>
            <a:r>
              <a:rPr lang="ko-KR" altLang="en-US" sz="1600" dirty="0"/>
              <a:t>낮은 것으로 추정하고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외부비용의 고려 여부에 따라 경제성의 평가 결과는 달라진다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앞서 말한 재생에너지의 긍정적 </a:t>
            </a:r>
            <a:r>
              <a:rPr lang="ko-KR" altLang="en-US" sz="1600" dirty="0" err="1"/>
              <a:t>외부성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화석연료의 부정적 외부성을 고려하면 재생에너지는 사회적 총비용 측면에서는 보다 우수한 결과를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탄소세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배출권거래제</a:t>
            </a:r>
            <a:r>
              <a:rPr lang="ko-KR" altLang="en-US" sz="1600" dirty="0"/>
              <a:t> 등 외부성을 </a:t>
            </a:r>
            <a:r>
              <a:rPr lang="ko-KR" altLang="en-US" sz="1600" dirty="0" err="1"/>
              <a:t>내재화하는</a:t>
            </a:r>
            <a:r>
              <a:rPr lang="ko-KR" altLang="en-US" sz="1600" dirty="0"/>
              <a:t> 정책이 본격화되면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경제성은 강화된다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1016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F05A3-F0D6-A94E-1C4F-3C74E58D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749CB-56BA-A45C-69BE-765F37C0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</a:t>
            </a:r>
            <a:r>
              <a:rPr lang="en-US" altLang="ko-KR" dirty="0"/>
              <a:t>vs. </a:t>
            </a:r>
            <a:r>
              <a:rPr lang="ko-KR" altLang="en-US" dirty="0"/>
              <a:t>화석연료 발전의 경제성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692EF-F618-E586-98FC-68A1EF32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0691D7-BC0D-B4C0-A639-FB556DB55D8F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가격 예측 가능성과 에너지 안보 측면에서도 차이가 존재한다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화석연료는 국제 시장에서 거래되고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리스크와 수급 불안정성에 노출되어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2022</a:t>
            </a:r>
            <a:r>
              <a:rPr lang="ko-KR" altLang="en-US" sz="1600" dirty="0"/>
              <a:t>년 러</a:t>
            </a:r>
            <a:r>
              <a:rPr lang="en-US" altLang="ko-KR" sz="1600" dirty="0"/>
              <a:t>-</a:t>
            </a:r>
            <a:r>
              <a:rPr lang="ko-KR" altLang="en-US" sz="1600" dirty="0"/>
              <a:t>우 전쟁 이후 천연가스 가격 급등으로 인해</a:t>
            </a:r>
            <a:r>
              <a:rPr lang="en-US" altLang="ko-KR" sz="1600" dirty="0"/>
              <a:t>, </a:t>
            </a:r>
            <a:r>
              <a:rPr lang="ko-KR" altLang="en-US" sz="1600" dirty="0"/>
              <a:t>많은 국가들이 재생에너지를 전략적 대안으로 적극 확대하게 된 사실과 같은 맥락이다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설비 투자 유인과 금융 조건에서도 점차 재생에너지가 우위를 점하고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기술이 성숙함에 따라 재생에너지 프로젝트의 위험도가 감소하고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자본비용이 하락하고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국제 민간 투자자들은 장기적으로 수익이 안정적인 재생에너지에 더 많은 자금을 투입하고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간헐성과 계통 통합 비용이라는 구조적 제약을 안고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 발전은 출력 조절력</a:t>
            </a:r>
            <a:r>
              <a:rPr lang="en-US" altLang="ko-KR" sz="1600" dirty="0"/>
              <a:t>, </a:t>
            </a:r>
            <a:r>
              <a:rPr lang="ko-KR" altLang="en-US" sz="1600" dirty="0"/>
              <a:t>기저 부하 제공 능력에서 강점을 가지고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그 비중이 증가할수록</a:t>
            </a:r>
            <a:r>
              <a:rPr lang="en-US" altLang="ko-KR" sz="1600" dirty="0"/>
              <a:t>, </a:t>
            </a:r>
            <a:r>
              <a:rPr lang="ko-KR" altLang="en-US" sz="1600" dirty="0"/>
              <a:t>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보완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송전 인프라 등 시스템 차원의 추가 비용이 발생할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392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7589-78DC-578B-CC40-957E4032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0F2013-29CD-7F27-1577-D6B31B8EFA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BCEF3-AB97-1172-4F24-539E14AF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A196B2-BFD3-ADD5-D4F1-6F6E5ECA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전력시스템 내 재생에너지의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694542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DDBD-F3B8-9DA6-C600-D8235E8E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6E295-1F94-24EE-87E6-D7356C20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전력망</a:t>
            </a:r>
            <a:r>
              <a:rPr lang="ko-KR" altLang="en-US" dirty="0"/>
              <a:t> 통합문제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361035-3351-C41C-5CE1-C24D4F390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8FC1D-E1F1-DFAC-9AF2-729271C0213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전력망</a:t>
            </a:r>
            <a:r>
              <a:rPr lang="ko-KR" altLang="en-US" sz="1600" dirty="0"/>
              <a:t> 통합 문제란 간헐적이고 </a:t>
            </a:r>
            <a:r>
              <a:rPr lang="ko-KR" altLang="en-US" sz="1600" dirty="0" err="1"/>
              <a:t>비제어적인</a:t>
            </a:r>
            <a:r>
              <a:rPr lang="ko-KR" altLang="en-US" sz="1600" dirty="0"/>
              <a:t> 재생에너지를 대규모로 전력망에 연계할 때 발생하는 주파수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전압 관리</a:t>
            </a:r>
            <a:r>
              <a:rPr lang="en-US" altLang="ko-KR" sz="1600" dirty="0"/>
              <a:t>, </a:t>
            </a:r>
            <a:r>
              <a:rPr lang="ko-KR" altLang="en-US" sz="1600" dirty="0"/>
              <a:t>실시간 수요</a:t>
            </a:r>
            <a:r>
              <a:rPr lang="en-US" altLang="ko-KR" sz="1600" dirty="0"/>
              <a:t>-</a:t>
            </a:r>
            <a:r>
              <a:rPr lang="ko-KR" altLang="en-US" sz="1600" dirty="0"/>
              <a:t>공급 균형 유지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혼잡 등의 문제를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기상조건에 의존하기 때문에 발전량이 급증하거나 급감할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전반의 주파수나 전압의 안정성이 흔들릴 수 있으며</a:t>
            </a:r>
            <a:r>
              <a:rPr lang="en-US" altLang="ko-KR" sz="1600" dirty="0"/>
              <a:t>,</a:t>
            </a:r>
            <a:r>
              <a:rPr lang="ko-KR" altLang="en-US" sz="1600" dirty="0"/>
              <a:t> 이는 정전이나 설비 고장의 위험으로 이어질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일부 국가는 재생에너지의 출력 제한을 허용하거나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발전 설비에도 주파수 응답 및 출력 조절 능력을 부여하는 기술적 기준을 강화하고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수요 중심지가 아닌 지역에 분산적으로 설치되는데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송배전망 확충과 계통 강화를 요구한다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값싼 부지가 비교적 많은 시골 지역에 태양광이 집중되어 있는 경우 송전 인프라의 병목현상이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기존의 발전 방식은 수요에 맞추어 공급</a:t>
            </a:r>
            <a:r>
              <a:rPr lang="en-US" altLang="ko-KR" sz="1600" dirty="0"/>
              <a:t>(</a:t>
            </a:r>
            <a:r>
              <a:rPr lang="ko-KR" altLang="en-US" sz="1600" dirty="0"/>
              <a:t>발전</a:t>
            </a:r>
            <a:r>
              <a:rPr lang="en-US" altLang="ko-KR" sz="1600" dirty="0"/>
              <a:t>)</a:t>
            </a:r>
            <a:r>
              <a:rPr lang="ko-KR" altLang="en-US" sz="1600" dirty="0"/>
              <a:t>을 조절하는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공급 조절형</a:t>
            </a:r>
            <a:r>
              <a:rPr lang="en-US" altLang="ko-KR" sz="1600" dirty="0"/>
              <a:t>’ </a:t>
            </a:r>
            <a:r>
              <a:rPr lang="ko-KR" altLang="en-US" sz="1600" dirty="0"/>
              <a:t>시스템이지만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확대 이후에는 공급량에 따라 수요를 조절하거나 저장하는 </a:t>
            </a:r>
            <a:r>
              <a:rPr lang="en-US" altLang="ko-KR" sz="1600" dirty="0"/>
              <a:t>‘</a:t>
            </a:r>
            <a:r>
              <a:rPr lang="ko-KR" altLang="en-US" sz="1600" dirty="0"/>
              <a:t>수요 반응형</a:t>
            </a:r>
            <a:r>
              <a:rPr lang="en-US" altLang="ko-KR" sz="1600" dirty="0"/>
              <a:t>‘ </a:t>
            </a:r>
            <a:r>
              <a:rPr lang="ko-KR" altLang="en-US" sz="1600" dirty="0"/>
              <a:t>체제로의 전환이 요구된다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에너지 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수요관리</a:t>
            </a:r>
            <a:r>
              <a:rPr lang="en-US" altLang="ko-KR" sz="1600" dirty="0"/>
              <a:t>, </a:t>
            </a:r>
            <a:r>
              <a:rPr lang="ko-KR" altLang="en-US" sz="1600" dirty="0"/>
              <a:t>유연한 보완 발전원의 확보 등이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96632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578C5-6D5B-94F1-3BDE-CB0D074B4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7FBCC-B3E1-94CF-EFDF-F5005E33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보완성과 저장기술의 중요성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ACB013-82E0-F481-24B7-86766FEA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DD03B-4C60-0E18-8507-FF515C0DB25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보완성이란 서로 다른 재생에너지원이 시간적</a:t>
            </a:r>
            <a:r>
              <a:rPr lang="en-US" altLang="ko-KR" sz="1600" dirty="0"/>
              <a:t>·</a:t>
            </a:r>
            <a:r>
              <a:rPr lang="ko-KR" altLang="en-US" sz="1600" dirty="0"/>
              <a:t>공간적으로 상호보완적 특성을 가질 때 나타나는 효과를 말한다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상이한 발전 패턴을 가진 자원을 함께 활용하면 출력 변동성을 완화할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풍력은 일반적으로 야간이나 겨울철에 강한 반면</a:t>
            </a:r>
            <a:r>
              <a:rPr lang="en-US" altLang="ko-KR" sz="1600" dirty="0"/>
              <a:t>, </a:t>
            </a:r>
            <a:r>
              <a:rPr lang="ko-KR" altLang="en-US" sz="1600" dirty="0"/>
              <a:t>태양광은 낮이나 여름철에 출력이 집중된다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지역간 자원 특성의 차이를 활용한 공간적 보완성도 중요하며</a:t>
            </a:r>
            <a:r>
              <a:rPr lang="en-US" altLang="ko-KR" sz="1600" dirty="0"/>
              <a:t>, </a:t>
            </a:r>
            <a:r>
              <a:rPr lang="ko-KR" altLang="en-US" sz="1600" dirty="0"/>
              <a:t>광역 계통 연계와 재생에너지 자원의 분산적 설치를 통해 효과를 극대화할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보완성만으로는 수요와 공급 간의 실시간 불일치를 완전히 해소할 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저장기술이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배터리 저장시스템</a:t>
            </a:r>
            <a:r>
              <a:rPr lang="en-US" altLang="ko-KR" sz="1600" dirty="0"/>
              <a:t>(</a:t>
            </a:r>
            <a:r>
              <a:rPr lang="ko-KR" altLang="en-US" sz="1600" dirty="0"/>
              <a:t>예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리튬이온배터리</a:t>
            </a:r>
            <a:r>
              <a:rPr lang="en-US" altLang="ko-KR" sz="1600" dirty="0"/>
              <a:t>)</a:t>
            </a:r>
            <a:r>
              <a:rPr lang="ko-KR" altLang="en-US" sz="1600" dirty="0"/>
              <a:t>은 발전량이 초과되는 시간대에 전력을 저장하고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공급이 부족한 시간에 방전함으로써 출력 평준화</a:t>
            </a:r>
            <a:r>
              <a:rPr lang="en-US" altLang="ko-KR" sz="1600" dirty="0"/>
              <a:t>, </a:t>
            </a:r>
            <a:r>
              <a:rPr lang="ko-KR" altLang="en-US" sz="1600" dirty="0"/>
              <a:t>주파수 조절</a:t>
            </a:r>
            <a:r>
              <a:rPr lang="en-US" altLang="ko-KR" sz="1600" dirty="0"/>
              <a:t>, </a:t>
            </a:r>
            <a:r>
              <a:rPr lang="ko-KR" altLang="en-US" sz="1600" dirty="0"/>
              <a:t>피크 부하 대응 등의 다양한 기능을 수행한다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외에도 양수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압축공기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수소 저장 등의 다양한 기술이 존재하며</a:t>
            </a:r>
            <a:r>
              <a:rPr lang="en-US" altLang="ko-KR" sz="1600" dirty="0"/>
              <a:t>, </a:t>
            </a:r>
            <a:r>
              <a:rPr lang="ko-KR" altLang="en-US" sz="1600" dirty="0"/>
              <a:t>각기 다른 시간 범위와 용도에 맞게 설계될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양수 저장은 대규모 장기 저장에</a:t>
            </a:r>
            <a:r>
              <a:rPr lang="en-US" altLang="ko-KR" sz="1600" dirty="0"/>
              <a:t>, </a:t>
            </a:r>
            <a:r>
              <a:rPr lang="ko-KR" altLang="en-US" sz="1600" dirty="0"/>
              <a:t>배터리는 단기 부하 조절에</a:t>
            </a:r>
            <a:r>
              <a:rPr lang="en-US" altLang="ko-KR" sz="1600" dirty="0"/>
              <a:t>, </a:t>
            </a:r>
            <a:r>
              <a:rPr lang="ko-KR" altLang="en-US" sz="1600" dirty="0"/>
              <a:t>수소는 계절 간 저장 및 부문간 연계에 적합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저장기술은 전력가격이 높은 시간대에 판매할 수 있어 수익성을 개선할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5016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1C92-6407-0AAF-C53F-4EF17AFF3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D08FE-2F6E-8975-952A-BFE8E993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 구조와 재생에너지의 적응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DCCB8-2B58-A321-B05D-754CB40D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B8624-EEC6-E3E6-EBA8-5A0244415F8F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지금까지 살펴본 특성상 </a:t>
            </a:r>
            <a:r>
              <a:rPr lang="en-US" altLang="ko-KR" sz="1600" dirty="0"/>
              <a:t>(</a:t>
            </a:r>
            <a:r>
              <a:rPr lang="ko-KR" altLang="en-US" sz="1600" dirty="0"/>
              <a:t>소규모</a:t>
            </a:r>
            <a:r>
              <a:rPr lang="en-US" altLang="ko-KR" sz="1600" dirty="0"/>
              <a:t>·</a:t>
            </a:r>
            <a:r>
              <a:rPr lang="ko-KR" altLang="en-US" sz="1600" dirty="0"/>
              <a:t>분산 간헐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비제어</a:t>
            </a:r>
            <a:r>
              <a:rPr lang="en-US" altLang="ko-KR" sz="1600" dirty="0"/>
              <a:t>)</a:t>
            </a:r>
            <a:r>
              <a:rPr lang="ko-KR" altLang="en-US" sz="1600" dirty="0"/>
              <a:t> 기존 시장 설계와 근본적인 불일치를 드러낸다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전력시장 설계의 조정과 제도적 개혁을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한계비용이 거의 제로이기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공급이 증가하면 전력시장의 가격을 </a:t>
            </a:r>
            <a:r>
              <a:rPr lang="ko-KR" altLang="en-US" sz="1600" dirty="0" err="1"/>
              <a:t>하락시키는</a:t>
            </a:r>
            <a:r>
              <a:rPr lang="ko-KR" altLang="en-US" sz="1600" dirty="0"/>
              <a:t> 경향이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고정 가격 보조</a:t>
            </a:r>
            <a:r>
              <a:rPr lang="en-US" altLang="ko-KR" sz="1600" dirty="0"/>
              <a:t>(Feed In Tariff)</a:t>
            </a:r>
            <a:r>
              <a:rPr lang="ko-KR" altLang="en-US" sz="1600" dirty="0"/>
              <a:t>를 받은 재생에너지가 시장 가격과 무관하게 우선적으로 공급될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가격이 왜곡되고</a:t>
            </a:r>
            <a:r>
              <a:rPr lang="en-US" altLang="ko-KR" sz="1600" dirty="0"/>
              <a:t>, </a:t>
            </a:r>
            <a:r>
              <a:rPr lang="ko-KR" altLang="en-US" sz="1600" dirty="0"/>
              <a:t>기존 발전자원의 수익성 악화로 이어질 수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이른바 </a:t>
            </a:r>
            <a:r>
              <a:rPr lang="en-US" altLang="ko-KR" sz="1600" dirty="0"/>
              <a:t>‘</a:t>
            </a:r>
            <a:r>
              <a:rPr lang="ko-KR" altLang="en-US" sz="1600" dirty="0"/>
              <a:t>가격 잠식</a:t>
            </a:r>
            <a:r>
              <a:rPr lang="en-US" altLang="ko-KR" sz="1600" dirty="0"/>
              <a:t>’ </a:t>
            </a:r>
            <a:r>
              <a:rPr lang="ko-KR" altLang="en-US" sz="1600" dirty="0"/>
              <a:t>현상은 재생에너지의 비중이 높아질수록 심화되고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기반의 재생에너지 투자 유인을 저해하는 요인이 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간헐성과 예측 불가능성은 시장 유연성 확보를 필수적으로 만든다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단순한 전력 거래 외에도 </a:t>
            </a:r>
            <a:r>
              <a:rPr lang="ko-KR" altLang="en-US" sz="1600" dirty="0" err="1"/>
              <a:t>예비력</a:t>
            </a:r>
            <a:r>
              <a:rPr lang="en-US" altLang="ko-KR" sz="1600" dirty="0"/>
              <a:t>, </a:t>
            </a:r>
            <a:r>
              <a:rPr lang="ko-KR" altLang="en-US" sz="1600" dirty="0"/>
              <a:t>주파수 조절</a:t>
            </a:r>
            <a:r>
              <a:rPr lang="en-US" altLang="ko-KR" sz="1600" dirty="0"/>
              <a:t>, </a:t>
            </a:r>
            <a:r>
              <a:rPr lang="ko-KR" altLang="en-US" sz="1600" dirty="0"/>
              <a:t>부하 조정</a:t>
            </a:r>
            <a:r>
              <a:rPr lang="en-US" altLang="ko-KR" sz="1600" dirty="0"/>
              <a:t>, </a:t>
            </a:r>
            <a:r>
              <a:rPr lang="ko-KR" altLang="en-US" sz="1600" dirty="0"/>
              <a:t>수요 반응 등 다양한 부가 서비스를 거래하는 시장이 필요하며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이러한 보조서비스 시장을 재설계하거나 확대하고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또한 단기 시장의 정산주기를 더욱 촘촘하게 설정하거나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실시간 시장을 강화하여 변동성에 대응하는 시스템 설계가 병행되고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5074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2FBA-902C-DEA9-E42D-E96700EE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A3BFF8-F5FA-7845-DB04-C4F36EDB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 구조와 재생에너지의 적응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15C9C4-DDCB-4538-3C7A-76ECDAB1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DEA303-24F4-FA55-5027-2B674AB551D0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중심 전력 시스템에서는 용량 보장 확보를 위한 새로운 시장 구조가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재생에너지는 날씨에 따라 변동이 크기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전력공급이 부족할 경우 즉시 공급할 수 있는 </a:t>
            </a:r>
            <a:r>
              <a:rPr lang="en-US" altLang="ko-KR" sz="1600" dirty="0"/>
              <a:t>LNG</a:t>
            </a:r>
            <a:r>
              <a:rPr lang="ko-KR" altLang="en-US" sz="1600" dirty="0"/>
              <a:t>발전소나 저장장치 등을 유지해야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기존에는 전기를 생산한 만큼 돈을 받았지만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용량시장에서는 발전하지 않아도 대기 능력</a:t>
            </a:r>
            <a:r>
              <a:rPr lang="en-US" altLang="ko-KR" sz="1600" dirty="0"/>
              <a:t>(</a:t>
            </a:r>
            <a:r>
              <a:rPr lang="ko-KR" altLang="en-US" sz="1600" dirty="0"/>
              <a:t>용량</a:t>
            </a:r>
            <a:r>
              <a:rPr lang="en-US" altLang="ko-KR" sz="1600" dirty="0"/>
              <a:t>)</a:t>
            </a:r>
            <a:r>
              <a:rPr lang="ko-KR" altLang="en-US" sz="1600" dirty="0"/>
              <a:t>에 대해 보상하는 새로운 시장 제도가 필요함을 의미한다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분산성과 지역성은 전통적 중앙 집중형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기반의 시장 설계에 변화를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소규모 태양광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저장장치</a:t>
            </a:r>
            <a:r>
              <a:rPr lang="en-US" altLang="ko-KR" sz="1600" dirty="0"/>
              <a:t>, </a:t>
            </a:r>
            <a:r>
              <a:rPr lang="ko-KR" altLang="en-US" sz="1600" dirty="0"/>
              <a:t>전기차 충전 등의 확산은 소비자이자 생산자의 등장을 의미하며</a:t>
            </a:r>
            <a:r>
              <a:rPr lang="en-US" altLang="ko-KR" sz="1600" dirty="0"/>
              <a:t>, </a:t>
            </a:r>
            <a:r>
              <a:rPr lang="ko-KR" altLang="en-US" sz="1600" dirty="0"/>
              <a:t>분산자원 기반의 새로운 시장 참여 모델을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국가에서는 지역 단위의 전력시장</a:t>
            </a:r>
            <a:r>
              <a:rPr lang="en-US" altLang="ko-KR" sz="1600" dirty="0"/>
              <a:t>, </a:t>
            </a:r>
            <a:r>
              <a:rPr lang="ko-KR" altLang="en-US" sz="1600" dirty="0"/>
              <a:t>소비자 간 전력거래</a:t>
            </a:r>
            <a:r>
              <a:rPr lang="en-US" altLang="ko-KR" sz="1600" dirty="0"/>
              <a:t>, </a:t>
            </a:r>
            <a:r>
              <a:rPr lang="ko-KR" altLang="en-US" sz="1600" dirty="0"/>
              <a:t>가상발전소 등의 실험적 제도를 도입하고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전력시장 제도의 변화는 단순한 기술적 조정에 그치지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지배구조</a:t>
            </a:r>
            <a:r>
              <a:rPr lang="en-US" altLang="ko-KR" sz="1600" dirty="0"/>
              <a:t>, </a:t>
            </a:r>
            <a:r>
              <a:rPr lang="ko-KR" altLang="en-US" sz="1600" dirty="0"/>
              <a:t>정산 방식</a:t>
            </a:r>
            <a:r>
              <a:rPr lang="en-US" altLang="ko-KR" sz="1600" dirty="0"/>
              <a:t>, </a:t>
            </a:r>
            <a:r>
              <a:rPr lang="ko-KR" altLang="en-US" sz="1600" dirty="0"/>
              <a:t>가격 시그널</a:t>
            </a:r>
            <a:r>
              <a:rPr lang="en-US" altLang="ko-KR" sz="1600" dirty="0"/>
              <a:t> </a:t>
            </a:r>
            <a:r>
              <a:rPr lang="ko-KR" altLang="en-US" sz="1600" dirty="0"/>
              <a:t>설계</a:t>
            </a:r>
            <a:r>
              <a:rPr lang="en-US" altLang="ko-KR" sz="1600" dirty="0"/>
              <a:t> </a:t>
            </a:r>
            <a:r>
              <a:rPr lang="ko-KR" altLang="en-US" sz="1600" dirty="0"/>
              <a:t>등의 측면에서 종합적인 변화를 요구한다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628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FD94-3D3D-8B63-B659-4FE8F33A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BB767-B954-7A46-8835-203A64EC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62FE-4457-6E04-699D-4394298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DE58E5-97B8-49D7-76B3-F3F82A86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재생에너지에 의한 전력생산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8976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7CF27-90A4-3267-B59C-EC8AD79F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4704A-D568-7750-0E52-DBA8818D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전세계 지역별 재생에너지 발전량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81DF1D-FADF-18D3-74E7-047D73B4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4B1D8-F2E6-68B1-45A0-D8AB50EE9823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아래 표는 지역별 재생에너지에 의한 전력생산량과 비중을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아시아태평양</a:t>
            </a:r>
            <a:r>
              <a:rPr lang="en-US" altLang="ko-KR" sz="1600" dirty="0"/>
              <a:t>(46.1%), </a:t>
            </a:r>
            <a:r>
              <a:rPr lang="ko-KR" altLang="en-US" sz="1600" dirty="0"/>
              <a:t>유럽</a:t>
            </a:r>
            <a:r>
              <a:rPr lang="en-US" altLang="ko-KR" sz="1600" dirty="0"/>
              <a:t>(19.7%), </a:t>
            </a:r>
            <a:r>
              <a:rPr lang="ko-KR" altLang="en-US" sz="1600" dirty="0"/>
              <a:t>북미</a:t>
            </a:r>
            <a:r>
              <a:rPr lang="en-US" altLang="ko-KR" sz="1600" dirty="0"/>
              <a:t>(16.4%), </a:t>
            </a:r>
            <a:r>
              <a:rPr lang="ko-KR" altLang="en-US" sz="1600" dirty="0"/>
              <a:t>중남미</a:t>
            </a:r>
            <a:r>
              <a:rPr lang="en-US" altLang="ko-KR" sz="1600" dirty="0"/>
              <a:t>(11.7%) </a:t>
            </a:r>
            <a:r>
              <a:rPr lang="ko-KR" altLang="en-US" sz="1600" dirty="0"/>
              <a:t>순이며</a:t>
            </a:r>
            <a:r>
              <a:rPr lang="en-US" altLang="ko-KR" sz="1600" dirty="0"/>
              <a:t>, </a:t>
            </a:r>
            <a:r>
              <a:rPr lang="ko-KR" altLang="en-US" sz="1600" dirty="0"/>
              <a:t>나머지 지역의 비중은 상대적으로 낮게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(</a:t>
            </a:r>
            <a:r>
              <a:rPr lang="ko-KR" altLang="en-US" sz="1600" dirty="0"/>
              <a:t>뒷장 설명 계속</a:t>
            </a:r>
            <a:r>
              <a:rPr lang="en-US" altLang="ko-KR" sz="1600" dirty="0"/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6A1B254-65F1-DBF8-3C4D-993B000FE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977076"/>
              </p:ext>
            </p:extLst>
          </p:nvPr>
        </p:nvGraphicFramePr>
        <p:xfrm>
          <a:off x="709624" y="2835895"/>
          <a:ext cx="4869541" cy="371419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35246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2020905667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197497817"/>
                    </a:ext>
                  </a:extLst>
                </a:gridCol>
                <a:gridCol w="618950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73954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풍력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태양광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1,471.1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16.4%</a:t>
                      </a: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973.7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749.9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1,049.7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브라질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428.7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638.7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1,769.3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이탈리아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튀르키예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1FFFE01-2FC5-13F1-37A2-D64C34E19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662350"/>
              </p:ext>
            </p:extLst>
          </p:nvPr>
        </p:nvGraphicFramePr>
        <p:xfrm>
          <a:off x="6560610" y="2835895"/>
          <a:ext cx="4933442" cy="346658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7290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2020905667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197497817"/>
                    </a:ext>
                  </a:extLst>
                </a:gridCol>
                <a:gridCol w="616226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67940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풍력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태양광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수력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253.0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269.3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1,045.2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927.7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1,788.2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4,141.7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584.2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1,226.0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2,894.1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전세계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2,325.3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1,641.6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4,240.0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8,988.4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1,149.4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755.3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1,385.5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3,676.0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1,175.9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2,854.5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5,312.4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602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21CE-657F-2C89-4E6C-3AC56D0A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8DA0E-DD97-3C52-4454-96858FBF3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전력시장 구조와 재생에너지의 적응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571E0F-D6C0-FAD0-069B-DC06E8F6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68737-C3BD-CB52-AFC3-63947F47E178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국가별로 재생에너지에 의한 전력생산량과 비중을 살펴보면 아래와 같다</a:t>
            </a:r>
            <a:r>
              <a:rPr lang="en-US" altLang="ko-KR" sz="1600" dirty="0"/>
              <a:t>. (</a:t>
            </a:r>
            <a:r>
              <a:rPr lang="ko-KR" altLang="en-US" sz="1600" dirty="0"/>
              <a:t>전 슬라이드 표 참고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전체 재생에너지 발전량으로는 중국이 </a:t>
            </a:r>
            <a:r>
              <a:rPr lang="en-US" altLang="ko-KR" sz="1600" dirty="0"/>
              <a:t>32.2%, </a:t>
            </a:r>
            <a:r>
              <a:rPr lang="ko-KR" altLang="en-US" sz="1600" dirty="0"/>
              <a:t>미국</a:t>
            </a:r>
            <a:r>
              <a:rPr lang="en-US" altLang="ko-KR" sz="1600" dirty="0"/>
              <a:t>(10.8%), </a:t>
            </a:r>
            <a:r>
              <a:rPr lang="ko-KR" altLang="en-US" sz="1600" dirty="0"/>
              <a:t>브라질</a:t>
            </a:r>
            <a:r>
              <a:rPr lang="en-US" altLang="ko-KR" sz="1600" dirty="0"/>
              <a:t>(7.0%),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(4.7%), </a:t>
            </a:r>
            <a:r>
              <a:rPr lang="ko-KR" altLang="en-US" sz="1600" dirty="0"/>
              <a:t>인도</a:t>
            </a:r>
            <a:r>
              <a:rPr lang="en-US" altLang="ko-KR" sz="1600" dirty="0"/>
              <a:t>(4.2%) </a:t>
            </a:r>
            <a:r>
              <a:rPr lang="ko-KR" altLang="en-US" sz="1600" dirty="0"/>
              <a:t>순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발전량 기준으로는 중국</a:t>
            </a:r>
            <a:r>
              <a:rPr lang="en-US" altLang="ko-KR" sz="1600" dirty="0"/>
              <a:t>(885.9TWh), </a:t>
            </a:r>
            <a:r>
              <a:rPr lang="ko-KR" altLang="en-US" sz="1600" dirty="0"/>
              <a:t>미국</a:t>
            </a:r>
            <a:r>
              <a:rPr lang="en-US" altLang="ko-KR" sz="1600" dirty="0"/>
              <a:t>(429.5TWh), </a:t>
            </a:r>
            <a:r>
              <a:rPr lang="ko-KR" altLang="en-US" sz="1600" dirty="0"/>
              <a:t>독일</a:t>
            </a:r>
            <a:r>
              <a:rPr lang="en-US" altLang="ko-KR" sz="1600" dirty="0"/>
              <a:t>(141.1TWh)</a:t>
            </a:r>
            <a:r>
              <a:rPr lang="ko-KR" altLang="en-US" sz="1600" dirty="0"/>
              <a:t> 순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 발전량 기준으로는 중국</a:t>
            </a:r>
            <a:r>
              <a:rPr lang="en-US" altLang="ko-KR" sz="1600" dirty="0"/>
              <a:t>(584.2TWh), </a:t>
            </a:r>
            <a:r>
              <a:rPr lang="ko-KR" altLang="en-US" sz="1600" dirty="0"/>
              <a:t>미국</a:t>
            </a:r>
            <a:r>
              <a:rPr lang="en-US" altLang="ko-KR" sz="1600" dirty="0"/>
              <a:t>(240.5TWh), </a:t>
            </a:r>
            <a:r>
              <a:rPr lang="ko-KR" altLang="en-US" sz="1600" dirty="0"/>
              <a:t>인도</a:t>
            </a:r>
            <a:r>
              <a:rPr lang="en-US" altLang="ko-KR" sz="1600" dirty="0"/>
              <a:t>(113.4TWh) </a:t>
            </a:r>
            <a:r>
              <a:rPr lang="ko-KR" altLang="en-US" sz="1600" dirty="0"/>
              <a:t>순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수력 발전량 기준으로는 중국</a:t>
            </a:r>
            <a:r>
              <a:rPr lang="en-US" altLang="ko-KR" sz="1600" dirty="0"/>
              <a:t>(1,226.0TWh), </a:t>
            </a:r>
            <a:r>
              <a:rPr lang="ko-KR" altLang="en-US" sz="1600" dirty="0"/>
              <a:t>브라질</a:t>
            </a:r>
            <a:r>
              <a:rPr lang="en-US" altLang="ko-KR" sz="1600" dirty="0"/>
              <a:t>(428.7TWh),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(364.2TWh), </a:t>
            </a:r>
            <a:r>
              <a:rPr lang="ko-KR" altLang="en-US" sz="1600" dirty="0"/>
              <a:t>미국</a:t>
            </a:r>
            <a:r>
              <a:rPr lang="en-US" altLang="ko-KR" sz="1600" dirty="0"/>
              <a:t>(236.3TWh)</a:t>
            </a:r>
            <a:r>
              <a:rPr lang="ko-KR" altLang="en-US" sz="1600" dirty="0"/>
              <a:t> 순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28191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6CA0-C3EF-1E98-F935-9A1748C2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1B382-8FA2-4C1F-306C-749FB31D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전세계 지역별 태양광 및 태양열 발전 용량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26581B-10E1-FD4F-3757-6FA653CB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539D6-C655-076C-1607-94C4549D1694}"/>
              </a:ext>
            </a:extLst>
          </p:cNvPr>
          <p:cNvSpPr txBox="1"/>
          <p:nvPr/>
        </p:nvSpPr>
        <p:spPr>
          <a:xfrm>
            <a:off x="288791" y="958844"/>
            <a:ext cx="6226862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옆 표는 지역별 태양광과 태양열 발전 용량을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 발전용량은 풍력발전에 비해 빠르게 증가하고 있으며</a:t>
            </a:r>
            <a:r>
              <a:rPr lang="en-US" altLang="ko-KR" sz="1600" dirty="0"/>
              <a:t>, 2013-2023</a:t>
            </a:r>
            <a:r>
              <a:rPr lang="ko-KR" altLang="en-US" sz="1600" dirty="0"/>
              <a:t>년 사이 연 평균 </a:t>
            </a:r>
            <a:r>
              <a:rPr lang="en-US" altLang="ko-KR" sz="1600" dirty="0"/>
              <a:t>25.9%</a:t>
            </a:r>
            <a:r>
              <a:rPr lang="ko-KR" altLang="en-US" sz="1600" dirty="0"/>
              <a:t>의 성장률을 나타낸다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중국은 전 세계 발전용량 비중이 </a:t>
            </a:r>
            <a:r>
              <a:rPr lang="en-US" altLang="ko-KR" sz="1600" dirty="0"/>
              <a:t>43.0%</a:t>
            </a:r>
            <a:r>
              <a:rPr lang="ko-KR" altLang="en-US" sz="1600" dirty="0"/>
              <a:t>에 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연평균 증가율도 </a:t>
            </a:r>
            <a:r>
              <a:rPr lang="en-US" altLang="ko-KR" sz="1600" dirty="0"/>
              <a:t>42.4%</a:t>
            </a:r>
            <a:r>
              <a:rPr lang="ko-KR" altLang="en-US" sz="1600" dirty="0"/>
              <a:t>를 나타낸다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미국은 발전용량 비중이 </a:t>
            </a:r>
            <a:r>
              <a:rPr lang="en-US" altLang="ko-KR" sz="1600" dirty="0"/>
              <a:t>9.8%</a:t>
            </a:r>
            <a:r>
              <a:rPr lang="ko-KR" altLang="en-US" sz="1600" dirty="0"/>
              <a:t>이고</a:t>
            </a:r>
            <a:r>
              <a:rPr lang="en-US" altLang="ko-KR" sz="1600" dirty="0"/>
              <a:t>, </a:t>
            </a:r>
            <a:r>
              <a:rPr lang="ko-KR" altLang="en-US" sz="1600" dirty="0"/>
              <a:t>연평균 증가율도 </a:t>
            </a:r>
            <a:r>
              <a:rPr lang="en-US" altLang="ko-KR" sz="1600" dirty="0"/>
              <a:t>26.5%</a:t>
            </a:r>
            <a:r>
              <a:rPr lang="ko-KR" altLang="en-US" sz="1600" dirty="0"/>
              <a:t>로 빠르게 증가하고 있다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4A164BF-8430-C1C4-DD88-EE0855BF3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66016"/>
              </p:ext>
            </p:extLst>
          </p:nvPr>
        </p:nvGraphicFramePr>
        <p:xfrm>
          <a:off x="6701145" y="1450037"/>
          <a:ext cx="4514610" cy="488657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2205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729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016447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130312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(2013-2023)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155,873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139,205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53,603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브라질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37,449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299,200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81,739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이탈리아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29,795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31,016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18,543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13,479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873,586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33,683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1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609,921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78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73,109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7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87,068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5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27,046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1,418,969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FE49D62-7892-3E8C-D49E-129BD9112FE1}"/>
              </a:ext>
            </a:extLst>
          </p:cNvPr>
          <p:cNvSpPr txBox="1"/>
          <p:nvPr/>
        </p:nvSpPr>
        <p:spPr>
          <a:xfrm>
            <a:off x="7195891" y="1095869"/>
            <a:ext cx="3525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2023</a:t>
            </a:r>
            <a:r>
              <a:rPr lang="ko-KR" altLang="en-US" sz="1200" spc="-50" dirty="0"/>
              <a:t>년 지역별 태양광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태양열 발전용량</a:t>
            </a:r>
            <a:r>
              <a:rPr lang="en-US" altLang="ko-KR" sz="1200" spc="-50" dirty="0"/>
              <a:t> (MW)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54843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BBE4-0371-4FD6-0AE3-53534F86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DCF0E-85CA-569C-A117-CBC535B4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전세계 지역별 풍력 발전 용량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003D7-60DA-BFBD-75F8-60F1590A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55B6B-6ED0-4A15-B165-FE006D6AC851}"/>
              </a:ext>
            </a:extLst>
          </p:cNvPr>
          <p:cNvSpPr txBox="1"/>
          <p:nvPr/>
        </p:nvSpPr>
        <p:spPr>
          <a:xfrm>
            <a:off x="288791" y="958844"/>
            <a:ext cx="6226862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옆 표는 지역별 풍력 발전 용량을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풍력 발전용량이 가장 큰 국가는 중국으로</a:t>
            </a:r>
            <a:r>
              <a:rPr lang="en-US" altLang="ko-KR" sz="1600" dirty="0"/>
              <a:t>, </a:t>
            </a:r>
            <a:r>
              <a:rPr lang="ko-KR" altLang="en-US" sz="1600" dirty="0"/>
              <a:t>중국의 비중은 </a:t>
            </a:r>
            <a:r>
              <a:rPr lang="en-US" altLang="ko-KR" sz="1600" dirty="0"/>
              <a:t>2023</a:t>
            </a:r>
            <a:r>
              <a:rPr lang="ko-KR" altLang="en-US" sz="1600" dirty="0"/>
              <a:t>년 현재 </a:t>
            </a:r>
            <a:r>
              <a:rPr lang="en-US" altLang="ko-KR" sz="1600" dirty="0"/>
              <a:t>43.0%</a:t>
            </a:r>
            <a:r>
              <a:rPr lang="ko-KR" altLang="en-US" sz="1600" dirty="0"/>
              <a:t>이며 최근 </a:t>
            </a:r>
            <a:r>
              <a:rPr lang="en-US" altLang="ko-KR" sz="1600" dirty="0"/>
              <a:t>10</a:t>
            </a:r>
            <a:r>
              <a:rPr lang="ko-KR" altLang="en-US" sz="1600" dirty="0"/>
              <a:t>년간 연간 </a:t>
            </a:r>
            <a:r>
              <a:rPr lang="en-US" altLang="ko-KR" sz="1600" dirty="0"/>
              <a:t>19.1% </a:t>
            </a:r>
            <a:r>
              <a:rPr lang="ko-KR" altLang="en-US" sz="1600" dirty="0"/>
              <a:t>증가하였다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 다음으로는 미국</a:t>
            </a:r>
            <a:r>
              <a:rPr lang="en-US" altLang="ko-KR" sz="1600" dirty="0"/>
              <a:t>(14.6%), </a:t>
            </a:r>
            <a:r>
              <a:rPr lang="ko-KR" altLang="en-US" sz="1600" dirty="0"/>
              <a:t>독일</a:t>
            </a:r>
            <a:r>
              <a:rPr lang="en-US" altLang="ko-KR" sz="1600" dirty="0"/>
              <a:t>(6.8%)</a:t>
            </a:r>
            <a:r>
              <a:rPr lang="ko-KR" altLang="en-US" sz="1600" dirty="0"/>
              <a:t>의 비중이 높았고</a:t>
            </a:r>
            <a:r>
              <a:rPr lang="en-US" altLang="ko-KR" sz="1600" dirty="0"/>
              <a:t>, </a:t>
            </a:r>
            <a:r>
              <a:rPr lang="ko-KR" altLang="en-US" sz="1600" dirty="0"/>
              <a:t>두 국가의 연평균 증가율은 각각 </a:t>
            </a:r>
            <a:r>
              <a:rPr lang="en-US" altLang="ko-KR" sz="1600" dirty="0"/>
              <a:t>9.4%, 7.6% </a:t>
            </a:r>
            <a:r>
              <a:rPr lang="ko-KR" altLang="en-US" sz="1600" dirty="0"/>
              <a:t>였다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DFB7C3-AC3E-1537-5785-75FAE7A8C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767874"/>
              </p:ext>
            </p:extLst>
          </p:nvPr>
        </p:nvGraphicFramePr>
        <p:xfrm>
          <a:off x="6701145" y="1450037"/>
          <a:ext cx="4514610" cy="43913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2205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729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016447">
                  <a:extLst>
                    <a:ext uri="{9D8B030D-6E8A-4147-A177-3AD203B41FA5}">
                      <a16:colId xmlns:a16="http://schemas.microsoft.com/office/drawing/2014/main" val="3247444857"/>
                    </a:ext>
                  </a:extLst>
                </a:gridCol>
                <a:gridCol w="130312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(2013-2023)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172,327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55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148,020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42,018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브라질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29,135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268,708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22,196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69,459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644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31,028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3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30,215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8,654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78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520,912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7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441,895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56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44,736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1,017,199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D0833A-8F67-6E96-8514-44721A7EBB74}"/>
              </a:ext>
            </a:extLst>
          </p:cNvPr>
          <p:cNvSpPr txBox="1"/>
          <p:nvPr/>
        </p:nvSpPr>
        <p:spPr>
          <a:xfrm>
            <a:off x="7195891" y="1095869"/>
            <a:ext cx="3525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2023</a:t>
            </a:r>
            <a:r>
              <a:rPr lang="ko-KR" altLang="en-US" sz="1200" spc="-50" dirty="0"/>
              <a:t>년 지역별 태양광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태양열 발전용량</a:t>
            </a:r>
            <a:r>
              <a:rPr lang="en-US" altLang="ko-KR" sz="1200" spc="-50" dirty="0"/>
              <a:t> (MW)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49933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4800-6A31-BE4A-1C3E-37209082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203F97-3BAF-41AD-F46D-57F13EE0D0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9F4BD-CC08-2E50-779F-24250045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06F8B0-54A2-FB67-C649-ED9D81CA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정책도구와 정부의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893974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9891-340E-22A8-5F7D-4962C2117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B8B08-9055-8DF6-CE94-06E36481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확대를 위한 정책도구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0E28AB-25F3-31BE-F7A1-B50AE052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734DCD-5F60-A4AE-DC0F-40B8A0B22A56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시장에 맡길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외부효과의 과소반영</a:t>
            </a:r>
            <a:r>
              <a:rPr lang="en-US" altLang="ko-KR" sz="1600" dirty="0"/>
              <a:t>, </a:t>
            </a:r>
            <a:r>
              <a:rPr lang="ko-KR" altLang="en-US" sz="1600" dirty="0"/>
              <a:t>초기 비용 부담</a:t>
            </a:r>
            <a:r>
              <a:rPr lang="en-US" altLang="ko-KR" sz="1600" dirty="0"/>
              <a:t>, </a:t>
            </a:r>
            <a:r>
              <a:rPr lang="ko-KR" altLang="en-US" sz="1600" dirty="0"/>
              <a:t>시장실패 등으로 인해 충분한 공급이 이루어지기 어렵기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정책적 개입이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수단으로 발전차액지원제도</a:t>
            </a:r>
            <a:r>
              <a:rPr lang="en-US" altLang="ko-KR" sz="1600" dirty="0"/>
              <a:t>(FIT: Feed-in Tariff), </a:t>
            </a:r>
            <a:r>
              <a:rPr lang="ko-KR" altLang="en-US" sz="1600" dirty="0"/>
              <a:t>신재생에너지 공급의무제도</a:t>
            </a:r>
            <a:r>
              <a:rPr lang="en-US" altLang="ko-KR" sz="1600" dirty="0"/>
              <a:t>(RPS: Renewable Portfolio Standard), </a:t>
            </a:r>
            <a:r>
              <a:rPr lang="ko-KR" altLang="en-US" sz="1600" dirty="0" err="1"/>
              <a:t>탄소세</a:t>
            </a:r>
            <a:r>
              <a:rPr lang="ko-KR" altLang="en-US" sz="1600" dirty="0"/>
              <a:t> 등이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각 제도는 경제적 유인 제공 방식과 시장에 미치는 영향에서 차이를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위 정책들은 상호보완적으로 운영되고</a:t>
            </a:r>
            <a:r>
              <a:rPr lang="en-US" altLang="ko-KR" sz="1600" dirty="0"/>
              <a:t>, </a:t>
            </a:r>
            <a:r>
              <a:rPr lang="ko-KR" altLang="en-US" sz="1600" dirty="0"/>
              <a:t>목적에 따라 정책들이 조합되어 운영되기도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발전차액제도</a:t>
            </a:r>
            <a:r>
              <a:rPr lang="en-US" altLang="ko-KR" sz="1600" dirty="0"/>
              <a:t>(FIT)</a:t>
            </a:r>
            <a:r>
              <a:rPr lang="ko-KR" altLang="en-US" sz="1600" dirty="0"/>
              <a:t>는 일정 기간 동안 재생에너지 발전 사업자에게 시장가격보다 높은 고정가격으로 전력 구매를 보장해주는 제도이다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투자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예측 가능성을 제공하여 초기 시장 형성에 매우 효과적인 정책으로</a:t>
            </a:r>
            <a:r>
              <a:rPr lang="en-US" altLang="ko-KR" sz="1600" dirty="0"/>
              <a:t>, </a:t>
            </a:r>
            <a:r>
              <a:rPr lang="ko-KR" altLang="en-US" sz="1600" dirty="0"/>
              <a:t>독일</a:t>
            </a:r>
            <a:r>
              <a:rPr lang="en-US" altLang="ko-KR" sz="1600" dirty="0"/>
              <a:t>, </a:t>
            </a:r>
            <a:r>
              <a:rPr lang="ko-KR" altLang="en-US" sz="1600" dirty="0"/>
              <a:t>스페인</a:t>
            </a:r>
            <a:r>
              <a:rPr lang="en-US" altLang="ko-KR" sz="1600" dirty="0"/>
              <a:t>, </a:t>
            </a:r>
            <a:r>
              <a:rPr lang="ko-KR" altLang="en-US" sz="1600" dirty="0"/>
              <a:t>일본 등에서 재생에너지의 확산을 이끈 주된 제도로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발전차액제도는 기술별로 차등가격을 설정함으로써 기술 다양성과 소규모 분산형 자원의 참여를 유도할 수 있다는 장점이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단점으로는 가격 설정이 잘못되면 과잉보상</a:t>
            </a:r>
            <a:r>
              <a:rPr lang="en-US" altLang="ko-KR" sz="1600" dirty="0"/>
              <a:t>, </a:t>
            </a:r>
            <a:r>
              <a:rPr lang="ko-KR" altLang="en-US" sz="1600" dirty="0"/>
              <a:t>재정 부담이 초래되고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유연성이 떨어질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2812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A563-C1AB-306A-561F-AF04DF98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657D4-E5D7-467A-48A8-74A80EF07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 확대를 위한 정책도구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94CD40-4706-216C-6A49-116C298F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46C9C-3E0D-1B8F-1080-FF8C868CD98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신재생에너지 공급의무제도</a:t>
            </a:r>
            <a:r>
              <a:rPr lang="en-US" altLang="ko-KR" sz="1600" dirty="0"/>
              <a:t>(RPS)</a:t>
            </a:r>
            <a:r>
              <a:rPr lang="ko-KR" altLang="en-US" sz="1600" dirty="0"/>
              <a:t>는 일정 규모 이상의 발전사업자가 전체 발전량 중 일정 비율 이상을 재생에너지로 공급하도록 법적으로 의무화하는 제도이다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의무비율은 해마다 상향 조정될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공급 증서를 거래하는 방식으로 유연성을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등에서 널리 시행되고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기반의 경쟁 유도를 통해 재생에너지 단가 하락을 유인한다는 점에서 </a:t>
            </a:r>
            <a:r>
              <a:rPr lang="en-US" altLang="ko-KR" sz="1600" dirty="0"/>
              <a:t>FIT</a:t>
            </a:r>
            <a:r>
              <a:rPr lang="ko-KR" altLang="en-US" sz="1600" dirty="0"/>
              <a:t>와 대조된다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단점으로는 의무비율이 과소하거나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공급인증서 가격 변동성이 클 경우 투자 유인이 불충분할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기술에 편중될 우려도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탄소세는 온실가스를 배출하는 화석연료의 사용에 대해 세금을 부과하는 대표적인 가격 기반 정책이다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탄소세는 재생에너지에 대한 직접적인 보조 대신</a:t>
            </a:r>
            <a:r>
              <a:rPr lang="en-US" altLang="ko-KR" sz="1600" dirty="0"/>
              <a:t>, </a:t>
            </a:r>
            <a:r>
              <a:rPr lang="ko-KR" altLang="en-US" sz="1600" dirty="0"/>
              <a:t>화석연료의 상대적 가격을 상승시켜 시장 내에서 재생에너지의 경쟁력을 높이는 간접적 유인 구조를 갖는다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스웨덴</a:t>
            </a:r>
            <a:r>
              <a:rPr lang="en-US" altLang="ko-KR" sz="1600" dirty="0"/>
              <a:t>, </a:t>
            </a:r>
            <a:r>
              <a:rPr lang="ko-KR" altLang="en-US" sz="1600" dirty="0"/>
              <a:t>핀란드</a:t>
            </a:r>
            <a:r>
              <a:rPr lang="en-US" altLang="ko-KR" sz="1600" dirty="0"/>
              <a:t>, </a:t>
            </a:r>
            <a:r>
              <a:rPr lang="ko-KR" altLang="en-US" sz="1600" dirty="0"/>
              <a:t>캐나다 등이 활용하고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왜곡이 적고 경제 전반에 균등한 신호를 제공한다는 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적정 세율 설정</a:t>
            </a:r>
            <a:r>
              <a:rPr lang="en-US" altLang="ko-KR" sz="1600" dirty="0"/>
              <a:t>, </a:t>
            </a:r>
            <a:r>
              <a:rPr lang="ko-KR" altLang="en-US" sz="1600" dirty="0"/>
              <a:t>산업 부담 조정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 확보 등의 과제가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초기 시장 형성기에는 발전차액제도가 효과적이고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시장이 형성된 후에는 </a:t>
            </a:r>
            <a:r>
              <a:rPr lang="en-US" altLang="ko-KR" sz="1600" spc="-100" dirty="0"/>
              <a:t>RPS</a:t>
            </a:r>
            <a:r>
              <a:rPr lang="ko-KR" altLang="en-US" sz="1600" spc="-100" dirty="0"/>
              <a:t>와 </a:t>
            </a:r>
            <a:r>
              <a:rPr lang="ko-KR" altLang="en-US" sz="1600" spc="-100" dirty="0" err="1"/>
              <a:t>탄소세</a:t>
            </a:r>
            <a:r>
              <a:rPr lang="ko-KR" altLang="en-US" sz="1600" spc="-100" dirty="0"/>
              <a:t> 중심으로 전환하는 것이 일반적이다</a:t>
            </a:r>
            <a:r>
              <a:rPr lang="en-US" altLang="ko-KR" sz="1600" spc="-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727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6E6F-C1C5-7BD0-D413-5803074A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B3FEF-5D28-F59E-A023-C23CA0410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 실패와 보조금의 효율성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FA527-1C3C-F833-D768-2EB29741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308BA-08AA-5A5A-906D-4700072DA4BE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본 대로</a:t>
            </a:r>
            <a:r>
              <a:rPr lang="en-US" altLang="ko-KR" sz="1600" dirty="0"/>
              <a:t> </a:t>
            </a:r>
            <a:r>
              <a:rPr lang="ko-KR" altLang="en-US" sz="1600" dirty="0"/>
              <a:t>재생에너지 보급을 위한 보조금 정책은 시장실패를 보완하고 기술 혁신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확산을 촉진하는 유효한 정책 수단이지만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그 자체가 정책 실패를 초래할 가능성이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보조금의 과잉지급은 시장 가격 신호를 왜곡하고 비효율적인 투자를 유도할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/>
              <a:t>발전차액지원제도</a:t>
            </a:r>
            <a:r>
              <a:rPr lang="en-US" altLang="ko-KR" sz="1600" dirty="0"/>
              <a:t>(FIT)</a:t>
            </a:r>
            <a:r>
              <a:rPr lang="ko-KR" altLang="en-US" sz="1600" dirty="0"/>
              <a:t>가 지나치게 높은 고정가격을 보장할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단기적으로는 설치가 급증하더라도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장기적으로는 과잉설비와 </a:t>
            </a:r>
            <a:r>
              <a:rPr lang="ko-KR" altLang="en-US" sz="1600" dirty="0" err="1"/>
              <a:t>전력망</a:t>
            </a:r>
            <a:r>
              <a:rPr lang="ko-KR" altLang="en-US" sz="1600" dirty="0"/>
              <a:t> 혼잡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 재정 고갈 등의 부작용을 초래할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보조금은 기술 간 경쟁을 왜곡하거나 특정 산업에 대한 비효율적 편향을 유발할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특정 기술에만 높은 보조금이 지급될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실제로는 보다 효율적인 기술이 시장에서 밀려나고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장기적으로는 기술 다양성과 기술 혁신 유인이 감소할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</a:t>
            </a:r>
            <a:r>
              <a:rPr lang="ko-KR" altLang="en-US" sz="1600" dirty="0"/>
              <a:t> 보조금의 지속성 및 정책 일관성 부족은 투자자 신뢰를 저하시켜 시장의 불확실성을 증대 시킨다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 프로젝트는 장기적인 관점에서 투자 결정을 내리기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 체계가 자주 변경되거나 예측 가능성이 낮으면 민간 투자의 위축으로 이어질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보조금이 소득 역진적 효과를 낳을 수도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고소득 가구가 태양광 패널 설치를 통해 보조금 제도를 더 많이 활용할 수 있는 반면</a:t>
            </a:r>
            <a:r>
              <a:rPr lang="en-US" altLang="ko-KR" sz="1600" dirty="0"/>
              <a:t>, </a:t>
            </a:r>
            <a:r>
              <a:rPr lang="ko-KR" altLang="en-US" sz="1600" dirty="0"/>
              <a:t>저소득 가구는 전력요금 상승만을 부담하는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분배의 불평등이 확대될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91644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4D2D-5A23-A453-CDA0-BA196469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7D57F7-528C-E907-0862-13D4ECBA77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E9D23-304B-C48E-FDF0-971C27F4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C9CE03-867E-E3F5-173E-5E77BC819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재생에너지의 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291803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7917-0049-C88C-935B-66F322F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910E-4024-1FCD-ABD9-94B6E602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재생에너지의 경제적 가능성과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D4952B-C598-35A0-F648-48D57AF1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7CA5-C853-BEB2-4538-4B60F4A58147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설명한 재생에너지의 경제적 특성들을 종합해보면 다음과 같다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재생에너지의 가장 큰 가능성은 비용 경쟁력 확보이다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기술 개발</a:t>
            </a:r>
            <a:r>
              <a:rPr lang="en-US" altLang="ko-KR" sz="1600" dirty="0"/>
              <a:t>, </a:t>
            </a:r>
            <a:r>
              <a:rPr lang="ko-KR" altLang="en-US" sz="1600" dirty="0"/>
              <a:t>규모의 경제 등으로 인해 균등화 발전비용의 비약적인 감소를 이루었다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연료비 부담이 없기 때문에 에너지 안보 측면에서 유리하다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수입 의존도가 높은 국가에서는 외화 절감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자립이라는 편익을 누릴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</a:t>
            </a:r>
            <a:r>
              <a:rPr lang="ko-KR" altLang="en-US" sz="1600" dirty="0"/>
              <a:t>재생에너지 산업은 고용 창출과 지역경제 활성화에도 기여할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 프로젝트는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설치</a:t>
            </a:r>
            <a:r>
              <a:rPr lang="en-US" altLang="ko-KR" sz="1600" dirty="0"/>
              <a:t>, </a:t>
            </a:r>
            <a:r>
              <a:rPr lang="ko-KR" altLang="en-US" sz="1600" dirty="0"/>
              <a:t>유지관리 등에서 노동집약적인 특성이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308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C89B-723D-1776-EA0C-E50BB06D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93237-39C0-4AB0-4473-07FE5EF7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재생에너지의 경제적 가능성과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4AD3C-69F3-98E6-99C1-3466ED2F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02E7C-62A0-62E7-03F1-67F5BC4DF9B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 재생에너지는 여러 경제적 제약을 안고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간헐성과 비제어성이다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특성은 추가적인 </a:t>
            </a:r>
            <a:r>
              <a:rPr lang="ko-KR" altLang="en-US" sz="1600" dirty="0" err="1"/>
              <a:t>예비력</a:t>
            </a:r>
            <a:r>
              <a:rPr lang="en-US" altLang="ko-KR" sz="1600" dirty="0"/>
              <a:t>, </a:t>
            </a:r>
            <a:r>
              <a:rPr lang="ko-KR" altLang="en-US" sz="1600" dirty="0"/>
              <a:t>저장설비</a:t>
            </a:r>
            <a:r>
              <a:rPr lang="en-US" altLang="ko-KR" sz="1600" dirty="0"/>
              <a:t>, </a:t>
            </a:r>
            <a:r>
              <a:rPr lang="ko-KR" altLang="en-US" sz="1600" dirty="0"/>
              <a:t>계통 보강 </a:t>
            </a:r>
            <a:r>
              <a:rPr lang="ko-KR" altLang="en-US" sz="1600" dirty="0" err="1"/>
              <a:t>비용등을</a:t>
            </a:r>
            <a:r>
              <a:rPr lang="ko-KR" altLang="en-US" sz="1600" dirty="0"/>
              <a:t> 발생시켜 시스템 전체 비용을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입지 제약과 자원 편재성도 경제성을 제한할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태양광은 면적이 넓고 일사량이 많은 지역에서 경제성이 확보되므로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도시화가 밀집된 환경</a:t>
            </a:r>
            <a:r>
              <a:rPr lang="en-US" altLang="ko-KR" sz="1600" dirty="0"/>
              <a:t>·</a:t>
            </a:r>
            <a:r>
              <a:rPr lang="ko-KR" altLang="en-US" sz="1600" dirty="0"/>
              <a:t>주민수용성이 낮은 지역에서는 님비</a:t>
            </a:r>
            <a:r>
              <a:rPr lang="en-US" altLang="ko-KR" sz="1600" dirty="0"/>
              <a:t>(NIMBY)</a:t>
            </a:r>
            <a:r>
              <a:rPr lang="ko-KR" altLang="en-US" sz="1600" dirty="0"/>
              <a:t>현상으로 인해 사회적 비용이 발생할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발전과 투자 확대를 위한 정책적 불확실성 또한 경제성 확보에 장애 요인이 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정부 정책의 잦은 변경과 제도적 예측 가능성이 낮을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민간 투자가 위축되고 금융비용이 상승한다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재생에너지가 에너지시장에 미치는 가격 왜곡 효과가 발생할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발전 단가가 낮고 한계비용 부담이 없는 재생에너지가 공급되면</a:t>
            </a:r>
            <a:r>
              <a:rPr lang="en-US" altLang="ko-KR" sz="1600" dirty="0"/>
              <a:t>, </a:t>
            </a:r>
            <a:r>
              <a:rPr lang="ko-KR" altLang="en-US" sz="1600" dirty="0"/>
              <a:t>전체 전력시장 가격이 하락하고</a:t>
            </a:r>
            <a:r>
              <a:rPr lang="en-US" altLang="ko-KR" sz="1600" dirty="0"/>
              <a:t>, </a:t>
            </a:r>
            <a:r>
              <a:rPr lang="ko-KR" altLang="en-US" sz="1600" dirty="0"/>
              <a:t>기존 발전자원과 재생에너지 자체의 수익성에도 부정적인 영향을 미칠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074543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4A7E-01AD-E830-755A-77506278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044D9-3711-D773-265A-B5EB9B33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분산형 에너지와 지역경제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50D43-213C-051F-BFCD-280F7560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A6876-4EE5-F918-93B7-ACE77E5BDEFC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 시스템이 중앙집중형에서 분산형으로 전환됨에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지역단위의 에너지 생산</a:t>
            </a:r>
            <a:r>
              <a:rPr lang="en-US" altLang="ko-KR" sz="1600" dirty="0"/>
              <a:t>·</a:t>
            </a:r>
            <a:r>
              <a:rPr lang="ko-KR" altLang="en-US" sz="1600" dirty="0"/>
              <a:t>소비</a:t>
            </a:r>
            <a:r>
              <a:rPr lang="en-US" altLang="ko-KR" sz="1600" dirty="0"/>
              <a:t> </a:t>
            </a:r>
            <a:r>
              <a:rPr lang="ko-KR" altLang="en-US" sz="1600" dirty="0"/>
              <a:t>모델이 부상하고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내 투자 및 고용 창출효과가 발생할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내 에너지 자립도 향상과 외부 의존성 감소를 통해 지역의 구조적 지속가능성을 높인다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기존의 많은 도시들은 전력 소비를 외부 공급망에 의존했지만</a:t>
            </a:r>
            <a:r>
              <a:rPr lang="en-US" altLang="ko-KR" sz="1600" dirty="0"/>
              <a:t>, </a:t>
            </a:r>
            <a:r>
              <a:rPr lang="ko-KR" altLang="en-US" sz="1600" dirty="0"/>
              <a:t>분산형 에너지는 지역 내 자원을 기반으로 운영되므로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송전 손실 감소</a:t>
            </a:r>
            <a:r>
              <a:rPr lang="en-US" altLang="ko-KR" sz="1600" dirty="0"/>
              <a:t>, </a:t>
            </a:r>
            <a:r>
              <a:rPr lang="ko-KR" altLang="en-US" sz="1600" dirty="0"/>
              <a:t>계통 부담 완화</a:t>
            </a:r>
            <a:r>
              <a:rPr lang="en-US" altLang="ko-KR" sz="1600" dirty="0"/>
              <a:t> </a:t>
            </a:r>
            <a:r>
              <a:rPr lang="ko-KR" altLang="en-US" sz="1600" dirty="0"/>
              <a:t>등의 효과를 가져온다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시민 참여와 지역 거버넌스를 확대하는 기반이 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시민이 직접 에너지 생산에 참여하는 생산소비자</a:t>
            </a:r>
            <a:r>
              <a:rPr lang="en-US" altLang="ko-KR" sz="1600" dirty="0"/>
              <a:t>(prosumer)</a:t>
            </a:r>
            <a:r>
              <a:rPr lang="ko-KR" altLang="en-US" sz="1600" dirty="0"/>
              <a:t>모델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협동조합</a:t>
            </a:r>
            <a:r>
              <a:rPr lang="en-US" altLang="ko-KR" sz="1600" dirty="0"/>
              <a:t>, </a:t>
            </a:r>
            <a:r>
              <a:rPr lang="ko-KR" altLang="en-US" sz="1600" dirty="0"/>
              <a:t>지역 기반 전력회사 등이 도입되면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전환은 단순한 기술 변화가 아닌 민주적 참여와 지역 사회 역량 강화로 이어진다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분산형 에너지는 지역 맞춤형 에너지 전략과 산업 다각화의 계기를 제공한다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/>
              <a:t>축산이 발달한 지역은 바이오가스</a:t>
            </a:r>
            <a:r>
              <a:rPr lang="en-US" altLang="ko-KR" sz="1600" dirty="0"/>
              <a:t>, </a:t>
            </a:r>
            <a:r>
              <a:rPr lang="ko-KR" altLang="en-US" sz="1600" dirty="0"/>
              <a:t>일사량이 풍부한 지역은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수자원이 풍부한 지역은 </a:t>
            </a:r>
            <a:r>
              <a:rPr lang="ko-KR" altLang="en-US" sz="1600" dirty="0" err="1"/>
              <a:t>소수력</a:t>
            </a:r>
            <a:r>
              <a:rPr lang="ko-KR" altLang="en-US" sz="1600" dirty="0"/>
              <a:t> 등의 자원을 활용함으로써 지역 특화형 산업 모델과도 결합될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동시에 분산형 에너지에는 제도적 기술적 장벽도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송배전망 접속</a:t>
            </a:r>
            <a:r>
              <a:rPr lang="en-US" altLang="ko-KR" sz="1600" dirty="0"/>
              <a:t>, </a:t>
            </a:r>
            <a:r>
              <a:rPr lang="ko-KR" altLang="en-US" sz="1600" dirty="0"/>
              <a:t>계통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요금 체계</a:t>
            </a:r>
            <a:r>
              <a:rPr lang="en-US" altLang="ko-KR" sz="1600" dirty="0"/>
              <a:t>, </a:t>
            </a:r>
            <a:r>
              <a:rPr lang="ko-KR" altLang="en-US" sz="1600" dirty="0"/>
              <a:t>인허가 간소화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투자금 등의 문제는 지역에서 감당하기 어려우므로</a:t>
            </a:r>
            <a:r>
              <a:rPr lang="en-US" altLang="ko-KR" sz="1600" dirty="0"/>
              <a:t>, </a:t>
            </a:r>
            <a:r>
              <a:rPr lang="ko-KR" altLang="en-US" sz="1600" dirty="0"/>
              <a:t>국가의 정책 지원과 </a:t>
            </a:r>
            <a:r>
              <a:rPr lang="ko-KR" altLang="en-US" sz="1600" dirty="0" err="1"/>
              <a:t>분권화된</a:t>
            </a:r>
            <a:r>
              <a:rPr lang="ko-KR" altLang="en-US" sz="1600" dirty="0"/>
              <a:t> 제도 설계가 필요하다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861844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13345</TotalTime>
  <Words>5568</Words>
  <Application>Microsoft Office PowerPoint</Application>
  <PresentationFormat>와이드스크린</PresentationFormat>
  <Paragraphs>765</Paragraphs>
  <Slides>49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7  재생에너지</vt:lpstr>
      <vt:lpstr>Section 1. 개 론</vt:lpstr>
      <vt:lpstr>정의와 분류</vt:lpstr>
      <vt:lpstr>전통적 에너지원과의 비교</vt:lpstr>
      <vt:lpstr>전통적 에너지원과의 비교</vt:lpstr>
      <vt:lpstr>재생에너지의 확산 배경</vt:lpstr>
      <vt:lpstr>Section 2. 주요 재생에너지 종류와 특성</vt:lpstr>
      <vt:lpstr>태양광</vt:lpstr>
      <vt:lpstr>풍력</vt:lpstr>
      <vt:lpstr>풍력</vt:lpstr>
      <vt:lpstr>수력</vt:lpstr>
      <vt:lpstr>수력</vt:lpstr>
      <vt:lpstr>바이오에너지</vt:lpstr>
      <vt:lpstr>바이오에너지</vt:lpstr>
      <vt:lpstr>지열에너지</vt:lpstr>
      <vt:lpstr>지열에너지</vt:lpstr>
      <vt:lpstr>Section 3. 재생에너지의 경제적 특성</vt:lpstr>
      <vt:lpstr>높은 초기 고정비와 낮은 한계비용</vt:lpstr>
      <vt:lpstr>간헐성 및 비제어성의 경제적 함의</vt:lpstr>
      <vt:lpstr>간헐성 및 비제어성의 경제적 함의</vt:lpstr>
      <vt:lpstr>규모의 경제와 학습곡선</vt:lpstr>
      <vt:lpstr>규모의 경제와 학습곡선</vt:lpstr>
      <vt:lpstr>외부효과 및 사회적 편익</vt:lpstr>
      <vt:lpstr>외부효과 및 사회적 편익</vt:lpstr>
      <vt:lpstr>Section 4. 재생에너지의 비용추이와 경쟁력</vt:lpstr>
      <vt:lpstr>균등화 발전비용의 변화</vt:lpstr>
      <vt:lpstr>균등화 발전비용의 변화</vt:lpstr>
      <vt:lpstr>재생에너지 vs. 화석연료 발전의 경제성 비교</vt:lpstr>
      <vt:lpstr>재생에너지 vs. 화석연료 발전의 경제성 비교</vt:lpstr>
      <vt:lpstr>Section 5. 전력시스템 내 재생에너지의 역할</vt:lpstr>
      <vt:lpstr>전력망 통합문제</vt:lpstr>
      <vt:lpstr>보완성과 저장기술의 중요성</vt:lpstr>
      <vt:lpstr>전력시장 구조와 재생에너지의 적응</vt:lpstr>
      <vt:lpstr>전력시장 구조와 재생에너지의 적응</vt:lpstr>
      <vt:lpstr>Section 6. 재생에너지에 의한 전력생산</vt:lpstr>
      <vt:lpstr>전세계 지역별 재생에너지 발전량</vt:lpstr>
      <vt:lpstr>전력시장 구조와 재생에너지의 적응</vt:lpstr>
      <vt:lpstr>전세계 지역별 태양광 및 태양열 발전 용량</vt:lpstr>
      <vt:lpstr>전세계 지역별 풍력 발전 용량</vt:lpstr>
      <vt:lpstr>Section 7. 정책도구와 정부의 역할</vt:lpstr>
      <vt:lpstr>재생에너지 확대를 위한 정책도구</vt:lpstr>
      <vt:lpstr>재생에너지 확대를 위한 정책도구</vt:lpstr>
      <vt:lpstr>정책 실패와 보조금의 효율성 문제</vt:lpstr>
      <vt:lpstr>Section 8. 재생에너지의 미래</vt:lpstr>
      <vt:lpstr>재생에너지의 경제적 가능성과 한계</vt:lpstr>
      <vt:lpstr>재생에너지의 경제적 가능성과 한계</vt:lpstr>
      <vt:lpstr>분산형 에너지와 지역경제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644</cp:revision>
  <dcterms:created xsi:type="dcterms:W3CDTF">2025-07-05T05:15:23Z</dcterms:created>
  <dcterms:modified xsi:type="dcterms:W3CDTF">2026-08-28T04:44:45Z</dcterms:modified>
</cp:coreProperties>
</file>