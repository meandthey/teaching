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375" r:id="rId2"/>
    <p:sldId id="405" r:id="rId3"/>
    <p:sldId id="648" r:id="rId4"/>
    <p:sldId id="376" r:id="rId5"/>
    <p:sldId id="649" r:id="rId6"/>
    <p:sldId id="650" r:id="rId7"/>
    <p:sldId id="651" r:id="rId8"/>
    <p:sldId id="652" r:id="rId9"/>
    <p:sldId id="653" r:id="rId10"/>
    <p:sldId id="654" r:id="rId11"/>
    <p:sldId id="659" r:id="rId12"/>
    <p:sldId id="658" r:id="rId13"/>
    <p:sldId id="656" r:id="rId14"/>
    <p:sldId id="661" r:id="rId15"/>
    <p:sldId id="662" r:id="rId16"/>
    <p:sldId id="665" r:id="rId17"/>
    <p:sldId id="666" r:id="rId18"/>
    <p:sldId id="660" r:id="rId19"/>
    <p:sldId id="657" r:id="rId20"/>
    <p:sldId id="667" r:id="rId21"/>
    <p:sldId id="59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9" autoAdjust="0"/>
    <p:restoredTop sz="91885" autoAdjust="0"/>
  </p:normalViewPr>
  <p:slideViewPr>
    <p:cSldViewPr snapToGrid="0">
      <p:cViewPr varScale="1">
        <p:scale>
          <a:sx n="146" d="100"/>
          <a:sy n="146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- 8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/>
              <a:t>Chapter 8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전력시장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D94-3D3D-8B63-B659-4FE8F33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BB767-B954-7A46-8835-203A64EC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62FE-4457-6E04-699D-4394298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DE58E5-97B8-49D7-76B3-F3F82A86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서론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897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전력시장은 경제학적으로나 기술적으로 매우 독특한 속성을 지닌 시장이다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현대 경제와 사회의 필수재로서</a:t>
            </a:r>
            <a:r>
              <a:rPr lang="en-US" altLang="ko-KR" sz="1600" dirty="0"/>
              <a:t>, </a:t>
            </a:r>
            <a:r>
              <a:rPr lang="ko-KR" altLang="en-US" sz="1600" dirty="0"/>
              <a:t>그 생산과 소비는 국가 경제의 전반적인 효율성과 지속가능성에 중대한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물리적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특성상 여타 상품과는 구별되는 독특한 속성을 지니며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전력시장은 특수한 제도적 설계와 운영방식을 필요로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위의 특성은 전력산업이 전통적으로 국가에 의해 규제되거나 공공독점 형태로 운영되어 온 역사적 이유이기도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오늘날 전력시장의 설계와 정책 결정에 핵심적 고려사항이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F796-991A-C211-A071-C8EAE870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3BA733-8A76-25CF-CA7C-309D19BB04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5A13B-2E35-7EC7-5C13-87A0E785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A804112-93AE-364B-6DCF-7FF93318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전력시장의 특징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73323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B9DE-EF76-0025-8288-6F23149E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017E6-D608-0A46-DDBD-BCA0F8DA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전력시장의 특징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CC47-E0A0-A395-19C5-1BAF5A81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ADA2C-2F19-6FF1-5D1B-BA5F020133A0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전력시장의 가장 핵심적인 특성은 실시간으로 수요와 공급의 균형이 유지되어야 한다는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매 순간 발전된 전력은 곧바로 수요자에게 전달되어야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수요와 공급이 실시간으로 일치하지 않으면 전력시스템 전체의 안정성에 심각한 영향을 초래할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전력은 경제적으로 효율적인 저장이 매우 제한적이다</a:t>
            </a:r>
            <a:r>
              <a:rPr lang="en-US" altLang="ko-KR" sz="1600" dirty="0"/>
              <a:t>. (ex.</a:t>
            </a:r>
            <a:r>
              <a:rPr lang="ko-KR" altLang="en-US" sz="1600" dirty="0"/>
              <a:t> 배터리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일반적인 상품시장에서는 공급자와 수요자 간의 거래가 이루어진 후</a:t>
            </a:r>
            <a:r>
              <a:rPr lang="en-US" altLang="ko-KR" sz="1600" dirty="0"/>
              <a:t>, </a:t>
            </a:r>
            <a:r>
              <a:rPr lang="ko-KR" altLang="en-US" sz="1600" dirty="0"/>
              <a:t>상품은 재고로 저장되거나 유통된다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특성은 시장 가격이 단순히 수급 균형을 반영하는 수준을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운영의 물리적 안정성과 직결된다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발전량이 수요를 초과하거나 부족할 경우 전력망의 주파수나 전압이 허용 범위를 벗어나게 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전체 계통의 정전이나 장비 손상으로 이어질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전력시장에서는 실시간 시장과 일전 시장</a:t>
            </a:r>
            <a:r>
              <a:rPr lang="en-US" altLang="ko-KR" sz="1600" dirty="0"/>
              <a:t>(day-ahead market)</a:t>
            </a:r>
            <a:r>
              <a:rPr lang="ko-KR" altLang="en-US" sz="1600" dirty="0"/>
              <a:t>이 존재하고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계통 운영자는 수요 예측</a:t>
            </a:r>
            <a:r>
              <a:rPr lang="en-US" altLang="ko-KR" sz="1600" dirty="0"/>
              <a:t>, </a:t>
            </a:r>
            <a:r>
              <a:rPr lang="ko-KR" altLang="en-US" sz="1600" dirty="0"/>
              <a:t>발전계획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안정성 등을 모두 고려하여 실시간 균형을 유지한다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79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2B78-6921-11C3-2240-C1288CD4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40ECE-3BAE-AC18-E4D1-2D436CB8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전력시장의 특징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9DA229-486A-A260-4FC6-F9B20C78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C0C4D-78C0-884D-0A7E-A91B9EB0E82E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전력시장의 두번째 특징은 기술적 복잡성과 중앙 운영의 필요성이다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단순히 생산되어 소비자에게 전달되는 것이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복잡하게 얽힌 송배전망을 통해 운송되어야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전력망은 발전소</a:t>
            </a:r>
            <a:r>
              <a:rPr lang="en-US" altLang="ko-KR" sz="1600" dirty="0"/>
              <a:t> &gt; </a:t>
            </a:r>
            <a:r>
              <a:rPr lang="ko-KR" altLang="en-US" sz="1600" dirty="0"/>
              <a:t>변전소 </a:t>
            </a:r>
            <a:r>
              <a:rPr lang="en-US" altLang="ko-KR" sz="1600" dirty="0"/>
              <a:t>&gt; </a:t>
            </a:r>
            <a:r>
              <a:rPr lang="ko-KR" altLang="en-US" sz="1600" dirty="0"/>
              <a:t>송전선로 </a:t>
            </a:r>
            <a:r>
              <a:rPr lang="en-US" altLang="ko-KR" sz="1600" dirty="0"/>
              <a:t>&gt; </a:t>
            </a:r>
            <a:r>
              <a:rPr lang="ko-KR" altLang="en-US" sz="1600" dirty="0" err="1"/>
              <a:t>배전망</a:t>
            </a:r>
            <a:r>
              <a:rPr lang="ko-KR" altLang="en-US" sz="1600" dirty="0"/>
              <a:t> </a:t>
            </a:r>
            <a:r>
              <a:rPr lang="en-US" altLang="ko-KR" sz="1600" dirty="0"/>
              <a:t>&gt; </a:t>
            </a:r>
            <a:r>
              <a:rPr lang="ko-KR" altLang="en-US" sz="1600" dirty="0"/>
              <a:t>소비자 등으로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 간의 연계가 전력의 흐름과 품질에 결정적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송전망은 </a:t>
            </a:r>
            <a:r>
              <a:rPr lang="ko-KR" altLang="en-US" sz="1600" dirty="0" err="1"/>
              <a:t>키르히호프의</a:t>
            </a:r>
            <a:r>
              <a:rPr lang="ko-KR" altLang="en-US" sz="1600" dirty="0"/>
              <a:t> 법칙에 따라 전력이 자동으로 흐르고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단순한 시장 메커니즘으로 제어하기 힘들다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기술제약으로 인해 대부분의 전력시장에서는 중립적인 중앙 운영기관</a:t>
            </a:r>
            <a:r>
              <a:rPr lang="en-US" altLang="ko-KR" sz="1600" dirty="0"/>
              <a:t>, </a:t>
            </a:r>
            <a:r>
              <a:rPr lang="ko-KR" altLang="en-US" sz="1600" dirty="0"/>
              <a:t>즉 독립계통운영자가 설치되어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발전기의 입찰 결과를 바탕으로 시스템의 전체 균형을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송전 혼잡을 해소하며</a:t>
            </a:r>
            <a:r>
              <a:rPr lang="en-US" altLang="ko-KR" sz="1600" dirty="0"/>
              <a:t>, </a:t>
            </a:r>
            <a:r>
              <a:rPr lang="ko-KR" altLang="en-US" sz="1600" dirty="0"/>
              <a:t>안정적인 주파수와 전압을 유지하는 기능을 수행한다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496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318D-C204-359F-05F7-5EEBE8DE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91F01-C3BE-8F8D-CFA0-F63F96DC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전력시장의 특징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BC698F-5E92-A13B-9A91-29F4D4E1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111E5-BCD0-2685-245F-E37A80479FED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전력산업은 전통적으로 고정비용이 크고</a:t>
            </a:r>
            <a:r>
              <a:rPr lang="en-US" altLang="ko-KR" sz="1600" dirty="0"/>
              <a:t>, </a:t>
            </a:r>
            <a:r>
              <a:rPr lang="ko-KR" altLang="en-US" sz="1600" dirty="0"/>
              <a:t>규모의 경제가 작용하는 산업으로 분류된다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송배전</a:t>
            </a:r>
            <a:r>
              <a:rPr lang="en-US" altLang="ko-KR" sz="1600" dirty="0"/>
              <a:t>(</a:t>
            </a:r>
            <a:r>
              <a:rPr lang="ko-KR" altLang="en-US" sz="1600" dirty="0"/>
              <a:t>송전</a:t>
            </a:r>
            <a:r>
              <a:rPr lang="en-US" altLang="ko-KR" sz="1600" dirty="0"/>
              <a:t>·</a:t>
            </a:r>
            <a:r>
              <a:rPr lang="ko-KR" altLang="en-US" sz="1600" dirty="0"/>
              <a:t>배전</a:t>
            </a:r>
            <a:r>
              <a:rPr lang="en-US" altLang="ko-KR" sz="1600" dirty="0"/>
              <a:t>)</a:t>
            </a:r>
            <a:r>
              <a:rPr lang="ko-KR" altLang="en-US" sz="1600" dirty="0"/>
              <a:t> 부문은 동일 지역 내에 중복된 시설을 구축하는 것이 비효율적이므로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자연독점적 성격을 갖는다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많은 국가에서 전력산업은 오랫동안 정부 혹은 공공기관에 의해 운영되어 왔다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발전</a:t>
            </a:r>
            <a:r>
              <a:rPr lang="en-US" altLang="ko-KR" sz="1600" dirty="0"/>
              <a:t>-</a:t>
            </a:r>
            <a:r>
              <a:rPr lang="ko-KR" altLang="en-US" sz="1600" dirty="0"/>
              <a:t>송전</a:t>
            </a:r>
            <a:r>
              <a:rPr lang="en-US" altLang="ko-KR" sz="1600" dirty="0"/>
              <a:t>-</a:t>
            </a:r>
            <a:r>
              <a:rPr lang="ko-KR" altLang="en-US" sz="1600" dirty="0"/>
              <a:t>배전</a:t>
            </a:r>
            <a:r>
              <a:rPr lang="en-US" altLang="ko-KR" sz="1600" dirty="0"/>
              <a:t>-</a:t>
            </a:r>
            <a:r>
              <a:rPr lang="ko-KR" altLang="en-US" sz="1600" dirty="0"/>
              <a:t>소매 판매로 이어지는 수직통합 구조가 일반적이었다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</a:t>
            </a:r>
            <a:r>
              <a:rPr lang="en-US" altLang="ko-KR" sz="1600" dirty="0"/>
              <a:t>1990</a:t>
            </a:r>
            <a:r>
              <a:rPr lang="ko-KR" altLang="en-US" sz="1600" dirty="0"/>
              <a:t>년대 이후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국가에서는 전력산업의 효율성과 경쟁 촉진을 위해 수직통합 구조를 해체하고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및 판매 부문에 경쟁을 도입하는 구조개편이 진행되었다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시장화 정책은 기술적 제약과 경제적 효율성 간의 균형을 모색하는 과정이기도 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35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DEA5-6DBD-41F0-BE5D-669CBBA3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C3594-17A9-62D6-6976-120D56C9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전력시장의 특징 </a:t>
            </a:r>
            <a:r>
              <a:rPr lang="en-US" altLang="ko-KR" dirty="0"/>
              <a:t>(4]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7A198-E110-8E8A-CD4C-33A149ED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C31F0-5327-A02D-DF25-E3B118661706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전력수요는 일반적으로 단기적으로 가격에 매우 비탄력적이다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소비자들이 실시간 가격 정보를 잘 인식하지 못하고</a:t>
            </a:r>
            <a:r>
              <a:rPr lang="en-US" altLang="ko-KR" sz="1600" dirty="0"/>
              <a:t>, </a:t>
            </a:r>
            <a:r>
              <a:rPr lang="ko-KR" altLang="en-US" sz="1600" dirty="0"/>
              <a:t>소비 행태를 빠르게 조정하기 어렵기 때문이다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예를 들어</a:t>
            </a:r>
            <a:r>
              <a:rPr lang="en-US" altLang="ko-KR" sz="1600" dirty="0"/>
              <a:t>, </a:t>
            </a:r>
            <a:r>
              <a:rPr lang="ko-KR" altLang="en-US" sz="1600" dirty="0"/>
              <a:t>여름철 냉방기기의 사용은 가격과 무관하게 일정 수준 유지되고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첨두부하 시간대의 전력 수급 불균형과 가격 급등을 초래한다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 전력수요는 시간대별</a:t>
            </a:r>
            <a:r>
              <a:rPr lang="en-US" altLang="ko-KR" sz="1600" dirty="0"/>
              <a:t>, </a:t>
            </a:r>
            <a:r>
              <a:rPr lang="ko-KR" altLang="en-US" sz="1600" dirty="0"/>
              <a:t>계절별로 크게 변동한다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낮과 밤</a:t>
            </a:r>
            <a:r>
              <a:rPr lang="en-US" altLang="ko-KR" sz="1600" dirty="0"/>
              <a:t>, </a:t>
            </a:r>
            <a:r>
              <a:rPr lang="ko-KR" altLang="en-US" sz="1600" dirty="0"/>
              <a:t>주중과 주말</a:t>
            </a:r>
            <a:r>
              <a:rPr lang="en-US" altLang="ko-KR" sz="1600" dirty="0"/>
              <a:t>, </a:t>
            </a:r>
            <a:r>
              <a:rPr lang="ko-KR" altLang="en-US" sz="1600" dirty="0"/>
              <a:t>여름과 겨울 간의 수요 차이는 발전소 운영 계획에 큰 영향을 미치며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발전기별로 기저부하</a:t>
            </a:r>
            <a:r>
              <a:rPr lang="en-US" altLang="ko-KR" sz="1600" dirty="0"/>
              <a:t>, </a:t>
            </a:r>
            <a:r>
              <a:rPr lang="ko-KR" altLang="en-US" sz="1600" dirty="0"/>
              <a:t>중간부하</a:t>
            </a:r>
            <a:r>
              <a:rPr lang="en-US" altLang="ko-KR" sz="1600" dirty="0"/>
              <a:t>, </a:t>
            </a:r>
            <a:r>
              <a:rPr lang="ko-KR" altLang="en-US" sz="1600" dirty="0"/>
              <a:t>첨두부하로 나누어 운영되는 이유가 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구조는 수요 반응 프로그램이나 실시간 요금제를 통해 소비자의 가격 민감도를 높이려는 정책의 필요성을 시사한다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3040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0C99-E483-72CA-2213-2F13FEFE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6F3FD-67EA-4C30-B4E6-0E56F64C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전력시장의 특징 </a:t>
            </a:r>
            <a:r>
              <a:rPr lang="en-US" altLang="ko-KR" dirty="0"/>
              <a:t>(5]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2D18F-F3CE-1493-CD8E-23E90CD81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316FE-BD6B-8655-1579-4EF3A438509B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전력은 기술적으로 동질적인 재화지만</a:t>
            </a:r>
            <a:r>
              <a:rPr lang="en-US" altLang="ko-KR" sz="1600" dirty="0"/>
              <a:t>, </a:t>
            </a:r>
            <a:r>
              <a:rPr lang="ko-KR" altLang="en-US" sz="1600" dirty="0"/>
              <a:t>물리적 송전망의 제약으로 인해 지역간 가격 차이가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이는 송전 선로의 혼잡과 전력 손실 때문이고</a:t>
            </a:r>
            <a:r>
              <a:rPr lang="en-US" altLang="ko-KR" sz="1600" dirty="0"/>
              <a:t>, </a:t>
            </a:r>
            <a:r>
              <a:rPr lang="ko-KR" altLang="en-US" sz="1600" dirty="0"/>
              <a:t>일부 지역에서는 발전기 가동 순서가 기술적으로 제한될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상황을 반영하기 위해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유럽 등 주요 전력시장에서는 지역별 한계가격 체계를 도입하고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 한계가격은 각 위치에서 전력 공급의 한계비용을 반영한 가격으로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혼잡을 경제적으로 신호화하고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효율적인 송전 투자 및 수요 조정을 유도한다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7707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CE18-770D-1D53-2791-A674A909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CAE68A-36CB-D3DE-2B93-9D02BEB63F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0C4F1-5753-398E-A1C5-98FBB4E7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9A60CDF-E967-A8B9-F9D5-2EBC3DBA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전력시장의 운영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078767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1A47-0C0A-03E8-B5FD-921AB72A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1F85C-0F34-A4FA-96B3-3F77E8D0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전력계통 체계도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9A96EB-99E4-493D-08FD-040BBD1C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04DFF-5298-E56A-F908-26A17BC5079F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우리가 사용하는 전기는 아래의 흐름을 통해 공급된다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57D7A0-7C0A-6968-8196-BFE733A0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30"/>
          <a:stretch>
            <a:fillRect/>
          </a:stretch>
        </p:blipFill>
        <p:spPr>
          <a:xfrm>
            <a:off x="1252779" y="1468384"/>
            <a:ext cx="8926645" cy="50685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24B7179-B96B-EF6D-A8CB-91C9EF2A2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714" y="4190232"/>
            <a:ext cx="656880" cy="10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23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41AB-A89F-69D9-702B-FA29285E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05E9D-D2D0-6A22-2845-3E9ECDED8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전력계통 </a:t>
            </a:r>
            <a:r>
              <a:rPr lang="en-US" altLang="ko-KR" dirty="0"/>
              <a:t>(</a:t>
            </a:r>
            <a:r>
              <a:rPr lang="ko-KR" altLang="en-US" dirty="0"/>
              <a:t>발전부문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BE00E0-F8A5-F1BE-9968-C7FB07150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AC5EC-E5CC-3C6B-1079-B3F7B7E8F832}"/>
              </a:ext>
            </a:extLst>
          </p:cNvPr>
          <p:cNvSpPr txBox="1"/>
          <p:nvPr/>
        </p:nvSpPr>
        <p:spPr>
          <a:xfrm>
            <a:off x="288790" y="958844"/>
            <a:ext cx="10844029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발전이란 다양한 에너지원을 이용하여 전기에너지를 생산하는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발전원은 화력발전</a:t>
            </a:r>
            <a:r>
              <a:rPr lang="en-US" altLang="ko-KR" sz="1600" dirty="0"/>
              <a:t>(</a:t>
            </a:r>
            <a:r>
              <a:rPr lang="ko-KR" altLang="en-US" sz="1600" dirty="0"/>
              <a:t>석탄</a:t>
            </a:r>
            <a:r>
              <a:rPr lang="en-US" altLang="ko-KR" sz="1600" dirty="0"/>
              <a:t>, LNG), </a:t>
            </a:r>
            <a:r>
              <a:rPr lang="ko-KR" altLang="en-US" sz="1600" dirty="0"/>
              <a:t>원자력발전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재생에너지발전</a:t>
            </a:r>
            <a:r>
              <a:rPr lang="en-US" altLang="ko-KR" sz="1600" dirty="0"/>
              <a:t>(</a:t>
            </a:r>
            <a:r>
              <a:rPr lang="ko-KR" altLang="en-US" sz="1600" dirty="0"/>
              <a:t>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) </a:t>
            </a:r>
            <a:r>
              <a:rPr lang="ko-KR" altLang="en-US" sz="1600" dirty="0"/>
              <a:t>등이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재생에너지를 제외한 나머지 발전원들의 발전원리는 연료를 연소하여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증기를 생성하여 이루어진다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A4EA65-9E78-0C56-5EB4-AB5376C70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39" y="2859443"/>
            <a:ext cx="8016242" cy="36622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AE05F4-1CEA-C0DA-9667-5E9F6B119CE9}"/>
              </a:ext>
            </a:extLst>
          </p:cNvPr>
          <p:cNvSpPr txBox="1"/>
          <p:nvPr/>
        </p:nvSpPr>
        <p:spPr>
          <a:xfrm>
            <a:off x="4581962" y="2435477"/>
            <a:ext cx="2312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spc="-50" dirty="0"/>
              <a:t>&lt;</a:t>
            </a:r>
            <a:r>
              <a:rPr lang="ko-KR" altLang="en-US" b="1" spc="-50" dirty="0"/>
              <a:t>발전 원리</a:t>
            </a:r>
            <a:r>
              <a:rPr lang="en-US" altLang="ko-KR" b="1" spc="-50" dirty="0"/>
              <a:t>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9055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EC2EA-FF13-F7A1-E8EF-7A829223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56135-14F4-3D00-1F58-6FEC740A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전력계통 </a:t>
            </a:r>
            <a:r>
              <a:rPr lang="en-US" altLang="ko-KR" dirty="0"/>
              <a:t>(</a:t>
            </a:r>
            <a:r>
              <a:rPr lang="ko-KR" altLang="en-US" dirty="0"/>
              <a:t>발전부문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EDB225-4DD4-B636-C835-B3B05303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7C865-4B99-DF43-D48F-44C9792ACCDF}"/>
              </a:ext>
            </a:extLst>
          </p:cNvPr>
          <p:cNvSpPr txBox="1"/>
          <p:nvPr/>
        </p:nvSpPr>
        <p:spPr>
          <a:xfrm>
            <a:off x="288790" y="958844"/>
            <a:ext cx="10844029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발전기가 생산하는 전압은 보통 </a:t>
            </a:r>
            <a:r>
              <a:rPr lang="en-US" altLang="ko-KR" sz="1600" dirty="0"/>
              <a:t>11~25kV 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송전 과정에서는 전류가 흐르는 도체의 저항에 의해 손실이 발생하는데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</a:t>
            </a:r>
            <a:r>
              <a:rPr lang="en-US" altLang="ko-KR" sz="1600" dirty="0"/>
              <a:t>I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R </a:t>
            </a:r>
            <a:r>
              <a:rPr lang="ko-KR" altLang="en-US" sz="1600" dirty="0"/>
              <a:t>법칙</a:t>
            </a:r>
            <a:r>
              <a:rPr lang="en-US" altLang="ko-KR" sz="1600" dirty="0"/>
              <a:t>(</a:t>
            </a:r>
            <a:r>
              <a:rPr lang="ko-KR" altLang="en-US" sz="1600" dirty="0"/>
              <a:t>줄의 법칙</a:t>
            </a:r>
            <a:r>
              <a:rPr lang="en-US" altLang="ko-KR" sz="1600" dirty="0"/>
              <a:t>)</a:t>
            </a:r>
            <a:r>
              <a:rPr lang="ko-KR" altLang="en-US" sz="1600" dirty="0"/>
              <a:t>에 따라 전류의 제곱과 저항의 곱으로 계산된다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            </a:t>
            </a:r>
            <a:r>
              <a:rPr lang="ko-KR" altLang="en-US" sz="1600" dirty="0"/>
              <a:t>식에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발전소에서 생성한 전력</a:t>
            </a:r>
            <a:r>
              <a:rPr lang="en-US" altLang="ko-KR" sz="1600" dirty="0"/>
              <a:t>(P)</a:t>
            </a:r>
            <a:r>
              <a:rPr lang="ko-KR" altLang="en-US" sz="1600" dirty="0"/>
              <a:t>가 주어져 있을 때</a:t>
            </a:r>
            <a:r>
              <a:rPr lang="en-US" altLang="ko-KR" sz="1600" dirty="0"/>
              <a:t>, V(</a:t>
            </a:r>
            <a:r>
              <a:rPr lang="ko-KR" altLang="en-US" sz="1600" dirty="0"/>
              <a:t>전압</a:t>
            </a:r>
            <a:r>
              <a:rPr lang="en-US" altLang="ko-KR" sz="1600" dirty="0"/>
              <a:t>)</a:t>
            </a:r>
            <a:r>
              <a:rPr lang="ko-KR" altLang="en-US" sz="1600" dirty="0"/>
              <a:t>을 높이면 전류</a:t>
            </a:r>
            <a:r>
              <a:rPr lang="en-US" altLang="ko-KR" sz="1600" dirty="0"/>
              <a:t>(I)</a:t>
            </a:r>
            <a:r>
              <a:rPr lang="ko-KR" altLang="en-US" sz="1600" dirty="0"/>
              <a:t>가 감소한다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                 </a:t>
            </a:r>
            <a:r>
              <a:rPr lang="ko-KR" altLang="en-US" sz="1600" dirty="0"/>
              <a:t>식에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전류</a:t>
            </a:r>
            <a:r>
              <a:rPr lang="en-US" altLang="ko-KR" sz="1600" dirty="0"/>
              <a:t>(I)</a:t>
            </a:r>
            <a:r>
              <a:rPr lang="ko-KR" altLang="en-US" sz="1600" dirty="0"/>
              <a:t>가 낮아지면</a:t>
            </a:r>
            <a:r>
              <a:rPr lang="en-US" altLang="ko-KR" sz="1600" dirty="0"/>
              <a:t>, </a:t>
            </a:r>
            <a:r>
              <a:rPr lang="ko-KR" altLang="en-US" sz="1600" dirty="0"/>
              <a:t>전력손실이 줄어든다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전력을 전송할 때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전압과 낮은 전류를 사용하는 것이 손실을 효과적으로 줄일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E41654-73BC-919A-80DD-A781A2A92D7C}"/>
                  </a:ext>
                </a:extLst>
              </p:cNvPr>
              <p:cNvSpPr txBox="1"/>
              <p:nvPr/>
            </p:nvSpPr>
            <p:spPr>
              <a:xfrm>
                <a:off x="1250157" y="2361937"/>
                <a:ext cx="711994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E41654-73BC-919A-80DD-A781A2A92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157" y="2361937"/>
                <a:ext cx="711994" cy="5533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D6A336-74DA-4E2E-B31A-7EA32BE7C8BA}"/>
                  </a:ext>
                </a:extLst>
              </p:cNvPr>
              <p:cNvSpPr txBox="1"/>
              <p:nvPr/>
            </p:nvSpPr>
            <p:spPr>
              <a:xfrm>
                <a:off x="1250156" y="3214284"/>
                <a:ext cx="1245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ko-KR" sz="1600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D6A336-74DA-4E2E-B31A-7EA32BE7C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156" y="3214284"/>
                <a:ext cx="124539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F03755-5C9F-7842-1E65-17DB92137953}"/>
                  </a:ext>
                </a:extLst>
              </p:cNvPr>
              <p:cNvSpPr txBox="1"/>
              <p:nvPr/>
            </p:nvSpPr>
            <p:spPr>
              <a:xfrm>
                <a:off x="4552950" y="1738485"/>
                <a:ext cx="13144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DF03755-5C9F-7842-1E65-17DB92137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950" y="1738485"/>
                <a:ext cx="131445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42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A250-09A5-317C-41A9-6543962A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3676F-B6B2-998A-6BB4-62352413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전력계통 </a:t>
            </a:r>
            <a:r>
              <a:rPr lang="en-US" altLang="ko-KR" dirty="0"/>
              <a:t>(</a:t>
            </a:r>
            <a:r>
              <a:rPr lang="ko-KR" altLang="en-US" dirty="0"/>
              <a:t>송전부문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D33E1-D6BC-3694-90A9-66A264A0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E2E7D-703F-34FE-3CFF-C1118609CE2F}"/>
              </a:ext>
            </a:extLst>
          </p:cNvPr>
          <p:cNvSpPr txBox="1"/>
          <p:nvPr/>
        </p:nvSpPr>
        <p:spPr>
          <a:xfrm>
            <a:off x="288790" y="958844"/>
            <a:ext cx="6902585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송전이란 발전소에서 생산한 전기를 장거리로 운반하는 과정이다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우리나라의 송전 전압</a:t>
            </a:r>
            <a:r>
              <a:rPr lang="en-US" altLang="ko-KR" sz="1600" dirty="0"/>
              <a:t>(</a:t>
            </a:r>
            <a:r>
              <a:rPr lang="ko-KR" altLang="en-US" sz="1600" dirty="0"/>
              <a:t>교류</a:t>
            </a:r>
            <a:r>
              <a:rPr lang="en-US" altLang="ko-KR" sz="1600" dirty="0"/>
              <a:t>)</a:t>
            </a:r>
            <a:r>
              <a:rPr lang="ko-KR" altLang="en-US" sz="1600" dirty="0"/>
              <a:t>은 </a:t>
            </a:r>
            <a:r>
              <a:rPr lang="en-US" altLang="ko-KR" sz="1600" dirty="0"/>
              <a:t>154kV, 345kV, 765kV </a:t>
            </a:r>
            <a:r>
              <a:rPr lang="ko-KR" altLang="en-US" sz="1600" dirty="0"/>
              <a:t>을 사용하고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154kV</a:t>
            </a:r>
            <a:r>
              <a:rPr lang="ko-KR" altLang="en-US" sz="1600" dirty="0"/>
              <a:t>는 지역간 송전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345kV</a:t>
            </a:r>
            <a:r>
              <a:rPr lang="ko-KR" altLang="en-US" sz="1600" dirty="0"/>
              <a:t>는 장거리 대용량 송전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765kV</a:t>
            </a:r>
            <a:r>
              <a:rPr lang="ko-KR" altLang="en-US" sz="1600" dirty="0"/>
              <a:t>는 초장거리 초대용량 송전</a:t>
            </a: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최근에는 </a:t>
            </a:r>
            <a:r>
              <a:rPr lang="en-US" altLang="ko-KR" sz="1600" dirty="0"/>
              <a:t>HVDC(</a:t>
            </a:r>
            <a:r>
              <a:rPr lang="ko-KR" altLang="en-US" sz="1600" dirty="0" err="1"/>
              <a:t>초고압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직류송전</a:t>
            </a:r>
            <a:r>
              <a:rPr lang="en-US" altLang="ko-KR" sz="1600" dirty="0"/>
              <a:t>)</a:t>
            </a:r>
            <a:r>
              <a:rPr lang="ko-KR" altLang="en-US" sz="1600" dirty="0"/>
              <a:t>도 일부 사용되고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직류방식이고</a:t>
            </a:r>
            <a:r>
              <a:rPr lang="en-US" altLang="ko-KR" sz="1600" dirty="0"/>
              <a:t>,</a:t>
            </a:r>
            <a:r>
              <a:rPr lang="ko-KR" altLang="en-US" sz="1600" dirty="0"/>
              <a:t> 국내에서는 제주</a:t>
            </a:r>
            <a:r>
              <a:rPr lang="en-US" altLang="ko-KR" sz="1600" dirty="0"/>
              <a:t>-</a:t>
            </a:r>
            <a:r>
              <a:rPr lang="ko-KR" altLang="en-US" sz="1600" dirty="0"/>
              <a:t>육지 연계에 쓰인다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9627CD-5BEF-471B-5AA8-EC9E4A55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302" y="437859"/>
            <a:ext cx="3728536" cy="6061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4507CF-4F80-5802-CECC-26B1F0DB1E84}"/>
              </a:ext>
            </a:extLst>
          </p:cNvPr>
          <p:cNvSpPr txBox="1"/>
          <p:nvPr/>
        </p:nvSpPr>
        <p:spPr>
          <a:xfrm>
            <a:off x="8653462" y="6517877"/>
            <a:ext cx="28289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https://psl.gist.ac.kr/psl/sub01_100933.do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7131E-689A-663A-80EA-6425A4960987}"/>
              </a:ext>
            </a:extLst>
          </p:cNvPr>
          <p:cNvSpPr txBox="1"/>
          <p:nvPr/>
        </p:nvSpPr>
        <p:spPr>
          <a:xfrm>
            <a:off x="7629525" y="438796"/>
            <a:ext cx="2047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&lt;</a:t>
            </a:r>
            <a:r>
              <a:rPr lang="ko-KR" altLang="en-US" sz="1400" b="1" dirty="0"/>
              <a:t>우리나라 전력계통</a:t>
            </a:r>
            <a:r>
              <a:rPr lang="en-US" altLang="ko-KR" sz="1400" b="1" dirty="0"/>
              <a:t>&gt;</a:t>
            </a:r>
            <a:endParaRPr lang="ko-KR" altLang="en-US" sz="14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BA8E697-4203-A043-0693-D5B235BCF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346"/>
          <a:stretch>
            <a:fillRect/>
          </a:stretch>
        </p:blipFill>
        <p:spPr>
          <a:xfrm>
            <a:off x="9594112" y="4810125"/>
            <a:ext cx="2131032" cy="16607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BB525A-0682-E6FD-F2BD-7B0766541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67" y="4571960"/>
            <a:ext cx="4203908" cy="193680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1999232-E6D2-453C-B4A1-9EABE87F9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608" y="4571960"/>
            <a:ext cx="1908388" cy="19368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C91EA8F-C63E-2DF6-D9B9-72480C51B28F}"/>
              </a:ext>
            </a:extLst>
          </p:cNvPr>
          <p:cNvSpPr txBox="1"/>
          <p:nvPr/>
        </p:nvSpPr>
        <p:spPr>
          <a:xfrm>
            <a:off x="1126989" y="4332992"/>
            <a:ext cx="3178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&lt;</a:t>
            </a:r>
            <a:r>
              <a:rPr lang="ko-KR" altLang="en-US" sz="1400" b="1" dirty="0"/>
              <a:t>육지 송전 설비 </a:t>
            </a:r>
            <a:r>
              <a:rPr lang="en-US" altLang="ko-KR" sz="1400" b="1" dirty="0"/>
              <a:t>(154~765kV)&gt;</a:t>
            </a:r>
            <a:endParaRPr lang="ko-KR" altLang="en-US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9B5A8A-DFFC-907C-F51C-888DB6C70C69}"/>
              </a:ext>
            </a:extLst>
          </p:cNvPr>
          <p:cNvSpPr txBox="1"/>
          <p:nvPr/>
        </p:nvSpPr>
        <p:spPr>
          <a:xfrm>
            <a:off x="5458775" y="4321333"/>
            <a:ext cx="2151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&lt;</a:t>
            </a:r>
            <a:r>
              <a:rPr lang="ko-KR" altLang="en-US" sz="1400" b="1" dirty="0"/>
              <a:t>해저 케이블 </a:t>
            </a:r>
            <a:r>
              <a:rPr lang="en-US" altLang="ko-KR" sz="1400" b="1" dirty="0"/>
              <a:t>(HVDC)&gt;</a:t>
            </a:r>
            <a:endParaRPr lang="ko-KR" altLang="en-US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3CC30B-FDB8-26BD-07A1-7774FBCCA73F}"/>
              </a:ext>
            </a:extLst>
          </p:cNvPr>
          <p:cNvSpPr txBox="1"/>
          <p:nvPr/>
        </p:nvSpPr>
        <p:spPr>
          <a:xfrm>
            <a:off x="5573608" y="4618127"/>
            <a:ext cx="19083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※ </a:t>
            </a:r>
            <a:r>
              <a:rPr lang="ko-KR" altLang="en-US" sz="1100" b="1" dirty="0">
                <a:solidFill>
                  <a:schemeClr val="bg1"/>
                </a:solidFill>
              </a:rPr>
              <a:t>이해를 돕기 위한 개념도</a:t>
            </a:r>
          </a:p>
        </p:txBody>
      </p:sp>
    </p:spTree>
    <p:extLst>
      <p:ext uri="{BB962C8B-B14F-4D97-AF65-F5344CB8AC3E}">
        <p14:creationId xmlns:p14="http://schemas.microsoft.com/office/powerpoint/2010/main" val="4260917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CAC4-28E9-C9DD-B556-7C074001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E3D88-1A3E-41B8-3B76-2539292A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전력계통 </a:t>
            </a:r>
            <a:r>
              <a:rPr lang="en-US" altLang="ko-KR" dirty="0"/>
              <a:t>(</a:t>
            </a:r>
            <a:r>
              <a:rPr lang="ko-KR" altLang="en-US" dirty="0"/>
              <a:t>변전부문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526C0C-A38E-5628-E421-487597CB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7E810-79B2-79BE-DA9F-444407C33949}"/>
              </a:ext>
            </a:extLst>
          </p:cNvPr>
          <p:cNvSpPr txBox="1"/>
          <p:nvPr/>
        </p:nvSpPr>
        <p:spPr>
          <a:xfrm>
            <a:off x="288790" y="958844"/>
            <a:ext cx="10844029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변전이란 전압을 필요한 수준으로 변환하고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전력계통을 안전하게 운영하는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송전선로를 통해 전달되는 전력의 전압은 수백</a:t>
            </a:r>
            <a:r>
              <a:rPr lang="en-US" altLang="ko-KR" sz="1600" dirty="0"/>
              <a:t>kV </a:t>
            </a:r>
            <a:r>
              <a:rPr lang="ko-KR" altLang="en-US" sz="1600" dirty="0"/>
              <a:t>이상이기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매우 위험하다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765kV </a:t>
            </a:r>
            <a:r>
              <a:rPr lang="ko-KR" altLang="en-US" sz="1600" dirty="0"/>
              <a:t>전압을 그대로 가정에 보낼 수는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변전소에서 수백</a:t>
            </a:r>
            <a:r>
              <a:rPr lang="en-US" altLang="ko-KR" sz="1600" dirty="0"/>
              <a:t>kV</a:t>
            </a:r>
            <a:r>
              <a:rPr lang="ko-KR" altLang="en-US" sz="1600" dirty="0"/>
              <a:t>이상의 전압을 여러 단계로 나누어 </a:t>
            </a:r>
            <a:r>
              <a:rPr lang="en-US" altLang="ko-KR" sz="1600" dirty="0"/>
              <a:t>22.9kV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낮추어준다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우리나라에는 대략 </a:t>
            </a:r>
            <a:r>
              <a:rPr lang="en-US" altLang="ko-KR" sz="1600" dirty="0"/>
              <a:t>1,000</a:t>
            </a:r>
            <a:r>
              <a:rPr lang="ko-KR" altLang="en-US" sz="1600" dirty="0"/>
              <a:t>개의 변전소가 있다고 알려져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변전소는 또한 고장 구간을 차단하고</a:t>
            </a:r>
            <a:r>
              <a:rPr lang="en-US" altLang="ko-KR" sz="1600" dirty="0"/>
              <a:t>, </a:t>
            </a:r>
            <a:r>
              <a:rPr lang="ko-KR" altLang="en-US" sz="1600" dirty="0"/>
              <a:t>낙뢰를 보호하기도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전압을 유지하는 등 관리 측면도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옥외</a:t>
            </a:r>
            <a:r>
              <a:rPr lang="en-US" altLang="ko-KR" sz="1600" dirty="0"/>
              <a:t>, </a:t>
            </a:r>
            <a:r>
              <a:rPr lang="ko-KR" altLang="en-US" sz="1600" dirty="0"/>
              <a:t>옥내 변전소가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옥내</a:t>
            </a:r>
            <a:r>
              <a:rPr lang="en-US" altLang="ko-KR" sz="1600" dirty="0"/>
              <a:t>(</a:t>
            </a:r>
            <a:r>
              <a:rPr lang="ko-KR" altLang="en-US" sz="1600" dirty="0"/>
              <a:t>건물</a:t>
            </a:r>
            <a:r>
              <a:rPr lang="en-US" altLang="ko-KR" sz="1600" dirty="0"/>
              <a:t>) </a:t>
            </a:r>
            <a:r>
              <a:rPr lang="ko-KR" altLang="en-US" sz="1600" dirty="0"/>
              <a:t>변전소가 많이 지어지고 있는 추세다</a:t>
            </a:r>
            <a:r>
              <a:rPr lang="en-US" altLang="ko-KR" sz="16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6E0B4-8142-23D1-CACB-DF25CA9149D9}"/>
              </a:ext>
            </a:extLst>
          </p:cNvPr>
          <p:cNvSpPr txBox="1"/>
          <p:nvPr/>
        </p:nvSpPr>
        <p:spPr>
          <a:xfrm>
            <a:off x="7673557" y="3685301"/>
            <a:ext cx="3178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&lt;</a:t>
            </a:r>
            <a:r>
              <a:rPr lang="ko-KR" altLang="en-US" sz="1400" b="1" dirty="0"/>
              <a:t>옥외 변전소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울주</a:t>
            </a:r>
            <a:r>
              <a:rPr lang="en-US" altLang="ko-KR" sz="1400" b="1" dirty="0"/>
              <a:t>)&gt;</a:t>
            </a:r>
            <a:endParaRPr lang="ko-KR" altLang="en-US" sz="14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994214-3930-6EED-DFC9-9D75A1344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883" y="3993078"/>
            <a:ext cx="4241955" cy="24405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892CAB-171C-4260-6D83-056798571300}"/>
              </a:ext>
            </a:extLst>
          </p:cNvPr>
          <p:cNvSpPr txBox="1"/>
          <p:nvPr/>
        </p:nvSpPr>
        <p:spPr>
          <a:xfrm>
            <a:off x="7146643" y="6389460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https://m.blog.naver.com/wonnie8347/222373522163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BA521CB-8B41-CC7F-F46E-722655516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109" y="4089877"/>
            <a:ext cx="3517009" cy="22469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2F03F6-3EBC-251C-B171-2947E38B0D51}"/>
              </a:ext>
            </a:extLst>
          </p:cNvPr>
          <p:cNvSpPr txBox="1"/>
          <p:nvPr/>
        </p:nvSpPr>
        <p:spPr>
          <a:xfrm>
            <a:off x="1544359" y="3685301"/>
            <a:ext cx="3178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&lt;</a:t>
            </a:r>
            <a:r>
              <a:rPr lang="ko-KR" altLang="en-US" sz="1400" b="1" dirty="0"/>
              <a:t>옥내 변전소</a:t>
            </a:r>
            <a:r>
              <a:rPr lang="en-US" altLang="ko-KR" sz="1400" b="1" dirty="0"/>
              <a:t>&gt;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88329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AF26-3592-2DB4-9EBA-6898CBB3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82A57-0392-DCFC-0000-93DAF097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전력계통 </a:t>
            </a:r>
            <a:r>
              <a:rPr lang="en-US" altLang="ko-KR" dirty="0"/>
              <a:t>(</a:t>
            </a:r>
            <a:r>
              <a:rPr lang="ko-KR" altLang="en-US" dirty="0"/>
              <a:t>배전부문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75A97-C0C3-5C01-2C4A-1029621A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9F030-D2D7-BC6E-551D-18C079A099B1}"/>
              </a:ext>
            </a:extLst>
          </p:cNvPr>
          <p:cNvSpPr txBox="1"/>
          <p:nvPr/>
        </p:nvSpPr>
        <p:spPr>
          <a:xfrm>
            <a:off x="288790" y="958844"/>
            <a:ext cx="10844029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배전이란 변전소에서 낮춘 전압을 최종소비자에게 공급하는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변전소</a:t>
            </a:r>
            <a:r>
              <a:rPr lang="en-US" altLang="ko-KR" sz="1600" dirty="0"/>
              <a:t>(22.9kV) &gt; </a:t>
            </a:r>
            <a:r>
              <a:rPr lang="ko-KR" altLang="en-US" sz="1600" dirty="0"/>
              <a:t>배전용 변압기 </a:t>
            </a:r>
            <a:r>
              <a:rPr lang="en-US" altLang="ko-KR" sz="1600" dirty="0"/>
              <a:t>&gt; </a:t>
            </a:r>
            <a:r>
              <a:rPr lang="ko-KR" altLang="en-US" sz="1600" dirty="0"/>
              <a:t>가정</a:t>
            </a:r>
            <a:r>
              <a:rPr lang="en-US" altLang="ko-KR" sz="1600" dirty="0"/>
              <a:t>(220V) </a:t>
            </a:r>
            <a:r>
              <a:rPr lang="ko-KR" altLang="en-US" sz="1600" dirty="0"/>
              <a:t>혹은 공장</a:t>
            </a:r>
            <a:r>
              <a:rPr lang="en-US" altLang="ko-KR" sz="1600" dirty="0"/>
              <a:t>·</a:t>
            </a:r>
            <a:r>
              <a:rPr lang="ko-KR" altLang="en-US" sz="1600" dirty="0"/>
              <a:t>상가</a:t>
            </a:r>
            <a:r>
              <a:rPr lang="en-US" altLang="ko-KR" sz="1600" dirty="0"/>
              <a:t>(380V)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배전</a:t>
            </a:r>
            <a:r>
              <a:rPr lang="en-US" altLang="ko-KR" sz="1600" dirty="0"/>
              <a:t> </a:t>
            </a:r>
            <a:r>
              <a:rPr lang="ko-KR" altLang="en-US" sz="1600" dirty="0"/>
              <a:t>방식에는</a:t>
            </a:r>
            <a:r>
              <a:rPr lang="en-US" altLang="ko-KR" sz="1600" dirty="0"/>
              <a:t> </a:t>
            </a:r>
            <a:r>
              <a:rPr lang="ko-KR" altLang="en-US" sz="1600" dirty="0"/>
              <a:t>가공</a:t>
            </a:r>
            <a:r>
              <a:rPr lang="en-US" altLang="ko-KR" sz="1600" dirty="0"/>
              <a:t> </a:t>
            </a:r>
            <a:r>
              <a:rPr lang="ko-KR" altLang="en-US" sz="1600" dirty="0"/>
              <a:t>배전</a:t>
            </a:r>
            <a:r>
              <a:rPr lang="en-US" altLang="ko-KR" sz="1600" dirty="0"/>
              <a:t>(</a:t>
            </a:r>
            <a:r>
              <a:rPr lang="ko-KR" altLang="en-US" sz="1600" dirty="0"/>
              <a:t>공중</a:t>
            </a:r>
            <a:r>
              <a:rPr lang="en-US" altLang="ko-KR" sz="1600" dirty="0"/>
              <a:t>),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지중배전</a:t>
            </a:r>
            <a:r>
              <a:rPr lang="en-US" altLang="ko-KR" sz="1600" dirty="0"/>
              <a:t>(</a:t>
            </a:r>
            <a:r>
              <a:rPr lang="ko-KR" altLang="en-US" sz="1600" dirty="0"/>
              <a:t>땅속</a:t>
            </a:r>
            <a:r>
              <a:rPr lang="en-US" altLang="ko-KR" sz="1600" dirty="0"/>
              <a:t>)</a:t>
            </a:r>
            <a:r>
              <a:rPr lang="ko-KR" altLang="en-US" sz="1600" dirty="0"/>
              <a:t>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가공 배전방식은 우리가 길에서 전신주와 전선으로 흔히 볼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나뭇가지</a:t>
            </a:r>
            <a:r>
              <a:rPr lang="en-US" altLang="ko-KR" sz="1600" dirty="0"/>
              <a:t>, </a:t>
            </a:r>
            <a:r>
              <a:rPr lang="ko-KR" altLang="en-US" sz="1600" dirty="0"/>
              <a:t>태풍</a:t>
            </a:r>
            <a:r>
              <a:rPr lang="en-US" altLang="ko-KR" sz="1600" dirty="0"/>
              <a:t>, </a:t>
            </a:r>
            <a:r>
              <a:rPr lang="ko-KR" altLang="en-US" sz="1600" dirty="0"/>
              <a:t>차량 충돌 등 외부위험이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지중 배전방식은 땅속에 지하케이블을 이용한다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공사비는</a:t>
            </a:r>
            <a:r>
              <a:rPr lang="en-US" altLang="ko-KR" sz="1600" dirty="0"/>
              <a:t> </a:t>
            </a:r>
            <a:r>
              <a:rPr lang="ko-KR" altLang="en-US" sz="1600" dirty="0"/>
              <a:t>높지만</a:t>
            </a:r>
            <a:r>
              <a:rPr lang="en-US" altLang="ko-KR" sz="1600" dirty="0"/>
              <a:t>, </a:t>
            </a:r>
            <a:r>
              <a:rPr lang="ko-KR" altLang="en-US" sz="1600" dirty="0"/>
              <a:t>외부 환경의 영향이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미관이 우수하다</a:t>
            </a:r>
            <a:r>
              <a:rPr lang="en-US" altLang="ko-KR" sz="16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CF95E-ECCD-9233-D65E-7775F0ABC95B}"/>
              </a:ext>
            </a:extLst>
          </p:cNvPr>
          <p:cNvSpPr txBox="1"/>
          <p:nvPr/>
        </p:nvSpPr>
        <p:spPr>
          <a:xfrm>
            <a:off x="8427914" y="3124457"/>
            <a:ext cx="1230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&lt;</a:t>
            </a:r>
            <a:r>
              <a:rPr lang="ko-KR" altLang="en-US" sz="1400" b="1" dirty="0"/>
              <a:t>배전 설비</a:t>
            </a:r>
            <a:r>
              <a:rPr lang="en-US" altLang="ko-KR" sz="1400" b="1" dirty="0"/>
              <a:t>&gt;</a:t>
            </a:r>
            <a:endParaRPr lang="ko-KR" altLang="en-US" sz="1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074536-10D2-8235-07E0-B6C49AC6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265" y="3429000"/>
            <a:ext cx="1725735" cy="303224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1523957-CB63-0CED-39E5-19884BB85FE5}"/>
              </a:ext>
            </a:extLst>
          </p:cNvPr>
          <p:cNvSpPr/>
          <p:nvPr/>
        </p:nvSpPr>
        <p:spPr>
          <a:xfrm>
            <a:off x="8585932" y="4108845"/>
            <a:ext cx="914400" cy="914400"/>
          </a:xfrm>
          <a:prstGeom prst="ellipse">
            <a:avLst/>
          </a:prstGeom>
          <a:solidFill>
            <a:srgbClr val="FFFF00">
              <a:alpha val="22000"/>
            </a:srgbClr>
          </a:solidFill>
          <a:ln>
            <a:solidFill>
              <a:schemeClr val="accent1">
                <a:shade val="15000"/>
                <a:alpha val="2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5DEC1-E5B3-E99D-869D-319229D9482F}"/>
              </a:ext>
            </a:extLst>
          </p:cNvPr>
          <p:cNvSpPr txBox="1"/>
          <p:nvPr/>
        </p:nvSpPr>
        <p:spPr>
          <a:xfrm>
            <a:off x="10088686" y="4400510"/>
            <a:ext cx="16080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배전용 변압기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F665656-9E7B-4294-E0E5-0CFD4BB4A9B6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>
            <a:off x="9500332" y="4566045"/>
            <a:ext cx="588354" cy="3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D3E10FDA-8C76-4B04-9E21-4DEF84261E81}"/>
              </a:ext>
            </a:extLst>
          </p:cNvPr>
          <p:cNvSpPr/>
          <p:nvPr/>
        </p:nvSpPr>
        <p:spPr>
          <a:xfrm>
            <a:off x="7921378" y="3638536"/>
            <a:ext cx="2091107" cy="341799"/>
          </a:xfrm>
          <a:prstGeom prst="ellipse">
            <a:avLst/>
          </a:prstGeom>
          <a:solidFill>
            <a:srgbClr val="FFFF00">
              <a:alpha val="22000"/>
            </a:srgbClr>
          </a:solidFill>
          <a:ln>
            <a:solidFill>
              <a:schemeClr val="accent1">
                <a:shade val="15000"/>
                <a:alpha val="2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37983A-6BBA-E904-5329-F3D9ACECFBD3}"/>
              </a:ext>
            </a:extLst>
          </p:cNvPr>
          <p:cNvSpPr txBox="1"/>
          <p:nvPr/>
        </p:nvSpPr>
        <p:spPr>
          <a:xfrm>
            <a:off x="10425773" y="3517047"/>
            <a:ext cx="1608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고압 배전선</a:t>
            </a:r>
            <a:r>
              <a:rPr lang="en-US" altLang="ko-KR" sz="1600" dirty="0"/>
              <a:t>(22.9kV)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B2CF51B-DF44-0743-1161-3E602E5D94C5}"/>
              </a:ext>
            </a:extLst>
          </p:cNvPr>
          <p:cNvCxnSpPr>
            <a:cxnSpLocks/>
            <a:stCxn id="19" idx="6"/>
            <a:endCxn id="20" idx="1"/>
          </p:cNvCxnSpPr>
          <p:nvPr/>
        </p:nvCxnSpPr>
        <p:spPr>
          <a:xfrm flipV="1">
            <a:off x="10012485" y="3809435"/>
            <a:ext cx="4132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3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4D44-F3A1-DADE-6E72-9164DE37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EE709-CD34-ACD3-AC86-5453C52C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전력시스템에 관한 기본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4E6CDC-EAE7-19A6-2069-271C3F80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29A82-C032-0B94-B530-9ACC2E52728A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전기는 전하의 흐름이나 전기장과 같은 물리적 현상을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전기에너지는 이러한 전기를 통해 전달되거나 변환되는 에너지를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두 개념</a:t>
            </a:r>
            <a:r>
              <a:rPr lang="en-US" altLang="ko-KR" sz="1600" dirty="0"/>
              <a:t>(</a:t>
            </a:r>
            <a:r>
              <a:rPr lang="ko-KR" altLang="en-US" sz="1600" dirty="0"/>
              <a:t>전기와 전기에너지</a:t>
            </a:r>
            <a:r>
              <a:rPr lang="en-US" altLang="ko-KR" sz="1600" dirty="0"/>
              <a:t>)</a:t>
            </a:r>
            <a:r>
              <a:rPr lang="ko-KR" altLang="en-US" sz="1600" dirty="0"/>
              <a:t>는 기술적으로 구분되어야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일상적으로 같은 의미로 사용되고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발전기는 새로운 전하를 만들어내는 것이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전하를 도체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구리 전선</a:t>
            </a:r>
            <a:r>
              <a:rPr lang="en-US" altLang="ko-KR" sz="1600" dirty="0"/>
              <a:t>)</a:t>
            </a:r>
            <a:r>
              <a:rPr lang="ko-KR" altLang="en-US" sz="1600" dirty="0"/>
              <a:t> 내에서 이동시키는 방식으로 유도하며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과정을 통해 전기에너지를 생산한다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 시스템에서 교류 발전기는 전하를 초당 </a:t>
            </a:r>
            <a:r>
              <a:rPr lang="en-US" altLang="ko-KR" sz="1600" dirty="0"/>
              <a:t>60</a:t>
            </a:r>
            <a:r>
              <a:rPr lang="ko-KR" altLang="en-US" sz="1600" dirty="0"/>
              <a:t>회</a:t>
            </a:r>
            <a:r>
              <a:rPr lang="en-US" altLang="ko-KR" sz="1600" dirty="0"/>
              <a:t>, </a:t>
            </a:r>
            <a:r>
              <a:rPr lang="ko-KR" altLang="en-US" sz="1600" dirty="0"/>
              <a:t>즉 </a:t>
            </a:r>
            <a:r>
              <a:rPr lang="en-US" altLang="ko-KR" sz="1600" dirty="0"/>
              <a:t>60Hz</a:t>
            </a:r>
            <a:r>
              <a:rPr lang="ko-KR" altLang="en-US" sz="1600" dirty="0"/>
              <a:t>로 왕복 운동시키며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전자기장이 형성되고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전선 주변을 따라 전달된다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전력은 전기적 부하를 통해 다양한 형태의 에너지로 변환된다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모터는 전기에너지를 기계적 에너지로</a:t>
            </a:r>
            <a:r>
              <a:rPr lang="en-US" altLang="ko-KR" sz="1600" dirty="0"/>
              <a:t>, </a:t>
            </a:r>
            <a:r>
              <a:rPr lang="ko-KR" altLang="en-US" sz="1600" dirty="0"/>
              <a:t>히터는 열에너지로</a:t>
            </a:r>
            <a:r>
              <a:rPr lang="en-US" altLang="ko-KR" sz="1600" dirty="0"/>
              <a:t>, </a:t>
            </a:r>
            <a:r>
              <a:rPr lang="ko-KR" altLang="en-US" sz="1600" dirty="0"/>
              <a:t>전구는 광에너지로 전환한다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2651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8C40-7B43-4676-3562-F737E5AC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F3F1D-9FE9-166E-5065-F42F1EBB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전력시스템에 관한 기본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B707D-3BB7-AF53-C234-9F815B90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3F23-7D0B-74FA-6E60-D9A004DC2647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전력은 생산 직후 변압기를 통해 높은 전압으로 변환된 후 송전망을 따라 수요지로 이동한다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송전된 전력의 양은 전압</a:t>
            </a:r>
            <a:r>
              <a:rPr lang="en-US" altLang="ko-KR" sz="1600" dirty="0"/>
              <a:t>(V)</a:t>
            </a:r>
            <a:r>
              <a:rPr lang="ko-KR" altLang="en-US" sz="1600" dirty="0"/>
              <a:t>과 전류</a:t>
            </a:r>
            <a:r>
              <a:rPr lang="en-US" altLang="ko-KR" sz="1600" dirty="0"/>
              <a:t>(I)</a:t>
            </a:r>
            <a:r>
              <a:rPr lang="ko-KR" altLang="en-US" sz="1600" dirty="0"/>
              <a:t>의 곱으로 계산된다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전력은 와트</a:t>
            </a:r>
            <a:r>
              <a:rPr lang="en-US" altLang="ko-KR" sz="1600" dirty="0"/>
              <a:t>(W), </a:t>
            </a:r>
            <a:r>
              <a:rPr lang="ko-KR" altLang="en-US" sz="1600" dirty="0"/>
              <a:t>전압은 볼트</a:t>
            </a:r>
            <a:r>
              <a:rPr lang="en-US" altLang="ko-KR" sz="1600" dirty="0"/>
              <a:t>(V), </a:t>
            </a:r>
            <a:r>
              <a:rPr lang="ko-KR" altLang="en-US" sz="1600" dirty="0"/>
              <a:t>전류는 암페어</a:t>
            </a:r>
            <a:r>
              <a:rPr lang="en-US" altLang="ko-KR" sz="1600" dirty="0"/>
              <a:t>(A) </a:t>
            </a:r>
            <a:r>
              <a:rPr lang="ko-KR" altLang="en-US" sz="1600" dirty="0"/>
              <a:t>단위를 사용한다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송전 과정에서는 전류가 흐르는 도체의 저항에 의해 손실이 발생하는데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</a:t>
            </a:r>
            <a:r>
              <a:rPr lang="en-US" altLang="ko-KR" sz="1600" dirty="0"/>
              <a:t>I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R </a:t>
            </a:r>
            <a:r>
              <a:rPr lang="ko-KR" altLang="en-US" sz="1600" dirty="0"/>
              <a:t>법칙</a:t>
            </a:r>
            <a:r>
              <a:rPr lang="en-US" altLang="ko-KR" sz="1600" dirty="0"/>
              <a:t>(</a:t>
            </a:r>
            <a:r>
              <a:rPr lang="ko-KR" altLang="en-US" sz="1600" dirty="0"/>
              <a:t>줄의 법칙</a:t>
            </a:r>
            <a:r>
              <a:rPr lang="en-US" altLang="ko-KR" sz="1600" dirty="0"/>
              <a:t>)</a:t>
            </a:r>
            <a:r>
              <a:rPr lang="ko-KR" altLang="en-US" sz="1600" dirty="0"/>
              <a:t>에 따라 전류의 제곱과 저항의 곱으로 계산된다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따라서 전력을 전송할 때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전압과 낮은 전류를 사용하는 것이 손실을 효과적으로 줄일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송전시스템은 가능한 한 높은 전압을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수요지에 가까운 변전소에서 전압을 단계적으로 낮춘 후 배전망을 통해 최종 사용자에게 공급한다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2137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E714D-83A7-40E8-34B9-C2A68F92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788A3-B114-3B42-C4E9-FDDECD8E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전력시스템에 관한 기본 개념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771ED3-0FD1-1962-4FFE-0C529DEB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36A9B-6EB3-6C68-14D1-90A251D1C763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</a:t>
            </a:r>
            <a:r>
              <a:rPr lang="en-US" altLang="ko-KR" sz="1600" dirty="0"/>
              <a:t> </a:t>
            </a:r>
            <a:r>
              <a:rPr lang="ko-KR" altLang="en-US" sz="1600" dirty="0"/>
              <a:t>시스템의</a:t>
            </a:r>
            <a:r>
              <a:rPr lang="en-US" altLang="ko-KR" sz="1600" dirty="0"/>
              <a:t> </a:t>
            </a:r>
            <a:r>
              <a:rPr lang="ko-KR" altLang="en-US" sz="1600" dirty="0"/>
              <a:t>가장 큰 특징 중 하나는 전기를 대규모로 저장하기 어렵다는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전기는 실시간으로 수요와 공급의 균형이 맞추는 것이 중요하다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소비자가 전기기기의 스위치를 켜는 순간 새로운 수요가 발생하며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전체 시스템 수요는 모든 소비자의 개별 수요가 시간적으로 합산된 </a:t>
            </a:r>
            <a:r>
              <a:rPr lang="ko-KR" altLang="en-US" sz="1600" dirty="0" err="1"/>
              <a:t>결과읻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BC0AE-E90D-7165-2E98-CE5AEFD584A5}"/>
              </a:ext>
            </a:extLst>
          </p:cNvPr>
          <p:cNvSpPr txBox="1"/>
          <p:nvPr/>
        </p:nvSpPr>
        <p:spPr>
          <a:xfrm>
            <a:off x="3048000" y="3253859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https://m.blog.naver.com/byj2b/222207631787</a:t>
            </a:r>
          </a:p>
        </p:txBody>
      </p:sp>
    </p:spTree>
    <p:extLst>
      <p:ext uri="{BB962C8B-B14F-4D97-AF65-F5344CB8AC3E}">
        <p14:creationId xmlns:p14="http://schemas.microsoft.com/office/powerpoint/2010/main" val="908619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14034</TotalTime>
  <Words>1402</Words>
  <Application>Microsoft Office PowerPoint</Application>
  <PresentationFormat>와이드스크린</PresentationFormat>
  <Paragraphs>154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자원·에너지 경제학</vt:lpstr>
      <vt:lpstr>Chapter 8  전력시장</vt:lpstr>
      <vt:lpstr>Section 1. 서론</vt:lpstr>
      <vt:lpstr>서론</vt:lpstr>
      <vt:lpstr>Section 2. 전력시장의 특징</vt:lpstr>
      <vt:lpstr>전력시장의 특징 (1)</vt:lpstr>
      <vt:lpstr>전력시장의 특징 (2)</vt:lpstr>
      <vt:lpstr>전력시장의 특징 (3)</vt:lpstr>
      <vt:lpstr>전력시장의 특징 (4]</vt:lpstr>
      <vt:lpstr>전력시장의 특징 (5]</vt:lpstr>
      <vt:lpstr>Section 3. 전력시장의 운영</vt:lpstr>
      <vt:lpstr>전력계통 체계도</vt:lpstr>
      <vt:lpstr>전력계통 (발전부문)</vt:lpstr>
      <vt:lpstr>전력계통 (발전부문)</vt:lpstr>
      <vt:lpstr>전력계통 (송전부문)</vt:lpstr>
      <vt:lpstr>전력계통 (변전부문)</vt:lpstr>
      <vt:lpstr>전력계통 (배전부문)</vt:lpstr>
      <vt:lpstr>전력시스템에 관한 기본 개념</vt:lpstr>
      <vt:lpstr>전력시스템에 관한 기본 개념</vt:lpstr>
      <vt:lpstr>전력시스템에 관한 기본 개념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666</cp:revision>
  <dcterms:created xsi:type="dcterms:W3CDTF">2025-07-05T05:15:23Z</dcterms:created>
  <dcterms:modified xsi:type="dcterms:W3CDTF">2026-08-28T04:48:28Z</dcterms:modified>
</cp:coreProperties>
</file>