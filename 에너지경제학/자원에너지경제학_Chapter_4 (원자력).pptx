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sldIdLst>
    <p:sldId id="375" r:id="rId2"/>
    <p:sldId id="405" r:id="rId3"/>
    <p:sldId id="550" r:id="rId4"/>
    <p:sldId id="376" r:id="rId5"/>
    <p:sldId id="608" r:id="rId6"/>
    <p:sldId id="599" r:id="rId7"/>
    <p:sldId id="609" r:id="rId8"/>
    <p:sldId id="610" r:id="rId9"/>
    <p:sldId id="611" r:id="rId10"/>
    <p:sldId id="600" r:id="rId11"/>
    <p:sldId id="612" r:id="rId12"/>
    <p:sldId id="613" r:id="rId13"/>
    <p:sldId id="614" r:id="rId14"/>
    <p:sldId id="615" r:id="rId15"/>
    <p:sldId id="616" r:id="rId16"/>
    <p:sldId id="617" r:id="rId17"/>
    <p:sldId id="618" r:id="rId18"/>
    <p:sldId id="619" r:id="rId19"/>
    <p:sldId id="601" r:id="rId20"/>
    <p:sldId id="602" r:id="rId21"/>
    <p:sldId id="603" r:id="rId22"/>
    <p:sldId id="605" r:id="rId23"/>
    <p:sldId id="604" r:id="rId24"/>
    <p:sldId id="607" r:id="rId25"/>
    <p:sldId id="606" r:id="rId26"/>
    <p:sldId id="598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원자력에너지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원자력에너지는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중반 이후 화석연료 중심의 에너지 체계에 대한 전략적 대안으로 등장하여</a:t>
            </a:r>
            <a:r>
              <a:rPr lang="en-US" altLang="ko-KR" sz="1600" dirty="0"/>
              <a:t>, </a:t>
            </a:r>
            <a:r>
              <a:rPr lang="ko-KR" altLang="en-US" sz="1600" dirty="0"/>
              <a:t>자원이 부족한 국가들에게는 안정적이고 대규모 전력 공급이 가능한 기술로 주목받아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이후 핵기술의 평화적 이용에 대한 국제적 공감대가 형성되면서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발전은 </a:t>
            </a:r>
            <a:r>
              <a:rPr lang="en-US" altLang="ko-KR" sz="1600" dirty="0"/>
              <a:t>‘</a:t>
            </a:r>
            <a:r>
              <a:rPr lang="ko-KR" altLang="en-US" sz="1600" dirty="0"/>
              <a:t>에너지의 미래</a:t>
            </a:r>
            <a:r>
              <a:rPr lang="en-US" altLang="ko-KR" sz="1600" dirty="0"/>
              <a:t>’</a:t>
            </a:r>
            <a:r>
              <a:rPr lang="ko-KR" altLang="en-US" sz="1600" dirty="0"/>
              <a:t>로 간주되었고</a:t>
            </a:r>
            <a:r>
              <a:rPr lang="en-US" altLang="ko-KR" sz="1600" dirty="0"/>
              <a:t>, 1950</a:t>
            </a:r>
            <a:r>
              <a:rPr lang="ko-KR" altLang="en-US" sz="1600" dirty="0"/>
              <a:t>년대 후반부터 상업용 원전이 본격적으로 가동되기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여러 국가는 에너지 안보를 강화하고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수입 의존도를 줄이기 위해 원자력 발전을 적극 확대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두 차례 석유위기는 에너지 자립과 공급 다변화의 중요성을 부각시켰으며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시기 원자력은 많은 국가들의 에너지 정책에서 핵심 구성 요소로 자리잡게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발전은 연료 사용 효율이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과정에서 온실가스를 거의 배출하지 않기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공급과 기후변화 대응이라는 두 과제를 동시에 고려해야 하는 오늘날의 에너지 전환 환경에서 중요한 저탄소 기술로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는 </a:t>
            </a:r>
            <a:r>
              <a:rPr lang="en-US" altLang="ko-KR" sz="1600" dirty="0"/>
              <a:t>2050</a:t>
            </a:r>
            <a:r>
              <a:rPr lang="ko-KR" altLang="en-US" sz="1600" dirty="0"/>
              <a:t>년 탄소중립 시나리오에서 원자력이 전체 저탄소 전력 공급의 </a:t>
            </a:r>
            <a:r>
              <a:rPr lang="en-US" altLang="ko-KR" sz="1600" dirty="0"/>
              <a:t>10% </a:t>
            </a:r>
            <a:r>
              <a:rPr lang="ko-KR" altLang="en-US" sz="1600" dirty="0"/>
              <a:t>이상을 담당할 것으로 전망하고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수소에너지 등과 병행하여 안정적인 에너지 믹스를 구성하는 전략적 자산으로 평가하고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원자력은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재생에너지의 보완 수단으로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기저부하 전원을 안정적으로 공급할 수 있다는 점에서 전력망의 회복력과 신뢰성을 강화하는데 기여할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27917-0049-C88C-935B-66F322F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F910E-4024-1FCD-ABD9-94B6E602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D4952B-C598-35A0-F648-48D57AF1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427CA5-C853-BEB2-4538-4B60F4A5814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</a:t>
            </a:r>
            <a:r>
              <a:rPr lang="en-US" altLang="ko-KR" sz="1600" dirty="0"/>
              <a:t>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글로벌 에너지 공급망의 지정학적 불확실성이 심화됨에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다시 한번 에너지 안보의 핵심 수단으로 재조명되고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천연가스와 석유의 수입 의존도가 높은 유럽 국가들은 러시아산 에너지에 대한 탈동조화를 추진하는 과정에서 원자력을 재평가하고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에너지 주권과 전력시장 안정성을 동시에 추구하고자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 발전에 대한 사회적 인식은 여전히 분열되어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발전 효율과 장기간 운전이 가능한 기저부하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역할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달성에의 기여 가능성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한편으로는 대형사고의 잠재적 위험성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투자비용과 긴 건설 기간 등으로 인해 지속적인 사회적 논란이 존재한다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2011</a:t>
            </a:r>
            <a:r>
              <a:rPr lang="ko-KR" altLang="en-US" sz="1600" dirty="0"/>
              <a:t>년 일본 후쿠시마 원전 사고는 원자력에 대한 대중의 신뢰를 크게 흔들었고</a:t>
            </a:r>
            <a:r>
              <a:rPr lang="en-US" altLang="ko-KR" sz="1600" dirty="0"/>
              <a:t>, </a:t>
            </a:r>
            <a:r>
              <a:rPr lang="ko-KR" altLang="en-US" sz="1600" dirty="0"/>
              <a:t>그 여파로 여러 국가들이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정책을 채택하거나 기존 원전 운영 계획을 축소</a:t>
            </a:r>
            <a:r>
              <a:rPr lang="en-US" altLang="ko-KR" sz="1600" dirty="0"/>
              <a:t>·</a:t>
            </a:r>
            <a:r>
              <a:rPr lang="ko-KR" altLang="en-US" sz="1600" dirty="0"/>
              <a:t>보류하는 등 전략적 방향 전환이 이루어졌다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원자력이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측면 뿐 아니라 사회적 수용성과 정치적 정당성을 동시에 </a:t>
            </a:r>
            <a:r>
              <a:rPr lang="ko-KR" altLang="en-US" sz="1600" dirty="0" err="1"/>
              <a:t>갖추어야만</a:t>
            </a:r>
            <a:r>
              <a:rPr lang="ko-KR" altLang="en-US" sz="1600" dirty="0"/>
              <a:t> 지속가능한 에너지 체계의 일부로 기능할 수 있음을 보여준다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8308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59095-EEA6-3D9D-4062-310D408F3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955952-6312-084F-FAFD-DCA0ECCC0B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73E685-E601-76A8-2A39-F93DE124F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86685B0-D461-BC5E-0FA1-F2024DA29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원자력에너지의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07013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04E8-AE33-A67B-7EEE-96C309D34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CF4F3-178B-0836-CA70-0D5A34E8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98345-6BF1-4B68-5886-AEBFFDABE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E5F5C-20FB-3934-7B44-7CFC6DED80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원자력에너지의 기원은 </a:t>
            </a:r>
            <a:r>
              <a:rPr lang="en-US" altLang="ko-KR" sz="1600" dirty="0"/>
              <a:t>19</a:t>
            </a:r>
            <a:r>
              <a:rPr lang="ko-KR" altLang="en-US" sz="1600" dirty="0"/>
              <a:t>세기 말에서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초에 이르는 일련의 과학적 발견에 뿌리를 두고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1896</a:t>
            </a:r>
            <a:r>
              <a:rPr lang="ko-KR" altLang="en-US" sz="1600" dirty="0"/>
              <a:t>년 앙리 </a:t>
            </a:r>
            <a:r>
              <a:rPr lang="ko-KR" altLang="en-US" sz="1600" dirty="0" err="1"/>
              <a:t>베크렐이</a:t>
            </a:r>
            <a:r>
              <a:rPr lang="ko-KR" altLang="en-US" sz="1600" dirty="0"/>
              <a:t> 자연 방사능을 처음 발견한 것을 시작으로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마리 </a:t>
            </a:r>
            <a:r>
              <a:rPr lang="ko-KR" altLang="en-US" sz="1600" dirty="0" err="1"/>
              <a:t>퀴리와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피에르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퀴리는</a:t>
            </a:r>
            <a:r>
              <a:rPr lang="ko-KR" altLang="en-US" sz="1600" dirty="0"/>
              <a:t> 라듐과 폴로늄의 방사성 특성을 규명함으로써 원자 내부에 내재한 에너지에 대한 인류의 이해를 비약적으로 </a:t>
            </a:r>
            <a:r>
              <a:rPr lang="ko-KR" altLang="en-US" sz="1600" dirty="0" err="1"/>
              <a:t>확장시켰다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원자의 구조가 단순히 불변의 물질 단위가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내부에 거대한 에너지를 저장하고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인위적으로 방출할 수 있다는 가능성을 시사하였다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1917</a:t>
            </a:r>
            <a:r>
              <a:rPr lang="ko-KR" altLang="en-US" sz="1600" dirty="0"/>
              <a:t>년 알파입자를 질소 원자에 충돌시켜 수소 원자핵</a:t>
            </a:r>
            <a:r>
              <a:rPr lang="en-US" altLang="ko-KR" sz="1600" dirty="0"/>
              <a:t>, </a:t>
            </a:r>
            <a:r>
              <a:rPr lang="ko-KR" altLang="en-US" sz="1600" dirty="0"/>
              <a:t>즉 양성자를 방출하는 실험을 성공시켰고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인류 최초의 인공 핵변환을 달성하였다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현대적인 의미에서의 원자력에너지는 </a:t>
            </a:r>
            <a:r>
              <a:rPr lang="en-US" altLang="ko-KR" sz="1600" dirty="0"/>
              <a:t>1938</a:t>
            </a:r>
            <a:r>
              <a:rPr lang="ko-KR" altLang="en-US" sz="1600" dirty="0"/>
              <a:t>년 오토 한</a:t>
            </a:r>
            <a:r>
              <a:rPr lang="en-US" altLang="ko-KR" sz="1600" dirty="0"/>
              <a:t>(Otto Hahn)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프리츠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스트라스만이</a:t>
            </a:r>
            <a:r>
              <a:rPr lang="ko-KR" altLang="en-US" sz="1600" dirty="0"/>
              <a:t> 우라늄 원자의 핵분열을 실험적으로 확인하면서 본격적으로 가능성이 열렸다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리제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마이트너와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오포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프리쉬는</a:t>
            </a:r>
            <a:r>
              <a:rPr lang="ko-KR" altLang="en-US" sz="1600" dirty="0"/>
              <a:t> 핵분열 현상을 이론적으로 설명하면서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중성자를 통한 연쇄반응과 대규모 에너지 방출 메커니즘을 과학적으로 정립하였다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핵분열은 그 자체로는 과학적 성취였지만 제 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세계대전이라는 전시 상황 속에서 군사기술로 급속히 전용되었고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맨해튼계획을</a:t>
            </a:r>
            <a:r>
              <a:rPr lang="ko-KR" altLang="en-US" sz="1600" dirty="0"/>
              <a:t> 통해 핵무기 개발로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히로시마와 나가사키에 투하된 원자폭탄은 인류가 원자력의 파괴력을 실감하게 만든 사건인 동시에 핵기술의 통제와 평화적 이용에 대한 국제적 논의를 촉발시켰다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CC43EAD-8281-2F4D-FE1B-685DC5AE09BF}"/>
              </a:ext>
            </a:extLst>
          </p:cNvPr>
          <p:cNvSpPr/>
          <p:nvPr/>
        </p:nvSpPr>
        <p:spPr>
          <a:xfrm>
            <a:off x="-1578547" y="1360557"/>
            <a:ext cx="2363304" cy="23633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태양의 핵분열과 비교설명</a:t>
            </a:r>
          </a:p>
        </p:txBody>
      </p:sp>
    </p:spTree>
    <p:extLst>
      <p:ext uri="{BB962C8B-B14F-4D97-AF65-F5344CB8AC3E}">
        <p14:creationId xmlns:p14="http://schemas.microsoft.com/office/powerpoint/2010/main" val="24386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57800-0BCB-5503-592A-48F073699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85A01-CF93-6804-F59C-F463C48A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8160C4-8E20-A32A-CAC9-24234DB3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07EC2C-64A7-3809-A367-3B232EEBA94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전쟁 이후에는 </a:t>
            </a:r>
            <a:r>
              <a:rPr lang="en-US" altLang="ko-KR" sz="1600" dirty="0"/>
              <a:t>‘</a:t>
            </a:r>
            <a:r>
              <a:rPr lang="ko-KR" altLang="en-US" sz="1600" dirty="0"/>
              <a:t>원자력의 평화적 이용</a:t>
            </a:r>
            <a:r>
              <a:rPr lang="en-US" altLang="ko-KR" sz="1600" dirty="0"/>
              <a:t>‘ </a:t>
            </a:r>
            <a:r>
              <a:rPr lang="ko-KR" altLang="en-US" sz="1600" dirty="0"/>
              <a:t>이라는 기치 아래</a:t>
            </a:r>
            <a:r>
              <a:rPr lang="en-US" altLang="ko-KR" sz="1600" dirty="0"/>
              <a:t>, </a:t>
            </a:r>
            <a:r>
              <a:rPr lang="ko-KR" altLang="en-US" sz="1600" dirty="0"/>
              <a:t>핵 기술의 민간 활용 가능성에 대한 관심이 확산되었다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1956</a:t>
            </a:r>
            <a:r>
              <a:rPr lang="ko-KR" altLang="en-US" sz="1600" dirty="0"/>
              <a:t>년 영국의 </a:t>
            </a:r>
            <a:r>
              <a:rPr lang="ko-KR" altLang="en-US" sz="1600" dirty="0" err="1"/>
              <a:t>콜더</a:t>
            </a:r>
            <a:r>
              <a:rPr lang="ko-KR" altLang="en-US" sz="1600" dirty="0"/>
              <a:t> 홀 원자력 발전소가 세계 최초로 상업 운전을 개시하면서 원자력은 본격적인 에너지원으로서 역할을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소련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 주요 산업국들이 국가 주도의 원자력 개발 계획을 추진하면서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안정적이고 대규모 전력 생산이 가능한 기술로 각광받게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두 차례의 석유위기 이후에는 화석연료에 대한 의존도를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안보를 강화하기 위한 전략적 수단으로 원자력 발전이 급속히 확대되었다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발전은 발전 과정에서 온실가스를 거의 배출하지 않기 때문에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대응이라는 </a:t>
            </a:r>
            <a:r>
              <a:rPr lang="ko-KR" altLang="en-US" sz="1600" dirty="0" err="1"/>
              <a:t>아젠다</a:t>
            </a:r>
            <a:r>
              <a:rPr lang="ko-KR" altLang="en-US" sz="1600" dirty="0"/>
              <a:t> 속에서 중요한 저탄소 전원으로 재조명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와 국제원자력기구</a:t>
            </a:r>
            <a:r>
              <a:rPr lang="en-US" altLang="ko-KR" sz="1600" dirty="0"/>
              <a:t>(IAEA) </a:t>
            </a:r>
            <a:r>
              <a:rPr lang="ko-KR" altLang="en-US" sz="1600" dirty="0"/>
              <a:t>등은 원자력이 재생에너지와 병행하여 탄소중립 목표 달성을 위한 핵심 기술 중 하나가 될 수 있음을 강조하고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</a:t>
            </a:r>
            <a:r>
              <a:rPr lang="en-US" altLang="ko-KR" sz="1600" dirty="0"/>
              <a:t>‘</a:t>
            </a:r>
            <a:r>
              <a:rPr lang="ko-KR" altLang="en-US" sz="1600" dirty="0"/>
              <a:t>그린 </a:t>
            </a:r>
            <a:r>
              <a:rPr lang="ko-KR" altLang="en-US" sz="1600" dirty="0" err="1"/>
              <a:t>택소노미</a:t>
            </a:r>
            <a:r>
              <a:rPr lang="en-US" altLang="ko-KR" sz="1600" dirty="0"/>
              <a:t>‘ </a:t>
            </a:r>
            <a:r>
              <a:rPr lang="ko-KR" altLang="en-US" sz="1600" dirty="0"/>
              <a:t>체계에서 원자력을 친환경 투자 대상으로 포함시키는 등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정책과의 연계를 확대하고자 하는 움직임도 나타나고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0516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9653E-4167-41FB-42EB-3C8056553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033A3-29FA-845C-A3EB-E45886FEF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4CE044-0FA1-2A8B-3720-78035E2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6C359-781B-56DE-E4F2-E95F41B3A3C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원자력에너지는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측면에서 복합적인 도전에 직면하고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기술적으로는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보관 및 처분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자본비용과 장기 건설 기간</a:t>
            </a:r>
            <a:r>
              <a:rPr lang="en-US" altLang="ko-KR" sz="1600" dirty="0"/>
              <a:t>, </a:t>
            </a:r>
            <a:r>
              <a:rPr lang="ko-KR" altLang="en-US" sz="1600" dirty="0"/>
              <a:t>연료주기 관리 등의 문제가 여전히 완전하게 해결되지 않고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사회적으로는 </a:t>
            </a:r>
            <a:r>
              <a:rPr lang="en-US" altLang="ko-KR" sz="1600" dirty="0"/>
              <a:t>1986</a:t>
            </a:r>
            <a:r>
              <a:rPr lang="ko-KR" altLang="en-US" sz="1600" dirty="0"/>
              <a:t>년 체르노빌</a:t>
            </a:r>
            <a:r>
              <a:rPr lang="en-US" altLang="ko-KR" sz="1600" dirty="0"/>
              <a:t> </a:t>
            </a:r>
            <a:r>
              <a:rPr lang="ko-KR" altLang="en-US" sz="1600" dirty="0"/>
              <a:t>사고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사고 이후 원자력 안정성에 대한 대중의 신뢰가 크게 흔들렸으며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일부 국가의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결정이나 신규 투자 중단으로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정치적으로도 시민사회의 저항</a:t>
            </a:r>
            <a:r>
              <a:rPr lang="en-US" altLang="ko-KR" sz="1600" dirty="0"/>
              <a:t>, </a:t>
            </a:r>
            <a:r>
              <a:rPr lang="ko-KR" altLang="en-US" sz="1600" dirty="0"/>
              <a:t>지역 커뮤니티의 반대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비핵확산</a:t>
            </a:r>
            <a:r>
              <a:rPr lang="ko-KR" altLang="en-US" sz="1600" dirty="0"/>
              <a:t> 체제와의 연계 등의 다양한 제약이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민주주의 체제에서의 원자력 추진은 공공참여</a:t>
            </a:r>
            <a:r>
              <a:rPr lang="en-US" altLang="ko-KR" sz="1600" dirty="0"/>
              <a:t>, </a:t>
            </a:r>
            <a:r>
              <a:rPr lang="ko-KR" altLang="en-US" sz="1600" dirty="0"/>
              <a:t>정보공개</a:t>
            </a:r>
            <a:r>
              <a:rPr lang="en-US" altLang="ko-KR" sz="1600" dirty="0"/>
              <a:t>, </a:t>
            </a:r>
            <a:r>
              <a:rPr lang="ko-KR" altLang="en-US" sz="1600" dirty="0"/>
              <a:t>투명한 의사결정과정 등을 필요로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같은 재생에너지 기술이 빠른 속도로 발전하고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저장기술 및 분산형 에너지 시스템이 확산됨에 따라 원자력의 경제성과 경쟁력에 대한 의문이 제기 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원자력에너지는 에너지 전환 시대에서 중요한 저탄소 기술이지만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동시에 경제성</a:t>
            </a:r>
            <a:r>
              <a:rPr lang="en-US" altLang="ko-KR" sz="1600" dirty="0"/>
              <a:t>,</a:t>
            </a:r>
            <a:r>
              <a:rPr lang="ko-KR" altLang="en-US" sz="1600" dirty="0"/>
              <a:t>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수용성 등 다층적 쟁점을 동반하는 복합적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기술적 효율</a:t>
            </a:r>
            <a:r>
              <a:rPr lang="en-US" altLang="ko-KR" sz="1600" dirty="0"/>
              <a:t>, </a:t>
            </a:r>
            <a:r>
              <a:rPr lang="ko-KR" altLang="en-US" sz="1600" dirty="0"/>
              <a:t>비용경쟁력 만으로 결정하기 보다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에너지 전략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가치 판단에 따라 통합적인 분석을 요구한다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8790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0245-4FD0-B15D-BBEB-002FA187E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6944A5-E5CA-0FFB-5C94-0F90EBA1DA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52AF8-77AC-B551-729B-94A7A2BA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5F97ECD-7FC2-54D4-5BAE-474E2582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원자력 발전의 기본 원리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037762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34D75-EE22-9C1B-2EBD-981C69554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12EB7-2F73-B26E-D3AF-A18D7B10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56EE7-A851-AB41-0B16-B54F70CDE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21F9D-6FC0-81B9-A6A6-DAD8EA3B3C2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핵에너지의 방출은 원자핵 내부에 저장된 </a:t>
            </a:r>
            <a:r>
              <a:rPr lang="en-US" altLang="ko-KR" sz="1600" dirty="0"/>
              <a:t>‘</a:t>
            </a:r>
            <a:r>
              <a:rPr lang="ko-KR" altLang="en-US" sz="1600" dirty="0"/>
              <a:t>강한 </a:t>
            </a:r>
            <a:r>
              <a:rPr lang="ko-KR" altLang="en-US" sz="1600" dirty="0" err="1"/>
              <a:t>핵력</a:t>
            </a:r>
            <a:r>
              <a:rPr lang="en-US" altLang="ko-KR" sz="1600" dirty="0"/>
              <a:t>’</a:t>
            </a:r>
            <a:r>
              <a:rPr lang="ko-KR" altLang="en-US" sz="1600" dirty="0"/>
              <a:t>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두 가지 근본적인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즉 핵분열 </a:t>
            </a:r>
            <a:r>
              <a:rPr lang="en-US" altLang="ko-KR" sz="1600" dirty="0"/>
              <a:t>(nuclear fission)</a:t>
            </a:r>
            <a:r>
              <a:rPr lang="ko-KR" altLang="en-US" sz="1600" dirty="0"/>
              <a:t>과 핵융합 </a:t>
            </a:r>
            <a:r>
              <a:rPr lang="en-US" altLang="ko-KR" sz="1600" dirty="0"/>
              <a:t>(nuclear fusion)</a:t>
            </a:r>
            <a:r>
              <a:rPr lang="ko-KR" altLang="en-US" sz="1600" dirty="0"/>
              <a:t>을 통해 이루어진다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핵분열은 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나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와 같은 무거운 원자핵이 중성자의 충격을 받아 두 개의 가벼운 핵분열 생성물로 분리되면서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핵이 중성자를 흡수하면 불안정해지고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크립톤</a:t>
            </a:r>
            <a:r>
              <a:rPr lang="en-US" altLang="ko-KR" sz="1600" dirty="0"/>
              <a:t>(Kr)</a:t>
            </a:r>
            <a:r>
              <a:rPr lang="ko-KR" altLang="en-US" sz="1600" dirty="0"/>
              <a:t>과 바륨</a:t>
            </a:r>
            <a:r>
              <a:rPr lang="en-US" altLang="ko-KR" sz="1600" dirty="0"/>
              <a:t>(Ba) </a:t>
            </a:r>
            <a:r>
              <a:rPr lang="ko-KR" altLang="en-US" sz="1600" dirty="0"/>
              <a:t>등의 분열 생성물로 나뉘며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여분의 중성자와 약 </a:t>
            </a:r>
            <a:r>
              <a:rPr lang="en-US" altLang="ko-KR" sz="1600" dirty="0"/>
              <a:t>200MeV(</a:t>
            </a:r>
            <a:r>
              <a:rPr lang="ko-KR" altLang="en-US" sz="1600" dirty="0"/>
              <a:t>메가전자볼트</a:t>
            </a:r>
            <a:r>
              <a:rPr lang="en-US" altLang="ko-KR" sz="1600" dirty="0"/>
              <a:t>)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중성자는 다른 우라늄 핵의 분열을 유도하여 연쇄반응을 일으키며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원자로 운영의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연쇄반응은 제어봉과 냉각재 시스템 등을 통해 안정적으로 조절되며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생산에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핵융합은 두 개의 가벼운 원자핵이 결합하여 더 무거운 원자핵을 형성하면서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생산을 위한 일반적인 핵융합 반응은 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H)</a:t>
            </a:r>
            <a:r>
              <a:rPr lang="ko-KR" altLang="en-US" sz="1600" dirty="0"/>
              <a:t>와 삼중수소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3</a:t>
            </a:r>
            <a:r>
              <a:rPr lang="en-US" altLang="ko-KR" sz="1600" dirty="0"/>
              <a:t>H)</a:t>
            </a:r>
            <a:r>
              <a:rPr lang="ko-KR" altLang="en-US" sz="1600" dirty="0"/>
              <a:t>의 결합으로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이들이</a:t>
            </a:r>
            <a:r>
              <a:rPr lang="en-US" altLang="ko-KR" sz="1600" dirty="0"/>
              <a:t> </a:t>
            </a:r>
            <a:r>
              <a:rPr lang="ko-KR" altLang="en-US" sz="1600" dirty="0"/>
              <a:t>충분한 운동 에너지를 가지고 충돌하면 헬륨핵과 중성자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약 </a:t>
            </a:r>
            <a:r>
              <a:rPr lang="en-US" altLang="ko-KR" sz="1600" dirty="0"/>
              <a:t>17.6MeV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 혹은 별의 중심에서 자연스럽게 발생하며</a:t>
            </a:r>
            <a:r>
              <a:rPr lang="en-US" altLang="ko-KR" sz="1600" dirty="0"/>
              <a:t>, </a:t>
            </a:r>
            <a:r>
              <a:rPr lang="ko-KR" altLang="en-US" sz="1600" dirty="0"/>
              <a:t>거대한 압력과 수천만 도의 고온 환경이 원자핵 간의 전자기적 반발력을 극복하게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459759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22167-4DBB-0C24-39A7-33EF261F4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C6805E-6387-73BB-4155-79B6F7262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C7542D-BCF5-3E19-F9A1-4AD34B3F9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D96D5-84FD-1FB7-6036-C6C1866A7B5F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지구상에서 핵융합 조건을 인공적으로 재현하기 위해서는 고온 플라즈마 상태를 유지하고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 반응이 지속될 수 있도록 자기 가둠 방식이나 관성 가둠 방식이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이러한 기술은 아직 상업화 단계에 도달하지 못했으며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여전히 미래 기술로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 융합은 이론적으로 거의 무제한의 청정에너지 공급원이 될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탄소 배출이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폐기물이 상대적으로 적다는 점에서 환경적 장점이 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이미 전 세계적으로 널리 상용화되어 원자력 발전소의 기반이 되고 있지만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위험성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 비용 등 여러 도전에 직면해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현재의 실용적 에너지원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장기적인 미래 에너지원으로 각각 고유한 역할과 과제를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6301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34D94-48E5-C0D1-ADA6-B14F01511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15B31-6339-3A95-492B-9FF99A568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60BB6-A27F-0FAF-9439-0C90BDA41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9788B5-9316-D2A0-0862-8768D36391B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우라늄과 플루토늄의 연료 주기는 핵연료 주기의 핵심 구성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핵연료의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내 사용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연료의 저장 및 재처리 또는 폐기까지 일련의 과정을 포함한다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주기는 자원 활용 효율성과 방사성 폐기물의 관리</a:t>
            </a:r>
            <a:r>
              <a:rPr lang="en-US" altLang="ko-KR" sz="1600" dirty="0"/>
              <a:t>, </a:t>
            </a:r>
            <a:r>
              <a:rPr lang="ko-KR" altLang="en-US" sz="1600" dirty="0"/>
              <a:t>핵확산 리스크 등 다양한 에너지</a:t>
            </a:r>
            <a:r>
              <a:rPr lang="en-US" altLang="ko-KR" sz="1600" dirty="0"/>
              <a:t>·</a:t>
            </a:r>
            <a:r>
              <a:rPr lang="ko-KR" altLang="en-US" sz="1600" dirty="0"/>
              <a:t>환경 이슈와 직결된다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 연료 주기는 일반적으로 우라늄광석의 채굴과 제련으로 시작한다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 생성된 </a:t>
            </a:r>
            <a:r>
              <a:rPr lang="ko-KR" altLang="en-US" sz="1600" dirty="0" err="1"/>
              <a:t>옐로우케이크</a:t>
            </a:r>
            <a:r>
              <a:rPr lang="en-US" altLang="ko-KR" sz="1600" dirty="0"/>
              <a:t>(U</a:t>
            </a:r>
            <a:r>
              <a:rPr lang="en-US" altLang="ko-KR" sz="1600" baseline="-25000" dirty="0"/>
              <a:t>3</a:t>
            </a:r>
            <a:r>
              <a:rPr lang="en-US" altLang="ko-KR" sz="1600" dirty="0"/>
              <a:t>O</a:t>
            </a:r>
            <a:r>
              <a:rPr lang="en-US" altLang="ko-KR" sz="1600" baseline="-25000" dirty="0"/>
              <a:t>8</a:t>
            </a:r>
            <a:r>
              <a:rPr lang="en-US" altLang="ko-KR" sz="1600" dirty="0"/>
              <a:t>)</a:t>
            </a:r>
            <a:r>
              <a:rPr lang="ko-KR" altLang="en-US" sz="1600" dirty="0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정제 및 화학변환 과정을 거쳐 </a:t>
            </a:r>
            <a:r>
              <a:rPr lang="ko-KR" altLang="en-US" sz="1600" dirty="0" err="1"/>
              <a:t>육불화우라늄</a:t>
            </a:r>
            <a:r>
              <a:rPr lang="en-US" altLang="ko-KR" sz="1600" dirty="0"/>
              <a:t>(UF</a:t>
            </a:r>
            <a:r>
              <a:rPr lang="en-US" altLang="ko-KR" sz="1600" baseline="-25000" dirty="0"/>
              <a:t>6</a:t>
            </a:r>
            <a:r>
              <a:rPr lang="en-US" altLang="ko-KR" sz="1600" dirty="0"/>
              <a:t>) </a:t>
            </a:r>
            <a:r>
              <a:rPr lang="ko-KR" altLang="en-US" sz="1600" dirty="0"/>
              <a:t>형태로 전환된다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이 기체는 </a:t>
            </a:r>
            <a:r>
              <a:rPr lang="ko-KR" altLang="en-US" sz="1600" dirty="0" err="1"/>
              <a:t>가스원심분리법</a:t>
            </a:r>
            <a:r>
              <a:rPr lang="ko-KR" altLang="en-US" sz="1600" dirty="0"/>
              <a:t> 등을 통해 자연 상태의 </a:t>
            </a:r>
            <a:r>
              <a:rPr lang="en-US" altLang="ko-KR" sz="1600" dirty="0"/>
              <a:t>0.7%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를 </a:t>
            </a:r>
            <a:r>
              <a:rPr lang="en-US" altLang="ko-KR" sz="1600" dirty="0"/>
              <a:t>3~5%</a:t>
            </a:r>
            <a:r>
              <a:rPr lang="ko-KR" altLang="en-US" sz="1600" dirty="0"/>
              <a:t>로 농축하는 공정을 거친다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농축된 </a:t>
            </a:r>
            <a:r>
              <a:rPr lang="en-US" altLang="ko-KR" sz="1600" dirty="0"/>
              <a:t>UF</a:t>
            </a:r>
            <a:r>
              <a:rPr lang="en-US" altLang="ko-KR" sz="1600" baseline="-25000" dirty="0"/>
              <a:t>6</a:t>
            </a:r>
            <a:r>
              <a:rPr lang="ko-KR" altLang="en-US" sz="1600" dirty="0"/>
              <a:t>는 다시 고체 이산화우라늄 분말로 전환되어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소결된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가공되며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지르코늄 합금관에 충전되어 연료봉을 구성하고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집합체로 조립되어 원자로에 장전된다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원자로에서 가동 중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235 </a:t>
            </a:r>
            <a:r>
              <a:rPr lang="ko-KR" altLang="en-US" sz="1600" dirty="0"/>
              <a:t>원자핵은 핵분열을 통해 에너지를 방출하며 전력 생산에 기여한다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연료가 점차 소모되면서 핵분열성 물질의 농도가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핵분열 생성물이 축적되어 연료 효율성이 저하되므로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일정 주기 마다 연료를 교체해야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원자로로부터 인출된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</a:t>
            </a:r>
            <a:r>
              <a:rPr lang="en-US" altLang="ko-KR" sz="1600" dirty="0"/>
              <a:t>’</a:t>
            </a:r>
            <a:r>
              <a:rPr lang="ko-KR" altLang="en-US" sz="1600" dirty="0"/>
              <a:t>는 여전히 상당한 우라늄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 생성물을 포함하고 있어 재처리 되거나 최종 처분을 위해 저장된다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9093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A95F6-84B4-EB60-C997-008A07C38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3CC85-F61D-EE00-4318-D5BD3385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808A21-66EC-F34E-B916-4E79D0C59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B46B67-2614-C32D-0383-7F3808BE8B5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플루토늄 연료주기는 우라늄 주기와 밀접하게 연계된다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내부에서 우라늄</a:t>
            </a:r>
            <a:r>
              <a:rPr lang="en-US" altLang="ko-KR" sz="1600" dirty="0"/>
              <a:t>-238</a:t>
            </a:r>
            <a:r>
              <a:rPr lang="ko-KR" altLang="en-US" sz="1600" dirty="0"/>
              <a:t>이 중성자를 흡수하면 일련의 핵변환 과정을 거쳐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플라토늄</a:t>
            </a:r>
            <a:r>
              <a:rPr lang="en-US" altLang="ko-KR" sz="1600" spc="-100" dirty="0"/>
              <a:t>-239</a:t>
            </a:r>
            <a:r>
              <a:rPr lang="ko-KR" altLang="en-US" sz="1600" spc="-100" dirty="0"/>
              <a:t>는 고에너지 핵분열이 가능한 연료로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재처리를 통해 회수되면 혼합산화물 연료로 재활용할 수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우라늄과 플루토늄 산화물을 혼합한 형태로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경수로 및 고속증식로에서 사용이 가능하며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플루토늄의 재활용을 통해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양을 줄이는 효과를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재처리</a:t>
            </a:r>
            <a:r>
              <a:rPr lang="en-US" altLang="ko-KR" sz="1600" dirty="0"/>
              <a:t> </a:t>
            </a:r>
            <a:r>
              <a:rPr lang="ko-KR" altLang="en-US" sz="1600" dirty="0"/>
              <a:t>과정은</a:t>
            </a:r>
            <a:r>
              <a:rPr lang="en-US" altLang="ko-KR" sz="1600" dirty="0"/>
              <a:t> </a:t>
            </a:r>
            <a:r>
              <a:rPr lang="ko-KR" altLang="en-US" sz="1600" dirty="0"/>
              <a:t>화학적 분리와 정제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</a:t>
            </a:r>
            <a:r>
              <a:rPr lang="ko-KR" altLang="en-US" sz="1600" dirty="0" err="1"/>
              <a:t>재제조</a:t>
            </a:r>
            <a:r>
              <a:rPr lang="ko-KR" altLang="en-US" sz="1600" dirty="0"/>
              <a:t> 공정을 포함하며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연료에 포함된 플루토늄과 우라늄의 회수율을 높임으로써 자원 효율성을 증진시킨다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과정은 기술적으로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핵무기 전용이 가능한 고순도 플루토늄의 획득 가능성이 있어 </a:t>
            </a:r>
            <a:r>
              <a:rPr lang="ko-KR" altLang="en-US" sz="1600" dirty="0" err="1"/>
              <a:t>핵비확산의</a:t>
            </a:r>
            <a:r>
              <a:rPr lang="ko-KR" altLang="en-US" sz="1600" dirty="0"/>
              <a:t> 관점에서 국제적인 감시와 규제가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주기에서 발생하는 방사성 폐기물</a:t>
            </a:r>
            <a:r>
              <a:rPr lang="en-US" altLang="ko-KR" sz="1600" dirty="0"/>
              <a:t>, </a:t>
            </a:r>
            <a:r>
              <a:rPr lang="ko-KR" altLang="en-US" sz="1600" dirty="0"/>
              <a:t>특히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연료와 재처리 잔여물로 구성된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처리는 가장 심각한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도전 중 하나로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폐기물은 수천 년 이상 높은 방사능을 유지하기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처분과 같은 장기적이고 안전한 관리 전략이 필수적이다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4203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30E4-7B32-9E60-3042-3DC4E03A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25B2DF-CB27-26E7-AC1A-D25498AE0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6BC120-B690-9038-7525-6DE009FBB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C1AF5-D123-5225-E5E1-15ACBF507FE9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원자로는 지속적인 핵분열 연쇄반응을 유지하고 통제하기 위해 설계된 복잡한 시스템으로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핵반응에서 생성되는 열에너지를 이용하여 전력을 생산한다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일반적인 원자로는 노심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</a:t>
            </a:r>
            <a:r>
              <a:rPr lang="en-US" altLang="ko-KR" sz="1600" dirty="0"/>
              <a:t>, </a:t>
            </a:r>
            <a:r>
              <a:rPr lang="ko-KR" altLang="en-US" sz="1600" dirty="0"/>
              <a:t>냉각시스템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압력용기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격납구조</a:t>
            </a:r>
            <a:r>
              <a:rPr lang="ko-KR" altLang="en-US" sz="1600" dirty="0"/>
              <a:t> 등 주요 구성요소로 이루어져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노심은 원자로의 핵심 부위로서 핵분열 반응이 일어나는 곳이며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연료봉은 보통 이산화우라늄 또는 혼합산화물 연료로 채워진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</a:t>
            </a:r>
            <a:r>
              <a:rPr lang="ko-KR" altLang="en-US" sz="1600" dirty="0" err="1"/>
              <a:t>펠릿은</a:t>
            </a:r>
            <a:r>
              <a:rPr lang="ko-KR" altLang="en-US" sz="1600" dirty="0"/>
              <a:t> 고체 상태의 원통형 덩어리로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소결되어 제작된다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 산화물을 혼합한 형태로 일부 원자로에서 </a:t>
            </a:r>
            <a:r>
              <a:rPr lang="ko-KR" altLang="en-US" sz="1600" dirty="0" err="1"/>
              <a:t>재처리된</a:t>
            </a:r>
            <a:r>
              <a:rPr lang="ko-KR" altLang="en-US" sz="1600" dirty="0"/>
              <a:t>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 내에는 중성자 감속재인 물이나 흑연 등이 함께 채워져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빠른 중성자를 </a:t>
            </a:r>
            <a:r>
              <a:rPr lang="ko-KR" altLang="en-US" sz="1600" dirty="0" err="1"/>
              <a:t>감속시켜</a:t>
            </a:r>
            <a:r>
              <a:rPr lang="ko-KR" altLang="en-US" sz="1600" dirty="0"/>
              <a:t> 핵분열의 확률을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해플로이</a:t>
            </a:r>
            <a:r>
              <a:rPr lang="ko-KR" altLang="en-US" sz="1600" dirty="0"/>
              <a:t> 등 중성자를 잘 흡수하는 물질로 제작되며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원자로의 연쇄반응을 조절하기 위해 노심에 삽입되거나 제거된다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삽입되면 중성자의 수가 감소하여 반응이 억제되고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제거되면 반응이 다시 활성화된다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긴급정지 상황에서는 제어봉을 즉시 완전 삽입함으로써 원자로 출력을 빠르게 정지시킬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5589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C8B62-6868-A2E8-D90B-10C3D2FF1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8722E-F8CB-54B4-B3E4-712DA12A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CE9EF-1A30-0C82-1B51-63B1779F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2E4163-ADF6-5FE5-53C7-9C54D51786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냉각시스템은 핵분열로부터 발생한 열을 제거하고 이를 발전에 활용할 수 있도록 전달하는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대부분의 상용 원자로는 물을 냉각제로 사용하며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경우에 따라 액체 금속</a:t>
            </a:r>
            <a:r>
              <a:rPr lang="en-US" altLang="ko-KR" sz="1600" dirty="0"/>
              <a:t>(ex.</a:t>
            </a:r>
            <a:r>
              <a:rPr lang="ko-KR" altLang="en-US" sz="1600" dirty="0"/>
              <a:t>나트륨</a:t>
            </a:r>
            <a:r>
              <a:rPr lang="en-US" altLang="ko-KR" sz="1600" dirty="0"/>
              <a:t>)</a:t>
            </a:r>
            <a:r>
              <a:rPr lang="ko-KR" altLang="en-US" sz="1600" dirty="0"/>
              <a:t>이나 가스</a:t>
            </a:r>
            <a:r>
              <a:rPr lang="en-US" altLang="ko-KR" sz="1600" dirty="0"/>
              <a:t>(ex.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사용하는 </a:t>
            </a:r>
            <a:r>
              <a:rPr lang="ko-KR" altLang="en-US" sz="1600" dirty="0" err="1"/>
              <a:t>고속로도</a:t>
            </a:r>
            <a:r>
              <a:rPr lang="ko-KR" altLang="en-US" sz="1600" dirty="0"/>
              <a:t>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가압경수로의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고압 상태에서 끓지 않도록 유지되며</a:t>
            </a:r>
            <a:r>
              <a:rPr lang="en-US" altLang="ko-KR" sz="1600" dirty="0"/>
              <a:t>, </a:t>
            </a:r>
            <a:r>
              <a:rPr lang="ko-KR" altLang="en-US" sz="1600" dirty="0"/>
              <a:t>열은 열교환기를 통해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계통으로 전달되어 증기를 생성하고 터빈을 </a:t>
            </a:r>
            <a:r>
              <a:rPr lang="ko-KR" altLang="en-US" sz="1600" dirty="0" err="1"/>
              <a:t>구동시켜</a:t>
            </a:r>
            <a:r>
              <a:rPr lang="ko-KR" altLang="en-US" sz="1600" dirty="0"/>
              <a:t> 전력을 생산한다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압력용기는 두꺼운 강철로 제작된 구조물로</a:t>
            </a:r>
            <a:r>
              <a:rPr lang="en-US" altLang="ko-KR" sz="1600" dirty="0"/>
              <a:t>, </a:t>
            </a:r>
            <a:r>
              <a:rPr lang="ko-KR" altLang="en-US" sz="1600" dirty="0"/>
              <a:t>노심과 냉각제를 내부에 보관하고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상태를 견딜 수 있도록 설계되어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용기는 방사성 물질이 외부로 누출되지 않도록 </a:t>
            </a:r>
            <a:r>
              <a:rPr lang="en-US" altLang="ko-KR" sz="1600" dirty="0"/>
              <a:t>1</a:t>
            </a:r>
            <a:r>
              <a:rPr lang="ko-KR" altLang="en-US" sz="1600" dirty="0"/>
              <a:t>차적인 방호벽 역할을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격납구조는</a:t>
            </a:r>
            <a:r>
              <a:rPr lang="ko-KR" altLang="en-US" sz="1600" dirty="0"/>
              <a:t> 원자로에서 사고나 이상 상황이 발생할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물질이 외부로 방출되지 않도록 하기 위한 최종 방호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고강도 콘크리트와 강철로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지진</a:t>
            </a:r>
            <a:r>
              <a:rPr lang="en-US" altLang="ko-KR" sz="1600" dirty="0"/>
              <a:t>, </a:t>
            </a:r>
            <a:r>
              <a:rPr lang="ko-KR" altLang="en-US" sz="1600" dirty="0"/>
              <a:t>폭발 등의 외부 충격을 견딜 수 있도록 설계된다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다단계 방어 체계의 일환으로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원자로와 주변 환경의 안전을 확보하는 핵심 요소로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1955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ACC5-82EC-33DF-E910-933393C3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303A85-4B30-3B89-D569-091760226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DC3EA-8B93-49BF-9EE6-43150880F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6B5994-FFE7-7947-8174-1A790FFBE9AB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원자로의 작동 원리는 핵분열을 통해 생성된 열에너지를 이용하여 전력을 생산하는 데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핵심은 통제된 연쇄반응을 안정적으로 유지하는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원자로의 중심부인 노심에는 핵분열성 물질인 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또는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가 </a:t>
            </a:r>
            <a:r>
              <a:rPr lang="ko-KR" altLang="en-US" sz="1600" dirty="0" err="1"/>
              <a:t>연료봉</a:t>
            </a:r>
            <a:r>
              <a:rPr lang="ko-KR" altLang="en-US" sz="1600" dirty="0"/>
              <a:t>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노심에서 중성자가 이러한 핵분열성 원자핵에 충돌하면</a:t>
            </a:r>
            <a:r>
              <a:rPr lang="en-US" altLang="ko-KR" sz="1600" dirty="0"/>
              <a:t>, </a:t>
            </a:r>
            <a:r>
              <a:rPr lang="ko-KR" altLang="en-US" sz="1600" dirty="0"/>
              <a:t>원자핵은 둘 이상의 가벼운 핵종으로 분열하며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다량의 열에너지와 함께 </a:t>
            </a:r>
            <a:r>
              <a:rPr lang="en-US" altLang="ko-KR" sz="1600" dirty="0"/>
              <a:t>2~3</a:t>
            </a:r>
            <a:r>
              <a:rPr lang="ko-KR" altLang="en-US" sz="1600" dirty="0"/>
              <a:t>개의 새로운 중성자가 추가로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중성자들은 다시 주변의 다른 핵분열성 핵에 충돌함으로써 새로운 분열 반응을 유도하고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반복적인 반응이 자기 유지적 연쇄반응으로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과정에서 발생하는 열에너지는 원자로 내의 냉각제를 통해 흡수되며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경수</a:t>
            </a:r>
            <a:r>
              <a:rPr lang="en-US" altLang="ko-KR" sz="1600" dirty="0"/>
              <a:t>, </a:t>
            </a:r>
            <a:r>
              <a:rPr lang="ko-KR" altLang="en-US" sz="1600" dirty="0"/>
              <a:t>중수</a:t>
            </a:r>
            <a:r>
              <a:rPr lang="en-US" altLang="ko-KR" sz="1600" dirty="0"/>
              <a:t>, </a:t>
            </a:r>
            <a:r>
              <a:rPr lang="ko-KR" altLang="en-US" sz="1600" dirty="0"/>
              <a:t>또는 가압가스</a:t>
            </a:r>
            <a:r>
              <a:rPr lang="en-US" altLang="ko-KR" sz="1600" dirty="0"/>
              <a:t>, </a:t>
            </a:r>
            <a:r>
              <a:rPr lang="ko-KR" altLang="en-US" sz="1600" dirty="0"/>
              <a:t>액체금속 등이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냉각제는 핵분열로 발생한 열을 열교환기로 전달하고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여기에서 물이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증기로 변환된다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증기는 터빈을 회전시키며</a:t>
            </a:r>
            <a:r>
              <a:rPr lang="en-US" altLang="ko-KR" sz="1600" dirty="0"/>
              <a:t>, </a:t>
            </a:r>
            <a:r>
              <a:rPr lang="ko-KR" altLang="en-US" sz="1600" dirty="0"/>
              <a:t>터빈의 회전력은 다시 발전기로 전달되어 전기가 생산된다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일련의 과정은 전통적인 열기관과 유사하지만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열원이 화석연료가 아닌 핵분열 반응이라는 점에서 본질적인 차이를 가진다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70137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1BB1E-E636-B444-29B8-AAFB26CED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97D906-15AC-697F-8755-FE736E685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E711FF-CAC3-CA34-1FB7-62A66EBD4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22B1A-DD1E-46C4-BDA6-0EBD5577004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연쇄반응의 속도와 원자로의 열 출력은 제어봉을 통해 정밀하게 조절된다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/>
              <a:t>하프늄 등 중성자를 흡수하는 물질로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노심 내에 삽입되는 깊이를 조절함으로써 노심 내 중성자의 밀도를 조절한다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깊게 삽입되면 중성자의 수가 감소하여 연쇄반응이 억제되며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제어봉이 인출되면 연쇄반응이 강화되어 출력이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이로써 원자로는 필요한 수준의 열 출력을 안정적으로 유지할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냉각제의 유량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온도 등의 조절 역시 원자로 출력제어의 주요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운영 중 원자로는 수많은 자동화된 계측 및 감시 시스템에 의해 지속적으로 상태가 점검된다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감시 항목에는 노심 온도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속도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방사선 수준 등이 포함되며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데이터는 실시간으로 제어실에 전달되어 운영자 또는 자동제어장치에 의해 판단된다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노심 내 이상 열 상승</a:t>
            </a:r>
            <a:r>
              <a:rPr lang="en-US" altLang="ko-KR" sz="1600" dirty="0"/>
              <a:t>, </a:t>
            </a:r>
            <a:r>
              <a:rPr lang="ko-KR" altLang="en-US" sz="1600" dirty="0"/>
              <a:t>냉각제 유출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밀도 급증 등 비정상적인 작동 조건이 감지되면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제어봉이 자동으로 전면 삽입되어 연쇄반응이 즉각 중단되고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원자로는 정지 상태로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자동정지 시스템은 원자로 안전의 핵심 중 하나로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예방뿐 아니라 인명 보호와 환경 재해를 방지하는 데 필수적인 장치이다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5574519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A0CD2-2BA3-AB6B-4B23-9473F793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B68D24-A976-5587-D218-695800F71C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68EF60-17CB-9AAB-F4CB-67B95339B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F7DF958-C831-D8BF-194E-D18FCFE80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원자력 발전소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364065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BF916-B823-BCC3-BF4F-A186E97A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0061F1-EB6B-5519-0331-FAB1D3AAA78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C161A2-3828-EAB8-6C38-F676070C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0F755C-FF7D-1BAD-5F02-03DF77711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원자력에너지의 경제성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66716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2A9F9-7BBF-C3C8-B1CF-563E948F3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68B656-2B11-E488-385C-0CC9D55105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363120-2945-5444-EB75-F301FA3B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18A4A4-DE9E-FD83-5958-D2D791653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원자력 산업의 경쟁구조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009088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6E00D-775B-0F11-3C55-530EDC46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C98B59-499E-B772-96DF-E256D18D39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0D8038-5FD2-2DF9-3BF7-B442E350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6215163-A070-ECA0-C85F-AC08302BA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원자력 발전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전력생산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106310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1FFA8-0285-6BC7-89E6-7AEABF1EA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1722F1-B86F-FA7C-EC2B-E1FF5845D7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BCBED2-506E-28C2-8531-29CAC4992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849E738-E699-EDAC-1856-3167C36F5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원자력의 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9507875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0A312-6E61-EA12-FA9E-05F90F90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4F7032-AE86-C757-2F08-D6FE5357245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7DA62-1EF3-92DE-C66C-CAD28640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61C3653-E745-8894-9B1A-1F4A509C9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에너지 전환과 원자력에너지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3620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B78F4-EF2F-3A3C-FC71-E2ECA8C9E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221901-C69A-31AB-3499-23B88F63206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1D5D2A-2645-89E2-6514-E7C50A917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879F139-7E79-E9A6-8460-10AA4133D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원자력의 미래전략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538957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11547</TotalTime>
  <Words>2272</Words>
  <Application>Microsoft Office PowerPoint</Application>
  <PresentationFormat>와이드스크린</PresentationFormat>
  <Paragraphs>176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2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5  원자력에너지</vt:lpstr>
      <vt:lpstr>Section 1. 개 론</vt:lpstr>
      <vt:lpstr>서론</vt:lpstr>
      <vt:lpstr>서론</vt:lpstr>
      <vt:lpstr>Section 2. 원자력에너지의 역사</vt:lpstr>
      <vt:lpstr>원자력에너지의 역사</vt:lpstr>
      <vt:lpstr>원자력에너지의 역사</vt:lpstr>
      <vt:lpstr>원자력에너지의 역사</vt:lpstr>
      <vt:lpstr>Section 3. 원자력 발전의 기본 원리</vt:lpstr>
      <vt:lpstr>핵분열과 핵융합</vt:lpstr>
      <vt:lpstr>핵분열과 핵융합</vt:lpstr>
      <vt:lpstr>우라늄 및 플루토늄 연료 주기</vt:lpstr>
      <vt:lpstr>우라늄 및 플루토늄 연료 주기</vt:lpstr>
      <vt:lpstr>원자로의 구조</vt:lpstr>
      <vt:lpstr>원자로의 구조</vt:lpstr>
      <vt:lpstr>원자로의 기본 작동 원리</vt:lpstr>
      <vt:lpstr>원자로의 기본 작동 원리</vt:lpstr>
      <vt:lpstr>Section 4. 원자력 발전소</vt:lpstr>
      <vt:lpstr>Section 5. 원자력에너지의 경제성</vt:lpstr>
      <vt:lpstr>Section 6. 원자력 산업의 경쟁구조</vt:lpstr>
      <vt:lpstr>Section 7. 원자력 발전 (전력생산)</vt:lpstr>
      <vt:lpstr>Section 8. 원자력의 미래</vt:lpstr>
      <vt:lpstr>Section 9. 에너지 전환과 원자력에너지</vt:lpstr>
      <vt:lpstr>Section 10. 원자력의 미래전략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523</cp:revision>
  <dcterms:created xsi:type="dcterms:W3CDTF">2025-07-05T05:15:23Z</dcterms:created>
  <dcterms:modified xsi:type="dcterms:W3CDTF">2026-06-18T08:19:12Z</dcterms:modified>
</cp:coreProperties>
</file>