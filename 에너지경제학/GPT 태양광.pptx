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charts/chart2.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LCOE (원/kWh)</c:v>
          </c:tx>
          <c:spPr>
            <a:solidFill>
              <a:srgbClr val="287E7E"/>
            </a:solidFill>
          </c:spPr>
          <c:invertIfNegative val="0"/>
          <c:dLbls>
            <c:numFmt formatCode="0.00" sourceLinked="0"/>
            <c:spPr>
              <a:noFill/>
              <a:ln>
                <a:noFill/>
              </a:ln>
              <a:effectLst/>
            </c:spPr>
            <c:txPr>
              <a:bodyPr anchorCtr="1"/>
              <a:lstStyle/>
              <a:p>
                <a:pPr>
                  <a:defRPr sz="1800" b="1">
                    <a:latin typeface="Noto Sans CJK KR"/>
                    <a:ea typeface="Noto Sans CJK KR"/>
                    <a:cs typeface="Noto Sans CJK KR"/>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10%</c:v>
              </c:pt>
              <c:pt idx="1">
                <c:v>13%</c:v>
              </c:pt>
              <c:pt idx="2">
                <c:v>14.875%</c:v>
              </c:pt>
              <c:pt idx="3">
                <c:v>16%</c:v>
              </c:pt>
              <c:pt idx="4">
                <c:v>18%</c:v>
              </c:pt>
            </c:strLit>
          </c:cat>
          <c:val>
            <c:numLit>
              <c:formatCode>General</c:formatCode>
              <c:ptCount val="5"/>
              <c:pt idx="0">
                <c:v>143.28</c:v>
              </c:pt>
              <c:pt idx="1">
                <c:v>110.21</c:v>
              </c:pt>
              <c:pt idx="2">
                <c:v>96.32</c:v>
              </c:pt>
              <c:pt idx="3">
                <c:v>89.55</c:v>
              </c:pt>
              <c:pt idx="4">
                <c:v>79.599999999999994</c:v>
              </c:pt>
            </c:numLit>
          </c:val>
          <c:extLst>
            <c:ext xmlns:c16="http://schemas.microsoft.com/office/drawing/2014/chart" uri="{C3380CC4-5D6E-409C-BE32-E72D297353CC}">
              <c16:uniqueId val="{00000000-510F-49F9-A198-3846A392EFC2}"/>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Noto Sans CJK KR"/>
                <a:ea typeface="Noto Sans CJK KR"/>
                <a:cs typeface="Noto Sans CJK KR"/>
              </a:defRPr>
            </a:pPr>
            <a:endParaRPr lang="ko-KR"/>
          </a:p>
        </c:txPr>
        <c:crossAx val="48672768"/>
        <c:crosses val="autoZero"/>
        <c:auto val="1"/>
        <c:lblAlgn val="ctr"/>
        <c:lblOffset val="100"/>
        <c:noMultiLvlLbl val="1"/>
      </c:catAx>
      <c:valAx>
        <c:axId val="48672768"/>
        <c:scaling>
          <c:orientation val="minMax"/>
          <c:max val="160"/>
          <c:min val="0"/>
        </c:scaling>
        <c:delete val="0"/>
        <c:axPos val="l"/>
        <c:majorGridlines>
          <c:spPr>
            <a:ln w="9525">
              <a:solidFill>
                <a:srgbClr val="E1E8EB"/>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Noto Sans CJK KR"/>
                <a:ea typeface="Noto Sans CJK KR"/>
                <a:cs typeface="Noto Sans CJK KR"/>
              </a:defRPr>
            </a:pPr>
            <a:endParaRPr lang="ko-KR"/>
          </a:p>
        </c:txPr>
        <c:crossAx val="48650112"/>
        <c:crosses val="autoZero"/>
        <c:crossBetween val="between"/>
        <c:majorUnit val="40"/>
      </c:valAx>
    </c:plotArea>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LCOE (원/kWh)</c:v>
          </c:tx>
          <c:spPr>
            <a:solidFill>
              <a:srgbClr val="287E7E"/>
            </a:solidFill>
          </c:spPr>
          <c:invertIfNegative val="0"/>
          <c:dLbls>
            <c:spPr>
              <a:noFill/>
              <a:ln>
                <a:noFill/>
              </a:ln>
              <a:effectLst/>
            </c:spPr>
            <c:txPr>
              <a:bodyPr anchorCtr="1"/>
              <a:lstStyle/>
              <a:p>
                <a:pPr>
                  <a:defRPr sz="1800" b="1">
                    <a:latin typeface="Noto Sans CJK KR"/>
                    <a:ea typeface="Noto Sans CJK KR"/>
                    <a:cs typeface="Noto Sans CJK KR"/>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0%</c:v>
              </c:pt>
              <c:pt idx="1">
                <c:v>3%</c:v>
              </c:pt>
              <c:pt idx="2">
                <c:v>4.5%</c:v>
              </c:pt>
              <c:pt idx="3">
                <c:v>6%</c:v>
              </c:pt>
              <c:pt idx="4">
                <c:v>9%</c:v>
              </c:pt>
            </c:strLit>
          </c:cat>
          <c:val>
            <c:numLit>
              <c:formatCode>General</c:formatCode>
              <c:ptCount val="5"/>
              <c:pt idx="0">
                <c:v>68.150000000000006</c:v>
              </c:pt>
              <c:pt idx="1">
                <c:v>86.2</c:v>
              </c:pt>
              <c:pt idx="2">
                <c:v>96.32</c:v>
              </c:pt>
              <c:pt idx="3">
                <c:v>107.13</c:v>
              </c:pt>
              <c:pt idx="4">
                <c:v>130.57</c:v>
              </c:pt>
            </c:numLit>
          </c:val>
          <c:extLst>
            <c:ext xmlns:c16="http://schemas.microsoft.com/office/drawing/2014/chart" uri="{C3380CC4-5D6E-409C-BE32-E72D297353CC}">
              <c16:uniqueId val="{00000000-BB22-4DD8-86D6-BE3174A90196}"/>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Noto Sans CJK KR"/>
                <a:ea typeface="Noto Sans CJK KR"/>
                <a:cs typeface="Noto Sans CJK KR"/>
              </a:defRPr>
            </a:pPr>
            <a:endParaRPr lang="ko-KR"/>
          </a:p>
        </c:txPr>
        <c:crossAx val="48672768"/>
        <c:crosses val="autoZero"/>
        <c:auto val="1"/>
        <c:lblAlgn val="ctr"/>
        <c:lblOffset val="100"/>
        <c:noMultiLvlLbl val="1"/>
      </c:catAx>
      <c:valAx>
        <c:axId val="48672768"/>
        <c:scaling>
          <c:orientation val="minMax"/>
          <c:max val="160"/>
          <c:min val="0"/>
        </c:scaling>
        <c:delete val="0"/>
        <c:axPos val="l"/>
        <c:majorGridlines>
          <c:spPr>
            <a:ln w="9525">
              <a:solidFill>
                <a:srgbClr val="E1E8EB"/>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Noto Sans CJK KR"/>
                <a:ea typeface="Noto Sans CJK KR"/>
                <a:cs typeface="Noto Sans CJK KR"/>
              </a:defRPr>
            </a:pPr>
            <a:endParaRPr lang="ko-KR"/>
          </a:p>
        </c:txPr>
        <c:crossAx val="48650112"/>
        <c:crosses val="autoZero"/>
        <c:crossBetween val="between"/>
        <c:majorUnit val="40"/>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업로드한 [강의시연_6].pptx의 강의시연 부분(5~19쪽)을 바탕으로 재구성. 연구실적과 채용·교육계획 부분은 제외. 학부 3~4학년 수준. 모든 비용과 성능 수치는 강의용 가정이며 현재 시공 견적이나 실제 캠퍼스 설계값이 아니다.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6, 13, 18쪽. 질문: 같은 부지에서 발전량이 달라지면 1kWh당 비용은 어떻게 달라질까? 원본의 주차장 활용 아이디어를 사례로 사용하되 실제 면적 조사나 구조 검토를 수행한 것으로 설명하지 않는다.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100kW를 3시간 내내 실제로 출력한 경우의 계산이다. 태양광의 출력은 일사와 온도에 따라 변하므로 명목용량에 낮 시간을 곱하면 실제 발전량을 과대평가할 수 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14쪽. 모듈 효율과 설비 이용률은 다르다. 효율은 빛에너지 대비 전기에너지의 비율, 이용률은 명목용량을 연중 계속 가동한 발전량 대비 실제 발전량의 비율이다. https://atb.nrel.gov/electricity/2024/pv-ac-dc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14~15쪽의 GHI 용어를 보완. Global Horizontal Irradiance는 수평면 전일사강도이며, 이를 시간 적분한 일사량은 irradiation으로 구분한다. 4.2는 원본 과제의 가정값이다. 수평면 자료를 경사면에 그대로 대입하면 정확한 AC 발전량이 되지 않는다. https://sam.nlr.gov/photovoltaic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18쪽의 면적·일사량·효율을 활용. 원본의 PR는 패널 피복률을 뜻하지만 일반적인 태양광 문헌에서 PR는 performance ratio이므로 피복률은 f로 바꾸었다. 0.85는 이번 강의에서 추가한 성능계수 가정이며 PVWatts의 기본 손실률과 동일하다는 뜻이 아니다. H는 원본 GHI 숫자를 연습용 모듈면 일사량으로 가정한 값이며 실제 변환을 했다는 의미가 아니다.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15쪽 공식을 보완. PR는 모듈온도·배선·인버터 등의 종합 손실을 단순화해 반영한다. 정밀 분석의 PR와 손실 항목 정의는 모델별로 확인해야 한다. 이 수업에서는 H를 모듈면 기준으로 두고 PR에 경사면 변환을 중복 반영하지 않는다.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18쪽 일사량 기반 정답과 연결. 중간의 1,333.33은 표시용 반올림이며 계산은 4,000/3의 정확한 값을 사용. 입사 태양에너지와 생산 전기에너지를 구분한다. 실제 발전량을 측정한 값이 아니다.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PR=0.85는 강의용 가정이다. 실제로는 모든 손실을 단순히 합산하는 것이 아니라 모델별로 단계에 맞게 적용한다. PVWatts는 인버터 효율과 온도 등을 별도로 처리한다. https://pvwatts.nlr.gov/docs/help_system_sysloss.php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STC=1,000W/m², 셀온도 25℃ 등의 표준시험조건. 단순 면적효율 관계이며 전기설계·경사·면적 정의 등을 별도 가정했다. f는 실제 모듈면적/부지면적으로 정의. 원본 DF=10과 불일치함을 뒤에서 설명. https://samrepo.nlr.gov/help/pvwatts_system_design.html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16,18쪽. CF=13%는 원본의 가정이며 최신 한국 실적을 의미하지 않는다. AC 발전량을 DC명목용량으로 나눈 CFdc로 일관되게 사용. 실제 전력시장 CF가 AC용량 기준이면 그대로 가져오면 안 된다. 이용률에 이미 반영된 손실을 다시 PR로 곱하지 않는다. https://atb.nrel.gov/electricity/2024/pv-ac-dc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계산의 마지막 줄은 역산한 일관된 이용률이다. 동일한 일사·손실 정보를 담은 CF를 쓰면 두 방법의 결과가 같아진다. 두 방법이 본질적으로 서로 다른 물리법칙을 사용하는 것은 아니다.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18쪽의 숫자를 그대로 대입하면 일사량 방식 PR 미반영 408,800kWh, 용량 방식 455,520kWh가 나온다. 이는 성능뿐 아니라 암묵적 설비용량도 다르다. 동일한 400kWdc를 f=1/3, 효율20%로 표현할 수는 없다. f가 다른 면적 정의라면 그 정의와 경사 기하조건을 추가해야 한다. 본 강의는 DF=15로 통일해 비교한다.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7~8쪽. O&amp;M은 operation and maintenance, 운영유지보수로 표현. 태양광에 연료 구매비는 없지만 제조·설치 비용이 없는 것은 아니다. 기본 예제에서는 토지·교체·해체·세금·보조금 등을 제외하며 실제 사업에는 포함범위를 명시해야 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9쪽. 할인율 5%는 개념 예시이며 이후 LCOE 기본 사례의 할인율은 4.5%. 실제 비교에는 실질비용과 실질할인율, 명목비용과 명목할인율을 일치시킨다.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9쪽 공식. 발전량을 할인하는 이유는 전기가 물리적으로 줄어서가 아니다. 일정한 전력 단가 p를 모든 연도에 적용할 때 p×할인 발전량=할인 비용이 되도록 정의한다. 연간 비용은 연말, 투자비는 t=0에 지출. 토지·교체·해체·잔존가치 등은 필요하면 비용 항에 추가. https://www.nlr.gov/analysis/tech-lcoe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18쪽의 단가·수명·할인율 유지. P=4000/15로 계산. 원단위 결과는 표시상 반올림. 불변가격과 실질할인율 가정. 출력 감소·토지·중간 교체·해체·세금·보조금은 기본 예제에서 제외.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r=0인 경우 CRF=1/T의 극한을 사용. CRF를 사용한 연간 환산은 투자비를 해마다 실제로 낸다는 뜻이 아니다. 일정한 실질 운영비·발전량과 동일 할인율일 때 현재가치 방식과 같다. https://nrel.sitefinity.cloud/analysis/tech-lcoe-documentation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정확한 결과 96.3223307982원/kWh. 모든 계산은 반올림 전 숫자로 수행. 초기투자비364266666.6667, OM5466666.6667, CRF.0768761443. 원본을 보완한 DF15, PR.85 사용.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운영유지비 PV=71110052.6013원. 초기투자비와 각 PV는 표시 반올림 때문에 합계에1원 차이가 있을 수 있다. 발전량 할인합계는 실제 물리적 누적 발전량6949600kWh와 다르다. LCOE 계산의 할인 가중치 합계임을 강조한다.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모든 행에서 P=266.6667kWdc, I0·OM·T·r 동일. 두 방법의 LCOE 차이를 방법 자체의 우열로 결론내리지 말고 일사 및 성능 가정 차이로 해석한다.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추가 가정 d=.005, 첫해 E1=347480, 비용과 할인율은 기본 사례와 동일. 매년 물리적 발전량이 감소하므로 일정발전량용 단순 CRF식을 분모 E1에 그대로 적용하지 않고 현재가치 합산식을 사용. 두 수치는 이번 강의의 계산값이며 특정 모듈의 실측 열화율이 아니다.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차트 CF10%,13%,14.875%,16%,18%에서143.2795,110.2150,96.3223,89.5497,79.5997원/kWh. c=1366000,o=20500,CRF=.0768761443. 설비용량당 공식 LCOE=(cCRF+o)/(CF8760). CF는 DC명목 기준이다.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0%,3%,4.5%,6%,9%에서68.1478,86.1952,96.3223,107.1287,130.5710원/kWh. r=0의 CRF는1/20. 다른 조건이 동일한 비교이고 자금조달을 위한 실제 금융조건 추정이 아니다.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원본10~11,19쪽 보완. 특정 연도의 LCOE 순위는 국가·규모·할인율·일사조건별로 달라 보편적 서열로 제시하지 않는다. 태양광은 운전 중 직접 배출이 낮지만 제조·설치·폐기 등 전 과정 배출은 존재. 대체로 화석발전의 부정적 외부효과를 회피하는 편익으로 설명하며 자동으로 긍정적 외부효과라고 부르지 않는다. CO2가격을 연료비/운영비에 넣으면 LCOE에 이미 반영될 수 있어 중복 가산에 주의.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수업중 5~7분 계산. 실무 견적이 아닌 새 교육용 가정이다. 학생용 슬라이드 다음에 해설. ①66.6667원②96.90925원. ③포함된 비용·발전량·수명·정액실질판매단가 가정이 유지된다면 할인수입이 할인비용보다 크다. 현금수입확정, 세후IRR, 실제수익보장은 아니다.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r5%정확한CRF.0802425871906913, LCOE96.909253857358원/kWh. 학생에게 주어진 반올림계수.080243 사용하면96.9096667로 소수둘째96.91 동일. 기본 수익비교는 일정한 실질판매단가100원/kWh가20년 유지되고 명시된 비용만 존재한다는 가정이다.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요약. 공식만 외우기보다 단위와 비용 범위, 성능 가정의 일관성을 점검하도록 마무리한다. 원본과 다른 추가 교육용 가정: H를 모듈면 일사량으로 단순화, PR.85, DF15, 출력감소.005의 민감도, 연습문제100kW.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원본 파일 사용자 제공 [강의시연_6].pptx,5~19쪽. 원본이 제시한 조회경로 https://kier-solar.org/user/gis/map/sl 및 https://epsis.kpx.or.kr/epsisnew/selectKnreUtilRtoChart.do?menuId=010100 에서 이번 과제의 실측값을 새로 내려받은 것은 아니다. 보완 자료 https://sam.nlr.gov/photovoltaic , https://samrepo.nlr.gov/help/pvwatts_system_design.html , https://atb.nrel.gov/electricity/2024/pv-ac-dc , https://www.nlr.gov/analysis/tech-lcoe , https://nrel.sitefinity.cloud/analysis/tech-lcoe-documentation . 확인일2026-10-26.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7DA635-0A67-4575-8350-A7505493428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3C844CE-D8FC-4303-89F4-AA9539ECAE9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B1E5EF4-8CCA-4FFA-9335-08F5ECAFD38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7125AEF-8825-4F8A-A468-4E9F5B1DA6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05D6493-C563-4798-901C-FB965F8FDB3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A4FA242-AAFE-4EE8-9D0D-8F4F251C781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7F6589A-57D8-4699-994C-B2AD5619374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5584F7E-5A39-47F6-9D59-E1DC2CC51BC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70CF63-8F0C-43D1-BBA2-FB60E2DFEA4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BB2F8AF-6804-44C7-99C5-4AB71A93E9E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A4A"/>
        </a:solidFill>
        <a:effectLst/>
      </p:bgPr>
    </p:bg>
    <p:spTree>
      <p:nvGrpSpPr>
        <p:cNvPr id="1" name=""/>
        <p:cNvGrpSpPr/>
        <p:nvPr/>
      </p:nvGrpSpPr>
      <p:grpSpPr>
        <a:xfrm>
          <a:off x="0" y="0"/>
          <a:ext cx="0" cy="0"/>
          <a:chOff x="0" y="0"/>
          <a:chExt cx="0" cy="0"/>
        </a:xfrm>
      </p:grpSpPr>
      <p:sp>
        <p:nvSpPr>
          <p:cNvPr id="2" name="cover-title">
            <a:extLst>
              <a:ext uri="{FF2B5EF4-FFF2-40B4-BE49-F238E27FC236}">
                <a16:creationId xmlns:a16="http://schemas.microsoft.com/office/drawing/2014/main" id="{AE50D6C3-843E-40BB-9E29-3FCA015A2A4D}"/>
              </a:ext>
            </a:extLst>
          </p:cNvPr>
          <p:cNvSpPr>
            <a:spLocks noGrp="1"/>
          </p:cNvSpPr>
          <p:nvPr/>
        </p:nvSpPr>
        <p:spPr>
          <a:xfrm>
            <a:off x="723900" y="1476375"/>
            <a:ext cx="10668000" cy="2000250"/>
          </a:xfrm>
          <a:prstGeom prst="rect">
            <a:avLst/>
          </a:prstGeom>
          <a:noFill/>
          <a:ln w="0">
            <a:noFill/>
            <a:prstDash val="solid"/>
          </a:ln>
        </p:spPr>
        <p:txBody>
          <a:bodyPr wrap="square" lIns="0" tIns="0" rIns="0" bIns="0" anchor="t">
            <a:noAutofit/>
          </a:bodyPr>
          <a:lstStyle>
            <a:defPPr>
              <a:defRPr sz="4425" b="1">
                <a:solidFill>
                  <a:srgbClr val="FFFFFF"/>
                </a:solidFill>
                <a:latin typeface="Noto Sans CJK KR"/>
                <a:ea typeface="Noto Sans CJK KR"/>
                <a:cs typeface="Noto Sans CJK KR"/>
              </a:defRPr>
            </a:defPPr>
            <a:lvl1pPr>
              <a:defRPr sz="4425" b="1">
                <a:solidFill>
                  <a:srgbClr val="FFFFFF"/>
                </a:solidFill>
                <a:latin typeface="Noto Sans CJK KR"/>
                <a:ea typeface="Noto Sans CJK KR"/>
                <a:cs typeface="Noto Sans CJK KR"/>
              </a:defRPr>
            </a:lvl1pPr>
            <a:lvl2pPr>
              <a:defRPr sz="4425" b="1">
                <a:solidFill>
                  <a:srgbClr val="FFFFFF"/>
                </a:solidFill>
                <a:latin typeface="Noto Sans CJK KR"/>
                <a:ea typeface="Noto Sans CJK KR"/>
                <a:cs typeface="Noto Sans CJK KR"/>
              </a:defRPr>
            </a:lvl2pPr>
            <a:lvl3pPr>
              <a:defRPr sz="4425" b="1">
                <a:solidFill>
                  <a:srgbClr val="FFFFFF"/>
                </a:solidFill>
                <a:latin typeface="Noto Sans CJK KR"/>
                <a:ea typeface="Noto Sans CJK KR"/>
                <a:cs typeface="Noto Sans CJK KR"/>
              </a:defRPr>
            </a:lvl3pPr>
            <a:lvl4pPr>
              <a:defRPr sz="4425" b="1">
                <a:solidFill>
                  <a:srgbClr val="FFFFFF"/>
                </a:solidFill>
                <a:latin typeface="Noto Sans CJK KR"/>
                <a:ea typeface="Noto Sans CJK KR"/>
                <a:cs typeface="Noto Sans CJK KR"/>
              </a:defRPr>
            </a:lvl4pPr>
            <a:lvl5pPr>
              <a:defRPr sz="4425" b="1">
                <a:solidFill>
                  <a:srgbClr val="FFFFFF"/>
                </a:solidFill>
                <a:latin typeface="Noto Sans CJK KR"/>
                <a:ea typeface="Noto Sans CJK KR"/>
                <a:cs typeface="Noto Sans CJK KR"/>
              </a:defRPr>
            </a:lvl5pPr>
            <a:lvl6pPr>
              <a:defRPr sz="4425" b="1">
                <a:solidFill>
                  <a:srgbClr val="FFFFFF"/>
                </a:solidFill>
                <a:latin typeface="Noto Sans CJK KR"/>
                <a:ea typeface="Noto Sans CJK KR"/>
                <a:cs typeface="Noto Sans CJK KR"/>
              </a:defRPr>
            </a:lvl6pPr>
            <a:lvl7pPr>
              <a:defRPr sz="4425" b="1">
                <a:solidFill>
                  <a:srgbClr val="FFFFFF"/>
                </a:solidFill>
                <a:latin typeface="Noto Sans CJK KR"/>
                <a:ea typeface="Noto Sans CJK KR"/>
                <a:cs typeface="Noto Sans CJK KR"/>
              </a:defRPr>
            </a:lvl7pPr>
            <a:lvl8pPr>
              <a:defRPr sz="4425" b="1">
                <a:solidFill>
                  <a:srgbClr val="FFFFFF"/>
                </a:solidFill>
                <a:latin typeface="Noto Sans CJK KR"/>
                <a:ea typeface="Noto Sans CJK KR"/>
                <a:cs typeface="Noto Sans CJK KR"/>
              </a:defRPr>
            </a:lvl8pPr>
            <a:lvl9pPr>
              <a:defRPr sz="4425" b="1">
                <a:solidFill>
                  <a:srgbClr val="FFFFFF"/>
                </a:solidFill>
                <a:latin typeface="Noto Sans CJK KR"/>
                <a:ea typeface="Noto Sans CJK KR"/>
                <a:cs typeface="Noto Sans CJK KR"/>
              </a:defRPr>
            </a:lvl9pPr>
          </a:lstStyle>
          <a:p>
            <a:pPr>
              <a:defRPr sz="4425" b="1">
                <a:solidFill>
                  <a:srgbClr val="FFFFFF"/>
                </a:solidFill>
                <a:latin typeface="Noto Sans CJK KR"/>
                <a:ea typeface="Noto Sans CJK KR"/>
                <a:cs typeface="Noto Sans CJK KR"/>
              </a:defRPr>
            </a:pPr>
            <a:r>
              <a:rPr sz="4425" b="1">
                <a:solidFill>
                  <a:srgbClr val="FFFFFF"/>
                </a:solidFill>
                <a:latin typeface="Noto Sans CJK KR"/>
                <a:ea typeface="Noto Sans CJK KR"/>
                <a:cs typeface="Noto Sans CJK KR"/>
              </a:rPr>
              <a:t>태양광 발전량과</a:t>
            </a:r>
          </a:p>
          <a:p>
            <a:pPr>
              <a:defRPr sz="4425" b="1">
                <a:solidFill>
                  <a:srgbClr val="FFFFFF"/>
                </a:solidFill>
                <a:latin typeface="Noto Sans CJK KR"/>
                <a:ea typeface="Noto Sans CJK KR"/>
                <a:cs typeface="Noto Sans CJK KR"/>
              </a:defRPr>
            </a:pPr>
            <a:r>
              <a:rPr sz="4425" b="1">
                <a:solidFill>
                  <a:srgbClr val="FFFFFF"/>
                </a:solidFill>
                <a:latin typeface="Noto Sans CJK KR"/>
                <a:ea typeface="Noto Sans CJK KR"/>
                <a:cs typeface="Noto Sans CJK KR"/>
              </a:rPr>
              <a:t>균등화발전비용 계산</a:t>
            </a:r>
          </a:p>
        </p:txBody>
      </p:sp>
      <p:sp>
        <p:nvSpPr>
          <p:cNvPr id="3" name="cover-sub">
            <a:extLst>
              <a:ext uri="{FF2B5EF4-FFF2-40B4-BE49-F238E27FC236}">
                <a16:creationId xmlns:a16="http://schemas.microsoft.com/office/drawing/2014/main" id="{A7189BA1-4EFF-44F0-9BEB-05BE55860E96}"/>
              </a:ext>
            </a:extLst>
          </p:cNvPr>
          <p:cNvSpPr>
            <a:spLocks noGrp="1"/>
          </p:cNvSpPr>
          <p:nvPr/>
        </p:nvSpPr>
        <p:spPr>
          <a:xfrm>
            <a:off x="762000" y="857250"/>
            <a:ext cx="8572500" cy="428625"/>
          </a:xfrm>
          <a:prstGeom prst="rect">
            <a:avLst/>
          </a:prstGeom>
          <a:noFill/>
          <a:ln w="0">
            <a:noFill/>
            <a:prstDash val="solid"/>
          </a:ln>
        </p:spPr>
        <p:txBody>
          <a:bodyPr wrap="square" lIns="0" tIns="0" rIns="0" bIns="0" anchor="t">
            <a:noAutofit/>
          </a:bodyPr>
          <a:lstStyle>
            <a:defPPr>
              <a:defRPr sz="2025" b="0">
                <a:solidFill>
                  <a:srgbClr val="B6D9D1"/>
                </a:solidFill>
                <a:latin typeface="Noto Sans CJK KR"/>
                <a:ea typeface="Noto Sans CJK KR"/>
                <a:cs typeface="Noto Sans CJK KR"/>
              </a:defRPr>
            </a:defPPr>
            <a:lvl1pPr>
              <a:defRPr sz="2025" b="0">
                <a:solidFill>
                  <a:srgbClr val="B6D9D1"/>
                </a:solidFill>
                <a:latin typeface="Noto Sans CJK KR"/>
                <a:ea typeface="Noto Sans CJK KR"/>
                <a:cs typeface="Noto Sans CJK KR"/>
              </a:defRPr>
            </a:lvl1pPr>
            <a:lvl2pPr>
              <a:defRPr sz="2025" b="0">
                <a:solidFill>
                  <a:srgbClr val="B6D9D1"/>
                </a:solidFill>
                <a:latin typeface="Noto Sans CJK KR"/>
                <a:ea typeface="Noto Sans CJK KR"/>
                <a:cs typeface="Noto Sans CJK KR"/>
              </a:defRPr>
            </a:lvl2pPr>
            <a:lvl3pPr>
              <a:defRPr sz="2025" b="0">
                <a:solidFill>
                  <a:srgbClr val="B6D9D1"/>
                </a:solidFill>
                <a:latin typeface="Noto Sans CJK KR"/>
                <a:ea typeface="Noto Sans CJK KR"/>
                <a:cs typeface="Noto Sans CJK KR"/>
              </a:defRPr>
            </a:lvl3pPr>
            <a:lvl4pPr>
              <a:defRPr sz="2025" b="0">
                <a:solidFill>
                  <a:srgbClr val="B6D9D1"/>
                </a:solidFill>
                <a:latin typeface="Noto Sans CJK KR"/>
                <a:ea typeface="Noto Sans CJK KR"/>
                <a:cs typeface="Noto Sans CJK KR"/>
              </a:defRPr>
            </a:lvl4pPr>
            <a:lvl5pPr>
              <a:defRPr sz="2025" b="0">
                <a:solidFill>
                  <a:srgbClr val="B6D9D1"/>
                </a:solidFill>
                <a:latin typeface="Noto Sans CJK KR"/>
                <a:ea typeface="Noto Sans CJK KR"/>
                <a:cs typeface="Noto Sans CJK KR"/>
              </a:defRPr>
            </a:lvl5pPr>
            <a:lvl6pPr>
              <a:defRPr sz="2025" b="0">
                <a:solidFill>
                  <a:srgbClr val="B6D9D1"/>
                </a:solidFill>
                <a:latin typeface="Noto Sans CJK KR"/>
                <a:ea typeface="Noto Sans CJK KR"/>
                <a:cs typeface="Noto Sans CJK KR"/>
              </a:defRPr>
            </a:lvl6pPr>
            <a:lvl7pPr>
              <a:defRPr sz="2025" b="0">
                <a:solidFill>
                  <a:srgbClr val="B6D9D1"/>
                </a:solidFill>
                <a:latin typeface="Noto Sans CJK KR"/>
                <a:ea typeface="Noto Sans CJK KR"/>
                <a:cs typeface="Noto Sans CJK KR"/>
              </a:defRPr>
            </a:lvl7pPr>
            <a:lvl8pPr>
              <a:defRPr sz="2025" b="0">
                <a:solidFill>
                  <a:srgbClr val="B6D9D1"/>
                </a:solidFill>
                <a:latin typeface="Noto Sans CJK KR"/>
                <a:ea typeface="Noto Sans CJK KR"/>
                <a:cs typeface="Noto Sans CJK KR"/>
              </a:defRPr>
            </a:lvl8pPr>
            <a:lvl9pPr>
              <a:defRPr sz="2025" b="0">
                <a:solidFill>
                  <a:srgbClr val="B6D9D1"/>
                </a:solidFill>
                <a:latin typeface="Noto Sans CJK KR"/>
                <a:ea typeface="Noto Sans CJK KR"/>
                <a:cs typeface="Noto Sans CJK KR"/>
              </a:defRPr>
            </a:lvl9pPr>
          </a:lstStyle>
          <a:p>
            <a:pPr>
              <a:defRPr sz="2025" b="0">
                <a:solidFill>
                  <a:srgbClr val="B6D9D1"/>
                </a:solidFill>
                <a:latin typeface="Noto Sans CJK KR"/>
                <a:ea typeface="Noto Sans CJK KR"/>
                <a:cs typeface="Noto Sans CJK KR"/>
              </a:defRPr>
            </a:pPr>
            <a:r>
              <a:rPr sz="2025" b="0">
                <a:solidFill>
                  <a:srgbClr val="B6D9D1"/>
                </a:solidFill>
                <a:latin typeface="Noto Sans CJK KR"/>
                <a:ea typeface="Noto Sans CJK KR"/>
                <a:cs typeface="Noto Sans CJK KR"/>
              </a:rPr>
              <a:t>자원·에너지경제학</a:t>
            </a:r>
          </a:p>
        </p:txBody>
      </p:sp>
      <p:sp>
        <p:nvSpPr>
          <p:cNvPr id="4" name="cover-body">
            <a:extLst>
              <a:ext uri="{FF2B5EF4-FFF2-40B4-BE49-F238E27FC236}">
                <a16:creationId xmlns:a16="http://schemas.microsoft.com/office/drawing/2014/main" id="{B0408720-EEED-4C0F-B6B6-BF55763F36CF}"/>
              </a:ext>
            </a:extLst>
          </p:cNvPr>
          <p:cNvSpPr>
            <a:spLocks noGrp="1"/>
          </p:cNvSpPr>
          <p:nvPr/>
        </p:nvSpPr>
        <p:spPr>
          <a:xfrm>
            <a:off x="762000" y="4000500"/>
            <a:ext cx="10477500" cy="1333500"/>
          </a:xfrm>
          <a:prstGeom prst="rect">
            <a:avLst/>
          </a:prstGeom>
          <a:noFill/>
          <a:ln w="0">
            <a:noFill/>
            <a:prstDash val="solid"/>
          </a:ln>
        </p:spPr>
        <p:txBody>
          <a:bodyPr wrap="square" lIns="0" tIns="0" rIns="0" bIns="0" anchor="t">
            <a:noAutofit/>
          </a:bodyPr>
          <a:lstStyle>
            <a:defPPr>
              <a:defRPr sz="2100" b="0">
                <a:solidFill>
                  <a:srgbClr val="FFFFFF"/>
                </a:solidFill>
                <a:latin typeface="Noto Sans CJK KR"/>
                <a:ea typeface="Noto Sans CJK KR"/>
                <a:cs typeface="Noto Sans CJK KR"/>
              </a:defRPr>
            </a:defPPr>
            <a:lvl1pPr>
              <a:defRPr sz="2100" b="0">
                <a:solidFill>
                  <a:srgbClr val="FFFFFF"/>
                </a:solidFill>
                <a:latin typeface="Noto Sans CJK KR"/>
                <a:ea typeface="Noto Sans CJK KR"/>
                <a:cs typeface="Noto Sans CJK KR"/>
              </a:defRPr>
            </a:lvl1pPr>
            <a:lvl2pPr>
              <a:defRPr sz="2100" b="0">
                <a:solidFill>
                  <a:srgbClr val="FFFFFF"/>
                </a:solidFill>
                <a:latin typeface="Noto Sans CJK KR"/>
                <a:ea typeface="Noto Sans CJK KR"/>
                <a:cs typeface="Noto Sans CJK KR"/>
              </a:defRPr>
            </a:lvl2pPr>
            <a:lvl3pPr>
              <a:defRPr sz="2100" b="0">
                <a:solidFill>
                  <a:srgbClr val="FFFFFF"/>
                </a:solidFill>
                <a:latin typeface="Noto Sans CJK KR"/>
                <a:ea typeface="Noto Sans CJK KR"/>
                <a:cs typeface="Noto Sans CJK KR"/>
              </a:defRPr>
            </a:lvl3pPr>
            <a:lvl4pPr>
              <a:defRPr sz="2100" b="0">
                <a:solidFill>
                  <a:srgbClr val="FFFFFF"/>
                </a:solidFill>
                <a:latin typeface="Noto Sans CJK KR"/>
                <a:ea typeface="Noto Sans CJK KR"/>
                <a:cs typeface="Noto Sans CJK KR"/>
              </a:defRPr>
            </a:lvl4pPr>
            <a:lvl5pPr>
              <a:defRPr sz="2100" b="0">
                <a:solidFill>
                  <a:srgbClr val="FFFFFF"/>
                </a:solidFill>
                <a:latin typeface="Noto Sans CJK KR"/>
                <a:ea typeface="Noto Sans CJK KR"/>
                <a:cs typeface="Noto Sans CJK KR"/>
              </a:defRPr>
            </a:lvl5pPr>
            <a:lvl6pPr>
              <a:defRPr sz="2100" b="0">
                <a:solidFill>
                  <a:srgbClr val="FFFFFF"/>
                </a:solidFill>
                <a:latin typeface="Noto Sans CJK KR"/>
                <a:ea typeface="Noto Sans CJK KR"/>
                <a:cs typeface="Noto Sans CJK KR"/>
              </a:defRPr>
            </a:lvl6pPr>
            <a:lvl7pPr>
              <a:defRPr sz="2100" b="0">
                <a:solidFill>
                  <a:srgbClr val="FFFFFF"/>
                </a:solidFill>
                <a:latin typeface="Noto Sans CJK KR"/>
                <a:ea typeface="Noto Sans CJK KR"/>
                <a:cs typeface="Noto Sans CJK KR"/>
              </a:defRPr>
            </a:lvl7pPr>
            <a:lvl8pPr>
              <a:defRPr sz="2100" b="0">
                <a:solidFill>
                  <a:srgbClr val="FFFFFF"/>
                </a:solidFill>
                <a:latin typeface="Noto Sans CJK KR"/>
                <a:ea typeface="Noto Sans CJK KR"/>
                <a:cs typeface="Noto Sans CJK KR"/>
              </a:defRPr>
            </a:lvl8pPr>
            <a:lvl9pPr>
              <a:defRPr sz="2100" b="0">
                <a:solidFill>
                  <a:srgbClr val="FFFFFF"/>
                </a:solidFill>
                <a:latin typeface="Noto Sans CJK KR"/>
                <a:ea typeface="Noto Sans CJK KR"/>
                <a:cs typeface="Noto Sans CJK KR"/>
              </a:defRPr>
            </a:lvl9pPr>
          </a:lstStyle>
          <a:p>
            <a:pPr>
              <a:defRPr sz="2100" b="0">
                <a:solidFill>
                  <a:srgbClr val="FFFFFF"/>
                </a:solidFill>
                <a:latin typeface="Noto Sans CJK KR"/>
                <a:ea typeface="Noto Sans CJK KR"/>
                <a:cs typeface="Noto Sans CJK KR"/>
              </a:defRPr>
            </a:pPr>
            <a:r>
              <a:rPr sz="2100" b="0">
                <a:solidFill>
                  <a:srgbClr val="FFFFFF"/>
                </a:solidFill>
                <a:latin typeface="Noto Sans CJK KR"/>
                <a:ea typeface="Noto Sans CJK KR"/>
                <a:cs typeface="Noto Sans CJK KR"/>
              </a:rPr>
              <a:t>발전량 추정과 비용 계산을 연결하는 실습 강의</a:t>
            </a:r>
          </a:p>
          <a:p>
            <a:pPr>
              <a:defRPr sz="2100" b="0">
                <a:solidFill>
                  <a:srgbClr val="FFFFFF"/>
                </a:solidFill>
                <a:latin typeface="Noto Sans CJK KR"/>
                <a:ea typeface="Noto Sans CJK KR"/>
                <a:cs typeface="Noto Sans CJK KR"/>
              </a:defRPr>
            </a:pPr>
            <a:r>
              <a:rPr sz="2100" b="0">
                <a:solidFill>
                  <a:srgbClr val="FFFFFF"/>
                </a:solidFill>
                <a:latin typeface="Noto Sans CJK KR"/>
                <a:ea typeface="Noto Sans CJK KR"/>
                <a:cs typeface="Noto Sans CJK KR"/>
              </a:rPr>
              <a:t>전승호  국립한밭대학교 경제학과</a:t>
            </a:r>
          </a:p>
        </p:txBody>
      </p:sp>
    </p:spTree>
    <p:extLst>
      <p:ext uri="{BB962C8B-B14F-4D97-AF65-F5344CB8AC3E}">
        <p14:creationId xmlns:p14="http://schemas.microsoft.com/office/powerpoint/2010/main" val="980790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115CE28-ABE9-41A2-9116-2E8A7C516E93}"/>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학습 목표</a:t>
            </a:r>
          </a:p>
        </p:txBody>
      </p:sp>
      <p:sp>
        <p:nvSpPr>
          <p:cNvPr id="3" name="page">
            <a:extLst>
              <a:ext uri="{FF2B5EF4-FFF2-40B4-BE49-F238E27FC236}">
                <a16:creationId xmlns:a16="http://schemas.microsoft.com/office/drawing/2014/main" id="{CC6576FD-22A4-4F3A-89F5-7A4864CF1E08}"/>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a:t>
            </a:r>
          </a:p>
        </p:txBody>
      </p:sp>
      <p:sp>
        <p:nvSpPr>
          <p:cNvPr id="4" name="body">
            <a:extLst>
              <a:ext uri="{FF2B5EF4-FFF2-40B4-BE49-F238E27FC236}">
                <a16:creationId xmlns:a16="http://schemas.microsoft.com/office/drawing/2014/main" id="{867FCECB-2AEA-4B1C-AFB9-714F2F637BB3}"/>
              </a:ext>
            </a:extLst>
          </p:cNvPr>
          <p:cNvSpPr>
            <a:spLocks noGrp="1"/>
          </p:cNvSpPr>
          <p:nvPr/>
        </p:nvSpPr>
        <p:spPr>
          <a:xfrm>
            <a:off x="685800" y="157162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설비용량 kW와 발전량 kWh를 구분한다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일사량과 이용률을 이용해 연간 발전량을 계산한다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할인을 적용해 태양광 LCOE를 계산한다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추정 방법의 가정과 LCOE의 해석 범위를 설명한다</a:t>
            </a:r>
          </a:p>
        </p:txBody>
      </p:sp>
      <p:sp>
        <p:nvSpPr>
          <p:cNvPr id="5" name="bottom">
            <a:extLst>
              <a:ext uri="{FF2B5EF4-FFF2-40B4-BE49-F238E27FC236}">
                <a16:creationId xmlns:a16="http://schemas.microsoft.com/office/drawing/2014/main" id="{93C07BC0-126C-4911-8214-E76B8A87E9A6}"/>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수업 사례  한밭대학교 인근 4,000m² 부지에 태양광 설치</a:t>
            </a:r>
          </a:p>
        </p:txBody>
      </p:sp>
    </p:spTree>
    <p:extLst>
      <p:ext uri="{BB962C8B-B14F-4D97-AF65-F5344CB8AC3E}">
        <p14:creationId xmlns:p14="http://schemas.microsoft.com/office/powerpoint/2010/main" val="191553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1BB0914-D2D5-4DB9-9415-568EEE9430BA}"/>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설비용량과 발전량</a:t>
            </a:r>
          </a:p>
        </p:txBody>
      </p:sp>
      <p:sp>
        <p:nvSpPr>
          <p:cNvPr id="3" name="page">
            <a:extLst>
              <a:ext uri="{FF2B5EF4-FFF2-40B4-BE49-F238E27FC236}">
                <a16:creationId xmlns:a16="http://schemas.microsoft.com/office/drawing/2014/main" id="{AF6DDC55-DAC2-4B10-BFF2-7A751EB25304}"/>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3</a:t>
            </a:r>
          </a:p>
        </p:txBody>
      </p:sp>
      <p:graphicFrame>
        <p:nvGraphicFramePr>
          <p:cNvPr id="4" name="표 3">
            <a:extLst>
              <a:ext uri="{FF2B5EF4-FFF2-40B4-BE49-F238E27FC236}">
                <a16:creationId xmlns:a16="http://schemas.microsoft.com/office/drawing/2014/main" id="{A22C4AF2-5C9C-4C14-8D91-12860FBA9F8A}"/>
              </a:ext>
            </a:extLst>
          </p:cNvPr>
          <p:cNvGraphicFramePr/>
          <p:nvPr/>
        </p:nvGraphicFramePr>
        <p:xfrm>
          <a:off x="685800" y="1571625"/>
          <a:ext cx="10820400" cy="2286000"/>
        </p:xfrm>
        <a:graphic>
          <a:graphicData uri="http://schemas.openxmlformats.org/drawingml/2006/table">
            <a:tbl>
              <a:tblPr/>
              <a:tblGrid>
                <a:gridCol w="2762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571500">
                <a:tc>
                  <a:txBody>
                    <a:bodyPr/>
                    <a:lstStyle/>
                    <a:p>
                      <a:r>
                        <a:rPr sz="1725" b="1">
                          <a:solidFill>
                            <a:srgbClr val="FFFFFF"/>
                          </a:solidFill>
                          <a:latin typeface="Noto Sans CJK KR"/>
                          <a:ea typeface="Noto Sans CJK KR"/>
                          <a:cs typeface="Noto Sans CJK KR"/>
                        </a:rPr>
                        <a:t>구분</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설비용량</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발전량</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의미</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순간적으로 낼 수 있는 출력</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일정 기간 생산한 전기에너지</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단위</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kW 또는 MW</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kWh 또는 MWh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예시</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100kW 설비</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100kW × 3시간 = 300kWh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bottom">
            <a:extLst>
              <a:ext uri="{FF2B5EF4-FFF2-40B4-BE49-F238E27FC236}">
                <a16:creationId xmlns:a16="http://schemas.microsoft.com/office/drawing/2014/main" id="{75874AD4-246C-401D-B962-EF9D95B30E0E}"/>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1MW = 1,000kW     1MWh = 1,000kWh</a:t>
            </a:r>
          </a:p>
        </p:txBody>
      </p:sp>
    </p:spTree>
    <p:extLst>
      <p:ext uri="{BB962C8B-B14F-4D97-AF65-F5344CB8AC3E}">
        <p14:creationId xmlns:p14="http://schemas.microsoft.com/office/powerpoint/2010/main" val="1021722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980510F-DEAB-46C8-8D21-F21D5DF8860B}"/>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태양광 발전과 전력의 전달</a:t>
            </a:r>
          </a:p>
        </p:txBody>
      </p:sp>
      <p:sp>
        <p:nvSpPr>
          <p:cNvPr id="3" name="page">
            <a:extLst>
              <a:ext uri="{FF2B5EF4-FFF2-40B4-BE49-F238E27FC236}">
                <a16:creationId xmlns:a16="http://schemas.microsoft.com/office/drawing/2014/main" id="{3AD23E29-7492-4AA5-9724-CA8CE8232853}"/>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4</a:t>
            </a:r>
          </a:p>
        </p:txBody>
      </p:sp>
      <p:sp>
        <p:nvSpPr>
          <p:cNvPr id="4" name="formula">
            <a:extLst>
              <a:ext uri="{FF2B5EF4-FFF2-40B4-BE49-F238E27FC236}">
                <a16:creationId xmlns:a16="http://schemas.microsoft.com/office/drawing/2014/main" id="{8814D481-9B6A-409E-B2B1-87708D07DAFD}"/>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햇빛  →  모듈의 직류 전력  →  인버터의 교류 전력</a:t>
            </a:r>
          </a:p>
        </p:txBody>
      </p:sp>
      <p:sp>
        <p:nvSpPr>
          <p:cNvPr id="5" name="body">
            <a:extLst>
              <a:ext uri="{FF2B5EF4-FFF2-40B4-BE49-F238E27FC236}">
                <a16:creationId xmlns:a16="http://schemas.microsoft.com/office/drawing/2014/main" id="{A97FF031-D2A9-4BB7-ADDF-BADC332B071F}"/>
              </a:ext>
            </a:extLst>
          </p:cNvPr>
          <p:cNvSpPr>
            <a:spLocks noGrp="1"/>
          </p:cNvSpPr>
          <p:nvPr/>
        </p:nvSpPr>
        <p:spPr>
          <a:xfrm>
            <a:off x="685800" y="2619375"/>
            <a:ext cx="10820400" cy="154305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모듈은 태양빛의 일부를 전기에너지로 전환한다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인버터는 직류 DC를 교류 AC로 변환한다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온도·음영·배선·인버터 등에서 손실이 발생한다</a:t>
            </a:r>
          </a:p>
        </p:txBody>
      </p:sp>
      <p:sp>
        <p:nvSpPr>
          <p:cNvPr id="6" name="bottom">
            <a:extLst>
              <a:ext uri="{FF2B5EF4-FFF2-40B4-BE49-F238E27FC236}">
                <a16:creationId xmlns:a16="http://schemas.microsoft.com/office/drawing/2014/main" id="{293C3A0B-1D33-4A57-BA74-5D1ED309339D}"/>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이 수업에서는 최종 발전량을 연간 교류 전력량으로 비교한다</a:t>
            </a:r>
          </a:p>
        </p:txBody>
      </p:sp>
    </p:spTree>
    <p:extLst>
      <p:ext uri="{BB962C8B-B14F-4D97-AF65-F5344CB8AC3E}">
        <p14:creationId xmlns:p14="http://schemas.microsoft.com/office/powerpoint/2010/main" val="933289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A60A24B-20B2-4F98-86F6-3A4535AEF803}"/>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일사강도와 일사량</a:t>
            </a:r>
          </a:p>
        </p:txBody>
      </p:sp>
      <p:sp>
        <p:nvSpPr>
          <p:cNvPr id="3" name="page">
            <a:extLst>
              <a:ext uri="{FF2B5EF4-FFF2-40B4-BE49-F238E27FC236}">
                <a16:creationId xmlns:a16="http://schemas.microsoft.com/office/drawing/2014/main" id="{BC39264F-AF2A-475E-A05F-F21A2F1C93C0}"/>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5</a:t>
            </a:r>
          </a:p>
        </p:txBody>
      </p:sp>
      <p:graphicFrame>
        <p:nvGraphicFramePr>
          <p:cNvPr id="4" name="표 3">
            <a:extLst>
              <a:ext uri="{FF2B5EF4-FFF2-40B4-BE49-F238E27FC236}">
                <a16:creationId xmlns:a16="http://schemas.microsoft.com/office/drawing/2014/main" id="{C4CD9F77-9A78-45F4-9551-4381B405B810}"/>
              </a:ext>
            </a:extLst>
          </p:cNvPr>
          <p:cNvGraphicFramePr/>
          <p:nvPr/>
        </p:nvGraphicFramePr>
        <p:xfrm>
          <a:off x="685800" y="1571625"/>
          <a:ext cx="10820400" cy="2286000"/>
        </p:xfrm>
        <a:graphic>
          <a:graphicData uri="http://schemas.openxmlformats.org/drawingml/2006/table">
            <a:tbl>
              <a:tblPr/>
              <a:tblGrid>
                <a:gridCol w="2762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571500">
                <a:tc>
                  <a:txBody>
                    <a:bodyPr/>
                    <a:lstStyle/>
                    <a:p>
                      <a:r>
                        <a:rPr sz="1725" b="1">
                          <a:solidFill>
                            <a:srgbClr val="FFFFFF"/>
                          </a:solidFill>
                          <a:latin typeface="Noto Sans CJK KR"/>
                          <a:ea typeface="Noto Sans CJK KR"/>
                          <a:cs typeface="Noto Sans CJK KR"/>
                        </a:rPr>
                        <a:t>개념</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단위</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의미</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일사강도</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kW/m²</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특정 순간 면적당 태양에너지의 세기</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일사량</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kWh/m²/일</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하루 동안 면적당 받은 태양에너지</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수업 입력값 H</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4.2kWh/m²/일</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일평균 일사량의 가정값</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bottom">
            <a:extLst>
              <a:ext uri="{FF2B5EF4-FFF2-40B4-BE49-F238E27FC236}">
                <a16:creationId xmlns:a16="http://schemas.microsoft.com/office/drawing/2014/main" id="{C60CEB0C-966D-4AA4-ADA2-CCA20DF07CF5}"/>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실제 추정에는 모듈 경사면 일사량과 설치 방향을 고려한다</a:t>
            </a:r>
          </a:p>
        </p:txBody>
      </p:sp>
    </p:spTree>
    <p:extLst>
      <p:ext uri="{BB962C8B-B14F-4D97-AF65-F5344CB8AC3E}">
        <p14:creationId xmlns:p14="http://schemas.microsoft.com/office/powerpoint/2010/main" val="584328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4CAFF62-4FBE-4E98-B1AF-1248BA088489}"/>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공통 계산 사례의 입력값</a:t>
            </a:r>
          </a:p>
        </p:txBody>
      </p:sp>
      <p:sp>
        <p:nvSpPr>
          <p:cNvPr id="3" name="page">
            <a:extLst>
              <a:ext uri="{FF2B5EF4-FFF2-40B4-BE49-F238E27FC236}">
                <a16:creationId xmlns:a16="http://schemas.microsoft.com/office/drawing/2014/main" id="{A9D73607-1FFD-434A-821E-80EA87BC0744}"/>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6</a:t>
            </a:r>
          </a:p>
        </p:txBody>
      </p:sp>
      <p:graphicFrame>
        <p:nvGraphicFramePr>
          <p:cNvPr id="4" name="표 3">
            <a:extLst>
              <a:ext uri="{FF2B5EF4-FFF2-40B4-BE49-F238E27FC236}">
                <a16:creationId xmlns:a16="http://schemas.microsoft.com/office/drawing/2014/main" id="{3A5DFCCE-C1B4-479A-998C-B9BDE1DE398B}"/>
              </a:ext>
            </a:extLst>
          </p:cNvPr>
          <p:cNvGraphicFramePr/>
          <p:nvPr/>
        </p:nvGraphicFramePr>
        <p:xfrm>
          <a:off x="685800" y="1571625"/>
          <a:ext cx="10820400" cy="3429000"/>
        </p:xfrm>
        <a:graphic>
          <a:graphicData uri="http://schemas.openxmlformats.org/drawingml/2006/table">
            <a:tbl>
              <a:tblPr/>
              <a:tblGrid>
                <a:gridCol w="2762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571500">
                <a:tc>
                  <a:txBody>
                    <a:bodyPr/>
                    <a:lstStyle/>
                    <a:p>
                      <a:r>
                        <a:rPr sz="1725" b="1">
                          <a:solidFill>
                            <a:srgbClr val="FFFFFF"/>
                          </a:solidFill>
                          <a:latin typeface="Noto Sans CJK KR"/>
                          <a:ea typeface="Noto Sans CJK KR"/>
                          <a:cs typeface="Noto Sans CJK KR"/>
                        </a:rPr>
                        <a:t>항목</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기호</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가정</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부지면적</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A</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4,000m²</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모듈 면적 비율</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f</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1/3</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모듈 변환효율</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η</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20%</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725">
                          <a:solidFill>
                            <a:srgbClr val="172B3A"/>
                          </a:solidFill>
                          <a:latin typeface="Noto Sans CJK KR"/>
                          <a:ea typeface="Noto Sans CJK KR"/>
                          <a:cs typeface="Noto Sans CJK KR"/>
                        </a:rPr>
                        <a:t>일평균 모듈면 일사량</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4.2kWh/m²/일</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4"/>
                  </a:ext>
                </a:extLst>
              </a:tr>
              <a:tr h="571500">
                <a:tc>
                  <a:txBody>
                    <a:bodyPr/>
                    <a:lstStyle/>
                    <a:p>
                      <a:r>
                        <a:rPr sz="1725">
                          <a:solidFill>
                            <a:srgbClr val="172B3A"/>
                          </a:solidFill>
                          <a:latin typeface="Noto Sans CJK KR"/>
                          <a:ea typeface="Noto Sans CJK KR"/>
                          <a:cs typeface="Noto Sans CJK KR"/>
                        </a:rPr>
                        <a:t>종합 성능계수</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PR</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0.85</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bottom">
            <a:extLst>
              <a:ext uri="{FF2B5EF4-FFF2-40B4-BE49-F238E27FC236}">
                <a16:creationId xmlns:a16="http://schemas.microsoft.com/office/drawing/2014/main" id="{D7AD1BCE-1F8A-4EB4-AE24-A35114B6DE1F}"/>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H와 PR은 교육용 단순화 가정     f와 PR은 서로 다른 개념</a:t>
            </a:r>
          </a:p>
        </p:txBody>
      </p:sp>
    </p:spTree>
    <p:extLst>
      <p:ext uri="{BB962C8B-B14F-4D97-AF65-F5344CB8AC3E}">
        <p14:creationId xmlns:p14="http://schemas.microsoft.com/office/powerpoint/2010/main" val="240802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96AE815-B7DF-46F0-9B10-2466659E8467}"/>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일사량을 이용한 발전량 추정</a:t>
            </a:r>
          </a:p>
        </p:txBody>
      </p:sp>
      <p:sp>
        <p:nvSpPr>
          <p:cNvPr id="3" name="page">
            <a:extLst>
              <a:ext uri="{FF2B5EF4-FFF2-40B4-BE49-F238E27FC236}">
                <a16:creationId xmlns:a16="http://schemas.microsoft.com/office/drawing/2014/main" id="{CB44D02F-96B6-4FAB-8266-DF8AAECCD40B}"/>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7</a:t>
            </a:r>
          </a:p>
        </p:txBody>
      </p:sp>
      <p:sp>
        <p:nvSpPr>
          <p:cNvPr id="4" name="formula">
            <a:extLst>
              <a:ext uri="{FF2B5EF4-FFF2-40B4-BE49-F238E27FC236}">
                <a16:creationId xmlns:a16="http://schemas.microsoft.com/office/drawing/2014/main" id="{D9C028C7-409F-4B09-8C7A-A61BDCF06D20}"/>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E = H × A × f × η × PR × 365</a:t>
            </a:r>
          </a:p>
        </p:txBody>
      </p:sp>
      <p:sp>
        <p:nvSpPr>
          <p:cNvPr id="5" name="body">
            <a:extLst>
              <a:ext uri="{FF2B5EF4-FFF2-40B4-BE49-F238E27FC236}">
                <a16:creationId xmlns:a16="http://schemas.microsoft.com/office/drawing/2014/main" id="{8FB0F7A2-EE10-42AE-A275-F2BB0A13CFCC}"/>
              </a:ext>
            </a:extLst>
          </p:cNvPr>
          <p:cNvSpPr>
            <a:spLocks noGrp="1"/>
          </p:cNvSpPr>
          <p:nvPr/>
        </p:nvSpPr>
        <p:spPr>
          <a:xfrm>
            <a:off x="685800" y="261937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H × A × f   모듈에 들어오는 하루 태양에너지</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η   태양에너지를 전기로 바꾸는 비율</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PR   기준 효율 대비 종합적인 실제 성능 반영</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365   하루 발전량을 연간 발전량으로 환산</a:t>
            </a:r>
          </a:p>
        </p:txBody>
      </p:sp>
      <p:sp>
        <p:nvSpPr>
          <p:cNvPr id="6" name="bottom">
            <a:extLst>
              <a:ext uri="{FF2B5EF4-FFF2-40B4-BE49-F238E27FC236}">
                <a16:creationId xmlns:a16="http://schemas.microsoft.com/office/drawing/2014/main" id="{C55A9726-4C36-468A-ABBA-5C36860F4E71}"/>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단위 확인  kWh/m²/일 × m² × 일/년 = kWh/년</a:t>
            </a:r>
          </a:p>
        </p:txBody>
      </p:sp>
    </p:spTree>
    <p:extLst>
      <p:ext uri="{BB962C8B-B14F-4D97-AF65-F5344CB8AC3E}">
        <p14:creationId xmlns:p14="http://schemas.microsoft.com/office/powerpoint/2010/main" val="1978065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1015A8E-1E7A-456B-A1F1-1EFF0697BD3C}"/>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일사량 방식 계산 ① 모듈과 기준 발전량</a:t>
            </a:r>
          </a:p>
        </p:txBody>
      </p:sp>
      <p:sp>
        <p:nvSpPr>
          <p:cNvPr id="3" name="page">
            <a:extLst>
              <a:ext uri="{FF2B5EF4-FFF2-40B4-BE49-F238E27FC236}">
                <a16:creationId xmlns:a16="http://schemas.microsoft.com/office/drawing/2014/main" id="{2DAB8AB5-67D0-4DBC-90EA-F93678EEBAD2}"/>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8</a:t>
            </a:r>
          </a:p>
        </p:txBody>
      </p:sp>
      <p:sp>
        <p:nvSpPr>
          <p:cNvPr id="4" name="formula">
            <a:extLst>
              <a:ext uri="{FF2B5EF4-FFF2-40B4-BE49-F238E27FC236}">
                <a16:creationId xmlns:a16="http://schemas.microsoft.com/office/drawing/2014/main" id="{09D555A9-7CAD-42C8-AF14-AC43576181B6}"/>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모듈면적 = 4,000 × 1/3 = 1,333.33m²</a:t>
            </a:r>
          </a:p>
        </p:txBody>
      </p:sp>
      <p:sp>
        <p:nvSpPr>
          <p:cNvPr id="5" name="body">
            <a:extLst>
              <a:ext uri="{FF2B5EF4-FFF2-40B4-BE49-F238E27FC236}">
                <a16:creationId xmlns:a16="http://schemas.microsoft.com/office/drawing/2014/main" id="{1DC7940A-CA28-4B87-BCEF-1FC28077553F}"/>
              </a:ext>
            </a:extLst>
          </p:cNvPr>
          <p:cNvSpPr>
            <a:spLocks noGrp="1"/>
          </p:cNvSpPr>
          <p:nvPr/>
        </p:nvSpPr>
        <p:spPr>
          <a:xfrm>
            <a:off x="685800" y="261937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모듈에 입사하는 하루 에너지</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4.2 × 1,333.33 = 5,600kWh/일</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손실 반영 전 전기 생산량</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5,600 × 0.20 × 365 = 408,800kWh/년</a:t>
            </a:r>
          </a:p>
        </p:txBody>
      </p:sp>
      <p:sp>
        <p:nvSpPr>
          <p:cNvPr id="6" name="bottom">
            <a:extLst>
              <a:ext uri="{FF2B5EF4-FFF2-40B4-BE49-F238E27FC236}">
                <a16:creationId xmlns:a16="http://schemas.microsoft.com/office/drawing/2014/main" id="{CA76A538-E19F-4BCA-B888-C952B74B4128}"/>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408,800kWh는 PR = 1로 놓은 기준 계산값</a:t>
            </a:r>
          </a:p>
        </p:txBody>
      </p:sp>
    </p:spTree>
    <p:extLst>
      <p:ext uri="{BB962C8B-B14F-4D97-AF65-F5344CB8AC3E}">
        <p14:creationId xmlns:p14="http://schemas.microsoft.com/office/powerpoint/2010/main" val="1855212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B3F059B-6A6D-4611-AA60-4D3F6EC7280A}"/>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일사량 방식 계산 ② 성능 손실 반영</a:t>
            </a:r>
          </a:p>
        </p:txBody>
      </p:sp>
      <p:sp>
        <p:nvSpPr>
          <p:cNvPr id="3" name="page">
            <a:extLst>
              <a:ext uri="{FF2B5EF4-FFF2-40B4-BE49-F238E27FC236}">
                <a16:creationId xmlns:a16="http://schemas.microsoft.com/office/drawing/2014/main" id="{53684505-C255-4804-9E7E-7A27F05ED54B}"/>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9</a:t>
            </a:r>
          </a:p>
        </p:txBody>
      </p:sp>
      <p:sp>
        <p:nvSpPr>
          <p:cNvPr id="4" name="formula">
            <a:extLst>
              <a:ext uri="{FF2B5EF4-FFF2-40B4-BE49-F238E27FC236}">
                <a16:creationId xmlns:a16="http://schemas.microsoft.com/office/drawing/2014/main" id="{9B10AD80-A3D7-41B0-961B-59DD13854984}"/>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E = 408,800 × 0.85 = 347,480kWh/년</a:t>
            </a:r>
          </a:p>
        </p:txBody>
      </p:sp>
      <p:sp>
        <p:nvSpPr>
          <p:cNvPr id="5" name="body">
            <a:extLst>
              <a:ext uri="{FF2B5EF4-FFF2-40B4-BE49-F238E27FC236}">
                <a16:creationId xmlns:a16="http://schemas.microsoft.com/office/drawing/2014/main" id="{717E0BA0-2200-491E-AFE6-CE1E12AF333A}"/>
              </a:ext>
            </a:extLst>
          </p:cNvPr>
          <p:cNvSpPr>
            <a:spLocks noGrp="1"/>
          </p:cNvSpPr>
          <p:nvPr/>
        </p:nvSpPr>
        <p:spPr>
          <a:xfrm>
            <a:off x="685800" y="2619375"/>
            <a:ext cx="10820400" cy="154305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기준 계산값의 85%를 교류 전력으로 공급한다고 가정</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연간 발전량 = 347.48MWh</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온도와 음영, 설비 정지 등은 발전량을 감소시킨다</a:t>
            </a:r>
          </a:p>
        </p:txBody>
      </p:sp>
      <p:sp>
        <p:nvSpPr>
          <p:cNvPr id="6" name="bottom">
            <a:extLst>
              <a:ext uri="{FF2B5EF4-FFF2-40B4-BE49-F238E27FC236}">
                <a16:creationId xmlns:a16="http://schemas.microsoft.com/office/drawing/2014/main" id="{82C19ABF-6B53-4D5B-B79E-56E8DE0AEE96}"/>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한 항목의 손실을 PR과 이용률에 중복 반영하지 않는다</a:t>
            </a:r>
          </a:p>
        </p:txBody>
      </p:sp>
    </p:spTree>
    <p:extLst>
      <p:ext uri="{BB962C8B-B14F-4D97-AF65-F5344CB8AC3E}">
        <p14:creationId xmlns:p14="http://schemas.microsoft.com/office/powerpoint/2010/main" val="89810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0B907DE-463D-4DB7-B8A6-8EDF55E3A1B6}"/>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설치면적과 설비용량의 연결</a:t>
            </a:r>
          </a:p>
        </p:txBody>
      </p:sp>
      <p:sp>
        <p:nvSpPr>
          <p:cNvPr id="3" name="page">
            <a:extLst>
              <a:ext uri="{FF2B5EF4-FFF2-40B4-BE49-F238E27FC236}">
                <a16:creationId xmlns:a16="http://schemas.microsoft.com/office/drawing/2014/main" id="{6B6B37E8-98E9-455F-91AD-95F2B5D80706}"/>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10</a:t>
            </a:r>
          </a:p>
        </p:txBody>
      </p:sp>
      <p:sp>
        <p:nvSpPr>
          <p:cNvPr id="4" name="formula">
            <a:extLst>
              <a:ext uri="{FF2B5EF4-FFF2-40B4-BE49-F238E27FC236}">
                <a16:creationId xmlns:a16="http://schemas.microsoft.com/office/drawing/2014/main" id="{B847F072-F20F-49EB-A705-C18D88AAADF2}"/>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P = A × f × η × G_STC</a:t>
            </a:r>
          </a:p>
        </p:txBody>
      </p:sp>
      <p:sp>
        <p:nvSpPr>
          <p:cNvPr id="5" name="body">
            <a:extLst>
              <a:ext uri="{FF2B5EF4-FFF2-40B4-BE49-F238E27FC236}">
                <a16:creationId xmlns:a16="http://schemas.microsoft.com/office/drawing/2014/main" id="{254909B2-7522-4987-9662-5674C189C506}"/>
              </a:ext>
            </a:extLst>
          </p:cNvPr>
          <p:cNvSpPr>
            <a:spLocks noGrp="1"/>
          </p:cNvSpPr>
          <p:nvPr/>
        </p:nvSpPr>
        <p:spPr>
          <a:xfrm>
            <a:off x="685800" y="2619375"/>
            <a:ext cx="10820400" cy="154305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표준 일사강도 G_STC = 1kW/m²</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P = 4,000 × 1/3 × 0.20 × 1 = 266.67kWdc</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단위용량당 필요 부지면적 DF = A ÷ P = 15m²/kW</a:t>
            </a:r>
          </a:p>
        </p:txBody>
      </p:sp>
      <p:sp>
        <p:nvSpPr>
          <p:cNvPr id="6" name="bottom">
            <a:extLst>
              <a:ext uri="{FF2B5EF4-FFF2-40B4-BE49-F238E27FC236}">
                <a16:creationId xmlns:a16="http://schemas.microsoft.com/office/drawing/2014/main" id="{A9FDB80C-3411-4793-866A-0B1C7960EF66}"/>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이후 발전량·이용률·설치단가의 용량 기준은 모두 kWdc</a:t>
            </a:r>
          </a:p>
        </p:txBody>
      </p:sp>
    </p:spTree>
    <p:extLst>
      <p:ext uri="{BB962C8B-B14F-4D97-AF65-F5344CB8AC3E}">
        <p14:creationId xmlns:p14="http://schemas.microsoft.com/office/powerpoint/2010/main" val="1318659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65190AB-2967-4025-8FBB-1406107713AE}"/>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이용률을 이용한 발전량 추정</a:t>
            </a:r>
          </a:p>
        </p:txBody>
      </p:sp>
      <p:sp>
        <p:nvSpPr>
          <p:cNvPr id="3" name="page">
            <a:extLst>
              <a:ext uri="{FF2B5EF4-FFF2-40B4-BE49-F238E27FC236}">
                <a16:creationId xmlns:a16="http://schemas.microsoft.com/office/drawing/2014/main" id="{D2F10610-947C-4FAD-9D73-677A3B2A8EAD}"/>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11</a:t>
            </a:r>
          </a:p>
        </p:txBody>
      </p:sp>
      <p:sp>
        <p:nvSpPr>
          <p:cNvPr id="4" name="formula">
            <a:extLst>
              <a:ext uri="{FF2B5EF4-FFF2-40B4-BE49-F238E27FC236}">
                <a16:creationId xmlns:a16="http://schemas.microsoft.com/office/drawing/2014/main" id="{7840CEF6-ADC9-4936-91FA-AAD06F22AEF8}"/>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E = P × CF × 8,760</a:t>
            </a:r>
          </a:p>
        </p:txBody>
      </p:sp>
      <p:sp>
        <p:nvSpPr>
          <p:cNvPr id="5" name="body">
            <a:extLst>
              <a:ext uri="{FF2B5EF4-FFF2-40B4-BE49-F238E27FC236}">
                <a16:creationId xmlns:a16="http://schemas.microsoft.com/office/drawing/2014/main" id="{FB86ECAA-D0A5-4700-AE6B-B2CEBBFB458E}"/>
              </a:ext>
            </a:extLst>
          </p:cNvPr>
          <p:cNvSpPr>
            <a:spLocks noGrp="1"/>
          </p:cNvSpPr>
          <p:nvPr/>
        </p:nvSpPr>
        <p:spPr>
          <a:xfrm>
            <a:off x="685800" y="261937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P   설비의 명목용량 kW</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CF   실제 발전량 ÷ 연중 정격 가동 발전량</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CF = 13%를 가정하면</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E = 266.67 × 0.13 × 8,760 = 303,680kWh/년</a:t>
            </a:r>
          </a:p>
        </p:txBody>
      </p:sp>
      <p:sp>
        <p:nvSpPr>
          <p:cNvPr id="6" name="bottom">
            <a:extLst>
              <a:ext uri="{FF2B5EF4-FFF2-40B4-BE49-F238E27FC236}">
                <a16:creationId xmlns:a16="http://schemas.microsoft.com/office/drawing/2014/main" id="{A91DC112-EF3E-4CB7-95EE-3A2B750C826A}"/>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8,760시간 = 365일 × 24시간     이용률은 일조시간 비율과 다르다</a:t>
            </a:r>
          </a:p>
        </p:txBody>
      </p:sp>
    </p:spTree>
    <p:extLst>
      <p:ext uri="{BB962C8B-B14F-4D97-AF65-F5344CB8AC3E}">
        <p14:creationId xmlns:p14="http://schemas.microsoft.com/office/powerpoint/2010/main" val="1040924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C95B61B-B88A-4F92-B746-C316AFD194CA}"/>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두 발전량 추정값의 비교</a:t>
            </a:r>
          </a:p>
        </p:txBody>
      </p:sp>
      <p:sp>
        <p:nvSpPr>
          <p:cNvPr id="3" name="page">
            <a:extLst>
              <a:ext uri="{FF2B5EF4-FFF2-40B4-BE49-F238E27FC236}">
                <a16:creationId xmlns:a16="http://schemas.microsoft.com/office/drawing/2014/main" id="{1E24BD06-A5F4-4094-95C4-8F2727C1273B}"/>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12</a:t>
            </a:r>
          </a:p>
        </p:txBody>
      </p:sp>
      <p:graphicFrame>
        <p:nvGraphicFramePr>
          <p:cNvPr id="4" name="표 3">
            <a:extLst>
              <a:ext uri="{FF2B5EF4-FFF2-40B4-BE49-F238E27FC236}">
                <a16:creationId xmlns:a16="http://schemas.microsoft.com/office/drawing/2014/main" id="{ADE8A20B-C66D-46EF-8BDC-B9DFDE487D22}"/>
              </a:ext>
            </a:extLst>
          </p:cNvPr>
          <p:cNvGraphicFramePr/>
          <p:nvPr/>
        </p:nvGraphicFramePr>
        <p:xfrm>
          <a:off x="685800" y="1571625"/>
          <a:ext cx="10820400" cy="2286000"/>
        </p:xfrm>
        <a:graphic>
          <a:graphicData uri="http://schemas.openxmlformats.org/drawingml/2006/table">
            <a:tbl>
              <a:tblPr/>
              <a:tblGrid>
                <a:gridCol w="2762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571500">
                <a:tc>
                  <a:txBody>
                    <a:bodyPr/>
                    <a:lstStyle/>
                    <a:p>
                      <a:r>
                        <a:rPr sz="1725" b="1">
                          <a:solidFill>
                            <a:srgbClr val="FFFFFF"/>
                          </a:solidFill>
                          <a:latin typeface="Noto Sans CJK KR"/>
                          <a:ea typeface="Noto Sans CJK KR"/>
                          <a:cs typeface="Noto Sans CJK KR"/>
                        </a:rPr>
                        <a:t>방법</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핵심 가정</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연간 발전량</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일사량 방식</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H = 4.2, PR = 0.85</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347,480kWh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이용률 방식</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P = 266.67kWdc, CF = 13%</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303,680kWh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일사량과 일치하는 이용률</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347,480 ÷ (P × 8,760)</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14.875%</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bottom">
            <a:extLst>
              <a:ext uri="{FF2B5EF4-FFF2-40B4-BE49-F238E27FC236}">
                <a16:creationId xmlns:a16="http://schemas.microsoft.com/office/drawing/2014/main" id="{39B0CD7E-954D-43EE-9B8F-A382D0E37F55}"/>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같은 설비라도 성능 가정이 다르면 추정 발전량이 달라진다</a:t>
            </a:r>
          </a:p>
        </p:txBody>
      </p:sp>
    </p:spTree>
    <p:extLst>
      <p:ext uri="{BB962C8B-B14F-4D97-AF65-F5344CB8AC3E}">
        <p14:creationId xmlns:p14="http://schemas.microsoft.com/office/powerpoint/2010/main" val="1655986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B0E2D33-A55C-4661-9E51-D77ED47D40A3}"/>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원본 과제의 설치밀도 가정 점검</a:t>
            </a:r>
          </a:p>
        </p:txBody>
      </p:sp>
      <p:sp>
        <p:nvSpPr>
          <p:cNvPr id="3" name="page">
            <a:extLst>
              <a:ext uri="{FF2B5EF4-FFF2-40B4-BE49-F238E27FC236}">
                <a16:creationId xmlns:a16="http://schemas.microsoft.com/office/drawing/2014/main" id="{336317BA-8862-488C-B33D-AB2DFE27FFF6}"/>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13</a:t>
            </a:r>
          </a:p>
        </p:txBody>
      </p:sp>
      <p:graphicFrame>
        <p:nvGraphicFramePr>
          <p:cNvPr id="4" name="표 3">
            <a:extLst>
              <a:ext uri="{FF2B5EF4-FFF2-40B4-BE49-F238E27FC236}">
                <a16:creationId xmlns:a16="http://schemas.microsoft.com/office/drawing/2014/main" id="{89E4C2D1-06D4-4D89-9052-FB22947FD262}"/>
              </a:ext>
            </a:extLst>
          </p:cNvPr>
          <p:cNvGraphicFramePr/>
          <p:nvPr/>
        </p:nvGraphicFramePr>
        <p:xfrm>
          <a:off x="685800" y="1571625"/>
          <a:ext cx="10820400" cy="2286000"/>
        </p:xfrm>
        <a:graphic>
          <a:graphicData uri="http://schemas.openxmlformats.org/drawingml/2006/table">
            <a:tbl>
              <a:tblPr/>
              <a:tblGrid>
                <a:gridCol w="4667250">
                  <a:extLst>
                    <a:ext uri="{9D8B030D-6E8A-4147-A177-3AD203B41FA5}">
                      <a16:colId xmlns:a16="http://schemas.microsoft.com/office/drawing/2014/main" val="20000"/>
                    </a:ext>
                  </a:extLst>
                </a:gridCol>
                <a:gridCol w="6153150">
                  <a:extLst>
                    <a:ext uri="{9D8B030D-6E8A-4147-A177-3AD203B41FA5}">
                      <a16:colId xmlns:a16="http://schemas.microsoft.com/office/drawing/2014/main" val="20001"/>
                    </a:ext>
                  </a:extLst>
                </a:gridCol>
              </a:tblGrid>
              <a:tr h="571500">
                <a:tc>
                  <a:txBody>
                    <a:bodyPr/>
                    <a:lstStyle/>
                    <a:p>
                      <a:r>
                        <a:rPr sz="1725" b="1">
                          <a:solidFill>
                            <a:srgbClr val="FFFFFF"/>
                          </a:solidFill>
                          <a:latin typeface="Noto Sans CJK KR"/>
                          <a:ea typeface="Noto Sans CJK KR"/>
                          <a:cs typeface="Noto Sans CJK KR"/>
                        </a:rPr>
                        <a:t>계산 경로</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설비용량</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원본 DF = 10m²/kW</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4,000 ÷ 10 = 400kW</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모듈 비율 1/3과 효율 20%</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4,000 × 1/3 × 0.20 = 266.67kW</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일관된 DF</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4,000 ÷ 266.67 = 15m²/kW</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bottom">
            <a:extLst>
              <a:ext uri="{FF2B5EF4-FFF2-40B4-BE49-F238E27FC236}">
                <a16:creationId xmlns:a16="http://schemas.microsoft.com/office/drawing/2014/main" id="{8908F62A-7A49-4199-9EAF-209C38F4EF5A}"/>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원본의 두 가정은 같은 설비를 나타내지 않으므로 먼저 일치시킨다</a:t>
            </a:r>
          </a:p>
        </p:txBody>
      </p:sp>
    </p:spTree>
    <p:extLst>
      <p:ext uri="{BB962C8B-B14F-4D97-AF65-F5344CB8AC3E}">
        <p14:creationId xmlns:p14="http://schemas.microsoft.com/office/powerpoint/2010/main" val="1984824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B72592C-E9CC-4B6D-83D2-CE31BB6C41FC}"/>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태양광 발전사업의 비용</a:t>
            </a:r>
          </a:p>
        </p:txBody>
      </p:sp>
      <p:sp>
        <p:nvSpPr>
          <p:cNvPr id="3" name="page">
            <a:extLst>
              <a:ext uri="{FF2B5EF4-FFF2-40B4-BE49-F238E27FC236}">
                <a16:creationId xmlns:a16="http://schemas.microsoft.com/office/drawing/2014/main" id="{6BE8297C-DE00-4415-B59F-EE6032C6E87B}"/>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14</a:t>
            </a:r>
          </a:p>
        </p:txBody>
      </p:sp>
      <p:graphicFrame>
        <p:nvGraphicFramePr>
          <p:cNvPr id="4" name="표 3">
            <a:extLst>
              <a:ext uri="{FF2B5EF4-FFF2-40B4-BE49-F238E27FC236}">
                <a16:creationId xmlns:a16="http://schemas.microsoft.com/office/drawing/2014/main" id="{DD828345-BC33-4D2F-AD1B-96D9FEEE71AE}"/>
              </a:ext>
            </a:extLst>
          </p:cNvPr>
          <p:cNvGraphicFramePr/>
          <p:nvPr/>
        </p:nvGraphicFramePr>
        <p:xfrm>
          <a:off x="685800" y="1571625"/>
          <a:ext cx="10820400" cy="2286000"/>
        </p:xfrm>
        <a:graphic>
          <a:graphicData uri="http://schemas.openxmlformats.org/drawingml/2006/table">
            <a:tbl>
              <a:tblPr/>
              <a:tblGrid>
                <a:gridCol w="2762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571500">
                <a:tc>
                  <a:txBody>
                    <a:bodyPr/>
                    <a:lstStyle/>
                    <a:p>
                      <a:r>
                        <a:rPr sz="1725" b="1">
                          <a:solidFill>
                            <a:srgbClr val="FFFFFF"/>
                          </a:solidFill>
                          <a:latin typeface="Noto Sans CJK KR"/>
                          <a:ea typeface="Noto Sans CJK KR"/>
                          <a:cs typeface="Noto Sans CJK KR"/>
                        </a:rPr>
                        <a:t>발생 시점</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비용</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주요 항목</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착공·설치 시점</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초기투자비 I₀</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모듈·인버터·구조물·시공</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운영 기간</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운영유지비 OMₜ</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점검·보험·수리·청소 등</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해당 시점</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추가 비용</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토지·교체·해체·계통접속 등</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bottom">
            <a:extLst>
              <a:ext uri="{FF2B5EF4-FFF2-40B4-BE49-F238E27FC236}">
                <a16:creationId xmlns:a16="http://schemas.microsoft.com/office/drawing/2014/main" id="{11197A4B-09FF-46B9-A384-A58190582AAA}"/>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수업의 기본 예제는 초기투자비와 고정 운영유지비만 포함</a:t>
            </a:r>
          </a:p>
        </p:txBody>
      </p:sp>
    </p:spTree>
    <p:extLst>
      <p:ext uri="{BB962C8B-B14F-4D97-AF65-F5344CB8AC3E}">
        <p14:creationId xmlns:p14="http://schemas.microsoft.com/office/powerpoint/2010/main" val="80250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904041B-56BD-40CD-A472-EAAE0216AB7A}"/>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미래 비용의 현재가치</a:t>
            </a:r>
          </a:p>
        </p:txBody>
      </p:sp>
      <p:sp>
        <p:nvSpPr>
          <p:cNvPr id="3" name="page">
            <a:extLst>
              <a:ext uri="{FF2B5EF4-FFF2-40B4-BE49-F238E27FC236}">
                <a16:creationId xmlns:a16="http://schemas.microsoft.com/office/drawing/2014/main" id="{3A2862A2-8B40-4958-A61C-9D9B48BF9D28}"/>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15</a:t>
            </a:r>
          </a:p>
        </p:txBody>
      </p:sp>
      <p:sp>
        <p:nvSpPr>
          <p:cNvPr id="4" name="formula">
            <a:extLst>
              <a:ext uri="{FF2B5EF4-FFF2-40B4-BE49-F238E27FC236}">
                <a16:creationId xmlns:a16="http://schemas.microsoft.com/office/drawing/2014/main" id="{887ABA45-8882-4B2A-8E9A-F143012231EE}"/>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현재가치 PV = 미래 금액 ÷ (1 + r)ᵗ</a:t>
            </a:r>
          </a:p>
        </p:txBody>
      </p:sp>
      <p:sp>
        <p:nvSpPr>
          <p:cNvPr id="5" name="body">
            <a:extLst>
              <a:ext uri="{FF2B5EF4-FFF2-40B4-BE49-F238E27FC236}">
                <a16:creationId xmlns:a16="http://schemas.microsoft.com/office/drawing/2014/main" id="{7FCF34F4-973C-4F12-8000-50EB62EA4FA7}"/>
              </a:ext>
            </a:extLst>
          </p:cNvPr>
          <p:cNvSpPr>
            <a:spLocks noGrp="1"/>
          </p:cNvSpPr>
          <p:nvPr/>
        </p:nvSpPr>
        <p:spPr>
          <a:xfrm>
            <a:off x="685800" y="2619375"/>
            <a:ext cx="10820400" cy="154305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할인율 r = 5%라면</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1년 뒤 105만원의 현재가치 = 105 ÷ 1.05 = 100만원</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같은 비용이라도 발생 시점이 다르면 현재가치가 다르다</a:t>
            </a:r>
          </a:p>
        </p:txBody>
      </p:sp>
      <p:sp>
        <p:nvSpPr>
          <p:cNvPr id="6" name="bottom">
            <a:extLst>
              <a:ext uri="{FF2B5EF4-FFF2-40B4-BE49-F238E27FC236}">
                <a16:creationId xmlns:a16="http://schemas.microsoft.com/office/drawing/2014/main" id="{1071EE59-0B99-4262-88CE-E472345C310E}"/>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연간 비용과 발전량은 각 연도 말에 발생한다고 가정</a:t>
            </a:r>
          </a:p>
        </p:txBody>
      </p:sp>
    </p:spTree>
    <p:extLst>
      <p:ext uri="{BB962C8B-B14F-4D97-AF65-F5344CB8AC3E}">
        <p14:creationId xmlns:p14="http://schemas.microsoft.com/office/powerpoint/2010/main" val="805747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428EBDF-205F-49FD-999D-5548A4CE2393}"/>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균등화발전비용 LCOE</a:t>
            </a:r>
          </a:p>
        </p:txBody>
      </p:sp>
      <p:sp>
        <p:nvSpPr>
          <p:cNvPr id="3" name="page">
            <a:extLst>
              <a:ext uri="{FF2B5EF4-FFF2-40B4-BE49-F238E27FC236}">
                <a16:creationId xmlns:a16="http://schemas.microsoft.com/office/drawing/2014/main" id="{A6ACE882-047B-4FD5-8BB8-88F925AE9853}"/>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16</a:t>
            </a:r>
          </a:p>
        </p:txBody>
      </p:sp>
      <p:sp>
        <p:nvSpPr>
          <p:cNvPr id="4" name="formula">
            <a:extLst>
              <a:ext uri="{FF2B5EF4-FFF2-40B4-BE49-F238E27FC236}">
                <a16:creationId xmlns:a16="http://schemas.microsoft.com/office/drawing/2014/main" id="{7B207CF9-29B4-4490-89CB-C0D423A4E0E9}"/>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LCOE = 비용의 현재가치 합계 ÷ 발전량의 할인 합계</a:t>
            </a:r>
          </a:p>
        </p:txBody>
      </p:sp>
      <p:sp>
        <p:nvSpPr>
          <p:cNvPr id="5" name="body">
            <a:extLst>
              <a:ext uri="{FF2B5EF4-FFF2-40B4-BE49-F238E27FC236}">
                <a16:creationId xmlns:a16="http://schemas.microsoft.com/office/drawing/2014/main" id="{598FCAA1-9B7E-4359-99CC-FF69D79F1323}"/>
              </a:ext>
            </a:extLst>
          </p:cNvPr>
          <p:cNvSpPr>
            <a:spLocks noGrp="1"/>
          </p:cNvSpPr>
          <p:nvPr/>
        </p:nvSpPr>
        <p:spPr>
          <a:xfrm>
            <a:off x="685800" y="261937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비용 합계 = I₀ + Σₜ₌₁ᵀ (OMₜ + Fₜ) ÷ (1 + r)ᵗ</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발전량 합계 = Σₜ₌₁ᵀ Eₜ ÷ (1 + r)ᵗ</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I₀  초기투자비     OMₜ  운영유지비     Fₜ  연료비</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Eₜ  연간 발전량     T  수명     r  할인율</a:t>
            </a:r>
          </a:p>
        </p:txBody>
      </p:sp>
      <p:sp>
        <p:nvSpPr>
          <p:cNvPr id="6" name="bottom">
            <a:extLst>
              <a:ext uri="{FF2B5EF4-FFF2-40B4-BE49-F238E27FC236}">
                <a16:creationId xmlns:a16="http://schemas.microsoft.com/office/drawing/2014/main" id="{D7D773CA-BAF1-4A19-B599-F4253D647BBC}"/>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단위는 원/kWh     태양광의 연료 구매비 Fₜ = 0</a:t>
            </a:r>
          </a:p>
        </p:txBody>
      </p:sp>
    </p:spTree>
    <p:extLst>
      <p:ext uri="{BB962C8B-B14F-4D97-AF65-F5344CB8AC3E}">
        <p14:creationId xmlns:p14="http://schemas.microsoft.com/office/powerpoint/2010/main" val="349508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1C28797-9068-4C70-8325-DD4206B44DD5}"/>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LCOE 계산의 비용 가정</a:t>
            </a:r>
          </a:p>
        </p:txBody>
      </p:sp>
      <p:sp>
        <p:nvSpPr>
          <p:cNvPr id="3" name="page">
            <a:extLst>
              <a:ext uri="{FF2B5EF4-FFF2-40B4-BE49-F238E27FC236}">
                <a16:creationId xmlns:a16="http://schemas.microsoft.com/office/drawing/2014/main" id="{9F503125-FB5B-4B04-9F23-EB93E9ECDFDA}"/>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17</a:t>
            </a:r>
          </a:p>
        </p:txBody>
      </p:sp>
      <p:graphicFrame>
        <p:nvGraphicFramePr>
          <p:cNvPr id="4" name="표 3">
            <a:extLst>
              <a:ext uri="{FF2B5EF4-FFF2-40B4-BE49-F238E27FC236}">
                <a16:creationId xmlns:a16="http://schemas.microsoft.com/office/drawing/2014/main" id="{8297FBB4-212B-40A8-BFD0-C8C539B4B614}"/>
              </a:ext>
            </a:extLst>
          </p:cNvPr>
          <p:cNvGraphicFramePr/>
          <p:nvPr/>
        </p:nvGraphicFramePr>
        <p:xfrm>
          <a:off x="685800" y="1571625"/>
          <a:ext cx="10820400" cy="2857500"/>
        </p:xfrm>
        <a:graphic>
          <a:graphicData uri="http://schemas.openxmlformats.org/drawingml/2006/table">
            <a:tbl>
              <a:tblPr/>
              <a:tblGrid>
                <a:gridCol w="2762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571500">
                <a:tc>
                  <a:txBody>
                    <a:bodyPr/>
                    <a:lstStyle/>
                    <a:p>
                      <a:r>
                        <a:rPr sz="1725" b="1">
                          <a:solidFill>
                            <a:srgbClr val="FFFFFF"/>
                          </a:solidFill>
                          <a:latin typeface="Noto Sans CJK KR"/>
                          <a:ea typeface="Noto Sans CJK KR"/>
                          <a:cs typeface="Noto Sans CJK KR"/>
                        </a:rPr>
                        <a:t>항목</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입력값</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계산 결과</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설비용량 P</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266.67kWdc</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반올림 전 값 사용</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설치단가 c</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1,366,000원/kWdc</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I₀ = 364,266,667원</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연간 운영단가 o</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20,500원/kWdc/년</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OM = 5,466,667원/년</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725">
                          <a:solidFill>
                            <a:srgbClr val="172B3A"/>
                          </a:solidFill>
                          <a:latin typeface="Noto Sans CJK KR"/>
                          <a:ea typeface="Noto Sans CJK KR"/>
                          <a:cs typeface="Noto Sans CJK KR"/>
                        </a:rPr>
                        <a:t>수명 T와 할인율 r</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20년, 연 4.5%</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기준년 불변가격 가정</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4"/>
                  </a:ext>
                </a:extLst>
              </a:tr>
            </a:tbl>
          </a:graphicData>
        </a:graphic>
      </p:graphicFrame>
      <p:sp>
        <p:nvSpPr>
          <p:cNvPr id="5" name="bottom">
            <a:extLst>
              <a:ext uri="{FF2B5EF4-FFF2-40B4-BE49-F238E27FC236}">
                <a16:creationId xmlns:a16="http://schemas.microsoft.com/office/drawing/2014/main" id="{40C91675-AF08-45B3-AD15-93D87BA64B41}"/>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원본 과제의 비용 수치를 사용한 교육용 예제이며 현재 견적이 아니다</a:t>
            </a:r>
          </a:p>
        </p:txBody>
      </p:sp>
    </p:spTree>
    <p:extLst>
      <p:ext uri="{BB962C8B-B14F-4D97-AF65-F5344CB8AC3E}">
        <p14:creationId xmlns:p14="http://schemas.microsoft.com/office/powerpoint/2010/main" val="1908696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325F4F8-00FD-4A37-B6F8-7D4A60C71FF1}"/>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자본회수계수를 이용한 연간 비용</a:t>
            </a:r>
          </a:p>
        </p:txBody>
      </p:sp>
      <p:sp>
        <p:nvSpPr>
          <p:cNvPr id="3" name="page">
            <a:extLst>
              <a:ext uri="{FF2B5EF4-FFF2-40B4-BE49-F238E27FC236}">
                <a16:creationId xmlns:a16="http://schemas.microsoft.com/office/drawing/2014/main" id="{DB76B4DB-9540-4112-AA9D-00D5E5B5DE2A}"/>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18</a:t>
            </a:r>
          </a:p>
        </p:txBody>
      </p:sp>
      <p:sp>
        <p:nvSpPr>
          <p:cNvPr id="4" name="formula">
            <a:extLst>
              <a:ext uri="{FF2B5EF4-FFF2-40B4-BE49-F238E27FC236}">
                <a16:creationId xmlns:a16="http://schemas.microsoft.com/office/drawing/2014/main" id="{2C654CC1-EB09-4E6D-AF61-9252285B2814}"/>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CRF = r(1 + r)ᵀ ÷ [(1 + r)ᵀ − 1]</a:t>
            </a:r>
          </a:p>
        </p:txBody>
      </p:sp>
      <p:sp>
        <p:nvSpPr>
          <p:cNvPr id="5" name="body">
            <a:extLst>
              <a:ext uri="{FF2B5EF4-FFF2-40B4-BE49-F238E27FC236}">
                <a16:creationId xmlns:a16="http://schemas.microsoft.com/office/drawing/2014/main" id="{BAF09A67-4D9A-4108-9E53-3A569C0391A0}"/>
              </a:ext>
            </a:extLst>
          </p:cNvPr>
          <p:cNvSpPr>
            <a:spLocks noGrp="1"/>
          </p:cNvSpPr>
          <p:nvPr/>
        </p:nvSpPr>
        <p:spPr>
          <a:xfrm>
            <a:off x="685800" y="261937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CRF(4.5%, 20년) = 0.076876</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연간 환산 투자비 = I₀ × CRF</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연간 환산 총비용 = I₀ × CRF + OM</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 33,470,084원/년</a:t>
            </a:r>
          </a:p>
        </p:txBody>
      </p:sp>
      <p:sp>
        <p:nvSpPr>
          <p:cNvPr id="6" name="bottom">
            <a:extLst>
              <a:ext uri="{FF2B5EF4-FFF2-40B4-BE49-F238E27FC236}">
                <a16:creationId xmlns:a16="http://schemas.microsoft.com/office/drawing/2014/main" id="{4106E3E3-5C87-4604-B338-E103F730647B}"/>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비용과 발전량이 매년 일정할 때 LCOE = (I₀ × CRF + OM) ÷ E</a:t>
            </a:r>
          </a:p>
        </p:txBody>
      </p:sp>
    </p:spTree>
    <p:extLst>
      <p:ext uri="{BB962C8B-B14F-4D97-AF65-F5344CB8AC3E}">
        <p14:creationId xmlns:p14="http://schemas.microsoft.com/office/powerpoint/2010/main" val="795926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264331B-B53D-46A0-98D3-4745DD711801}"/>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기준 사례의 LCOE 계산</a:t>
            </a:r>
          </a:p>
        </p:txBody>
      </p:sp>
      <p:sp>
        <p:nvSpPr>
          <p:cNvPr id="3" name="page">
            <a:extLst>
              <a:ext uri="{FF2B5EF4-FFF2-40B4-BE49-F238E27FC236}">
                <a16:creationId xmlns:a16="http://schemas.microsoft.com/office/drawing/2014/main" id="{2344A1AA-AC8E-435B-A8A5-9D9505234ABC}"/>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19</a:t>
            </a:r>
          </a:p>
        </p:txBody>
      </p:sp>
      <p:sp>
        <p:nvSpPr>
          <p:cNvPr id="4" name="formula">
            <a:extLst>
              <a:ext uri="{FF2B5EF4-FFF2-40B4-BE49-F238E27FC236}">
                <a16:creationId xmlns:a16="http://schemas.microsoft.com/office/drawing/2014/main" id="{5BA1BAF6-A9A2-44CF-8670-FE3FE2B30EBD}"/>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LCOE = 33,470,084 ÷ 347,480</a:t>
            </a:r>
          </a:p>
        </p:txBody>
      </p:sp>
      <p:sp>
        <p:nvSpPr>
          <p:cNvPr id="5" name="result">
            <a:extLst>
              <a:ext uri="{FF2B5EF4-FFF2-40B4-BE49-F238E27FC236}">
                <a16:creationId xmlns:a16="http://schemas.microsoft.com/office/drawing/2014/main" id="{766581EC-1529-4232-B2C5-93F27ED1C777}"/>
              </a:ext>
            </a:extLst>
          </p:cNvPr>
          <p:cNvSpPr>
            <a:spLocks noGrp="1"/>
          </p:cNvSpPr>
          <p:nvPr/>
        </p:nvSpPr>
        <p:spPr>
          <a:xfrm>
            <a:off x="685800" y="2619375"/>
            <a:ext cx="10820400" cy="809625"/>
          </a:xfrm>
          <a:prstGeom prst="rect">
            <a:avLst/>
          </a:prstGeom>
          <a:noFill/>
          <a:ln w="0">
            <a:noFill/>
            <a:prstDash val="solid"/>
          </a:ln>
        </p:spPr>
        <p:txBody>
          <a:bodyPr wrap="square" lIns="0" tIns="0" rIns="0" bIns="0" anchor="t">
            <a:noAutofit/>
          </a:bodyPr>
          <a:lstStyle>
            <a:defPPr>
              <a:defRPr sz="4275" b="1">
                <a:solidFill>
                  <a:srgbClr val="087F78"/>
                </a:solidFill>
                <a:latin typeface="Noto Sans CJK KR"/>
                <a:ea typeface="Noto Sans CJK KR"/>
                <a:cs typeface="Noto Sans CJK KR"/>
              </a:defRPr>
            </a:defPPr>
            <a:lvl1pPr>
              <a:defRPr sz="4275" b="1">
                <a:solidFill>
                  <a:srgbClr val="087F78"/>
                </a:solidFill>
                <a:latin typeface="Noto Sans CJK KR"/>
                <a:ea typeface="Noto Sans CJK KR"/>
                <a:cs typeface="Noto Sans CJK KR"/>
              </a:defRPr>
            </a:lvl1pPr>
            <a:lvl2pPr>
              <a:defRPr sz="4275" b="1">
                <a:solidFill>
                  <a:srgbClr val="087F78"/>
                </a:solidFill>
                <a:latin typeface="Noto Sans CJK KR"/>
                <a:ea typeface="Noto Sans CJK KR"/>
                <a:cs typeface="Noto Sans CJK KR"/>
              </a:defRPr>
            </a:lvl2pPr>
            <a:lvl3pPr>
              <a:defRPr sz="4275" b="1">
                <a:solidFill>
                  <a:srgbClr val="087F78"/>
                </a:solidFill>
                <a:latin typeface="Noto Sans CJK KR"/>
                <a:ea typeface="Noto Sans CJK KR"/>
                <a:cs typeface="Noto Sans CJK KR"/>
              </a:defRPr>
            </a:lvl3pPr>
            <a:lvl4pPr>
              <a:defRPr sz="4275" b="1">
                <a:solidFill>
                  <a:srgbClr val="087F78"/>
                </a:solidFill>
                <a:latin typeface="Noto Sans CJK KR"/>
                <a:ea typeface="Noto Sans CJK KR"/>
                <a:cs typeface="Noto Sans CJK KR"/>
              </a:defRPr>
            </a:lvl4pPr>
            <a:lvl5pPr>
              <a:defRPr sz="4275" b="1">
                <a:solidFill>
                  <a:srgbClr val="087F78"/>
                </a:solidFill>
                <a:latin typeface="Noto Sans CJK KR"/>
                <a:ea typeface="Noto Sans CJK KR"/>
                <a:cs typeface="Noto Sans CJK KR"/>
              </a:defRPr>
            </a:lvl5pPr>
            <a:lvl6pPr>
              <a:defRPr sz="4275" b="1">
                <a:solidFill>
                  <a:srgbClr val="087F78"/>
                </a:solidFill>
                <a:latin typeface="Noto Sans CJK KR"/>
                <a:ea typeface="Noto Sans CJK KR"/>
                <a:cs typeface="Noto Sans CJK KR"/>
              </a:defRPr>
            </a:lvl6pPr>
            <a:lvl7pPr>
              <a:defRPr sz="4275" b="1">
                <a:solidFill>
                  <a:srgbClr val="087F78"/>
                </a:solidFill>
                <a:latin typeface="Noto Sans CJK KR"/>
                <a:ea typeface="Noto Sans CJK KR"/>
                <a:cs typeface="Noto Sans CJK KR"/>
              </a:defRPr>
            </a:lvl7pPr>
            <a:lvl8pPr>
              <a:defRPr sz="4275" b="1">
                <a:solidFill>
                  <a:srgbClr val="087F78"/>
                </a:solidFill>
                <a:latin typeface="Noto Sans CJK KR"/>
                <a:ea typeface="Noto Sans CJK KR"/>
                <a:cs typeface="Noto Sans CJK KR"/>
              </a:defRPr>
            </a:lvl8pPr>
            <a:lvl9pPr>
              <a:defRPr sz="4275" b="1">
                <a:solidFill>
                  <a:srgbClr val="087F78"/>
                </a:solidFill>
                <a:latin typeface="Noto Sans CJK KR"/>
                <a:ea typeface="Noto Sans CJK KR"/>
                <a:cs typeface="Noto Sans CJK KR"/>
              </a:defRPr>
            </a:lvl9pPr>
          </a:lstStyle>
          <a:p>
            <a:pPr>
              <a:defRPr sz="4275" b="1">
                <a:solidFill>
                  <a:srgbClr val="087F78"/>
                </a:solidFill>
                <a:latin typeface="Noto Sans CJK KR"/>
                <a:ea typeface="Noto Sans CJK KR"/>
                <a:cs typeface="Noto Sans CJK KR"/>
              </a:defRPr>
            </a:pPr>
            <a:r>
              <a:rPr sz="4275" b="1">
                <a:solidFill>
                  <a:srgbClr val="087F78"/>
                </a:solidFill>
                <a:latin typeface="Noto Sans CJK KR"/>
                <a:ea typeface="Noto Sans CJK KR"/>
                <a:cs typeface="Noto Sans CJK KR"/>
              </a:rPr>
              <a:t>96.32원/kWh</a:t>
            </a:r>
          </a:p>
        </p:txBody>
      </p:sp>
      <p:sp>
        <p:nvSpPr>
          <p:cNvPr id="6" name="body">
            <a:extLst>
              <a:ext uri="{FF2B5EF4-FFF2-40B4-BE49-F238E27FC236}">
                <a16:creationId xmlns:a16="http://schemas.microsoft.com/office/drawing/2014/main" id="{71177928-3C5A-45BA-8A94-63D5496B4BA8}"/>
              </a:ext>
            </a:extLst>
          </p:cNvPr>
          <p:cNvSpPr>
            <a:spLocks noGrp="1"/>
          </p:cNvSpPr>
          <p:nvPr/>
        </p:nvSpPr>
        <p:spPr>
          <a:xfrm>
            <a:off x="685800" y="3638550"/>
            <a:ext cx="10820400" cy="10287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일사량 방식의 연간 발전량 347,480kWh 사용</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20년간 발전량과 운영비가 일정하다고 가정</a:t>
            </a:r>
          </a:p>
        </p:txBody>
      </p:sp>
      <p:sp>
        <p:nvSpPr>
          <p:cNvPr id="7" name="bottom">
            <a:extLst>
              <a:ext uri="{FF2B5EF4-FFF2-40B4-BE49-F238E27FC236}">
                <a16:creationId xmlns:a16="http://schemas.microsoft.com/office/drawing/2014/main" id="{9DEDD936-180E-4CE5-8D7F-2B7F696624A8}"/>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약 96원은 이 가정에서의 생산비이며 판매가격이나 확정 수익이 아니다</a:t>
            </a:r>
          </a:p>
        </p:txBody>
      </p:sp>
    </p:spTree>
    <p:extLst>
      <p:ext uri="{BB962C8B-B14F-4D97-AF65-F5344CB8AC3E}">
        <p14:creationId xmlns:p14="http://schemas.microsoft.com/office/powerpoint/2010/main" val="467178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1CC57E3-0581-4C77-AC35-1B1C63873FEF}"/>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현재가치 합산으로 결과 확인</a:t>
            </a:r>
          </a:p>
        </p:txBody>
      </p:sp>
      <p:sp>
        <p:nvSpPr>
          <p:cNvPr id="3" name="page">
            <a:extLst>
              <a:ext uri="{FF2B5EF4-FFF2-40B4-BE49-F238E27FC236}">
                <a16:creationId xmlns:a16="http://schemas.microsoft.com/office/drawing/2014/main" id="{5A01DB01-0A0D-44E3-AC80-F942B6D72E60}"/>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20</a:t>
            </a:r>
          </a:p>
        </p:txBody>
      </p:sp>
      <p:graphicFrame>
        <p:nvGraphicFramePr>
          <p:cNvPr id="4" name="표 3">
            <a:extLst>
              <a:ext uri="{FF2B5EF4-FFF2-40B4-BE49-F238E27FC236}">
                <a16:creationId xmlns:a16="http://schemas.microsoft.com/office/drawing/2014/main" id="{7C21D85B-6071-490D-8A72-680908E1A135}"/>
              </a:ext>
            </a:extLst>
          </p:cNvPr>
          <p:cNvGraphicFramePr/>
          <p:nvPr/>
        </p:nvGraphicFramePr>
        <p:xfrm>
          <a:off x="685800" y="1571625"/>
          <a:ext cx="10820400" cy="3429000"/>
        </p:xfrm>
        <a:graphic>
          <a:graphicData uri="http://schemas.openxmlformats.org/drawingml/2006/table">
            <a:tbl>
              <a:tblPr/>
              <a:tblGrid>
                <a:gridCol w="4667250">
                  <a:extLst>
                    <a:ext uri="{9D8B030D-6E8A-4147-A177-3AD203B41FA5}">
                      <a16:colId xmlns:a16="http://schemas.microsoft.com/office/drawing/2014/main" val="20000"/>
                    </a:ext>
                  </a:extLst>
                </a:gridCol>
                <a:gridCol w="6153150">
                  <a:extLst>
                    <a:ext uri="{9D8B030D-6E8A-4147-A177-3AD203B41FA5}">
                      <a16:colId xmlns:a16="http://schemas.microsoft.com/office/drawing/2014/main" val="20001"/>
                    </a:ext>
                  </a:extLst>
                </a:gridCol>
              </a:tblGrid>
              <a:tr h="571500">
                <a:tc>
                  <a:txBody>
                    <a:bodyPr/>
                    <a:lstStyle/>
                    <a:p>
                      <a:r>
                        <a:rPr sz="1725" b="1">
                          <a:solidFill>
                            <a:srgbClr val="FFFFFF"/>
                          </a:solidFill>
                          <a:latin typeface="Noto Sans CJK KR"/>
                          <a:ea typeface="Noto Sans CJK KR"/>
                          <a:cs typeface="Noto Sans CJK KR"/>
                        </a:rPr>
                        <a:t>항목</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계산 결과</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초기투자비</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364,266,667원</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운영유지비의 현재가치 합계</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71,110,053원</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총비용의 현재가치</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435,376,719원</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725">
                          <a:solidFill>
                            <a:srgbClr val="172B3A"/>
                          </a:solidFill>
                          <a:latin typeface="Noto Sans CJK KR"/>
                          <a:ea typeface="Noto Sans CJK KR"/>
                          <a:cs typeface="Noto Sans CJK KR"/>
                        </a:rPr>
                        <a:t>발전량의 할인 합계</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4,519,997.76kWh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4"/>
                  </a:ext>
                </a:extLst>
              </a:tr>
              <a:tr h="571500">
                <a:tc>
                  <a:txBody>
                    <a:bodyPr/>
                    <a:lstStyle/>
                    <a:p>
                      <a:r>
                        <a:rPr sz="1725">
                          <a:solidFill>
                            <a:srgbClr val="172B3A"/>
                          </a:solidFill>
                          <a:latin typeface="Noto Sans CJK KR"/>
                          <a:ea typeface="Noto Sans CJK KR"/>
                          <a:cs typeface="Noto Sans CJK KR"/>
                        </a:rPr>
                        <a:t>LCOE</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435,376,719 ÷ 4,519,997.76 = 96.32원/kWh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bottom">
            <a:extLst>
              <a:ext uri="{FF2B5EF4-FFF2-40B4-BE49-F238E27FC236}">
                <a16:creationId xmlns:a16="http://schemas.microsoft.com/office/drawing/2014/main" id="{A25C2E6F-E1D8-4F74-942B-5999EBDE1785}"/>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자본회수계수 방식과 현재가치 합산 방식의 결과가 일치</a:t>
            </a:r>
          </a:p>
        </p:txBody>
      </p:sp>
    </p:spTree>
    <p:extLst>
      <p:ext uri="{BB962C8B-B14F-4D97-AF65-F5344CB8AC3E}">
        <p14:creationId xmlns:p14="http://schemas.microsoft.com/office/powerpoint/2010/main" val="1426328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C661C76-7C2F-4F33-A6D7-7EF7A304420E}"/>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발전량 추정에 따른 LCOE 차이</a:t>
            </a:r>
          </a:p>
        </p:txBody>
      </p:sp>
      <p:sp>
        <p:nvSpPr>
          <p:cNvPr id="3" name="page">
            <a:extLst>
              <a:ext uri="{FF2B5EF4-FFF2-40B4-BE49-F238E27FC236}">
                <a16:creationId xmlns:a16="http://schemas.microsoft.com/office/drawing/2014/main" id="{9E3D5430-2990-4119-B666-1BBD022683A7}"/>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21</a:t>
            </a:r>
          </a:p>
        </p:txBody>
      </p:sp>
      <p:graphicFrame>
        <p:nvGraphicFramePr>
          <p:cNvPr id="4" name="표 3">
            <a:extLst>
              <a:ext uri="{FF2B5EF4-FFF2-40B4-BE49-F238E27FC236}">
                <a16:creationId xmlns:a16="http://schemas.microsoft.com/office/drawing/2014/main" id="{ED066D00-B021-4A68-958A-2F360B6C2566}"/>
              </a:ext>
            </a:extLst>
          </p:cNvPr>
          <p:cNvGraphicFramePr/>
          <p:nvPr/>
        </p:nvGraphicFramePr>
        <p:xfrm>
          <a:off x="685800" y="1571625"/>
          <a:ext cx="10820400" cy="2286000"/>
        </p:xfrm>
        <a:graphic>
          <a:graphicData uri="http://schemas.openxmlformats.org/drawingml/2006/table">
            <a:tbl>
              <a:tblPr/>
              <a:tblGrid>
                <a:gridCol w="2762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571500">
                <a:tc>
                  <a:txBody>
                    <a:bodyPr/>
                    <a:lstStyle/>
                    <a:p>
                      <a:r>
                        <a:rPr sz="1725" b="1">
                          <a:solidFill>
                            <a:srgbClr val="FFFFFF"/>
                          </a:solidFill>
                          <a:latin typeface="Noto Sans CJK KR"/>
                          <a:ea typeface="Noto Sans CJK KR"/>
                          <a:cs typeface="Noto Sans CJK KR"/>
                        </a:rPr>
                        <a:t>발전량 가정</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연간 발전량</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LCOE</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H = 4.2, PR = 0.85</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347,480kWh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96.32원/kWh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CF = 13%</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303,680kWh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110.21원/kWh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71500">
                <a:tc>
                  <a:txBody>
                    <a:bodyPr/>
                    <a:lstStyle/>
                    <a:p>
                      <a:r>
                        <a:rPr sz="1725">
                          <a:solidFill>
                            <a:srgbClr val="172B3A"/>
                          </a:solidFill>
                          <a:latin typeface="Noto Sans CJK KR"/>
                          <a:ea typeface="Noto Sans CJK KR"/>
                          <a:cs typeface="Noto Sans CJK KR"/>
                        </a:rPr>
                        <a:t>CF = 14.875%</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347,480kWh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96.32원/kWh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bottom">
            <a:extLst>
              <a:ext uri="{FF2B5EF4-FFF2-40B4-BE49-F238E27FC236}">
                <a16:creationId xmlns:a16="http://schemas.microsoft.com/office/drawing/2014/main" id="{7141CBF0-0938-414B-9F3C-61E2CBA23718}"/>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투자비가 같으면 발전량이 적을수록 전력 한 단위의 비용이 높아진다</a:t>
            </a:r>
          </a:p>
        </p:txBody>
      </p:sp>
    </p:spTree>
    <p:extLst>
      <p:ext uri="{BB962C8B-B14F-4D97-AF65-F5344CB8AC3E}">
        <p14:creationId xmlns:p14="http://schemas.microsoft.com/office/powerpoint/2010/main" val="487443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0759E0A-7C64-45C7-8E9C-2513072CF3E8}"/>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시간에 따른 출력 감소</a:t>
            </a:r>
          </a:p>
        </p:txBody>
      </p:sp>
      <p:sp>
        <p:nvSpPr>
          <p:cNvPr id="3" name="page">
            <a:extLst>
              <a:ext uri="{FF2B5EF4-FFF2-40B4-BE49-F238E27FC236}">
                <a16:creationId xmlns:a16="http://schemas.microsoft.com/office/drawing/2014/main" id="{C051B1F1-83BA-4F20-9F04-AEBAA3DA38C8}"/>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22</a:t>
            </a:r>
          </a:p>
        </p:txBody>
      </p:sp>
      <p:sp>
        <p:nvSpPr>
          <p:cNvPr id="4" name="formula">
            <a:extLst>
              <a:ext uri="{FF2B5EF4-FFF2-40B4-BE49-F238E27FC236}">
                <a16:creationId xmlns:a16="http://schemas.microsoft.com/office/drawing/2014/main" id="{975D9146-0ACD-4EF4-B2C2-395647FF6756}"/>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Eₜ = E₁ × (1 − d)ᵗ⁻¹</a:t>
            </a:r>
          </a:p>
        </p:txBody>
      </p:sp>
      <p:graphicFrame>
        <p:nvGraphicFramePr>
          <p:cNvPr id="5" name="표 4">
            <a:extLst>
              <a:ext uri="{FF2B5EF4-FFF2-40B4-BE49-F238E27FC236}">
                <a16:creationId xmlns:a16="http://schemas.microsoft.com/office/drawing/2014/main" id="{B64F685A-8120-4117-9E32-E17455611189}"/>
              </a:ext>
            </a:extLst>
          </p:cNvPr>
          <p:cNvGraphicFramePr/>
          <p:nvPr/>
        </p:nvGraphicFramePr>
        <p:xfrm>
          <a:off x="685800" y="2619375"/>
          <a:ext cx="10820400" cy="1714500"/>
        </p:xfrm>
        <a:graphic>
          <a:graphicData uri="http://schemas.openxmlformats.org/drawingml/2006/table">
            <a:tbl>
              <a:tblPr/>
              <a:tblGrid>
                <a:gridCol w="4667250">
                  <a:extLst>
                    <a:ext uri="{9D8B030D-6E8A-4147-A177-3AD203B41FA5}">
                      <a16:colId xmlns:a16="http://schemas.microsoft.com/office/drawing/2014/main" val="20000"/>
                    </a:ext>
                  </a:extLst>
                </a:gridCol>
                <a:gridCol w="6153150">
                  <a:extLst>
                    <a:ext uri="{9D8B030D-6E8A-4147-A177-3AD203B41FA5}">
                      <a16:colId xmlns:a16="http://schemas.microsoft.com/office/drawing/2014/main" val="20001"/>
                    </a:ext>
                  </a:extLst>
                </a:gridCol>
              </a:tblGrid>
              <a:tr h="571500">
                <a:tc>
                  <a:txBody>
                    <a:bodyPr/>
                    <a:lstStyle/>
                    <a:p>
                      <a:r>
                        <a:rPr sz="1725" b="1">
                          <a:solidFill>
                            <a:srgbClr val="FFFFFF"/>
                          </a:solidFill>
                          <a:latin typeface="Noto Sans CJK KR"/>
                          <a:ea typeface="Noto Sans CJK KR"/>
                          <a:cs typeface="Noto Sans CJK KR"/>
                        </a:rPr>
                        <a:t>연간 출력 감소율 d</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LCOE</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71500">
                <a:tc>
                  <a:txBody>
                    <a:bodyPr/>
                    <a:lstStyle/>
                    <a:p>
                      <a:r>
                        <a:rPr sz="1725">
                          <a:solidFill>
                            <a:srgbClr val="172B3A"/>
                          </a:solidFill>
                          <a:latin typeface="Noto Sans CJK KR"/>
                          <a:ea typeface="Noto Sans CJK KR"/>
                          <a:cs typeface="Noto Sans CJK KR"/>
                        </a:rPr>
                        <a:t>0%</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96.32원/kWh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725">
                          <a:solidFill>
                            <a:srgbClr val="172B3A"/>
                          </a:solidFill>
                          <a:latin typeface="Noto Sans CJK KR"/>
                          <a:ea typeface="Noto Sans CJK KR"/>
                          <a:cs typeface="Noto Sans CJK KR"/>
                        </a:rPr>
                        <a:t>0.5%</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100.25원/kWh</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bl>
          </a:graphicData>
        </a:graphic>
      </p:graphicFrame>
      <p:sp>
        <p:nvSpPr>
          <p:cNvPr id="6" name="bottom">
            <a:extLst>
              <a:ext uri="{FF2B5EF4-FFF2-40B4-BE49-F238E27FC236}">
                <a16:creationId xmlns:a16="http://schemas.microsoft.com/office/drawing/2014/main" id="{D4191EDD-FD31-42B1-88C8-FA816C231CE6}"/>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첫해 발전량이 같아도 이후 발전량이 줄면 LCOE가 상승</a:t>
            </a:r>
          </a:p>
        </p:txBody>
      </p:sp>
    </p:spTree>
    <p:extLst>
      <p:ext uri="{BB962C8B-B14F-4D97-AF65-F5344CB8AC3E}">
        <p14:creationId xmlns:p14="http://schemas.microsoft.com/office/powerpoint/2010/main" val="1434791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F369066-9F11-4511-AC1B-20F6F79D7BAE}"/>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이용률과 LCOE</a:t>
            </a:r>
          </a:p>
        </p:txBody>
      </p:sp>
      <p:sp>
        <p:nvSpPr>
          <p:cNvPr id="3" name="page">
            <a:extLst>
              <a:ext uri="{FF2B5EF4-FFF2-40B4-BE49-F238E27FC236}">
                <a16:creationId xmlns:a16="http://schemas.microsoft.com/office/drawing/2014/main" id="{A9B9D008-9FA9-42B7-BC4E-18E27A8BB67C}"/>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23</a:t>
            </a:r>
          </a:p>
        </p:txBody>
      </p:sp>
      <p:graphicFrame>
        <p:nvGraphicFramePr>
          <p:cNvPr id="4" name="Chart">
            <a:extLst>
              <a:ext uri="{FF2B5EF4-FFF2-40B4-BE49-F238E27FC236}">
                <a16:creationId xmlns:a16="http://schemas.microsoft.com/office/drawing/2014/main" id="{373FA4DB-4655-44DE-A825-3E0ACC754A86}"/>
              </a:ext>
            </a:extLst>
          </p:cNvPr>
          <p:cNvGraphicFramePr/>
          <p:nvPr/>
        </p:nvGraphicFramePr>
        <p:xfrm>
          <a:off x="895350" y="1952625"/>
          <a:ext cx="1028700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5" name="chart-units">
            <a:extLst>
              <a:ext uri="{FF2B5EF4-FFF2-40B4-BE49-F238E27FC236}">
                <a16:creationId xmlns:a16="http://schemas.microsoft.com/office/drawing/2014/main" id="{5253DB39-BA1D-4833-8FC9-1FD0BD6EE4D5}"/>
              </a:ext>
            </a:extLst>
          </p:cNvPr>
          <p:cNvSpPr>
            <a:spLocks noGrp="1"/>
          </p:cNvSpPr>
          <p:nvPr/>
        </p:nvSpPr>
        <p:spPr>
          <a:xfrm>
            <a:off x="952500" y="1571625"/>
            <a:ext cx="3810000" cy="333375"/>
          </a:xfrm>
          <a:prstGeom prst="rect">
            <a:avLst/>
          </a:prstGeom>
          <a:noFill/>
          <a:ln w="0">
            <a:noFill/>
            <a:prstDash val="solid"/>
          </a:ln>
        </p:spPr>
        <p:txBody>
          <a:bodyPr wrap="square" lIns="0" tIns="0" rIns="0" bIns="0" anchor="t">
            <a:noAutofit/>
          </a:bodyPr>
          <a:lstStyle>
            <a:defPPr>
              <a:defRPr sz="1650" b="0">
                <a:solidFill>
                  <a:srgbClr val="607580"/>
                </a:solidFill>
                <a:latin typeface="Noto Sans CJK KR"/>
                <a:ea typeface="Noto Sans CJK KR"/>
                <a:cs typeface="Noto Sans CJK KR"/>
              </a:defRPr>
            </a:defPPr>
            <a:lvl1pPr>
              <a:defRPr sz="1650" b="0">
                <a:solidFill>
                  <a:srgbClr val="607580"/>
                </a:solidFill>
                <a:latin typeface="Noto Sans CJK KR"/>
                <a:ea typeface="Noto Sans CJK KR"/>
                <a:cs typeface="Noto Sans CJK KR"/>
              </a:defRPr>
            </a:lvl1pPr>
            <a:lvl2pPr>
              <a:defRPr sz="1650" b="0">
                <a:solidFill>
                  <a:srgbClr val="607580"/>
                </a:solidFill>
                <a:latin typeface="Noto Sans CJK KR"/>
                <a:ea typeface="Noto Sans CJK KR"/>
                <a:cs typeface="Noto Sans CJK KR"/>
              </a:defRPr>
            </a:lvl2pPr>
            <a:lvl3pPr>
              <a:defRPr sz="1650" b="0">
                <a:solidFill>
                  <a:srgbClr val="607580"/>
                </a:solidFill>
                <a:latin typeface="Noto Sans CJK KR"/>
                <a:ea typeface="Noto Sans CJK KR"/>
                <a:cs typeface="Noto Sans CJK KR"/>
              </a:defRPr>
            </a:lvl3pPr>
            <a:lvl4pPr>
              <a:defRPr sz="1650" b="0">
                <a:solidFill>
                  <a:srgbClr val="607580"/>
                </a:solidFill>
                <a:latin typeface="Noto Sans CJK KR"/>
                <a:ea typeface="Noto Sans CJK KR"/>
                <a:cs typeface="Noto Sans CJK KR"/>
              </a:defRPr>
            </a:lvl4pPr>
            <a:lvl5pPr>
              <a:defRPr sz="1650" b="0">
                <a:solidFill>
                  <a:srgbClr val="607580"/>
                </a:solidFill>
                <a:latin typeface="Noto Sans CJK KR"/>
                <a:ea typeface="Noto Sans CJK KR"/>
                <a:cs typeface="Noto Sans CJK KR"/>
              </a:defRPr>
            </a:lvl5pPr>
            <a:lvl6pPr>
              <a:defRPr sz="1650" b="0">
                <a:solidFill>
                  <a:srgbClr val="607580"/>
                </a:solidFill>
                <a:latin typeface="Noto Sans CJK KR"/>
                <a:ea typeface="Noto Sans CJK KR"/>
                <a:cs typeface="Noto Sans CJK KR"/>
              </a:defRPr>
            </a:lvl6pPr>
            <a:lvl7pPr>
              <a:defRPr sz="1650" b="0">
                <a:solidFill>
                  <a:srgbClr val="607580"/>
                </a:solidFill>
                <a:latin typeface="Noto Sans CJK KR"/>
                <a:ea typeface="Noto Sans CJK KR"/>
                <a:cs typeface="Noto Sans CJK KR"/>
              </a:defRPr>
            </a:lvl7pPr>
            <a:lvl8pPr>
              <a:defRPr sz="1650" b="0">
                <a:solidFill>
                  <a:srgbClr val="607580"/>
                </a:solidFill>
                <a:latin typeface="Noto Sans CJK KR"/>
                <a:ea typeface="Noto Sans CJK KR"/>
                <a:cs typeface="Noto Sans CJK KR"/>
              </a:defRPr>
            </a:lvl8pPr>
            <a:lvl9pPr>
              <a:defRPr sz="1650" b="0">
                <a:solidFill>
                  <a:srgbClr val="607580"/>
                </a:solidFill>
                <a:latin typeface="Noto Sans CJK KR"/>
                <a:ea typeface="Noto Sans CJK KR"/>
                <a:cs typeface="Noto Sans CJK KR"/>
              </a:defRPr>
            </a:lvl9pPr>
          </a:lstStyle>
          <a:p>
            <a:pPr>
              <a:defRPr sz="1650" b="0">
                <a:solidFill>
                  <a:srgbClr val="607580"/>
                </a:solidFill>
                <a:latin typeface="Noto Sans CJK KR"/>
                <a:ea typeface="Noto Sans CJK KR"/>
                <a:cs typeface="Noto Sans CJK KR"/>
              </a:defRPr>
            </a:pPr>
            <a:r>
              <a:rPr sz="1650" b="0">
                <a:solidFill>
                  <a:srgbClr val="607580"/>
                </a:solidFill>
                <a:latin typeface="Noto Sans CJK KR"/>
                <a:ea typeface="Noto Sans CJK KR"/>
                <a:cs typeface="Noto Sans CJK KR"/>
              </a:rPr>
              <a:t>LCOE (원/kWh)</a:t>
            </a:r>
          </a:p>
        </p:txBody>
      </p:sp>
      <p:sp>
        <p:nvSpPr>
          <p:cNvPr id="6" name="chart-body">
            <a:extLst>
              <a:ext uri="{FF2B5EF4-FFF2-40B4-BE49-F238E27FC236}">
                <a16:creationId xmlns:a16="http://schemas.microsoft.com/office/drawing/2014/main" id="{08AA56E6-8DE4-4558-A703-04BD80675BD2}"/>
              </a:ext>
            </a:extLst>
          </p:cNvPr>
          <p:cNvSpPr>
            <a:spLocks noGrp="1"/>
          </p:cNvSpPr>
          <p:nvPr/>
        </p:nvSpPr>
        <p:spPr>
          <a:xfrm>
            <a:off x="800100" y="5619750"/>
            <a:ext cx="10477500" cy="457200"/>
          </a:xfrm>
          <a:prstGeom prst="rect">
            <a:avLst/>
          </a:prstGeom>
          <a:noFill/>
          <a:ln w="0">
            <a:noFill/>
            <a:prstDash val="solid"/>
          </a:ln>
        </p:spPr>
        <p:txBody>
          <a:bodyPr wrap="square" lIns="0" tIns="0" rIns="0" bIns="0" anchor="t">
            <a:noAutofit/>
          </a:bodyPr>
          <a:lstStyle>
            <a:defPPr>
              <a:defRPr sz="1875" b="0">
                <a:solidFill>
                  <a:srgbClr val="172B3A"/>
                </a:solidFill>
                <a:latin typeface="Noto Sans CJK KR"/>
                <a:ea typeface="Noto Sans CJK KR"/>
                <a:cs typeface="Noto Sans CJK KR"/>
              </a:defRPr>
            </a:defPPr>
            <a:lvl1pPr>
              <a:defRPr sz="1875" b="0">
                <a:solidFill>
                  <a:srgbClr val="172B3A"/>
                </a:solidFill>
                <a:latin typeface="Noto Sans CJK KR"/>
                <a:ea typeface="Noto Sans CJK KR"/>
                <a:cs typeface="Noto Sans CJK KR"/>
              </a:defRPr>
            </a:lvl1pPr>
            <a:lvl2pPr>
              <a:defRPr sz="1875" b="0">
                <a:solidFill>
                  <a:srgbClr val="172B3A"/>
                </a:solidFill>
                <a:latin typeface="Noto Sans CJK KR"/>
                <a:ea typeface="Noto Sans CJK KR"/>
                <a:cs typeface="Noto Sans CJK KR"/>
              </a:defRPr>
            </a:lvl2pPr>
            <a:lvl3pPr>
              <a:defRPr sz="1875" b="0">
                <a:solidFill>
                  <a:srgbClr val="172B3A"/>
                </a:solidFill>
                <a:latin typeface="Noto Sans CJK KR"/>
                <a:ea typeface="Noto Sans CJK KR"/>
                <a:cs typeface="Noto Sans CJK KR"/>
              </a:defRPr>
            </a:lvl3pPr>
            <a:lvl4pPr>
              <a:defRPr sz="1875" b="0">
                <a:solidFill>
                  <a:srgbClr val="172B3A"/>
                </a:solidFill>
                <a:latin typeface="Noto Sans CJK KR"/>
                <a:ea typeface="Noto Sans CJK KR"/>
                <a:cs typeface="Noto Sans CJK KR"/>
              </a:defRPr>
            </a:lvl4pPr>
            <a:lvl5pPr>
              <a:defRPr sz="1875" b="0">
                <a:solidFill>
                  <a:srgbClr val="172B3A"/>
                </a:solidFill>
                <a:latin typeface="Noto Sans CJK KR"/>
                <a:ea typeface="Noto Sans CJK KR"/>
                <a:cs typeface="Noto Sans CJK KR"/>
              </a:defRPr>
            </a:lvl5pPr>
            <a:lvl6pPr>
              <a:defRPr sz="1875" b="0">
                <a:solidFill>
                  <a:srgbClr val="172B3A"/>
                </a:solidFill>
                <a:latin typeface="Noto Sans CJK KR"/>
                <a:ea typeface="Noto Sans CJK KR"/>
                <a:cs typeface="Noto Sans CJK KR"/>
              </a:defRPr>
            </a:lvl6pPr>
            <a:lvl7pPr>
              <a:defRPr sz="1875" b="0">
                <a:solidFill>
                  <a:srgbClr val="172B3A"/>
                </a:solidFill>
                <a:latin typeface="Noto Sans CJK KR"/>
                <a:ea typeface="Noto Sans CJK KR"/>
                <a:cs typeface="Noto Sans CJK KR"/>
              </a:defRPr>
            </a:lvl7pPr>
            <a:lvl8pPr>
              <a:defRPr sz="1875" b="0">
                <a:solidFill>
                  <a:srgbClr val="172B3A"/>
                </a:solidFill>
                <a:latin typeface="Noto Sans CJK KR"/>
                <a:ea typeface="Noto Sans CJK KR"/>
                <a:cs typeface="Noto Sans CJK KR"/>
              </a:defRPr>
            </a:lvl8pPr>
            <a:lvl9pPr>
              <a:defRPr sz="1875" b="0">
                <a:solidFill>
                  <a:srgbClr val="172B3A"/>
                </a:solidFill>
                <a:latin typeface="Noto Sans CJK KR"/>
                <a:ea typeface="Noto Sans CJK KR"/>
                <a:cs typeface="Noto Sans CJK KR"/>
              </a:defRPr>
            </a:lvl9pPr>
          </a:lstStyle>
          <a:p>
            <a:pPr>
              <a:defRPr sz="1875" b="0">
                <a:solidFill>
                  <a:srgbClr val="172B3A"/>
                </a:solidFill>
                <a:latin typeface="Noto Sans CJK KR"/>
                <a:ea typeface="Noto Sans CJK KR"/>
                <a:cs typeface="Noto Sans CJK KR"/>
              </a:defRPr>
            </a:pPr>
            <a:r>
              <a:rPr sz="1875" b="0">
                <a:solidFill>
                  <a:srgbClr val="172B3A"/>
                </a:solidFill>
                <a:latin typeface="Noto Sans CJK KR"/>
                <a:ea typeface="Noto Sans CJK KR"/>
                <a:cs typeface="Noto Sans CJK KR"/>
              </a:rPr>
              <a:t>같은 설비·비용에서 이용률이 높을수록 LCOE가 낮아진다</a:t>
            </a:r>
          </a:p>
        </p:txBody>
      </p:sp>
      <p:sp>
        <p:nvSpPr>
          <p:cNvPr id="7" name="bottom">
            <a:extLst>
              <a:ext uri="{FF2B5EF4-FFF2-40B4-BE49-F238E27FC236}">
                <a16:creationId xmlns:a16="http://schemas.microsoft.com/office/drawing/2014/main" id="{0A03D946-4142-4598-B372-989137A8D437}"/>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할인율 4.5%, 수명 20년     14.9%는 14.875%의 반올림 표시</a:t>
            </a:r>
          </a:p>
        </p:txBody>
      </p:sp>
    </p:spTree>
    <p:extLst>
      <p:ext uri="{BB962C8B-B14F-4D97-AF65-F5344CB8AC3E}">
        <p14:creationId xmlns:p14="http://schemas.microsoft.com/office/powerpoint/2010/main" val="776538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1175BE-3CBA-4310-98BD-ECFE5575A76F}"/>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할인율과 LCOE</a:t>
            </a:r>
          </a:p>
        </p:txBody>
      </p:sp>
      <p:sp>
        <p:nvSpPr>
          <p:cNvPr id="3" name="page">
            <a:extLst>
              <a:ext uri="{FF2B5EF4-FFF2-40B4-BE49-F238E27FC236}">
                <a16:creationId xmlns:a16="http://schemas.microsoft.com/office/drawing/2014/main" id="{AFB1AFA5-D11A-461F-B1DD-10FF2B7540C4}"/>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24</a:t>
            </a:r>
          </a:p>
        </p:txBody>
      </p:sp>
      <p:graphicFrame>
        <p:nvGraphicFramePr>
          <p:cNvPr id="4" name="Chart">
            <a:extLst>
              <a:ext uri="{FF2B5EF4-FFF2-40B4-BE49-F238E27FC236}">
                <a16:creationId xmlns:a16="http://schemas.microsoft.com/office/drawing/2014/main" id="{554914DE-4F4B-4598-B29A-DA06A4671099}"/>
              </a:ext>
            </a:extLst>
          </p:cNvPr>
          <p:cNvGraphicFramePr/>
          <p:nvPr/>
        </p:nvGraphicFramePr>
        <p:xfrm>
          <a:off x="895350" y="1952625"/>
          <a:ext cx="1028700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5" name="chart-units">
            <a:extLst>
              <a:ext uri="{FF2B5EF4-FFF2-40B4-BE49-F238E27FC236}">
                <a16:creationId xmlns:a16="http://schemas.microsoft.com/office/drawing/2014/main" id="{AF8908D9-64AB-481A-8A45-49BB47E539AC}"/>
              </a:ext>
            </a:extLst>
          </p:cNvPr>
          <p:cNvSpPr>
            <a:spLocks noGrp="1"/>
          </p:cNvSpPr>
          <p:nvPr/>
        </p:nvSpPr>
        <p:spPr>
          <a:xfrm>
            <a:off x="952500" y="1571625"/>
            <a:ext cx="3810000" cy="333375"/>
          </a:xfrm>
          <a:prstGeom prst="rect">
            <a:avLst/>
          </a:prstGeom>
          <a:noFill/>
          <a:ln w="0">
            <a:noFill/>
            <a:prstDash val="solid"/>
          </a:ln>
        </p:spPr>
        <p:txBody>
          <a:bodyPr wrap="square" lIns="0" tIns="0" rIns="0" bIns="0" anchor="t">
            <a:noAutofit/>
          </a:bodyPr>
          <a:lstStyle>
            <a:defPPr>
              <a:defRPr sz="1650" b="0">
                <a:solidFill>
                  <a:srgbClr val="607580"/>
                </a:solidFill>
                <a:latin typeface="Noto Sans CJK KR"/>
                <a:ea typeface="Noto Sans CJK KR"/>
                <a:cs typeface="Noto Sans CJK KR"/>
              </a:defRPr>
            </a:defPPr>
            <a:lvl1pPr>
              <a:defRPr sz="1650" b="0">
                <a:solidFill>
                  <a:srgbClr val="607580"/>
                </a:solidFill>
                <a:latin typeface="Noto Sans CJK KR"/>
                <a:ea typeface="Noto Sans CJK KR"/>
                <a:cs typeface="Noto Sans CJK KR"/>
              </a:defRPr>
            </a:lvl1pPr>
            <a:lvl2pPr>
              <a:defRPr sz="1650" b="0">
                <a:solidFill>
                  <a:srgbClr val="607580"/>
                </a:solidFill>
                <a:latin typeface="Noto Sans CJK KR"/>
                <a:ea typeface="Noto Sans CJK KR"/>
                <a:cs typeface="Noto Sans CJK KR"/>
              </a:defRPr>
            </a:lvl2pPr>
            <a:lvl3pPr>
              <a:defRPr sz="1650" b="0">
                <a:solidFill>
                  <a:srgbClr val="607580"/>
                </a:solidFill>
                <a:latin typeface="Noto Sans CJK KR"/>
                <a:ea typeface="Noto Sans CJK KR"/>
                <a:cs typeface="Noto Sans CJK KR"/>
              </a:defRPr>
            </a:lvl3pPr>
            <a:lvl4pPr>
              <a:defRPr sz="1650" b="0">
                <a:solidFill>
                  <a:srgbClr val="607580"/>
                </a:solidFill>
                <a:latin typeface="Noto Sans CJK KR"/>
                <a:ea typeface="Noto Sans CJK KR"/>
                <a:cs typeface="Noto Sans CJK KR"/>
              </a:defRPr>
            </a:lvl4pPr>
            <a:lvl5pPr>
              <a:defRPr sz="1650" b="0">
                <a:solidFill>
                  <a:srgbClr val="607580"/>
                </a:solidFill>
                <a:latin typeface="Noto Sans CJK KR"/>
                <a:ea typeface="Noto Sans CJK KR"/>
                <a:cs typeface="Noto Sans CJK KR"/>
              </a:defRPr>
            </a:lvl5pPr>
            <a:lvl6pPr>
              <a:defRPr sz="1650" b="0">
                <a:solidFill>
                  <a:srgbClr val="607580"/>
                </a:solidFill>
                <a:latin typeface="Noto Sans CJK KR"/>
                <a:ea typeface="Noto Sans CJK KR"/>
                <a:cs typeface="Noto Sans CJK KR"/>
              </a:defRPr>
            </a:lvl6pPr>
            <a:lvl7pPr>
              <a:defRPr sz="1650" b="0">
                <a:solidFill>
                  <a:srgbClr val="607580"/>
                </a:solidFill>
                <a:latin typeface="Noto Sans CJK KR"/>
                <a:ea typeface="Noto Sans CJK KR"/>
                <a:cs typeface="Noto Sans CJK KR"/>
              </a:defRPr>
            </a:lvl7pPr>
            <a:lvl8pPr>
              <a:defRPr sz="1650" b="0">
                <a:solidFill>
                  <a:srgbClr val="607580"/>
                </a:solidFill>
                <a:latin typeface="Noto Sans CJK KR"/>
                <a:ea typeface="Noto Sans CJK KR"/>
                <a:cs typeface="Noto Sans CJK KR"/>
              </a:defRPr>
            </a:lvl8pPr>
            <a:lvl9pPr>
              <a:defRPr sz="1650" b="0">
                <a:solidFill>
                  <a:srgbClr val="607580"/>
                </a:solidFill>
                <a:latin typeface="Noto Sans CJK KR"/>
                <a:ea typeface="Noto Sans CJK KR"/>
                <a:cs typeface="Noto Sans CJK KR"/>
              </a:defRPr>
            </a:lvl9pPr>
          </a:lstStyle>
          <a:p>
            <a:pPr>
              <a:defRPr sz="1650" b="0">
                <a:solidFill>
                  <a:srgbClr val="607580"/>
                </a:solidFill>
                <a:latin typeface="Noto Sans CJK KR"/>
                <a:ea typeface="Noto Sans CJK KR"/>
                <a:cs typeface="Noto Sans CJK KR"/>
              </a:defRPr>
            </a:pPr>
            <a:r>
              <a:rPr sz="1650" b="0">
                <a:solidFill>
                  <a:srgbClr val="607580"/>
                </a:solidFill>
                <a:latin typeface="Noto Sans CJK KR"/>
                <a:ea typeface="Noto Sans CJK KR"/>
                <a:cs typeface="Noto Sans CJK KR"/>
              </a:rPr>
              <a:t>LCOE (원/kWh)</a:t>
            </a:r>
          </a:p>
        </p:txBody>
      </p:sp>
      <p:sp>
        <p:nvSpPr>
          <p:cNvPr id="6" name="chart-body">
            <a:extLst>
              <a:ext uri="{FF2B5EF4-FFF2-40B4-BE49-F238E27FC236}">
                <a16:creationId xmlns:a16="http://schemas.microsoft.com/office/drawing/2014/main" id="{BDEA2450-FC4F-4447-AC2B-D14F91308F6B}"/>
              </a:ext>
            </a:extLst>
          </p:cNvPr>
          <p:cNvSpPr>
            <a:spLocks noGrp="1"/>
          </p:cNvSpPr>
          <p:nvPr/>
        </p:nvSpPr>
        <p:spPr>
          <a:xfrm>
            <a:off x="800100" y="5619750"/>
            <a:ext cx="10477500" cy="457200"/>
          </a:xfrm>
          <a:prstGeom prst="rect">
            <a:avLst/>
          </a:prstGeom>
          <a:noFill/>
          <a:ln w="0">
            <a:noFill/>
            <a:prstDash val="solid"/>
          </a:ln>
        </p:spPr>
        <p:txBody>
          <a:bodyPr wrap="square" lIns="0" tIns="0" rIns="0" bIns="0" anchor="t">
            <a:noAutofit/>
          </a:bodyPr>
          <a:lstStyle>
            <a:defPPr>
              <a:defRPr sz="1875" b="0">
                <a:solidFill>
                  <a:srgbClr val="172B3A"/>
                </a:solidFill>
                <a:latin typeface="Noto Sans CJK KR"/>
                <a:ea typeface="Noto Sans CJK KR"/>
                <a:cs typeface="Noto Sans CJK KR"/>
              </a:defRPr>
            </a:defPPr>
            <a:lvl1pPr>
              <a:defRPr sz="1875" b="0">
                <a:solidFill>
                  <a:srgbClr val="172B3A"/>
                </a:solidFill>
                <a:latin typeface="Noto Sans CJK KR"/>
                <a:ea typeface="Noto Sans CJK KR"/>
                <a:cs typeface="Noto Sans CJK KR"/>
              </a:defRPr>
            </a:lvl1pPr>
            <a:lvl2pPr>
              <a:defRPr sz="1875" b="0">
                <a:solidFill>
                  <a:srgbClr val="172B3A"/>
                </a:solidFill>
                <a:latin typeface="Noto Sans CJK KR"/>
                <a:ea typeface="Noto Sans CJK KR"/>
                <a:cs typeface="Noto Sans CJK KR"/>
              </a:defRPr>
            </a:lvl2pPr>
            <a:lvl3pPr>
              <a:defRPr sz="1875" b="0">
                <a:solidFill>
                  <a:srgbClr val="172B3A"/>
                </a:solidFill>
                <a:latin typeface="Noto Sans CJK KR"/>
                <a:ea typeface="Noto Sans CJK KR"/>
                <a:cs typeface="Noto Sans CJK KR"/>
              </a:defRPr>
            </a:lvl3pPr>
            <a:lvl4pPr>
              <a:defRPr sz="1875" b="0">
                <a:solidFill>
                  <a:srgbClr val="172B3A"/>
                </a:solidFill>
                <a:latin typeface="Noto Sans CJK KR"/>
                <a:ea typeface="Noto Sans CJK KR"/>
                <a:cs typeface="Noto Sans CJK KR"/>
              </a:defRPr>
            </a:lvl4pPr>
            <a:lvl5pPr>
              <a:defRPr sz="1875" b="0">
                <a:solidFill>
                  <a:srgbClr val="172B3A"/>
                </a:solidFill>
                <a:latin typeface="Noto Sans CJK KR"/>
                <a:ea typeface="Noto Sans CJK KR"/>
                <a:cs typeface="Noto Sans CJK KR"/>
              </a:defRPr>
            </a:lvl5pPr>
            <a:lvl6pPr>
              <a:defRPr sz="1875" b="0">
                <a:solidFill>
                  <a:srgbClr val="172B3A"/>
                </a:solidFill>
                <a:latin typeface="Noto Sans CJK KR"/>
                <a:ea typeface="Noto Sans CJK KR"/>
                <a:cs typeface="Noto Sans CJK KR"/>
              </a:defRPr>
            </a:lvl6pPr>
            <a:lvl7pPr>
              <a:defRPr sz="1875" b="0">
                <a:solidFill>
                  <a:srgbClr val="172B3A"/>
                </a:solidFill>
                <a:latin typeface="Noto Sans CJK KR"/>
                <a:ea typeface="Noto Sans CJK KR"/>
                <a:cs typeface="Noto Sans CJK KR"/>
              </a:defRPr>
            </a:lvl7pPr>
            <a:lvl8pPr>
              <a:defRPr sz="1875" b="0">
                <a:solidFill>
                  <a:srgbClr val="172B3A"/>
                </a:solidFill>
                <a:latin typeface="Noto Sans CJK KR"/>
                <a:ea typeface="Noto Sans CJK KR"/>
                <a:cs typeface="Noto Sans CJK KR"/>
              </a:defRPr>
            </a:lvl8pPr>
            <a:lvl9pPr>
              <a:defRPr sz="1875" b="0">
                <a:solidFill>
                  <a:srgbClr val="172B3A"/>
                </a:solidFill>
                <a:latin typeface="Noto Sans CJK KR"/>
                <a:ea typeface="Noto Sans CJK KR"/>
                <a:cs typeface="Noto Sans CJK KR"/>
              </a:defRPr>
            </a:lvl9pPr>
          </a:lstStyle>
          <a:p>
            <a:pPr>
              <a:defRPr sz="1875" b="0">
                <a:solidFill>
                  <a:srgbClr val="172B3A"/>
                </a:solidFill>
                <a:latin typeface="Noto Sans CJK KR"/>
                <a:ea typeface="Noto Sans CJK KR"/>
                <a:cs typeface="Noto Sans CJK KR"/>
              </a:defRPr>
            </a:pPr>
            <a:r>
              <a:rPr sz="1875" b="0">
                <a:solidFill>
                  <a:srgbClr val="172B3A"/>
                </a:solidFill>
                <a:latin typeface="Noto Sans CJK KR"/>
                <a:ea typeface="Noto Sans CJK KR"/>
                <a:cs typeface="Noto Sans CJK KR"/>
              </a:rPr>
              <a:t>초기투자 비중이 큰 태양광은 할인율 가정에 민감하다</a:t>
            </a:r>
          </a:p>
        </p:txBody>
      </p:sp>
      <p:sp>
        <p:nvSpPr>
          <p:cNvPr id="7" name="bottom">
            <a:extLst>
              <a:ext uri="{FF2B5EF4-FFF2-40B4-BE49-F238E27FC236}">
                <a16:creationId xmlns:a16="http://schemas.microsoft.com/office/drawing/2014/main" id="{736CF6D7-413E-4E48-BF13-DE94152181FB}"/>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발전량 347,480kWh/년, 수명 20년     실질비용·실질할인율 가정</a:t>
            </a:r>
          </a:p>
        </p:txBody>
      </p:sp>
    </p:spTree>
    <p:extLst>
      <p:ext uri="{BB962C8B-B14F-4D97-AF65-F5344CB8AC3E}">
        <p14:creationId xmlns:p14="http://schemas.microsoft.com/office/powerpoint/2010/main" val="875175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915D893-9EA4-4CD5-8233-2F2C9C35CCF0}"/>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LCOE의 해석 범위</a:t>
            </a:r>
          </a:p>
        </p:txBody>
      </p:sp>
      <p:sp>
        <p:nvSpPr>
          <p:cNvPr id="3" name="page">
            <a:extLst>
              <a:ext uri="{FF2B5EF4-FFF2-40B4-BE49-F238E27FC236}">
                <a16:creationId xmlns:a16="http://schemas.microsoft.com/office/drawing/2014/main" id="{353E6935-DD41-46CE-9506-1D7B0509ABD4}"/>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25</a:t>
            </a:r>
          </a:p>
        </p:txBody>
      </p:sp>
      <p:sp>
        <p:nvSpPr>
          <p:cNvPr id="4" name="body">
            <a:extLst>
              <a:ext uri="{FF2B5EF4-FFF2-40B4-BE49-F238E27FC236}">
                <a16:creationId xmlns:a16="http://schemas.microsoft.com/office/drawing/2014/main" id="{EF3680CF-DCBB-4200-BFE8-2594536DFA04}"/>
              </a:ext>
            </a:extLst>
          </p:cNvPr>
          <p:cNvSpPr>
            <a:spLocks noGrp="1"/>
          </p:cNvSpPr>
          <p:nvPr/>
        </p:nvSpPr>
        <p:spPr>
          <a:xfrm>
            <a:off x="685800" y="157162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발전 시점과 전력의 시장가치를 직접 평가하지 않는다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계통접속·출력제한·저장 비용의 포함 범위를 확인한다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환경·건강의 외부비용은 별도 반영 여부를 확인한다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판매수익과 사업성은 전력가격·계약·제도로 따로 평가한다</a:t>
            </a:r>
          </a:p>
        </p:txBody>
      </p:sp>
      <p:sp>
        <p:nvSpPr>
          <p:cNvPr id="5" name="bottom">
            <a:extLst>
              <a:ext uri="{FF2B5EF4-FFF2-40B4-BE49-F238E27FC236}">
                <a16:creationId xmlns:a16="http://schemas.microsoft.com/office/drawing/2014/main" id="{EF442AEB-6B99-4249-A4C5-E35FC076C189}"/>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태양광의 낮은 운전 중 배출은 화석연료의 외부비용 회피와 연결</a:t>
            </a:r>
          </a:p>
        </p:txBody>
      </p:sp>
    </p:spTree>
    <p:extLst>
      <p:ext uri="{BB962C8B-B14F-4D97-AF65-F5344CB8AC3E}">
        <p14:creationId xmlns:p14="http://schemas.microsoft.com/office/powerpoint/2010/main" val="1873209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69C016B-7457-4791-9DD1-6EB8C13341B0}"/>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연습문제 100kW 태양광</a:t>
            </a:r>
          </a:p>
        </p:txBody>
      </p:sp>
      <p:sp>
        <p:nvSpPr>
          <p:cNvPr id="3" name="page">
            <a:extLst>
              <a:ext uri="{FF2B5EF4-FFF2-40B4-BE49-F238E27FC236}">
                <a16:creationId xmlns:a16="http://schemas.microsoft.com/office/drawing/2014/main" id="{6C621E4C-5074-477A-8081-6BE3E6AF61E9}"/>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26</a:t>
            </a:r>
          </a:p>
        </p:txBody>
      </p:sp>
      <p:graphicFrame>
        <p:nvGraphicFramePr>
          <p:cNvPr id="4" name="표 3">
            <a:extLst>
              <a:ext uri="{FF2B5EF4-FFF2-40B4-BE49-F238E27FC236}">
                <a16:creationId xmlns:a16="http://schemas.microsoft.com/office/drawing/2014/main" id="{5C505FCD-A647-4E1A-B646-70E522677EDB}"/>
              </a:ext>
            </a:extLst>
          </p:cNvPr>
          <p:cNvGraphicFramePr/>
          <p:nvPr/>
        </p:nvGraphicFramePr>
        <p:xfrm>
          <a:off x="685800" y="1571625"/>
          <a:ext cx="10820400" cy="2714625"/>
        </p:xfrm>
        <a:graphic>
          <a:graphicData uri="http://schemas.openxmlformats.org/drawingml/2006/table">
            <a:tbl>
              <a:tblPr/>
              <a:tblGrid>
                <a:gridCol w="4667250">
                  <a:extLst>
                    <a:ext uri="{9D8B030D-6E8A-4147-A177-3AD203B41FA5}">
                      <a16:colId xmlns:a16="http://schemas.microsoft.com/office/drawing/2014/main" val="20000"/>
                    </a:ext>
                  </a:extLst>
                </a:gridCol>
                <a:gridCol w="6153150">
                  <a:extLst>
                    <a:ext uri="{9D8B030D-6E8A-4147-A177-3AD203B41FA5}">
                      <a16:colId xmlns:a16="http://schemas.microsoft.com/office/drawing/2014/main" val="20001"/>
                    </a:ext>
                  </a:extLst>
                </a:gridCol>
              </a:tblGrid>
              <a:tr h="542925">
                <a:tc>
                  <a:txBody>
                    <a:bodyPr/>
                    <a:lstStyle/>
                    <a:p>
                      <a:r>
                        <a:rPr sz="1725" b="1">
                          <a:solidFill>
                            <a:srgbClr val="FFFFFF"/>
                          </a:solidFill>
                          <a:latin typeface="Noto Sans CJK KR"/>
                          <a:ea typeface="Noto Sans CJK KR"/>
                          <a:cs typeface="Noto Sans CJK KR"/>
                        </a:rPr>
                        <a:t>가정</a:t>
                      </a:r>
                    </a:p>
                  </a:txBody>
                  <a:tcPr marL="152400" marR="152400" marT="114300" marB="114300">
                    <a:lnL w="9525">
                      <a:solidFill>
                        <a:srgbClr val="D7E0E5"/>
                      </a:solidFill>
                      <a:prstDash val="soli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tc>
                  <a:txBody>
                    <a:bodyPr/>
                    <a:lstStyle/>
                    <a:p>
                      <a:r>
                        <a:rPr sz="1725" b="1">
                          <a:solidFill>
                            <a:srgbClr val="FFFFFF"/>
                          </a:solidFill>
                          <a:latin typeface="Noto Sans CJK KR"/>
                          <a:ea typeface="Noto Sans CJK KR"/>
                          <a:cs typeface="Noto Sans CJK KR"/>
                        </a:rPr>
                        <a:t>값</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a:solidFill>
                        <a:srgbClr val="D7E0E5"/>
                      </a:solidFill>
                      <a:prstDash val="solid"/>
                    </a:lnT>
                    <a:lnB w="9525">
                      <a:solidFill>
                        <a:srgbClr val="D7E0E5"/>
                      </a:solidFill>
                      <a:prstDash val="solid"/>
                    </a:lnB>
                    <a:solidFill>
                      <a:srgbClr val="173A4A"/>
                    </a:solidFill>
                  </a:tcPr>
                </a:tc>
                <a:extLst>
                  <a:ext uri="{0D108BD9-81ED-4DB2-BD59-A6C34878D82A}">
                    <a16:rowId xmlns:a16="http://schemas.microsoft.com/office/drawing/2014/main" val="10000"/>
                  </a:ext>
                </a:extLst>
              </a:tr>
              <a:tr h="542925">
                <a:tc>
                  <a:txBody>
                    <a:bodyPr/>
                    <a:lstStyle/>
                    <a:p>
                      <a:r>
                        <a:rPr sz="1725">
                          <a:solidFill>
                            <a:srgbClr val="172B3A"/>
                          </a:solidFill>
                          <a:latin typeface="Noto Sans CJK KR"/>
                          <a:ea typeface="Noto Sans CJK KR"/>
                          <a:cs typeface="Noto Sans CJK KR"/>
                        </a:rPr>
                        <a:t>설비용량과 연간 발전량</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100kWdc, 120,000kWh/년</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1"/>
                  </a:ext>
                </a:extLst>
              </a:tr>
              <a:tr h="542925">
                <a:tc>
                  <a:txBody>
                    <a:bodyPr/>
                    <a:lstStyle/>
                    <a:p>
                      <a:r>
                        <a:rPr sz="1725">
                          <a:solidFill>
                            <a:srgbClr val="172B3A"/>
                          </a:solidFill>
                          <a:latin typeface="Noto Sans CJK KR"/>
                          <a:ea typeface="Noto Sans CJK KR"/>
                          <a:cs typeface="Noto Sans CJK KR"/>
                        </a:rPr>
                        <a:t>초기투자비와 연간 운영비</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1억 2,000만원, 200만원/년</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2"/>
                  </a:ext>
                </a:extLst>
              </a:tr>
              <a:tr h="542925">
                <a:tc>
                  <a:txBody>
                    <a:bodyPr/>
                    <a:lstStyle/>
                    <a:p>
                      <a:r>
                        <a:rPr sz="1725">
                          <a:solidFill>
                            <a:srgbClr val="172B3A"/>
                          </a:solidFill>
                          <a:latin typeface="Noto Sans CJK KR"/>
                          <a:ea typeface="Noto Sans CJK KR"/>
                          <a:cs typeface="Noto Sans CJK KR"/>
                        </a:rPr>
                        <a:t>수명</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tc>
                  <a:txBody>
                    <a:bodyPr/>
                    <a:lstStyle/>
                    <a:p>
                      <a:r>
                        <a:rPr sz="1725">
                          <a:solidFill>
                            <a:srgbClr val="172B3A"/>
                          </a:solidFill>
                          <a:latin typeface="Noto Sans CJK KR"/>
                          <a:ea typeface="Noto Sans CJK KR"/>
                          <a:cs typeface="Noto Sans CJK KR"/>
                        </a:rPr>
                        <a:t>20년</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FFFFF"/>
                    </a:solidFill>
                  </a:tcPr>
                </a:tc>
                <a:extLst>
                  <a:ext uri="{0D108BD9-81ED-4DB2-BD59-A6C34878D82A}">
                    <a16:rowId xmlns:a16="http://schemas.microsoft.com/office/drawing/2014/main" val="10003"/>
                  </a:ext>
                </a:extLst>
              </a:tr>
              <a:tr h="542925">
                <a:tc>
                  <a:txBody>
                    <a:bodyPr/>
                    <a:lstStyle/>
                    <a:p>
                      <a:r>
                        <a:rPr sz="1725">
                          <a:solidFill>
                            <a:srgbClr val="172B3A"/>
                          </a:solidFill>
                          <a:latin typeface="Noto Sans CJK KR"/>
                          <a:ea typeface="Noto Sans CJK KR"/>
                          <a:cs typeface="Noto Sans CJK KR"/>
                        </a:rPr>
                        <a:t>기타</a:t>
                      </a:r>
                    </a:p>
                  </a:txBody>
                  <a:tcPr marL="152400" marR="152400" marT="114300" marB="114300">
                    <a:lnL w="9525">
                      <a:solidFill>
                        <a:srgbClr val="D7E0E5"/>
                      </a:solidFill>
                      <a:prstDash val="soli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tc>
                  <a:txBody>
                    <a:bodyPr/>
                    <a:lstStyle/>
                    <a:p>
                      <a:r>
                        <a:rPr sz="1725">
                          <a:solidFill>
                            <a:srgbClr val="172B3A"/>
                          </a:solidFill>
                          <a:latin typeface="Noto Sans CJK KR"/>
                          <a:ea typeface="Noto Sans CJK KR"/>
                          <a:cs typeface="Noto Sans CJK KR"/>
                        </a:rPr>
                        <a:t>출력 감소·추가 교체비 없음</a:t>
                      </a:r>
                    </a:p>
                  </a:txBody>
                  <a:tcPr marL="152400" marR="152400" marT="114300" marB="114300">
                    <a:lnL w="9525" cap="flat" cmpd="sng" algn="ctr">
                      <a:solidFill>
                        <a:srgbClr val="D7E0E5"/>
                      </a:solidFill>
                      <a:prstDash val="solid"/>
                      <a:round/>
                      <a:headEnd type="none" w="med" len="med"/>
                      <a:tailEnd type="none" w="med" len="med"/>
                    </a:lnL>
                    <a:lnR w="9525">
                      <a:solidFill>
                        <a:srgbClr val="D7E0E5"/>
                      </a:solidFill>
                      <a:prstDash val="solid"/>
                    </a:lnR>
                    <a:lnT w="9525" cap="flat" cmpd="sng" algn="ctr">
                      <a:solidFill>
                        <a:srgbClr val="D7E0E5"/>
                      </a:solidFill>
                      <a:prstDash val="solid"/>
                      <a:round/>
                      <a:headEnd type="none" w="med" len="med"/>
                      <a:tailEnd type="none" w="med" len="med"/>
                    </a:lnT>
                    <a:lnB w="9525">
                      <a:solidFill>
                        <a:srgbClr val="D7E0E5"/>
                      </a:solidFill>
                      <a:prstDash val="solid"/>
                    </a:lnB>
                    <a:solidFill>
                      <a:srgbClr val="F0F5F5"/>
                    </a:solidFill>
                  </a:tcPr>
                </a:tc>
                <a:extLst>
                  <a:ext uri="{0D108BD9-81ED-4DB2-BD59-A6C34878D82A}">
                    <a16:rowId xmlns:a16="http://schemas.microsoft.com/office/drawing/2014/main" val="10004"/>
                  </a:ext>
                </a:extLst>
              </a:tr>
            </a:tbl>
          </a:graphicData>
        </a:graphic>
      </p:graphicFrame>
      <p:sp>
        <p:nvSpPr>
          <p:cNvPr id="5" name="body">
            <a:extLst>
              <a:ext uri="{FF2B5EF4-FFF2-40B4-BE49-F238E27FC236}">
                <a16:creationId xmlns:a16="http://schemas.microsoft.com/office/drawing/2014/main" id="{33E7E318-DE89-4E55-9E53-95AAD4869B81}"/>
              </a:ext>
            </a:extLst>
          </p:cNvPr>
          <p:cNvSpPr>
            <a:spLocks noGrp="1"/>
          </p:cNvSpPr>
          <p:nvPr/>
        </p:nvSpPr>
        <p:spPr>
          <a:xfrm>
            <a:off x="685800" y="4524375"/>
            <a:ext cx="10820400" cy="904875"/>
          </a:xfrm>
          <a:prstGeom prst="rect">
            <a:avLst/>
          </a:prstGeom>
          <a:noFill/>
          <a:ln w="0">
            <a:noFill/>
            <a:prstDash val="solid"/>
          </a:ln>
        </p:spPr>
        <p:txBody>
          <a:bodyPr wrap="square" lIns="0" tIns="0" rIns="0" bIns="0" anchor="t">
            <a:noAutofit/>
          </a:bodyPr>
          <a:lstStyle>
            <a:defPPr>
              <a:defRPr sz="1875" b="0">
                <a:solidFill>
                  <a:srgbClr val="172B3A"/>
                </a:solidFill>
                <a:latin typeface="Noto Sans CJK KR"/>
                <a:ea typeface="Noto Sans CJK KR"/>
                <a:cs typeface="Noto Sans CJK KR"/>
              </a:defRPr>
            </a:defPPr>
            <a:lvl1pPr>
              <a:defRPr sz="1875" b="0">
                <a:solidFill>
                  <a:srgbClr val="172B3A"/>
                </a:solidFill>
                <a:latin typeface="Noto Sans CJK KR"/>
                <a:ea typeface="Noto Sans CJK KR"/>
                <a:cs typeface="Noto Sans CJK KR"/>
              </a:defRPr>
            </a:lvl1pPr>
            <a:lvl2pPr>
              <a:defRPr sz="1875" b="0">
                <a:solidFill>
                  <a:srgbClr val="172B3A"/>
                </a:solidFill>
                <a:latin typeface="Noto Sans CJK KR"/>
                <a:ea typeface="Noto Sans CJK KR"/>
                <a:cs typeface="Noto Sans CJK KR"/>
              </a:defRPr>
            </a:lvl2pPr>
            <a:lvl3pPr>
              <a:defRPr sz="1875" b="0">
                <a:solidFill>
                  <a:srgbClr val="172B3A"/>
                </a:solidFill>
                <a:latin typeface="Noto Sans CJK KR"/>
                <a:ea typeface="Noto Sans CJK KR"/>
                <a:cs typeface="Noto Sans CJK KR"/>
              </a:defRPr>
            </a:lvl3pPr>
            <a:lvl4pPr>
              <a:defRPr sz="1875" b="0">
                <a:solidFill>
                  <a:srgbClr val="172B3A"/>
                </a:solidFill>
                <a:latin typeface="Noto Sans CJK KR"/>
                <a:ea typeface="Noto Sans CJK KR"/>
                <a:cs typeface="Noto Sans CJK KR"/>
              </a:defRPr>
            </a:lvl4pPr>
            <a:lvl5pPr>
              <a:defRPr sz="1875" b="0">
                <a:solidFill>
                  <a:srgbClr val="172B3A"/>
                </a:solidFill>
                <a:latin typeface="Noto Sans CJK KR"/>
                <a:ea typeface="Noto Sans CJK KR"/>
                <a:cs typeface="Noto Sans CJK KR"/>
              </a:defRPr>
            </a:lvl5pPr>
            <a:lvl6pPr>
              <a:defRPr sz="1875" b="0">
                <a:solidFill>
                  <a:srgbClr val="172B3A"/>
                </a:solidFill>
                <a:latin typeface="Noto Sans CJK KR"/>
                <a:ea typeface="Noto Sans CJK KR"/>
                <a:cs typeface="Noto Sans CJK KR"/>
              </a:defRPr>
            </a:lvl6pPr>
            <a:lvl7pPr>
              <a:defRPr sz="1875" b="0">
                <a:solidFill>
                  <a:srgbClr val="172B3A"/>
                </a:solidFill>
                <a:latin typeface="Noto Sans CJK KR"/>
                <a:ea typeface="Noto Sans CJK KR"/>
                <a:cs typeface="Noto Sans CJK KR"/>
              </a:defRPr>
            </a:lvl7pPr>
            <a:lvl8pPr>
              <a:defRPr sz="1875" b="0">
                <a:solidFill>
                  <a:srgbClr val="172B3A"/>
                </a:solidFill>
                <a:latin typeface="Noto Sans CJK KR"/>
                <a:ea typeface="Noto Sans CJK KR"/>
                <a:cs typeface="Noto Sans CJK KR"/>
              </a:defRPr>
            </a:lvl8pPr>
            <a:lvl9pPr>
              <a:defRPr sz="1875" b="0">
                <a:solidFill>
                  <a:srgbClr val="172B3A"/>
                </a:solidFill>
                <a:latin typeface="Noto Sans CJK KR"/>
                <a:ea typeface="Noto Sans CJK KR"/>
                <a:cs typeface="Noto Sans CJK KR"/>
              </a:defRPr>
            </a:lvl9pPr>
          </a:lstStyle>
          <a:p>
            <a:pPr>
              <a:defRPr sz="1875" b="0">
                <a:solidFill>
                  <a:srgbClr val="172B3A"/>
                </a:solidFill>
                <a:latin typeface="Noto Sans CJK KR"/>
                <a:ea typeface="Noto Sans CJK KR"/>
                <a:cs typeface="Noto Sans CJK KR"/>
              </a:defRPr>
            </a:pPr>
            <a:r>
              <a:rPr sz="1875" b="0">
                <a:solidFill>
                  <a:srgbClr val="172B3A"/>
                </a:solidFill>
                <a:latin typeface="Noto Sans CJK KR"/>
                <a:ea typeface="Noto Sans CJK KR"/>
                <a:cs typeface="Noto Sans CJK KR"/>
              </a:rPr>
              <a:t>① 할인율 0%에서 LCOE를 계산하시오</a:t>
            </a:r>
          </a:p>
          <a:p>
            <a:pPr>
              <a:defRPr sz="1875" b="0">
                <a:solidFill>
                  <a:srgbClr val="172B3A"/>
                </a:solidFill>
                <a:latin typeface="Noto Sans CJK KR"/>
                <a:ea typeface="Noto Sans CJK KR"/>
                <a:cs typeface="Noto Sans CJK KR"/>
              </a:defRPr>
            </a:pPr>
            <a:r>
              <a:rPr sz="1875" b="0">
                <a:solidFill>
                  <a:srgbClr val="172B3A"/>
                </a:solidFill>
                <a:latin typeface="Noto Sans CJK KR"/>
                <a:ea typeface="Noto Sans CJK KR"/>
                <a:cs typeface="Noto Sans CJK KR"/>
              </a:rPr>
              <a:t>② 할인율 5%에서 계산하시오  CRF = 0.080243</a:t>
            </a:r>
          </a:p>
          <a:p>
            <a:pPr>
              <a:defRPr sz="1875" b="0">
                <a:solidFill>
                  <a:srgbClr val="172B3A"/>
                </a:solidFill>
                <a:latin typeface="Noto Sans CJK KR"/>
                <a:ea typeface="Noto Sans CJK KR"/>
                <a:cs typeface="Noto Sans CJK KR"/>
              </a:defRPr>
            </a:pPr>
            <a:r>
              <a:rPr sz="1875" b="0">
                <a:solidFill>
                  <a:srgbClr val="172B3A"/>
                </a:solidFill>
                <a:latin typeface="Noto Sans CJK KR"/>
                <a:ea typeface="Noto Sans CJK KR"/>
                <a:cs typeface="Noto Sans CJK KR"/>
              </a:rPr>
              <a:t>③ 판매단가 100원/kWh와 비교해 해석하시오</a:t>
            </a:r>
          </a:p>
        </p:txBody>
      </p:sp>
    </p:spTree>
    <p:extLst>
      <p:ext uri="{BB962C8B-B14F-4D97-AF65-F5344CB8AC3E}">
        <p14:creationId xmlns:p14="http://schemas.microsoft.com/office/powerpoint/2010/main" val="961592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1D9D9E8-0670-4ED4-9064-99FB4A3200B2}"/>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연습문제 풀이</a:t>
            </a:r>
          </a:p>
        </p:txBody>
      </p:sp>
      <p:sp>
        <p:nvSpPr>
          <p:cNvPr id="3" name="page">
            <a:extLst>
              <a:ext uri="{FF2B5EF4-FFF2-40B4-BE49-F238E27FC236}">
                <a16:creationId xmlns:a16="http://schemas.microsoft.com/office/drawing/2014/main" id="{756C5C86-5E12-4776-AA10-82AEF23EA053}"/>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27</a:t>
            </a:r>
          </a:p>
        </p:txBody>
      </p:sp>
      <p:sp>
        <p:nvSpPr>
          <p:cNvPr id="4" name="formula">
            <a:extLst>
              <a:ext uri="{FF2B5EF4-FFF2-40B4-BE49-F238E27FC236}">
                <a16:creationId xmlns:a16="http://schemas.microsoft.com/office/drawing/2014/main" id="{165EA7F3-7870-4A8C-A315-7C9155A4BB15}"/>
              </a:ext>
            </a:extLst>
          </p:cNvPr>
          <p:cNvSpPr>
            <a:spLocks noGrp="1"/>
          </p:cNvSpPr>
          <p:nvPr/>
        </p:nvSpPr>
        <p:spPr>
          <a:xfrm>
            <a:off x="685800" y="1571625"/>
            <a:ext cx="10820400" cy="857250"/>
          </a:xfrm>
          <a:prstGeom prst="rect">
            <a:avLst/>
          </a:prstGeom>
          <a:noFill/>
          <a:ln w="0">
            <a:noFill/>
            <a:prstDash val="solid"/>
          </a:ln>
        </p:spPr>
        <p:txBody>
          <a:bodyPr wrap="square" lIns="0" tIns="0" rIns="0" bIns="0" anchor="t">
            <a:noAutofit/>
          </a:bodyPr>
          <a:lstStyle>
            <a:defPPr>
              <a:defRPr sz="2625" b="1">
                <a:solidFill>
                  <a:srgbClr val="087F78"/>
                </a:solidFill>
                <a:latin typeface="Noto Sans CJK KR"/>
                <a:ea typeface="Noto Sans CJK KR"/>
                <a:cs typeface="Noto Sans CJK KR"/>
              </a:defRPr>
            </a:defPPr>
            <a:lvl1pPr>
              <a:defRPr sz="2625" b="1">
                <a:solidFill>
                  <a:srgbClr val="087F78"/>
                </a:solidFill>
                <a:latin typeface="Noto Sans CJK KR"/>
                <a:ea typeface="Noto Sans CJK KR"/>
                <a:cs typeface="Noto Sans CJK KR"/>
              </a:defRPr>
            </a:lvl1pPr>
            <a:lvl2pPr>
              <a:defRPr sz="2625" b="1">
                <a:solidFill>
                  <a:srgbClr val="087F78"/>
                </a:solidFill>
                <a:latin typeface="Noto Sans CJK KR"/>
                <a:ea typeface="Noto Sans CJK KR"/>
                <a:cs typeface="Noto Sans CJK KR"/>
              </a:defRPr>
            </a:lvl2pPr>
            <a:lvl3pPr>
              <a:defRPr sz="2625" b="1">
                <a:solidFill>
                  <a:srgbClr val="087F78"/>
                </a:solidFill>
                <a:latin typeface="Noto Sans CJK KR"/>
                <a:ea typeface="Noto Sans CJK KR"/>
                <a:cs typeface="Noto Sans CJK KR"/>
              </a:defRPr>
            </a:lvl3pPr>
            <a:lvl4pPr>
              <a:defRPr sz="2625" b="1">
                <a:solidFill>
                  <a:srgbClr val="087F78"/>
                </a:solidFill>
                <a:latin typeface="Noto Sans CJK KR"/>
                <a:ea typeface="Noto Sans CJK KR"/>
                <a:cs typeface="Noto Sans CJK KR"/>
              </a:defRPr>
            </a:lvl4pPr>
            <a:lvl5pPr>
              <a:defRPr sz="2625" b="1">
                <a:solidFill>
                  <a:srgbClr val="087F78"/>
                </a:solidFill>
                <a:latin typeface="Noto Sans CJK KR"/>
                <a:ea typeface="Noto Sans CJK KR"/>
                <a:cs typeface="Noto Sans CJK KR"/>
              </a:defRPr>
            </a:lvl5pPr>
            <a:lvl6pPr>
              <a:defRPr sz="2625" b="1">
                <a:solidFill>
                  <a:srgbClr val="087F78"/>
                </a:solidFill>
                <a:latin typeface="Noto Sans CJK KR"/>
                <a:ea typeface="Noto Sans CJK KR"/>
                <a:cs typeface="Noto Sans CJK KR"/>
              </a:defRPr>
            </a:lvl6pPr>
            <a:lvl7pPr>
              <a:defRPr sz="2625" b="1">
                <a:solidFill>
                  <a:srgbClr val="087F78"/>
                </a:solidFill>
                <a:latin typeface="Noto Sans CJK KR"/>
                <a:ea typeface="Noto Sans CJK KR"/>
                <a:cs typeface="Noto Sans CJK KR"/>
              </a:defRPr>
            </a:lvl7pPr>
            <a:lvl8pPr>
              <a:defRPr sz="2625" b="1">
                <a:solidFill>
                  <a:srgbClr val="087F78"/>
                </a:solidFill>
                <a:latin typeface="Noto Sans CJK KR"/>
                <a:ea typeface="Noto Sans CJK KR"/>
                <a:cs typeface="Noto Sans CJK KR"/>
              </a:defRPr>
            </a:lvl8pPr>
            <a:lvl9pPr>
              <a:defRPr sz="2625" b="1">
                <a:solidFill>
                  <a:srgbClr val="087F78"/>
                </a:solidFill>
                <a:latin typeface="Noto Sans CJK KR"/>
                <a:ea typeface="Noto Sans CJK KR"/>
                <a:cs typeface="Noto Sans CJK KR"/>
              </a:defRPr>
            </a:lvl9pPr>
          </a:lstStyle>
          <a:p>
            <a:pPr>
              <a:defRPr sz="2625" b="1">
                <a:solidFill>
                  <a:srgbClr val="087F78"/>
                </a:solidFill>
                <a:latin typeface="Noto Sans CJK KR"/>
                <a:ea typeface="Noto Sans CJK KR"/>
                <a:cs typeface="Noto Sans CJK KR"/>
              </a:defRPr>
            </a:pPr>
            <a:r>
              <a:rPr sz="2625" b="1">
                <a:solidFill>
                  <a:srgbClr val="087F78"/>
                </a:solidFill>
                <a:latin typeface="Noto Sans CJK KR"/>
                <a:ea typeface="Noto Sans CJK KR"/>
                <a:cs typeface="Noto Sans CJK KR"/>
              </a:rPr>
              <a:t>할인율 0%  (120,000,000 ÷ 20 + 2,000,000) ÷ 120,000</a:t>
            </a:r>
          </a:p>
        </p:txBody>
      </p:sp>
      <p:sp>
        <p:nvSpPr>
          <p:cNvPr id="5" name="result">
            <a:extLst>
              <a:ext uri="{FF2B5EF4-FFF2-40B4-BE49-F238E27FC236}">
                <a16:creationId xmlns:a16="http://schemas.microsoft.com/office/drawing/2014/main" id="{E94409ED-F465-4E96-809A-137AD511F11B}"/>
              </a:ext>
            </a:extLst>
          </p:cNvPr>
          <p:cNvSpPr>
            <a:spLocks noGrp="1"/>
          </p:cNvSpPr>
          <p:nvPr/>
        </p:nvSpPr>
        <p:spPr>
          <a:xfrm>
            <a:off x="685800" y="2619375"/>
            <a:ext cx="10820400" cy="809625"/>
          </a:xfrm>
          <a:prstGeom prst="rect">
            <a:avLst/>
          </a:prstGeom>
          <a:noFill/>
          <a:ln w="0">
            <a:noFill/>
            <a:prstDash val="solid"/>
          </a:ln>
        </p:spPr>
        <p:txBody>
          <a:bodyPr wrap="square" lIns="0" tIns="0" rIns="0" bIns="0" anchor="t">
            <a:noAutofit/>
          </a:bodyPr>
          <a:lstStyle>
            <a:defPPr>
              <a:defRPr sz="4275" b="1">
                <a:solidFill>
                  <a:srgbClr val="087F78"/>
                </a:solidFill>
                <a:latin typeface="Noto Sans CJK KR"/>
                <a:ea typeface="Noto Sans CJK KR"/>
                <a:cs typeface="Noto Sans CJK KR"/>
              </a:defRPr>
            </a:defPPr>
            <a:lvl1pPr>
              <a:defRPr sz="4275" b="1">
                <a:solidFill>
                  <a:srgbClr val="087F78"/>
                </a:solidFill>
                <a:latin typeface="Noto Sans CJK KR"/>
                <a:ea typeface="Noto Sans CJK KR"/>
                <a:cs typeface="Noto Sans CJK KR"/>
              </a:defRPr>
            </a:lvl1pPr>
            <a:lvl2pPr>
              <a:defRPr sz="4275" b="1">
                <a:solidFill>
                  <a:srgbClr val="087F78"/>
                </a:solidFill>
                <a:latin typeface="Noto Sans CJK KR"/>
                <a:ea typeface="Noto Sans CJK KR"/>
                <a:cs typeface="Noto Sans CJK KR"/>
              </a:defRPr>
            </a:lvl2pPr>
            <a:lvl3pPr>
              <a:defRPr sz="4275" b="1">
                <a:solidFill>
                  <a:srgbClr val="087F78"/>
                </a:solidFill>
                <a:latin typeface="Noto Sans CJK KR"/>
                <a:ea typeface="Noto Sans CJK KR"/>
                <a:cs typeface="Noto Sans CJK KR"/>
              </a:defRPr>
            </a:lvl3pPr>
            <a:lvl4pPr>
              <a:defRPr sz="4275" b="1">
                <a:solidFill>
                  <a:srgbClr val="087F78"/>
                </a:solidFill>
                <a:latin typeface="Noto Sans CJK KR"/>
                <a:ea typeface="Noto Sans CJK KR"/>
                <a:cs typeface="Noto Sans CJK KR"/>
              </a:defRPr>
            </a:lvl4pPr>
            <a:lvl5pPr>
              <a:defRPr sz="4275" b="1">
                <a:solidFill>
                  <a:srgbClr val="087F78"/>
                </a:solidFill>
                <a:latin typeface="Noto Sans CJK KR"/>
                <a:ea typeface="Noto Sans CJK KR"/>
                <a:cs typeface="Noto Sans CJK KR"/>
              </a:defRPr>
            </a:lvl5pPr>
            <a:lvl6pPr>
              <a:defRPr sz="4275" b="1">
                <a:solidFill>
                  <a:srgbClr val="087F78"/>
                </a:solidFill>
                <a:latin typeface="Noto Sans CJK KR"/>
                <a:ea typeface="Noto Sans CJK KR"/>
                <a:cs typeface="Noto Sans CJK KR"/>
              </a:defRPr>
            </a:lvl6pPr>
            <a:lvl7pPr>
              <a:defRPr sz="4275" b="1">
                <a:solidFill>
                  <a:srgbClr val="087F78"/>
                </a:solidFill>
                <a:latin typeface="Noto Sans CJK KR"/>
                <a:ea typeface="Noto Sans CJK KR"/>
                <a:cs typeface="Noto Sans CJK KR"/>
              </a:defRPr>
            </a:lvl7pPr>
            <a:lvl8pPr>
              <a:defRPr sz="4275" b="1">
                <a:solidFill>
                  <a:srgbClr val="087F78"/>
                </a:solidFill>
                <a:latin typeface="Noto Sans CJK KR"/>
                <a:ea typeface="Noto Sans CJK KR"/>
                <a:cs typeface="Noto Sans CJK KR"/>
              </a:defRPr>
            </a:lvl8pPr>
            <a:lvl9pPr>
              <a:defRPr sz="4275" b="1">
                <a:solidFill>
                  <a:srgbClr val="087F78"/>
                </a:solidFill>
                <a:latin typeface="Noto Sans CJK KR"/>
                <a:ea typeface="Noto Sans CJK KR"/>
                <a:cs typeface="Noto Sans CJK KR"/>
              </a:defRPr>
            </a:lvl9pPr>
          </a:lstStyle>
          <a:p>
            <a:pPr>
              <a:defRPr sz="4275" b="1">
                <a:solidFill>
                  <a:srgbClr val="087F78"/>
                </a:solidFill>
                <a:latin typeface="Noto Sans CJK KR"/>
                <a:ea typeface="Noto Sans CJK KR"/>
                <a:cs typeface="Noto Sans CJK KR"/>
              </a:defRPr>
            </a:pPr>
            <a:r>
              <a:rPr sz="4275" b="1">
                <a:solidFill>
                  <a:srgbClr val="087F78"/>
                </a:solidFill>
                <a:latin typeface="Noto Sans CJK KR"/>
                <a:ea typeface="Noto Sans CJK KR"/>
                <a:cs typeface="Noto Sans CJK KR"/>
              </a:rPr>
              <a:t>66.67원/kWh</a:t>
            </a:r>
          </a:p>
        </p:txBody>
      </p:sp>
      <p:sp>
        <p:nvSpPr>
          <p:cNvPr id="6" name="body">
            <a:extLst>
              <a:ext uri="{FF2B5EF4-FFF2-40B4-BE49-F238E27FC236}">
                <a16:creationId xmlns:a16="http://schemas.microsoft.com/office/drawing/2014/main" id="{623C3012-A8A3-44B3-96D7-61C1F077E045}"/>
              </a:ext>
            </a:extLst>
          </p:cNvPr>
          <p:cNvSpPr>
            <a:spLocks noGrp="1"/>
          </p:cNvSpPr>
          <p:nvPr/>
        </p:nvSpPr>
        <p:spPr>
          <a:xfrm>
            <a:off x="685800" y="3638550"/>
            <a:ext cx="10820400" cy="154305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할인율 5%  (120,000,000 × 0.080243 + 2,000,000) ÷ 120,000</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 96.91원/kWh</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100원/kWh로 판매하면 이 가정에서는 비용 회수 가능</a:t>
            </a:r>
          </a:p>
        </p:txBody>
      </p:sp>
      <p:sp>
        <p:nvSpPr>
          <p:cNvPr id="7" name="bottom">
            <a:extLst>
              <a:ext uri="{FF2B5EF4-FFF2-40B4-BE49-F238E27FC236}">
                <a16:creationId xmlns:a16="http://schemas.microsoft.com/office/drawing/2014/main" id="{CA4994DF-A7A9-45CF-A89B-AE0A03303D95}"/>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실제 판단에는 출력제한·교체비·세금·판매단가 변동 등을 추가 검토</a:t>
            </a:r>
          </a:p>
        </p:txBody>
      </p:sp>
    </p:spTree>
    <p:extLst>
      <p:ext uri="{BB962C8B-B14F-4D97-AF65-F5344CB8AC3E}">
        <p14:creationId xmlns:p14="http://schemas.microsoft.com/office/powerpoint/2010/main" val="1223223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779F16-588F-4E4F-B8A4-C6D7E2F8CECC}"/>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계산 순서와 점검 항목</a:t>
            </a:r>
          </a:p>
        </p:txBody>
      </p:sp>
      <p:sp>
        <p:nvSpPr>
          <p:cNvPr id="3" name="page">
            <a:extLst>
              <a:ext uri="{FF2B5EF4-FFF2-40B4-BE49-F238E27FC236}">
                <a16:creationId xmlns:a16="http://schemas.microsoft.com/office/drawing/2014/main" id="{D04181D2-A560-495D-9293-0A2A071DED44}"/>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28</a:t>
            </a:r>
          </a:p>
        </p:txBody>
      </p:sp>
      <p:sp>
        <p:nvSpPr>
          <p:cNvPr id="4" name="body">
            <a:extLst>
              <a:ext uri="{FF2B5EF4-FFF2-40B4-BE49-F238E27FC236}">
                <a16:creationId xmlns:a16="http://schemas.microsoft.com/office/drawing/2014/main" id="{FC390679-0B61-4595-B9B1-C7063ACD9264}"/>
              </a:ext>
            </a:extLst>
          </p:cNvPr>
          <p:cNvSpPr>
            <a:spLocks noGrp="1"/>
          </p:cNvSpPr>
          <p:nvPr/>
        </p:nvSpPr>
        <p:spPr>
          <a:xfrm>
            <a:off x="685800" y="157162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부지면적과 모듈면적을 구분하고 설비용량을 계산한다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일사량 또는 이용률로 연간 발전량을 추정한다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동일한 설비의 투자비와 연간 운영유지비를 구한다</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수명·할인율·출력 감소를 반영해 LCOE를 계산한다</a:t>
            </a:r>
          </a:p>
        </p:txBody>
      </p:sp>
      <p:sp>
        <p:nvSpPr>
          <p:cNvPr id="5" name="bottom">
            <a:extLst>
              <a:ext uri="{FF2B5EF4-FFF2-40B4-BE49-F238E27FC236}">
                <a16:creationId xmlns:a16="http://schemas.microsoft.com/office/drawing/2014/main" id="{5E919F05-C4DB-4D42-B2AE-67EC237D68E6}"/>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마지막 확인  kW와 kWh, DC와 AC, 손실 중복, 실질과 명목</a:t>
            </a:r>
          </a:p>
        </p:txBody>
      </p:sp>
    </p:spTree>
    <p:extLst>
      <p:ext uri="{BB962C8B-B14F-4D97-AF65-F5344CB8AC3E}">
        <p14:creationId xmlns:p14="http://schemas.microsoft.com/office/powerpoint/2010/main" val="10281312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294E509-F2EA-4153-BDF2-FC1FA38661BB}"/>
              </a:ext>
            </a:extLst>
          </p:cNvPr>
          <p:cNvSpPr>
            <a:spLocks noGrp="1"/>
          </p:cNvSpPr>
          <p:nvPr/>
        </p:nvSpPr>
        <p:spPr>
          <a:xfrm>
            <a:off x="685800" y="523875"/>
            <a:ext cx="10820400" cy="666750"/>
          </a:xfrm>
          <a:prstGeom prst="rect">
            <a:avLst/>
          </a:prstGeom>
          <a:noFill/>
          <a:ln w="0">
            <a:noFill/>
            <a:prstDash val="solid"/>
          </a:ln>
        </p:spPr>
        <p:txBody>
          <a:bodyPr wrap="square" lIns="0" tIns="0" rIns="0" bIns="0" anchor="t">
            <a:noAutofit/>
          </a:bodyPr>
          <a:lstStyle>
            <a:defPPr>
              <a:defRPr sz="3000" b="1">
                <a:solidFill>
                  <a:srgbClr val="173A4A"/>
                </a:solidFill>
                <a:latin typeface="Noto Sans CJK KR"/>
                <a:ea typeface="Noto Sans CJK KR"/>
                <a:cs typeface="Noto Sans CJK KR"/>
              </a:defRPr>
            </a:defPPr>
            <a:lvl1pPr>
              <a:defRPr sz="3000" b="1">
                <a:solidFill>
                  <a:srgbClr val="173A4A"/>
                </a:solidFill>
                <a:latin typeface="Noto Sans CJK KR"/>
                <a:ea typeface="Noto Sans CJK KR"/>
                <a:cs typeface="Noto Sans CJK KR"/>
              </a:defRPr>
            </a:lvl1pPr>
            <a:lvl2pPr>
              <a:defRPr sz="3000" b="1">
                <a:solidFill>
                  <a:srgbClr val="173A4A"/>
                </a:solidFill>
                <a:latin typeface="Noto Sans CJK KR"/>
                <a:ea typeface="Noto Sans CJK KR"/>
                <a:cs typeface="Noto Sans CJK KR"/>
              </a:defRPr>
            </a:lvl2pPr>
            <a:lvl3pPr>
              <a:defRPr sz="3000" b="1">
                <a:solidFill>
                  <a:srgbClr val="173A4A"/>
                </a:solidFill>
                <a:latin typeface="Noto Sans CJK KR"/>
                <a:ea typeface="Noto Sans CJK KR"/>
                <a:cs typeface="Noto Sans CJK KR"/>
              </a:defRPr>
            </a:lvl3pPr>
            <a:lvl4pPr>
              <a:defRPr sz="3000" b="1">
                <a:solidFill>
                  <a:srgbClr val="173A4A"/>
                </a:solidFill>
                <a:latin typeface="Noto Sans CJK KR"/>
                <a:ea typeface="Noto Sans CJK KR"/>
                <a:cs typeface="Noto Sans CJK KR"/>
              </a:defRPr>
            </a:lvl4pPr>
            <a:lvl5pPr>
              <a:defRPr sz="3000" b="1">
                <a:solidFill>
                  <a:srgbClr val="173A4A"/>
                </a:solidFill>
                <a:latin typeface="Noto Sans CJK KR"/>
                <a:ea typeface="Noto Sans CJK KR"/>
                <a:cs typeface="Noto Sans CJK KR"/>
              </a:defRPr>
            </a:lvl5pPr>
            <a:lvl6pPr>
              <a:defRPr sz="3000" b="1">
                <a:solidFill>
                  <a:srgbClr val="173A4A"/>
                </a:solidFill>
                <a:latin typeface="Noto Sans CJK KR"/>
                <a:ea typeface="Noto Sans CJK KR"/>
                <a:cs typeface="Noto Sans CJK KR"/>
              </a:defRPr>
            </a:lvl6pPr>
            <a:lvl7pPr>
              <a:defRPr sz="3000" b="1">
                <a:solidFill>
                  <a:srgbClr val="173A4A"/>
                </a:solidFill>
                <a:latin typeface="Noto Sans CJK KR"/>
                <a:ea typeface="Noto Sans CJK KR"/>
                <a:cs typeface="Noto Sans CJK KR"/>
              </a:defRPr>
            </a:lvl7pPr>
            <a:lvl8pPr>
              <a:defRPr sz="3000" b="1">
                <a:solidFill>
                  <a:srgbClr val="173A4A"/>
                </a:solidFill>
                <a:latin typeface="Noto Sans CJK KR"/>
                <a:ea typeface="Noto Sans CJK KR"/>
                <a:cs typeface="Noto Sans CJK KR"/>
              </a:defRPr>
            </a:lvl8pPr>
            <a:lvl9pPr>
              <a:defRPr sz="3000" b="1">
                <a:solidFill>
                  <a:srgbClr val="173A4A"/>
                </a:solidFill>
                <a:latin typeface="Noto Sans CJK KR"/>
                <a:ea typeface="Noto Sans CJK KR"/>
                <a:cs typeface="Noto Sans CJK KR"/>
              </a:defRPr>
            </a:lvl9pPr>
          </a:lstStyle>
          <a:p>
            <a:pPr>
              <a:defRPr sz="3000" b="1">
                <a:solidFill>
                  <a:srgbClr val="173A4A"/>
                </a:solidFill>
                <a:latin typeface="Noto Sans CJK KR"/>
                <a:ea typeface="Noto Sans CJK KR"/>
                <a:cs typeface="Noto Sans CJK KR"/>
              </a:defRPr>
            </a:pPr>
            <a:r>
              <a:rPr sz="3000" b="1">
                <a:solidFill>
                  <a:srgbClr val="173A4A"/>
                </a:solidFill>
                <a:latin typeface="Noto Sans CJK KR"/>
                <a:ea typeface="Noto Sans CJK KR"/>
                <a:cs typeface="Noto Sans CJK KR"/>
              </a:rPr>
              <a:t>자료와 계산의 출처</a:t>
            </a:r>
          </a:p>
        </p:txBody>
      </p:sp>
      <p:sp>
        <p:nvSpPr>
          <p:cNvPr id="3" name="page">
            <a:extLst>
              <a:ext uri="{FF2B5EF4-FFF2-40B4-BE49-F238E27FC236}">
                <a16:creationId xmlns:a16="http://schemas.microsoft.com/office/drawing/2014/main" id="{58345CEE-74C8-4EF2-999F-A5A996D71045}"/>
              </a:ext>
            </a:extLst>
          </p:cNvPr>
          <p:cNvSpPr>
            <a:spLocks noGrp="1"/>
          </p:cNvSpPr>
          <p:nvPr/>
        </p:nvSpPr>
        <p:spPr>
          <a:xfrm>
            <a:off x="11049000" y="6362700"/>
            <a:ext cx="457200" cy="238125"/>
          </a:xfrm>
          <a:prstGeom prst="rect">
            <a:avLst/>
          </a:prstGeom>
          <a:noFill/>
          <a:ln w="0">
            <a:noFill/>
            <a:prstDash val="solid"/>
          </a:ln>
        </p:spPr>
        <p:txBody>
          <a:bodyPr wrap="square" lIns="0" tIns="0" rIns="0" bIns="0" anchor="t">
            <a:noAutofit/>
          </a:bodyPr>
          <a:lstStyle>
            <a:defPPr>
              <a:defRPr sz="1350" b="0">
                <a:solidFill>
                  <a:srgbClr val="607580"/>
                </a:solidFill>
                <a:latin typeface="Noto Sans CJK KR"/>
                <a:ea typeface="Noto Sans CJK KR"/>
                <a:cs typeface="Noto Sans CJK KR"/>
              </a:defRPr>
            </a:defPPr>
            <a:lvl1pPr>
              <a:defRPr sz="1350" b="0">
                <a:solidFill>
                  <a:srgbClr val="607580"/>
                </a:solidFill>
                <a:latin typeface="Noto Sans CJK KR"/>
                <a:ea typeface="Noto Sans CJK KR"/>
                <a:cs typeface="Noto Sans CJK KR"/>
              </a:defRPr>
            </a:lvl1pPr>
            <a:lvl2pPr>
              <a:defRPr sz="1350" b="0">
                <a:solidFill>
                  <a:srgbClr val="607580"/>
                </a:solidFill>
                <a:latin typeface="Noto Sans CJK KR"/>
                <a:ea typeface="Noto Sans CJK KR"/>
                <a:cs typeface="Noto Sans CJK KR"/>
              </a:defRPr>
            </a:lvl2pPr>
            <a:lvl3pPr>
              <a:defRPr sz="1350" b="0">
                <a:solidFill>
                  <a:srgbClr val="607580"/>
                </a:solidFill>
                <a:latin typeface="Noto Sans CJK KR"/>
                <a:ea typeface="Noto Sans CJK KR"/>
                <a:cs typeface="Noto Sans CJK KR"/>
              </a:defRPr>
            </a:lvl3pPr>
            <a:lvl4pPr>
              <a:defRPr sz="1350" b="0">
                <a:solidFill>
                  <a:srgbClr val="607580"/>
                </a:solidFill>
                <a:latin typeface="Noto Sans CJK KR"/>
                <a:ea typeface="Noto Sans CJK KR"/>
                <a:cs typeface="Noto Sans CJK KR"/>
              </a:defRPr>
            </a:lvl4pPr>
            <a:lvl5pPr>
              <a:defRPr sz="1350" b="0">
                <a:solidFill>
                  <a:srgbClr val="607580"/>
                </a:solidFill>
                <a:latin typeface="Noto Sans CJK KR"/>
                <a:ea typeface="Noto Sans CJK KR"/>
                <a:cs typeface="Noto Sans CJK KR"/>
              </a:defRPr>
            </a:lvl5pPr>
            <a:lvl6pPr>
              <a:defRPr sz="1350" b="0">
                <a:solidFill>
                  <a:srgbClr val="607580"/>
                </a:solidFill>
                <a:latin typeface="Noto Sans CJK KR"/>
                <a:ea typeface="Noto Sans CJK KR"/>
                <a:cs typeface="Noto Sans CJK KR"/>
              </a:defRPr>
            </a:lvl6pPr>
            <a:lvl7pPr>
              <a:defRPr sz="1350" b="0">
                <a:solidFill>
                  <a:srgbClr val="607580"/>
                </a:solidFill>
                <a:latin typeface="Noto Sans CJK KR"/>
                <a:ea typeface="Noto Sans CJK KR"/>
                <a:cs typeface="Noto Sans CJK KR"/>
              </a:defRPr>
            </a:lvl7pPr>
            <a:lvl8pPr>
              <a:defRPr sz="1350" b="0">
                <a:solidFill>
                  <a:srgbClr val="607580"/>
                </a:solidFill>
                <a:latin typeface="Noto Sans CJK KR"/>
                <a:ea typeface="Noto Sans CJK KR"/>
                <a:cs typeface="Noto Sans CJK KR"/>
              </a:defRPr>
            </a:lvl8pPr>
            <a:lvl9pPr>
              <a:defRPr sz="1350" b="0">
                <a:solidFill>
                  <a:srgbClr val="607580"/>
                </a:solidFill>
                <a:latin typeface="Noto Sans CJK KR"/>
                <a:ea typeface="Noto Sans CJK KR"/>
                <a:cs typeface="Noto Sans CJK KR"/>
              </a:defRPr>
            </a:lvl9pPr>
          </a:lstStyle>
          <a:p>
            <a:pPr>
              <a:defRPr sz="1350" b="0">
                <a:solidFill>
                  <a:srgbClr val="607580"/>
                </a:solidFill>
                <a:latin typeface="Noto Sans CJK KR"/>
                <a:ea typeface="Noto Sans CJK KR"/>
                <a:cs typeface="Noto Sans CJK KR"/>
              </a:defRPr>
            </a:pPr>
            <a:r>
              <a:rPr sz="1350" b="0">
                <a:solidFill>
                  <a:srgbClr val="607580"/>
                </a:solidFill>
                <a:latin typeface="Noto Sans CJK KR"/>
                <a:ea typeface="Noto Sans CJK KR"/>
                <a:cs typeface="Noto Sans CJK KR"/>
              </a:rPr>
              <a:t>29</a:t>
            </a:r>
          </a:p>
        </p:txBody>
      </p:sp>
      <p:sp>
        <p:nvSpPr>
          <p:cNvPr id="4" name="body">
            <a:extLst>
              <a:ext uri="{FF2B5EF4-FFF2-40B4-BE49-F238E27FC236}">
                <a16:creationId xmlns:a16="http://schemas.microsoft.com/office/drawing/2014/main" id="{295B7454-50DB-48A0-B3E9-CD59284DEE19}"/>
              </a:ext>
            </a:extLst>
          </p:cNvPr>
          <p:cNvSpPr>
            <a:spLocks noGrp="1"/>
          </p:cNvSpPr>
          <p:nvPr/>
        </p:nvSpPr>
        <p:spPr>
          <a:xfrm>
            <a:off x="685800" y="1571625"/>
            <a:ext cx="10820400" cy="2057400"/>
          </a:xfrm>
          <a:prstGeom prst="rect">
            <a:avLst/>
          </a:prstGeom>
          <a:noFill/>
          <a:ln w="0">
            <a:noFill/>
            <a:prstDash val="solid"/>
          </a:ln>
        </p:spPr>
        <p:txBody>
          <a:bodyPr wrap="square" lIns="0" tIns="0" rIns="0" bIns="0" anchor="t">
            <a:noAutofit/>
          </a:bodyPr>
          <a:lstStyle>
            <a:defPPr>
              <a:defRPr sz="2100" b="0">
                <a:solidFill>
                  <a:srgbClr val="172B3A"/>
                </a:solidFill>
                <a:latin typeface="Noto Sans CJK KR"/>
                <a:ea typeface="Noto Sans CJK KR"/>
                <a:cs typeface="Noto Sans CJK KR"/>
              </a:defRPr>
            </a:defPPr>
            <a:lvl1pPr>
              <a:defRPr sz="2100" b="0">
                <a:solidFill>
                  <a:srgbClr val="172B3A"/>
                </a:solidFill>
                <a:latin typeface="Noto Sans CJK KR"/>
                <a:ea typeface="Noto Sans CJK KR"/>
                <a:cs typeface="Noto Sans CJK KR"/>
              </a:defRPr>
            </a:lvl1pPr>
            <a:lvl2pPr>
              <a:defRPr sz="2100" b="0">
                <a:solidFill>
                  <a:srgbClr val="172B3A"/>
                </a:solidFill>
                <a:latin typeface="Noto Sans CJK KR"/>
                <a:ea typeface="Noto Sans CJK KR"/>
                <a:cs typeface="Noto Sans CJK KR"/>
              </a:defRPr>
            </a:lvl2pPr>
            <a:lvl3pPr>
              <a:defRPr sz="2100" b="0">
                <a:solidFill>
                  <a:srgbClr val="172B3A"/>
                </a:solidFill>
                <a:latin typeface="Noto Sans CJK KR"/>
                <a:ea typeface="Noto Sans CJK KR"/>
                <a:cs typeface="Noto Sans CJK KR"/>
              </a:defRPr>
            </a:lvl3pPr>
            <a:lvl4pPr>
              <a:defRPr sz="2100" b="0">
                <a:solidFill>
                  <a:srgbClr val="172B3A"/>
                </a:solidFill>
                <a:latin typeface="Noto Sans CJK KR"/>
                <a:ea typeface="Noto Sans CJK KR"/>
                <a:cs typeface="Noto Sans CJK KR"/>
              </a:defRPr>
            </a:lvl4pPr>
            <a:lvl5pPr>
              <a:defRPr sz="2100" b="0">
                <a:solidFill>
                  <a:srgbClr val="172B3A"/>
                </a:solidFill>
                <a:latin typeface="Noto Sans CJK KR"/>
                <a:ea typeface="Noto Sans CJK KR"/>
                <a:cs typeface="Noto Sans CJK KR"/>
              </a:defRPr>
            </a:lvl5pPr>
            <a:lvl6pPr>
              <a:defRPr sz="2100" b="0">
                <a:solidFill>
                  <a:srgbClr val="172B3A"/>
                </a:solidFill>
                <a:latin typeface="Noto Sans CJK KR"/>
                <a:ea typeface="Noto Sans CJK KR"/>
                <a:cs typeface="Noto Sans CJK KR"/>
              </a:defRPr>
            </a:lvl6pPr>
            <a:lvl7pPr>
              <a:defRPr sz="2100" b="0">
                <a:solidFill>
                  <a:srgbClr val="172B3A"/>
                </a:solidFill>
                <a:latin typeface="Noto Sans CJK KR"/>
                <a:ea typeface="Noto Sans CJK KR"/>
                <a:cs typeface="Noto Sans CJK KR"/>
              </a:defRPr>
            </a:lvl7pPr>
            <a:lvl8pPr>
              <a:defRPr sz="2100" b="0">
                <a:solidFill>
                  <a:srgbClr val="172B3A"/>
                </a:solidFill>
                <a:latin typeface="Noto Sans CJK KR"/>
                <a:ea typeface="Noto Sans CJK KR"/>
                <a:cs typeface="Noto Sans CJK KR"/>
              </a:defRPr>
            </a:lvl8pPr>
            <a:lvl9pPr>
              <a:defRPr sz="2100" b="0">
                <a:solidFill>
                  <a:srgbClr val="172B3A"/>
                </a:solidFill>
                <a:latin typeface="Noto Sans CJK KR"/>
                <a:ea typeface="Noto Sans CJK KR"/>
                <a:cs typeface="Noto Sans CJK KR"/>
              </a:defRPr>
            </a:lvl9pPr>
          </a:lstStyle>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원본  [강의시연_6].pptx의 강의시연 부분</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일사량 자료  한국에너지기술연구원 태양자원지도</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이용률 자료  전력거래소 EPSIS</a:t>
            </a:r>
          </a:p>
          <a:p>
            <a:pPr>
              <a:defRPr sz="2100" b="0">
                <a:solidFill>
                  <a:srgbClr val="172B3A"/>
                </a:solidFill>
                <a:latin typeface="Noto Sans CJK KR"/>
                <a:ea typeface="Noto Sans CJK KR"/>
                <a:cs typeface="Noto Sans CJK KR"/>
              </a:defRPr>
            </a:pPr>
            <a:r>
              <a:rPr sz="2100" b="0">
                <a:solidFill>
                  <a:srgbClr val="172B3A"/>
                </a:solidFill>
                <a:latin typeface="Noto Sans CJK KR"/>
                <a:ea typeface="Noto Sans CJK KR"/>
                <a:cs typeface="Noto Sans CJK KR"/>
              </a:rPr>
              <a:t>보완 개념  PVWatts·SAM, LCOE 계산기 문서</a:t>
            </a:r>
          </a:p>
        </p:txBody>
      </p:sp>
      <p:sp>
        <p:nvSpPr>
          <p:cNvPr id="5" name="bottom">
            <a:extLst>
              <a:ext uri="{FF2B5EF4-FFF2-40B4-BE49-F238E27FC236}">
                <a16:creationId xmlns:a16="http://schemas.microsoft.com/office/drawing/2014/main" id="{9BE8F55E-D13C-49C0-884C-36608436B78A}"/>
              </a:ext>
            </a:extLst>
          </p:cNvPr>
          <p:cNvSpPr>
            <a:spLocks noGrp="1"/>
          </p:cNvSpPr>
          <p:nvPr/>
        </p:nvSpPr>
        <p:spPr>
          <a:xfrm>
            <a:off x="685800" y="6191250"/>
            <a:ext cx="10820400" cy="361950"/>
          </a:xfrm>
          <a:prstGeom prst="rect">
            <a:avLst/>
          </a:prstGeom>
          <a:noFill/>
          <a:ln w="0">
            <a:noFill/>
            <a:prstDash val="solid"/>
          </a:ln>
        </p:spPr>
        <p:txBody>
          <a:bodyPr wrap="square" lIns="0" tIns="0" rIns="0" bIns="0" anchor="t">
            <a:noAutofit/>
          </a:bodyPr>
          <a:lstStyle>
            <a:defPPr>
              <a:defRPr sz="1500" b="0">
                <a:solidFill>
                  <a:srgbClr val="607580"/>
                </a:solidFill>
                <a:latin typeface="Noto Sans CJK KR"/>
                <a:ea typeface="Noto Sans CJK KR"/>
                <a:cs typeface="Noto Sans CJK KR"/>
              </a:defRPr>
            </a:defPPr>
            <a:lvl1pPr>
              <a:defRPr sz="1500" b="0">
                <a:solidFill>
                  <a:srgbClr val="607580"/>
                </a:solidFill>
                <a:latin typeface="Noto Sans CJK KR"/>
                <a:ea typeface="Noto Sans CJK KR"/>
                <a:cs typeface="Noto Sans CJK KR"/>
              </a:defRPr>
            </a:lvl1pPr>
            <a:lvl2pPr>
              <a:defRPr sz="1500" b="0">
                <a:solidFill>
                  <a:srgbClr val="607580"/>
                </a:solidFill>
                <a:latin typeface="Noto Sans CJK KR"/>
                <a:ea typeface="Noto Sans CJK KR"/>
                <a:cs typeface="Noto Sans CJK KR"/>
              </a:defRPr>
            </a:lvl2pPr>
            <a:lvl3pPr>
              <a:defRPr sz="1500" b="0">
                <a:solidFill>
                  <a:srgbClr val="607580"/>
                </a:solidFill>
                <a:latin typeface="Noto Sans CJK KR"/>
                <a:ea typeface="Noto Sans CJK KR"/>
                <a:cs typeface="Noto Sans CJK KR"/>
              </a:defRPr>
            </a:lvl3pPr>
            <a:lvl4pPr>
              <a:defRPr sz="1500" b="0">
                <a:solidFill>
                  <a:srgbClr val="607580"/>
                </a:solidFill>
                <a:latin typeface="Noto Sans CJK KR"/>
                <a:ea typeface="Noto Sans CJK KR"/>
                <a:cs typeface="Noto Sans CJK KR"/>
              </a:defRPr>
            </a:lvl4pPr>
            <a:lvl5pPr>
              <a:defRPr sz="1500" b="0">
                <a:solidFill>
                  <a:srgbClr val="607580"/>
                </a:solidFill>
                <a:latin typeface="Noto Sans CJK KR"/>
                <a:ea typeface="Noto Sans CJK KR"/>
                <a:cs typeface="Noto Sans CJK KR"/>
              </a:defRPr>
            </a:lvl5pPr>
            <a:lvl6pPr>
              <a:defRPr sz="1500" b="0">
                <a:solidFill>
                  <a:srgbClr val="607580"/>
                </a:solidFill>
                <a:latin typeface="Noto Sans CJK KR"/>
                <a:ea typeface="Noto Sans CJK KR"/>
                <a:cs typeface="Noto Sans CJK KR"/>
              </a:defRPr>
            </a:lvl6pPr>
            <a:lvl7pPr>
              <a:defRPr sz="1500" b="0">
                <a:solidFill>
                  <a:srgbClr val="607580"/>
                </a:solidFill>
                <a:latin typeface="Noto Sans CJK KR"/>
                <a:ea typeface="Noto Sans CJK KR"/>
                <a:cs typeface="Noto Sans CJK KR"/>
              </a:defRPr>
            </a:lvl7pPr>
            <a:lvl8pPr>
              <a:defRPr sz="1500" b="0">
                <a:solidFill>
                  <a:srgbClr val="607580"/>
                </a:solidFill>
                <a:latin typeface="Noto Sans CJK KR"/>
                <a:ea typeface="Noto Sans CJK KR"/>
                <a:cs typeface="Noto Sans CJK KR"/>
              </a:defRPr>
            </a:lvl8pPr>
            <a:lvl9pPr>
              <a:defRPr sz="1500" b="0">
                <a:solidFill>
                  <a:srgbClr val="607580"/>
                </a:solidFill>
                <a:latin typeface="Noto Sans CJK KR"/>
                <a:ea typeface="Noto Sans CJK KR"/>
                <a:cs typeface="Noto Sans CJK KR"/>
              </a:defRPr>
            </a:lvl9pPr>
          </a:lstStyle>
          <a:p>
            <a:pPr>
              <a:defRPr sz="1500" b="0">
                <a:solidFill>
                  <a:srgbClr val="607580"/>
                </a:solidFill>
                <a:latin typeface="Noto Sans CJK KR"/>
                <a:ea typeface="Noto Sans CJK KR"/>
                <a:cs typeface="Noto Sans CJK KR"/>
              </a:defRPr>
            </a:pPr>
            <a:r>
              <a:rPr sz="1500" b="0">
                <a:solidFill>
                  <a:srgbClr val="607580"/>
                </a:solidFill>
                <a:latin typeface="Noto Sans CJK KR"/>
                <a:ea typeface="Noto Sans CJK KR"/>
                <a:cs typeface="Noto Sans CJK KR"/>
              </a:rPr>
              <a:t>본 강의의 단가·성능·입지는 연습용 가정이며 실측·최신 시장값이 아님</a:t>
            </a:r>
          </a:p>
        </p:txBody>
      </p:sp>
    </p:spTree>
    <p:extLst>
      <p:ext uri="{BB962C8B-B14F-4D97-AF65-F5344CB8AC3E}">
        <p14:creationId xmlns:p14="http://schemas.microsoft.com/office/powerpoint/2010/main" val="17722870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2788</Words>
  <Application>Microsoft Office PowerPoint</Application>
  <DocSecurity>0</DocSecurity>
  <PresentationFormat>와이드스크린</PresentationFormat>
  <Paragraphs>320</Paragraphs>
  <Slides>29</Slides>
  <Notes>29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29</vt:i4>
      </vt:variant>
    </vt:vector>
  </HeadingPairs>
  <TitlesOfParts>
    <vt:vector size="32" baseType="lpstr">
      <vt:lpstr>Noto Sans CJK KR</vt: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전승호</cp:lastModifiedBy>
  <cp:revision>1</cp:revision>
  <dcterms:created xsi:type="dcterms:W3CDTF">2026-10-26T06:41:18Z</dcterms:created>
  <dcterms:modified xsi:type="dcterms:W3CDTF">2026-10-26T07:33:54Z</dcterms:modified>
</cp:coreProperties>
</file>