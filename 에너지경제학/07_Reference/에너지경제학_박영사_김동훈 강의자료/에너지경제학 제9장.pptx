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78" r:id="rId2"/>
    <p:sldId id="257" r:id="rId3"/>
    <p:sldId id="258" r:id="rId4"/>
    <p:sldId id="439" r:id="rId5"/>
    <p:sldId id="440" r:id="rId6"/>
    <p:sldId id="441" r:id="rId7"/>
    <p:sldId id="442" r:id="rId8"/>
    <p:sldId id="443" r:id="rId9"/>
    <p:sldId id="444" r:id="rId10"/>
    <p:sldId id="445" r:id="rId11"/>
    <p:sldId id="446" r:id="rId12"/>
    <p:sldId id="447" r:id="rId13"/>
    <p:sldId id="448" r:id="rId14"/>
    <p:sldId id="449" r:id="rId15"/>
    <p:sldId id="450" r:id="rId16"/>
    <p:sldId id="451" r:id="rId17"/>
    <p:sldId id="452" r:id="rId18"/>
    <p:sldId id="453" r:id="rId19"/>
    <p:sldId id="454" r:id="rId20"/>
    <p:sldId id="455" r:id="rId21"/>
    <p:sldId id="456" r:id="rId22"/>
    <p:sldId id="457" r:id="rId23"/>
    <p:sldId id="458" r:id="rId24"/>
    <p:sldId id="459" r:id="rId25"/>
    <p:sldId id="462" r:id="rId26"/>
    <p:sldId id="464" r:id="rId27"/>
    <p:sldId id="460" r:id="rId28"/>
    <p:sldId id="463" r:id="rId29"/>
    <p:sldId id="465" r:id="rId30"/>
    <p:sldId id="466" r:id="rId31"/>
    <p:sldId id="467" r:id="rId32"/>
    <p:sldId id="468" r:id="rId33"/>
    <p:sldId id="469" r:id="rId34"/>
    <p:sldId id="470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>
          <p15:clr>
            <a:srgbClr val="A4A3A4"/>
          </p15:clr>
        </p15:guide>
        <p15:guide id="2" pos="38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2579"/>
    <p:restoredTop sz="90000"/>
  </p:normalViewPr>
  <p:slideViewPr>
    <p:cSldViewPr snapToGrid="0" snapToObjects="1">
      <p:cViewPr varScale="1">
        <p:scale>
          <a:sx n="99" d="100"/>
          <a:sy n="99" d="100"/>
        </p:scale>
        <p:origin x="1170" y="84"/>
      </p:cViewPr>
      <p:guideLst>
        <p:guide orient="horz" pos="2151"/>
        <p:guide pos="383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203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9709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A3D5110-9FE0-496F-B26A-071D02F2DE37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0975" y="175336"/>
            <a:ext cx="11830050" cy="632444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 dirty="0">
                <a:solidFill>
                  <a:srgbClr val="FFFFFF"/>
                </a:solidFill>
                <a:ea typeface="맑은 고딕"/>
              </a:rPr>
              <a:t>9</a:t>
            </a: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장  재생에너지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lvl="0" algn="l">
              <a:defRPr/>
            </a:pP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  <p:sp>
        <p:nvSpPr>
          <p:cNvPr id="3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59467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1.</a:t>
            </a:r>
            <a:r>
              <a:rPr lang="ko-KR" altLang="en-US" sz="3200"/>
              <a:t> 서론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재생에너지의 정의와 범위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재생에너지의 정의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자연적으로 보충되는 자원에서 파생된 에너지로</a:t>
            </a:r>
            <a:r>
              <a:rPr lang="en-US" altLang="ko-KR" sz="2000" dirty="0"/>
              <a:t>,</a:t>
            </a:r>
            <a:r>
              <a:rPr lang="ko-KR" altLang="en-US" sz="2000" dirty="0"/>
              <a:t> 태양</a:t>
            </a:r>
            <a:r>
              <a:rPr lang="en-US" altLang="ko-KR" sz="2000" dirty="0"/>
              <a:t>,</a:t>
            </a:r>
            <a:r>
              <a:rPr lang="ko-KR" altLang="en-US" sz="2000" dirty="0"/>
              <a:t> 바람</a:t>
            </a:r>
            <a:r>
              <a:rPr lang="en-US" altLang="ko-KR" sz="2000" dirty="0"/>
              <a:t>,</a:t>
            </a:r>
            <a:r>
              <a:rPr lang="ko-KR" altLang="en-US" sz="2000" dirty="0"/>
              <a:t> 물의 흐름</a:t>
            </a:r>
            <a:r>
              <a:rPr lang="en-US" altLang="ko-KR" sz="2000" dirty="0"/>
              <a:t>,</a:t>
            </a:r>
            <a:r>
              <a:rPr lang="ko-KR" altLang="en-US" sz="2000" dirty="0"/>
              <a:t> 지열</a:t>
            </a:r>
            <a:r>
              <a:rPr lang="en-US" altLang="ko-KR" sz="2000" dirty="0"/>
              <a:t>,</a:t>
            </a:r>
            <a:r>
              <a:rPr lang="ko-KR" altLang="en-US" sz="2000" dirty="0"/>
              <a:t> 생물 유기물 등을 포함</a:t>
            </a:r>
          </a:p>
          <a:p>
            <a:pPr lvl="2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비고갈성 재생에너지와 조건부 고갈성 재생에너지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비고갈성 자원은 태양광</a:t>
            </a:r>
            <a:r>
              <a:rPr lang="en-US" altLang="ko-KR" sz="2000" dirty="0"/>
              <a:t>,</a:t>
            </a:r>
            <a:r>
              <a:rPr lang="ko-KR" altLang="en-US" sz="2000" dirty="0"/>
              <a:t> 풍력</a:t>
            </a:r>
            <a:r>
              <a:rPr lang="en-US" altLang="ko-KR" sz="2000" dirty="0"/>
              <a:t>,</a:t>
            </a:r>
            <a:r>
              <a:rPr lang="ko-KR" altLang="en-US" sz="2000" dirty="0"/>
              <a:t> 해양에너지처럼 인간의 사용으로 인해 자원량이 줄어들지 않으며</a:t>
            </a:r>
            <a:r>
              <a:rPr lang="en-US" altLang="ko-KR" sz="2000" dirty="0"/>
              <a:t>,</a:t>
            </a:r>
            <a:r>
              <a:rPr lang="ko-KR" altLang="en-US" sz="2000" dirty="0"/>
              <a:t> 사실상 무한정 이용이 가능한 에너지원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조건부 고갈성 자원은 바이오에너지와 일부 수력처럼 재생되기는 하지만</a:t>
            </a:r>
            <a:r>
              <a:rPr lang="en-US" altLang="ko-KR" sz="2000" dirty="0"/>
              <a:t>,</a:t>
            </a:r>
            <a:r>
              <a:rPr lang="ko-KR" altLang="en-US" sz="2000" dirty="0"/>
              <a:t> 토지</a:t>
            </a:r>
            <a:r>
              <a:rPr lang="en-US" altLang="ko-KR" sz="2000" dirty="0"/>
              <a:t>,</a:t>
            </a:r>
            <a:r>
              <a:rPr lang="ko-KR" altLang="en-US" sz="2000" dirty="0"/>
              <a:t> 수자원</a:t>
            </a:r>
            <a:r>
              <a:rPr lang="en-US" altLang="ko-KR" sz="2000" dirty="0"/>
              <a:t>,</a:t>
            </a:r>
            <a:r>
              <a:rPr lang="ko-KR" altLang="en-US" sz="2000" dirty="0"/>
              <a:t> 생물자원 등 유한한 생태 기반에 대한 의존도가 높아 과도한 이용시 지속가능성에 부정적인 영향을 미칠 수 있는 자원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3</a:t>
            </a:fld>
            <a:endParaRPr lang="ko-KR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57745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1.</a:t>
            </a:r>
            <a:r>
              <a:rPr lang="ko-KR" altLang="en-US" sz="3200"/>
              <a:t> 서론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전통적 에너지원과의 비교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화석연료는 수억 년에 걸쳐 지질학적 과정으로 형성된 유한한 자원이므로</a:t>
            </a:r>
            <a:r>
              <a:rPr lang="en-US" altLang="ko-KR" sz="2000" dirty="0"/>
              <a:t>,</a:t>
            </a:r>
            <a:r>
              <a:rPr lang="ko-KR" altLang="en-US" sz="2000" dirty="0"/>
              <a:t> 지속적인 소비는 필연적으로 고갈을 초래</a:t>
            </a:r>
            <a:r>
              <a:rPr lang="en-US" altLang="ko-KR" sz="2000" dirty="0"/>
              <a:t>.</a:t>
            </a:r>
            <a:r>
              <a:rPr lang="ko-KR" altLang="en-US" sz="2000" dirty="0"/>
              <a:t>  반면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재생에너지는 인위적 고갈의 우려가 없음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화석연료의 연소는 대기 중으로 이산화탄소</a:t>
            </a:r>
            <a:r>
              <a:rPr lang="en-US" altLang="ko-KR" sz="2000" dirty="0"/>
              <a:t>(CO2), </a:t>
            </a:r>
            <a:r>
              <a:rPr lang="ko-KR" altLang="en-US" sz="2000" dirty="0"/>
              <a:t>질소산화물</a:t>
            </a:r>
            <a:r>
              <a:rPr lang="en-US" altLang="ko-KR" sz="2000" dirty="0"/>
              <a:t>(NOx), </a:t>
            </a:r>
            <a:r>
              <a:rPr lang="ko-KR" altLang="en-US" sz="2000" dirty="0"/>
              <a:t>황산화물</a:t>
            </a:r>
            <a:r>
              <a:rPr lang="en-US" altLang="ko-KR" sz="2000" dirty="0"/>
              <a:t>(</a:t>
            </a:r>
            <a:r>
              <a:rPr lang="en-US" altLang="ko-KR" sz="2000" dirty="0" err="1"/>
              <a:t>SOx</a:t>
            </a:r>
            <a:r>
              <a:rPr lang="en-US" altLang="ko-KR" sz="2000" dirty="0"/>
              <a:t>) </a:t>
            </a:r>
            <a:r>
              <a:rPr lang="ko-KR" altLang="en-US" sz="2000" dirty="0"/>
              <a:t>등</a:t>
            </a:r>
            <a:r>
              <a:rPr lang="en-US" altLang="ko-KR" sz="2000" dirty="0"/>
              <a:t> </a:t>
            </a:r>
            <a:r>
              <a:rPr lang="ko-KR" altLang="en-US" sz="2000" dirty="0"/>
              <a:t>다양한 오염 물질을 방출</a:t>
            </a:r>
            <a:r>
              <a:rPr lang="en-US" altLang="ko-KR" sz="2000" dirty="0"/>
              <a:t>.</a:t>
            </a:r>
            <a:r>
              <a:rPr lang="ko-KR" altLang="en-US" sz="2000" dirty="0"/>
              <a:t>  재생에너지원은 온실가스를 거의 배출하지 않으며</a:t>
            </a:r>
            <a:r>
              <a:rPr lang="en-US" altLang="ko-KR" sz="2000" dirty="0"/>
              <a:t>,</a:t>
            </a:r>
            <a:r>
              <a:rPr lang="ko-KR" altLang="en-US" sz="2000" dirty="0"/>
              <a:t> 그 자체로는 대기오염물을 배출하지 않음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전통적인 발전 방식은 비교적 낮은 초기 투자비용과 높은 연료비용 구조를 가지는 한편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재생에너지는 초기 고정투자비용은 크지만 이후의 한계비용이 </a:t>
            </a:r>
            <a:r>
              <a:rPr lang="en-US" altLang="ko-KR" sz="2000" dirty="0"/>
              <a:t>‘</a:t>
            </a:r>
            <a:r>
              <a:rPr lang="ko-KR" altLang="en-US" sz="2000" dirty="0"/>
              <a:t>제로</a:t>
            </a:r>
            <a:r>
              <a:rPr lang="en-US" altLang="ko-KR" sz="2000" dirty="0"/>
              <a:t>’</a:t>
            </a:r>
            <a:r>
              <a:rPr lang="ko-KR" altLang="en-US" sz="2000" dirty="0"/>
              <a:t>에 가까운 구조를 갖음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전통적인 화석연료는 대부문 특정 지역에 집중되어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수입 의존도가 높은 국가에서는 가격 변동성과 공급 차단의 위험에 노출되어 있음</a:t>
            </a:r>
            <a:r>
              <a:rPr lang="en-US" altLang="ko-KR" sz="2000" dirty="0"/>
              <a:t>.</a:t>
            </a:r>
            <a:r>
              <a:rPr lang="ko-KR" altLang="en-US" sz="2000" dirty="0"/>
              <a:t> 재생에너지는 자국 내에서 생산이 가능하고 분산형으로 개발될 수 있어 에너지 자립도와 안보 측면에 서 유리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시스템 통합성과 간헌성 문제는 재생에너지의 한계로 지적됨</a:t>
            </a:r>
            <a:r>
              <a:rPr lang="en-US" altLang="ko-KR" sz="2000" dirty="0"/>
              <a:t>.</a:t>
            </a:r>
            <a:r>
              <a:rPr lang="ko-KR" altLang="en-US" sz="2000" dirty="0"/>
              <a:t>  반면</a:t>
            </a:r>
            <a:r>
              <a:rPr lang="en-US" altLang="ko-KR" sz="2000" dirty="0"/>
              <a:t>,</a:t>
            </a:r>
            <a:r>
              <a:rPr lang="ko-KR" altLang="en-US" sz="2000" dirty="0"/>
              <a:t> 화석연료 발전은 출력 조절이 가능하다는 점에서 안정적인 기저 부하 전력을 공급하는데 상대적으로 적합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1531958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1.</a:t>
            </a:r>
            <a:r>
              <a:rPr lang="ko-KR" altLang="en-US" sz="3200"/>
              <a:t> 서론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재생에너지의 확산 배경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기후변화 대응 과정에서 재생에너지는 가장 유력한 저탄소 에너지원으로 부각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재생에너지는 지역 분산형으로 개발 가능하며</a:t>
            </a:r>
            <a:r>
              <a:rPr lang="en-US" altLang="ko-KR" sz="2000" dirty="0"/>
              <a:t>,</a:t>
            </a:r>
            <a:r>
              <a:rPr lang="ko-KR" altLang="en-US" sz="2000" dirty="0"/>
              <a:t> 각국이 자국 내 자원을 기반으로 생산할 수 있어 에너지 안보를 강화하는 대안으로 간주되고 있음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기술발전과 비용 하락은 재생에너지 확산을 가능케 하는 결정적 요인임</a:t>
            </a:r>
            <a:r>
              <a:rPr lang="en-US" altLang="ko-KR" sz="2000" dirty="0"/>
              <a:t>.</a:t>
            </a:r>
            <a:r>
              <a:rPr lang="ko-KR" altLang="en-US" sz="2000" dirty="0"/>
              <a:t> 태양광과 풍력은 정책 보조 없이도 시장 경쟁력이 있는 재생에너지 프로젝트의 확산을 가능하게 하고 있음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재생에너지 확대를 위한 정책적 지원과 국제적 협력도 중요한 촉진 요인으로 작용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보조금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 공급의무제도</a:t>
            </a:r>
            <a:r>
              <a:rPr lang="en-US" altLang="ko-KR" sz="2000" dirty="0"/>
              <a:t>(RPS), </a:t>
            </a:r>
            <a:r>
              <a:rPr lang="ko-KR" altLang="en-US" sz="2000" dirty="0"/>
              <a:t>발전차액지원제도</a:t>
            </a:r>
            <a:r>
              <a:rPr lang="en-US" altLang="ko-KR" sz="2000" dirty="0"/>
              <a:t>(FIT)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환경 문제에 대한 대중의 관심 증대와 함게</a:t>
            </a:r>
            <a:r>
              <a:rPr lang="en-US" altLang="ko-KR" sz="2000" dirty="0"/>
              <a:t>,</a:t>
            </a:r>
            <a:r>
              <a:rPr lang="ko-KR" altLang="en-US" sz="2000" dirty="0"/>
              <a:t> 지속가능발전목표와 </a:t>
            </a:r>
            <a:r>
              <a:rPr lang="en-US" altLang="ko-KR" sz="2000" dirty="0"/>
              <a:t>ESG</a:t>
            </a:r>
            <a:r>
              <a:rPr lang="ko-KR" altLang="en-US" sz="2000" dirty="0"/>
              <a:t> 경영이 확산되면서 기업과 정부 모두가 청정에너지로의 전환을 중요한 목표로 설정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1083162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주요 재생에너지의 종류와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태양광</a:t>
            </a:r>
            <a:r>
              <a:rPr lang="en-US" altLang="ko-KR" sz="2000" dirty="0"/>
              <a:t>(Solar</a:t>
            </a:r>
            <a:r>
              <a:rPr lang="ko-KR" altLang="en-US" sz="2000" dirty="0"/>
              <a:t> </a:t>
            </a:r>
            <a:r>
              <a:rPr lang="en-US" altLang="ko-KR" sz="2000" dirty="0"/>
              <a:t>Photovoltaic)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태양광 발전은 태양빛을 직접 전기로 변환하는 기술로</a:t>
            </a:r>
            <a:r>
              <a:rPr lang="en-US" altLang="ko-KR" sz="2000" dirty="0"/>
              <a:t>,</a:t>
            </a:r>
            <a:r>
              <a:rPr lang="ko-KR" altLang="en-US" sz="2000" dirty="0"/>
              <a:t> 가장 빠른 속도로 성장하고 있는 재생에너지 형태 중 하나임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태양전지는 반도체 소재</a:t>
            </a:r>
            <a:r>
              <a:rPr lang="en-US" altLang="ko-KR" sz="2000" dirty="0"/>
              <a:t>(</a:t>
            </a:r>
            <a:r>
              <a:rPr lang="ko-KR" altLang="en-US" sz="2000" dirty="0"/>
              <a:t>실리콘</a:t>
            </a:r>
            <a:r>
              <a:rPr lang="en-US" altLang="ko-KR" sz="2000" dirty="0"/>
              <a:t>)</a:t>
            </a:r>
            <a:r>
              <a:rPr lang="ko-KR" altLang="en-US" sz="2000" dirty="0"/>
              <a:t>를 이용하여 광에너지를 전기에너지로 전환하는데</a:t>
            </a:r>
            <a:r>
              <a:rPr lang="en-US" altLang="ko-KR" sz="2000" dirty="0"/>
              <a:t>,</a:t>
            </a:r>
            <a:r>
              <a:rPr lang="ko-KR" altLang="en-US" sz="2000" dirty="0"/>
              <a:t> 이 과정은 외부 연료나 물리적 연소 없이 진행되므로 온실가스 배출이 거의 없음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태양광의 가장 큰 장점 중 하나는 한계비용이 거의 </a:t>
            </a:r>
            <a:r>
              <a:rPr lang="en-US" altLang="ko-KR" sz="2000" dirty="0"/>
              <a:t>‘</a:t>
            </a:r>
            <a:r>
              <a:rPr lang="ko-KR" altLang="en-US" sz="2000" dirty="0"/>
              <a:t>제로</a:t>
            </a:r>
            <a:r>
              <a:rPr lang="en-US" altLang="ko-KR" sz="2000" dirty="0"/>
              <a:t>’</a:t>
            </a:r>
            <a:r>
              <a:rPr lang="ko-KR" altLang="en-US" sz="2000" dirty="0"/>
              <a:t>에 수렴한다는 것임</a:t>
            </a:r>
            <a:r>
              <a:rPr lang="en-US" altLang="ko-KR" sz="2000" dirty="0"/>
              <a:t>.</a:t>
            </a:r>
            <a:r>
              <a:rPr lang="ko-KR" altLang="en-US" sz="2000" dirty="0"/>
              <a:t> 일단 설치가 완료되면 발전에 필요한 연료가 무료이며</a:t>
            </a:r>
            <a:r>
              <a:rPr lang="en-US" altLang="ko-KR" sz="2000" dirty="0"/>
              <a:t>,</a:t>
            </a:r>
            <a:r>
              <a:rPr lang="ko-KR" altLang="en-US" sz="2000" dirty="0"/>
              <a:t> 운전과 유지비용도 상대적으로 낮음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그런 태양광 발전에는 간헐성이라는 구조적 한계가 존재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또한 태양광 패널의 수명</a:t>
            </a:r>
            <a:r>
              <a:rPr lang="en-US" altLang="ko-KR" sz="2000" dirty="0"/>
              <a:t>(25~30</a:t>
            </a:r>
            <a:r>
              <a:rPr lang="ko-KR" altLang="en-US" sz="2000" dirty="0"/>
              <a:t>년</a:t>
            </a:r>
            <a:r>
              <a:rPr lang="en-US" altLang="ko-KR" sz="2000" dirty="0"/>
              <a:t>)</a:t>
            </a:r>
            <a:r>
              <a:rPr lang="ko-KR" altLang="en-US" sz="2000" dirty="0"/>
              <a:t>이 다한 후의 폐기물 처리 문제나</a:t>
            </a:r>
            <a:r>
              <a:rPr lang="en-US" altLang="ko-KR" sz="2000" dirty="0"/>
              <a:t>,</a:t>
            </a:r>
            <a:r>
              <a:rPr lang="ko-KR" altLang="en-US" sz="2000" dirty="0"/>
              <a:t> 대규모 태양광 단지 조성에 따른 토지 이용 이슈도 환경적</a:t>
            </a:r>
            <a:r>
              <a:rPr lang="en-US" altLang="ko-KR" sz="2000" dirty="0"/>
              <a:t>·</a:t>
            </a:r>
            <a:r>
              <a:rPr lang="ko-KR" altLang="en-US" sz="2000" dirty="0"/>
              <a:t>사회적 문제임</a:t>
            </a:r>
          </a:p>
          <a:p>
            <a:pPr lvl="1">
              <a:buChar char="•"/>
              <a:defRPr/>
            </a:pPr>
            <a:endParaRPr lang="ko-KR" altLang="en-US" sz="2000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3853210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주요 재생에너지의 종류와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풍력</a:t>
            </a:r>
            <a:r>
              <a:rPr lang="en-US" altLang="ko-KR" sz="2000" dirty="0"/>
              <a:t>(wind power)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풍력 발전은 공기의 흐름</a:t>
            </a:r>
            <a:r>
              <a:rPr lang="en-US" altLang="ko-KR" sz="2000" dirty="0"/>
              <a:t>,</a:t>
            </a:r>
            <a:r>
              <a:rPr lang="ko-KR" altLang="en-US" sz="2000" dirty="0"/>
              <a:t> 즉 바람의 운동에너지를 기계적 회전력으로 전환하고 이를 다시 전기에너지로 변환하는 방식의 재생에너지 기술임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풍력발전의 가장 큰 장점은 연료비가 전혀 들지 않으며</a:t>
            </a:r>
            <a:r>
              <a:rPr lang="en-US" altLang="ko-KR" sz="2000" dirty="0"/>
              <a:t>,</a:t>
            </a:r>
            <a:r>
              <a:rPr lang="ko-KR" altLang="en-US" sz="2000" dirty="0"/>
              <a:t> 이산화탄소 및 기타 대기오염물질을 배출하지 않는다는 점임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태양광과 마찬가지로 한계비용이 매우 낮아</a:t>
            </a:r>
            <a:r>
              <a:rPr lang="en-US" altLang="ko-KR" sz="2000" dirty="0"/>
              <a:t>,</a:t>
            </a:r>
            <a:r>
              <a:rPr lang="ko-KR" altLang="en-US" sz="2000" dirty="0"/>
              <a:t> 장기적으로 경제성에서도 경쟁력을 갖추고 있음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바람의 세기와 방향은 시간과 장소에 따라 크게 달라지기 때문에</a:t>
            </a:r>
            <a:r>
              <a:rPr lang="en-US" altLang="ko-KR" sz="2000" dirty="0"/>
              <a:t>,</a:t>
            </a:r>
            <a:r>
              <a:rPr lang="ko-KR" altLang="en-US" sz="2000" dirty="0"/>
              <a:t> 실시간 전력 수요와의 불일치 문제가 발생</a:t>
            </a:r>
            <a:r>
              <a:rPr lang="en-US" altLang="ko-KR" sz="2000" dirty="0"/>
              <a:t>.</a:t>
            </a:r>
            <a:r>
              <a:rPr lang="ko-KR" altLang="en-US" sz="2000" dirty="0"/>
              <a:t> 이에 따라 예측 정확도를 높이고</a:t>
            </a:r>
            <a:r>
              <a:rPr lang="en-US" altLang="ko-KR" sz="2000" dirty="0"/>
              <a:t>,</a:t>
            </a:r>
            <a:r>
              <a:rPr lang="ko-KR" altLang="en-US" sz="2000" dirty="0"/>
              <a:t> 보완 발전원 또는 에너지 저장장치와 연계하는 것이 필수적임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풍력 터빈의 회전 날개가 조류 충돌이나 소음 문제</a:t>
            </a:r>
            <a:r>
              <a:rPr lang="en-US" altLang="ko-KR" sz="2000" dirty="0"/>
              <a:t>,</a:t>
            </a:r>
            <a:r>
              <a:rPr lang="ko-KR" altLang="en-US" sz="2000" dirty="0"/>
              <a:t> 경관 훼손 등의 환경적</a:t>
            </a:r>
            <a:r>
              <a:rPr lang="en-US" altLang="ko-KR" sz="2000" dirty="0"/>
              <a:t>·</a:t>
            </a:r>
            <a:r>
              <a:rPr lang="ko-KR" altLang="en-US" sz="2000" dirty="0"/>
              <a:t>사회적 반발을 초래하기도 하며</a:t>
            </a:r>
            <a:r>
              <a:rPr lang="en-US" altLang="ko-KR" sz="2000" dirty="0"/>
              <a:t>,</a:t>
            </a:r>
            <a:r>
              <a:rPr lang="ko-KR" altLang="en-US" sz="2000" dirty="0"/>
              <a:t> 육상 풍력은 부지 확보와 주민 수용성 확보가 중요한 과제로 지적됨</a:t>
            </a:r>
          </a:p>
          <a:p>
            <a:pPr lvl="1">
              <a:buChar char="•"/>
              <a:defRPr/>
            </a:pPr>
            <a:endParaRPr lang="ko-KR" altLang="en-US" sz="2000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1768778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주요 재생에너지의 종류와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sz="2000" dirty="0"/>
              <a:t>수력</a:t>
            </a:r>
            <a:r>
              <a:rPr lang="en-US" altLang="ko-KR" sz="2000" dirty="0"/>
              <a:t>(hydropower)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수력 발전은 물의 위치에너지 또는 운동에너지를 이용하여 전기를 생산하는 방식으로</a:t>
            </a:r>
            <a:r>
              <a:rPr lang="en-US" altLang="ko-KR" sz="2000" dirty="0"/>
              <a:t>,</a:t>
            </a:r>
            <a:r>
              <a:rPr lang="ko-KR" altLang="en-US" sz="2000" dirty="0"/>
              <a:t> 가장 오래된 형태의 재생에너지이자 전 세계 재생에너지 전력 생산에서 가장 큰 비중을 차지하는 에너지원임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다른 재생에너지원과 달리 수력은 저장된 물의 양과 시간대를 조절함으로써 출력 제어가 가능하다는 점에서</a:t>
            </a:r>
            <a:r>
              <a:rPr lang="en-US" altLang="ko-KR" sz="2000" dirty="0"/>
              <a:t>,</a:t>
            </a:r>
            <a:r>
              <a:rPr lang="ko-KR" altLang="en-US" sz="2000" dirty="0"/>
              <a:t> 기저 부하</a:t>
            </a:r>
            <a:r>
              <a:rPr lang="en-US" altLang="ko-KR" sz="2000" dirty="0"/>
              <a:t>(base load)</a:t>
            </a:r>
            <a:r>
              <a:rPr lang="ko-KR" altLang="en-US" sz="2000" dirty="0"/>
              <a:t>뿐만 아니라 피크 부하</a:t>
            </a:r>
            <a:r>
              <a:rPr lang="en-US" altLang="ko-KR" sz="2000" dirty="0"/>
              <a:t>(peak load)</a:t>
            </a:r>
            <a:r>
              <a:rPr lang="ko-KR" altLang="en-US" sz="2000" dirty="0"/>
              <a:t> 수요 대응에도 효과적임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경제성 측면에서도 초기 투자비용은 높지만</a:t>
            </a:r>
            <a:r>
              <a:rPr lang="en-US" altLang="ko-KR" sz="2000" dirty="0"/>
              <a:t>,</a:t>
            </a:r>
            <a:r>
              <a:rPr lang="ko-KR" altLang="en-US" sz="2000" dirty="0"/>
              <a:t> 운영 및 유지비용이 낮고 수명이 </a:t>
            </a:r>
            <a:r>
              <a:rPr lang="en-US" altLang="ko-KR" sz="2000" dirty="0"/>
              <a:t>50</a:t>
            </a:r>
            <a:r>
              <a:rPr lang="ko-KR" altLang="en-US" sz="2000" dirty="0"/>
              <a:t>년 이상으로 길어 장기적 관점에서는 매우 경쟁력이 있음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환경 생태적 제약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대규모 댐 건설은 강의 흐름을 변경하고</a:t>
            </a:r>
            <a:r>
              <a:rPr lang="en-US" altLang="ko-KR" sz="2000" dirty="0"/>
              <a:t>,</a:t>
            </a:r>
            <a:r>
              <a:rPr lang="ko-KR" altLang="en-US" sz="2000" dirty="0"/>
              <a:t> 하천 생태계와 어류 이동에 지장을 주며</a:t>
            </a:r>
            <a:r>
              <a:rPr lang="en-US" altLang="ko-KR" sz="2000" dirty="0"/>
              <a:t>,</a:t>
            </a:r>
            <a:r>
              <a:rPr lang="ko-KR" altLang="en-US" sz="2000" dirty="0"/>
              <a:t> 주변 생물다양성을 감소시킬 수 있음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사회적 갈등과 지역사회 영향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대규모 수력댐 건설은 종종 대규모 이주를 동반하며</a:t>
            </a:r>
            <a:r>
              <a:rPr lang="en-US" altLang="ko-KR" sz="2000" dirty="0"/>
              <a:t>,</a:t>
            </a:r>
            <a:r>
              <a:rPr lang="ko-KR" altLang="en-US" sz="2000" dirty="0"/>
              <a:t> 이로 인한 사회적 갈등</a:t>
            </a:r>
            <a:r>
              <a:rPr lang="en-US" altLang="ko-KR" sz="2000" dirty="0"/>
              <a:t>,</a:t>
            </a:r>
            <a:r>
              <a:rPr lang="ko-KR" altLang="en-US" sz="2000" dirty="0"/>
              <a:t> 문화적 손실</a:t>
            </a:r>
            <a:r>
              <a:rPr lang="en-US" altLang="ko-KR" sz="2000" dirty="0"/>
              <a:t>,</a:t>
            </a:r>
            <a:r>
              <a:rPr lang="ko-KR" altLang="en-US" sz="2000" dirty="0"/>
              <a:t> 재산권 문제 등이 발생할 수 있음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1110352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주요 재생에너지의 종류와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/>
              <a:t>바이오에너지</a:t>
            </a:r>
            <a:r>
              <a:rPr lang="en-US" altLang="ko-KR" sz="2000"/>
              <a:t>(Bioenergy)</a:t>
            </a:r>
          </a:p>
          <a:p>
            <a:pPr lvl="1">
              <a:buChar char="•"/>
              <a:defRPr/>
            </a:pPr>
            <a:r>
              <a:rPr lang="ko-KR" altLang="en-US" sz="2000"/>
              <a:t>바이오에너지는 식물</a:t>
            </a:r>
            <a:r>
              <a:rPr lang="en-US" altLang="ko-KR" sz="2000"/>
              <a:t>,</a:t>
            </a:r>
            <a:r>
              <a:rPr lang="ko-KR" altLang="en-US" sz="2000"/>
              <a:t> 동물</a:t>
            </a:r>
            <a:r>
              <a:rPr lang="en-US" altLang="ko-KR" sz="2000"/>
              <a:t>,</a:t>
            </a:r>
            <a:r>
              <a:rPr lang="ko-KR" altLang="en-US" sz="2000"/>
              <a:t> 미생물 등의 생물 유기체에서 유래한 바이오메스</a:t>
            </a:r>
            <a:r>
              <a:rPr lang="en-US" altLang="ko-KR" sz="2000"/>
              <a:t>(biomass)</a:t>
            </a:r>
            <a:r>
              <a:rPr lang="ko-KR" altLang="en-US" sz="2000"/>
              <a:t>를 연료로 사용하여 열</a:t>
            </a:r>
            <a:r>
              <a:rPr lang="en-US" altLang="ko-KR" sz="2000"/>
              <a:t>,</a:t>
            </a:r>
            <a:r>
              <a:rPr lang="ko-KR" altLang="en-US" sz="2000"/>
              <a:t> 전기 또는 연료 형태의 에너지를 생산하는 방식임</a:t>
            </a:r>
          </a:p>
          <a:p>
            <a:pPr lvl="1">
              <a:buChar char="•"/>
              <a:defRPr/>
            </a:pPr>
            <a:r>
              <a:rPr lang="ko-KR" altLang="en-US" sz="2000"/>
              <a:t>에너지 형태로는 바이오가스</a:t>
            </a:r>
            <a:r>
              <a:rPr lang="en-US" altLang="ko-KR" sz="2000"/>
              <a:t>,</a:t>
            </a:r>
            <a:r>
              <a:rPr lang="ko-KR" altLang="en-US" sz="2000"/>
              <a:t> 바이오디젤</a:t>
            </a:r>
            <a:r>
              <a:rPr lang="en-US" altLang="ko-KR" sz="2000"/>
              <a:t>,</a:t>
            </a:r>
            <a:r>
              <a:rPr lang="ko-KR" altLang="en-US" sz="2000"/>
              <a:t> 바이오에탄올</a:t>
            </a:r>
            <a:r>
              <a:rPr lang="en-US" altLang="ko-KR" sz="2000"/>
              <a:t>,</a:t>
            </a:r>
            <a:r>
              <a:rPr lang="ko-KR" altLang="en-US" sz="2000"/>
              <a:t> 고형 연료 펠릿 등으로 다양하게 가공될 수 있음</a:t>
            </a:r>
          </a:p>
          <a:p>
            <a:pPr lvl="1">
              <a:buChar char="•"/>
              <a:defRPr/>
            </a:pPr>
            <a:r>
              <a:rPr lang="ko-KR" altLang="en-US" sz="2000"/>
              <a:t>바이오에너지의 주요 강점은 기존 에너지 인프라와의 높은 호환성임</a:t>
            </a:r>
            <a:r>
              <a:rPr lang="en-US" altLang="ko-KR" sz="2000"/>
              <a:t>.</a:t>
            </a:r>
            <a:r>
              <a:rPr lang="ko-KR" altLang="en-US" sz="2000"/>
              <a:t> 기존 내연기관이나 보일러 시스템과의 결합이 가능하므로</a:t>
            </a:r>
            <a:r>
              <a:rPr lang="en-US" altLang="ko-KR" sz="2000"/>
              <a:t>,</a:t>
            </a:r>
            <a:r>
              <a:rPr lang="ko-KR" altLang="en-US" sz="2000"/>
              <a:t> 전환 비용이 상대적으로 낮고 에너지 저장 및 수송도 용이함</a:t>
            </a:r>
          </a:p>
          <a:p>
            <a:pPr lvl="1">
              <a:buChar char="•"/>
              <a:defRPr/>
            </a:pPr>
            <a:r>
              <a:rPr lang="ko-KR" altLang="en-US" sz="2000"/>
              <a:t>환경적 지속가능성 측면에서의 문제</a:t>
            </a:r>
          </a:p>
          <a:p>
            <a:pPr lvl="2">
              <a:buChar char="•"/>
              <a:defRPr/>
            </a:pPr>
            <a:r>
              <a:rPr lang="ko-KR" altLang="en-US" sz="2000"/>
              <a:t>간접적 토지이용 변화</a:t>
            </a:r>
            <a:r>
              <a:rPr lang="en-US" altLang="ko-KR" sz="2000"/>
              <a:t>(ILUC:Indirect Land Use Change)</a:t>
            </a:r>
            <a:r>
              <a:rPr lang="ko-KR" altLang="en-US" sz="2000"/>
              <a:t>와 식량</a:t>
            </a:r>
            <a:r>
              <a:rPr lang="en-US" altLang="ko-KR" sz="2000"/>
              <a:t>-</a:t>
            </a:r>
            <a:r>
              <a:rPr lang="ko-KR" altLang="en-US" sz="2000"/>
              <a:t>연료 경쟁 문제</a:t>
            </a:r>
          </a:p>
          <a:p>
            <a:pPr lvl="2">
              <a:buChar char="•"/>
              <a:defRPr/>
            </a:pPr>
            <a:r>
              <a:rPr lang="ko-KR" altLang="en-US" sz="2000"/>
              <a:t>바이오매스는 생장 과정에서 흡수한 탄소를 연소 시 배출하기 때문에 순배출이 </a:t>
            </a:r>
            <a:r>
              <a:rPr lang="en-US" altLang="ko-KR" sz="2000"/>
              <a:t>‘0’</a:t>
            </a:r>
            <a:r>
              <a:rPr lang="ko-KR" altLang="en-US" sz="2000"/>
              <a:t>이지만</a:t>
            </a:r>
            <a:r>
              <a:rPr lang="en-US" altLang="ko-KR" sz="2000"/>
              <a:t>,</a:t>
            </a:r>
            <a:r>
              <a:rPr lang="ko-KR" altLang="en-US" sz="2000"/>
              <a:t> 실제로는 생산</a:t>
            </a:r>
            <a:r>
              <a:rPr lang="en-US" altLang="ko-KR" sz="2000"/>
              <a:t>,</a:t>
            </a:r>
            <a:r>
              <a:rPr lang="ko-KR" altLang="en-US" sz="2000"/>
              <a:t> 수확</a:t>
            </a:r>
            <a:r>
              <a:rPr lang="en-US" altLang="ko-KR" sz="2000"/>
              <a:t>,</a:t>
            </a:r>
            <a:r>
              <a:rPr lang="ko-KR" altLang="en-US" sz="2000"/>
              <a:t> 운송</a:t>
            </a:r>
            <a:r>
              <a:rPr lang="en-US" altLang="ko-KR" sz="2000"/>
              <a:t>,</a:t>
            </a:r>
            <a:r>
              <a:rPr lang="ko-KR" altLang="en-US" sz="2000"/>
              <a:t> 가공 과정에서 상당량의 온실가스가 추가적으로 발생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3346542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2.</a:t>
            </a:r>
            <a:r>
              <a:rPr lang="ko-KR" altLang="en-US" sz="3200"/>
              <a:t> 주요 재생에너지의 종류와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지열에너지</a:t>
            </a:r>
            <a:r>
              <a:rPr lang="en-US" altLang="ko-KR" sz="2000" dirty="0"/>
              <a:t>(Geothermal energy)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지열에너지는 지구 내부에서 발생하는 열에너지를 활용하여 전력이나 열을 생산하는 재생에너지의 한 형태임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지열 발전은 전통적인 화석연료 발전이나 태양광</a:t>
            </a:r>
            <a:r>
              <a:rPr lang="en-US" altLang="ko-KR" sz="2000" dirty="0"/>
              <a:t>·</a:t>
            </a:r>
            <a:r>
              <a:rPr lang="ko-KR" altLang="en-US" sz="2000" dirty="0"/>
              <a:t>풍력과 비교해 출력이 안정적이고 예측 가능하다는 점에서 큰 장점을 가짐</a:t>
            </a:r>
            <a:r>
              <a:rPr lang="en-US" altLang="ko-KR" sz="2000" dirty="0"/>
              <a:t>.</a:t>
            </a:r>
            <a:r>
              <a:rPr lang="ko-KR" altLang="en-US" sz="2000" dirty="0"/>
              <a:t> 이에 따라 지열은 기저 부하를 담당할 수 있는 드문 재생에너지로 평가됨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경제성 측면에서는 초기 탐사 및 시추 비용이 매우 높은 편이며</a:t>
            </a:r>
            <a:r>
              <a:rPr lang="en-US" altLang="ko-KR" sz="2000" dirty="0"/>
              <a:t>,</a:t>
            </a:r>
            <a:r>
              <a:rPr lang="ko-KR" altLang="en-US" sz="2000" dirty="0"/>
              <a:t> 지열 자원의 온도</a:t>
            </a:r>
            <a:r>
              <a:rPr lang="en-US" altLang="ko-KR" sz="2000" dirty="0"/>
              <a:t>·</a:t>
            </a:r>
            <a:r>
              <a:rPr lang="ko-KR" altLang="en-US" sz="2000" dirty="0"/>
              <a:t>압력 조건이 적합하지 않거나 예상과 다른 경우에는 프로젝트 실패 위혐이 존재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지열 발전은 지열 자원의 지역적 편재성이 강하다는 제약이 있음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전통적으로 지열 발전은 화산대나 판 경계 인근의 고열지대에 집중되어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이러한 조건을 갖춘 지역은 제한적임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환경적 측면에서 지열 발전은 일반적으로 친환경적이지만</a:t>
            </a:r>
            <a:r>
              <a:rPr lang="en-US" altLang="ko-KR" sz="2000" dirty="0"/>
              <a:t>,</a:t>
            </a:r>
            <a:r>
              <a:rPr lang="ko-KR" altLang="en-US" sz="2000" dirty="0"/>
              <a:t> 특정 조건에서는 지반 침하</a:t>
            </a:r>
            <a:r>
              <a:rPr lang="en-US" altLang="ko-KR" sz="2000" dirty="0"/>
              <a:t>,</a:t>
            </a:r>
            <a:r>
              <a:rPr lang="ko-KR" altLang="en-US" sz="2000" dirty="0"/>
              <a:t> 소규모 지진 유발</a:t>
            </a:r>
            <a:r>
              <a:rPr lang="en-US" altLang="ko-KR" sz="2000" dirty="0"/>
              <a:t>,</a:t>
            </a:r>
            <a:r>
              <a:rPr lang="ko-KR" altLang="en-US" sz="2000" dirty="0"/>
              <a:t> 지하수 오염 등의 우려도 존재</a:t>
            </a:r>
            <a:endParaRPr lang="en-US" altLang="ko-KR" sz="2000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2755900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재생에너지의 경제적 특성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높은 초기 고정비와 낮은 한계비용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재생에너지원은 일반적으로 초기 고정비용이 매우 높은 반면</a:t>
            </a:r>
            <a:r>
              <a:rPr lang="en-US" altLang="ko-KR" sz="2000" dirty="0"/>
              <a:t>,</a:t>
            </a:r>
            <a:r>
              <a:rPr lang="ko-KR" altLang="en-US" sz="2000" dirty="0"/>
              <a:t> 한계비용은 거의 제로에 수렵하는 독특한 비용 구조를 가짐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초기 고정비용은 발전소 건설</a:t>
            </a:r>
            <a:r>
              <a:rPr lang="en-US" altLang="ko-KR" sz="2000" dirty="0"/>
              <a:t>,</a:t>
            </a:r>
            <a:r>
              <a:rPr lang="ko-KR" altLang="en-US" sz="2000" dirty="0"/>
              <a:t> 장비 구매</a:t>
            </a:r>
            <a:r>
              <a:rPr lang="en-US" altLang="ko-KR" sz="2000" dirty="0"/>
              <a:t>,</a:t>
            </a:r>
            <a:r>
              <a:rPr lang="ko-KR" altLang="en-US" sz="2000" dirty="0"/>
              <a:t> 설치 비용</a:t>
            </a:r>
            <a:r>
              <a:rPr lang="en-US" altLang="ko-KR" sz="2000" dirty="0"/>
              <a:t>,</a:t>
            </a:r>
            <a:r>
              <a:rPr lang="ko-KR" altLang="en-US" sz="2000" dirty="0"/>
              <a:t> 계통 연계 등에 필요한 일회성 투자 비용을 의미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한계 비용은 추가적인 전력단위를 생산하는데 드는 비용을 의미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그러나 초기 투자 비용이 크다는 것은 재생에너지 프로젝트가 높은 자본 접근성과 장기적인 투자 회수 기간을 필요로 함을 의미하며</a:t>
            </a:r>
            <a:r>
              <a:rPr lang="en-US" altLang="ko-KR" sz="2000" dirty="0"/>
              <a:t>,</a:t>
            </a:r>
            <a:r>
              <a:rPr lang="ko-KR" altLang="en-US" sz="2000" dirty="0"/>
              <a:t> 이는 자금조달 조건과 정책 지원 여부에 따라 프로젝트의 경제성이 크게 좌우될 수 있음을 의미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기존의 화석연료 발전은 연료비를 반영하여 전력가격이 결정되지만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재생에너지는 추가 생산 비용이 낮기 때문에 시장 가격을 하방 압박하는 경향이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이는 기존 발전사업자들의 수익성에 영향을 미칠 수 있음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2139473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재생에너지의 경제적 특성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간헐성 및 비제어성의 경제적 함의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간헐성</a:t>
            </a:r>
            <a:r>
              <a:rPr lang="en-US" altLang="ko-KR" sz="2000" dirty="0"/>
              <a:t>(</a:t>
            </a:r>
            <a:r>
              <a:rPr lang="en-US" altLang="ko-KR" sz="2000" dirty="0" err="1"/>
              <a:t>interminttency</a:t>
            </a:r>
            <a:r>
              <a:rPr lang="en-US" altLang="ko-KR" sz="2000" dirty="0"/>
              <a:t>)</a:t>
            </a:r>
            <a:r>
              <a:rPr lang="ko-KR" altLang="en-US" sz="2000" dirty="0"/>
              <a:t>란 자윈의 이용 가능성이 시간에 따라 불규칙하게 변함을 의미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비제어성</a:t>
            </a:r>
            <a:r>
              <a:rPr lang="en-US" altLang="ko-KR" sz="2000" dirty="0"/>
              <a:t>(non-dispatchability)</a:t>
            </a:r>
            <a:r>
              <a:rPr lang="ko-KR" altLang="en-US" sz="2000" dirty="0"/>
              <a:t>란 발전량을 전력 수요에 맞추어 인위적으로 조절할 수 없다는 한계를 의미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간헐성과 비제어성은 재생에너지의 전력 시스템 통합 비용을 증가 시킴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전력 시스템에 안정적으로 통합하기 위해 필요한 보완적 조치의 비용으로 예비력 확충</a:t>
            </a:r>
            <a:r>
              <a:rPr lang="en-US" altLang="ko-KR" sz="2000" dirty="0"/>
              <a:t>,</a:t>
            </a:r>
            <a:r>
              <a:rPr lang="ko-KR" altLang="en-US" sz="2000" dirty="0"/>
              <a:t> 계통강화</a:t>
            </a:r>
            <a:r>
              <a:rPr lang="en-US" altLang="ko-KR" sz="2000" dirty="0"/>
              <a:t>,</a:t>
            </a:r>
            <a:r>
              <a:rPr lang="ko-KR" altLang="en-US" sz="2000" dirty="0"/>
              <a:t> 예측 시스템 개발</a:t>
            </a:r>
            <a:r>
              <a:rPr lang="en-US" altLang="ko-KR" sz="2000" dirty="0"/>
              <a:t>,</a:t>
            </a:r>
            <a:r>
              <a:rPr lang="ko-KR" altLang="en-US" sz="2000" dirty="0"/>
              <a:t> 저장 설비 구축 등이 포함됨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간헐성과 비제어성은 재생에너지의 시장 수익성과 가치에도 영향을 미침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태양광과 풍력은 특정 시간대에 대량 공급되는 경향이 있어 전력가격이 급락하는 가치 감소 현상이 발생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이로 인해 재생에너지 단위 전력당 시장가치가 감소하여</a:t>
            </a:r>
            <a:r>
              <a:rPr lang="en-US" altLang="ko-KR" sz="2000" dirty="0"/>
              <a:t>,</a:t>
            </a:r>
            <a:r>
              <a:rPr lang="ko-KR" altLang="en-US" sz="2000" dirty="0"/>
              <a:t> 투자 수익성이 악화될 수 있음</a:t>
            </a:r>
          </a:p>
          <a:p>
            <a:pPr lvl="1">
              <a:buChar char="•"/>
              <a:defRPr/>
            </a:pPr>
            <a:endParaRPr lang="ko-KR" altLang="en-US" sz="2000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3522500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재생에너지의 경제적 특성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/>
              <a:t>규모의 경제와 학습곡선</a:t>
            </a:r>
          </a:p>
          <a:p>
            <a:pPr lvl="1">
              <a:buChar char="•"/>
              <a:defRPr/>
            </a:pPr>
            <a:r>
              <a:rPr lang="ko-KR" altLang="en-US" sz="2000"/>
              <a:t>재생에너지 기술</a:t>
            </a:r>
            <a:r>
              <a:rPr lang="en-US" altLang="ko-KR" sz="2000"/>
              <a:t>,</a:t>
            </a:r>
            <a:r>
              <a:rPr lang="ko-KR" altLang="en-US" sz="2000"/>
              <a:t> 특히 태양광과 풍력은 최근 수십 년간 급속한 비용 하락을 경험하였는데</a:t>
            </a:r>
            <a:r>
              <a:rPr lang="en-US" altLang="ko-KR" sz="2000"/>
              <a:t>,</a:t>
            </a:r>
            <a:r>
              <a:rPr lang="ko-KR" altLang="en-US" sz="2000"/>
              <a:t> 규모의 경제와 학습곡선이라는 두 가지 경제학적 메커니즘이 핵심적으로 작용하였음</a:t>
            </a:r>
          </a:p>
          <a:p>
            <a:pPr lvl="1">
              <a:buChar char="•"/>
              <a:defRPr/>
            </a:pPr>
            <a:r>
              <a:rPr lang="ko-KR" altLang="en-US" sz="2000"/>
              <a:t>규모의 경제란 생산설비나 프로젝트의 규모가 커질수록 단위당 고정비용이 분산되어 생산비용이 감소하는 현상</a:t>
            </a:r>
          </a:p>
          <a:p>
            <a:pPr lvl="2">
              <a:buChar char="•"/>
              <a:defRPr/>
            </a:pPr>
            <a:r>
              <a:rPr lang="ko-KR" altLang="en-US" sz="2000"/>
              <a:t>대규모 태양광 발전소나 해상풍력 단지는 발전설비</a:t>
            </a:r>
            <a:r>
              <a:rPr lang="en-US" altLang="ko-KR" sz="2000"/>
              <a:t>,</a:t>
            </a:r>
            <a:r>
              <a:rPr lang="ko-KR" altLang="en-US" sz="2000"/>
              <a:t> 인프라</a:t>
            </a:r>
            <a:r>
              <a:rPr lang="en-US" altLang="ko-KR" sz="2000"/>
              <a:t>,</a:t>
            </a:r>
            <a:r>
              <a:rPr lang="ko-KR" altLang="en-US" sz="2000"/>
              <a:t> 운영 인력 등을 규모화함으로써 건설 및 운영 단기를 줄일 수 있음</a:t>
            </a:r>
          </a:p>
          <a:p>
            <a:pPr lvl="2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r>
              <a:rPr lang="ko-KR" altLang="en-US" sz="2000"/>
              <a:t>학습곡선은 누적 생산량이 증가함에 따라 생산성과 효율성이 향상되고</a:t>
            </a:r>
            <a:r>
              <a:rPr lang="en-US" altLang="ko-KR" sz="2000"/>
              <a:t>,</a:t>
            </a:r>
            <a:r>
              <a:rPr lang="ko-KR" altLang="en-US" sz="2000"/>
              <a:t> 이에 따라 단위당 비용이 체계적으로 하락하는 현상을 의미</a:t>
            </a:r>
          </a:p>
          <a:p>
            <a:pPr lvl="2">
              <a:buChar char="•"/>
              <a:defRPr/>
            </a:pPr>
            <a:r>
              <a:rPr lang="ko-KR" altLang="en-US" sz="2000"/>
              <a:t>단순한 규모의 확장과는 달리</a:t>
            </a:r>
            <a:r>
              <a:rPr lang="en-US" altLang="ko-KR" sz="2000"/>
              <a:t>,</a:t>
            </a:r>
            <a:r>
              <a:rPr lang="ko-KR" altLang="en-US" sz="2000"/>
              <a:t> 반복적인 생산과 운용을 통해 축적된 노하우</a:t>
            </a:r>
            <a:r>
              <a:rPr lang="en-US" altLang="ko-KR" sz="2000"/>
              <a:t>,</a:t>
            </a:r>
            <a:r>
              <a:rPr lang="ko-KR" altLang="en-US" sz="2000"/>
              <a:t> 기술 혁신</a:t>
            </a:r>
            <a:r>
              <a:rPr lang="en-US" altLang="ko-KR" sz="2000"/>
              <a:t>,</a:t>
            </a:r>
            <a:r>
              <a:rPr lang="ko-KR" altLang="en-US" sz="2000"/>
              <a:t> 공정 개선</a:t>
            </a:r>
            <a:r>
              <a:rPr lang="en-US" altLang="ko-KR" sz="2000"/>
              <a:t>,</a:t>
            </a:r>
            <a:r>
              <a:rPr lang="ko-KR" altLang="en-US" sz="2000"/>
              <a:t> 조직 역량 강화 등에 의해 달성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4015574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재생에너지의 경제적 특성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외부효과와 사회적 편익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재생에너지는 발전 과정에서 온실가스 저감</a:t>
            </a:r>
            <a:r>
              <a:rPr lang="en-US" altLang="ko-KR" sz="2000" dirty="0"/>
              <a:t>,</a:t>
            </a:r>
            <a:r>
              <a:rPr lang="ko-KR" altLang="en-US" sz="2000" dirty="0"/>
              <a:t> 대기오염 감소</a:t>
            </a:r>
            <a:r>
              <a:rPr lang="en-US" altLang="ko-KR" sz="2000" dirty="0"/>
              <a:t>,</a:t>
            </a:r>
            <a:r>
              <a:rPr lang="ko-KR" altLang="en-US" sz="2000" dirty="0"/>
              <a:t> 에너지 안보 강화</a:t>
            </a:r>
            <a:r>
              <a:rPr lang="en-US" altLang="ko-KR" sz="2000" dirty="0"/>
              <a:t>,</a:t>
            </a:r>
            <a:r>
              <a:rPr lang="ko-KR" altLang="en-US" sz="2000" dirty="0"/>
              <a:t> 고용 창출</a:t>
            </a:r>
            <a:r>
              <a:rPr lang="en-US" altLang="ko-KR" sz="2000" dirty="0"/>
              <a:t>,</a:t>
            </a:r>
            <a:r>
              <a:rPr lang="ko-KR" altLang="en-US" sz="2000" dirty="0"/>
              <a:t> 기술 혁신 촉진 등의 광범위한 사회적 편익 제공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화석연료 기반 발전은 이산화탄소</a:t>
            </a:r>
            <a:r>
              <a:rPr lang="en-US" altLang="ko-KR" sz="2000" dirty="0"/>
              <a:t>(CO2), </a:t>
            </a:r>
            <a:r>
              <a:rPr lang="ko-KR" altLang="en-US" sz="2000" dirty="0"/>
              <a:t>메탄</a:t>
            </a:r>
            <a:r>
              <a:rPr lang="en-US" altLang="ko-KR" sz="2000" dirty="0"/>
              <a:t>(CH4), </a:t>
            </a:r>
            <a:r>
              <a:rPr lang="ko-KR" altLang="en-US" sz="2000" dirty="0"/>
              <a:t>이산화질소</a:t>
            </a:r>
            <a:r>
              <a:rPr lang="en-US" altLang="ko-KR" sz="2000" dirty="0"/>
              <a:t>(N2O)</a:t>
            </a:r>
            <a:r>
              <a:rPr lang="ko-KR" altLang="en-US" sz="2000" dirty="0"/>
              <a:t> 등 주요 온실가스를 배출하지만</a:t>
            </a:r>
            <a:r>
              <a:rPr lang="en-US" altLang="ko-KR" sz="2000" dirty="0"/>
              <a:t>,</a:t>
            </a:r>
            <a:r>
              <a:rPr lang="ko-KR" altLang="en-US" sz="2000" dirty="0"/>
              <a:t> 태양광</a:t>
            </a:r>
            <a:r>
              <a:rPr lang="en-US" altLang="ko-KR" sz="2000" dirty="0"/>
              <a:t>,</a:t>
            </a:r>
            <a:r>
              <a:rPr lang="ko-KR" altLang="en-US" sz="2000" dirty="0"/>
              <a:t> 풍력</a:t>
            </a:r>
            <a:r>
              <a:rPr lang="en-US" altLang="ko-KR" sz="2000" dirty="0"/>
              <a:t>,</a:t>
            </a:r>
            <a:r>
              <a:rPr lang="ko-KR" altLang="en-US" sz="2000" dirty="0"/>
              <a:t> 지열 등은 발전 과정에서 온실가스 배출이 거의 없음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재생에너지는 대기오염 저감과 건강편익을 동시에 제공함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석탄이나 중유 발전소는 이산화항</a:t>
            </a:r>
            <a:r>
              <a:rPr lang="en-US" altLang="ko-KR" sz="2000" dirty="0"/>
              <a:t>(SO2), </a:t>
            </a:r>
            <a:r>
              <a:rPr lang="ko-KR" altLang="en-US" sz="2000" dirty="0"/>
              <a:t>질소산화물</a:t>
            </a:r>
            <a:r>
              <a:rPr lang="en-US" altLang="ko-KR" sz="2000" dirty="0"/>
              <a:t>(NOx), </a:t>
            </a:r>
            <a:r>
              <a:rPr lang="ko-KR" altLang="en-US" sz="2000" dirty="0"/>
              <a:t>미세먼지</a:t>
            </a:r>
            <a:r>
              <a:rPr lang="en-US" altLang="ko-KR" sz="2000" dirty="0"/>
              <a:t>(PM2.5) </a:t>
            </a:r>
            <a:r>
              <a:rPr lang="ko-KR" altLang="en-US" sz="2000" dirty="0"/>
              <a:t>등을 배출하여 호흡기 질환</a:t>
            </a:r>
            <a:r>
              <a:rPr lang="en-US" altLang="ko-KR" sz="2000" dirty="0"/>
              <a:t>,</a:t>
            </a:r>
            <a:r>
              <a:rPr lang="ko-KR" altLang="en-US" sz="2000" dirty="0"/>
              <a:t> 조기사망률</a:t>
            </a:r>
            <a:r>
              <a:rPr lang="en-US" altLang="ko-KR" sz="2000" dirty="0"/>
              <a:t>,</a:t>
            </a:r>
            <a:r>
              <a:rPr lang="ko-KR" altLang="en-US" sz="2000" dirty="0"/>
              <a:t> 생산성 저하 등의 사회적 비용을 유발하는데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 전환은 이와 같은 비용을 줄일 수 있음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에너지 안보 강화와 수입 대체 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재생에너지는 자국 내 자원을 활용할 수 있으므로</a:t>
            </a:r>
            <a:r>
              <a:rPr lang="en-US" altLang="ko-KR" sz="2000" dirty="0"/>
              <a:t>,</a:t>
            </a:r>
            <a:r>
              <a:rPr lang="ko-KR" altLang="en-US" sz="2000" dirty="0"/>
              <a:t> 화석연료 수입 의존도를 줄이고 에너지 가격의 국제적 변동성에 대한 노출을 완화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재생에너지 산업의 지역 기반의 설치</a:t>
            </a:r>
            <a:r>
              <a:rPr lang="en-US" altLang="ko-KR" sz="2000" dirty="0"/>
              <a:t>,</a:t>
            </a:r>
            <a:r>
              <a:rPr lang="ko-KR" altLang="en-US" sz="2000" dirty="0"/>
              <a:t> 운영</a:t>
            </a:r>
            <a:r>
              <a:rPr lang="en-US" altLang="ko-KR" sz="2000" dirty="0"/>
              <a:t>,</a:t>
            </a:r>
            <a:r>
              <a:rPr lang="ko-KR" altLang="en-US" sz="2000" dirty="0"/>
              <a:t> 유지관리 인력을 필요로 하기 때문에</a:t>
            </a:r>
            <a:r>
              <a:rPr lang="en-US" altLang="ko-KR" sz="2000" dirty="0"/>
              <a:t>,</a:t>
            </a:r>
            <a:r>
              <a:rPr lang="ko-KR" altLang="en-US" sz="2000" dirty="0"/>
              <a:t> 농촌이나 저개발 지역의 경제활동과 일자리 창출에 기여할 수 있음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4226673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재생에너지의  비용추이와 경쟁력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균등화 발전비용의 변화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균등화 발전비용</a:t>
            </a:r>
            <a:r>
              <a:rPr lang="en-US" altLang="ko-KR" sz="2000" dirty="0"/>
              <a:t>(Levelized Cost of Electricity, LCOE)</a:t>
            </a:r>
            <a:r>
              <a:rPr lang="ko-KR" altLang="en-US" sz="2000" dirty="0"/>
              <a:t>은 발전 설비의 수명 기간 동안 총 비용을 총 발전량으로 나눈 값으로</a:t>
            </a:r>
            <a:r>
              <a:rPr lang="en-US" altLang="ko-KR" sz="2000" dirty="0"/>
              <a:t>,</a:t>
            </a:r>
            <a:r>
              <a:rPr lang="ko-KR" altLang="en-US" sz="2000" dirty="0"/>
              <a:t> 서로 다른 발전 기술 간의 경제성을 비교하는데 널리 사용됨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최근 </a:t>
            </a:r>
            <a:r>
              <a:rPr lang="en-US" altLang="ko-KR" sz="2000" dirty="0"/>
              <a:t>10</a:t>
            </a:r>
            <a:r>
              <a:rPr lang="ko-KR" altLang="en-US" sz="2000" dirty="0"/>
              <a:t>여 년 동안 재생에너지 기술의 발전과 대규모 보급 확산으로 인해 태양광과 풍력의 균등화 발전비용은 급력한 하락세를 보임</a:t>
            </a:r>
          </a:p>
          <a:p>
            <a:pPr lvl="2">
              <a:buChar char="•"/>
              <a:defRPr/>
            </a:pPr>
            <a:r>
              <a:rPr lang="en-US" altLang="ko-KR" sz="2000" dirty="0"/>
              <a:t>2010</a:t>
            </a:r>
            <a:r>
              <a:rPr lang="ko-KR" altLang="en-US" sz="2000" dirty="0"/>
              <a:t>년 대비 </a:t>
            </a:r>
            <a:r>
              <a:rPr lang="en-US" altLang="ko-KR" sz="2000" dirty="0"/>
              <a:t>2020</a:t>
            </a:r>
            <a:r>
              <a:rPr lang="ko-KR" altLang="en-US" sz="2000" dirty="0"/>
              <a:t>년 기준 태양광의 글로벌 평균 균등화 발전비용은 약 </a:t>
            </a:r>
            <a:r>
              <a:rPr lang="en-US" altLang="ko-KR" sz="2000" dirty="0"/>
              <a:t>90%</a:t>
            </a:r>
            <a:r>
              <a:rPr lang="ko-KR" altLang="en-US" sz="2000" dirty="0"/>
              <a:t> 하락하였고</a:t>
            </a:r>
            <a:r>
              <a:rPr lang="en-US" altLang="ko-KR" sz="2000" dirty="0"/>
              <a:t>,</a:t>
            </a:r>
            <a:r>
              <a:rPr lang="ko-KR" altLang="en-US" sz="2000" dirty="0"/>
              <a:t> 육상 풍력은 약 </a:t>
            </a:r>
            <a:r>
              <a:rPr lang="en-US" altLang="ko-KR" sz="2000" dirty="0"/>
              <a:t>70%</a:t>
            </a:r>
            <a:r>
              <a:rPr lang="ko-KR" altLang="en-US" sz="2000" dirty="0"/>
              <a:t> 감소</a:t>
            </a:r>
          </a:p>
          <a:p>
            <a:pPr lvl="2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다만 균등화 발전비용은 간헐성</a:t>
            </a:r>
            <a:r>
              <a:rPr lang="en-US" altLang="ko-KR" sz="2000" dirty="0"/>
              <a:t>,</a:t>
            </a:r>
            <a:r>
              <a:rPr lang="ko-KR" altLang="en-US" sz="2000" dirty="0"/>
              <a:t> 계통 통합 비용</a:t>
            </a:r>
            <a:r>
              <a:rPr lang="en-US" altLang="ko-KR" sz="2000" dirty="0"/>
              <a:t>,</a:t>
            </a:r>
            <a:r>
              <a:rPr lang="ko-KR" altLang="en-US" sz="2000" dirty="0"/>
              <a:t> 위치 기반 제약 등은 반영하지 못하는 한계가 있음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2350476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재생에너지의  비용추이와 경쟁력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 fontScale="92500"/>
          </a:bodyPr>
          <a:lstStyle/>
          <a:p>
            <a:pPr lvl="0">
              <a:defRPr/>
            </a:pPr>
            <a:r>
              <a:rPr lang="ko-KR" altLang="en-US" sz="2000" dirty="0"/>
              <a:t>재생에너지 </a:t>
            </a:r>
            <a:r>
              <a:rPr lang="en-US" altLang="ko-KR" sz="2000" dirty="0"/>
              <a:t>vs. </a:t>
            </a:r>
            <a:r>
              <a:rPr lang="ko-KR" altLang="en-US" sz="2000" dirty="0"/>
              <a:t>화석연료 발전의 경제성 비교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재생에너지와 화석연료 발전 간의 경제성 비교는 단순한 발전 단가 수준을 넘어서</a:t>
            </a:r>
            <a:r>
              <a:rPr lang="en-US" altLang="ko-KR" sz="2000" dirty="0"/>
              <a:t>,</a:t>
            </a:r>
            <a:r>
              <a:rPr lang="ko-KR" altLang="en-US" sz="2000" dirty="0"/>
              <a:t> 비용 구조의 차이</a:t>
            </a:r>
            <a:r>
              <a:rPr lang="en-US" altLang="ko-KR" sz="2000" dirty="0"/>
              <a:t>,</a:t>
            </a:r>
            <a:r>
              <a:rPr lang="ko-KR" altLang="en-US" sz="2000" dirty="0"/>
              <a:t> 연료 가격의 변동성</a:t>
            </a:r>
            <a:r>
              <a:rPr lang="en-US" altLang="ko-KR" sz="2000" dirty="0"/>
              <a:t>,</a:t>
            </a:r>
            <a:r>
              <a:rPr lang="ko-KR" altLang="en-US" sz="2000" dirty="0"/>
              <a:t> 환경 비용</a:t>
            </a:r>
            <a:r>
              <a:rPr lang="en-US" altLang="ko-KR" sz="2000" dirty="0"/>
              <a:t>,</a:t>
            </a:r>
            <a:r>
              <a:rPr lang="ko-KR" altLang="en-US" sz="2000" dirty="0"/>
              <a:t> 정책 지원 등 다양한 요소를 종합적으로 고려해야함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첫째</a:t>
            </a:r>
            <a:r>
              <a:rPr lang="en-US" altLang="ko-KR" sz="2000" dirty="0"/>
              <a:t>,</a:t>
            </a:r>
            <a:r>
              <a:rPr lang="ko-KR" altLang="en-US" sz="2000" dirty="0"/>
              <a:t> 발전 단가 측면에서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재생에너지는 고정비 비중이 높고 한계비용이 거의 제로에 가까운 구조를 갖고 있는 반면</a:t>
            </a:r>
            <a:r>
              <a:rPr lang="en-US" altLang="ko-KR" sz="2000" dirty="0"/>
              <a:t>,</a:t>
            </a:r>
            <a:r>
              <a:rPr lang="ko-KR" altLang="en-US" sz="2000" dirty="0"/>
              <a:t> 화석연료 발전은 연료비 비중이 높아 운영 비용의 변동성이 큼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국제재생에너지기구는 </a:t>
            </a:r>
            <a:r>
              <a:rPr lang="en-US" altLang="ko-KR" sz="2000" dirty="0"/>
              <a:t>2023</a:t>
            </a:r>
            <a:r>
              <a:rPr lang="ko-KR" altLang="en-US" sz="2000" dirty="0"/>
              <a:t>년 기준 전 세계 신규 태양광 및 육상풍력 발전 프로젝트의 평균 균등화발전 비용은 화석연료에 비하여 </a:t>
            </a:r>
            <a:r>
              <a:rPr lang="en-US" altLang="ko-KR" sz="2000" dirty="0"/>
              <a:t>56%</a:t>
            </a:r>
            <a:r>
              <a:rPr lang="ko-KR" altLang="en-US" sz="2000" dirty="0"/>
              <a:t> 및 </a:t>
            </a:r>
            <a:r>
              <a:rPr lang="en-US" altLang="ko-KR" sz="2000" dirty="0"/>
              <a:t>67%</a:t>
            </a:r>
            <a:r>
              <a:rPr lang="ko-KR" altLang="en-US" sz="2000" dirty="0"/>
              <a:t> 낮은 것으로 추정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대기오염</a:t>
            </a:r>
            <a:r>
              <a:rPr lang="en-US" altLang="ko-KR" sz="2000" dirty="0"/>
              <a:t>,</a:t>
            </a:r>
            <a:r>
              <a:rPr lang="ko-KR" altLang="en-US" sz="2000" dirty="0"/>
              <a:t> 온실가스 배출 등의 외부비용을 고려할 경우 총 사회적 비용 측면에서 재생에너지가 우수한 결과를 나타냄</a:t>
            </a:r>
            <a:r>
              <a:rPr lang="en-US" altLang="ko-KR" sz="2000" dirty="0"/>
              <a:t>.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탄소세나 배출권거래제와 같은 환경비용 내재화 정책이 본격화될수록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재생에너지의 상대적 경제성은 더욱 강화됨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가격 예측 가능성과 에너지 안보 측면에서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재생에너지는 지역 자원을 활용할 수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설치 이후 연료비가 들지 않아 장기적인 가격 안정성이 뛰어남</a:t>
            </a:r>
          </a:p>
          <a:p>
            <a:pPr lvl="1">
              <a:buChar char="•"/>
              <a:defRPr/>
            </a:pPr>
            <a:endParaRPr lang="ko-KR" altLang="en-US" sz="2000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3688006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재생에너지의  비용추이와 경쟁력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재생에너지 </a:t>
            </a:r>
            <a:r>
              <a:rPr lang="en-US" altLang="ko-KR" sz="2000" dirty="0"/>
              <a:t>vs. </a:t>
            </a:r>
            <a:r>
              <a:rPr lang="ko-KR" altLang="en-US" sz="2000" dirty="0"/>
              <a:t>화석연료 발전의 경제성 비교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설비 투자 유인과 금융 조건에서도 점차 재생에너지가 우위를 점하고 있음</a:t>
            </a:r>
            <a:r>
              <a:rPr lang="en-US" altLang="ko-KR" sz="2000" dirty="0"/>
              <a:t>.</a:t>
            </a:r>
            <a:r>
              <a:rPr lang="ko-KR" altLang="en-US" sz="2000" dirty="0"/>
              <a:t> 기술이 성숙함에 따라 재생에너지 프로젝트의 위험도가 감소하고</a:t>
            </a:r>
            <a:r>
              <a:rPr lang="en-US" altLang="ko-KR" sz="2000" dirty="0"/>
              <a:t>,</a:t>
            </a:r>
            <a:r>
              <a:rPr lang="ko-KR" altLang="en-US" sz="2000" dirty="0"/>
              <a:t> 이에 따라 자본비용도 하락하고 있음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그러나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재생에너지는 간헐성과 계통 통합 비용이라는 구조적 제약을 안고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화석연료 발전이 여전히 출력 조절력과 기저 부하 제공 능력에서 강점을 가진다는 점은 경제성 비교에서 함께 고려되어야 함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3682734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시장 통합과 전력 시스템 내 재생에너지의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/>
              <a:t>전력망 통합문제</a:t>
            </a:r>
          </a:p>
          <a:p>
            <a:pPr lvl="1">
              <a:buChar char="•"/>
              <a:defRPr/>
            </a:pPr>
            <a:r>
              <a:rPr lang="ko-KR" altLang="en-US" sz="2000"/>
              <a:t>전력망 통합 문제란</a:t>
            </a:r>
            <a:r>
              <a:rPr lang="en-US" altLang="ko-KR" sz="2000"/>
              <a:t>,</a:t>
            </a:r>
            <a:r>
              <a:rPr lang="ko-KR" altLang="en-US" sz="2000"/>
              <a:t> 간헐적이고 비제어적인 재생에너지 발전원을 대규모로 전력망에 연계할 때 발생하는 주파수 안정성</a:t>
            </a:r>
            <a:r>
              <a:rPr lang="en-US" altLang="ko-KR" sz="2000"/>
              <a:t>,</a:t>
            </a:r>
            <a:r>
              <a:rPr lang="ko-KR" altLang="en-US" sz="2000"/>
              <a:t> 전압 관리</a:t>
            </a:r>
            <a:r>
              <a:rPr lang="en-US" altLang="ko-KR" sz="2000"/>
              <a:t>,</a:t>
            </a:r>
            <a:r>
              <a:rPr lang="ko-KR" altLang="en-US" sz="2000"/>
              <a:t> 실시간 수요</a:t>
            </a:r>
            <a:r>
              <a:rPr lang="en-US" altLang="ko-KR" sz="2000"/>
              <a:t>-</a:t>
            </a:r>
            <a:r>
              <a:rPr lang="ko-KR" altLang="en-US" sz="2000"/>
              <a:t>공급 균형 유지</a:t>
            </a:r>
            <a:r>
              <a:rPr lang="en-US" altLang="ko-KR" sz="2000"/>
              <a:t>,</a:t>
            </a:r>
            <a:r>
              <a:rPr lang="ko-KR" altLang="en-US" sz="2000"/>
              <a:t> 송전망 혼잡 등의 문제를 의미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r>
              <a:rPr lang="ko-KR" altLang="en-US" sz="2000"/>
              <a:t>태양광과 풍력 등의 예측 불가능성은 기존의 중앙 집중형 발전 시스템이 갖고 있는 고정성과 계획 중심의 운영 방식에 부담을 줌</a:t>
            </a:r>
          </a:p>
          <a:p>
            <a:pPr lvl="2">
              <a:buChar char="•"/>
              <a:defRPr/>
            </a:pPr>
            <a:r>
              <a:rPr lang="ko-KR" altLang="en-US" sz="2000"/>
              <a:t>발전량이 급증하거나 급감할 경우</a:t>
            </a:r>
            <a:r>
              <a:rPr lang="en-US" altLang="ko-KR" sz="2000"/>
              <a:t>,</a:t>
            </a:r>
            <a:r>
              <a:rPr lang="ko-KR" altLang="en-US" sz="2000"/>
              <a:t> 시스템 전반의 주파수나 전압의 안정성이 흔들리 수 있으며</a:t>
            </a:r>
            <a:r>
              <a:rPr lang="en-US" altLang="ko-KR" sz="2000"/>
              <a:t>,</a:t>
            </a:r>
            <a:r>
              <a:rPr lang="ko-KR" altLang="en-US" sz="2000"/>
              <a:t> 이는 정전이나 설비 고장의 위험으로 이어질 수 있음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r>
              <a:rPr lang="ko-KR" altLang="en-US" sz="2000"/>
              <a:t>많은 재생에너지 설비가 수요 중심지가 아닌 지역에 분산적으로 설치되어 있어</a:t>
            </a:r>
            <a:r>
              <a:rPr lang="en-US" altLang="ko-KR" sz="2000"/>
              <a:t>,</a:t>
            </a:r>
            <a:r>
              <a:rPr lang="ko-KR" altLang="en-US" sz="2000"/>
              <a:t> 전력을 수요지까지 안정적으로 이송하기 위한 송배전망 확충과 계통 강화 투자가 필요</a:t>
            </a:r>
          </a:p>
          <a:p>
            <a:pPr lvl="2">
              <a:buChar char="•"/>
              <a:defRPr/>
            </a:pPr>
            <a:endParaRPr lang="ko-KR" altLang="en-US" sz="200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193083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시장 통합과 전력 시스템 내 재생에너지의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/>
              <a:t>전력망 통합문제</a:t>
            </a:r>
          </a:p>
          <a:p>
            <a:pPr lvl="1">
              <a:buChar char="•"/>
              <a:defRPr/>
            </a:pPr>
            <a:r>
              <a:rPr lang="ko-KR" altLang="en-US" sz="2000"/>
              <a:t>전통적인 발전 방식은 수요에 맞춰어 발전량을 조절하는 </a:t>
            </a:r>
            <a:r>
              <a:rPr lang="en-US" altLang="ko-KR" sz="2000"/>
              <a:t>‘</a:t>
            </a:r>
            <a:r>
              <a:rPr lang="ko-KR" altLang="en-US" sz="2000"/>
              <a:t>공급 조절형</a:t>
            </a:r>
            <a:r>
              <a:rPr lang="en-US" altLang="ko-KR" sz="2000"/>
              <a:t>’</a:t>
            </a:r>
            <a:r>
              <a:rPr lang="ko-KR" altLang="en-US" sz="2000"/>
              <a:t> 시스템이자만</a:t>
            </a:r>
            <a:r>
              <a:rPr lang="en-US" altLang="ko-KR" sz="2000"/>
              <a:t>,</a:t>
            </a:r>
            <a:r>
              <a:rPr lang="ko-KR" altLang="en-US" sz="2000"/>
              <a:t> 재생에너지 확대 이후에는 공급량에 따라 수요를 조절하거나 저장하는 </a:t>
            </a:r>
            <a:r>
              <a:rPr lang="en-US" altLang="ko-KR" sz="2000"/>
              <a:t>‘</a:t>
            </a:r>
            <a:r>
              <a:rPr lang="ko-KR" altLang="en-US" sz="2000"/>
              <a:t>수요 반응형</a:t>
            </a:r>
            <a:r>
              <a:rPr lang="en-US" altLang="ko-KR" sz="2000"/>
              <a:t>’</a:t>
            </a:r>
            <a:r>
              <a:rPr lang="ko-KR" altLang="en-US" sz="2000"/>
              <a:t> 체제로의 전환이 요구됨</a:t>
            </a:r>
          </a:p>
          <a:p>
            <a:pPr lvl="2">
              <a:buChar char="•"/>
              <a:defRPr/>
            </a:pPr>
            <a:r>
              <a:rPr lang="ko-KR" altLang="en-US" sz="2000"/>
              <a:t>이를 위해서는 에너지 저장장치</a:t>
            </a:r>
            <a:r>
              <a:rPr lang="en-US" altLang="ko-KR" sz="2000"/>
              <a:t>,</a:t>
            </a:r>
            <a:r>
              <a:rPr lang="ko-KR" altLang="en-US" sz="2000"/>
              <a:t> 수요관리</a:t>
            </a:r>
            <a:r>
              <a:rPr lang="en-US" altLang="ko-KR" sz="2000"/>
              <a:t>,</a:t>
            </a:r>
            <a:r>
              <a:rPr lang="ko-KR" altLang="en-US" sz="2000"/>
              <a:t> 유연한 보완 발전원의 확보 등이 병행되어야 하며</a:t>
            </a:r>
            <a:r>
              <a:rPr lang="en-US" altLang="ko-KR" sz="2000"/>
              <a:t>,</a:t>
            </a:r>
            <a:r>
              <a:rPr lang="ko-KR" altLang="en-US" sz="2000"/>
              <a:t> 이러한 요소들을 가격 신호를 통해 적절히 유도하는 시장 기반의 유연성 메커니즘이 중요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1525608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시장 통합과 전력 시스템 내 재생에너지의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sz="2000" dirty="0"/>
              <a:t>보완성 저장기술의 중요성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태양광과 풍력 증 주요 재생에너지원은 자연 조건에 따라 발전량이 변하기 때문에</a:t>
            </a:r>
            <a:r>
              <a:rPr lang="en-US" altLang="ko-KR" sz="2000" dirty="0"/>
              <a:t>,</a:t>
            </a:r>
            <a:r>
              <a:rPr lang="ko-KR" altLang="en-US" sz="2000" dirty="0"/>
              <a:t> 안정적인 전력공급을 보장하기 위해서는 보완적 에너지 자원과 에너지 저장기술의 활용이 필수적임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보완성</a:t>
            </a:r>
            <a:r>
              <a:rPr lang="en-US" altLang="ko-KR" sz="2000" dirty="0"/>
              <a:t>(complementarity)</a:t>
            </a:r>
            <a:r>
              <a:rPr lang="ko-KR" altLang="en-US" sz="2000" dirty="0"/>
              <a:t>는 서로 다른 재생에너지원이 시간적</a:t>
            </a:r>
            <a:r>
              <a:rPr lang="en-US" altLang="ko-KR" sz="2000" dirty="0"/>
              <a:t>·</a:t>
            </a:r>
            <a:r>
              <a:rPr lang="ko-KR" altLang="en-US" sz="2000" dirty="0"/>
              <a:t>공간적으로 상호보완적인 특성을 가질 때 나타나는 효과를 말함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상이한 발전 패턴을 가진 자원을 함께 활용하면 출력의 변동성을 완화할 수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보다 균등한 전력 공급이 가능해짐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에너지 저장 기술</a:t>
            </a:r>
            <a:r>
              <a:rPr lang="en-US" altLang="ko-KR" sz="2000" dirty="0"/>
              <a:t>,</a:t>
            </a:r>
            <a:r>
              <a:rPr lang="ko-KR" altLang="en-US" sz="2000" dirty="0"/>
              <a:t> 특히 배터리 저장 시스템</a:t>
            </a:r>
            <a:r>
              <a:rPr lang="en-US" altLang="ko-KR" sz="2000" dirty="0"/>
              <a:t>(</a:t>
            </a:r>
            <a:r>
              <a:rPr lang="en-US" altLang="ko-KR" sz="2000" dirty="0" err="1"/>
              <a:t>BESS:Battery</a:t>
            </a:r>
            <a:r>
              <a:rPr lang="en-US" altLang="ko-KR" sz="2000" dirty="0"/>
              <a:t> Energy Storage System)</a:t>
            </a:r>
            <a:r>
              <a:rPr lang="ko-KR" altLang="en-US" sz="2000" dirty="0"/>
              <a:t>은 발전량이 초과되는 시간대에 전력을 저장하고</a:t>
            </a:r>
            <a:r>
              <a:rPr lang="en-US" altLang="ko-KR" sz="2000" dirty="0"/>
              <a:t>,</a:t>
            </a:r>
            <a:r>
              <a:rPr lang="ko-KR" altLang="en-US" sz="2000" dirty="0"/>
              <a:t> 공급이 부족한 시간에 방전함으로써 출력 평준화</a:t>
            </a:r>
            <a:r>
              <a:rPr lang="en-US" altLang="ko-KR" sz="2000" dirty="0"/>
              <a:t>,</a:t>
            </a:r>
            <a:r>
              <a:rPr lang="ko-KR" altLang="en-US" sz="2000" dirty="0"/>
              <a:t> 주파수 조절</a:t>
            </a:r>
            <a:r>
              <a:rPr lang="en-US" altLang="ko-KR" sz="2000" dirty="0"/>
              <a:t>,</a:t>
            </a:r>
            <a:r>
              <a:rPr lang="ko-KR" altLang="en-US" sz="2000" dirty="0"/>
              <a:t> 피크 부하 대응 등의 다양한 기능을 수행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경제적으로도 저장기술은 재생에너지의이 가치를  높이는데 기여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저장을 통해 공급 시점을 이동시킬 수 있다면 전력 가격이 높은 시간대에 판매할 수 있어 수익성을 개선시킬 수 있음</a:t>
            </a:r>
          </a:p>
          <a:p>
            <a:pPr lvl="1">
              <a:buChar char="•"/>
              <a:defRPr/>
            </a:pPr>
            <a:endParaRPr lang="ko-KR" altLang="en-US" sz="2000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1513516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시장 통합과 전력 시스템 내 재생에너지의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전력시장 구조와 재생에너지의 적응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전통적인 전력시장은 대규모 발전소가 수요를 충족시키고</a:t>
            </a:r>
            <a:r>
              <a:rPr lang="en-US" altLang="ko-KR" sz="2000" dirty="0"/>
              <a:t>.</a:t>
            </a:r>
            <a:r>
              <a:rPr lang="ko-KR" altLang="en-US" sz="2000" dirty="0"/>
              <a:t> 실시간 수급 균형을 유지하며</a:t>
            </a:r>
            <a:r>
              <a:rPr lang="en-US" altLang="ko-KR" sz="2000" dirty="0"/>
              <a:t>,</a:t>
            </a:r>
            <a:r>
              <a:rPr lang="ko-KR" altLang="en-US" sz="2000" dirty="0"/>
              <a:t> 발전비용에 기반해 가격이 결정되는 체계로 운영되었음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재생에너지지는 소규모</a:t>
            </a:r>
            <a:r>
              <a:rPr lang="en-US" altLang="ko-KR" sz="2000" dirty="0"/>
              <a:t>,</a:t>
            </a:r>
            <a:r>
              <a:rPr lang="ko-KR" altLang="en-US" sz="2000" dirty="0"/>
              <a:t> 분산형</a:t>
            </a:r>
            <a:r>
              <a:rPr lang="en-US" altLang="ko-KR" sz="2000" dirty="0"/>
              <a:t>,</a:t>
            </a:r>
            <a:r>
              <a:rPr lang="ko-KR" altLang="en-US" sz="2000" dirty="0"/>
              <a:t> 간헐적</a:t>
            </a:r>
            <a:r>
              <a:rPr lang="en-US" altLang="ko-KR" sz="2000" dirty="0"/>
              <a:t>,</a:t>
            </a:r>
            <a:r>
              <a:rPr lang="ko-KR" altLang="en-US" sz="2000" dirty="0"/>
              <a:t> 비제어적 특성을 갖고 있어 기존 시장 설계와 근본적인 불일치를 드러냄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첫째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재생에너지는 한계비용이 거의 제로에 가까운 발전원으로</a:t>
            </a:r>
            <a:r>
              <a:rPr lang="en-US" altLang="ko-KR" sz="2000" dirty="0"/>
              <a:t>,</a:t>
            </a:r>
            <a:r>
              <a:rPr lang="ko-KR" altLang="en-US" sz="2000" dirty="0"/>
              <a:t> 공급이 증가하면 전력시장 가격을 하락시키는 경향이 있음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고정 가격 보조</a:t>
            </a:r>
            <a:r>
              <a:rPr lang="en-US" altLang="ko-KR" sz="2000" dirty="0"/>
              <a:t>(FIT)</a:t>
            </a:r>
            <a:r>
              <a:rPr lang="ko-KR" altLang="en-US" sz="2000" dirty="0"/>
              <a:t>를 받은 재생에너지가 시장 가격과 무관하게 우선적으로 공급될 경우</a:t>
            </a:r>
            <a:r>
              <a:rPr lang="en-US" altLang="ko-KR" sz="2000" dirty="0"/>
              <a:t>,</a:t>
            </a:r>
            <a:r>
              <a:rPr lang="ko-KR" altLang="en-US" sz="2000" dirty="0"/>
              <a:t> 시장가격이 왜곡되고 기존 발전자원이 수익성이 악화될 수 있음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둘째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재생에너지의 간헐성과 예측 불가능성은 시장 유연성 확보를 필수적으로 만듦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단순한 에너지 거래 외에도 예비력</a:t>
            </a:r>
            <a:r>
              <a:rPr lang="en-US" altLang="ko-KR" sz="2000" dirty="0"/>
              <a:t>,</a:t>
            </a:r>
            <a:r>
              <a:rPr lang="ko-KR" altLang="en-US" sz="2000" dirty="0"/>
              <a:t> 주파수 조절</a:t>
            </a:r>
            <a:r>
              <a:rPr lang="en-US" altLang="ko-KR" sz="2000" dirty="0"/>
              <a:t>,</a:t>
            </a:r>
            <a:r>
              <a:rPr lang="ko-KR" altLang="en-US" sz="2000" dirty="0"/>
              <a:t> 부하 조정</a:t>
            </a:r>
            <a:r>
              <a:rPr lang="en-US" altLang="ko-KR" sz="2000" dirty="0"/>
              <a:t>,</a:t>
            </a:r>
            <a:r>
              <a:rPr lang="ko-KR" altLang="en-US" sz="2000" dirty="0"/>
              <a:t> 수요 반응 등 다양한 부가 서비스를 거래하는 시장이 필요</a:t>
            </a:r>
          </a:p>
          <a:p>
            <a:pPr lvl="2">
              <a:buChar char="•"/>
              <a:defRPr/>
            </a:pPr>
            <a:endParaRPr lang="ko-KR" altLang="en-US" sz="2000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41747718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5.</a:t>
            </a:r>
            <a:r>
              <a:rPr lang="ko-KR" altLang="en-US" sz="3200"/>
              <a:t> 시장 통합과 전력 시스템 내 재생에너지의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/>
              <a:t>전력시장 구조와 재생에너지의 적응</a:t>
            </a:r>
          </a:p>
          <a:p>
            <a:pPr lvl="1">
              <a:buChar char="•"/>
              <a:defRPr/>
            </a:pPr>
            <a:r>
              <a:rPr lang="ko-KR" altLang="en-US" sz="2000"/>
              <a:t>재생에너지 중심 전력 시스템에서는 용량 보장</a:t>
            </a:r>
            <a:r>
              <a:rPr lang="en-US" altLang="ko-KR" sz="2000"/>
              <a:t>(capacity adequacy)</a:t>
            </a:r>
            <a:r>
              <a:rPr lang="ko-KR" altLang="en-US" sz="2000"/>
              <a:t> 확보를 위한 새로운 시장 구조가 필요</a:t>
            </a:r>
          </a:p>
          <a:p>
            <a:pPr lvl="2">
              <a:buChar char="•"/>
              <a:defRPr/>
            </a:pPr>
            <a:r>
              <a:rPr lang="ko-KR" altLang="en-US" sz="2000"/>
              <a:t>기존 에너지 시장은 에너지 판매를 통해 수익을 확보하지만</a:t>
            </a:r>
            <a:r>
              <a:rPr lang="en-US" altLang="ko-KR" sz="2000"/>
              <a:t>,</a:t>
            </a:r>
            <a:r>
              <a:rPr lang="ko-KR" altLang="en-US" sz="2000"/>
              <a:t> 재생에너지 확대에 따라 가격이 낮아지고 수익이 불안정해지면서 장기적 투자 유인이 약화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r>
              <a:rPr lang="ko-KR" altLang="en-US" sz="2000"/>
              <a:t>재생에너지의 분산성과 지역성은 전통적인 중앙 집중형 송전망 기반의 시장 설계에 도전을 제기함</a:t>
            </a:r>
          </a:p>
          <a:p>
            <a:pPr lvl="2">
              <a:buChar char="•"/>
              <a:defRPr/>
            </a:pPr>
            <a:r>
              <a:rPr lang="ko-KR" altLang="en-US" sz="2000"/>
              <a:t>소규모 태양광 발전</a:t>
            </a:r>
            <a:r>
              <a:rPr lang="en-US" altLang="ko-KR" sz="2000"/>
              <a:t>,</a:t>
            </a:r>
            <a:r>
              <a:rPr lang="ko-KR" altLang="en-US" sz="2000"/>
              <a:t> 가정용 저장장치</a:t>
            </a:r>
            <a:r>
              <a:rPr lang="en-US" altLang="ko-KR" sz="2000"/>
              <a:t>,</a:t>
            </a:r>
            <a:r>
              <a:rPr lang="ko-KR" altLang="en-US" sz="2000"/>
              <a:t> 전기차 충전의 확산은 소비자이자 생산자의 등장을 촉진하며</a:t>
            </a:r>
            <a:r>
              <a:rPr lang="en-US" altLang="ko-KR" sz="2000"/>
              <a:t>,</a:t>
            </a:r>
            <a:r>
              <a:rPr lang="ko-KR" altLang="en-US" sz="2000"/>
              <a:t> 분산자원 기반의 새로운 시장 참여 모델이 요구됨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2602051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재생에너지에 의한 전력생산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000" dirty="0"/>
              <a:t>2023</a:t>
            </a:r>
            <a:r>
              <a:rPr lang="ko-KR" altLang="en-US" sz="2000" dirty="0"/>
              <a:t>년 재생에너지에 의한 전력 생산은 </a:t>
            </a:r>
            <a:r>
              <a:rPr lang="en-US" altLang="ko-KR" sz="2000" dirty="0"/>
              <a:t>8,988.4(</a:t>
            </a:r>
            <a:r>
              <a:rPr lang="en-US" altLang="ko-KR" sz="2000" dirty="0" err="1"/>
              <a:t>TWh</a:t>
            </a:r>
            <a:r>
              <a:rPr lang="en-US" altLang="ko-KR" sz="2000" dirty="0"/>
              <a:t>) </a:t>
            </a:r>
            <a:r>
              <a:rPr lang="ko-KR" altLang="en-US" sz="2000" dirty="0"/>
              <a:t>였고 지역별로는 중국을 중심으로 한 아시아태평양지역이 </a:t>
            </a:r>
            <a:r>
              <a:rPr lang="en-US" altLang="ko-KR" sz="2000" dirty="0"/>
              <a:t>46.1%</a:t>
            </a:r>
            <a:r>
              <a:rPr lang="ko-KR" altLang="en-US" sz="2000" dirty="0"/>
              <a:t>를 차지하고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유럽 </a:t>
            </a:r>
            <a:r>
              <a:rPr lang="en-US" altLang="ko-KR" sz="2000" dirty="0"/>
              <a:t>19.7%,</a:t>
            </a:r>
            <a:r>
              <a:rPr lang="ko-KR" altLang="en-US" sz="2000" dirty="0"/>
              <a:t> 북미 </a:t>
            </a:r>
            <a:r>
              <a:rPr lang="en-US" altLang="ko-KR" sz="2000" dirty="0"/>
              <a:t>16.4%,</a:t>
            </a:r>
            <a:r>
              <a:rPr lang="ko-KR" altLang="en-US" sz="2000" dirty="0"/>
              <a:t> 중남미 </a:t>
            </a:r>
            <a:r>
              <a:rPr lang="en-US" altLang="ko-KR" sz="2000" dirty="0"/>
              <a:t>11.7%</a:t>
            </a:r>
            <a:r>
              <a:rPr lang="ko-KR" altLang="en-US" sz="2000" dirty="0"/>
              <a:t> 순으로 나타남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r>
              <a:rPr lang="ko-KR" altLang="en-US" sz="2000" dirty="0"/>
              <a:t>개별 국가별로는 중국이  전 세계 전력생산에서 차지하는 비중은 </a:t>
            </a:r>
            <a:r>
              <a:rPr lang="en-US" altLang="ko-KR" sz="2000" dirty="0"/>
              <a:t>32.2%,</a:t>
            </a:r>
            <a:r>
              <a:rPr lang="ko-KR" altLang="en-US" sz="2000" dirty="0"/>
              <a:t> 미국 </a:t>
            </a:r>
            <a:r>
              <a:rPr lang="en-US" altLang="ko-KR" sz="2000" dirty="0"/>
              <a:t>10.8%,</a:t>
            </a:r>
            <a:r>
              <a:rPr lang="ko-KR" altLang="en-US" sz="2000" dirty="0"/>
              <a:t> 브라질 </a:t>
            </a:r>
            <a:r>
              <a:rPr lang="en-US" altLang="ko-KR" sz="2000" dirty="0"/>
              <a:t>7.0%,</a:t>
            </a:r>
            <a:r>
              <a:rPr lang="ko-KR" altLang="en-US" sz="2000" dirty="0"/>
              <a:t> 캐나다 </a:t>
            </a:r>
            <a:r>
              <a:rPr lang="en-US" altLang="ko-KR" sz="2000" dirty="0"/>
              <a:t>4.7%,</a:t>
            </a:r>
            <a:r>
              <a:rPr lang="ko-KR" altLang="en-US" sz="2000" dirty="0"/>
              <a:t> 인도 </a:t>
            </a:r>
            <a:r>
              <a:rPr lang="en-US" altLang="ko-KR" sz="2000" dirty="0"/>
              <a:t>4.2%</a:t>
            </a:r>
            <a:r>
              <a:rPr lang="ko-KR" altLang="en-US" sz="2000" dirty="0"/>
              <a:t> 등임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r>
              <a:rPr lang="ko-KR" altLang="en-US" sz="2000" dirty="0"/>
              <a:t>풍력발전량은 중국</a:t>
            </a:r>
            <a:r>
              <a:rPr lang="en-US" altLang="ko-KR" sz="2000" dirty="0"/>
              <a:t>(885.9TWh), </a:t>
            </a:r>
            <a:r>
              <a:rPr lang="ko-KR" altLang="en-US" sz="2000" dirty="0"/>
              <a:t>미국</a:t>
            </a:r>
            <a:r>
              <a:rPr lang="en-US" altLang="ko-KR" sz="2000" dirty="0"/>
              <a:t>(429.5TWh), </a:t>
            </a:r>
            <a:r>
              <a:rPr lang="ko-KR" altLang="en-US" sz="2000" dirty="0"/>
              <a:t>독일</a:t>
            </a:r>
            <a:r>
              <a:rPr lang="en-US" altLang="ko-KR" sz="2000" dirty="0"/>
              <a:t>(141TWh) </a:t>
            </a:r>
            <a:r>
              <a:rPr lang="ko-KR" altLang="en-US" sz="2000" dirty="0"/>
              <a:t>순이며 태양광 발전은 중국</a:t>
            </a:r>
            <a:r>
              <a:rPr lang="en-US" altLang="ko-KR" sz="2000" dirty="0"/>
              <a:t>(584.2TWh), </a:t>
            </a:r>
            <a:r>
              <a:rPr lang="ko-KR" altLang="en-US" sz="2000" dirty="0"/>
              <a:t>미국</a:t>
            </a:r>
            <a:r>
              <a:rPr lang="en-US" altLang="ko-KR" sz="2000" dirty="0"/>
              <a:t>(240TWh), </a:t>
            </a:r>
            <a:r>
              <a:rPr lang="ko-KR" altLang="en-US" sz="2000" dirty="0"/>
              <a:t>인도</a:t>
            </a:r>
            <a:r>
              <a:rPr lang="en-US" altLang="ko-KR" sz="2000" dirty="0"/>
              <a:t>(113.4TWh) </a:t>
            </a:r>
            <a:r>
              <a:rPr lang="ko-KR" altLang="en-US" sz="2000" dirty="0"/>
              <a:t>순이었음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r>
              <a:rPr lang="ko-KR" altLang="en-US" sz="2000" dirty="0"/>
              <a:t>수력발전은 중국</a:t>
            </a:r>
            <a:r>
              <a:rPr lang="en-US" altLang="ko-KR" sz="2000" dirty="0"/>
              <a:t>(1,2260TWh), </a:t>
            </a:r>
            <a:r>
              <a:rPr lang="ko-KR" altLang="en-US" sz="2000" dirty="0"/>
              <a:t>브라질</a:t>
            </a:r>
            <a:r>
              <a:rPr lang="en-US" altLang="ko-KR" sz="2000" dirty="0"/>
              <a:t>(428.7</a:t>
            </a:r>
            <a:r>
              <a:rPr lang="ko-KR" altLang="en-US" sz="2000" dirty="0"/>
              <a:t> </a:t>
            </a:r>
            <a:r>
              <a:rPr lang="en-US" altLang="ko-KR" sz="2000" dirty="0" err="1"/>
              <a:t>TWh</a:t>
            </a:r>
            <a:r>
              <a:rPr lang="en-US" altLang="ko-KR" sz="2000" dirty="0"/>
              <a:t>),</a:t>
            </a:r>
            <a:r>
              <a:rPr lang="ko-KR" altLang="en-US" sz="2000" dirty="0"/>
              <a:t> 캐나다</a:t>
            </a:r>
            <a:r>
              <a:rPr lang="en-US" altLang="ko-KR" sz="2000" dirty="0"/>
              <a:t>(363.2</a:t>
            </a:r>
            <a:r>
              <a:rPr lang="ko-KR" altLang="en-US" sz="2000" dirty="0"/>
              <a:t> </a:t>
            </a:r>
            <a:r>
              <a:rPr lang="en-US" altLang="ko-KR" sz="2000" dirty="0" err="1"/>
              <a:t>TWh</a:t>
            </a:r>
            <a:r>
              <a:rPr lang="en-US" altLang="ko-KR" sz="2000" dirty="0"/>
              <a:t>), </a:t>
            </a:r>
            <a:r>
              <a:rPr lang="ko-KR" altLang="en-US" sz="2000" dirty="0"/>
              <a:t>미국</a:t>
            </a:r>
            <a:r>
              <a:rPr lang="en-US" altLang="ko-KR" sz="2000" dirty="0"/>
              <a:t>(236.3</a:t>
            </a:r>
            <a:r>
              <a:rPr lang="ko-KR" altLang="en-US" sz="2000" dirty="0"/>
              <a:t> </a:t>
            </a:r>
            <a:r>
              <a:rPr lang="en-US" altLang="ko-KR" sz="2000" dirty="0" err="1"/>
              <a:t>TWh</a:t>
            </a:r>
            <a:r>
              <a:rPr lang="en-US" altLang="ko-KR" sz="2000" dirty="0"/>
              <a:t>)</a:t>
            </a:r>
            <a:r>
              <a:rPr lang="ko-KR" altLang="en-US" sz="2000" dirty="0"/>
              <a:t> 순이었음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2452681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200"/>
              <a:t> 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711654" y="765538"/>
          <a:ext cx="10520120" cy="5330535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6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98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442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439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지역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/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endParaRPr sz="1100" b="0" i="0" u="none" strike="noStrike" baseline="0">
                        <a:solidFill>
                          <a:srgbClr val="000000"/>
                        </a:solidFill>
                        <a:latin typeface="함초롬바탕"/>
                        <a:ea typeface="함초롬바탕"/>
                        <a:cs typeface="함초롬바탕"/>
                      </a:endParaRP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풍력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태양광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수력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기타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비중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4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490.1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275.3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620.9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84.8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1,471.1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16.4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8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캐나다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38.9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7.6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364.2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10.4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421.2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34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미국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429.5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240.5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236.3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67.3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973.7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10.8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86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중남미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134.2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82.6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749.9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83.0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1,049.7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11.7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8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브라질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95.5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51.5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428.7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55.8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631.5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34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614.1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294.9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638.7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221.6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1,769.3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19.7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8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프랑스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52.3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22.2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55.5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9.7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139.8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34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독일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142.1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61.2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19.6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49.5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272.4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8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이태리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23.5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31.2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38.9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114.0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8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노르웨이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136.1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150.9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78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스페인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64.2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46.8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25.5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5.4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142.0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78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스웨든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34.3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66.0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114.8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78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튀르키에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34.1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63.9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19.5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137.9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0021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영국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82.0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13.8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34.0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135.0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  <p:sp>
        <p:nvSpPr>
          <p:cNvPr id="16" name="가로 글상자 15"/>
          <p:cNvSpPr txBox="1"/>
          <p:nvPr/>
        </p:nvSpPr>
        <p:spPr>
          <a:xfrm>
            <a:off x="609600" y="403905"/>
            <a:ext cx="5720716" cy="36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9-1]</a:t>
            </a:r>
            <a:r>
              <a:rPr lang="ko-KR" altLang="en-US"/>
              <a:t> 재생에너지에 의한 전력생산</a:t>
            </a:r>
            <a:r>
              <a:rPr lang="en-US" altLang="ko-KR"/>
              <a:t>(2023</a:t>
            </a:r>
            <a:r>
              <a:rPr lang="ko-KR" altLang="en-US"/>
              <a:t>년 기준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TWh)</a:t>
            </a:r>
          </a:p>
        </p:txBody>
      </p:sp>
    </p:spTree>
    <p:extLst>
      <p:ext uri="{BB962C8B-B14F-4D97-AF65-F5344CB8AC3E}">
        <p14:creationId xmlns:p14="http://schemas.microsoft.com/office/powerpoint/2010/main" val="4050450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ko-KR" altLang="en-US" sz="320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0" lvl="0" indent="0">
              <a:buNone/>
              <a:defRPr/>
            </a:pPr>
            <a:r>
              <a:rPr lang="en-US" altLang="ko-KR" sz="2000"/>
              <a:t> 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  <p:sp>
        <p:nvSpPr>
          <p:cNvPr id="16" name="가로 글상자 15"/>
          <p:cNvSpPr txBox="1"/>
          <p:nvPr/>
        </p:nvSpPr>
        <p:spPr>
          <a:xfrm>
            <a:off x="484865" y="358548"/>
            <a:ext cx="58176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dirty="0"/>
              <a:t>[</a:t>
            </a:r>
            <a:r>
              <a:rPr lang="ko-KR" altLang="en-US" dirty="0"/>
              <a:t>표 </a:t>
            </a:r>
            <a:r>
              <a:rPr lang="en-US" altLang="ko-KR" dirty="0"/>
              <a:t>9-1]</a:t>
            </a:r>
            <a:r>
              <a:rPr lang="ko-KR" altLang="en-US" dirty="0"/>
              <a:t> 재생에너지에 의한 전력생산</a:t>
            </a:r>
            <a:r>
              <a:rPr lang="en-US" altLang="ko-KR" dirty="0"/>
              <a:t>(2023</a:t>
            </a:r>
            <a:r>
              <a:rPr lang="ko-KR" altLang="en-US" dirty="0"/>
              <a:t>년 기준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/>
              <a:t>TWh</a:t>
            </a:r>
            <a:r>
              <a:rPr lang="en-US" altLang="ko-KR" dirty="0"/>
              <a:t>)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954768" y="992868"/>
          <a:ext cx="9509121" cy="5164640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3584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2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1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56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59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368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지역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/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</a:t>
                      </a:r>
                    </a:p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endParaRPr sz="1100" b="0" i="0" u="none" strike="noStrike" baseline="0">
                        <a:solidFill>
                          <a:srgbClr val="000000"/>
                        </a:solidFill>
                        <a:latin typeface="함초롬바탕"/>
                        <a:ea typeface="함초롬바탕"/>
                        <a:cs typeface="함초롬바탕"/>
                      </a:endParaRP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풍력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태양광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수력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기타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비중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(%)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3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 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8.8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253.0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269.3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13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러시아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200.9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0.8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209.1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13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35.9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27.6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68.9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0.8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135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27.8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19.2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161.6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9.7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218.4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2.4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13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동아프리카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82.1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95.2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368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1,045.2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927.7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1,788.2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380.6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4,141.7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46.1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13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호주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31.9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45.0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95.2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368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885.9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584.2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1,226.0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198.1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2,894.1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32.2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13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인도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82.1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113.4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149.2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37.3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382.0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4.2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135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일본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97.0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74.5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42.0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223.5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5368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전세계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2,325.3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1,641.6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4,240.0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781.5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8,988.4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5368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 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1,149.4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755.3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1,385.5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385.9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3,676.0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40.9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5368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OECD 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1,175.9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886.3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2,854.5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395.6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5,312.4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856740" algn="l"/>
                        </a:tabLs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59.1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544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6.</a:t>
            </a:r>
            <a:r>
              <a:rPr lang="ko-KR" altLang="en-US" sz="3200"/>
              <a:t> 재생에너지에 의한 전력생산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dirty="0"/>
              <a:t>전 세계 태양광 발전용량은 풍력에 비하여 빠르게 증가하고 있으며 </a:t>
            </a:r>
            <a:r>
              <a:rPr lang="en-US" altLang="ko-KR" sz="2000" dirty="0"/>
              <a:t>2013~2023</a:t>
            </a:r>
            <a:r>
              <a:rPr lang="ko-KR" altLang="en-US" sz="2000" dirty="0"/>
              <a:t>년 사이 연 평균 </a:t>
            </a:r>
            <a:r>
              <a:rPr lang="en-US" altLang="ko-KR" sz="2000" dirty="0"/>
              <a:t>25.9%</a:t>
            </a:r>
            <a:r>
              <a:rPr lang="ko-KR" altLang="en-US" sz="2000" dirty="0"/>
              <a:t>의 성장률을 나타냄</a:t>
            </a:r>
          </a:p>
          <a:p>
            <a:pPr lvl="0">
              <a:defRPr/>
            </a:pPr>
            <a:r>
              <a:rPr lang="ko-KR" altLang="en-US" sz="2000" dirty="0"/>
              <a:t>태양광의 경우 중국의 발전용량 비중은 </a:t>
            </a:r>
            <a:r>
              <a:rPr lang="en-US" altLang="ko-KR" sz="2000" dirty="0"/>
              <a:t>43.0%</a:t>
            </a:r>
            <a:r>
              <a:rPr lang="ko-KR" altLang="en-US" sz="2000" dirty="0"/>
              <a:t>에 달하고 있으며 연평균 증가율도 </a:t>
            </a:r>
            <a:r>
              <a:rPr lang="en-US" altLang="ko-KR" sz="2000" dirty="0"/>
              <a:t>42.4%</a:t>
            </a:r>
            <a:r>
              <a:rPr lang="ko-KR" altLang="en-US" sz="2000" dirty="0"/>
              <a:t>를 나타냄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미국의 비중은 </a:t>
            </a:r>
            <a:r>
              <a:rPr lang="en-US" altLang="ko-KR" sz="2000" dirty="0"/>
              <a:t>9.8%</a:t>
            </a:r>
            <a:r>
              <a:rPr lang="ko-KR" altLang="en-US" sz="2000" dirty="0"/>
              <a:t>이며 연평균 증가율은 </a:t>
            </a:r>
            <a:r>
              <a:rPr lang="en-US" altLang="ko-KR" sz="2000" dirty="0"/>
              <a:t>26.5%</a:t>
            </a:r>
            <a:r>
              <a:rPr lang="ko-KR" altLang="en-US" sz="2000" dirty="0"/>
              <a:t>로 상대적으로 빠르게 증가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0">
              <a:buChar char="•"/>
              <a:defRPr/>
            </a:pPr>
            <a:r>
              <a:rPr lang="ko-KR" altLang="en-US" sz="2000" dirty="0"/>
              <a:t>풍역발전 용량의 경우 중국이 전 세계 발전용량의 </a:t>
            </a:r>
            <a:r>
              <a:rPr lang="en-US" altLang="ko-KR" sz="2000" dirty="0"/>
              <a:t>43.4%</a:t>
            </a:r>
            <a:r>
              <a:rPr lang="ko-KR" altLang="en-US" sz="2000" dirty="0"/>
              <a:t>를</a:t>
            </a:r>
            <a:r>
              <a:rPr lang="en-US" altLang="ko-KR" sz="2000" dirty="0"/>
              <a:t> </a:t>
            </a:r>
            <a:r>
              <a:rPr lang="ko-KR" altLang="en-US" sz="2000" dirty="0"/>
              <a:t>차지하고 있으며 최근 </a:t>
            </a:r>
            <a:r>
              <a:rPr lang="en-US" altLang="ko-KR" sz="2000" dirty="0"/>
              <a:t>10</a:t>
            </a:r>
            <a:r>
              <a:rPr lang="ko-KR" altLang="en-US" sz="2000" dirty="0"/>
              <a:t>년간 연평균 </a:t>
            </a:r>
            <a:r>
              <a:rPr lang="en-US" altLang="ko-KR" sz="2000" dirty="0"/>
              <a:t>19.1%</a:t>
            </a:r>
            <a:r>
              <a:rPr lang="ko-KR" altLang="en-US" sz="2000" dirty="0"/>
              <a:t> 증가하였음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미국</a:t>
            </a:r>
            <a:r>
              <a:rPr lang="en-US" altLang="ko-KR" sz="2000" dirty="0"/>
              <a:t>(14.6%),</a:t>
            </a:r>
            <a:r>
              <a:rPr lang="ko-KR" altLang="en-US" sz="2000" dirty="0"/>
              <a:t> 독일</a:t>
            </a:r>
            <a:r>
              <a:rPr lang="en-US" altLang="ko-KR" sz="2000" dirty="0"/>
              <a:t>(6.8%)</a:t>
            </a:r>
            <a:r>
              <a:rPr lang="ko-KR" altLang="en-US" sz="2000" dirty="0"/>
              <a:t>의 순으로 비중이 높음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689781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 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768348" y="1224870"/>
          <a:ext cx="10292889" cy="507007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778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32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지역</a:t>
                      </a: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/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발전용량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2013-2023 </a:t>
                      </a: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연평균 증가율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04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155,873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11.0%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26.7%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미국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139,205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26.5%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중남미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53,603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61.1%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브라질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37,449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122.8%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299,200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21.1%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독일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81,739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이태리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29,795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스페인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31,016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CIS </a:t>
                      </a: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4,685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104.0%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18,543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40.2%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13,479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34.9%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567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873,586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61.6%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35.8%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104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호주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33,683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22.1%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609,921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43.0%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42.4%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인도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73,109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46.5%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288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일본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87,068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2889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한국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27,046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33.1%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2889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전세계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1,418,969 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25.9%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  <p:sp>
        <p:nvSpPr>
          <p:cNvPr id="16" name="가로 글상자 15"/>
          <p:cNvSpPr txBox="1"/>
          <p:nvPr/>
        </p:nvSpPr>
        <p:spPr>
          <a:xfrm>
            <a:off x="768347" y="846138"/>
            <a:ext cx="6476367" cy="36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9-2]</a:t>
            </a:r>
            <a:r>
              <a:rPr lang="ko-KR" altLang="en-US"/>
              <a:t> 태양광</a:t>
            </a:r>
            <a:r>
              <a:rPr lang="en-US" altLang="ko-KR"/>
              <a:t>&amp;</a:t>
            </a:r>
            <a:r>
              <a:rPr lang="ko-KR" altLang="en-US"/>
              <a:t> 태양열 발전용량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</a:t>
            </a:r>
            <a:r>
              <a:rPr lang="ko-KR" altLang="en-US"/>
              <a:t> 메가와트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2023</a:t>
            </a:r>
            <a:r>
              <a:rPr lang="ko-KR" altLang="en-US"/>
              <a:t>년 기준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6121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marL="0" lvl="0" indent="0">
              <a:buNone/>
              <a:defRPr/>
            </a:pPr>
            <a:r>
              <a:rPr lang="en-US" altLang="ko-KR" sz="2000"/>
              <a:t> 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  <p:sp>
        <p:nvSpPr>
          <p:cNvPr id="17" name="가로 글상자 16"/>
          <p:cNvSpPr txBox="1"/>
          <p:nvPr/>
        </p:nvSpPr>
        <p:spPr>
          <a:xfrm>
            <a:off x="609597" y="441098"/>
            <a:ext cx="5349243" cy="3666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표 </a:t>
            </a:r>
            <a:r>
              <a:rPr lang="en-US" altLang="ko-KR"/>
              <a:t>9-3]</a:t>
            </a:r>
            <a:r>
              <a:rPr lang="ko-KR" altLang="en-US"/>
              <a:t> 풍력 발전용량</a:t>
            </a:r>
            <a:r>
              <a:rPr lang="en-US" altLang="ko-KR"/>
              <a:t>(</a:t>
            </a:r>
            <a:r>
              <a:rPr lang="ko-KR" altLang="en-US"/>
              <a:t>단위</a:t>
            </a:r>
            <a:r>
              <a:rPr lang="en-US" altLang="ko-KR"/>
              <a:t>:</a:t>
            </a:r>
            <a:r>
              <a:rPr lang="ko-KR" altLang="en-US"/>
              <a:t> 메카와트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2023</a:t>
            </a:r>
            <a:r>
              <a:rPr lang="ko-KR" altLang="en-US"/>
              <a:t>년 기준</a:t>
            </a:r>
            <a:r>
              <a:rPr lang="en-US" altLang="ko-KR"/>
              <a:t>)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932088" y="901223"/>
          <a:ext cx="9096372" cy="545702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455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2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0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7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907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지역</a:t>
                      </a: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/</a:t>
                      </a: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국가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발전용량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비중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2013-2023 </a:t>
                      </a:r>
                    </a:p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연평균 증가율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북미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172,327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캐나다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16,989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1.7%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미국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148,020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14.6%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중남미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42,018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28.1%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브라질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29,135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29.5%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유럽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268,708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26.4%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프랑스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22,196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2.2%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독일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69,459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6.8%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7.6%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스페인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31,028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영국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30,215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중동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1,871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31.4%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아프리카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8,654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0.9%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6906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아시아태평양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520,912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51.2%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17.5%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중국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441,895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43.4%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19.1%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 algn="ct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인도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44,736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4.4%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9.3%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156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전세계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0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1,017,199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100.0%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lvl="0" algn="r"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1100" b="1" i="0" u="none" strike="noStrike" baseline="0">
                          <a:solidFill>
                            <a:srgbClr val="000000"/>
                          </a:solidFill>
                          <a:latin typeface="함초롬바탕"/>
                          <a:ea typeface="함초롬바탕"/>
                          <a:cs typeface="함초롬바탕"/>
                        </a:rPr>
                        <a:t>13.0%</a:t>
                      </a:r>
                    </a:p>
                  </a:txBody>
                  <a:tcPr anchor="ctr">
                    <a:lnL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4191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4991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7.</a:t>
            </a:r>
            <a:r>
              <a:rPr lang="ko-KR" altLang="en-US" sz="3200"/>
              <a:t> 정책 도구와 정부의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 fontScale="92500" lnSpcReduction="20000"/>
          </a:bodyPr>
          <a:lstStyle/>
          <a:p>
            <a:pPr lvl="0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재생에너지 확대를 위한 정책도구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재생에너지 확대는 시장 자율에만 맡겨질 경우</a:t>
            </a:r>
            <a:r>
              <a:rPr lang="en-US" altLang="ko-KR" sz="2000" dirty="0"/>
              <a:t>,</a:t>
            </a:r>
            <a:r>
              <a:rPr lang="ko-KR" altLang="en-US" sz="2000" dirty="0"/>
              <a:t> 외부효과의 과소반영</a:t>
            </a:r>
            <a:r>
              <a:rPr lang="en-US" altLang="ko-KR" sz="2000" dirty="0"/>
              <a:t>,</a:t>
            </a:r>
            <a:r>
              <a:rPr lang="ko-KR" altLang="en-US" sz="2000" dirty="0"/>
              <a:t> 초기 비용 부담</a:t>
            </a:r>
            <a:r>
              <a:rPr lang="en-US" altLang="ko-KR" sz="2000" dirty="0"/>
              <a:t>,</a:t>
            </a:r>
            <a:r>
              <a:rPr lang="ko-KR" altLang="en-US" sz="2000" dirty="0"/>
              <a:t> 시장실패 등으로 인해 충분한 공급이 이루어지기 어려움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발전차액지원제도</a:t>
            </a:r>
            <a:r>
              <a:rPr lang="en-US" altLang="ko-KR" sz="2000" dirty="0"/>
              <a:t>(FIT:</a:t>
            </a:r>
            <a:r>
              <a:rPr lang="ko-KR" altLang="en-US" sz="2000" dirty="0"/>
              <a:t> </a:t>
            </a:r>
            <a:r>
              <a:rPr lang="en-US" altLang="ko-KR" sz="2000" dirty="0"/>
              <a:t>Feed-in- Tariff), </a:t>
            </a:r>
            <a:r>
              <a:rPr lang="ko-KR" altLang="en-US" sz="2000" dirty="0"/>
              <a:t>신재생에너지 공급의무제도</a:t>
            </a:r>
            <a:r>
              <a:rPr lang="en-US" altLang="ko-KR" sz="2000" dirty="0"/>
              <a:t>(RPS: Renewable Portfolio Standard), </a:t>
            </a:r>
            <a:r>
              <a:rPr lang="ko-KR" altLang="en-US" sz="2000" dirty="0"/>
              <a:t>탄소세</a:t>
            </a:r>
            <a:r>
              <a:rPr lang="en-US" altLang="ko-KR" sz="2000" dirty="0"/>
              <a:t>(Carbon tax) </a:t>
            </a:r>
            <a:r>
              <a:rPr lang="ko-KR" altLang="en-US" sz="2000" dirty="0"/>
              <a:t>등이 정책 수단으로 사용됨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발전차액지원제도는 일정 기간 동안 재생에너지 발전 사업자에게 시장가격보다 높은 고정가격으로 전력 구매를 보장해주는 제도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투자 안정성과 예측 가능성을 제공하여 초기 시장 형성에 기여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신재생에너지 공급의무제도는 일정 규모 이상의 발전사업자가 전체 발전량 중 일정 비율 이상을 재생에너지로 공급하도록 법령으로 의무화하는 제도임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의무비율은 해마당 상향 조정될 수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재생에너지 공급 증서를 거래하는 방식으로 유연성을 부여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탄소세는 재생에너지에 대한 직접적인 보조 대신</a:t>
            </a:r>
            <a:r>
              <a:rPr lang="en-US" altLang="ko-KR" sz="2000" dirty="0"/>
              <a:t>,</a:t>
            </a:r>
            <a:r>
              <a:rPr lang="ko-KR" altLang="en-US" sz="2000" dirty="0"/>
              <a:t> 화석연료의 상대적 가격을 상승시켜 시장 내에서 재생에너지의 경쟁력을 높이는 간접적 유인 구조를 갖지고 있음</a:t>
            </a: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635709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7.</a:t>
            </a:r>
            <a:r>
              <a:rPr lang="ko-KR" altLang="en-US" sz="3200"/>
              <a:t> 정책 도구와 정부의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 lnSpcReduction="10000"/>
          </a:bodyPr>
          <a:lstStyle/>
          <a:p>
            <a:pPr lvl="0">
              <a:buChar char="•"/>
              <a:tabLst>
                <a:tab pos="306161" algn="l"/>
              </a:tabLst>
              <a:defRPr/>
            </a:pPr>
            <a:r>
              <a:rPr lang="ko-KR" altLang="en-US" sz="2000"/>
              <a:t>정책 실패와 보조금의 효율성 문제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/>
              <a:t>재생에너지 보급을 위한 보조금 정책은 시장실패를 보완하고 기술 혁신과 초기 확산을 촉진하는 유효한 정책 수단이지만</a:t>
            </a:r>
            <a:r>
              <a:rPr lang="en-US" altLang="ko-KR" sz="2000"/>
              <a:t>,</a:t>
            </a:r>
            <a:r>
              <a:rPr lang="ko-KR" altLang="en-US" sz="2000"/>
              <a:t> 그 자체가 정책 실패를 초래할 가능성이 존재</a:t>
            </a:r>
          </a:p>
          <a:p>
            <a:pPr lvl="0">
              <a:buChar char="•"/>
              <a:tabLst>
                <a:tab pos="306161" algn="l"/>
              </a:tabLst>
              <a:defRPr/>
            </a:pPr>
            <a:endParaRPr lang="ko-KR" altLang="en-US" sz="2000"/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/>
              <a:t>보조금의 과잉지급은 시장 가격 신호를 왜곡하고 비효율적인 투자를 유도할 수 있음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/>
              <a:t>발전차액지원제도가 지나치게 높은 고정가격을 보장할 경우</a:t>
            </a:r>
            <a:r>
              <a:rPr lang="en-US" altLang="ko-KR" sz="2000"/>
              <a:t>,</a:t>
            </a:r>
            <a:r>
              <a:rPr lang="ko-KR" altLang="en-US" sz="2000"/>
              <a:t> 단기적으로는 설치가 급증하더라도</a:t>
            </a:r>
            <a:r>
              <a:rPr lang="en-US" altLang="ko-KR" sz="2000"/>
              <a:t>,</a:t>
            </a:r>
            <a:r>
              <a:rPr lang="ko-KR" altLang="en-US" sz="2000"/>
              <a:t> 장기적으로는 과잉설비와 전력망 혼잡</a:t>
            </a:r>
            <a:r>
              <a:rPr lang="en-US" altLang="ko-KR" sz="2000"/>
              <a:t>,</a:t>
            </a:r>
            <a:r>
              <a:rPr lang="ko-KR" altLang="en-US" sz="2000"/>
              <a:t> 보조금 재정 고갈 등의 부작용 초래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endParaRPr lang="ko-KR" altLang="en-US" sz="2000"/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/>
              <a:t>보조금은 기술 간 경쟁을 왜곡하거나 특정 산업에 대한 비효율적 편향을 유발할 수 있음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endParaRPr lang="ko-KR" altLang="en-US" sz="2000"/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/>
              <a:t>보조금의 지속성 및 정책 일관성 부족은 투자자 신뢰를 저하시켜 시장의 불확실성을 증대시킬 수 있음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endParaRPr lang="ko-KR" altLang="en-US" sz="2000"/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/>
              <a:t>보조금이 역진적 효과를 낳을 수도 있음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502862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7.</a:t>
            </a:r>
            <a:r>
              <a:rPr lang="ko-KR" altLang="en-US" sz="3200"/>
              <a:t> 정책 도구와 정부의 역할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buChar char="•"/>
              <a:tabLst>
                <a:tab pos="306161" algn="l"/>
              </a:tabLst>
              <a:defRPr/>
            </a:pPr>
            <a:r>
              <a:rPr lang="ko-KR" altLang="en-US" sz="2000"/>
              <a:t>정책 실패와 보조금의 효율성 문제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/>
              <a:t>보조금 정책은 자체가 목적이 되어서는 안되며</a:t>
            </a:r>
            <a:r>
              <a:rPr lang="en-US" altLang="ko-KR" sz="2000"/>
              <a:t>,</a:t>
            </a:r>
            <a:r>
              <a:rPr lang="ko-KR" altLang="en-US" sz="2000"/>
              <a:t> 시장 경쟁력 확보를 위한 </a:t>
            </a:r>
            <a:r>
              <a:rPr lang="en-US" altLang="ko-KR" sz="2000"/>
              <a:t>‘</a:t>
            </a:r>
            <a:r>
              <a:rPr lang="ko-KR" altLang="en-US" sz="2000"/>
              <a:t>이행 수단</a:t>
            </a:r>
            <a:r>
              <a:rPr lang="en-US" altLang="ko-KR" sz="2000"/>
              <a:t>’</a:t>
            </a:r>
            <a:r>
              <a:rPr lang="ko-KR" altLang="en-US" sz="2000"/>
              <a:t>으로 작동해야함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/>
              <a:t>보조금이 점진적으로 축소되거나 성과 기반으로 전환되도록 설계하는 것이 중요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/>
              <a:t>탄소가격제</a:t>
            </a:r>
            <a:r>
              <a:rPr lang="en-US" altLang="ko-KR" sz="2000"/>
              <a:t>,</a:t>
            </a:r>
            <a:r>
              <a:rPr lang="ko-KR" altLang="en-US" sz="2000"/>
              <a:t> 경쟁입찰제도</a:t>
            </a:r>
            <a:r>
              <a:rPr lang="en-US" altLang="ko-KR" sz="2000"/>
              <a:t>,</a:t>
            </a:r>
            <a:r>
              <a:rPr lang="ko-KR" altLang="en-US" sz="2000"/>
              <a:t> 기술 중립적 인센티브 등과의 병행이 필요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/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629945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8.</a:t>
            </a:r>
            <a:r>
              <a:rPr lang="ko-KR" altLang="en-US" sz="3200"/>
              <a:t> 재생에너지의 미래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재생에너지의 경제적 가능성과 한계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경제적 가능성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재생에너지의 가장 큰 경제적 가능성은 비용 경쟁력임</a:t>
            </a:r>
            <a:r>
              <a:rPr lang="en-US" altLang="ko-KR" sz="2000" dirty="0"/>
              <a:t>.</a:t>
            </a:r>
            <a:r>
              <a:rPr lang="ko-KR" altLang="en-US" sz="2000" dirty="0"/>
              <a:t> 최근 </a:t>
            </a:r>
            <a:r>
              <a:rPr lang="en-US" altLang="ko-KR" sz="2000" dirty="0"/>
              <a:t>10</a:t>
            </a:r>
            <a:r>
              <a:rPr lang="ko-KR" altLang="en-US" sz="2000" dirty="0"/>
              <a:t>년 동안</a:t>
            </a:r>
            <a:r>
              <a:rPr lang="en-US" altLang="ko-KR" sz="2000" dirty="0"/>
              <a:t>,</a:t>
            </a:r>
            <a:r>
              <a:rPr lang="ko-KR" altLang="en-US" sz="2000" dirty="0"/>
              <a:t> 태양광과 풍력의 균등화 발전비용이 급속하게 감소하였으며</a:t>
            </a:r>
            <a:r>
              <a:rPr lang="en-US" altLang="ko-KR" sz="2000" dirty="0"/>
              <a:t>,</a:t>
            </a:r>
            <a:r>
              <a:rPr lang="ko-KR" altLang="en-US" sz="2000" dirty="0"/>
              <a:t> 일부 국가에서는 보조금 없이도 신규 재생에너지 프로젝트의 발전단가가 기존 화석연료 발전보다 낮아지는 </a:t>
            </a:r>
            <a:r>
              <a:rPr lang="en-US" altLang="ko-KR" sz="2000" dirty="0"/>
              <a:t>‘</a:t>
            </a:r>
            <a:r>
              <a:rPr lang="ko-KR" altLang="en-US" sz="2000" dirty="0"/>
              <a:t>그리드패러티</a:t>
            </a:r>
            <a:r>
              <a:rPr lang="en-US" altLang="ko-KR" sz="2000" dirty="0"/>
              <a:t>’</a:t>
            </a:r>
            <a:r>
              <a:rPr lang="ko-KR" altLang="en-US" sz="2000" dirty="0"/>
              <a:t>를 이미 달성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한계비용이 거의 제로에 가까운 발전 구조는 장기적으로 매우 높은 경제성을 제공</a:t>
            </a:r>
            <a:r>
              <a:rPr lang="en-US" altLang="ko-KR" sz="2000" dirty="0"/>
              <a:t>.</a:t>
            </a:r>
            <a:r>
              <a:rPr lang="ko-KR" altLang="en-US" sz="2000" dirty="0"/>
              <a:t> 에너지 안보 측면에서도 유리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재생에너지 산업은 고용 창출과 지역경제 활성화에도 기여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marL="457200" lvl="1" indent="0">
              <a:buNone/>
              <a:tabLst>
                <a:tab pos="306161" algn="l"/>
              </a:tabLst>
              <a:defRPr/>
            </a:pPr>
            <a:endParaRPr lang="ko-KR" altLang="en-US" sz="2000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2170003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8.</a:t>
            </a:r>
            <a:r>
              <a:rPr lang="ko-KR" altLang="en-US" sz="3200"/>
              <a:t> 재생에너지의 미래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재생에너지의 경제적 가능성과 한계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경제적 제약조건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재생에너지의 간헐성과 비제어성은 전력망의 안정성을 위협하고</a:t>
            </a:r>
            <a:r>
              <a:rPr lang="en-US" altLang="ko-KR" sz="2000" dirty="0"/>
              <a:t>,</a:t>
            </a:r>
            <a:r>
              <a:rPr lang="ko-KR" altLang="en-US" sz="2000" dirty="0"/>
              <a:t> 추가적인 예비력</a:t>
            </a:r>
            <a:r>
              <a:rPr lang="en-US" altLang="ko-KR" sz="2000" dirty="0"/>
              <a:t>,</a:t>
            </a:r>
            <a:r>
              <a:rPr lang="ko-KR" altLang="en-US" sz="2000" dirty="0"/>
              <a:t> 저장설비</a:t>
            </a:r>
            <a:r>
              <a:rPr lang="en-US" altLang="ko-KR" sz="2000" dirty="0"/>
              <a:t>,</a:t>
            </a:r>
            <a:r>
              <a:rPr lang="ko-KR" altLang="en-US" sz="2000" dirty="0"/>
              <a:t> 계통 보강 비용 등을 발생시켜 시스템 전체의 총비용을 증가시킴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재생에너지의 입지 제약과 자원 편재성도 경제성을 제한할 수 있음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기술발전과 투자 확대를 위한 정책적 불확실성도 재생에너지의 경제성에 장애 요인이 됨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재생에너지가 에너지 시장에 미치는 가격 왜곡 효과도 경제적 쟁점이 됨</a:t>
            </a:r>
          </a:p>
          <a:p>
            <a:pPr lvl="3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가격 잠식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40729876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8.</a:t>
            </a:r>
            <a:r>
              <a:rPr lang="ko-KR" altLang="en-US" sz="3200"/>
              <a:t> 재생에너지의 미래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224870"/>
            <a:ext cx="10972798" cy="4901293"/>
          </a:xfrm>
        </p:spPr>
        <p:txBody>
          <a:bodyPr>
            <a:normAutofit/>
          </a:bodyPr>
          <a:lstStyle/>
          <a:p>
            <a:pPr lvl="0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분산형 에너지와 지역경제</a:t>
            </a:r>
          </a:p>
          <a:p>
            <a:pPr lvl="1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에너지 시스템이 중앙집중형에서 분산형으로 전환됨에 따라</a:t>
            </a:r>
            <a:r>
              <a:rPr lang="en-US" altLang="ko-KR" sz="2000" dirty="0"/>
              <a:t>,</a:t>
            </a:r>
            <a:r>
              <a:rPr lang="ko-KR" altLang="en-US" sz="2000" dirty="0"/>
              <a:t> 지역 단위의 에너지 생산</a:t>
            </a:r>
            <a:r>
              <a:rPr lang="en-US" altLang="ko-KR" sz="2000" dirty="0"/>
              <a:t>·</a:t>
            </a:r>
            <a:r>
              <a:rPr lang="ko-KR" altLang="en-US" sz="2000" dirty="0"/>
              <a:t>소비</a:t>
            </a:r>
            <a:r>
              <a:rPr lang="en-US" altLang="ko-KR" sz="2000" dirty="0"/>
              <a:t>·</a:t>
            </a:r>
            <a:r>
              <a:rPr lang="ko-KR" altLang="en-US" sz="2000" dirty="0"/>
              <a:t> 관리 모델이 부상하고 있으며</a:t>
            </a:r>
            <a:r>
              <a:rPr lang="en-US" altLang="ko-KR" sz="2000" dirty="0"/>
              <a:t>,</a:t>
            </a:r>
            <a:r>
              <a:rPr lang="ko-KR" altLang="en-US" sz="2000" dirty="0"/>
              <a:t> 이는 단순한 기술 구조의 변화에 그치지 않고 지역경제 활성화와 사회적 구조 전환을 동반하는 변곡점이 되고 있음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분산형 에너지는 지역 내 투자 및 고용 창출 효과를 통해 지역경제를 활성화할 수 있음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분산형 에너지는 에너지 자립도 향상과 외부 의존성 감소를 통해 지역의 구조적 지속가능성을 높임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분산형 에너지 시스템은 시민 참여와 </a:t>
            </a:r>
            <a:r>
              <a:rPr lang="ko-KR" altLang="en-US" sz="2000"/>
              <a:t>지역 거버넌스를 </a:t>
            </a:r>
            <a:r>
              <a:rPr lang="ko-KR" altLang="en-US" sz="2000" dirty="0"/>
              <a:t>확대하는 기반이 됨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2">
              <a:buChar char="•"/>
              <a:tabLst>
                <a:tab pos="306161" algn="l"/>
              </a:tabLst>
              <a:defRPr/>
            </a:pPr>
            <a:r>
              <a:rPr lang="ko-KR" altLang="en-US" sz="2000" dirty="0"/>
              <a:t>분산형 에너지는 지역 맞춤형 에너지 전략과 산업 다각화의 계기를 제공할 수 있음</a:t>
            </a:r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  <a:p>
            <a:pPr lvl="2">
              <a:buChar char="•"/>
              <a:tabLst>
                <a:tab pos="306161" algn="l"/>
              </a:tabLst>
              <a:defRPr/>
            </a:pPr>
            <a:endParaRPr lang="ko-KR" altLang="en-US" sz="2000" dirty="0"/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1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제9장</a:t>
            </a:r>
          </a:p>
        </p:txBody>
      </p:sp>
    </p:spTree>
    <p:extLst>
      <p:ext uri="{BB962C8B-B14F-4D97-AF65-F5344CB8AC3E}">
        <p14:creationId xmlns:p14="http://schemas.microsoft.com/office/powerpoint/2010/main" val="3658305123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3691</Words>
  <Application>Microsoft Office PowerPoint</Application>
  <PresentationFormat>와이드스크린</PresentationFormat>
  <Paragraphs>659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0" baseType="lpstr">
      <vt:lpstr>나눔스퀘어 네오 OTF Heavy</vt:lpstr>
      <vt:lpstr>맑은 고딕</vt:lpstr>
      <vt:lpstr>함초롬바탕</vt:lpstr>
      <vt:lpstr>Arial</vt:lpstr>
      <vt:lpstr>Calibri</vt:lpstr>
      <vt:lpstr>한컴오피스</vt:lpstr>
      <vt:lpstr>PowerPoint 프레젠테이션</vt:lpstr>
      <vt:lpstr>제9장  재생에너지</vt:lpstr>
      <vt:lpstr>1. 서론</vt:lpstr>
      <vt:lpstr>1. 서론</vt:lpstr>
      <vt:lpstr>1. 서론</vt:lpstr>
      <vt:lpstr>2. 주요 재생에너지의 종류와 특징</vt:lpstr>
      <vt:lpstr>2. 주요 재생에너지의 종류와 특징</vt:lpstr>
      <vt:lpstr>2. 주요 재생에너지의 종류와 특징</vt:lpstr>
      <vt:lpstr>2. 주요 재생에너지의 종류와 특징</vt:lpstr>
      <vt:lpstr>2. 주요 재생에너지의 종류와 특징</vt:lpstr>
      <vt:lpstr>3. 재생에너지의 경제적 특성</vt:lpstr>
      <vt:lpstr>3. 재생에너지의 경제적 특성</vt:lpstr>
      <vt:lpstr>3. 재생에너지의 경제적 특성</vt:lpstr>
      <vt:lpstr>3. 재생에너지의 경제적 특성</vt:lpstr>
      <vt:lpstr>4. 재생에너지의  비용추이와 경쟁력</vt:lpstr>
      <vt:lpstr>4. 재생에너지의  비용추이와 경쟁력</vt:lpstr>
      <vt:lpstr>4. 재생에너지의  비용추이와 경쟁력</vt:lpstr>
      <vt:lpstr>5. 시장 통합과 전력 시스템 내 재생에너지의 역할</vt:lpstr>
      <vt:lpstr>5. 시장 통합과 전력 시스템 내 재생에너지의 역할</vt:lpstr>
      <vt:lpstr>5. 시장 통합과 전력 시스템 내 재생에너지의 역할</vt:lpstr>
      <vt:lpstr>5. 시장 통합과 전력 시스템 내 재생에너지의 역할</vt:lpstr>
      <vt:lpstr>5. 시장 통합과 전력 시스템 내 재생에너지의 역할</vt:lpstr>
      <vt:lpstr>6. 재생에너지에 의한 전력생산</vt:lpstr>
      <vt:lpstr> </vt:lpstr>
      <vt:lpstr> </vt:lpstr>
      <vt:lpstr>6. 재생에너지에 의한 전력생산</vt:lpstr>
      <vt:lpstr> </vt:lpstr>
      <vt:lpstr>PowerPoint 프레젠테이션</vt:lpstr>
      <vt:lpstr>7. 정책 도구와 정부의 역할</vt:lpstr>
      <vt:lpstr>7. 정책 도구와 정부의 역할</vt:lpstr>
      <vt:lpstr>7. 정책 도구와 정부의 역할</vt:lpstr>
      <vt:lpstr>8. 재생에너지의 미래</vt:lpstr>
      <vt:lpstr>8. 재생에너지의 미래</vt:lpstr>
      <vt:lpstr>8. 재생에너지의 미래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제3장 에너지 시장의 수요와 공급</dc:title>
  <dc:creator>admin</dc:creator>
  <cp:lastModifiedBy>장 규식</cp:lastModifiedBy>
  <cp:revision>691</cp:revision>
  <dcterms:created xsi:type="dcterms:W3CDTF">2026-01-09T02:29:36Z</dcterms:created>
  <dcterms:modified xsi:type="dcterms:W3CDTF">2026-02-25T21:45:40Z</dcterms:modified>
  <cp:version>13.0.0.2760</cp:version>
</cp:coreProperties>
</file>