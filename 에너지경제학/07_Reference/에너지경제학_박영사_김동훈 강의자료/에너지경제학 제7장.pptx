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78" r:id="rId2"/>
    <p:sldId id="257" r:id="rId3"/>
    <p:sldId id="258" r:id="rId4"/>
    <p:sldId id="337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4" r:id="rId27"/>
    <p:sldId id="405" r:id="rId28"/>
    <p:sldId id="406" r:id="rId29"/>
    <p:sldId id="408" r:id="rId30"/>
    <p:sldId id="410" r:id="rId31"/>
    <p:sldId id="411" r:id="rId32"/>
    <p:sldId id="412" r:id="rId33"/>
    <p:sldId id="413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38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39" d="100"/>
          <a:sy n="139" d="100"/>
        </p:scale>
        <p:origin x="1332" y="126"/>
      </p:cViewPr>
      <p:guideLst>
        <p:guide orient="horz" pos="2153"/>
        <p:guide pos="3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7934E6F6-F136-470C-B1A0-9804A9E8FC2C}"/>
    <pc:docChg chg="custSel delSld modSld">
      <pc:chgData name="donghun kim" userId="ea4930dfa3cfe607" providerId="LiveId" clId="{7934E6F6-F136-470C-B1A0-9804A9E8FC2C}" dt="2026-02-23T07:13:17.810" v="207" actId="20577"/>
      <pc:docMkLst>
        <pc:docMk/>
      </pc:docMkLst>
      <pc:sldChg chg="modSp mod">
        <pc:chgData name="donghun kim" userId="ea4930dfa3cfe607" providerId="LiveId" clId="{7934E6F6-F136-470C-B1A0-9804A9E8FC2C}" dt="2026-02-23T06:07:23.251" v="2" actId="14100"/>
        <pc:sldMkLst>
          <pc:docMk/>
          <pc:sldMk cId="594673986" sldId="257"/>
        </pc:sldMkLst>
        <pc:picChg chg="mod">
          <ac:chgData name="donghun kim" userId="ea4930dfa3cfe607" providerId="LiveId" clId="{7934E6F6-F136-470C-B1A0-9804A9E8FC2C}" dt="2026-02-23T06:07:23.251" v="2" actId="14100"/>
          <ac:picMkLst>
            <pc:docMk/>
            <pc:sldMk cId="594673986" sldId="257"/>
            <ac:picMk id="5" creationId="{00000000-0000-0000-0000-000000000000}"/>
          </ac:picMkLst>
        </pc:picChg>
      </pc:sldChg>
      <pc:sldChg chg="modSp mod">
        <pc:chgData name="donghun kim" userId="ea4930dfa3cfe607" providerId="LiveId" clId="{7934E6F6-F136-470C-B1A0-9804A9E8FC2C}" dt="2026-02-23T06:42:12.469" v="13" actId="6549"/>
        <pc:sldMkLst>
          <pc:docMk/>
          <pc:sldMk cId="577451710" sldId="258"/>
        </pc:sldMkLst>
        <pc:spChg chg="mod">
          <ac:chgData name="donghun kim" userId="ea4930dfa3cfe607" providerId="LiveId" clId="{7934E6F6-F136-470C-B1A0-9804A9E8FC2C}" dt="2026-02-23T06:42:12.469" v="13" actId="6549"/>
          <ac:spMkLst>
            <pc:docMk/>
            <pc:sldMk cId="577451710" sldId="258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654" v="34" actId="27636"/>
        <pc:sldMkLst>
          <pc:docMk/>
          <pc:sldMk cId="2960723354" sldId="379"/>
        </pc:sldMkLst>
        <pc:spChg chg="mod">
          <ac:chgData name="donghun kim" userId="ea4930dfa3cfe607" providerId="LiveId" clId="{7934E6F6-F136-470C-B1A0-9804A9E8FC2C}" dt="2026-02-23T06:45:32.654" v="34" actId="27636"/>
          <ac:spMkLst>
            <pc:docMk/>
            <pc:sldMk cId="2960723354" sldId="379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4.411" v="39" actId="6549"/>
        <pc:sldMkLst>
          <pc:docMk/>
          <pc:sldMk cId="4105834477" sldId="380"/>
        </pc:sldMkLst>
        <pc:spChg chg="mod">
          <ac:chgData name="donghun kim" userId="ea4930dfa3cfe607" providerId="LiveId" clId="{7934E6F6-F136-470C-B1A0-9804A9E8FC2C}" dt="2026-02-23T06:45:34.411" v="39" actId="6549"/>
          <ac:spMkLst>
            <pc:docMk/>
            <pc:sldMk cId="4105834477" sldId="380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7:24.398" v="66" actId="20577"/>
        <pc:sldMkLst>
          <pc:docMk/>
          <pc:sldMk cId="3339031470" sldId="381"/>
        </pc:sldMkLst>
        <pc:spChg chg="mod">
          <ac:chgData name="donghun kim" userId="ea4930dfa3cfe607" providerId="LiveId" clId="{7934E6F6-F136-470C-B1A0-9804A9E8FC2C}" dt="2026-02-23T06:47:24.398" v="66" actId="20577"/>
          <ac:spMkLst>
            <pc:docMk/>
            <pc:sldMk cId="3339031470" sldId="381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289" v="21" actId="27636"/>
        <pc:sldMkLst>
          <pc:docMk/>
          <pc:sldMk cId="2191539568" sldId="382"/>
        </pc:sldMkLst>
        <pc:spChg chg="mod">
          <ac:chgData name="donghun kim" userId="ea4930dfa3cfe607" providerId="LiveId" clId="{7934E6F6-F136-470C-B1A0-9804A9E8FC2C}" dt="2026-02-23T06:45:32.289" v="21" actId="27636"/>
          <ac:spMkLst>
            <pc:docMk/>
            <pc:sldMk cId="2191539568" sldId="382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9:50.320" v="86" actId="6549"/>
        <pc:sldMkLst>
          <pc:docMk/>
          <pc:sldMk cId="1859502052" sldId="383"/>
        </pc:sldMkLst>
        <pc:spChg chg="mod">
          <ac:chgData name="donghun kim" userId="ea4930dfa3cfe607" providerId="LiveId" clId="{7934E6F6-F136-470C-B1A0-9804A9E8FC2C}" dt="2026-02-23T06:49:50.320" v="86" actId="6549"/>
          <ac:spMkLst>
            <pc:docMk/>
            <pc:sldMk cId="1859502052" sldId="383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52:40.376" v="98" actId="6549"/>
        <pc:sldMkLst>
          <pc:docMk/>
          <pc:sldMk cId="936232982" sldId="384"/>
        </pc:sldMkLst>
        <pc:spChg chg="mod">
          <ac:chgData name="donghun kim" userId="ea4930dfa3cfe607" providerId="LiveId" clId="{7934E6F6-F136-470C-B1A0-9804A9E8FC2C}" dt="2026-02-23T06:52:40.376" v="98" actId="6549"/>
          <ac:spMkLst>
            <pc:docMk/>
            <pc:sldMk cId="936232982" sldId="384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338" v="23" actId="27636"/>
        <pc:sldMkLst>
          <pc:docMk/>
          <pc:sldMk cId="1928770363" sldId="385"/>
        </pc:sldMkLst>
        <pc:spChg chg="mod">
          <ac:chgData name="donghun kim" userId="ea4930dfa3cfe607" providerId="LiveId" clId="{7934E6F6-F136-470C-B1A0-9804A9E8FC2C}" dt="2026-02-23T06:45:32.338" v="23" actId="27636"/>
          <ac:spMkLst>
            <pc:docMk/>
            <pc:sldMk cId="1928770363" sldId="385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55:02.709" v="129" actId="6549"/>
        <pc:sldMkLst>
          <pc:docMk/>
          <pc:sldMk cId="2310298285" sldId="386"/>
        </pc:sldMkLst>
        <pc:spChg chg="mod">
          <ac:chgData name="donghun kim" userId="ea4930dfa3cfe607" providerId="LiveId" clId="{7934E6F6-F136-470C-B1A0-9804A9E8FC2C}" dt="2026-02-23T06:55:02.709" v="129" actId="6549"/>
          <ac:spMkLst>
            <pc:docMk/>
            <pc:sldMk cId="2310298285" sldId="386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56:42.242" v="154" actId="6549"/>
        <pc:sldMkLst>
          <pc:docMk/>
          <pc:sldMk cId="63005376" sldId="387"/>
        </pc:sldMkLst>
        <pc:spChg chg="mod">
          <ac:chgData name="donghun kim" userId="ea4930dfa3cfe607" providerId="LiveId" clId="{7934E6F6-F136-470C-B1A0-9804A9E8FC2C}" dt="2026-02-23T06:56:42.242" v="154" actId="6549"/>
          <ac:spMkLst>
            <pc:docMk/>
            <pc:sldMk cId="63005376" sldId="387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57:42.611" v="159" actId="6549"/>
        <pc:sldMkLst>
          <pc:docMk/>
          <pc:sldMk cId="877583433" sldId="388"/>
        </pc:sldMkLst>
        <pc:spChg chg="mod">
          <ac:chgData name="donghun kim" userId="ea4930dfa3cfe607" providerId="LiveId" clId="{7934E6F6-F136-470C-B1A0-9804A9E8FC2C}" dt="2026-02-23T06:57:42.611" v="159" actId="6549"/>
          <ac:spMkLst>
            <pc:docMk/>
            <pc:sldMk cId="877583433" sldId="388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7:01:42.099" v="168" actId="6549"/>
        <pc:sldMkLst>
          <pc:docMk/>
          <pc:sldMk cId="547153818" sldId="390"/>
        </pc:sldMkLst>
        <pc:spChg chg="mod">
          <ac:chgData name="donghun kim" userId="ea4930dfa3cfe607" providerId="LiveId" clId="{7934E6F6-F136-470C-B1A0-9804A9E8FC2C}" dt="2026-02-23T07:01:42.099" v="168" actId="6549"/>
          <ac:spMkLst>
            <pc:docMk/>
            <pc:sldMk cId="547153818" sldId="390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7:02:35.428" v="189" actId="20577"/>
        <pc:sldMkLst>
          <pc:docMk/>
          <pc:sldMk cId="3567644177" sldId="391"/>
        </pc:sldMkLst>
        <pc:spChg chg="mod">
          <ac:chgData name="donghun kim" userId="ea4930dfa3cfe607" providerId="LiveId" clId="{7934E6F6-F136-470C-B1A0-9804A9E8FC2C}" dt="2026-02-23T07:02:35.428" v="189" actId="20577"/>
          <ac:spMkLst>
            <pc:docMk/>
            <pc:sldMk cId="3567644177" sldId="391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7:03:39.879" v="193" actId="6549"/>
        <pc:sldMkLst>
          <pc:docMk/>
          <pc:sldMk cId="1583841373" sldId="392"/>
        </pc:sldMkLst>
        <pc:spChg chg="mod">
          <ac:chgData name="donghun kim" userId="ea4930dfa3cfe607" providerId="LiveId" clId="{7934E6F6-F136-470C-B1A0-9804A9E8FC2C}" dt="2026-02-23T07:03:39.879" v="193" actId="6549"/>
          <ac:spMkLst>
            <pc:docMk/>
            <pc:sldMk cId="1583841373" sldId="392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470" v="27" actId="27636"/>
        <pc:sldMkLst>
          <pc:docMk/>
          <pc:sldMk cId="2674189962" sldId="394"/>
        </pc:sldMkLst>
        <pc:spChg chg="mod">
          <ac:chgData name="donghun kim" userId="ea4930dfa3cfe607" providerId="LiveId" clId="{7934E6F6-F136-470C-B1A0-9804A9E8FC2C}" dt="2026-02-23T06:45:32.470" v="27" actId="27636"/>
          <ac:spMkLst>
            <pc:docMk/>
            <pc:sldMk cId="2674189962" sldId="394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527" v="28" actId="27636"/>
        <pc:sldMkLst>
          <pc:docMk/>
          <pc:sldMk cId="3879343119" sldId="398"/>
        </pc:sldMkLst>
        <pc:spChg chg="mod">
          <ac:chgData name="donghun kim" userId="ea4930dfa3cfe607" providerId="LiveId" clId="{7934E6F6-F136-470C-B1A0-9804A9E8FC2C}" dt="2026-02-23T06:45:32.527" v="28" actId="27636"/>
          <ac:spMkLst>
            <pc:docMk/>
            <pc:sldMk cId="3879343119" sldId="398"/>
            <ac:spMk id="3" creationId="{00000000-0000-0000-0000-000000000000}"/>
          </ac:spMkLst>
        </pc:spChg>
      </pc:sldChg>
      <pc:sldChg chg="modSp del mod">
        <pc:chgData name="donghun kim" userId="ea4930dfa3cfe607" providerId="LiveId" clId="{7934E6F6-F136-470C-B1A0-9804A9E8FC2C}" dt="2026-02-23T07:08:16.654" v="194" actId="47"/>
        <pc:sldMkLst>
          <pc:docMk/>
          <pc:sldMk cId="1229713866" sldId="402"/>
        </pc:sldMkLst>
        <pc:spChg chg="mod">
          <ac:chgData name="donghun kim" userId="ea4930dfa3cfe607" providerId="LiveId" clId="{7934E6F6-F136-470C-B1A0-9804A9E8FC2C}" dt="2026-02-23T06:45:32.565" v="29" actId="27636"/>
          <ac:spMkLst>
            <pc:docMk/>
            <pc:sldMk cId="1229713866" sldId="402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7:08:49.476" v="199" actId="6549"/>
        <pc:sldMkLst>
          <pc:docMk/>
          <pc:sldMk cId="178037360" sldId="404"/>
        </pc:sldMkLst>
        <pc:spChg chg="mod">
          <ac:chgData name="donghun kim" userId="ea4930dfa3cfe607" providerId="LiveId" clId="{7934E6F6-F136-470C-B1A0-9804A9E8FC2C}" dt="2026-02-23T07:08:49.476" v="199" actId="6549"/>
          <ac:spMkLst>
            <pc:docMk/>
            <pc:sldMk cId="178037360" sldId="404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587" v="31" actId="27636"/>
        <pc:sldMkLst>
          <pc:docMk/>
          <pc:sldMk cId="765648074" sldId="408"/>
        </pc:sldMkLst>
        <pc:spChg chg="mod">
          <ac:chgData name="donghun kim" userId="ea4930dfa3cfe607" providerId="LiveId" clId="{7934E6F6-F136-470C-B1A0-9804A9E8FC2C}" dt="2026-02-23T06:45:32.587" v="31" actId="27636"/>
          <ac:spMkLst>
            <pc:docMk/>
            <pc:sldMk cId="765648074" sldId="408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7:10:06.559" v="204" actId="6549"/>
        <pc:sldMkLst>
          <pc:docMk/>
          <pc:sldMk cId="3444259686" sldId="410"/>
        </pc:sldMkLst>
        <pc:spChg chg="mod">
          <ac:chgData name="donghun kim" userId="ea4930dfa3cfe607" providerId="LiveId" clId="{7934E6F6-F136-470C-B1A0-9804A9E8FC2C}" dt="2026-02-23T07:10:06.559" v="204" actId="6549"/>
          <ac:spMkLst>
            <pc:docMk/>
            <pc:sldMk cId="3444259686" sldId="410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607" v="32" actId="27636"/>
        <pc:sldMkLst>
          <pc:docMk/>
          <pc:sldMk cId="2120906566" sldId="411"/>
        </pc:sldMkLst>
        <pc:spChg chg="mod">
          <ac:chgData name="donghun kim" userId="ea4930dfa3cfe607" providerId="LiveId" clId="{7934E6F6-F136-470C-B1A0-9804A9E8FC2C}" dt="2026-02-23T06:45:32.607" v="32" actId="27636"/>
          <ac:spMkLst>
            <pc:docMk/>
            <pc:sldMk cId="2120906566" sldId="411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7:13:17.810" v="207" actId="20577"/>
        <pc:sldMkLst>
          <pc:docMk/>
          <pc:sldMk cId="1202547063" sldId="412"/>
        </pc:sldMkLst>
        <pc:spChg chg="mod">
          <ac:chgData name="donghun kim" userId="ea4930dfa3cfe607" providerId="LiveId" clId="{7934E6F6-F136-470C-B1A0-9804A9E8FC2C}" dt="2026-02-23T07:13:17.810" v="207" actId="20577"/>
          <ac:spMkLst>
            <pc:docMk/>
            <pc:sldMk cId="1202547063" sldId="412"/>
            <ac:spMk id="3" creationId="{00000000-0000-0000-0000-000000000000}"/>
          </ac:spMkLst>
        </pc:spChg>
      </pc:sldChg>
      <pc:sldChg chg="modSp mod">
        <pc:chgData name="donghun kim" userId="ea4930dfa3cfe607" providerId="LiveId" clId="{7934E6F6-F136-470C-B1A0-9804A9E8FC2C}" dt="2026-02-23T06:45:32.627" v="33" actId="27636"/>
        <pc:sldMkLst>
          <pc:docMk/>
          <pc:sldMk cId="3767849287" sldId="413"/>
        </pc:sldMkLst>
        <pc:spChg chg="mod">
          <ac:chgData name="donghun kim" userId="ea4930dfa3cfe607" providerId="LiveId" clId="{7934E6F6-F136-470C-B1A0-9804A9E8FC2C}" dt="2026-02-23T06:45:32.627" v="33" actId="27636"/>
          <ac:spMkLst>
            <pc:docMk/>
            <pc:sldMk cId="3767849287" sldId="41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75336"/>
            <a:ext cx="11830050" cy="632444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>
                <a:solidFill>
                  <a:srgbClr val="FFFFFF"/>
                </a:solidFill>
                <a:ea typeface="맑은 고딕"/>
              </a:rPr>
              <a:t>7</a:t>
            </a:r>
            <a:r>
              <a:rPr lang="ko-KR" altLang="en-US" sz="5200">
                <a:solidFill>
                  <a:srgbClr val="FFFFFF"/>
                </a:solidFill>
                <a:ea typeface="맑은 고딕"/>
              </a:rPr>
              <a:t>장 석탄 시장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3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석탄 산업은 수세기 동안 산업화의 견인차로서  글로벌 에너지 체계의 형성과 진화에 중대한 역할을 수행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18</a:t>
            </a:r>
            <a:r>
              <a:rPr lang="ko-KR" altLang="en-US" sz="2000" dirty="0"/>
              <a:t>세기 산업혁명 기간 중 석탄은 증기기관의 주된 연료로 사용되며 면직업</a:t>
            </a:r>
            <a:r>
              <a:rPr lang="en-US" altLang="ko-KR" sz="2000" dirty="0"/>
              <a:t>,</a:t>
            </a:r>
            <a:r>
              <a:rPr lang="ko-KR" altLang="en-US" sz="2000" dirty="0"/>
              <a:t> 제철업</a:t>
            </a:r>
            <a:r>
              <a:rPr lang="en-US" altLang="ko-KR" sz="2000" dirty="0"/>
              <a:t>,</a:t>
            </a:r>
            <a:r>
              <a:rPr lang="ko-KR" altLang="en-US" sz="2000" dirty="0"/>
              <a:t> 철도 운송 등 기계화된 산업 부문의 비약적 성장을 가능케 함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19</a:t>
            </a:r>
            <a:r>
              <a:rPr lang="ko-KR" altLang="en-US" sz="2000" dirty="0"/>
              <a:t>세기 초반부터 </a:t>
            </a:r>
            <a:r>
              <a:rPr lang="en-US" altLang="ko-KR" sz="2000" dirty="0"/>
              <a:t>20</a:t>
            </a:r>
            <a:r>
              <a:rPr lang="ko-KR" altLang="en-US" sz="2000" dirty="0"/>
              <a:t>세기 초반까지 가정용 난방</a:t>
            </a:r>
            <a:r>
              <a:rPr lang="en-US" altLang="ko-KR" sz="2000" dirty="0"/>
              <a:t>,</a:t>
            </a:r>
            <a:r>
              <a:rPr lang="ko-KR" altLang="en-US" sz="2000" dirty="0"/>
              <a:t> 공장동력</a:t>
            </a:r>
            <a:r>
              <a:rPr lang="en-US" altLang="ko-KR" sz="2000" dirty="0"/>
              <a:t>,</a:t>
            </a:r>
            <a:r>
              <a:rPr lang="ko-KR" altLang="en-US" sz="2000" dirty="0"/>
              <a:t> 전력생산 등 광범위한 부문에서 주요 </a:t>
            </a:r>
            <a:r>
              <a:rPr lang="en-US" altLang="ko-KR" sz="2000" dirty="0"/>
              <a:t>1</a:t>
            </a:r>
            <a:r>
              <a:rPr lang="ko-KR" altLang="en-US" sz="2000" dirty="0"/>
              <a:t>차 에너지원으로 기능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</a:t>
            </a:r>
            <a:r>
              <a:rPr lang="ko-KR" altLang="en-US" sz="2000" dirty="0"/>
              <a:t>세기 중반 이후 석유 및 천연가스와 같은 보다 높은 에너지 밀도와 유연성을 지닌 에너지원의 등장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원자력의 도입은 석탄의 상대적 위상을 약화시킴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석탄은 여전히 세계 에너지 믹스의 </a:t>
            </a:r>
            <a:r>
              <a:rPr lang="en-US" altLang="ko-KR" sz="2000" dirty="0"/>
              <a:t>25~30%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차지하는 주요 자원으로 남아있으며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개발도상국에서는 에너지 안보 확보와 경제성 측면에서 여전히 전략적인 에너지원으로 활용되고 있음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현대의 석탄시장은 공급망 리스크</a:t>
            </a:r>
            <a:r>
              <a:rPr lang="en-US" altLang="ko-KR" sz="2000" dirty="0"/>
              <a:t>,</a:t>
            </a:r>
            <a:r>
              <a:rPr lang="ko-KR" altLang="en-US" sz="2000" dirty="0"/>
              <a:t> 지정학적 변수</a:t>
            </a:r>
            <a:r>
              <a:rPr lang="en-US" altLang="ko-KR" sz="2000" dirty="0"/>
              <a:t>,</a:t>
            </a:r>
            <a:r>
              <a:rPr lang="ko-KR" altLang="en-US" sz="2000" dirty="0"/>
              <a:t> 탈석탄 정책과의 충돌</a:t>
            </a:r>
            <a:r>
              <a:rPr lang="en-US" altLang="ko-KR" sz="2000" dirty="0"/>
              <a:t>,</a:t>
            </a:r>
            <a:r>
              <a:rPr lang="ko-KR" altLang="en-US" sz="2000" dirty="0"/>
              <a:t> 청정기술 도입</a:t>
            </a:r>
            <a:r>
              <a:rPr lang="en-US" altLang="ko-KR" sz="2000" dirty="0"/>
              <a:t>,</a:t>
            </a:r>
            <a:r>
              <a:rPr lang="ko-KR" altLang="en-US" sz="2000" dirty="0"/>
              <a:t> 국제 금융의 탈석탄화 흐름 등 복합적인 요소가 작용하는 불확실성과 전환의 장으로 특징지어짐</a:t>
            </a:r>
            <a:endParaRPr lang="ko-KR" altLang="en-US" sz="2200" dirty="0"/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석탄 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석탄이 산업적으로 광범위하게 사용되기 시작한 것은 </a:t>
            </a:r>
            <a:r>
              <a:rPr lang="en-US" altLang="ko-KR" sz="2000" dirty="0"/>
              <a:t>13</a:t>
            </a:r>
            <a:r>
              <a:rPr lang="ko-KR" altLang="en-US" sz="2000" dirty="0"/>
              <a:t>세기경 영국에서였으며</a:t>
            </a:r>
            <a:r>
              <a:rPr lang="en-US" altLang="ko-KR" sz="2000" dirty="0"/>
              <a:t>,</a:t>
            </a:r>
            <a:r>
              <a:rPr lang="ko-KR" altLang="en-US" sz="2000" dirty="0"/>
              <a:t> 당시에는 난방과 대장장이업에서 주로 사용됨</a:t>
            </a:r>
          </a:p>
          <a:p>
            <a:pPr marL="342750" lvl="0" indent="-285600">
              <a:buChar char="•"/>
              <a:defRPr/>
            </a:pPr>
            <a:endParaRPr lang="en-US" altLang="ko-KR" sz="2000" dirty="0"/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16</a:t>
            </a:r>
            <a:r>
              <a:rPr lang="ko-KR" altLang="en-US" sz="2000" dirty="0"/>
              <a:t>세기 말부터 </a:t>
            </a:r>
            <a:r>
              <a:rPr lang="en-US" altLang="ko-KR" sz="2000" dirty="0"/>
              <a:t>17</a:t>
            </a:r>
            <a:r>
              <a:rPr lang="ko-KR" altLang="en-US" sz="2000" dirty="0"/>
              <a:t>세기 초에 이르러 인구 증가와 수공업의 확대에 따라 에너지 수요가 급증하면서</a:t>
            </a:r>
            <a:r>
              <a:rPr lang="en-US" altLang="ko-KR" sz="2000" dirty="0"/>
              <a:t>,</a:t>
            </a:r>
            <a:r>
              <a:rPr lang="ko-KR" altLang="en-US" sz="2000" dirty="0"/>
              <a:t> 석탄 채굴이 점차 산업화되기 시작함</a:t>
            </a:r>
          </a:p>
          <a:p>
            <a:pPr marL="742800" lvl="1" indent="-285600">
              <a:buChar char="•"/>
              <a:defRPr/>
            </a:pPr>
            <a:r>
              <a:rPr lang="en-US" altLang="ko-KR" sz="2000" dirty="0"/>
              <a:t>17</a:t>
            </a:r>
            <a:r>
              <a:rPr lang="ko-KR" altLang="en-US" sz="2000" dirty="0"/>
              <a:t>세기 말까지 영국에서는 탄광이 경제의 핵심 부문으로 성장하게 되었으며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석탄은 목재의 대체재로서 중요한 역할을 하기 시작함</a:t>
            </a:r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18</a:t>
            </a:r>
            <a:r>
              <a:rPr lang="ko-KR" altLang="en-US" sz="2000" dirty="0"/>
              <a:t>세기 말 산업혁명의 도래는 석탄의 역사에 결정적인 전환점을 이룸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새로운 기술과 기계의 출현으로 에너지 수요가 급격히 증가하자</a:t>
            </a:r>
            <a:r>
              <a:rPr lang="en-US" altLang="ko-KR" sz="2000" dirty="0"/>
              <a:t>,</a:t>
            </a:r>
            <a:r>
              <a:rPr lang="ko-KR" altLang="en-US" sz="2000" dirty="0"/>
              <a:t> 목재 및 숯을 대체하는 에너지원이 되었고</a:t>
            </a:r>
            <a:r>
              <a:rPr lang="en-US" altLang="ko-KR" sz="2000" dirty="0"/>
              <a:t>,</a:t>
            </a:r>
            <a:r>
              <a:rPr lang="ko-KR" altLang="en-US" sz="2000" dirty="0"/>
              <a:t> 증기기관의 동력원으로서 섬유</a:t>
            </a:r>
            <a:r>
              <a:rPr lang="en-US" altLang="ko-KR" sz="2000" dirty="0"/>
              <a:t>,</a:t>
            </a:r>
            <a:r>
              <a:rPr lang="ko-KR" altLang="en-US" sz="2000" dirty="0"/>
              <a:t> 철도</a:t>
            </a:r>
            <a:r>
              <a:rPr lang="en-US" altLang="ko-KR" sz="2000" dirty="0"/>
              <a:t>,</a:t>
            </a:r>
            <a:r>
              <a:rPr lang="ko-KR" altLang="en-US" sz="2000" dirty="0"/>
              <a:t> 강철 산업 등의 기반이 됨</a:t>
            </a:r>
            <a:endParaRPr lang="en-US" altLang="ko-KR" sz="2000" dirty="0"/>
          </a:p>
          <a:p>
            <a:pPr marL="742800" lvl="1" indent="-285600">
              <a:buChar char="•"/>
              <a:defRPr/>
            </a:pPr>
            <a:endParaRPr lang="en-US" altLang="ko-KR" sz="2000" dirty="0"/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19</a:t>
            </a:r>
            <a:r>
              <a:rPr lang="ko-KR" altLang="en-US" sz="2000" dirty="0"/>
              <a:t>세기 내내 석탄은 영국 경제의 중심이 되었고</a:t>
            </a:r>
            <a:r>
              <a:rPr lang="en-US" altLang="ko-KR" sz="2000" dirty="0"/>
              <a:t>,</a:t>
            </a:r>
            <a:r>
              <a:rPr lang="ko-KR" altLang="en-US" sz="2000" dirty="0"/>
              <a:t> 독일과 미국에서도 유사한 경향이 나타났음</a:t>
            </a:r>
          </a:p>
          <a:p>
            <a:pPr marL="342750" lvl="0" indent="-285600">
              <a:buChar char="•"/>
              <a:defRPr/>
            </a:pPr>
            <a:endParaRPr lang="en-US" altLang="ko-KR" sz="2000" dirty="0"/>
          </a:p>
          <a:p>
            <a:pPr marL="742800" lvl="1" indent="-285600">
              <a:buChar char="•"/>
              <a:defRPr/>
            </a:pPr>
            <a:endParaRPr lang="ko-KR" altLang="en-US" sz="2000" dirty="0"/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3528077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석탄 산업의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en-US" altLang="ko-KR" sz="2000" dirty="0"/>
              <a:t>20</a:t>
            </a:r>
            <a:r>
              <a:rPr lang="ko-KR" altLang="en-US" sz="2000" dirty="0"/>
              <a:t>세기에는 석탄 생산이 정점을 맞이하였음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제</a:t>
            </a:r>
            <a:r>
              <a:rPr lang="en-US" altLang="ko-KR" sz="2000" dirty="0"/>
              <a:t>2</a:t>
            </a:r>
            <a:r>
              <a:rPr lang="ko-KR" altLang="en-US" sz="2000" dirty="0"/>
              <a:t>차 세계대전 기간 동안 군수 산업과 전쟁 수행에 있어 필수적인 에너지원으로 기능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그러나 전후에는 석유</a:t>
            </a:r>
            <a:r>
              <a:rPr lang="en-US" altLang="ko-KR" sz="2000" dirty="0"/>
              <a:t>,</a:t>
            </a:r>
            <a:r>
              <a:rPr lang="ko-KR" altLang="en-US" sz="2000" dirty="0"/>
              <a:t> 천연가스</a:t>
            </a:r>
            <a:r>
              <a:rPr lang="en-US" altLang="ko-KR" sz="2000" dirty="0"/>
              <a:t>,</a:t>
            </a:r>
            <a:r>
              <a:rPr lang="ko-KR" altLang="en-US" sz="2000" dirty="0"/>
              <a:t> 원자력의 확산과 함께 석탄의 상대적 비중은 점차 하락</a:t>
            </a:r>
          </a:p>
          <a:p>
            <a:pPr marL="342750" lvl="0" indent="-285600">
              <a:buChar char="•"/>
              <a:defRPr/>
            </a:pPr>
            <a:endParaRPr lang="en-US" altLang="ko-KR" sz="2000" dirty="0"/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20</a:t>
            </a:r>
            <a:r>
              <a:rPr lang="ko-KR" altLang="en-US" sz="2000" dirty="0"/>
              <a:t>세기 후반 이후 유럽과 북미의 많은 탄광이 폐쇄되고</a:t>
            </a:r>
            <a:r>
              <a:rPr lang="en-US" altLang="ko-KR" sz="2000" dirty="0"/>
              <a:t>,</a:t>
            </a:r>
            <a:r>
              <a:rPr lang="ko-KR" altLang="en-US" sz="2000" dirty="0"/>
              <a:t> 석탄 산업의 중심은 중국</a:t>
            </a:r>
            <a:r>
              <a:rPr lang="en-US" altLang="ko-KR" sz="2000" dirty="0"/>
              <a:t>,</a:t>
            </a:r>
            <a:r>
              <a:rPr lang="ko-KR" altLang="en-US" sz="2000" dirty="0"/>
              <a:t> 인도</a:t>
            </a:r>
            <a:r>
              <a:rPr lang="en-US" altLang="ko-KR" sz="2000" dirty="0"/>
              <a:t>,</a:t>
            </a:r>
            <a:r>
              <a:rPr lang="ko-KR" altLang="en-US" sz="2000" dirty="0"/>
              <a:t> 인도네시아 등 생산비용이 낮고 수요가 지속되는 지역으로 이동</a:t>
            </a:r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  <a:p>
            <a:pPr marL="342750" lvl="0" indent="-285600">
              <a:buChar char="•"/>
              <a:defRPr/>
            </a:pPr>
            <a:r>
              <a:rPr lang="en-US" altLang="ko-KR" sz="2000" dirty="0"/>
              <a:t>21</a:t>
            </a:r>
            <a:r>
              <a:rPr lang="ko-KR" altLang="en-US" sz="2000" dirty="0"/>
              <a:t>세기에 들어서면서 석탄 산업으로 전 세계적으로 복합적인 도전에 직면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탈탄소화를 위한 환경규제 강화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 기술의 확산</a:t>
            </a:r>
            <a:r>
              <a:rPr lang="en-US" altLang="ko-KR" sz="2000" dirty="0"/>
              <a:t>,</a:t>
            </a:r>
            <a:r>
              <a:rPr lang="ko-KR" altLang="en-US" sz="2000" dirty="0"/>
              <a:t> 금융기관의 석탄 투자 회피 등은 석탄 생산 및 소비에 지속적인 압력을 가함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탄소포집</a:t>
            </a:r>
            <a:r>
              <a:rPr lang="en-US" altLang="ko-KR" sz="2000" dirty="0"/>
              <a:t>·</a:t>
            </a:r>
            <a:r>
              <a:rPr lang="ko-KR" altLang="en-US" sz="2000" dirty="0"/>
              <a:t>저장기술</a:t>
            </a:r>
            <a:r>
              <a:rPr lang="en-US" altLang="ko-KR" sz="2000" dirty="0"/>
              <a:t>(CCS)</a:t>
            </a:r>
            <a:r>
              <a:rPr lang="ko-KR" altLang="en-US" sz="2000" dirty="0"/>
              <a:t>이나 고효율 저배출 석탄기술</a:t>
            </a:r>
            <a:r>
              <a:rPr lang="en-US" altLang="ko-KR" sz="2000" dirty="0"/>
              <a:t>(HELE)</a:t>
            </a:r>
            <a:r>
              <a:rPr lang="ko-KR" altLang="en-US" sz="2000" dirty="0"/>
              <a:t>의 도입이 석탄의 환경적 부작용을 완화할 수 있다는 주장과</a:t>
            </a:r>
            <a:r>
              <a:rPr lang="en-US" altLang="ko-KR" sz="2000" dirty="0"/>
              <a:t>,</a:t>
            </a:r>
            <a:r>
              <a:rPr lang="ko-KR" altLang="en-US" sz="2000" dirty="0"/>
              <a:t> 탄소중립을 달성하기 위해서는 석탄으로부터의 근본적 이탈이 필요하다는 주장이 병존</a:t>
            </a:r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296072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석탄의 분류와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Char char="•"/>
              <a:defRPr/>
            </a:pPr>
            <a:r>
              <a:rPr lang="ko-KR" altLang="en-US" sz="2000" dirty="0"/>
              <a:t>석탄은 퇴적성 탄화물로</a:t>
            </a:r>
            <a:r>
              <a:rPr lang="en-US" altLang="ko-KR" sz="2000" dirty="0"/>
              <a:t>,</a:t>
            </a:r>
            <a:r>
              <a:rPr lang="ko-KR" altLang="en-US" sz="2000" dirty="0"/>
              <a:t> 주로 탄소</a:t>
            </a:r>
            <a:r>
              <a:rPr lang="en-US" altLang="ko-KR" sz="2000" dirty="0"/>
              <a:t>(C)</a:t>
            </a:r>
            <a:r>
              <a:rPr lang="ko-KR" altLang="en-US" sz="2000" dirty="0"/>
              <a:t>를 중심으로 수소</a:t>
            </a:r>
            <a:r>
              <a:rPr lang="en-US" altLang="ko-KR" sz="2000" dirty="0"/>
              <a:t>(H), </a:t>
            </a:r>
            <a:r>
              <a:rPr lang="ko-KR" altLang="en-US" sz="2000" dirty="0"/>
              <a:t>산소</a:t>
            </a:r>
            <a:r>
              <a:rPr lang="en-US" altLang="ko-KR" sz="2000" dirty="0"/>
              <a:t>(O), </a:t>
            </a:r>
            <a:r>
              <a:rPr lang="ko-KR" altLang="en-US" sz="2000" dirty="0"/>
              <a:t>질소</a:t>
            </a:r>
            <a:r>
              <a:rPr lang="en-US" altLang="ko-KR" sz="2000" dirty="0"/>
              <a:t>(N), </a:t>
            </a:r>
            <a:r>
              <a:rPr lang="ko-KR" altLang="en-US" sz="2000" dirty="0"/>
              <a:t>황</a:t>
            </a:r>
            <a:r>
              <a:rPr lang="en-US" altLang="ko-KR" sz="2000" dirty="0"/>
              <a:t>(S)  </a:t>
            </a:r>
            <a:r>
              <a:rPr lang="ko-KR" altLang="en-US" sz="2000" dirty="0"/>
              <a:t>등의 원소로 구성됨</a:t>
            </a:r>
          </a:p>
          <a:p>
            <a:pPr marL="342750" lvl="0" indent="-285600">
              <a:buChar char="•"/>
              <a:defRPr/>
            </a:pPr>
            <a:r>
              <a:rPr lang="ko-KR" altLang="en-US" sz="2000" dirty="0"/>
              <a:t>석탄은 석탄화 정도에 따라 탄소함량</a:t>
            </a:r>
            <a:r>
              <a:rPr lang="en-US" altLang="ko-KR" sz="2000" dirty="0"/>
              <a:t>,</a:t>
            </a:r>
            <a:r>
              <a:rPr lang="ko-KR" altLang="en-US" sz="2000" dirty="0"/>
              <a:t> 수분</a:t>
            </a:r>
            <a:r>
              <a:rPr lang="en-US" altLang="ko-KR" sz="2000" dirty="0"/>
              <a:t>,</a:t>
            </a:r>
            <a:r>
              <a:rPr lang="ko-KR" altLang="en-US" sz="2000" dirty="0"/>
              <a:t> 휘발성분</a:t>
            </a:r>
            <a:r>
              <a:rPr lang="en-US" altLang="ko-KR" sz="2000" dirty="0"/>
              <a:t>,</a:t>
            </a:r>
            <a:r>
              <a:rPr lang="ko-KR" altLang="en-US" sz="2000" dirty="0"/>
              <a:t> 회분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밀도 등이 결정됨</a:t>
            </a:r>
          </a:p>
          <a:p>
            <a:pPr marL="342750" lvl="0" indent="-285600">
              <a:buChar char="•"/>
              <a:defRPr/>
            </a:pPr>
            <a:r>
              <a:rPr lang="ko-KR" altLang="en-US" sz="2000" dirty="0"/>
              <a:t>일반적으로 갈탄</a:t>
            </a:r>
            <a:r>
              <a:rPr lang="en-US" altLang="ko-KR" sz="2000" dirty="0"/>
              <a:t>(lignite), </a:t>
            </a:r>
            <a:r>
              <a:rPr lang="ko-KR" altLang="en-US" sz="2000" dirty="0"/>
              <a:t>아역청탄</a:t>
            </a:r>
            <a:r>
              <a:rPr lang="en-US" altLang="ko-KR" sz="2000" dirty="0"/>
              <a:t>(sub-bituminous coal), </a:t>
            </a:r>
            <a:r>
              <a:rPr lang="ko-KR" altLang="en-US" sz="2000" dirty="0"/>
              <a:t>역청탄</a:t>
            </a:r>
            <a:r>
              <a:rPr lang="en-US" altLang="ko-KR" sz="2000" dirty="0"/>
              <a:t>(bituminous coal), </a:t>
            </a:r>
            <a:r>
              <a:rPr lang="ko-KR" altLang="en-US" sz="2000" dirty="0"/>
              <a:t>무연탄</a:t>
            </a:r>
            <a:r>
              <a:rPr lang="en-US" altLang="ko-KR" sz="2000" dirty="0"/>
              <a:t>(anthracite)</a:t>
            </a:r>
            <a:r>
              <a:rPr lang="ko-KR" altLang="en-US" sz="2000" dirty="0"/>
              <a:t>로 분류</a:t>
            </a:r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  <a:p>
            <a:pPr marL="342750" lvl="0" indent="-285600">
              <a:buChar char="•"/>
              <a:defRPr/>
            </a:pPr>
            <a:r>
              <a:rPr lang="ko-KR" altLang="en-US" sz="2000" dirty="0"/>
              <a:t>갈탄은 석탄화 정도가 가장 낮은 저등급 석탄으로 탄소함량이 약 </a:t>
            </a:r>
            <a:r>
              <a:rPr lang="en-US" altLang="ko-KR" sz="2000" dirty="0"/>
              <a:t>25~35%</a:t>
            </a:r>
            <a:r>
              <a:rPr lang="ko-KR" altLang="en-US" sz="2000" dirty="0"/>
              <a:t>에 불과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수분 함량은 매우 높은 편이며 이로 인해 연소 효율이 낮고 저장 및 운송과정에도 여러 제약이 존재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발열량은 약 </a:t>
            </a:r>
            <a:r>
              <a:rPr lang="en-US" altLang="ko-KR" sz="2000" dirty="0"/>
              <a:t>10~20MJ(</a:t>
            </a:r>
            <a:r>
              <a:rPr lang="ko-KR" altLang="en-US" sz="2000" dirty="0"/>
              <a:t>약 </a:t>
            </a:r>
            <a:r>
              <a:rPr lang="en-US" altLang="ko-KR" sz="2000" dirty="0"/>
              <a:t>2,400~4,800Kcal/kg)</a:t>
            </a:r>
            <a:r>
              <a:rPr lang="ko-KR" altLang="en-US" sz="2000" dirty="0"/>
              <a:t>으로 역청탄이나 무연탄에 비하여 낮은 수준</a:t>
            </a:r>
          </a:p>
          <a:p>
            <a:pPr marL="742800" lvl="1" indent="-285600">
              <a:buChar char="•"/>
              <a:defRPr/>
            </a:pPr>
            <a:r>
              <a:rPr lang="ko-KR" altLang="en-US" sz="2000" dirty="0"/>
              <a:t>주로 대규모 산업용보다는 발전소에서 전력 생산용 연료로 사용됨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에너지 밀도가 낮고</a:t>
            </a:r>
            <a:r>
              <a:rPr lang="en-US" altLang="ko-KR" sz="2000" dirty="0"/>
              <a:t>,</a:t>
            </a:r>
            <a:r>
              <a:rPr lang="ko-KR" altLang="en-US" sz="2000" dirty="0"/>
              <a:t> 연소 시 이산화탄소</a:t>
            </a:r>
            <a:r>
              <a:rPr lang="en-US" altLang="ko-KR" sz="2000" dirty="0"/>
              <a:t>(CO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en-US" altLang="ko-KR" sz="2000" dirty="0"/>
              <a:t>), </a:t>
            </a:r>
            <a:r>
              <a:rPr lang="ko-KR" altLang="en-US" sz="2000" dirty="0"/>
              <a:t>질소산화물</a:t>
            </a:r>
            <a:r>
              <a:rPr lang="en-US" altLang="ko-KR" sz="2000" dirty="0"/>
              <a:t>(NOx), </a:t>
            </a:r>
            <a:r>
              <a:rPr lang="ko-KR" altLang="en-US" sz="2000" dirty="0"/>
              <a:t>황산화물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SOx</a:t>
            </a:r>
            <a:r>
              <a:rPr lang="en-US" altLang="ko-KR" sz="2000" dirty="0"/>
              <a:t>) </a:t>
            </a:r>
            <a:r>
              <a:rPr lang="ko-KR" altLang="en-US" sz="2000" dirty="0"/>
              <a:t>등 다양한 오염물질을 다량 배출하기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환경적 측면에서 가장 부정정인 평가를 받음</a:t>
            </a:r>
          </a:p>
          <a:p>
            <a:pPr marL="342750" lvl="0" indent="-285600">
              <a:buChar char="•"/>
              <a:defRPr/>
            </a:pPr>
            <a:endParaRPr lang="ko-KR" altLang="en-US" sz="2000" dirty="0"/>
          </a:p>
          <a:p>
            <a:pPr marL="5715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410583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석탄의 분류와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marL="342750" lvl="0" indent="-285600">
              <a:buFont typeface="Arial"/>
              <a:defRPr/>
            </a:pPr>
            <a:r>
              <a:rPr lang="ko-KR" altLang="en-US" sz="2000" dirty="0"/>
              <a:t>아역청탄은 석탄화 정도가 갈탄보다 더 진행된 중간 단계의 저등급 석탄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탄소함량은 약 </a:t>
            </a:r>
            <a:r>
              <a:rPr lang="en-US" altLang="ko-KR" sz="2000" dirty="0"/>
              <a:t>35~45%</a:t>
            </a:r>
            <a:r>
              <a:rPr lang="ko-KR" altLang="en-US" sz="2000" dirty="0"/>
              <a:t> 수준이며</a:t>
            </a:r>
            <a:r>
              <a:rPr lang="en-US" altLang="ko-KR" sz="2000" dirty="0"/>
              <a:t>,</a:t>
            </a:r>
            <a:r>
              <a:rPr lang="ko-KR" altLang="en-US" sz="2000" dirty="0"/>
              <a:t> 상대적으로 낮은 휘발성분과 수분 함량을 지님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발열량은 약 </a:t>
            </a:r>
            <a:r>
              <a:rPr lang="en-US" altLang="ko-KR" sz="2000" dirty="0"/>
              <a:t>18~24MJ/kg(</a:t>
            </a:r>
            <a:r>
              <a:rPr lang="ko-KR" altLang="en-US" sz="2000" dirty="0"/>
              <a:t>약 </a:t>
            </a:r>
            <a:r>
              <a:rPr lang="en-US" altLang="ko-KR" sz="2000" dirty="0"/>
              <a:t>4,300~5,700</a:t>
            </a:r>
            <a:r>
              <a:rPr lang="ko-KR" altLang="en-US" sz="2000" dirty="0"/>
              <a:t> </a:t>
            </a:r>
            <a:r>
              <a:rPr lang="en-US" altLang="ko-KR" sz="2000" dirty="0"/>
              <a:t>kcal/kg)</a:t>
            </a:r>
            <a:r>
              <a:rPr lang="ko-KR" altLang="en-US" sz="2000" dirty="0"/>
              <a:t>으로</a:t>
            </a:r>
            <a:r>
              <a:rPr lang="en-US" altLang="ko-KR" sz="2000" dirty="0"/>
              <a:t>,</a:t>
            </a:r>
            <a:r>
              <a:rPr lang="ko-KR" altLang="en-US" sz="2000" dirty="0"/>
              <a:t> 갈탄에 비해 에너지 효율이 높아 전력 생산용으로 널리 활용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아역청탄은 미국</a:t>
            </a:r>
            <a:r>
              <a:rPr lang="en-US" altLang="ko-KR" sz="2000" dirty="0"/>
              <a:t>,</a:t>
            </a:r>
            <a:r>
              <a:rPr lang="ko-KR" altLang="en-US" sz="2000" dirty="0"/>
              <a:t> 인도네시사</a:t>
            </a:r>
            <a:r>
              <a:rPr lang="en-US" altLang="ko-KR" sz="2000" dirty="0"/>
              <a:t>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,</a:t>
            </a:r>
            <a:r>
              <a:rPr lang="ko-KR" altLang="en-US" sz="2000" dirty="0"/>
              <a:t> 중국 등지에서 광범위하게 매장되어 있음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환경적 측면에서 갈탄보다 온실가스 및 대기오염물질 배출량이 적은 것으로 평가되지만</a:t>
            </a:r>
            <a:r>
              <a:rPr lang="en-US" altLang="ko-KR" sz="2000" dirty="0"/>
              <a:t>,</a:t>
            </a:r>
            <a:r>
              <a:rPr lang="ko-KR" altLang="en-US" sz="2000" dirty="0"/>
              <a:t> 여전히 재생에너지나 쳔연가스에 비해서는 탄소배출량이 높음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역청탄은 전 세계적으로 가장 널리 채굴되고 사용되는 중</a:t>
            </a:r>
            <a:r>
              <a:rPr lang="en-US" altLang="ko-KR" sz="2000" dirty="0"/>
              <a:t>·</a:t>
            </a:r>
            <a:r>
              <a:rPr lang="ko-KR" altLang="en-US" sz="2000" dirty="0"/>
              <a:t>고등급 석탄으로 탄소 함량은 약 </a:t>
            </a:r>
            <a:r>
              <a:rPr lang="en-US" altLang="ko-KR" sz="2000" dirty="0"/>
              <a:t>45~86%</a:t>
            </a:r>
            <a:r>
              <a:rPr lang="ko-KR" altLang="en-US" sz="2000" dirty="0"/>
              <a:t>에 이름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발열량은 평균적으로 약 </a:t>
            </a:r>
            <a:r>
              <a:rPr lang="en-US" altLang="ko-KR" sz="2000" dirty="0"/>
              <a:t>24~35MJ/kg(</a:t>
            </a:r>
            <a:r>
              <a:rPr lang="ko-KR" altLang="en-US" sz="2000" dirty="0"/>
              <a:t>약 </a:t>
            </a:r>
            <a:r>
              <a:rPr lang="en-US" altLang="ko-KR" sz="2000" dirty="0"/>
              <a:t>5,700~8,300</a:t>
            </a:r>
            <a:r>
              <a:rPr lang="ko-KR" altLang="en-US" sz="2000" dirty="0"/>
              <a:t> </a:t>
            </a:r>
            <a:r>
              <a:rPr lang="en-US" altLang="ko-KR" sz="2000" dirty="0"/>
              <a:t>kcal/kg)</a:t>
            </a:r>
            <a:r>
              <a:rPr lang="ko-KR" altLang="en-US" sz="2000" dirty="0"/>
              <a:t>으로</a:t>
            </a:r>
            <a:r>
              <a:rPr lang="en-US" altLang="ko-KR" sz="2000" dirty="0"/>
              <a:t>,</a:t>
            </a:r>
            <a:r>
              <a:rPr lang="ko-KR" altLang="en-US" sz="2000" dirty="0"/>
              <a:t> 전력 생산을 위한 연료로 널리 활용되며</a:t>
            </a:r>
            <a:r>
              <a:rPr lang="en-US" altLang="ko-KR" sz="2000" dirty="0"/>
              <a:t>,</a:t>
            </a:r>
            <a:r>
              <a:rPr lang="ko-KR" altLang="en-US" sz="2000" dirty="0"/>
              <a:t> 산업 부문에서는 특히 철강 생산에 필수적인 원료로 사용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역청탄 중에서도 코킹탄</a:t>
            </a:r>
            <a:r>
              <a:rPr lang="en-US" altLang="ko-KR" sz="2000" dirty="0"/>
              <a:t>(coking coal)</a:t>
            </a:r>
            <a:r>
              <a:rPr lang="ko-KR" altLang="en-US" sz="2000" dirty="0"/>
              <a:t>은 고온 처리 시  금속 제조에 사용되는 코크스</a:t>
            </a:r>
            <a:r>
              <a:rPr lang="en-US" altLang="ko-KR" sz="2000" dirty="0"/>
              <a:t>(coke)</a:t>
            </a:r>
            <a:r>
              <a:rPr lang="ko-KR" altLang="en-US" sz="2000" dirty="0"/>
              <a:t>로전환됨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환경적 측면에서 높은 에너지 효율을 지닌 반면</a:t>
            </a:r>
            <a:r>
              <a:rPr lang="en-US" altLang="ko-KR" sz="2000" dirty="0"/>
              <a:t>,</a:t>
            </a:r>
            <a:r>
              <a:rPr lang="ko-KR" altLang="en-US" sz="2000" dirty="0"/>
              <a:t>  연소 시 이산화황</a:t>
            </a:r>
            <a:r>
              <a:rPr lang="en-US" altLang="ko-KR" sz="2000" dirty="0"/>
              <a:t>(SO2) </a:t>
            </a:r>
            <a:r>
              <a:rPr lang="ko-KR" altLang="en-US" sz="2000" dirty="0"/>
              <a:t>배출이 많아 환경규제가 엄격한 국가에서는 황 제거 기술의 도입이 필수적임</a:t>
            </a:r>
          </a:p>
          <a:p>
            <a:pPr marL="742800" lvl="1" indent="-285600">
              <a:buFont typeface="Arial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333903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석탄의 분류와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defRPr/>
            </a:pPr>
            <a:r>
              <a:rPr lang="ko-KR" altLang="en-US" sz="2000"/>
              <a:t>무연탄은 석탄화 정도가 가장 진전된 고등급 석탄으로</a:t>
            </a:r>
            <a:r>
              <a:rPr lang="en-US" altLang="ko-KR" sz="2000"/>
              <a:t>,</a:t>
            </a:r>
            <a:r>
              <a:rPr lang="ko-KR" altLang="en-US" sz="2000"/>
              <a:t> 탄소 함량이 </a:t>
            </a:r>
            <a:r>
              <a:rPr lang="en-US" altLang="ko-KR" sz="2000"/>
              <a:t>86%</a:t>
            </a:r>
            <a:r>
              <a:rPr lang="ko-KR" altLang="en-US" sz="2000"/>
              <a:t> 이상에 달하며</a:t>
            </a:r>
            <a:r>
              <a:rPr lang="en-US" altLang="ko-KR" sz="2000"/>
              <a:t>,</a:t>
            </a:r>
            <a:r>
              <a:rPr lang="ko-KR" altLang="en-US" sz="2000"/>
              <a:t> 수분과 휘발성분은 매우 낮은 반면</a:t>
            </a:r>
            <a:r>
              <a:rPr lang="en-US" altLang="ko-KR" sz="2000"/>
              <a:t>,</a:t>
            </a:r>
            <a:r>
              <a:rPr lang="ko-KR" altLang="en-US" sz="2000"/>
              <a:t> 고체 탄소의 밀도는 가능 높은 수준을 보임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발열량은 약 </a:t>
            </a:r>
            <a:r>
              <a:rPr lang="en-US" altLang="ko-KR" sz="2000"/>
              <a:t>30~35MJ/kg(7,200~8,400 kcal/kg)</a:t>
            </a:r>
            <a:r>
              <a:rPr lang="ko-KR" altLang="en-US" sz="2000"/>
              <a:t>에 이르며</a:t>
            </a:r>
            <a:r>
              <a:rPr lang="en-US" altLang="ko-KR" sz="2000"/>
              <a:t>,</a:t>
            </a:r>
            <a:r>
              <a:rPr lang="ko-KR" altLang="en-US" sz="2000"/>
              <a:t> 높은 에너지 밀도와 안정된 연소 특성으로 인해 주거용 난방</a:t>
            </a:r>
            <a:r>
              <a:rPr lang="en-US" altLang="ko-KR" sz="2000"/>
              <a:t>,</a:t>
            </a:r>
            <a:r>
              <a:rPr lang="ko-KR" altLang="en-US" sz="2000"/>
              <a:t> 산업용 보일러</a:t>
            </a:r>
            <a:r>
              <a:rPr lang="en-US" altLang="ko-KR" sz="2000"/>
              <a:t>,</a:t>
            </a:r>
            <a:r>
              <a:rPr lang="ko-KR" altLang="en-US" sz="2000"/>
              <a:t> 금속 가공</a:t>
            </a:r>
            <a:r>
              <a:rPr lang="en-US" altLang="ko-KR" sz="2000"/>
              <a:t>,</a:t>
            </a:r>
            <a:r>
              <a:rPr lang="ko-KR" altLang="en-US" sz="2000"/>
              <a:t> 고온 공정 등 특수 용도에 주로 활용됨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환경 영향을 고려할 때 석탄 중에서는 상대적으로 </a:t>
            </a:r>
            <a:r>
              <a:rPr lang="en-US" altLang="ko-KR" sz="2000"/>
              <a:t>‘</a:t>
            </a:r>
            <a:r>
              <a:rPr lang="ko-KR" altLang="en-US" sz="2000"/>
              <a:t>깨끗한 연료</a:t>
            </a:r>
            <a:r>
              <a:rPr lang="en-US" altLang="ko-KR" sz="2000"/>
              <a:t>’</a:t>
            </a:r>
            <a:r>
              <a:rPr lang="ko-KR" altLang="en-US" sz="2000"/>
              <a:t>로 평가됨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지질학적으로 희소하며</a:t>
            </a:r>
            <a:r>
              <a:rPr lang="en-US" altLang="ko-KR" sz="2000"/>
              <a:t>,</a:t>
            </a:r>
            <a:r>
              <a:rPr lang="ko-KR" altLang="en-US" sz="2000"/>
              <a:t> 전 세계 석탄 매장량 중 차지하는 비중은 </a:t>
            </a:r>
            <a:r>
              <a:rPr lang="en-US" altLang="ko-KR" sz="2000"/>
              <a:t>1%</a:t>
            </a:r>
            <a:r>
              <a:rPr lang="ko-KR" altLang="en-US" sz="2000"/>
              <a:t> 내외에 불과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에너지 전환 과정 속에서 무연탄이 전통적인 석탄 대비 상대적으로 환경친화적인 대안으로 주목받기도 하지만</a:t>
            </a:r>
            <a:r>
              <a:rPr lang="en-US" altLang="ko-KR" sz="2000"/>
              <a:t>,</a:t>
            </a:r>
            <a:r>
              <a:rPr lang="ko-KR" altLang="en-US" sz="2000"/>
              <a:t> 전 세계적인 생산량이 제한적이고 채굴비용이 높아</a:t>
            </a:r>
            <a:r>
              <a:rPr lang="en-US" altLang="ko-KR" sz="2000"/>
              <a:t>,</a:t>
            </a:r>
            <a:r>
              <a:rPr lang="ko-KR" altLang="en-US" sz="2000"/>
              <a:t> 가격경쟁력과 공급 안정성 측면에서 한계가 있음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/>
          </a:p>
          <a:p>
            <a:pPr marL="342750" lvl="0" indent="-285600">
              <a:buFont typeface="Arial"/>
              <a:defRPr/>
            </a:pPr>
            <a:endParaRPr lang="ko-KR" altLang="en-US" sz="200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2191539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석탄의 가치사슬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marL="342750" lvl="0" indent="-285600">
              <a:buFont typeface="Arial"/>
              <a:defRPr/>
            </a:pPr>
            <a:r>
              <a:rPr lang="ko-KR" altLang="en-US" sz="2000" dirty="0"/>
              <a:t>탐사와 채굴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가치사슬의 첫 단계는 지질학적 탐사로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석탄 자원의 존재 여부와 경제적 채굴 가능성을 확인하기 위한 필수 절차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위상영상이나 항공사진 분석</a:t>
            </a:r>
            <a:r>
              <a:rPr lang="en-US" altLang="ko-KR" sz="2000" dirty="0"/>
              <a:t>,</a:t>
            </a:r>
            <a:r>
              <a:rPr lang="ko-KR" altLang="en-US" sz="2000" dirty="0"/>
              <a:t> 지표조사</a:t>
            </a:r>
            <a:r>
              <a:rPr lang="en-US" altLang="ko-KR" sz="2000" dirty="0"/>
              <a:t>,</a:t>
            </a:r>
            <a:r>
              <a:rPr lang="ko-KR" altLang="en-US" sz="2000" dirty="0"/>
              <a:t> 지구물리탐사와 같은 예비조사에 이어 시추와 탄질분석을 통해 실제 탄층의 위치</a:t>
            </a:r>
            <a:r>
              <a:rPr lang="en-US" altLang="ko-KR" sz="2000" dirty="0"/>
              <a:t>,</a:t>
            </a:r>
            <a:r>
              <a:rPr lang="ko-KR" altLang="en-US" sz="2000" dirty="0"/>
              <a:t> 두께</a:t>
            </a:r>
            <a:r>
              <a:rPr lang="en-US" altLang="ko-KR" sz="2000" dirty="0"/>
              <a:t>,</a:t>
            </a:r>
            <a:r>
              <a:rPr lang="ko-KR" altLang="en-US" sz="2000" dirty="0"/>
              <a:t> 품질 및 연속성을 파악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석탄층이 확인되고 경제성이 확보되면 본격적인 채굴단계로 진입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채굴방식은 탄층의 깊이</a:t>
            </a:r>
            <a:r>
              <a:rPr lang="en-US" altLang="ko-KR" sz="2000" dirty="0"/>
              <a:t>,</a:t>
            </a:r>
            <a:r>
              <a:rPr lang="ko-KR" altLang="en-US" sz="2000" dirty="0"/>
              <a:t> 두께</a:t>
            </a:r>
            <a:r>
              <a:rPr lang="en-US" altLang="ko-KR" sz="2000" dirty="0"/>
              <a:t>,</a:t>
            </a:r>
            <a:r>
              <a:rPr lang="ko-KR" altLang="en-US" sz="2000" dirty="0"/>
              <a:t> 경사도</a:t>
            </a:r>
            <a:r>
              <a:rPr lang="en-US" altLang="ko-KR" sz="2000" dirty="0"/>
              <a:t>,</a:t>
            </a:r>
            <a:r>
              <a:rPr lang="ko-KR" altLang="en-US" sz="2000" dirty="0"/>
              <a:t> 피복층의 조건</a:t>
            </a:r>
            <a:r>
              <a:rPr lang="en-US" altLang="ko-KR" sz="2000" dirty="0"/>
              <a:t>,</a:t>
            </a:r>
            <a:r>
              <a:rPr lang="ko-KR" altLang="en-US" sz="2000" dirty="0"/>
              <a:t> 지역 지형 및 환경 규제 등에 따라 결정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노천채굴</a:t>
            </a:r>
            <a:r>
              <a:rPr lang="en-US" altLang="ko-KR" sz="2000" dirty="0"/>
              <a:t>(surface </a:t>
            </a:r>
            <a:r>
              <a:rPr lang="en-US" altLang="ko-KR" sz="2000" dirty="0" err="1"/>
              <a:t>minig</a:t>
            </a:r>
            <a:r>
              <a:rPr lang="en-US" altLang="ko-KR" sz="2000" dirty="0"/>
              <a:t>)</a:t>
            </a:r>
            <a:r>
              <a:rPr lang="ko-KR" altLang="en-US" sz="2000" dirty="0"/>
              <a:t>은 지표면에서 가까운 얕은 탄층을 대상으로 하며</a:t>
            </a:r>
            <a:r>
              <a:rPr lang="en-US" altLang="ko-KR" sz="2000" dirty="0"/>
              <a:t>,</a:t>
            </a:r>
            <a:r>
              <a:rPr lang="ko-KR" altLang="en-US" sz="2000" dirty="0"/>
              <a:t> 광범위한 기계화가 가능하고 단위 생산비용이 낮다는 장점이 있음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지하채굴</a:t>
            </a:r>
            <a:r>
              <a:rPr lang="en-US" altLang="ko-KR" sz="2000" dirty="0"/>
              <a:t>(underground mining)</a:t>
            </a:r>
            <a:r>
              <a:rPr lang="ko-KR" altLang="en-US" sz="2000" dirty="0"/>
              <a:t>은 탄층이 깊거나 지형적 제약이 있는 지역에서 주로 선택되며</a:t>
            </a:r>
            <a:r>
              <a:rPr lang="en-US" altLang="ko-KR" sz="2000" dirty="0"/>
              <a:t>,</a:t>
            </a:r>
            <a:r>
              <a:rPr lang="ko-KR" altLang="en-US" sz="2000" dirty="0"/>
              <a:t> 갱도</a:t>
            </a:r>
            <a:r>
              <a:rPr lang="en-US" altLang="ko-KR" sz="2000" dirty="0"/>
              <a:t>(shaft)</a:t>
            </a:r>
            <a:r>
              <a:rPr lang="ko-KR" altLang="en-US" sz="2000" dirty="0"/>
              <a:t>나 경사갱</a:t>
            </a:r>
            <a:r>
              <a:rPr lang="en-US" altLang="ko-KR" sz="2000" dirty="0"/>
              <a:t>(slope)</a:t>
            </a:r>
            <a:r>
              <a:rPr lang="ko-KR" altLang="en-US" sz="2000" dirty="0"/>
              <a:t>을 통해 진입하고</a:t>
            </a:r>
            <a:r>
              <a:rPr lang="en-US" altLang="ko-KR" sz="2000" dirty="0"/>
              <a:t>,</a:t>
            </a:r>
            <a:r>
              <a:rPr lang="ko-KR" altLang="en-US" sz="2000" dirty="0"/>
              <a:t> 채굴된 석탄을 컨베이어나 승강 시스템을 이용 지표면으로 운반함</a:t>
            </a:r>
          </a:p>
          <a:p>
            <a:pPr marL="1600050" lvl="3" indent="-285600">
              <a:buFont typeface="Arial"/>
              <a:buChar char="•"/>
              <a:defRPr/>
            </a:pPr>
            <a:r>
              <a:rPr lang="ko-KR" altLang="en-US" sz="2000" dirty="0"/>
              <a:t>지하채굴은 상대적으로 고비용 구조이며</a:t>
            </a:r>
            <a:r>
              <a:rPr lang="en-US" altLang="ko-KR" sz="2000" dirty="0"/>
              <a:t>,</a:t>
            </a:r>
            <a:r>
              <a:rPr lang="ko-KR" altLang="en-US" sz="2000" dirty="0"/>
              <a:t> 환기 시스템</a:t>
            </a:r>
            <a:r>
              <a:rPr lang="en-US" altLang="ko-KR" sz="2000" dirty="0"/>
              <a:t>,</a:t>
            </a:r>
            <a:r>
              <a:rPr lang="ko-KR" altLang="en-US" sz="2000" dirty="0"/>
              <a:t>  붕괴 방지용 지보공</a:t>
            </a:r>
            <a:r>
              <a:rPr lang="en-US" altLang="ko-KR" sz="2000" dirty="0"/>
              <a:t>(roof support), </a:t>
            </a:r>
            <a:r>
              <a:rPr lang="ko-KR" altLang="en-US" sz="2000" dirty="0"/>
              <a:t>채굴 후 복원 계획 등 안전 및 환경 요소에 대한 고려가 더욱 복잡함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1859502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석탄의 가치사슬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defRPr/>
            </a:pPr>
            <a:r>
              <a:rPr lang="ko-KR" altLang="en-US" sz="2000" dirty="0"/>
              <a:t>처리 및 세정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채굴된 원석탄에서 다양한 불순불을 제거하여 연료 품질을 향상시키고 환경적 영향을 줄이기 위한 과정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석탄세정은 석탄과 불순물 간의 밀도 차이를 활용하여 분리하는 방식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중력 분리</a:t>
            </a:r>
            <a:r>
              <a:rPr lang="en-US" altLang="ko-KR" sz="2000" dirty="0"/>
              <a:t>,</a:t>
            </a:r>
            <a:r>
              <a:rPr lang="ko-KR" altLang="en-US" sz="2000" dirty="0"/>
              <a:t> 사이클론 분리</a:t>
            </a:r>
            <a:r>
              <a:rPr lang="en-US" altLang="ko-KR" sz="2000" dirty="0"/>
              <a:t>,</a:t>
            </a:r>
            <a:r>
              <a:rPr lang="ko-KR" altLang="en-US" sz="2000" dirty="0"/>
              <a:t> 플로테이션 공정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기계적 석탄을 일정한 크기로 분쇄하고</a:t>
            </a:r>
            <a:r>
              <a:rPr lang="en-US" altLang="ko-KR" sz="2000" dirty="0"/>
              <a:t>,</a:t>
            </a:r>
            <a:r>
              <a:rPr lang="ko-KR" altLang="en-US" sz="2000" dirty="0"/>
              <a:t> 크기별로 선별하는 과정을 의미함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일부 고황함유 석탄의 경우</a:t>
            </a:r>
            <a:r>
              <a:rPr lang="en-US" altLang="ko-KR" sz="2000" dirty="0"/>
              <a:t>,</a:t>
            </a:r>
            <a:r>
              <a:rPr lang="ko-KR" altLang="en-US" sz="2000" dirty="0"/>
              <a:t> 화학적 처리를 통해 황을 제거하거나</a:t>
            </a:r>
            <a:r>
              <a:rPr lang="en-US" altLang="ko-KR" sz="2000" dirty="0"/>
              <a:t>,</a:t>
            </a:r>
            <a:r>
              <a:rPr lang="ko-KR" altLang="en-US" sz="2000" dirty="0"/>
              <a:t> 황산화물 배출을 줄이기 위한 사전 조치가 이루어지기도 함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세정이 완료된 석탄으로 일반적으로 입자 크기로 분류되며</a:t>
            </a:r>
            <a:r>
              <a:rPr lang="en-US" altLang="ko-KR" sz="2000" dirty="0"/>
              <a:t>,</a:t>
            </a:r>
            <a:r>
              <a:rPr lang="ko-KR" altLang="en-US" sz="2000" dirty="0"/>
              <a:t> 용도별로 등급화 됨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입자가 큰 석탄은 코크스용</a:t>
            </a:r>
            <a:r>
              <a:rPr lang="en-US" altLang="ko-KR" sz="2000" dirty="0"/>
              <a:t>(coking coal)</a:t>
            </a:r>
            <a:r>
              <a:rPr lang="ko-KR" altLang="en-US" sz="2000" dirty="0"/>
              <a:t>으로</a:t>
            </a:r>
            <a:r>
              <a:rPr lang="en-US" altLang="ko-KR" sz="2000" dirty="0"/>
              <a:t>,</a:t>
            </a:r>
            <a:r>
              <a:rPr lang="ko-KR" altLang="en-US" sz="2000" dirty="0"/>
              <a:t> 중간 입자는 전력 발전용</a:t>
            </a:r>
            <a:r>
              <a:rPr lang="en-US" altLang="ko-KR" sz="2000" dirty="0"/>
              <a:t>(</a:t>
            </a:r>
            <a:r>
              <a:rPr lang="en-US" altLang="ko-KR" sz="2000" dirty="0" err="1"/>
              <a:t>theraml</a:t>
            </a:r>
            <a:r>
              <a:rPr lang="en-US" altLang="ko-KR" sz="2000" dirty="0"/>
              <a:t> coal)</a:t>
            </a:r>
            <a:r>
              <a:rPr lang="ko-KR" altLang="en-US" sz="2000" dirty="0"/>
              <a:t>으로</a:t>
            </a:r>
            <a:r>
              <a:rPr lang="en-US" altLang="ko-KR" sz="2000" dirty="0"/>
              <a:t>,</a:t>
            </a:r>
            <a:r>
              <a:rPr lang="ko-KR" altLang="en-US" sz="2000" dirty="0"/>
              <a:t> 세립탄은 산업용 보일러 또는 가정 난방용으로 공급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93623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석탄의 가치사슬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Font typeface="Arial"/>
              <a:defRPr/>
            </a:pPr>
            <a:r>
              <a:rPr lang="ko-KR" altLang="en-US" sz="2000" dirty="0"/>
              <a:t>수송과 물류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석탄은 고체 연료로서 단위 부피당 에너지 밀도가 낮고 무게가 무거우며</a:t>
            </a:r>
            <a:r>
              <a:rPr lang="en-US" altLang="ko-KR" sz="2000" dirty="0"/>
              <a:t>,</a:t>
            </a:r>
            <a:r>
              <a:rPr lang="ko-KR" altLang="en-US" sz="2000" dirty="0"/>
              <a:t> 일반적으로 생산지와 소비지가 지리적으로 멀리 떨어져 있기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수송비용이 전체 공급비용에서 차지하는 비중이 매우 높음</a:t>
            </a:r>
          </a:p>
          <a:p>
            <a:pPr marL="742800" lvl="1" indent="-285600">
              <a:buFont typeface="Arial"/>
              <a:buChar char="•"/>
              <a:defRPr/>
            </a:pP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수송 방식에는 철도</a:t>
            </a:r>
            <a:r>
              <a:rPr lang="en-US" altLang="ko-KR" sz="2000" dirty="0"/>
              <a:t>,</a:t>
            </a:r>
            <a:r>
              <a:rPr lang="ko-KR" altLang="en-US" sz="2000" dirty="0"/>
              <a:t> 벨트컨베이어</a:t>
            </a:r>
            <a:r>
              <a:rPr lang="en-US" altLang="ko-KR" sz="2000" dirty="0"/>
              <a:t>,</a:t>
            </a:r>
            <a:r>
              <a:rPr lang="ko-KR" altLang="en-US" sz="2000" dirty="0"/>
              <a:t> 트럭</a:t>
            </a:r>
            <a:r>
              <a:rPr lang="en-US" altLang="ko-KR" sz="2000" dirty="0"/>
              <a:t>,</a:t>
            </a:r>
            <a:r>
              <a:rPr lang="ko-KR" altLang="en-US" sz="2000" dirty="0"/>
              <a:t> 내륙수산</a:t>
            </a:r>
            <a:r>
              <a:rPr lang="en-US" altLang="ko-KR" sz="2000" dirty="0"/>
              <a:t>(</a:t>
            </a:r>
            <a:r>
              <a:rPr lang="ko-KR" altLang="en-US" sz="2000" dirty="0"/>
              <a:t>바지선</a:t>
            </a:r>
            <a:r>
              <a:rPr lang="en-US" altLang="ko-KR" sz="2000" dirty="0"/>
              <a:t>),</a:t>
            </a:r>
            <a:r>
              <a:rPr lang="ko-KR" altLang="en-US" sz="2000" dirty="0"/>
              <a:t> 그리고 해상운송</a:t>
            </a:r>
            <a:r>
              <a:rPr lang="en-US" altLang="ko-KR" sz="2000" dirty="0"/>
              <a:t>(</a:t>
            </a:r>
            <a:r>
              <a:rPr lang="ko-KR" altLang="en-US" sz="2000" dirty="0"/>
              <a:t>벌크선</a:t>
            </a:r>
            <a:r>
              <a:rPr lang="en-US" altLang="ko-KR" sz="2000" dirty="0"/>
              <a:t>)</a:t>
            </a:r>
            <a:r>
              <a:rPr lang="ko-KR" altLang="en-US" sz="2000" dirty="0"/>
              <a:t>등이 있음</a:t>
            </a:r>
          </a:p>
          <a:p>
            <a:pPr marL="742800" lvl="1" indent="-285600">
              <a:buFont typeface="Arial"/>
              <a:buChar char="•"/>
              <a:defRPr/>
            </a:pP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수송 단계에서는 경제성뿐 아니라 연료의 품질 유지 및 손실 최소화도 중요한 고려 사항임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수송 중 분진 발생</a:t>
            </a:r>
            <a:r>
              <a:rPr lang="en-US" altLang="ko-KR" sz="2000" dirty="0"/>
              <a:t>,</a:t>
            </a:r>
            <a:r>
              <a:rPr lang="ko-KR" altLang="en-US" sz="2000" dirty="0"/>
              <a:t> 열손실</a:t>
            </a:r>
            <a:r>
              <a:rPr lang="en-US" altLang="ko-KR" sz="2000" dirty="0"/>
              <a:t>,</a:t>
            </a:r>
            <a:r>
              <a:rPr lang="ko-KR" altLang="en-US" sz="2000" dirty="0"/>
              <a:t> 습기 흡수로 인한 발열량 저하</a:t>
            </a:r>
            <a:r>
              <a:rPr lang="en-US" altLang="ko-KR" sz="2000" dirty="0"/>
              <a:t>,</a:t>
            </a:r>
            <a:r>
              <a:rPr lang="ko-KR" altLang="en-US" sz="2000" dirty="0"/>
              <a:t> 자발연</a:t>
            </a:r>
            <a:r>
              <a:rPr lang="en-US" altLang="ko-KR" sz="2000" dirty="0"/>
              <a:t>(self-ignition)</a:t>
            </a:r>
            <a:r>
              <a:rPr lang="ko-KR" altLang="en-US" sz="2000" dirty="0"/>
              <a:t>을 방지하기 위한 적재</a:t>
            </a:r>
            <a:r>
              <a:rPr lang="en-US" altLang="ko-KR" sz="2000" dirty="0"/>
              <a:t>·</a:t>
            </a:r>
            <a:r>
              <a:rPr lang="ko-KR" altLang="en-US" sz="2000" dirty="0"/>
              <a:t>피복</a:t>
            </a:r>
            <a:r>
              <a:rPr lang="en-US" altLang="ko-KR" sz="2000" dirty="0"/>
              <a:t>·</a:t>
            </a:r>
            <a:r>
              <a:rPr lang="ko-KR" altLang="en-US" sz="2000" dirty="0"/>
              <a:t>환기 전략이 병행됨</a:t>
            </a:r>
          </a:p>
          <a:p>
            <a:pPr marL="742800" lvl="1" indent="-285600">
              <a:buFont typeface="Arial"/>
              <a:buChar char="•"/>
              <a:defRPr/>
            </a:pP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물류 단계에서의 계획 수립은 수요 예측</a:t>
            </a:r>
            <a:r>
              <a:rPr lang="en-US" altLang="ko-KR" sz="2000" dirty="0"/>
              <a:t>,</a:t>
            </a:r>
            <a:r>
              <a:rPr lang="ko-KR" altLang="en-US" sz="2000" dirty="0"/>
              <a:t> 적기 공급</a:t>
            </a:r>
            <a:r>
              <a:rPr lang="en-US" altLang="ko-KR" sz="2000" dirty="0"/>
              <a:t>,</a:t>
            </a:r>
            <a:r>
              <a:rPr lang="ko-KR" altLang="en-US" sz="2000" dirty="0"/>
              <a:t> 재고관리</a:t>
            </a:r>
            <a:r>
              <a:rPr lang="en-US" altLang="ko-KR" sz="2000" dirty="0"/>
              <a:t>,</a:t>
            </a:r>
            <a:r>
              <a:rPr lang="ko-KR" altLang="en-US" sz="2000" dirty="0"/>
              <a:t> 계약단가 설정과 밀접하게 연계되며</a:t>
            </a:r>
            <a:r>
              <a:rPr lang="en-US" altLang="ko-KR" sz="2000" dirty="0"/>
              <a:t>,</a:t>
            </a:r>
            <a:r>
              <a:rPr lang="ko-KR" altLang="en-US" sz="2000" dirty="0"/>
              <a:t> 최근에는 디지털 물류 시스템</a:t>
            </a:r>
            <a:r>
              <a:rPr lang="en-US" altLang="ko-KR" sz="2000" dirty="0"/>
              <a:t>,</a:t>
            </a:r>
            <a:r>
              <a:rPr lang="ko-KR" altLang="en-US" sz="2000" dirty="0"/>
              <a:t> 위성 추적</a:t>
            </a:r>
            <a:r>
              <a:rPr lang="en-US" altLang="ko-KR" sz="2000" dirty="0"/>
              <a:t>,</a:t>
            </a:r>
            <a:r>
              <a:rPr lang="ko-KR" altLang="en-US" sz="2000" dirty="0"/>
              <a:t> 예측기반 수송 모델 등의 활용도 확대 되고 있음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1928770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석탄의 가치사슬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defRPr/>
            </a:pPr>
            <a:r>
              <a:rPr lang="ko-KR" altLang="en-US" sz="2000" dirty="0"/>
              <a:t>전환과 활용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석탄의 주요 활용처는 전력 생산과 철강산업으로</a:t>
            </a:r>
            <a:r>
              <a:rPr lang="en-US" altLang="ko-KR" sz="2000" dirty="0"/>
              <a:t>,</a:t>
            </a:r>
            <a:r>
              <a:rPr lang="ko-KR" altLang="en-US" sz="2000" dirty="0"/>
              <a:t> 이 두 부문이 전체 석탄 수요의 대부분을 차이함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전력 부문에서는 석탄이 연소 과정을 통해 고온</a:t>
            </a:r>
            <a:r>
              <a:rPr lang="en-US" altLang="ko-KR" sz="2000" dirty="0"/>
              <a:t>·</a:t>
            </a:r>
            <a:r>
              <a:rPr lang="ko-KR" altLang="en-US" sz="2000" dirty="0"/>
              <a:t>고압의 증기를 생성하고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 증기로 증기터빈을 회전시켜 전기를 생산하는 방식이 일반적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역청탄은 코킹</a:t>
            </a:r>
            <a:r>
              <a:rPr lang="en-US" altLang="ko-KR" sz="2000" dirty="0"/>
              <a:t>(coking) </a:t>
            </a:r>
            <a:r>
              <a:rPr lang="ko-KR" altLang="en-US" sz="2000" dirty="0"/>
              <a:t>과정을 거쳐 코크스</a:t>
            </a:r>
            <a:r>
              <a:rPr lang="en-US" altLang="ko-KR" sz="2000" dirty="0"/>
              <a:t>(coke)</a:t>
            </a:r>
            <a:r>
              <a:rPr lang="ko-KR" altLang="en-US" sz="2000" dirty="0"/>
              <a:t>로 전환되며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용광로</a:t>
            </a:r>
            <a:r>
              <a:rPr lang="en-US" altLang="ko-KR" sz="2000" dirty="0"/>
              <a:t>(</a:t>
            </a:r>
            <a:r>
              <a:rPr lang="ko-KR" altLang="en-US" sz="2000" dirty="0"/>
              <a:t>고로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blast furnace)</a:t>
            </a:r>
            <a:r>
              <a:rPr lang="ko-KR" altLang="en-US" sz="2000" dirty="0"/>
              <a:t>에서 철광석을 환원시켜 쇳물</a:t>
            </a:r>
            <a:r>
              <a:rPr lang="en-US" altLang="ko-KR" sz="2000" dirty="0"/>
              <a:t>(</a:t>
            </a:r>
            <a:r>
              <a:rPr lang="ko-KR" altLang="en-US" sz="2000" dirty="0"/>
              <a:t>선철</a:t>
            </a:r>
            <a:r>
              <a:rPr lang="en-US" altLang="ko-KR" sz="2000" dirty="0"/>
              <a:t>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생산하는데 핵심적인 역할을 함</a:t>
            </a:r>
          </a:p>
          <a:p>
            <a:pPr marL="1142850" lvl="2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또한</a:t>
            </a:r>
            <a:r>
              <a:rPr lang="en-US" altLang="ko-KR" sz="2000" dirty="0"/>
              <a:t>,</a:t>
            </a:r>
            <a:r>
              <a:rPr lang="ko-KR" altLang="en-US" sz="2000" dirty="0"/>
              <a:t> 석탄은 가스화</a:t>
            </a:r>
            <a:r>
              <a:rPr lang="en-US" altLang="ko-KR" sz="2000" dirty="0"/>
              <a:t>(coal gasification) </a:t>
            </a:r>
            <a:r>
              <a:rPr lang="ko-KR" altLang="en-US" sz="2000" dirty="0"/>
              <a:t>및 액화</a:t>
            </a:r>
            <a:r>
              <a:rPr lang="en-US" altLang="ko-KR" sz="2000" dirty="0"/>
              <a:t>(coal liquefaction) </a:t>
            </a:r>
            <a:r>
              <a:rPr lang="ko-KR" altLang="en-US" sz="2000" dirty="0"/>
              <a:t>등의 전환 기술을 통해 합성가스</a:t>
            </a:r>
            <a:r>
              <a:rPr lang="en-US" altLang="ko-KR" sz="2000" dirty="0"/>
              <a:t>,</a:t>
            </a:r>
            <a:r>
              <a:rPr lang="ko-KR" altLang="en-US" sz="2000" dirty="0"/>
              <a:t> 화학제품</a:t>
            </a:r>
            <a:r>
              <a:rPr lang="en-US" altLang="ko-KR" sz="2000" dirty="0"/>
              <a:t>(</a:t>
            </a:r>
            <a:r>
              <a:rPr lang="ko-KR" altLang="en-US" sz="2000" dirty="0"/>
              <a:t>메탄올</a:t>
            </a:r>
            <a:r>
              <a:rPr lang="en-US" altLang="ko-KR" sz="2000" dirty="0"/>
              <a:t>,</a:t>
            </a:r>
            <a:r>
              <a:rPr lang="ko-KR" altLang="en-US" sz="2000" dirty="0"/>
              <a:t> 암모니아</a:t>
            </a:r>
            <a:r>
              <a:rPr lang="en-US" altLang="ko-KR" sz="2000" dirty="0"/>
              <a:t>),</a:t>
            </a:r>
            <a:r>
              <a:rPr lang="ko-KR" altLang="en-US" sz="2000" dirty="0"/>
              <a:t> 액체연료 등으로 활용될 수 있음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이들 전환기술은 고비용</a:t>
            </a:r>
            <a:r>
              <a:rPr lang="en-US" altLang="ko-KR" sz="2000" dirty="0"/>
              <a:t>,</a:t>
            </a:r>
            <a:r>
              <a:rPr lang="ko-KR" altLang="en-US" sz="2000" dirty="0"/>
              <a:t> 기술 복잡성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소비량이 크며</a:t>
            </a:r>
            <a:r>
              <a:rPr lang="en-US" altLang="ko-KR" sz="2000" dirty="0"/>
              <a:t>,</a:t>
            </a:r>
            <a:r>
              <a:rPr lang="ko-KR" altLang="en-US" sz="2000" dirty="0"/>
              <a:t> 무엇보다도 이산화탄소 배출</a:t>
            </a:r>
            <a:r>
              <a:rPr lang="en-US" altLang="ko-KR" sz="2000" dirty="0"/>
              <a:t>,</a:t>
            </a:r>
            <a:r>
              <a:rPr lang="ko-KR" altLang="en-US" sz="2000" dirty="0"/>
              <a:t> 폐수 및 고형폐기물 발생 등의 환경문제로 인해 상업적 활용이 제한적임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2310298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석탄 생산기술과 비용구조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defRPr/>
            </a:pPr>
            <a:r>
              <a:rPr lang="ko-KR" altLang="en-US" sz="2000" dirty="0"/>
              <a:t>석탄의 생산기술과 비용구조는 채굴방식</a:t>
            </a:r>
            <a:r>
              <a:rPr lang="en-US" altLang="ko-KR" sz="2000" dirty="0"/>
              <a:t>,</a:t>
            </a:r>
            <a:r>
              <a:rPr lang="ko-KR" altLang="en-US" sz="2000" dirty="0"/>
              <a:t> 광상 깊이</a:t>
            </a:r>
            <a:r>
              <a:rPr lang="en-US" altLang="ko-KR" sz="2000" dirty="0"/>
              <a:t>,</a:t>
            </a:r>
            <a:r>
              <a:rPr lang="ko-KR" altLang="en-US" sz="2000" dirty="0"/>
              <a:t> 지질조건</a:t>
            </a:r>
            <a:r>
              <a:rPr lang="en-US" altLang="ko-KR" sz="2000" dirty="0"/>
              <a:t>,</a:t>
            </a:r>
            <a:r>
              <a:rPr lang="ko-KR" altLang="en-US" sz="2000" dirty="0"/>
              <a:t> 기술수준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및 노동비용</a:t>
            </a:r>
            <a:r>
              <a:rPr lang="en-US" altLang="ko-KR" sz="2000" dirty="0"/>
              <a:t>,</a:t>
            </a:r>
            <a:r>
              <a:rPr lang="ko-KR" altLang="en-US" sz="2000" dirty="0"/>
              <a:t> 환경규제</a:t>
            </a:r>
            <a:r>
              <a:rPr lang="en-US" altLang="ko-KR" sz="2000" dirty="0"/>
              <a:t>,</a:t>
            </a:r>
            <a:r>
              <a:rPr lang="ko-KR" altLang="en-US" sz="2000" dirty="0"/>
              <a:t> 운송 인프라 등 다양한 요인에 의하여 결정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노천채굴은 대형 기계장비를 활용한 자동화가 가능해 상대적으로 생산비용이 낮은 반면</a:t>
            </a:r>
            <a:r>
              <a:rPr lang="en-US" altLang="ko-KR" sz="2000" dirty="0"/>
              <a:t>,</a:t>
            </a:r>
            <a:r>
              <a:rPr lang="ko-KR" altLang="en-US" sz="2000" dirty="0"/>
              <a:t> 지하채굴은 깊은 지층의 석탄을 채굴하기 위해 복잡한 환기</a:t>
            </a:r>
            <a:r>
              <a:rPr lang="en-US" altLang="ko-KR" sz="2000" dirty="0"/>
              <a:t>,</a:t>
            </a:r>
            <a:r>
              <a:rPr lang="ko-KR" altLang="en-US" sz="2000" dirty="0"/>
              <a:t> 안정</a:t>
            </a:r>
            <a:r>
              <a:rPr lang="en-US" altLang="ko-KR" sz="2000" dirty="0"/>
              <a:t>,</a:t>
            </a:r>
            <a:r>
              <a:rPr lang="ko-KR" altLang="en-US" sz="2000" dirty="0"/>
              <a:t> 배수 설비를 설치해야 하므로 인건비 및 설비비용이 크게 증가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생산기술의 자동화 및 기계화 수준도 비용구조에 결정적인 영향을 미침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선진국에서는 고효율 자동차 채굴시스템과 실시간 모니터링 기술을 통해 노동력 투입을 최소화하고</a:t>
            </a:r>
            <a:r>
              <a:rPr lang="en-US" altLang="ko-KR" sz="2000" dirty="0"/>
              <a:t>,</a:t>
            </a:r>
            <a:r>
              <a:rPr lang="ko-KR" altLang="en-US" sz="2000" dirty="0"/>
              <a:t> 단위 생산비를 점감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개발도상국에서는 노동집약적인 방식이 여전히 광범위하게 사용되며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이로 인해 단위 생산성이 낮고</a:t>
            </a:r>
            <a:r>
              <a:rPr lang="en-US" altLang="ko-KR" sz="2000" dirty="0"/>
              <a:t>,</a:t>
            </a:r>
            <a:r>
              <a:rPr lang="ko-KR" altLang="en-US" sz="2000" dirty="0"/>
              <a:t> 광부의 안정 사고 발생 가능성도 높음</a:t>
            </a:r>
          </a:p>
          <a:p>
            <a:pPr marL="1142850" lvl="2" indent="-285600">
              <a:buFont typeface="Arial"/>
              <a:buChar char="•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63005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석탄 생산기술과 비용구조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채굴은 대규모 전력 및 연료 사용이 필요한 산업으로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가격 변동성에 매우 민감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대형 장비 운용</a:t>
            </a:r>
            <a:r>
              <a:rPr lang="en-US" altLang="ko-KR" sz="2000" dirty="0"/>
              <a:t>,</a:t>
            </a:r>
            <a:r>
              <a:rPr lang="ko-KR" altLang="en-US" sz="2000" dirty="0"/>
              <a:t> 환기 시스템</a:t>
            </a:r>
            <a:r>
              <a:rPr lang="en-US" altLang="ko-KR" sz="2000" dirty="0"/>
              <a:t>,</a:t>
            </a:r>
            <a:r>
              <a:rPr lang="ko-KR" altLang="en-US" sz="2000" dirty="0"/>
              <a:t> 지하수 배수</a:t>
            </a:r>
            <a:r>
              <a:rPr lang="en-US" altLang="ko-KR" sz="2000" dirty="0"/>
              <a:t>,</a:t>
            </a:r>
            <a:r>
              <a:rPr lang="ko-KR" altLang="en-US" sz="2000" dirty="0"/>
              <a:t> 배수 시설 등은 막대한 전력 소모</a:t>
            </a:r>
            <a:r>
              <a:rPr lang="en-US" altLang="ko-KR" sz="2000" dirty="0"/>
              <a:t>,</a:t>
            </a:r>
            <a:r>
              <a:rPr lang="ko-KR" altLang="en-US" sz="2000" dirty="0"/>
              <a:t> 이로 인해 전력요금 또는 유가 상승은 곧바로 생산비 증가로 이어짐</a:t>
            </a:r>
          </a:p>
          <a:p>
            <a:pPr marL="1142850" lvl="2" indent="-285600">
              <a:buFont typeface="Arial"/>
              <a:buChar char="•"/>
              <a:defRPr/>
            </a:pP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환경규제는 최근 석탄 생산비용에서 점차 가장 중요한 외생요인 중 하나로 부상하고 있음</a:t>
            </a:r>
          </a:p>
          <a:p>
            <a:pPr marL="1142850" lvl="2" indent="-285600">
              <a:defRPr/>
            </a:pPr>
            <a:r>
              <a:rPr lang="ko-KR" altLang="en-US" sz="2000" dirty="0"/>
              <a:t>광산개발 단계에서 환경영향평가</a:t>
            </a:r>
            <a:r>
              <a:rPr lang="en-US" altLang="ko-KR" sz="2000" dirty="0"/>
              <a:t>,</a:t>
            </a:r>
            <a:r>
              <a:rPr lang="ko-KR" altLang="en-US" sz="2000" dirty="0"/>
              <a:t> 복원계획</a:t>
            </a:r>
            <a:r>
              <a:rPr lang="en-US" altLang="ko-KR" sz="2000" dirty="0"/>
              <a:t>,</a:t>
            </a:r>
            <a:r>
              <a:rPr lang="ko-KR" altLang="en-US" sz="2000" dirty="0"/>
              <a:t> 배출 기준 준수</a:t>
            </a:r>
            <a:r>
              <a:rPr lang="en-US" altLang="ko-KR" sz="2000" dirty="0"/>
              <a:t>,</a:t>
            </a:r>
            <a:r>
              <a:rPr lang="ko-KR" altLang="en-US" sz="2000" dirty="0"/>
              <a:t> 지하수 보호</a:t>
            </a:r>
            <a:r>
              <a:rPr lang="en-US" altLang="ko-KR" sz="2000" dirty="0"/>
              <a:t>,</a:t>
            </a:r>
            <a:r>
              <a:rPr lang="ko-KR" altLang="en-US" sz="2000" dirty="0"/>
              <a:t> 미세먼지 관리 등에 따른 복구비용과 규제 대응비용이 생산비용을 증가시키고 있음</a:t>
            </a:r>
          </a:p>
          <a:p>
            <a:pPr marL="1142850" lvl="2" indent="-285600"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생산비용에는 채굴 이후의 운송 및 물류 비용도 중요한 비중을 차지함</a:t>
            </a:r>
          </a:p>
          <a:p>
            <a:pPr marL="1142850" lvl="2" indent="-285600">
              <a:defRPr/>
            </a:pPr>
            <a:r>
              <a:rPr lang="ko-KR" altLang="en-US" sz="2000" dirty="0"/>
              <a:t>철도</a:t>
            </a:r>
            <a:r>
              <a:rPr lang="en-US" altLang="ko-KR" sz="2000" dirty="0"/>
              <a:t>,</a:t>
            </a:r>
            <a:r>
              <a:rPr lang="ko-KR" altLang="en-US" sz="2000" dirty="0"/>
              <a:t> 항만</a:t>
            </a:r>
            <a:r>
              <a:rPr lang="en-US" altLang="ko-KR" sz="2000" dirty="0"/>
              <a:t>,</a:t>
            </a:r>
            <a:r>
              <a:rPr lang="ko-KR" altLang="en-US" sz="2000" dirty="0"/>
              <a:t> 도로 등 수송 인프라의 접근성은 물류비용과 공급안정성에 직결됨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877583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석탄채굴과정의 사회적</a:t>
            </a:r>
            <a:r>
              <a:rPr lang="en-US" altLang="ko-KR" sz="3200"/>
              <a:t>·</a:t>
            </a:r>
            <a:r>
              <a:rPr lang="ko-KR" altLang="en-US" sz="3200"/>
              <a:t>환경적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석탄 채굴 과정은 에너지 자원 확보라는 경제적 이익에도 불구하고</a:t>
            </a:r>
            <a:r>
              <a:rPr lang="en-US" altLang="ko-KR" sz="2000" dirty="0"/>
              <a:t>,</a:t>
            </a:r>
            <a:r>
              <a:rPr lang="ko-KR" altLang="en-US" sz="2000" dirty="0"/>
              <a:t> 다양한 환경적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문제를 초래하며 지속가능성과 형평성 측면에서 심각한 도전을 제기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채굴은 토지 훼손</a:t>
            </a:r>
            <a:r>
              <a:rPr lang="en-US" altLang="ko-KR" sz="2000" dirty="0"/>
              <a:t>,</a:t>
            </a:r>
            <a:r>
              <a:rPr lang="ko-KR" altLang="en-US" sz="2000" dirty="0"/>
              <a:t> 생태계 파괴</a:t>
            </a:r>
            <a:r>
              <a:rPr lang="en-US" altLang="ko-KR" sz="2000" dirty="0"/>
              <a:t>,</a:t>
            </a:r>
            <a:r>
              <a:rPr lang="ko-KR" altLang="en-US" sz="2000" dirty="0"/>
              <a:t> 수질 및 대기오염 등 다방면에서 환경에 심대한 영향을 미침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채굴 과정에서 발생하는 산성광산비수는 황화광물의 산화로 인해 생성되며</a:t>
            </a:r>
            <a:r>
              <a:rPr lang="en-US" altLang="ko-KR" sz="2000" dirty="0"/>
              <a:t>,</a:t>
            </a:r>
            <a:r>
              <a:rPr lang="ko-KR" altLang="en-US" sz="2000" dirty="0"/>
              <a:t> 중금속이 함유된 오염수가 하천 및 지하수로 유입되어 장기적으로 수자원 생태계와 인간 건강에 악영향을 미침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석탄채굴은 사회경제적으로 취약한 지역에 집중되는 경우가 많으며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이로 인해 광산 개발은 지역사회의 불균형과 장기적 의존성을 심화시킴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광산 주변 지역은 대체 산업 기반이 부족해 석탄 산업의 축소나 폐쇄 시 대규모 실업과 지역사회의 붕괴로 이어질 수 있음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1114632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석탄 산업의 구조와 경쟁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산업구조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산업의 구조는 일반적으로 상류</a:t>
            </a:r>
            <a:r>
              <a:rPr lang="en-US" altLang="ko-KR" sz="2000" dirty="0"/>
              <a:t>,</a:t>
            </a:r>
            <a:r>
              <a:rPr lang="ko-KR" altLang="en-US" sz="2000" dirty="0"/>
              <a:t> 중류</a:t>
            </a:r>
            <a:r>
              <a:rPr lang="en-US" altLang="ko-KR" sz="2000" dirty="0"/>
              <a:t>,</a:t>
            </a:r>
            <a:r>
              <a:rPr lang="ko-KR" altLang="en-US" sz="2000" dirty="0"/>
              <a:t> 하류의 세 단계로 구분되며</a:t>
            </a:r>
            <a:r>
              <a:rPr lang="en-US" altLang="ko-KR" sz="2000" dirty="0"/>
              <a:t>,</a:t>
            </a:r>
            <a:r>
              <a:rPr lang="ko-KR" altLang="en-US" sz="2000" dirty="0"/>
              <a:t> 각 단계는 고유한 진입장벽과 산업구조를 가짐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상류 부문에서는 중국</a:t>
            </a:r>
            <a:r>
              <a:rPr lang="en-US" altLang="ko-KR" sz="2000" dirty="0"/>
              <a:t>,</a:t>
            </a:r>
            <a:r>
              <a:rPr lang="ko-KR" altLang="en-US" sz="2000" dirty="0"/>
              <a:t> 호주</a:t>
            </a:r>
            <a:r>
              <a:rPr lang="en-US" altLang="ko-KR" sz="2000" dirty="0"/>
              <a:t>,</a:t>
            </a:r>
            <a:r>
              <a:rPr lang="ko-KR" altLang="en-US" sz="2000" dirty="0"/>
              <a:t> 미국</a:t>
            </a:r>
            <a:r>
              <a:rPr lang="en-US" altLang="ko-KR" sz="2000" dirty="0"/>
              <a:t>,</a:t>
            </a:r>
            <a:r>
              <a:rPr lang="ko-KR" altLang="en-US" sz="2000" dirty="0"/>
              <a:t> 러시아 등의 대형 자원기업들이 자본력과 기술력을 바탕으로 세계 시장 주도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중류 부문은 석탄의 세척</a:t>
            </a:r>
            <a:r>
              <a:rPr lang="en-US" altLang="ko-KR" sz="2000" dirty="0"/>
              <a:t>,</a:t>
            </a:r>
            <a:r>
              <a:rPr lang="ko-KR" altLang="en-US" sz="2000" dirty="0"/>
              <a:t> 가공</a:t>
            </a:r>
            <a:r>
              <a:rPr lang="en-US" altLang="ko-KR" sz="2000" dirty="0"/>
              <a:t>,</a:t>
            </a:r>
            <a:r>
              <a:rPr lang="ko-KR" altLang="en-US" sz="2000" dirty="0"/>
              <a:t> 운송을 포함하며</a:t>
            </a:r>
            <a:r>
              <a:rPr lang="en-US" altLang="ko-KR" sz="2000" dirty="0"/>
              <a:t>,</a:t>
            </a:r>
            <a:r>
              <a:rPr lang="ko-KR" altLang="en-US" sz="2000" dirty="0"/>
              <a:t> 채굴기업뿐 아니라 전문 물류기업과 인프라 운영기관이 참여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하류 부문에서는 발전소</a:t>
            </a:r>
            <a:r>
              <a:rPr lang="en-US" altLang="ko-KR" sz="2000" dirty="0"/>
              <a:t>,</a:t>
            </a:r>
            <a:r>
              <a:rPr lang="ko-KR" altLang="en-US" sz="2000" dirty="0"/>
              <a:t> 철강 및 시멘트 산업 등 대규모 소비자가 주요 수요자로 존재</a:t>
            </a:r>
          </a:p>
          <a:p>
            <a:pPr marL="1600050" lvl="3" indent="-285600">
              <a:buFont typeface="Arial"/>
              <a:buChar char="•"/>
              <a:defRPr/>
            </a:pPr>
            <a:r>
              <a:rPr lang="ko-KR" altLang="en-US" sz="2000" dirty="0"/>
              <a:t>일부 국가는 공기업이 석탄 유통을 독점하거나 주도하는 반면</a:t>
            </a:r>
            <a:r>
              <a:rPr lang="en-US" altLang="ko-KR" sz="2000" dirty="0"/>
              <a:t>,</a:t>
            </a:r>
            <a:r>
              <a:rPr lang="ko-KR" altLang="en-US" sz="2000" dirty="0"/>
              <a:t> 자유경쟁이 허용된 국가에서는 민간기업 간의 경쟁이 활발하게 이루어짐</a:t>
            </a:r>
          </a:p>
          <a:p>
            <a:pPr marL="1600050" lvl="3" indent="-285600">
              <a:buFont typeface="Arial"/>
              <a:buChar char="•"/>
              <a:defRPr/>
            </a:pPr>
            <a:r>
              <a:rPr lang="ko-KR" altLang="en-US" sz="2000" dirty="0"/>
              <a:t>특히</a:t>
            </a:r>
            <a:r>
              <a:rPr lang="en-US" altLang="ko-KR" sz="2000" dirty="0"/>
              <a:t>,</a:t>
            </a:r>
            <a:r>
              <a:rPr lang="ko-KR" altLang="en-US" sz="2000" dirty="0"/>
              <a:t> 전력산업의 구조와 규제 체계는 석탄 수요</a:t>
            </a:r>
            <a:r>
              <a:rPr lang="en-US" altLang="ko-KR" sz="2000" dirty="0"/>
              <a:t>,</a:t>
            </a:r>
            <a:r>
              <a:rPr lang="ko-KR" altLang="en-US" sz="2000" dirty="0"/>
              <a:t> 계약 구조</a:t>
            </a:r>
            <a:r>
              <a:rPr lang="en-US" altLang="ko-KR" sz="2000" dirty="0"/>
              <a:t>,</a:t>
            </a:r>
            <a:r>
              <a:rPr lang="ko-KR" altLang="en-US" sz="2000" dirty="0"/>
              <a:t> 공급 전략에 직접적인 영향을 미침</a:t>
            </a:r>
          </a:p>
          <a:p>
            <a:pPr marL="342750" lvl="0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시장경쟁 요소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산업의 경쟁구조는 수요</a:t>
            </a:r>
            <a:r>
              <a:rPr lang="en-US" altLang="ko-KR" sz="2000" dirty="0"/>
              <a:t>,</a:t>
            </a:r>
            <a:r>
              <a:rPr lang="ko-KR" altLang="en-US" sz="2000" dirty="0"/>
              <a:t> 규제</a:t>
            </a:r>
            <a:r>
              <a:rPr lang="en-US" altLang="ko-KR" sz="2000" dirty="0"/>
              <a:t>,</a:t>
            </a:r>
            <a:r>
              <a:rPr lang="ko-KR" altLang="en-US" sz="2000" dirty="0"/>
              <a:t> 기술</a:t>
            </a:r>
            <a:r>
              <a:rPr lang="en-US" altLang="ko-KR" sz="2000" dirty="0"/>
              <a:t>,</a:t>
            </a:r>
            <a:r>
              <a:rPr lang="ko-KR" altLang="en-US" sz="2000" dirty="0"/>
              <a:t> 지정학적 요인이 상호작용에 따라 결정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547153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석탄 산업의 구조와 경쟁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시장경쟁 요소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글로벌 수요 측면에서 석탄 소비는 중국과 인도 등 신흥경제국의 산업 성장과 전력수요 확대에  따라 유지되고 있는 반면</a:t>
            </a:r>
            <a:r>
              <a:rPr lang="en-US" altLang="ko-KR" sz="2000" dirty="0"/>
              <a:t>,</a:t>
            </a:r>
            <a:r>
              <a:rPr lang="ko-KR" altLang="en-US" sz="2000" dirty="0"/>
              <a:t> 미국</a:t>
            </a:r>
            <a:r>
              <a:rPr lang="en-US" altLang="ko-KR" sz="2000" dirty="0"/>
              <a:t>,</a:t>
            </a:r>
            <a:r>
              <a:rPr lang="ko-KR" altLang="en-US" sz="2000" dirty="0"/>
              <a:t> 유럽 등 선진국에서는 탄소중립 목표와 재생에너지 보급 확대에 따라 석탄 수요가 감소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유럽연합은 강력한 탄소 배출권거래제와 환경기준을 도입해 석탄 기업의 규제 준수 비용을 증가 시키고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이에 따라 가격경쟁력이 약화됨</a:t>
            </a:r>
            <a:r>
              <a:rPr lang="en-US" altLang="ko-KR" sz="2000" dirty="0"/>
              <a:t>.</a:t>
            </a:r>
            <a:r>
              <a:rPr lang="ko-KR" altLang="en-US" sz="2000" dirty="0"/>
              <a:t> 반면</a:t>
            </a:r>
            <a:r>
              <a:rPr lang="en-US" altLang="ko-KR" sz="2000" dirty="0"/>
              <a:t>,</a:t>
            </a:r>
            <a:r>
              <a:rPr lang="ko-KR" altLang="en-US" sz="2000" dirty="0"/>
              <a:t> 환경규제가 느슨한 국가에서는 상대적으로 낮은 생산비용으로 인해 수출경쟁력이 유지되며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이로 인해 규제 기반의 국제 경쟁 불균형</a:t>
            </a:r>
            <a:r>
              <a:rPr lang="en-US" altLang="ko-KR" sz="2000" dirty="0"/>
              <a:t>(regulatory asymmetry)</a:t>
            </a:r>
            <a:r>
              <a:rPr lang="ko-KR" altLang="en-US" sz="2000" dirty="0"/>
              <a:t>이 발생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태양광</a:t>
            </a:r>
            <a:r>
              <a:rPr lang="en-US" altLang="ko-KR" sz="2000" dirty="0"/>
              <a:t>,</a:t>
            </a:r>
            <a:r>
              <a:rPr lang="ko-KR" altLang="en-US" sz="2000" dirty="0"/>
              <a:t> 풍력</a:t>
            </a:r>
            <a:r>
              <a:rPr lang="en-US" altLang="ko-KR" sz="2000" dirty="0"/>
              <a:t>,</a:t>
            </a:r>
            <a:r>
              <a:rPr lang="ko-KR" altLang="en-US" sz="2000" dirty="0"/>
              <a:t> 배터리 저장 기술의 급속한 발전은 석탄에 대한 구조적 대체 압력을 심화시키며</a:t>
            </a:r>
            <a:r>
              <a:rPr lang="en-US" altLang="ko-KR" sz="2000" dirty="0"/>
              <a:t>,</a:t>
            </a:r>
            <a:r>
              <a:rPr lang="ko-KR" altLang="en-US" sz="2000" dirty="0"/>
              <a:t> 이에 대응하기 위해 일부 석탄 기업들은 고효율 보일러 기술</a:t>
            </a:r>
            <a:r>
              <a:rPr lang="en-US" altLang="ko-KR" sz="2000" dirty="0"/>
              <a:t>,</a:t>
            </a:r>
            <a:r>
              <a:rPr lang="ko-KR" altLang="en-US" sz="2000" dirty="0"/>
              <a:t> 이산화탄소포집</a:t>
            </a:r>
            <a:r>
              <a:rPr lang="en-US" altLang="ko-KR" sz="2000" dirty="0"/>
              <a:t>·</a:t>
            </a:r>
            <a:r>
              <a:rPr lang="ko-KR" altLang="en-US" sz="2000" dirty="0"/>
              <a:t>저장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수소 및 재생에너지 분야로 사업 다각화를 추진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무역 분쟁</a:t>
            </a:r>
            <a:r>
              <a:rPr lang="en-US" altLang="ko-KR" sz="2000" dirty="0"/>
              <a:t>,</a:t>
            </a:r>
            <a:r>
              <a:rPr lang="ko-KR" altLang="en-US" sz="2000" dirty="0"/>
              <a:t> 수출입 규제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안보 전략 등은 석탄 공급망 재편에 직접적인 영향을 미침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356764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석탄 시장의 거래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석탄 매장량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글로벌 석탄 매장장은 석유나 천연가스에 비해 지리적으로 넓게 분포되오 있으나</a:t>
            </a:r>
            <a:r>
              <a:rPr lang="en-US" altLang="ko-KR" sz="2000" dirty="0"/>
              <a:t>,</a:t>
            </a:r>
            <a:r>
              <a:rPr lang="ko-KR" altLang="en-US" sz="2000" dirty="0"/>
              <a:t> 실제 확인 매장량의 대부분은 소수의 국가에 집중되어 있음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기준 전 세계 확인 매장량은 약 </a:t>
            </a:r>
            <a:r>
              <a:rPr lang="en-US" altLang="ko-KR" sz="2000" dirty="0"/>
              <a:t>1.07</a:t>
            </a:r>
            <a:r>
              <a:rPr lang="ko-KR" altLang="en-US" sz="2000" dirty="0"/>
              <a:t>조 톤으로 추정되며</a:t>
            </a:r>
            <a:r>
              <a:rPr lang="en-US" altLang="ko-KR" sz="2000" dirty="0"/>
              <a:t>,</a:t>
            </a:r>
            <a:r>
              <a:rPr lang="ko-KR" altLang="en-US" sz="2000" dirty="0"/>
              <a:t> 현재 소비 수준을 기준으로 약 </a:t>
            </a:r>
            <a:r>
              <a:rPr lang="en-US" altLang="ko-KR" sz="2000" dirty="0"/>
              <a:t>130~150</a:t>
            </a:r>
            <a:r>
              <a:rPr lang="ko-KR" altLang="en-US" sz="2000" dirty="0"/>
              <a:t>년간 채굴이 가능한 수준으로 추정됨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미국</a:t>
            </a:r>
            <a:r>
              <a:rPr lang="en-US" altLang="ko-KR" sz="2000" dirty="0"/>
              <a:t>,</a:t>
            </a:r>
            <a:r>
              <a:rPr lang="ko-KR" altLang="en-US" sz="2000" dirty="0"/>
              <a:t> 호주</a:t>
            </a:r>
            <a:r>
              <a:rPr lang="en-US" altLang="ko-KR" sz="2000" dirty="0"/>
              <a:t>,</a:t>
            </a:r>
            <a:r>
              <a:rPr lang="ko-KR" altLang="en-US" sz="2000" dirty="0"/>
              <a:t> 중국</a:t>
            </a:r>
            <a:r>
              <a:rPr lang="en-US" altLang="ko-KR" sz="2000" dirty="0"/>
              <a:t>,</a:t>
            </a:r>
            <a:r>
              <a:rPr lang="ko-KR" altLang="en-US" sz="2000" dirty="0"/>
              <a:t> 남아프리카공화국 등은 고열량의 무연탄 및 역청탄이 풍부</a:t>
            </a:r>
            <a:r>
              <a:rPr lang="en-US" altLang="ko-KR" sz="2000" dirty="0"/>
              <a:t>.</a:t>
            </a:r>
            <a:r>
              <a:rPr lang="ko-KR" altLang="en-US" sz="2000" dirty="0"/>
              <a:t> 반면</a:t>
            </a:r>
            <a:r>
              <a:rPr lang="en-US" altLang="ko-KR" sz="2000" dirty="0"/>
              <a:t>,</a:t>
            </a:r>
            <a:r>
              <a:rPr lang="ko-KR" altLang="en-US" sz="2000" dirty="0"/>
              <a:t> 독일</a:t>
            </a:r>
            <a:r>
              <a:rPr lang="en-US" altLang="ko-KR" sz="2000" dirty="0"/>
              <a:t>,</a:t>
            </a:r>
            <a:r>
              <a:rPr lang="ko-KR" altLang="en-US" sz="2000" dirty="0"/>
              <a:t> 인도네시아</a:t>
            </a:r>
            <a:r>
              <a:rPr lang="en-US" altLang="ko-KR" sz="2000" dirty="0"/>
              <a:t>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,</a:t>
            </a:r>
            <a:r>
              <a:rPr lang="ko-KR" altLang="en-US" sz="2000" dirty="0"/>
              <a:t> 인도 등에서는 수분 함량이 높고 발열량이 낮은 갈탄이 주로 매장되어 있음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지역별로는 호주</a:t>
            </a:r>
            <a:r>
              <a:rPr lang="en-US" altLang="ko-KR" sz="2000" dirty="0"/>
              <a:t>(14.0%),</a:t>
            </a:r>
            <a:r>
              <a:rPr lang="ko-KR" altLang="en-US" sz="2000" dirty="0"/>
              <a:t> 중국</a:t>
            </a:r>
            <a:r>
              <a:rPr lang="en-US" altLang="ko-KR" sz="2000" dirty="0"/>
              <a:t>(13.3%),</a:t>
            </a:r>
            <a:r>
              <a:rPr lang="ko-KR" altLang="en-US" sz="2000" dirty="0"/>
              <a:t> 인도</a:t>
            </a:r>
            <a:r>
              <a:rPr lang="en-US" altLang="ko-KR" sz="2000" dirty="0"/>
              <a:t>(13.3%)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중심으로한 아시아태평양 지역이 전 세계 매장량의 </a:t>
            </a:r>
            <a:r>
              <a:rPr lang="en-US" altLang="ko-KR" sz="2000" dirty="0"/>
              <a:t>42.8%</a:t>
            </a:r>
            <a:r>
              <a:rPr lang="ko-KR" altLang="en-US" sz="2000" dirty="0"/>
              <a:t>를 차지하고 있음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미국</a:t>
            </a:r>
            <a:r>
              <a:rPr lang="en-US" altLang="ko-KR" sz="2000" dirty="0"/>
              <a:t>(23.2%)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중심으로 한 북미지역이 </a:t>
            </a:r>
            <a:r>
              <a:rPr lang="en-US" altLang="ko-KR" sz="2000" dirty="0"/>
              <a:t>23.9%</a:t>
            </a:r>
            <a:r>
              <a:rPr lang="ko-KR" altLang="en-US" sz="2000" dirty="0"/>
              <a:t>를 차지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러시아</a:t>
            </a:r>
            <a:r>
              <a:rPr lang="en-US" altLang="ko-KR" sz="2000" dirty="0"/>
              <a:t>(15.1%)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포함한 </a:t>
            </a:r>
            <a:r>
              <a:rPr lang="en-US" altLang="ko-KR" sz="2000" dirty="0"/>
              <a:t>CIS</a:t>
            </a:r>
            <a:r>
              <a:rPr lang="ko-KR" altLang="en-US" sz="2000" dirty="0"/>
              <a:t>국가들은 </a:t>
            </a:r>
            <a:r>
              <a:rPr lang="en-US" altLang="ko-KR" sz="2000" dirty="0"/>
              <a:t>17.8%</a:t>
            </a:r>
            <a:r>
              <a:rPr lang="ko-KR" altLang="en-US" sz="2000" dirty="0"/>
              <a:t>를 나타내고 있음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1583841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57150" lvl="0" indent="0">
              <a:buFont typeface="Arial"/>
              <a:buNone/>
              <a:defRPr/>
            </a:pPr>
            <a:endParaRPr lang="ko-KR" altLang="en-US" sz="2000"/>
          </a:p>
          <a:p>
            <a:pPr marL="342750" lvl="0" indent="-285600">
              <a:buFont typeface="Arial"/>
              <a:buChar char="•"/>
              <a:defRPr/>
            </a:pPr>
            <a:endParaRPr lang="ko-KR" altLang="en-US" sz="200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1476376" y="541972"/>
          <a:ext cx="8683620" cy="564840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78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2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81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084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백만톤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무연탄 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&amp;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역청탄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아역청탄 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&amp;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갈탄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합계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매장량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/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생산비율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224,444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32,290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256,734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484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218,938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30,003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248,941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59,084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78,156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137,240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독일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35,900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35,900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84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우크레인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32,039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2,336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34,375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846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100,208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90,447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190,655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367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53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71,719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90,447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162,166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658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&amp; 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15,974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16,040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846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345,313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114,437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459,750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호주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73,719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76,508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150,227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135,069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8,128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143,197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105,979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5,073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111,052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084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인도네시아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23,141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11,728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34,869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753,639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320,469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1,074,108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24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331,303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177,130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508,433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47.3%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363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1084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422,336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143,339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565,675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52.7%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" name="가로 글상자 12"/>
          <p:cNvSpPr txBox="1"/>
          <p:nvPr/>
        </p:nvSpPr>
        <p:spPr>
          <a:xfrm>
            <a:off x="1476375" y="146275"/>
            <a:ext cx="5577840" cy="3661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7-1]</a:t>
            </a:r>
            <a:r>
              <a:rPr lang="ko-KR" altLang="en-US"/>
              <a:t> 지역별 석탄 매장량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백만톤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2020</a:t>
            </a:r>
            <a:r>
              <a:rPr lang="ko-KR" altLang="en-US"/>
              <a:t>년 기준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418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석탄 시장의 거래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/>
              <a:t>석탄 생산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글로벌 석탄 생산은 일부 국가들이 시장을 지배하는 고도로 집중화된 구조를 보이고 있음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중국은 급증하는 전력 수요와 산업용 석탄 수요의 구조적 고착성에 따라 석탄 생산량을 지속적으로 높은 수준에 유지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호주와 인도네시아는 자국내 소비보다 해외 수출을 주된 목적으로 석탄 생산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인도는 세계 </a:t>
            </a:r>
            <a:r>
              <a:rPr lang="en-US" altLang="ko-KR" sz="2000"/>
              <a:t>2</a:t>
            </a:r>
            <a:r>
              <a:rPr lang="ko-KR" altLang="en-US" sz="2000"/>
              <a:t>위 석탄 생산국임에도 불구하고 급속한 산업화와 전력 수요 증가로 인해 국내 생산만으로는 수요를 충당하기 어려 운 상황이며 이에 따라 매년 수천만톤의 석탄을 해외에서 수입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전 세계 석탄 생산은 </a:t>
            </a:r>
            <a:r>
              <a:rPr lang="en-US" altLang="ko-KR" sz="2000"/>
              <a:t>2013</a:t>
            </a:r>
            <a:r>
              <a:rPr lang="ko-KR" altLang="en-US" sz="2000"/>
              <a:t>년 </a:t>
            </a:r>
            <a:r>
              <a:rPr lang="en-US" altLang="ko-KR" sz="2000"/>
              <a:t>8,258.3(</a:t>
            </a:r>
            <a:r>
              <a:rPr lang="ko-KR" altLang="en-US" sz="2000"/>
              <a:t>백만 톤</a:t>
            </a:r>
            <a:r>
              <a:rPr lang="en-US" altLang="ko-KR" sz="2000"/>
              <a:t>)</a:t>
            </a:r>
            <a:r>
              <a:rPr lang="ko-KR" altLang="en-US" sz="2000"/>
              <a:t>에서 </a:t>
            </a:r>
            <a:r>
              <a:rPr lang="en-US" altLang="ko-KR" sz="2000"/>
              <a:t>2023</a:t>
            </a:r>
            <a:r>
              <a:rPr lang="ko-KR" altLang="en-US" sz="2000"/>
              <a:t>년 </a:t>
            </a:r>
            <a:r>
              <a:rPr lang="en-US" altLang="ko-KR" sz="2000"/>
              <a:t>9,095.6(</a:t>
            </a:r>
            <a:r>
              <a:rPr lang="ko-KR" altLang="en-US" sz="2000"/>
              <a:t>백만 톤</a:t>
            </a:r>
            <a:r>
              <a:rPr lang="en-US" altLang="ko-KR" sz="2000"/>
              <a:t>)</a:t>
            </a:r>
            <a:r>
              <a:rPr lang="ko-KR" altLang="en-US" sz="2000"/>
              <a:t>으로</a:t>
            </a:r>
            <a:r>
              <a:rPr lang="en-US" altLang="ko-KR" sz="2000"/>
              <a:t> </a:t>
            </a:r>
            <a:r>
              <a:rPr lang="ko-KR" altLang="en-US" sz="2000"/>
              <a:t>증가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/>
              <a:t>유럽 지역과 북미 지역의 생산이 감소한 반면 중국과 인도를 중심으로 아시아 지역의 생산이 크가 증가한 것이 주요 요인</a:t>
            </a:r>
          </a:p>
          <a:p>
            <a:pPr marL="1142850" lvl="2" indent="-285600">
              <a:buFont typeface="Arial"/>
              <a:buChar char="•"/>
              <a:defRPr/>
            </a:pPr>
            <a:endParaRPr lang="ko-KR" altLang="en-US" sz="2000"/>
          </a:p>
          <a:p>
            <a:pPr marL="742800" lvl="1" indent="-285600">
              <a:buFont typeface="Arial"/>
              <a:buChar char="•"/>
              <a:defRPr/>
            </a:pPr>
            <a:r>
              <a:rPr lang="en-US" altLang="ko-KR" sz="2000"/>
              <a:t>2023</a:t>
            </a:r>
            <a:r>
              <a:rPr lang="ko-KR" altLang="en-US" sz="2000"/>
              <a:t>년 지역별 생산을 살펴보면 아시아태평양 지역이 전 세계 생산의 </a:t>
            </a:r>
            <a:r>
              <a:rPr lang="en-US" altLang="ko-KR" sz="2000"/>
              <a:t>79.0%</a:t>
            </a:r>
            <a:r>
              <a:rPr lang="ko-KR" altLang="en-US" sz="2000"/>
              <a:t>를 차지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/>
              <a:t>중국의 비중이 전 세계 생산의 </a:t>
            </a:r>
            <a:r>
              <a:rPr lang="en-US" altLang="ko-KR" sz="2000"/>
              <a:t>51.8%,</a:t>
            </a:r>
            <a:r>
              <a:rPr lang="ko-KR" altLang="en-US" sz="2000"/>
              <a:t> 인도가 </a:t>
            </a:r>
            <a:r>
              <a:rPr lang="en-US" altLang="ko-KR" sz="2000"/>
              <a:t>11.1%,</a:t>
            </a:r>
            <a:r>
              <a:rPr lang="ko-KR" altLang="en-US" sz="2000"/>
              <a:t> 인도네시아가 </a:t>
            </a:r>
            <a:r>
              <a:rPr lang="en-US" altLang="ko-KR" sz="2000"/>
              <a:t>8.5%</a:t>
            </a:r>
            <a:r>
              <a:rPr lang="ko-KR" altLang="en-US" sz="2000"/>
              <a:t>를 나타냄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710692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361772" y="1224870"/>
            <a:ext cx="9423094" cy="4901293"/>
          </a:xfrm>
          <a:prstGeom prst="rect">
            <a:avLst/>
          </a:prstGeom>
        </p:spPr>
      </p:pic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1361772" y="846138"/>
            <a:ext cx="3806493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7-1]</a:t>
            </a:r>
            <a:r>
              <a:rPr lang="ko-KR" altLang="en-US"/>
              <a:t> 지역별 석탄 생산</a:t>
            </a:r>
            <a:r>
              <a:rPr lang="en-US" altLang="ko-KR"/>
              <a:t>(</a:t>
            </a:r>
            <a:r>
              <a:rPr lang="ko-KR" altLang="en-US"/>
              <a:t>백만 톤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5615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11653" y="918709"/>
          <a:ext cx="9669223" cy="48719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2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223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연평균 증가율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580.6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-5.0%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526.5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·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62.5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440.1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-5.2%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38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563.4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432.5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38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257.1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38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 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7,181.6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79.0%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호주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455.8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4,710.0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1,010.9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38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인도네시아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775.2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9,095.6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707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1,418.0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-3.9%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38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7,677.6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84.4%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711653" y="565830"/>
            <a:ext cx="5380537" cy="3657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7-2]</a:t>
            </a:r>
            <a:r>
              <a:rPr lang="ko-KR" altLang="en-US"/>
              <a:t> 지역별</a:t>
            </a:r>
            <a:r>
              <a:rPr lang="en-US" altLang="ko-KR"/>
              <a:t>·</a:t>
            </a:r>
            <a:r>
              <a:rPr lang="ko-KR" altLang="en-US"/>
              <a:t>국가별 석탄 생산 및 비중</a:t>
            </a:r>
            <a:r>
              <a:rPr lang="en-US" altLang="ko-KR"/>
              <a:t>(</a:t>
            </a:r>
            <a:r>
              <a:rPr lang="ko-KR" altLang="en-US"/>
              <a:t>백만 톤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%)</a:t>
            </a:r>
          </a:p>
        </p:txBody>
      </p:sp>
    </p:spTree>
    <p:extLst>
      <p:ext uri="{BB962C8B-B14F-4D97-AF65-F5344CB8AC3E}">
        <p14:creationId xmlns:p14="http://schemas.microsoft.com/office/powerpoint/2010/main" val="3748611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석탄 시장의 거래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석탄 소비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글로벌 석탄 소비는 석유나 천연가스에 비해  국가 간 불균형이 더 뚜렷하게 나타나며</a:t>
            </a:r>
            <a:r>
              <a:rPr lang="en-US" altLang="ko-KR" sz="2000" dirty="0"/>
              <a:t>,</a:t>
            </a:r>
            <a:r>
              <a:rPr lang="ko-KR" altLang="en-US" sz="2000" dirty="0"/>
              <a:t> 각국의 에너지 믹스 구조에 따라 석탄 의존도 또한 현저히 다름</a:t>
            </a: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en-US" altLang="ko-KR" sz="2000" dirty="0"/>
              <a:t>2013</a:t>
            </a:r>
            <a:r>
              <a:rPr lang="ko-KR" altLang="en-US" sz="2000" dirty="0"/>
              <a:t>년부터 </a:t>
            </a:r>
            <a:r>
              <a:rPr lang="en-US" altLang="ko-KR" sz="2000" dirty="0"/>
              <a:t>2023</a:t>
            </a:r>
            <a:r>
              <a:rPr lang="ko-KR" altLang="en-US" sz="2000" dirty="0"/>
              <a:t>년 기간 동안 전 세계 석탄 소비는 </a:t>
            </a:r>
            <a:r>
              <a:rPr lang="en-US" altLang="ko-KR" sz="2000" dirty="0"/>
              <a:t>160.9(</a:t>
            </a:r>
            <a:r>
              <a:rPr lang="ko-KR" altLang="en-US" sz="2000" dirty="0"/>
              <a:t>엑사줄</a:t>
            </a:r>
            <a:r>
              <a:rPr lang="en-US" altLang="ko-KR" sz="2000" dirty="0"/>
              <a:t>)</a:t>
            </a:r>
            <a:r>
              <a:rPr lang="ko-KR" altLang="en-US" sz="2000" dirty="0"/>
              <a:t>에서 </a:t>
            </a:r>
            <a:r>
              <a:rPr lang="en-US" altLang="ko-KR" sz="2000" dirty="0"/>
              <a:t>164.0(</a:t>
            </a:r>
            <a:r>
              <a:rPr lang="ko-KR" altLang="en-US" sz="2000" dirty="0"/>
              <a:t>엑사줄</a:t>
            </a:r>
            <a:r>
              <a:rPr lang="en-US" altLang="ko-KR" sz="2000" dirty="0"/>
              <a:t>)</a:t>
            </a:r>
            <a:r>
              <a:rPr lang="ko-KR" altLang="en-US" sz="2000" dirty="0"/>
              <a:t>로 증가하는 모습을 모임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다른 지역은 소비가 감소하였으나 아시아태평양 지역의 소비는 증가</a:t>
            </a:r>
          </a:p>
          <a:p>
            <a:pPr marL="742800" lvl="1" indent="-285600">
              <a:buFont typeface="Arial"/>
              <a:buChar char="•"/>
              <a:defRPr/>
            </a:pP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현재 아시아태평양 지역은 전 세계 석탄 소비의 </a:t>
            </a:r>
            <a:r>
              <a:rPr lang="en-US" altLang="ko-KR" sz="2000" dirty="0"/>
              <a:t>82.7%</a:t>
            </a:r>
            <a:r>
              <a:rPr lang="ko-KR" altLang="en-US" sz="2000" dirty="0"/>
              <a:t>를 나타내고 있으며 북미 </a:t>
            </a:r>
            <a:r>
              <a:rPr lang="en-US" altLang="ko-KR" sz="2000" dirty="0"/>
              <a:t>5.4%,</a:t>
            </a:r>
            <a:r>
              <a:rPr lang="ko-KR" altLang="en-US" sz="2000" dirty="0"/>
              <a:t> 유럽 </a:t>
            </a:r>
            <a:r>
              <a:rPr lang="en-US" altLang="ko-KR" sz="2000" dirty="0"/>
              <a:t>5.1%</a:t>
            </a:r>
            <a:r>
              <a:rPr lang="ko-KR" altLang="en-US" sz="2000" dirty="0"/>
              <a:t>를 차지함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중국은 전 세계 석탄소비의 </a:t>
            </a:r>
            <a:r>
              <a:rPr lang="en-US" altLang="ko-KR" sz="2000" dirty="0"/>
              <a:t>56.0%</a:t>
            </a:r>
            <a:r>
              <a:rPr lang="ko-KR" altLang="en-US" sz="2000" dirty="0"/>
              <a:t>를 차지하고 있어 석탄소비를 주도하고 있음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인도 </a:t>
            </a:r>
            <a:r>
              <a:rPr lang="en-US" altLang="ko-KR" sz="2000" dirty="0"/>
              <a:t>13.4%,</a:t>
            </a:r>
            <a:r>
              <a:rPr lang="ko-KR" altLang="en-US" sz="2000" dirty="0"/>
              <a:t> 미국 </a:t>
            </a:r>
            <a:r>
              <a:rPr lang="en-US" altLang="ko-KR" sz="2000" dirty="0"/>
              <a:t>5.0%,</a:t>
            </a:r>
            <a:r>
              <a:rPr lang="ko-KR" altLang="en-US" sz="2000" dirty="0"/>
              <a:t> 인도네시아 </a:t>
            </a:r>
            <a:r>
              <a:rPr lang="en-US" altLang="ko-KR" sz="2000" dirty="0"/>
              <a:t>2.6%,</a:t>
            </a:r>
            <a:r>
              <a:rPr lang="ko-KR" altLang="en-US" sz="2000" dirty="0"/>
              <a:t> 일본 </a:t>
            </a:r>
            <a:r>
              <a:rPr lang="en-US" altLang="ko-KR" sz="2000" dirty="0"/>
              <a:t>(2.8%)</a:t>
            </a:r>
            <a:r>
              <a:rPr lang="ko-KR" altLang="en-US" sz="2000" dirty="0"/>
              <a:t> 등임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3879343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712740" y="1224870"/>
            <a:ext cx="8766515" cy="4901293"/>
          </a:xfrm>
          <a:prstGeom prst="rect">
            <a:avLst/>
          </a:prstGeom>
        </p:spPr>
      </p:pic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1712739" y="846138"/>
            <a:ext cx="5484350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7-2]</a:t>
            </a:r>
            <a:r>
              <a:rPr lang="ko-KR" altLang="en-US"/>
              <a:t> 지역별 석탄 소비량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엑사줄</a:t>
            </a:r>
            <a:r>
              <a:rPr lang="en-US" altLang="ko-KR"/>
              <a:t>(exajoules)</a:t>
            </a:r>
          </a:p>
        </p:txBody>
      </p:sp>
    </p:spTree>
    <p:extLst>
      <p:ext uri="{BB962C8B-B14F-4D97-AF65-F5344CB8AC3E}">
        <p14:creationId xmlns:p14="http://schemas.microsoft.com/office/powerpoint/2010/main" val="2125057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088345" y="846138"/>
          <a:ext cx="10015308" cy="531163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93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25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38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 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&amp;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연평균 증가율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76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8.83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-7.6%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8.20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-7.6%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9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남중앙아메리카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-2.0%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8.39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-6.1%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5.49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-1.5%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4.08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59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135.70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82.7%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91.94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56.0%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21.98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인도네시아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4.32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4.54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한국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2.69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베트남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164.03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25.15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-5.3%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7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138.88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84.7%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1208767" y="418419"/>
            <a:ext cx="4788173" cy="3607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7-3]</a:t>
            </a:r>
            <a:r>
              <a:rPr lang="ko-KR" altLang="en-US"/>
              <a:t> 지역별</a:t>
            </a:r>
            <a:r>
              <a:rPr lang="en-US" altLang="ko-KR"/>
              <a:t>·</a:t>
            </a:r>
            <a:r>
              <a:rPr lang="ko-KR" altLang="en-US"/>
              <a:t>국가별 석탄 소비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엑사줄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4303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8.</a:t>
            </a:r>
            <a:r>
              <a:rPr lang="ko-KR" altLang="en-US" sz="3200" dirty="0"/>
              <a:t> 석탄 시장의 거래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석탄 수출입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글로벌 석탄 교역은 생산과 소비가 특정 국가에 집중된 구조를 명확히 반영하고 있음</a:t>
            </a:r>
          </a:p>
          <a:p>
            <a:pPr marL="742800" lvl="1" indent="-285600">
              <a:buFont typeface="Arial"/>
              <a:buChar char="•"/>
              <a:defRPr/>
            </a:pP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수출은 호주</a:t>
            </a:r>
            <a:r>
              <a:rPr lang="en-US" altLang="ko-KR" sz="2000" dirty="0"/>
              <a:t>,</a:t>
            </a:r>
            <a:r>
              <a:rPr lang="ko-KR" altLang="en-US" sz="2000" dirty="0"/>
              <a:t> 인도네사아</a:t>
            </a:r>
            <a:r>
              <a:rPr lang="en-US" altLang="ko-KR" sz="2000" dirty="0"/>
              <a:t>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,</a:t>
            </a:r>
            <a:r>
              <a:rPr lang="ko-KR" altLang="en-US" sz="2000" dirty="0"/>
              <a:t> 남아프리카공화국</a:t>
            </a:r>
            <a:r>
              <a:rPr lang="en-US" altLang="ko-KR" sz="2000" dirty="0"/>
              <a:t>,</a:t>
            </a:r>
            <a:r>
              <a:rPr lang="ko-KR" altLang="en-US" sz="2000" dirty="0"/>
              <a:t> 미국 등 소수의 주요 생산국에 의해 주도됨</a:t>
            </a:r>
          </a:p>
          <a:p>
            <a:pPr marL="742800" lvl="1" indent="-285600">
              <a:buFont typeface="Arial"/>
              <a:buChar char="•"/>
              <a:defRPr/>
            </a:pPr>
            <a:endParaRPr lang="en-US" altLang="ko-KR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수입은 에너지 수요가 크고 자원 자립도가 낮은 국가를 중심으로 이뤄지며</a:t>
            </a:r>
            <a:r>
              <a:rPr lang="en-US" altLang="ko-KR" sz="2000" dirty="0"/>
              <a:t>,</a:t>
            </a:r>
            <a:r>
              <a:rPr lang="ko-KR" altLang="en-US" sz="2000" dirty="0"/>
              <a:t> 중국</a:t>
            </a:r>
            <a:r>
              <a:rPr lang="en-US" altLang="ko-KR" sz="2000" dirty="0"/>
              <a:t>,</a:t>
            </a:r>
            <a:r>
              <a:rPr lang="ko-KR" altLang="en-US" sz="2000" dirty="0"/>
              <a:t> 인도</a:t>
            </a:r>
            <a:r>
              <a:rPr lang="en-US" altLang="ko-KR" sz="2000" dirty="0"/>
              <a:t>,</a:t>
            </a:r>
            <a:r>
              <a:rPr lang="ko-KR" altLang="en-US" sz="2000" dirty="0"/>
              <a:t> 일본</a:t>
            </a:r>
            <a:r>
              <a:rPr lang="en-US" altLang="ko-KR" sz="2000" dirty="0"/>
              <a:t>,</a:t>
            </a:r>
            <a:r>
              <a:rPr lang="ko-KR" altLang="en-US" sz="2000" dirty="0"/>
              <a:t> 한국 등 아시아 국가들이 글로벌 수입 시장의 핵심 축을 형성하고 있음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178037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석탄 시장의 거래 현황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731248" y="2041298"/>
            <a:ext cx="8729503" cy="4107543"/>
          </a:xfrm>
          <a:prstGeom prst="rect">
            <a:avLst/>
          </a:prstGeom>
        </p:spPr>
      </p:pic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1731247" y="1665741"/>
            <a:ext cx="5799217" cy="361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7-3]</a:t>
            </a:r>
            <a:r>
              <a:rPr lang="ko-KR" altLang="en-US"/>
              <a:t> 주요 석탄 수입국의 수입량 추이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엑사줄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9127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석탄 시장의 거래 현황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595626" y="1781456"/>
            <a:ext cx="9000743" cy="4230352"/>
          </a:xfrm>
          <a:prstGeom prst="rect">
            <a:avLst/>
          </a:prstGeom>
        </p:spPr>
      </p:pic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1741714" y="1417638"/>
            <a:ext cx="5750651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7-4]</a:t>
            </a:r>
            <a:r>
              <a:rPr lang="ko-KR" altLang="en-US"/>
              <a:t> 주요 석탄 수출국의 수출량 추이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엑사줄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0152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석탄 시장의 거래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/>
              <a:t>석탄 가격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국제 석탄 시장에서 가격은 단순한 수요</a:t>
            </a:r>
            <a:r>
              <a:rPr lang="en-US" altLang="ko-KR" sz="2000"/>
              <a:t>-</a:t>
            </a:r>
            <a:r>
              <a:rPr lang="ko-KR" altLang="en-US" sz="2000"/>
              <a:t>공급의 법칙뿐 아니라</a:t>
            </a:r>
            <a:r>
              <a:rPr lang="en-US" altLang="ko-KR" sz="2000"/>
              <a:t>,</a:t>
            </a:r>
            <a:r>
              <a:rPr lang="ko-KR" altLang="en-US" sz="2000"/>
              <a:t> 지정학적 요인</a:t>
            </a:r>
            <a:r>
              <a:rPr lang="en-US" altLang="ko-KR" sz="2000"/>
              <a:t>,</a:t>
            </a:r>
            <a:r>
              <a:rPr lang="ko-KR" altLang="en-US" sz="2000"/>
              <a:t> 규제 환경</a:t>
            </a:r>
            <a:r>
              <a:rPr lang="en-US" altLang="ko-KR" sz="2000"/>
              <a:t>,</a:t>
            </a:r>
            <a:r>
              <a:rPr lang="ko-KR" altLang="en-US" sz="2000"/>
              <a:t> 시장 구조</a:t>
            </a:r>
            <a:r>
              <a:rPr lang="en-US" altLang="ko-KR" sz="2000"/>
              <a:t>,</a:t>
            </a:r>
            <a:r>
              <a:rPr lang="ko-KR" altLang="en-US" sz="2000"/>
              <a:t> 운송 조건 등 복합적인 요인에 의해 결정됨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2764591"/>
            <a:ext cx="8399760" cy="3361572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1595626" y="2459491"/>
            <a:ext cx="4582289" cy="3675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7-5]</a:t>
            </a:r>
            <a:r>
              <a:rPr lang="ko-KR" altLang="en-US"/>
              <a:t> 지역별 석탄 가격의 변동</a:t>
            </a:r>
            <a:r>
              <a:rPr lang="en-US" altLang="ko-KR" dirty="0"/>
              <a:t>(</a:t>
            </a:r>
            <a:r>
              <a:rPr lang="ko-KR" altLang="en-US" dirty="0"/>
              <a:t>달러</a:t>
            </a:r>
            <a:r>
              <a:rPr lang="en-US" altLang="ko-KR" dirty="0"/>
              <a:t>/</a:t>
            </a:r>
            <a:r>
              <a:rPr lang="ko-KR" altLang="en-US" dirty="0"/>
              <a:t>톤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5648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9.</a:t>
            </a:r>
            <a:r>
              <a:rPr lang="ko-KR" altLang="en-US" sz="3200"/>
              <a:t> 석탄 산업의 혁신과 청정 석탄 기술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전통적인 석탄 연소에 따른 환경적 영향을 완화하고자 다양한 청정 석탄 기술이 개발되고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그 중에서도 초초임계압 발전</a:t>
            </a:r>
            <a:r>
              <a:rPr lang="en-US" altLang="ko-KR" sz="2000" dirty="0"/>
              <a:t>(USC: Ultra-Supercritical), </a:t>
            </a:r>
            <a:r>
              <a:rPr lang="ko-KR" altLang="en-US" sz="2000" dirty="0"/>
              <a:t>석탄가스화 복합발전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IGCC:Integrated</a:t>
            </a:r>
            <a:r>
              <a:rPr lang="en-US" altLang="ko-KR" sz="2000" dirty="0"/>
              <a:t> Gasification Combined Cycle), </a:t>
            </a:r>
            <a:r>
              <a:rPr lang="ko-KR" altLang="en-US" sz="2000" dirty="0"/>
              <a:t>그리고 탄소포집저장</a:t>
            </a:r>
            <a:r>
              <a:rPr lang="en-US" altLang="ko-KR" sz="2000" dirty="0"/>
              <a:t>(CCS: Carbon Capture and Storage)</a:t>
            </a:r>
            <a:r>
              <a:rPr lang="ko-KR" altLang="en-US" sz="2000" dirty="0"/>
              <a:t> 기술이 가장 널리 주목 받고 있음</a:t>
            </a:r>
          </a:p>
          <a:p>
            <a:pPr marL="342750" lvl="0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초초임계압 발전 기술은 물의 임계점인 </a:t>
            </a:r>
            <a:r>
              <a:rPr lang="en-US" altLang="ko-KR" sz="2000" dirty="0"/>
              <a:t> </a:t>
            </a:r>
            <a:r>
              <a:rPr lang="ko-KR" altLang="en-US" sz="2000" dirty="0"/>
              <a:t>섭씨 </a:t>
            </a:r>
            <a:r>
              <a:rPr lang="en-US" altLang="ko-KR" sz="2000" dirty="0"/>
              <a:t>374</a:t>
            </a:r>
            <a:r>
              <a:rPr lang="ko-KR" altLang="en-US" sz="2000" dirty="0"/>
              <a:t> 도와 </a:t>
            </a:r>
            <a:r>
              <a:rPr lang="en-US" altLang="ko-KR" sz="2000" dirty="0"/>
              <a:t>22.1MPa</a:t>
            </a:r>
            <a:r>
              <a:rPr lang="ko-KR" altLang="en-US" sz="2000" dirty="0"/>
              <a:t>를 초과하는 고온</a:t>
            </a:r>
            <a:r>
              <a:rPr lang="en-US" altLang="ko-KR" sz="2000" dirty="0"/>
              <a:t>·</a:t>
            </a:r>
            <a:r>
              <a:rPr lang="ko-KR" altLang="en-US" sz="2000" dirty="0"/>
              <a:t>고압 조건에서 작동하여 증기터빈의 효율을 극대화함으로써 기존 석탄 발전 대신 열효율을 약 </a:t>
            </a:r>
            <a:r>
              <a:rPr lang="en-US" altLang="ko-KR" sz="2000" dirty="0"/>
              <a:t>10~15%</a:t>
            </a:r>
            <a:r>
              <a:rPr lang="ko-KR" altLang="en-US" sz="2000" dirty="0"/>
              <a:t>까지 향상시킬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이탄화탄소 배출량도 동일한 전력 생산 기준에서 상당 부분 저감할 수 있음</a:t>
            </a:r>
          </a:p>
          <a:p>
            <a:pPr marL="342750" lvl="0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342750" lvl="0" indent="-285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defRPr/>
            </a:pPr>
            <a:r>
              <a:rPr lang="ko-KR" altLang="en-US" sz="2000" dirty="0"/>
              <a:t>석탄가스화 복합발전</a:t>
            </a:r>
            <a:r>
              <a:rPr lang="en-US" altLang="ko-KR" sz="2000" dirty="0"/>
              <a:t>(IGCC)</a:t>
            </a:r>
            <a:r>
              <a:rPr lang="ko-KR" altLang="en-US" sz="2000" dirty="0"/>
              <a:t>은 석탄을 직접 연소하는 대신 고온에서 가스화하여 일산화탄소</a:t>
            </a:r>
            <a:r>
              <a:rPr lang="en-US" altLang="ko-KR" sz="2000" dirty="0"/>
              <a:t>(CO)</a:t>
            </a:r>
            <a:r>
              <a:rPr lang="ko-KR" altLang="en-US" sz="2000" dirty="0"/>
              <a:t>와 수소</a:t>
            </a:r>
            <a:r>
              <a:rPr lang="en-US" altLang="ko-KR" sz="2000" dirty="0"/>
              <a:t>(H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en-US" altLang="ko-KR" sz="2000" dirty="0"/>
              <a:t>)</a:t>
            </a:r>
            <a:r>
              <a:rPr lang="ko-KR" altLang="en-US" sz="2000" dirty="0"/>
              <a:t>로 구성된 합성가스를 생산한 뒤 이를 연소하여 터빈을 구동하는 방식으로 작동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defRPr/>
            </a:pPr>
            <a:r>
              <a:rPr lang="ko-KR" altLang="en-US" sz="2000" dirty="0"/>
              <a:t>오염물질을 연소 이전의 가스화 단계에서 제거할 수 있기 때문에 환경적 측면에서 상대적으로 우수한 기술로 평가됨</a:t>
            </a:r>
          </a:p>
          <a:p>
            <a:pPr marL="742800" lvl="1" indent="-285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defRPr/>
            </a:pPr>
            <a:r>
              <a:rPr lang="ko-KR" altLang="en-US" sz="2000" dirty="0"/>
              <a:t>그러나 설계 및 운전 시스템이 복잡하고</a:t>
            </a:r>
            <a:r>
              <a:rPr lang="en-US" altLang="ko-KR" sz="2000" dirty="0"/>
              <a:t>,</a:t>
            </a:r>
            <a:r>
              <a:rPr lang="ko-KR" altLang="en-US" sz="2000" dirty="0"/>
              <a:t> 초기 투자비용이 기존 발전소 대비 </a:t>
            </a:r>
            <a:r>
              <a:rPr lang="en-US" altLang="ko-KR" sz="2000" dirty="0"/>
              <a:t>30~50%</a:t>
            </a:r>
            <a:r>
              <a:rPr lang="ko-KR" altLang="en-US" sz="2000" dirty="0"/>
              <a:t> 이상 높으며</a:t>
            </a:r>
            <a:r>
              <a:rPr lang="en-US" altLang="ko-KR" sz="2000" dirty="0"/>
              <a:t>,</a:t>
            </a:r>
            <a:r>
              <a:rPr lang="ko-KR" altLang="en-US" sz="2000" dirty="0"/>
              <a:t> 운영의 안정성 확보가 쉽지 않다는 점에서 경제적 확장성이 낮다는 평가를 받고 있음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3444259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9.</a:t>
            </a:r>
            <a:r>
              <a:rPr lang="ko-KR" altLang="en-US" sz="3200"/>
              <a:t> 석탄 산업의 혁신과 청정 석탄 기술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/>
              <a:t>탄소포집저장</a:t>
            </a:r>
            <a:r>
              <a:rPr lang="en-US" altLang="ko-KR" sz="2000"/>
              <a:t>(CCS) </a:t>
            </a:r>
            <a:r>
              <a:rPr lang="ko-KR" altLang="en-US" sz="2000"/>
              <a:t>기술은 석탄 연소 과정에서 배출되는 이산화탄소를 포집하여 압축한 뒤 지하 지질 구조에 영구 저장함으로써 대기 중 배출을 차단하는 기술로</a:t>
            </a:r>
            <a:r>
              <a:rPr lang="en-US" altLang="ko-KR" sz="2000"/>
              <a:t>,</a:t>
            </a:r>
            <a:r>
              <a:rPr lang="ko-KR" altLang="en-US" sz="2000"/>
              <a:t> 이론적으로는 발전소에서 배출되는 </a:t>
            </a:r>
            <a:r>
              <a:rPr lang="en-US" altLang="ko-KR" sz="2000"/>
              <a:t>CO2</a:t>
            </a:r>
            <a:r>
              <a:rPr lang="ko-KR" altLang="en-US" sz="2000"/>
              <a:t>의 </a:t>
            </a:r>
            <a:r>
              <a:rPr lang="en-US" altLang="ko-KR" sz="2000"/>
              <a:t>90%</a:t>
            </a:r>
            <a:r>
              <a:rPr lang="ko-KR" altLang="en-US" sz="2000"/>
              <a:t> 이상을 제거할 수 있는 고효율 기술임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그러나 </a:t>
            </a:r>
            <a:r>
              <a:rPr lang="en-US" altLang="ko-KR" sz="2000"/>
              <a:t>CCS</a:t>
            </a:r>
            <a:r>
              <a:rPr lang="ko-KR" altLang="en-US" sz="2000"/>
              <a:t>는 높은 설비비와 운영비</a:t>
            </a:r>
            <a:r>
              <a:rPr lang="en-US" altLang="ko-KR" sz="2000"/>
              <a:t>,</a:t>
            </a:r>
            <a:r>
              <a:rPr lang="ko-KR" altLang="en-US" sz="2000"/>
              <a:t> 포집된 </a:t>
            </a:r>
            <a:r>
              <a:rPr lang="en-US" altLang="ko-KR" sz="2000"/>
              <a:t>CO2</a:t>
            </a:r>
            <a:r>
              <a:rPr lang="ko-KR" altLang="en-US" sz="2000"/>
              <a:t>의 운송 및 저장에 따르는 기술적</a:t>
            </a:r>
            <a:r>
              <a:rPr lang="en-US" altLang="ko-KR" sz="2000"/>
              <a:t>·</a:t>
            </a:r>
            <a:r>
              <a:rPr lang="ko-KR" altLang="en-US" sz="2000"/>
              <a:t>지질학적 리스크로 인해 경제성 확보에 여려움이 있으며</a:t>
            </a:r>
            <a:r>
              <a:rPr lang="en-US" altLang="ko-KR" sz="2000"/>
              <a:t>,</a:t>
            </a:r>
            <a:r>
              <a:rPr lang="ko-KR" altLang="en-US" sz="2000"/>
              <a:t> 전통 석탄화력에 적용할 경우 발전단가가 </a:t>
            </a:r>
            <a:r>
              <a:rPr lang="en-US" altLang="ko-KR" sz="2000"/>
              <a:t>50%</a:t>
            </a:r>
            <a:r>
              <a:rPr lang="ko-KR" altLang="en-US" sz="2000"/>
              <a:t> 이상 증가할 수 있음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2120906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10.</a:t>
            </a:r>
            <a:r>
              <a:rPr lang="ko-KR" altLang="en-US" sz="3200"/>
              <a:t> 석탄시장의 구조변화와 좌초자산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 marL="342750" lvl="0" indent="-285600">
              <a:buFont typeface="Arial"/>
              <a:buChar char="•"/>
              <a:defRPr/>
            </a:pPr>
            <a:r>
              <a:rPr lang="ko-KR" altLang="en-US" sz="2000" dirty="0"/>
              <a:t>석탄시장은 최근 세계적인 에너지 전환 흐름과 기후변화 대응을 위한 각국 정부의 정책 강화에 따라 근본적인 구조 변화를 겪고 있음</a:t>
            </a:r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이러한 구조 변화는 단순한 수요 감소를 넘어</a:t>
            </a:r>
            <a:r>
              <a:rPr lang="en-US" altLang="ko-KR" sz="2000" dirty="0"/>
              <a:t>,</a:t>
            </a:r>
            <a:r>
              <a:rPr lang="ko-KR" altLang="en-US" sz="2000" dirty="0"/>
              <a:t> 석탄 발전소</a:t>
            </a:r>
            <a:r>
              <a:rPr lang="en-US" altLang="ko-KR" sz="2000" dirty="0"/>
              <a:t>,</a:t>
            </a:r>
            <a:r>
              <a:rPr lang="ko-KR" altLang="en-US" sz="2000" dirty="0"/>
              <a:t> 탄광</a:t>
            </a:r>
            <a:r>
              <a:rPr lang="en-US" altLang="ko-KR" sz="2000" dirty="0"/>
              <a:t>,</a:t>
            </a:r>
            <a:r>
              <a:rPr lang="ko-KR" altLang="en-US" sz="2000" dirty="0"/>
              <a:t> 물류 인프라 등 석탄 관련 자산의 경제적 가치 하락을 초래하며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‘</a:t>
            </a:r>
            <a:r>
              <a:rPr lang="ko-KR" altLang="en-US" sz="2000" dirty="0"/>
              <a:t>좌초자산</a:t>
            </a:r>
            <a:r>
              <a:rPr lang="en-US" altLang="ko-KR" sz="2000" dirty="0"/>
              <a:t>(stranded assets)’ </a:t>
            </a:r>
            <a:r>
              <a:rPr lang="ko-KR" altLang="en-US" sz="2000" dirty="0"/>
              <a:t>문제를 심화시키고 있음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좌초자산은 기술</a:t>
            </a:r>
            <a:r>
              <a:rPr lang="en-US" altLang="ko-KR" sz="2000" dirty="0"/>
              <a:t>,</a:t>
            </a:r>
            <a:r>
              <a:rPr lang="ko-KR" altLang="en-US" sz="2000" dirty="0"/>
              <a:t> 시장</a:t>
            </a:r>
            <a:r>
              <a:rPr lang="en-US" altLang="ko-KR" sz="2000" dirty="0"/>
              <a:t>,</a:t>
            </a:r>
            <a:r>
              <a:rPr lang="ko-KR" altLang="en-US" sz="2000" dirty="0"/>
              <a:t> 규제 환경의 변화로 인해 자산이 기대되었던 경제적 수익을 실현하지 못하고 조기에 사용이 중단되는 자산을 의미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석탄 화력발전소는 일반적으로 </a:t>
            </a:r>
            <a:r>
              <a:rPr lang="en-US" altLang="ko-KR" sz="2000" dirty="0"/>
              <a:t>30~40</a:t>
            </a:r>
            <a:r>
              <a:rPr lang="ko-KR" altLang="en-US" sz="2000" dirty="0"/>
              <a:t>년의 경제적 수명을 전제로 설계되었으나</a:t>
            </a:r>
            <a:r>
              <a:rPr lang="en-US" altLang="ko-KR" sz="2000" dirty="0"/>
              <a:t>,</a:t>
            </a:r>
            <a:r>
              <a:rPr lang="ko-KR" altLang="en-US" sz="2000" dirty="0"/>
              <a:t> 주요국들의 탄소중립 선언과 재생에너지 전환 정책 강화에 따라</a:t>
            </a:r>
            <a:r>
              <a:rPr lang="en-US" altLang="ko-KR" sz="2000" dirty="0"/>
              <a:t>,</a:t>
            </a:r>
            <a:r>
              <a:rPr lang="ko-KR" altLang="en-US" sz="2000" dirty="0"/>
              <a:t> 실제 운용기간이 단축되고 조기 폐쇄되는 사례가 증가</a:t>
            </a:r>
          </a:p>
          <a:p>
            <a:pPr marL="742800" lvl="1" indent="-285600">
              <a:buFont typeface="Arial"/>
              <a:buChar char="•"/>
              <a:defRPr/>
            </a:pPr>
            <a:endParaRPr lang="ko-KR" altLang="en-US" sz="2000" dirty="0"/>
          </a:p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 dirty="0"/>
              <a:t>좌초자산 문제는 에너지 부문을 넘어 금융시장 전반에도 부정적인 파급효과를 가져옴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 dirty="0"/>
              <a:t>세계 주요 연기금과 민간 금융기관들은 기후리스크 대응의 일환으로 석탄 관련 자산에서 투자 철회를 확대하고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그 결과 석탄 관련 기업의 주가하락</a:t>
            </a:r>
            <a:r>
              <a:rPr lang="en-US" altLang="ko-KR" sz="2000" dirty="0"/>
              <a:t>,</a:t>
            </a:r>
            <a:r>
              <a:rPr lang="ko-KR" altLang="en-US" sz="2000" dirty="0"/>
              <a:t> 신용등급 저하</a:t>
            </a:r>
            <a:r>
              <a:rPr lang="en-US" altLang="ko-KR" sz="2000" dirty="0"/>
              <a:t>,</a:t>
            </a:r>
            <a:r>
              <a:rPr lang="ko-KR" altLang="en-US" sz="2000" dirty="0"/>
              <a:t> 자금 조달 비용 상승 등 금융적 좌초 현상이 현실화되고 있음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1202547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10.</a:t>
            </a:r>
            <a:r>
              <a:rPr lang="ko-KR" altLang="en-US" sz="3200"/>
              <a:t> 석탄시장의 구조변화와 좌초자산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marL="742800" lvl="1" indent="-285600">
              <a:buFont typeface="Arial"/>
              <a:buChar char="•"/>
              <a:defRPr/>
            </a:pPr>
            <a:r>
              <a:rPr lang="ko-KR" altLang="en-US" sz="2000"/>
              <a:t>좌초자산은 지역사회외 고용시장에도 심각한 경제적 충격을 야기할 수 있음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/>
              <a:t>석탄의 조기 퇴출은 고용 감소</a:t>
            </a:r>
            <a:r>
              <a:rPr lang="en-US" altLang="ko-KR" sz="2000"/>
              <a:t>,</a:t>
            </a:r>
            <a:r>
              <a:rPr lang="ko-KR" altLang="en-US" sz="2000"/>
              <a:t> 세수 축소</a:t>
            </a:r>
            <a:r>
              <a:rPr lang="en-US" altLang="ko-KR" sz="2000"/>
              <a:t>,</a:t>
            </a:r>
            <a:r>
              <a:rPr lang="ko-KR" altLang="en-US" sz="2000"/>
              <a:t> 소비 위축 등으로 이어질 수 있으며</a:t>
            </a:r>
            <a:r>
              <a:rPr lang="en-US" altLang="ko-KR" sz="2000"/>
              <a:t>,</a:t>
            </a:r>
            <a:r>
              <a:rPr lang="ko-KR" altLang="en-US" sz="2000"/>
              <a:t> 이는 에너지 전환 과정에서 발생할 수 있는 정의롭지 못한 결과를 보여주는 사례가 될 수 있음</a:t>
            </a:r>
          </a:p>
          <a:p>
            <a:pPr marL="1142850" lvl="2" indent="-285600">
              <a:buFont typeface="Arial"/>
              <a:buChar char="•"/>
              <a:defRPr/>
            </a:pPr>
            <a:r>
              <a:rPr lang="ko-KR" altLang="en-US" sz="2000"/>
              <a:t>사회 안전망이 취약한 개발도상국에서는 노동 전환이 어려워</a:t>
            </a:r>
            <a:r>
              <a:rPr lang="en-US" altLang="ko-KR" sz="2000"/>
              <a:t>,</a:t>
            </a:r>
            <a:r>
              <a:rPr lang="ko-KR" altLang="en-US" sz="2000"/>
              <a:t> 에너지 정의와 </a:t>
            </a:r>
            <a:r>
              <a:rPr lang="en-US" altLang="ko-KR" sz="2000"/>
              <a:t>‘</a:t>
            </a:r>
            <a:r>
              <a:rPr lang="ko-KR" altLang="en-US" sz="2000"/>
              <a:t>공정전환</a:t>
            </a:r>
            <a:r>
              <a:rPr lang="en-US" altLang="ko-KR" sz="2000"/>
              <a:t>(just transition)’ </a:t>
            </a:r>
            <a:r>
              <a:rPr lang="ko-KR" altLang="en-US" sz="2000"/>
              <a:t>실현을 위한 정책적 개입이 필요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제7장</a:t>
            </a:r>
          </a:p>
        </p:txBody>
      </p:sp>
    </p:spTree>
    <p:extLst>
      <p:ext uri="{BB962C8B-B14F-4D97-AF65-F5344CB8AC3E}">
        <p14:creationId xmlns:p14="http://schemas.microsoft.com/office/powerpoint/2010/main" val="3767849287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3624</Words>
  <Application>Microsoft Office PowerPoint</Application>
  <PresentationFormat>와이드스크린</PresentationFormat>
  <Paragraphs>528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나눔스퀘어 네오 OTF Heavy</vt:lpstr>
      <vt:lpstr>맑은 고딕</vt:lpstr>
      <vt:lpstr>함초롬바탕</vt:lpstr>
      <vt:lpstr>Arial</vt:lpstr>
      <vt:lpstr>Calibri</vt:lpstr>
      <vt:lpstr>한컴오피스</vt:lpstr>
      <vt:lpstr>PowerPoint 프레젠테이션</vt:lpstr>
      <vt:lpstr>제7장 석탄 시장</vt:lpstr>
      <vt:lpstr>1. 서론</vt:lpstr>
      <vt:lpstr>2. 석탄 산업의 역사</vt:lpstr>
      <vt:lpstr>2. 석탄 산업의 역사</vt:lpstr>
      <vt:lpstr>3. 석탄의 분류와 특징</vt:lpstr>
      <vt:lpstr>3. 석탄의 분류와 특징</vt:lpstr>
      <vt:lpstr>3. 석탄의 분류와 특징</vt:lpstr>
      <vt:lpstr>4. 석탄의 가치사슬</vt:lpstr>
      <vt:lpstr>4. 석탄의 가치사슬</vt:lpstr>
      <vt:lpstr>4. 석탄의 가치사슬</vt:lpstr>
      <vt:lpstr>4. 석탄의 가치사슬</vt:lpstr>
      <vt:lpstr>5. 석탄 생산기술과 비용구조</vt:lpstr>
      <vt:lpstr>5. 석탄 생산기술과 비용구조</vt:lpstr>
      <vt:lpstr>6. 석탄채굴과정의 사회적·환경적 문제</vt:lpstr>
      <vt:lpstr>7. 석탄 산업의 구조와 경쟁</vt:lpstr>
      <vt:lpstr>7. 석탄 산업의 구조와 경쟁</vt:lpstr>
      <vt:lpstr>8. 석탄 시장의 거래 현황</vt:lpstr>
      <vt:lpstr> </vt:lpstr>
      <vt:lpstr>8. 석탄 시장의 거래 현황</vt:lpstr>
      <vt:lpstr> </vt:lpstr>
      <vt:lpstr> </vt:lpstr>
      <vt:lpstr>8. 석탄 시장의 거래 현황</vt:lpstr>
      <vt:lpstr> </vt:lpstr>
      <vt:lpstr> </vt:lpstr>
      <vt:lpstr>8. 석탄 시장의 거래 현황</vt:lpstr>
      <vt:lpstr>8. 석탄 시장의 거래 현황</vt:lpstr>
      <vt:lpstr>8. 석탄 시장의 거래 현황</vt:lpstr>
      <vt:lpstr>8. 석탄 시장의 거래 현황</vt:lpstr>
      <vt:lpstr>9. 석탄 산업의 혁신과 청정 석탄 기술</vt:lpstr>
      <vt:lpstr>9. 석탄 산업의 혁신과 청정 석탄 기술</vt:lpstr>
      <vt:lpstr>10. 석탄시장의 구조변화와 좌초자산</vt:lpstr>
      <vt:lpstr>10. 석탄시장의 구조변화와 좌초자산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Seungho Jeon</cp:lastModifiedBy>
  <cp:revision>468</cp:revision>
  <dcterms:created xsi:type="dcterms:W3CDTF">2026-01-09T02:29:36Z</dcterms:created>
  <dcterms:modified xsi:type="dcterms:W3CDTF">2026-06-17T08:20:19Z</dcterms:modified>
  <cp:version>13.0.0.2760</cp:version>
</cp:coreProperties>
</file>