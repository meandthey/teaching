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3391DB6F-FD6F-48EC-9C97-8AF5FA9B9BD3}"/>
    <pc:docChg chg="modSld">
      <pc:chgData name="donghun kim" userId="ea4930dfa3cfe607" providerId="LiveId" clId="{3391DB6F-FD6F-48EC-9C97-8AF5FA9B9BD3}" dt="2026-02-25T04:27:11.411" v="37" actId="255"/>
      <pc:docMkLst>
        <pc:docMk/>
      </pc:docMkLst>
      <pc:sldChg chg="modSp mod">
        <pc:chgData name="donghun kim" userId="ea4930dfa3cfe607" providerId="LiveId" clId="{3391DB6F-FD6F-48EC-9C97-8AF5FA9B9BD3}" dt="2026-02-25T04:19:37.661" v="0" actId="255"/>
        <pc:sldMkLst>
          <pc:docMk/>
          <pc:sldMk cId="0" sldId="259"/>
        </pc:sldMkLst>
        <pc:spChg chg="mod">
          <ac:chgData name="donghun kim" userId="ea4930dfa3cfe607" providerId="LiveId" clId="{3391DB6F-FD6F-48EC-9C97-8AF5FA9B9BD3}" dt="2026-02-25T04:19:37.661" v="0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19:48.882" v="1" actId="255"/>
        <pc:sldMkLst>
          <pc:docMk/>
          <pc:sldMk cId="0" sldId="260"/>
        </pc:sldMkLst>
        <pc:spChg chg="mod">
          <ac:chgData name="donghun kim" userId="ea4930dfa3cfe607" providerId="LiveId" clId="{3391DB6F-FD6F-48EC-9C97-8AF5FA9B9BD3}" dt="2026-02-25T04:19:48.882" v="1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0:01.772" v="2" actId="255"/>
        <pc:sldMkLst>
          <pc:docMk/>
          <pc:sldMk cId="0" sldId="261"/>
        </pc:sldMkLst>
        <pc:spChg chg="mod">
          <ac:chgData name="donghun kim" userId="ea4930dfa3cfe607" providerId="LiveId" clId="{3391DB6F-FD6F-48EC-9C97-8AF5FA9B9BD3}" dt="2026-02-25T04:20:01.772" v="2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0:17.802" v="3" actId="255"/>
        <pc:sldMkLst>
          <pc:docMk/>
          <pc:sldMk cId="0" sldId="262"/>
        </pc:sldMkLst>
        <pc:spChg chg="mod">
          <ac:chgData name="donghun kim" userId="ea4930dfa3cfe607" providerId="LiveId" clId="{3391DB6F-FD6F-48EC-9C97-8AF5FA9B9BD3}" dt="2026-02-25T04:20:17.802" v="3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0:30.432" v="4" actId="255"/>
        <pc:sldMkLst>
          <pc:docMk/>
          <pc:sldMk cId="0" sldId="263"/>
        </pc:sldMkLst>
        <pc:spChg chg="mod">
          <ac:chgData name="donghun kim" userId="ea4930dfa3cfe607" providerId="LiveId" clId="{3391DB6F-FD6F-48EC-9C97-8AF5FA9B9BD3}" dt="2026-02-25T04:20:30.432" v="4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0:42.229" v="5" actId="255"/>
        <pc:sldMkLst>
          <pc:docMk/>
          <pc:sldMk cId="0" sldId="264"/>
        </pc:sldMkLst>
        <pc:spChg chg="mod">
          <ac:chgData name="donghun kim" userId="ea4930dfa3cfe607" providerId="LiveId" clId="{3391DB6F-FD6F-48EC-9C97-8AF5FA9B9BD3}" dt="2026-02-25T04:20:42.229" v="5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0:52.795" v="6" actId="255"/>
        <pc:sldMkLst>
          <pc:docMk/>
          <pc:sldMk cId="0" sldId="265"/>
        </pc:sldMkLst>
        <pc:spChg chg="mod">
          <ac:chgData name="donghun kim" userId="ea4930dfa3cfe607" providerId="LiveId" clId="{3391DB6F-FD6F-48EC-9C97-8AF5FA9B9BD3}" dt="2026-02-25T04:20:52.795" v="6" actId="25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1:05.266" v="7" actId="255"/>
        <pc:sldMkLst>
          <pc:docMk/>
          <pc:sldMk cId="0" sldId="266"/>
        </pc:sldMkLst>
        <pc:spChg chg="mod">
          <ac:chgData name="donghun kim" userId="ea4930dfa3cfe607" providerId="LiveId" clId="{3391DB6F-FD6F-48EC-9C97-8AF5FA9B9BD3}" dt="2026-02-25T04:21:05.266" v="7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1:18.407" v="8" actId="255"/>
        <pc:sldMkLst>
          <pc:docMk/>
          <pc:sldMk cId="0" sldId="267"/>
        </pc:sldMkLst>
        <pc:spChg chg="mod">
          <ac:chgData name="donghun kim" userId="ea4930dfa3cfe607" providerId="LiveId" clId="{3391DB6F-FD6F-48EC-9C97-8AF5FA9B9BD3}" dt="2026-02-25T04:21:18.407" v="8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1:34.865" v="9" actId="255"/>
        <pc:sldMkLst>
          <pc:docMk/>
          <pc:sldMk cId="0" sldId="268"/>
        </pc:sldMkLst>
        <pc:spChg chg="mod">
          <ac:chgData name="donghun kim" userId="ea4930dfa3cfe607" providerId="LiveId" clId="{3391DB6F-FD6F-48EC-9C97-8AF5FA9B9BD3}" dt="2026-02-25T04:21:34.865" v="9" actId="255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1:47.105" v="10" actId="255"/>
        <pc:sldMkLst>
          <pc:docMk/>
          <pc:sldMk cId="0" sldId="269"/>
        </pc:sldMkLst>
        <pc:spChg chg="mod">
          <ac:chgData name="donghun kim" userId="ea4930dfa3cfe607" providerId="LiveId" clId="{3391DB6F-FD6F-48EC-9C97-8AF5FA9B9BD3}" dt="2026-02-25T04:21:47.105" v="10" actId="255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2:00.776" v="11" actId="255"/>
        <pc:sldMkLst>
          <pc:docMk/>
          <pc:sldMk cId="0" sldId="270"/>
        </pc:sldMkLst>
        <pc:spChg chg="mod">
          <ac:chgData name="donghun kim" userId="ea4930dfa3cfe607" providerId="LiveId" clId="{3391DB6F-FD6F-48EC-9C97-8AF5FA9B9BD3}" dt="2026-02-25T04:22:00.776" v="11" actId="255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2:10.947" v="12" actId="255"/>
        <pc:sldMkLst>
          <pc:docMk/>
          <pc:sldMk cId="0" sldId="271"/>
        </pc:sldMkLst>
        <pc:spChg chg="mod">
          <ac:chgData name="donghun kim" userId="ea4930dfa3cfe607" providerId="LiveId" clId="{3391DB6F-FD6F-48EC-9C97-8AF5FA9B9BD3}" dt="2026-02-25T04:22:10.947" v="12" actId="255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2:22.750" v="13" actId="255"/>
        <pc:sldMkLst>
          <pc:docMk/>
          <pc:sldMk cId="0" sldId="272"/>
        </pc:sldMkLst>
        <pc:spChg chg="mod">
          <ac:chgData name="donghun kim" userId="ea4930dfa3cfe607" providerId="LiveId" clId="{3391DB6F-FD6F-48EC-9C97-8AF5FA9B9BD3}" dt="2026-02-25T04:22:22.750" v="13" actId="255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2:33.166" v="14" actId="255"/>
        <pc:sldMkLst>
          <pc:docMk/>
          <pc:sldMk cId="0" sldId="273"/>
        </pc:sldMkLst>
        <pc:spChg chg="mod">
          <ac:chgData name="donghun kim" userId="ea4930dfa3cfe607" providerId="LiveId" clId="{3391DB6F-FD6F-48EC-9C97-8AF5FA9B9BD3}" dt="2026-02-25T04:22:33.166" v="14" actId="255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2:43.895" v="15" actId="255"/>
        <pc:sldMkLst>
          <pc:docMk/>
          <pc:sldMk cId="0" sldId="274"/>
        </pc:sldMkLst>
        <pc:spChg chg="mod">
          <ac:chgData name="donghun kim" userId="ea4930dfa3cfe607" providerId="LiveId" clId="{3391DB6F-FD6F-48EC-9C97-8AF5FA9B9BD3}" dt="2026-02-25T04:22:43.895" v="15" actId="255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2:55.062" v="16" actId="255"/>
        <pc:sldMkLst>
          <pc:docMk/>
          <pc:sldMk cId="0" sldId="275"/>
        </pc:sldMkLst>
        <pc:spChg chg="mod">
          <ac:chgData name="donghun kim" userId="ea4930dfa3cfe607" providerId="LiveId" clId="{3391DB6F-FD6F-48EC-9C97-8AF5FA9B9BD3}" dt="2026-02-25T04:22:55.062" v="16" actId="255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3:22.260" v="17" actId="255"/>
        <pc:sldMkLst>
          <pc:docMk/>
          <pc:sldMk cId="0" sldId="276"/>
        </pc:sldMkLst>
        <pc:spChg chg="mod">
          <ac:chgData name="donghun kim" userId="ea4930dfa3cfe607" providerId="LiveId" clId="{3391DB6F-FD6F-48EC-9C97-8AF5FA9B9BD3}" dt="2026-02-25T04:23:22.260" v="17" actId="255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3:32.773" v="18" actId="255"/>
        <pc:sldMkLst>
          <pc:docMk/>
          <pc:sldMk cId="0" sldId="277"/>
        </pc:sldMkLst>
        <pc:spChg chg="mod">
          <ac:chgData name="donghun kim" userId="ea4930dfa3cfe607" providerId="LiveId" clId="{3391DB6F-FD6F-48EC-9C97-8AF5FA9B9BD3}" dt="2026-02-25T04:23:32.773" v="18" actId="255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3:42.660" v="19" actId="255"/>
        <pc:sldMkLst>
          <pc:docMk/>
          <pc:sldMk cId="0" sldId="278"/>
        </pc:sldMkLst>
        <pc:spChg chg="mod">
          <ac:chgData name="donghun kim" userId="ea4930dfa3cfe607" providerId="LiveId" clId="{3391DB6F-FD6F-48EC-9C97-8AF5FA9B9BD3}" dt="2026-02-25T04:23:42.660" v="19" actId="255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3:55.181" v="20" actId="255"/>
        <pc:sldMkLst>
          <pc:docMk/>
          <pc:sldMk cId="0" sldId="279"/>
        </pc:sldMkLst>
        <pc:spChg chg="mod">
          <ac:chgData name="donghun kim" userId="ea4930dfa3cfe607" providerId="LiveId" clId="{3391DB6F-FD6F-48EC-9C97-8AF5FA9B9BD3}" dt="2026-02-25T04:23:55.181" v="20" actId="255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4:06.617" v="21" actId="255"/>
        <pc:sldMkLst>
          <pc:docMk/>
          <pc:sldMk cId="0" sldId="280"/>
        </pc:sldMkLst>
        <pc:spChg chg="mod">
          <ac:chgData name="donghun kim" userId="ea4930dfa3cfe607" providerId="LiveId" clId="{3391DB6F-FD6F-48EC-9C97-8AF5FA9B9BD3}" dt="2026-02-25T04:24:06.617" v="21" actId="255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4:30.335" v="23" actId="255"/>
        <pc:sldMkLst>
          <pc:docMk/>
          <pc:sldMk cId="0" sldId="281"/>
        </pc:sldMkLst>
        <pc:spChg chg="mod">
          <ac:chgData name="donghun kim" userId="ea4930dfa3cfe607" providerId="LiveId" clId="{3391DB6F-FD6F-48EC-9C97-8AF5FA9B9BD3}" dt="2026-02-25T04:24:30.335" v="23" actId="255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4:40.533" v="24" actId="255"/>
        <pc:sldMkLst>
          <pc:docMk/>
          <pc:sldMk cId="0" sldId="282"/>
        </pc:sldMkLst>
        <pc:spChg chg="mod">
          <ac:chgData name="donghun kim" userId="ea4930dfa3cfe607" providerId="LiveId" clId="{3391DB6F-FD6F-48EC-9C97-8AF5FA9B9BD3}" dt="2026-02-25T04:24:40.533" v="24" actId="255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4:49.538" v="25" actId="255"/>
        <pc:sldMkLst>
          <pc:docMk/>
          <pc:sldMk cId="0" sldId="283"/>
        </pc:sldMkLst>
        <pc:spChg chg="mod">
          <ac:chgData name="donghun kim" userId="ea4930dfa3cfe607" providerId="LiveId" clId="{3391DB6F-FD6F-48EC-9C97-8AF5FA9B9BD3}" dt="2026-02-25T04:24:49.538" v="25" actId="255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5:01.121" v="26" actId="255"/>
        <pc:sldMkLst>
          <pc:docMk/>
          <pc:sldMk cId="0" sldId="284"/>
        </pc:sldMkLst>
        <pc:spChg chg="mod">
          <ac:chgData name="donghun kim" userId="ea4930dfa3cfe607" providerId="LiveId" clId="{3391DB6F-FD6F-48EC-9C97-8AF5FA9B9BD3}" dt="2026-02-25T04:25:01.121" v="26" actId="255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5:11.614" v="27" actId="255"/>
        <pc:sldMkLst>
          <pc:docMk/>
          <pc:sldMk cId="0" sldId="285"/>
        </pc:sldMkLst>
        <pc:spChg chg="mod">
          <ac:chgData name="donghun kim" userId="ea4930dfa3cfe607" providerId="LiveId" clId="{3391DB6F-FD6F-48EC-9C97-8AF5FA9B9BD3}" dt="2026-02-25T04:25:11.614" v="27" actId="255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5:28.574" v="28" actId="255"/>
        <pc:sldMkLst>
          <pc:docMk/>
          <pc:sldMk cId="0" sldId="286"/>
        </pc:sldMkLst>
        <pc:spChg chg="mod">
          <ac:chgData name="donghun kim" userId="ea4930dfa3cfe607" providerId="LiveId" clId="{3391DB6F-FD6F-48EC-9C97-8AF5FA9B9BD3}" dt="2026-02-25T04:25:28.574" v="28" actId="255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5:43.234" v="29" actId="255"/>
        <pc:sldMkLst>
          <pc:docMk/>
          <pc:sldMk cId="0" sldId="287"/>
        </pc:sldMkLst>
        <pc:spChg chg="mod">
          <ac:chgData name="donghun kim" userId="ea4930dfa3cfe607" providerId="LiveId" clId="{3391DB6F-FD6F-48EC-9C97-8AF5FA9B9BD3}" dt="2026-02-25T04:25:43.234" v="29" actId="255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5:54.153" v="30" actId="255"/>
        <pc:sldMkLst>
          <pc:docMk/>
          <pc:sldMk cId="0" sldId="288"/>
        </pc:sldMkLst>
        <pc:spChg chg="mod">
          <ac:chgData name="donghun kim" userId="ea4930dfa3cfe607" providerId="LiveId" clId="{3391DB6F-FD6F-48EC-9C97-8AF5FA9B9BD3}" dt="2026-02-25T04:25:54.153" v="30" actId="255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6:03.788" v="31" actId="255"/>
        <pc:sldMkLst>
          <pc:docMk/>
          <pc:sldMk cId="0" sldId="289"/>
        </pc:sldMkLst>
        <pc:spChg chg="mod">
          <ac:chgData name="donghun kim" userId="ea4930dfa3cfe607" providerId="LiveId" clId="{3391DB6F-FD6F-48EC-9C97-8AF5FA9B9BD3}" dt="2026-02-25T04:26:03.788" v="31" actId="255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6:15.758" v="32" actId="255"/>
        <pc:sldMkLst>
          <pc:docMk/>
          <pc:sldMk cId="0" sldId="290"/>
        </pc:sldMkLst>
        <pc:spChg chg="mod">
          <ac:chgData name="donghun kim" userId="ea4930dfa3cfe607" providerId="LiveId" clId="{3391DB6F-FD6F-48EC-9C97-8AF5FA9B9BD3}" dt="2026-02-25T04:26:15.758" v="32" actId="255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6:29.199" v="33" actId="255"/>
        <pc:sldMkLst>
          <pc:docMk/>
          <pc:sldMk cId="0" sldId="291"/>
        </pc:sldMkLst>
        <pc:spChg chg="mod">
          <ac:chgData name="donghun kim" userId="ea4930dfa3cfe607" providerId="LiveId" clId="{3391DB6F-FD6F-48EC-9C97-8AF5FA9B9BD3}" dt="2026-02-25T04:26:29.199" v="33" actId="255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6:42.444" v="34" actId="255"/>
        <pc:sldMkLst>
          <pc:docMk/>
          <pc:sldMk cId="0" sldId="292"/>
        </pc:sldMkLst>
        <pc:spChg chg="mod">
          <ac:chgData name="donghun kim" userId="ea4930dfa3cfe607" providerId="LiveId" clId="{3391DB6F-FD6F-48EC-9C97-8AF5FA9B9BD3}" dt="2026-02-25T04:26:42.444" v="34" actId="255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6:51.866" v="35" actId="255"/>
        <pc:sldMkLst>
          <pc:docMk/>
          <pc:sldMk cId="0" sldId="293"/>
        </pc:sldMkLst>
        <pc:spChg chg="mod">
          <ac:chgData name="donghun kim" userId="ea4930dfa3cfe607" providerId="LiveId" clId="{3391DB6F-FD6F-48EC-9C97-8AF5FA9B9BD3}" dt="2026-02-25T04:26:51.866" v="35" actId="255"/>
          <ac:spMkLst>
            <pc:docMk/>
            <pc:sldMk cId="0" sldId="293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7:03.551" v="36" actId="255"/>
        <pc:sldMkLst>
          <pc:docMk/>
          <pc:sldMk cId="0" sldId="294"/>
        </pc:sldMkLst>
        <pc:spChg chg="mod">
          <ac:chgData name="donghun kim" userId="ea4930dfa3cfe607" providerId="LiveId" clId="{3391DB6F-FD6F-48EC-9C97-8AF5FA9B9BD3}" dt="2026-02-25T04:27:03.551" v="36" actId="255"/>
          <ac:spMkLst>
            <pc:docMk/>
            <pc:sldMk cId="0" sldId="294"/>
            <ac:spMk id="3" creationId="{00000000-0000-0000-0000-000000000000}"/>
          </ac:spMkLst>
        </pc:spChg>
      </pc:sldChg>
      <pc:sldChg chg="modSp mod">
        <pc:chgData name="donghun kim" userId="ea4930dfa3cfe607" providerId="LiveId" clId="{3391DB6F-FD6F-48EC-9C97-8AF5FA9B9BD3}" dt="2026-02-25T04:27:11.411" v="37" actId="255"/>
        <pc:sldMkLst>
          <pc:docMk/>
          <pc:sldMk cId="0" sldId="295"/>
        </pc:sldMkLst>
        <pc:spChg chg="mod">
          <ac:chgData name="donghun kim" userId="ea4930dfa3cfe607" providerId="LiveId" clId="{3391DB6F-FD6F-48EC-9C97-8AF5FA9B9BD3}" dt="2026-02-25T04:27:11.411" v="37" actId="255"/>
          <ac:spMkLst>
            <pc:docMk/>
            <pc:sldMk cId="0" sldId="29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3619-5D07-4239-A1D2-AFD179879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9C178-444D-4BCE-B065-7B3AE2AF9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66BDF-9EFE-4CE9-9580-52CC4B2A9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7D7D-7BFE-418E-A697-CC8EBCF7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6C125-09F9-4ABE-8A3D-5F4A5FA0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443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FCFB-ECD6-4838-BB1A-617D89DB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CA06-B3E3-4EA6-8631-53A747821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C74E3-E807-4D03-B6DB-C0F51C51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BADC8-7869-40B8-B217-C9F12CFD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A562E-151B-4C79-B137-AA649186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87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E256-68D0-4E3F-8EE1-F39AC5CA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9FCB6-3EEE-46C1-A20C-8A0F4F96F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841D2-DDA6-4ADE-93E0-E7515EED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16EB6-F3CF-46C4-95F6-D124F7E7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0F95D-23D3-4AE6-A268-86D436A3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88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62B7-E89B-4AB9-A356-9F5B8D35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3E24F-45D2-4A3E-8AE5-676C38C15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79EAA-6E72-4E87-9728-B5FA66CED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F5858-BC1D-4656-97C7-427842AA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47BB0-9885-4F06-833E-F8C05F2A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16BDC-2893-4E02-A925-F1A3B066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89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5FE8-3804-4F22-B8A8-130F18B8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BF96E-5D91-4C3D-B6FE-2FA7B61C9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C4B99-979F-40B8-BEE0-C8EF2E6C8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34317-0278-48F0-8F48-80E5BD55C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D2E45-634B-4397-AAE4-564A37D1C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9CE08-9E39-4A13-AA71-DDB0A20F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5CBB0-DA85-4E23-ACD4-7EC76220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3F7E4-D7A1-44B5-A98D-C6FC34CC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98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10A0-0C8B-406C-B854-0709DB11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DABEF-8389-47E8-B101-301A7792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A956B-4599-46FE-AA42-355C00AF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7F475-46AB-447E-B66A-DFAABF62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06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DBECD-8784-43D0-AE61-FE3914D5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49923-23C0-4D8D-B295-9C8AB50D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D07F6-13E4-43CB-BD90-56E47ED6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2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A9C1-8A59-46AE-B38F-8BCC9D91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BF16D-A8AB-49C8-BA41-B6D1D959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60A09-D053-49AE-9371-A55A0E0E9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A5466-2E01-45AF-AA48-B231E80E3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A2FE4-4887-4BC8-9DEE-DB90034A9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573B3-CBD4-4D8E-B257-EB9B6AF4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7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A78E-4841-4502-B769-DBFE14B4F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8D0793-CB42-46DC-9D42-4BF2D62BB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55CBE-7A82-43C5-A1A2-9BB48E78A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CA2D0-1719-41A2-AEEF-1DC43445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658C9-CB99-4792-B0B1-3CDD8A32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28AE4-7D11-42FB-919E-8061A778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28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B2E7-A07B-4CBA-BB39-EB268C46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F0A8A-6328-4F7F-9767-1A8230082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ABA77-D6DE-4DA0-ADD6-51D216D6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D3231-D9D9-41A9-847E-B98076FC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D5969-4615-4375-BCC2-9C13E980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82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14AFB-1B3D-450F-B8CA-DB2E17E51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8FC80-7E09-4C2D-A9A4-BFEED2ABB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E90D0-6F2A-4016-B026-4B5ED75F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0F2A1-2C08-432D-AA66-F6A4658A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325D-B211-4002-8E05-E10647DB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55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50A07-29B7-4DBE-88AC-2F3D3875D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1D13B-3D44-4A0F-86AF-F3234ED3A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FE13C-5ED2-46EC-A511-99E99A38C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6E538-E53C-406B-851E-49665EA646C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07F72-0560-40DC-AC50-FEAF58474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DC630-D722-4BAB-98A5-AEB0DECB1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3469E-E2D8-4E7B-95AD-17F6F7F83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32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81576"/>
            <a:ext cx="11830050" cy="631820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15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 에너지와 기후변화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0C6A38-4290-41DD-B95C-4155372FD4AF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제14장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15.1 서론: 에너지와 배출의 비중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전 세계 온실가스 배출의 큰 비중이 에너지 부문에서 발생(전력·산업·수송)</a:t>
            </a:r>
          </a:p>
          <a:p>
            <a:pPr>
              <a:defRPr sz="2200"/>
            </a:pPr>
            <a:r>
              <a:t>석탄·석유·가스 연소가 CO₂의 주요 원천이며 발전부문이 핵심 배출원</a:t>
            </a:r>
          </a:p>
          <a:p>
            <a:pPr>
              <a:defRPr sz="2200"/>
            </a:pPr>
            <a:r>
              <a:t>에너지경제학은 효율성뿐 아니라 탄소 외부성을 반영한 통합적 분석이 필요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AD561-2B57-47B5-B1ED-C438E3DE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92C79-8257-42AC-B889-7EB937C8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15.1 서론: CO₂ 농도 상승과 탄소예산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CO₂는</a:t>
            </a:r>
            <a:r>
              <a:rPr sz="2000" dirty="0"/>
              <a:t> </a:t>
            </a:r>
            <a:r>
              <a:rPr sz="2000" dirty="0" err="1"/>
              <a:t>장기</a:t>
            </a:r>
            <a:r>
              <a:rPr sz="2000" dirty="0"/>
              <a:t> </a:t>
            </a:r>
            <a:r>
              <a:rPr sz="2000" dirty="0" err="1"/>
              <a:t>체류형</a:t>
            </a:r>
            <a:r>
              <a:rPr sz="2000" dirty="0"/>
              <a:t> </a:t>
            </a:r>
            <a:r>
              <a:rPr sz="2000" dirty="0" err="1"/>
              <a:t>온실가스로</a:t>
            </a:r>
            <a:r>
              <a:rPr sz="2000" dirty="0"/>
              <a:t> </a:t>
            </a:r>
            <a:r>
              <a:rPr sz="2000" dirty="0" err="1"/>
              <a:t>복사에너지</a:t>
            </a:r>
            <a:r>
              <a:rPr sz="2000" dirty="0"/>
              <a:t> </a:t>
            </a:r>
            <a:r>
              <a:rPr sz="2000" dirty="0" err="1"/>
              <a:t>흡수</a:t>
            </a:r>
            <a:r>
              <a:rPr sz="2000" dirty="0"/>
              <a:t>/</a:t>
            </a:r>
            <a:r>
              <a:rPr sz="2000" dirty="0" err="1"/>
              <a:t>재방출을</a:t>
            </a:r>
            <a:r>
              <a:rPr sz="2000" dirty="0"/>
              <a:t> </a:t>
            </a:r>
            <a:r>
              <a:rPr sz="2000" dirty="0" err="1"/>
              <a:t>통해</a:t>
            </a:r>
            <a:r>
              <a:rPr sz="2000" dirty="0"/>
              <a:t> </a:t>
            </a:r>
            <a:r>
              <a:rPr sz="2000" dirty="0" err="1"/>
              <a:t>온난화</a:t>
            </a:r>
            <a:r>
              <a:rPr sz="2000" dirty="0"/>
              <a:t> </a:t>
            </a:r>
            <a:r>
              <a:rPr sz="2000" dirty="0" err="1"/>
              <a:t>유발</a:t>
            </a:r>
            <a:endParaRPr sz="2000" dirty="0"/>
          </a:p>
          <a:p>
            <a:pPr>
              <a:defRPr sz="2200"/>
            </a:pPr>
            <a:r>
              <a:rPr sz="2000" dirty="0" err="1"/>
              <a:t>대기</a:t>
            </a:r>
            <a:r>
              <a:rPr sz="2000" dirty="0"/>
              <a:t> 중 CO₂ </a:t>
            </a:r>
            <a:r>
              <a:rPr sz="2000" dirty="0" err="1"/>
              <a:t>농도</a:t>
            </a:r>
            <a:r>
              <a:rPr sz="2000" dirty="0"/>
              <a:t> </a:t>
            </a:r>
            <a:r>
              <a:rPr sz="2000" dirty="0" err="1"/>
              <a:t>급증</a:t>
            </a:r>
            <a:r>
              <a:rPr sz="2000" dirty="0"/>
              <a:t> → </a:t>
            </a:r>
            <a:r>
              <a:rPr sz="2000" dirty="0" err="1"/>
              <a:t>기후시스템의</a:t>
            </a:r>
            <a:r>
              <a:rPr sz="2000" dirty="0"/>
              <a:t> </a:t>
            </a:r>
            <a:r>
              <a:rPr sz="2000" dirty="0" err="1"/>
              <a:t>구조적</a:t>
            </a:r>
            <a:r>
              <a:rPr sz="2000" dirty="0"/>
              <a:t> </a:t>
            </a:r>
            <a:r>
              <a:rPr sz="2000" dirty="0" err="1"/>
              <a:t>변화</a:t>
            </a:r>
            <a:endParaRPr sz="2000" dirty="0"/>
          </a:p>
          <a:p>
            <a:pPr>
              <a:defRPr sz="2200"/>
            </a:pPr>
            <a:r>
              <a:rPr sz="2000" dirty="0"/>
              <a:t>1.5°C </a:t>
            </a:r>
            <a:r>
              <a:rPr sz="2000" dirty="0" err="1"/>
              <a:t>목표</a:t>
            </a:r>
            <a:r>
              <a:rPr sz="2000" dirty="0"/>
              <a:t> </a:t>
            </a:r>
            <a:r>
              <a:rPr sz="2000" dirty="0" err="1"/>
              <a:t>달성을</a:t>
            </a:r>
            <a:r>
              <a:rPr sz="2000" dirty="0"/>
              <a:t> </a:t>
            </a:r>
            <a:r>
              <a:rPr sz="2000" dirty="0" err="1"/>
              <a:t>위해</a:t>
            </a:r>
            <a:r>
              <a:rPr sz="2000" dirty="0"/>
              <a:t> </a:t>
            </a:r>
            <a:r>
              <a:rPr sz="2000" dirty="0" err="1"/>
              <a:t>남은</a:t>
            </a:r>
            <a:r>
              <a:rPr sz="2000" dirty="0"/>
              <a:t> </a:t>
            </a:r>
            <a:r>
              <a:rPr sz="2000" dirty="0" err="1"/>
              <a:t>탄소예산이</a:t>
            </a:r>
            <a:r>
              <a:rPr sz="2000" dirty="0"/>
              <a:t> </a:t>
            </a:r>
            <a:r>
              <a:rPr sz="2000" dirty="0" err="1"/>
              <a:t>제한적이며</a:t>
            </a:r>
            <a:r>
              <a:rPr sz="2000" dirty="0"/>
              <a:t> ‘</a:t>
            </a:r>
            <a:r>
              <a:rPr sz="2000" dirty="0" err="1"/>
              <a:t>시간’이</a:t>
            </a:r>
            <a:r>
              <a:rPr sz="2000" dirty="0"/>
              <a:t> </a:t>
            </a:r>
            <a:r>
              <a:rPr sz="2000" dirty="0" err="1"/>
              <a:t>핵심</a:t>
            </a:r>
            <a:r>
              <a:rPr sz="2000" dirty="0"/>
              <a:t> </a:t>
            </a:r>
            <a:r>
              <a:rPr sz="2000" dirty="0" err="1"/>
              <a:t>제약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FF66D-F725-4451-92EB-9D2E6705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03AD6-D33B-43E2-ACC8-D95081E9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400"/>
              <a:t>15.1 서론: 기후변화가 에너지시스템에 미치는 영향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수요</a:t>
            </a:r>
            <a:r>
              <a:rPr sz="2000" dirty="0"/>
              <a:t>: </a:t>
            </a:r>
            <a:r>
              <a:rPr sz="2000" dirty="0" err="1"/>
              <a:t>폭염</a:t>
            </a:r>
            <a:r>
              <a:rPr sz="2000" dirty="0"/>
              <a:t> </a:t>
            </a:r>
            <a:r>
              <a:rPr sz="2000" dirty="0" err="1"/>
              <a:t>증가</a:t>
            </a:r>
            <a:r>
              <a:rPr sz="2000" dirty="0"/>
              <a:t> → </a:t>
            </a:r>
            <a:r>
              <a:rPr sz="2000" dirty="0" err="1"/>
              <a:t>냉방수요</a:t>
            </a:r>
            <a:r>
              <a:rPr sz="2000" dirty="0"/>
              <a:t> 및 </a:t>
            </a:r>
            <a:r>
              <a:rPr sz="2000" dirty="0" err="1"/>
              <a:t>여름</a:t>
            </a:r>
            <a:r>
              <a:rPr sz="2000" dirty="0"/>
              <a:t> </a:t>
            </a:r>
            <a:r>
              <a:rPr sz="2000" dirty="0" err="1"/>
              <a:t>피크부하</a:t>
            </a:r>
            <a:r>
              <a:rPr sz="2000" dirty="0"/>
              <a:t> </a:t>
            </a:r>
            <a:r>
              <a:rPr sz="2000" dirty="0" err="1"/>
              <a:t>집중도</a:t>
            </a:r>
            <a:r>
              <a:rPr sz="2000" dirty="0"/>
              <a:t> </a:t>
            </a:r>
            <a:r>
              <a:rPr sz="2000" dirty="0" err="1"/>
              <a:t>상승</a:t>
            </a:r>
            <a:endParaRPr sz="2000" dirty="0"/>
          </a:p>
          <a:p>
            <a:pPr>
              <a:defRPr sz="2200"/>
            </a:pPr>
            <a:r>
              <a:rPr sz="2000" dirty="0" err="1"/>
              <a:t>공급</a:t>
            </a:r>
            <a:r>
              <a:rPr sz="2000" dirty="0"/>
              <a:t>: </a:t>
            </a:r>
            <a:r>
              <a:rPr sz="2000" dirty="0" err="1"/>
              <a:t>고온·가뭄·홍수·태풍</a:t>
            </a:r>
            <a:r>
              <a:rPr sz="2000" dirty="0"/>
              <a:t> 등 </a:t>
            </a:r>
            <a:r>
              <a:rPr sz="2000" dirty="0" err="1"/>
              <a:t>극한기후가</a:t>
            </a:r>
            <a:r>
              <a:rPr sz="2000" dirty="0"/>
              <a:t> </a:t>
            </a:r>
            <a:r>
              <a:rPr sz="2000" dirty="0" err="1"/>
              <a:t>발전·송배전</a:t>
            </a:r>
            <a:r>
              <a:rPr sz="2000" dirty="0"/>
              <a:t> </a:t>
            </a:r>
            <a:r>
              <a:rPr sz="2000" dirty="0" err="1"/>
              <a:t>인프라</a:t>
            </a:r>
            <a:r>
              <a:rPr sz="2000" dirty="0"/>
              <a:t> </a:t>
            </a:r>
            <a:r>
              <a:rPr sz="2000" dirty="0" err="1"/>
              <a:t>가동성</a:t>
            </a:r>
            <a:r>
              <a:rPr sz="2000" dirty="0"/>
              <a:t> </a:t>
            </a:r>
            <a:r>
              <a:rPr sz="2000" dirty="0" err="1"/>
              <a:t>저해</a:t>
            </a:r>
            <a:endParaRPr sz="2000" dirty="0"/>
          </a:p>
          <a:p>
            <a:pPr>
              <a:defRPr sz="2200"/>
            </a:pPr>
            <a:r>
              <a:rPr sz="2000" dirty="0" err="1"/>
              <a:t>정책</a:t>
            </a:r>
            <a:r>
              <a:rPr sz="2000" dirty="0"/>
              <a:t>: ‘</a:t>
            </a:r>
            <a:r>
              <a:rPr sz="2000" dirty="0" err="1"/>
              <a:t>감축’과</a:t>
            </a:r>
            <a:r>
              <a:rPr sz="2000" dirty="0"/>
              <a:t> </a:t>
            </a:r>
            <a:r>
              <a:rPr sz="2000" dirty="0" err="1"/>
              <a:t>함께</a:t>
            </a:r>
            <a:r>
              <a:rPr sz="2000" dirty="0"/>
              <a:t> ‘</a:t>
            </a:r>
            <a:r>
              <a:rPr sz="2000" dirty="0" err="1"/>
              <a:t>기후복원력</a:t>
            </a:r>
            <a:r>
              <a:rPr sz="2000" dirty="0"/>
              <a:t>(</a:t>
            </a:r>
            <a:r>
              <a:rPr sz="2000" dirty="0" err="1"/>
              <a:t>회복력</a:t>
            </a:r>
            <a:r>
              <a:rPr sz="2000" dirty="0"/>
              <a:t>)’ </a:t>
            </a:r>
            <a:r>
              <a:rPr sz="2000" dirty="0" err="1"/>
              <a:t>강화가</a:t>
            </a:r>
            <a:r>
              <a:rPr sz="2000" dirty="0"/>
              <a:t> </a:t>
            </a:r>
            <a:r>
              <a:rPr sz="2000" dirty="0" err="1"/>
              <a:t>에너지정책</a:t>
            </a:r>
            <a:r>
              <a:rPr sz="2000" dirty="0"/>
              <a:t> </a:t>
            </a:r>
            <a:r>
              <a:rPr sz="2000" dirty="0" err="1"/>
              <a:t>핵심</a:t>
            </a:r>
            <a:r>
              <a:rPr sz="2000" dirty="0"/>
              <a:t> 축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7B30B-A27A-48A2-9A7A-728667FD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46E3D-6A16-4EF8-8EA3-0C205421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500"/>
              <a:t>15.2 온실가스 배출과 에너지원: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태양에너지</a:t>
            </a:r>
            <a:r>
              <a:rPr sz="2000" dirty="0"/>
              <a:t> </a:t>
            </a:r>
            <a:r>
              <a:rPr sz="2000" dirty="0" err="1"/>
              <a:t>수지</a:t>
            </a:r>
            <a:r>
              <a:rPr sz="2000" dirty="0"/>
              <a:t> → </a:t>
            </a:r>
            <a:r>
              <a:rPr sz="2000" dirty="0" err="1"/>
              <a:t>온실가스</a:t>
            </a:r>
            <a:r>
              <a:rPr sz="2000" dirty="0"/>
              <a:t> </a:t>
            </a:r>
            <a:r>
              <a:rPr sz="2000" dirty="0" err="1"/>
              <a:t>증가</a:t>
            </a:r>
            <a:r>
              <a:rPr sz="2000" dirty="0"/>
              <a:t> → </a:t>
            </a:r>
            <a:r>
              <a:rPr sz="2000" dirty="0" err="1"/>
              <a:t>복사강제력</a:t>
            </a:r>
            <a:r>
              <a:rPr sz="2000" dirty="0"/>
              <a:t> </a:t>
            </a:r>
            <a:r>
              <a:rPr sz="2000" dirty="0" err="1"/>
              <a:t>변화</a:t>
            </a:r>
            <a:endParaRPr sz="2000" dirty="0"/>
          </a:p>
          <a:p>
            <a:pPr>
              <a:defRPr sz="2200"/>
            </a:pPr>
            <a:r>
              <a:rPr sz="2000" dirty="0" err="1"/>
              <a:t>연료별</a:t>
            </a:r>
            <a:r>
              <a:rPr sz="2000" dirty="0"/>
              <a:t> </a:t>
            </a:r>
            <a:r>
              <a:rPr sz="2000" dirty="0" err="1"/>
              <a:t>탄소함량·열량</a:t>
            </a:r>
            <a:r>
              <a:rPr sz="2000" dirty="0"/>
              <a:t> </a:t>
            </a:r>
            <a:r>
              <a:rPr sz="2000" dirty="0" err="1"/>
              <a:t>차이</a:t>
            </a:r>
            <a:r>
              <a:rPr sz="2000" dirty="0"/>
              <a:t> → </a:t>
            </a:r>
            <a:r>
              <a:rPr sz="2000" dirty="0" err="1"/>
              <a:t>배출계수</a:t>
            </a:r>
            <a:r>
              <a:rPr sz="2000" dirty="0"/>
              <a:t> </a:t>
            </a:r>
            <a:r>
              <a:rPr sz="2000" dirty="0" err="1"/>
              <a:t>차이</a:t>
            </a:r>
            <a:endParaRPr sz="2000" dirty="0"/>
          </a:p>
          <a:p>
            <a:pPr>
              <a:defRPr sz="2200"/>
            </a:pPr>
            <a:r>
              <a:rPr sz="2000" dirty="0" err="1"/>
              <a:t>국가별</a:t>
            </a:r>
            <a:r>
              <a:rPr sz="2000" dirty="0"/>
              <a:t> </a:t>
            </a:r>
            <a:r>
              <a:rPr sz="2000" dirty="0" err="1"/>
              <a:t>에너지믹스</a:t>
            </a:r>
            <a:r>
              <a:rPr sz="2000" dirty="0"/>
              <a:t> → </a:t>
            </a:r>
            <a:r>
              <a:rPr sz="2000" dirty="0" err="1"/>
              <a:t>배출구조·감축여건·형평성</a:t>
            </a:r>
            <a:r>
              <a:rPr sz="2000" dirty="0"/>
              <a:t> </a:t>
            </a:r>
            <a:r>
              <a:rPr sz="2000" dirty="0" err="1"/>
              <a:t>논점</a:t>
            </a:r>
            <a:r>
              <a:rPr sz="2000" dirty="0"/>
              <a:t> </a:t>
            </a:r>
            <a:r>
              <a:rPr sz="2000" dirty="0" err="1"/>
              <a:t>결정</a:t>
            </a:r>
            <a:endParaRPr sz="2000" dirty="0"/>
          </a:p>
          <a:p>
            <a:pPr>
              <a:defRPr sz="2200"/>
            </a:pPr>
            <a:r>
              <a:rPr sz="2000" dirty="0" err="1"/>
              <a:t>미래</a:t>
            </a:r>
            <a:r>
              <a:rPr sz="2000" dirty="0"/>
              <a:t> </a:t>
            </a:r>
            <a:r>
              <a:rPr sz="2000" dirty="0" err="1"/>
              <a:t>경로는</a:t>
            </a:r>
            <a:r>
              <a:rPr sz="2000" dirty="0"/>
              <a:t> </a:t>
            </a:r>
            <a:r>
              <a:rPr sz="2000" dirty="0" err="1"/>
              <a:t>배출경로</a:t>
            </a:r>
            <a:r>
              <a:rPr sz="2000" dirty="0"/>
              <a:t> </a:t>
            </a:r>
            <a:r>
              <a:rPr sz="2000" dirty="0" err="1"/>
              <a:t>시나리오로</a:t>
            </a:r>
            <a:r>
              <a:rPr sz="2000" dirty="0"/>
              <a:t> </a:t>
            </a:r>
            <a:r>
              <a:rPr sz="2000" dirty="0" err="1"/>
              <a:t>비교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FE5F2-0FCB-4151-8B43-C7C7BCE5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C4FB5-EB6F-40FC-B1FC-99527FC3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15.2.1 태양에너지 수지: 기본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태양복사</a:t>
            </a:r>
            <a:r>
              <a:rPr sz="2000" dirty="0"/>
              <a:t> </a:t>
            </a:r>
            <a:r>
              <a:rPr sz="2000" dirty="0" err="1"/>
              <a:t>유입</a:t>
            </a:r>
            <a:r>
              <a:rPr sz="2000" dirty="0"/>
              <a:t>(</a:t>
            </a:r>
            <a:r>
              <a:rPr sz="2000" dirty="0" err="1"/>
              <a:t>단파</a:t>
            </a:r>
            <a:r>
              <a:rPr sz="2000" dirty="0"/>
              <a:t>)과 </a:t>
            </a:r>
            <a:r>
              <a:rPr sz="2000" dirty="0" err="1"/>
              <a:t>지구의</a:t>
            </a:r>
            <a:r>
              <a:rPr sz="2000" dirty="0"/>
              <a:t> </a:t>
            </a:r>
            <a:r>
              <a:rPr sz="2000" dirty="0" err="1"/>
              <a:t>우주로의</a:t>
            </a:r>
            <a:r>
              <a:rPr sz="2000" dirty="0"/>
              <a:t> </a:t>
            </a:r>
            <a:r>
              <a:rPr sz="2000" dirty="0" err="1"/>
              <a:t>방출</a:t>
            </a:r>
            <a:r>
              <a:rPr sz="2000" dirty="0"/>
              <a:t>(</a:t>
            </a:r>
            <a:r>
              <a:rPr sz="2000" dirty="0" err="1"/>
              <a:t>장파</a:t>
            </a:r>
            <a:r>
              <a:rPr sz="2000" dirty="0"/>
              <a:t>) </a:t>
            </a:r>
            <a:r>
              <a:rPr sz="2000" dirty="0" err="1"/>
              <a:t>사이의</a:t>
            </a:r>
            <a:r>
              <a:rPr sz="2000" dirty="0"/>
              <a:t> </a:t>
            </a:r>
            <a:r>
              <a:rPr sz="2000" dirty="0" err="1"/>
              <a:t>균형이</a:t>
            </a:r>
            <a:r>
              <a:rPr sz="2000" dirty="0"/>
              <a:t> </a:t>
            </a:r>
            <a:r>
              <a:rPr sz="2000" dirty="0" err="1"/>
              <a:t>평균기온</a:t>
            </a:r>
            <a:r>
              <a:rPr sz="2000" dirty="0"/>
              <a:t> </a:t>
            </a:r>
            <a:r>
              <a:rPr sz="2000" dirty="0" err="1"/>
              <a:t>결정</a:t>
            </a:r>
            <a:endParaRPr sz="2000" dirty="0"/>
          </a:p>
          <a:p>
            <a:pPr>
              <a:defRPr sz="2200"/>
            </a:pPr>
            <a:r>
              <a:rPr sz="2000" dirty="0" err="1"/>
              <a:t>반사</a:t>
            </a:r>
            <a:r>
              <a:rPr sz="2000" dirty="0"/>
              <a:t>(</a:t>
            </a:r>
            <a:r>
              <a:rPr sz="2000" dirty="0" err="1"/>
              <a:t>알베도</a:t>
            </a:r>
            <a:r>
              <a:rPr sz="2000" dirty="0"/>
              <a:t>)와 </a:t>
            </a:r>
            <a:r>
              <a:rPr sz="2000" dirty="0" err="1"/>
              <a:t>흡수</a:t>
            </a:r>
            <a:r>
              <a:rPr sz="2000" dirty="0"/>
              <a:t>(</a:t>
            </a:r>
            <a:r>
              <a:rPr sz="2000" dirty="0" err="1"/>
              <a:t>대기·해양·지표</a:t>
            </a:r>
            <a:r>
              <a:rPr sz="2000" dirty="0"/>
              <a:t>)가 </a:t>
            </a:r>
            <a:r>
              <a:rPr sz="2000" dirty="0" err="1"/>
              <a:t>에너지</a:t>
            </a:r>
            <a:r>
              <a:rPr sz="2000" dirty="0"/>
              <a:t> </a:t>
            </a:r>
            <a:r>
              <a:rPr sz="2000" dirty="0" err="1"/>
              <a:t>순환</a:t>
            </a:r>
            <a:r>
              <a:rPr sz="2000" dirty="0"/>
              <a:t> </a:t>
            </a:r>
            <a:r>
              <a:rPr sz="2000" dirty="0" err="1"/>
              <a:t>구조를</a:t>
            </a:r>
            <a:r>
              <a:rPr sz="2000" dirty="0"/>
              <a:t> </a:t>
            </a:r>
            <a:r>
              <a:rPr sz="2000" dirty="0" err="1"/>
              <a:t>형성</a:t>
            </a:r>
            <a:endParaRPr sz="2000" dirty="0"/>
          </a:p>
          <a:p>
            <a:pPr>
              <a:defRPr sz="2200"/>
            </a:pPr>
            <a:r>
              <a:rPr sz="2000" dirty="0" err="1"/>
              <a:t>균형이</a:t>
            </a:r>
            <a:r>
              <a:rPr sz="2000" dirty="0"/>
              <a:t> </a:t>
            </a:r>
            <a:r>
              <a:rPr sz="2000" dirty="0" err="1"/>
              <a:t>깨지면</a:t>
            </a:r>
            <a:r>
              <a:rPr sz="2000" dirty="0"/>
              <a:t> </a:t>
            </a:r>
            <a:r>
              <a:rPr sz="2000" dirty="0" err="1"/>
              <a:t>지구</a:t>
            </a:r>
            <a:r>
              <a:rPr sz="2000" dirty="0"/>
              <a:t> </a:t>
            </a:r>
            <a:r>
              <a:rPr sz="2000" dirty="0" err="1"/>
              <a:t>시스템에</a:t>
            </a:r>
            <a:r>
              <a:rPr sz="2000" dirty="0"/>
              <a:t> </a:t>
            </a:r>
            <a:r>
              <a:rPr sz="2000" dirty="0" err="1"/>
              <a:t>에너지가</a:t>
            </a:r>
            <a:r>
              <a:rPr sz="2000" dirty="0"/>
              <a:t> </a:t>
            </a:r>
            <a:r>
              <a:rPr sz="2000" dirty="0" err="1"/>
              <a:t>축적되어</a:t>
            </a:r>
            <a:r>
              <a:rPr sz="2000" dirty="0"/>
              <a:t> </a:t>
            </a:r>
            <a:r>
              <a:rPr sz="2000" dirty="0" err="1"/>
              <a:t>온난화로</a:t>
            </a:r>
            <a:r>
              <a:rPr sz="2000" dirty="0"/>
              <a:t> </a:t>
            </a:r>
            <a:r>
              <a:rPr sz="2000" dirty="0" err="1"/>
              <a:t>이어짐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E77D2-BCFD-41FA-89C8-5E6EDE4C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79D29-D814-44D3-A1FC-1D7F2670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15.2.1 온실가스와 복사강제력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온실가스</a:t>
            </a:r>
            <a:r>
              <a:rPr sz="2000" dirty="0"/>
              <a:t> </a:t>
            </a:r>
            <a:r>
              <a:rPr sz="2000" dirty="0" err="1"/>
              <a:t>증가는</a:t>
            </a:r>
            <a:r>
              <a:rPr sz="2000" dirty="0"/>
              <a:t> </a:t>
            </a:r>
            <a:r>
              <a:rPr sz="2000" dirty="0" err="1"/>
              <a:t>대기의</a:t>
            </a:r>
            <a:r>
              <a:rPr sz="2000" dirty="0"/>
              <a:t> </a:t>
            </a:r>
            <a:r>
              <a:rPr sz="2000" dirty="0" err="1"/>
              <a:t>적외선</a:t>
            </a:r>
            <a:r>
              <a:rPr sz="2000" dirty="0"/>
              <a:t> </a:t>
            </a:r>
            <a:r>
              <a:rPr sz="2000" dirty="0" err="1"/>
              <a:t>방출을</a:t>
            </a:r>
            <a:r>
              <a:rPr sz="2000" dirty="0"/>
              <a:t> </a:t>
            </a:r>
            <a:r>
              <a:rPr sz="2000" dirty="0" err="1"/>
              <a:t>감소시켜</a:t>
            </a:r>
            <a:r>
              <a:rPr sz="2000" dirty="0"/>
              <a:t> </a:t>
            </a:r>
            <a:r>
              <a:rPr sz="2000" dirty="0" err="1"/>
              <a:t>순복사</a:t>
            </a:r>
            <a:r>
              <a:rPr sz="2000" dirty="0"/>
              <a:t> </a:t>
            </a:r>
            <a:r>
              <a:rPr sz="2000" dirty="0" err="1"/>
              <a:t>불균형</a:t>
            </a:r>
            <a:r>
              <a:rPr sz="2000" dirty="0"/>
              <a:t>(</a:t>
            </a:r>
            <a:r>
              <a:rPr sz="2000" dirty="0" err="1"/>
              <a:t>복사강제력</a:t>
            </a:r>
            <a:r>
              <a:rPr sz="2000" dirty="0"/>
              <a:t>) </a:t>
            </a:r>
            <a:r>
              <a:rPr sz="2000" dirty="0" err="1"/>
              <a:t>발생</a:t>
            </a:r>
            <a:endParaRPr sz="2000" dirty="0"/>
          </a:p>
          <a:p>
            <a:pPr>
              <a:defRPr sz="2200"/>
            </a:pPr>
            <a:r>
              <a:rPr sz="2000" dirty="0" err="1"/>
              <a:t>복사강제력</a:t>
            </a:r>
            <a:r>
              <a:rPr sz="2000" dirty="0"/>
              <a:t> </a:t>
            </a:r>
            <a:r>
              <a:rPr sz="2000" dirty="0" err="1"/>
              <a:t>증가는</a:t>
            </a:r>
            <a:r>
              <a:rPr sz="2000" dirty="0"/>
              <a:t> </a:t>
            </a:r>
            <a:r>
              <a:rPr sz="2000" dirty="0" err="1"/>
              <a:t>해양·대기의</a:t>
            </a:r>
            <a:r>
              <a:rPr sz="2000" dirty="0"/>
              <a:t> </a:t>
            </a:r>
            <a:r>
              <a:rPr sz="2000" dirty="0" err="1"/>
              <a:t>온도</a:t>
            </a:r>
            <a:r>
              <a:rPr sz="2000" dirty="0"/>
              <a:t> </a:t>
            </a:r>
            <a:r>
              <a:rPr sz="2000" dirty="0" err="1"/>
              <a:t>상승</a:t>
            </a:r>
            <a:r>
              <a:rPr sz="2000" dirty="0"/>
              <a:t>, </a:t>
            </a:r>
            <a:r>
              <a:rPr sz="2000" dirty="0" err="1"/>
              <a:t>수문순환</a:t>
            </a:r>
            <a:r>
              <a:rPr sz="2000" dirty="0"/>
              <a:t> </a:t>
            </a:r>
            <a:r>
              <a:rPr sz="2000" dirty="0" err="1"/>
              <a:t>변화</a:t>
            </a:r>
            <a:r>
              <a:rPr sz="2000" dirty="0"/>
              <a:t>, </a:t>
            </a:r>
            <a:r>
              <a:rPr sz="2000" dirty="0" err="1"/>
              <a:t>극한기상</a:t>
            </a:r>
            <a:r>
              <a:rPr sz="2000" dirty="0"/>
              <a:t> </a:t>
            </a:r>
            <a:r>
              <a:rPr sz="2000" dirty="0" err="1"/>
              <a:t>강화로</a:t>
            </a:r>
            <a:r>
              <a:rPr sz="2000" dirty="0"/>
              <a:t> </a:t>
            </a:r>
            <a:r>
              <a:rPr sz="2000" dirty="0" err="1"/>
              <a:t>연결</a:t>
            </a:r>
            <a:endParaRPr sz="2000" dirty="0"/>
          </a:p>
          <a:p>
            <a:pPr>
              <a:defRPr sz="2200"/>
            </a:pPr>
            <a:r>
              <a:rPr sz="2000" dirty="0" err="1"/>
              <a:t>기후정책의</a:t>
            </a:r>
            <a:r>
              <a:rPr sz="2000" dirty="0"/>
              <a:t> </a:t>
            </a:r>
            <a:r>
              <a:rPr sz="2000" dirty="0" err="1"/>
              <a:t>물리적</a:t>
            </a:r>
            <a:r>
              <a:rPr sz="2000" dirty="0"/>
              <a:t> </a:t>
            </a:r>
            <a:r>
              <a:rPr sz="2000" dirty="0" err="1"/>
              <a:t>목표</a:t>
            </a:r>
            <a:r>
              <a:rPr sz="2000" dirty="0"/>
              <a:t>: </a:t>
            </a:r>
            <a:r>
              <a:rPr sz="2000" dirty="0" err="1"/>
              <a:t>복사강제력을</a:t>
            </a:r>
            <a:r>
              <a:rPr sz="2000" dirty="0"/>
              <a:t> </a:t>
            </a:r>
            <a:r>
              <a:rPr sz="2000" dirty="0" err="1"/>
              <a:t>낮춰</a:t>
            </a:r>
            <a:r>
              <a:rPr sz="2000" dirty="0"/>
              <a:t> </a:t>
            </a:r>
            <a:r>
              <a:rPr sz="2000" dirty="0" err="1"/>
              <a:t>에너지균형을</a:t>
            </a:r>
            <a:r>
              <a:rPr sz="2000" dirty="0"/>
              <a:t> </a:t>
            </a:r>
            <a:r>
              <a:rPr sz="2000" dirty="0" err="1"/>
              <a:t>복원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EBC09-52AE-4351-95F9-A515982F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8C065-E5D2-4695-8CB6-1FEC7AE6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600"/>
              <a:t>15.2.2 에너지원별 탄소배출계수: 의미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탄소배출계수</a:t>
            </a:r>
            <a:r>
              <a:rPr sz="2000" dirty="0"/>
              <a:t>: </a:t>
            </a:r>
            <a:r>
              <a:rPr sz="2000" dirty="0" err="1"/>
              <a:t>연료</a:t>
            </a:r>
            <a:r>
              <a:rPr sz="2000" dirty="0"/>
              <a:t> 1단위 </a:t>
            </a:r>
            <a:r>
              <a:rPr sz="2000" dirty="0" err="1"/>
              <a:t>에너지당</a:t>
            </a:r>
            <a:r>
              <a:rPr sz="2000" dirty="0"/>
              <a:t> </a:t>
            </a:r>
            <a:r>
              <a:rPr sz="2000" dirty="0" err="1"/>
              <a:t>배출되는</a:t>
            </a:r>
            <a:r>
              <a:rPr sz="2000" dirty="0"/>
              <a:t> CO₂(</a:t>
            </a:r>
            <a:r>
              <a:rPr sz="2000" dirty="0" err="1"/>
              <a:t>또는</a:t>
            </a:r>
            <a:r>
              <a:rPr sz="2000" dirty="0"/>
              <a:t> CO₂-eq)</a:t>
            </a:r>
          </a:p>
          <a:p>
            <a:pPr>
              <a:defRPr sz="2200"/>
            </a:pPr>
            <a:r>
              <a:rPr sz="2000" dirty="0" err="1"/>
              <a:t>인벤토리</a:t>
            </a:r>
            <a:r>
              <a:rPr sz="2000" dirty="0"/>
              <a:t> </a:t>
            </a:r>
            <a:r>
              <a:rPr sz="2000" dirty="0" err="1"/>
              <a:t>작성</a:t>
            </a:r>
            <a:r>
              <a:rPr sz="2000" dirty="0"/>
              <a:t>, </a:t>
            </a:r>
            <a:r>
              <a:rPr sz="2000" dirty="0" err="1"/>
              <a:t>세율·할당</a:t>
            </a:r>
            <a:r>
              <a:rPr sz="2000" dirty="0"/>
              <a:t> </a:t>
            </a:r>
            <a:r>
              <a:rPr sz="2000" dirty="0" err="1"/>
              <a:t>설계</a:t>
            </a:r>
            <a:r>
              <a:rPr sz="2000" dirty="0"/>
              <a:t>, </a:t>
            </a:r>
            <a:r>
              <a:rPr sz="2000" dirty="0" err="1"/>
              <a:t>에너지믹스</a:t>
            </a:r>
            <a:r>
              <a:rPr sz="2000" dirty="0"/>
              <a:t> </a:t>
            </a:r>
            <a:r>
              <a:rPr sz="2000" dirty="0" err="1"/>
              <a:t>평가의</a:t>
            </a:r>
            <a:r>
              <a:rPr sz="2000" dirty="0"/>
              <a:t> </a:t>
            </a:r>
            <a:r>
              <a:rPr sz="2000" dirty="0" err="1"/>
              <a:t>핵심</a:t>
            </a:r>
            <a:r>
              <a:rPr sz="2000" dirty="0"/>
              <a:t> </a:t>
            </a:r>
            <a:r>
              <a:rPr sz="2000" dirty="0" err="1"/>
              <a:t>지표</a:t>
            </a:r>
            <a:endParaRPr sz="2000" dirty="0"/>
          </a:p>
          <a:p>
            <a:pPr>
              <a:defRPr sz="2200"/>
            </a:pPr>
            <a:r>
              <a:rPr sz="2000" dirty="0" err="1"/>
              <a:t>연료의</a:t>
            </a:r>
            <a:r>
              <a:rPr sz="2000" dirty="0"/>
              <a:t> </a:t>
            </a:r>
            <a:r>
              <a:rPr sz="2000" dirty="0" err="1"/>
              <a:t>탄소함량·연소효율·발열량에</a:t>
            </a:r>
            <a:r>
              <a:rPr sz="2000" dirty="0"/>
              <a:t> </a:t>
            </a:r>
            <a:r>
              <a:rPr sz="2000" dirty="0" err="1"/>
              <a:t>의해</a:t>
            </a:r>
            <a:r>
              <a:rPr sz="2000" dirty="0"/>
              <a:t> </a:t>
            </a:r>
            <a:r>
              <a:rPr sz="2000" dirty="0" err="1"/>
              <a:t>계수가</a:t>
            </a:r>
            <a:r>
              <a:rPr sz="2000" dirty="0"/>
              <a:t> </a:t>
            </a:r>
            <a:r>
              <a:rPr sz="2000" dirty="0" err="1"/>
              <a:t>달라짐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D5AFB-D986-4E05-9067-34F171D9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574D9-A4DA-40B6-9C9A-1686606D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600"/>
              <a:t>15.2.2 연료별 배출계수 비교(정성적)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석탄</a:t>
            </a:r>
            <a:r>
              <a:rPr sz="2000" dirty="0"/>
              <a:t>: </a:t>
            </a:r>
            <a:r>
              <a:rPr sz="2000" dirty="0" err="1"/>
              <a:t>단위에너지당</a:t>
            </a:r>
            <a:r>
              <a:rPr sz="2000" dirty="0"/>
              <a:t> </a:t>
            </a:r>
            <a:r>
              <a:rPr sz="2000" dirty="0" err="1"/>
              <a:t>배출이</a:t>
            </a:r>
            <a:r>
              <a:rPr sz="2000" dirty="0"/>
              <a:t> </a:t>
            </a:r>
            <a:r>
              <a:rPr sz="2000" dirty="0" err="1"/>
              <a:t>가장</a:t>
            </a:r>
            <a:r>
              <a:rPr sz="2000" dirty="0"/>
              <a:t> 큼 → </a:t>
            </a:r>
            <a:r>
              <a:rPr sz="2000" dirty="0" err="1"/>
              <a:t>발전부문에서</a:t>
            </a:r>
            <a:r>
              <a:rPr sz="2000" dirty="0"/>
              <a:t> </a:t>
            </a:r>
            <a:r>
              <a:rPr sz="2000" dirty="0" err="1"/>
              <a:t>우선</a:t>
            </a:r>
            <a:r>
              <a:rPr sz="2000" dirty="0"/>
              <a:t> </a:t>
            </a:r>
            <a:r>
              <a:rPr sz="2000" dirty="0" err="1"/>
              <a:t>감축</a:t>
            </a:r>
            <a:r>
              <a:rPr sz="2000" dirty="0"/>
              <a:t> </a:t>
            </a:r>
            <a:r>
              <a:rPr sz="2000" dirty="0" err="1"/>
              <a:t>대상</a:t>
            </a:r>
            <a:endParaRPr sz="2000" dirty="0"/>
          </a:p>
          <a:p>
            <a:pPr>
              <a:defRPr sz="2200"/>
            </a:pPr>
            <a:r>
              <a:rPr sz="2000" dirty="0" err="1"/>
              <a:t>석유제품</a:t>
            </a:r>
            <a:r>
              <a:rPr sz="2000" dirty="0"/>
              <a:t>: </a:t>
            </a:r>
            <a:r>
              <a:rPr sz="2000" dirty="0" err="1"/>
              <a:t>수송·산업에서</a:t>
            </a:r>
            <a:r>
              <a:rPr sz="2000" dirty="0"/>
              <a:t> </a:t>
            </a:r>
            <a:r>
              <a:rPr sz="2000" dirty="0" err="1"/>
              <a:t>중요</a:t>
            </a:r>
            <a:r>
              <a:rPr sz="2000" dirty="0"/>
              <a:t> </a:t>
            </a:r>
            <a:r>
              <a:rPr sz="2000" dirty="0" err="1"/>
              <a:t>배출원</a:t>
            </a:r>
            <a:r>
              <a:rPr sz="2000" dirty="0"/>
              <a:t>(</a:t>
            </a:r>
            <a:r>
              <a:rPr sz="2000" dirty="0" err="1"/>
              <a:t>연료유·휘발유·경유</a:t>
            </a:r>
            <a:r>
              <a:rPr sz="2000" dirty="0"/>
              <a:t> 등)</a:t>
            </a:r>
          </a:p>
          <a:p>
            <a:pPr>
              <a:defRPr sz="2200"/>
            </a:pPr>
            <a:r>
              <a:rPr sz="2000" dirty="0" err="1"/>
              <a:t>천연가스</a:t>
            </a:r>
            <a:r>
              <a:rPr sz="2000" dirty="0"/>
              <a:t>: </a:t>
            </a:r>
            <a:r>
              <a:rPr sz="2000" dirty="0" err="1"/>
              <a:t>석탄</a:t>
            </a:r>
            <a:r>
              <a:rPr sz="2000" dirty="0"/>
              <a:t> </a:t>
            </a:r>
            <a:r>
              <a:rPr sz="2000" dirty="0" err="1"/>
              <a:t>대비</a:t>
            </a:r>
            <a:r>
              <a:rPr sz="2000" dirty="0"/>
              <a:t> </a:t>
            </a:r>
            <a:r>
              <a:rPr sz="2000" dirty="0" err="1"/>
              <a:t>낮은</a:t>
            </a:r>
            <a:r>
              <a:rPr sz="2000" dirty="0"/>
              <a:t> </a:t>
            </a:r>
            <a:r>
              <a:rPr sz="2000" dirty="0" err="1"/>
              <a:t>배출계수</a:t>
            </a:r>
            <a:r>
              <a:rPr sz="2000" dirty="0"/>
              <a:t> → </a:t>
            </a:r>
            <a:r>
              <a:rPr sz="2000" dirty="0" err="1"/>
              <a:t>과도기적</a:t>
            </a:r>
            <a:r>
              <a:rPr sz="2000" dirty="0"/>
              <a:t> </a:t>
            </a:r>
            <a:r>
              <a:rPr sz="2000" dirty="0" err="1"/>
              <a:t>전환</a:t>
            </a:r>
            <a:r>
              <a:rPr sz="2000" dirty="0"/>
              <a:t> </a:t>
            </a:r>
            <a:r>
              <a:rPr sz="2000" dirty="0" err="1"/>
              <a:t>논의</a:t>
            </a:r>
            <a:endParaRPr sz="2000" dirty="0"/>
          </a:p>
          <a:p>
            <a:pPr>
              <a:defRPr sz="2200"/>
            </a:pPr>
            <a:r>
              <a:rPr sz="2000" dirty="0" err="1"/>
              <a:t>재생·원자력</a:t>
            </a:r>
            <a:r>
              <a:rPr sz="2000" dirty="0"/>
              <a:t>: </a:t>
            </a:r>
            <a:r>
              <a:rPr sz="2000" dirty="0" err="1"/>
              <a:t>발전</a:t>
            </a:r>
            <a:r>
              <a:rPr sz="2000" dirty="0"/>
              <a:t> </a:t>
            </a:r>
            <a:r>
              <a:rPr sz="2000" dirty="0" err="1"/>
              <a:t>과정의</a:t>
            </a:r>
            <a:r>
              <a:rPr sz="2000" dirty="0"/>
              <a:t> </a:t>
            </a:r>
            <a:r>
              <a:rPr sz="2000" dirty="0" err="1"/>
              <a:t>직접</a:t>
            </a:r>
            <a:r>
              <a:rPr sz="2000" dirty="0"/>
              <a:t> </a:t>
            </a:r>
            <a:r>
              <a:rPr sz="2000" dirty="0" err="1"/>
              <a:t>배출은</a:t>
            </a:r>
            <a:r>
              <a:rPr sz="2000" dirty="0"/>
              <a:t> </a:t>
            </a:r>
            <a:r>
              <a:rPr sz="2000" dirty="0" err="1"/>
              <a:t>매우</a:t>
            </a:r>
            <a:r>
              <a:rPr sz="2000" dirty="0"/>
              <a:t> </a:t>
            </a:r>
            <a:r>
              <a:rPr sz="2000" dirty="0" err="1"/>
              <a:t>낮음</a:t>
            </a:r>
            <a:r>
              <a:rPr sz="2000" dirty="0"/>
              <a:t>(</a:t>
            </a:r>
            <a:r>
              <a:rPr sz="2000" dirty="0" err="1"/>
              <a:t>수명주기</a:t>
            </a:r>
            <a:r>
              <a:rPr sz="2000" dirty="0"/>
              <a:t> </a:t>
            </a:r>
            <a:r>
              <a:rPr sz="2000" dirty="0" err="1"/>
              <a:t>간접배출</a:t>
            </a:r>
            <a:r>
              <a:rPr sz="2000" dirty="0"/>
              <a:t> </a:t>
            </a:r>
            <a:r>
              <a:rPr sz="2000" dirty="0" err="1"/>
              <a:t>존재</a:t>
            </a:r>
            <a:r>
              <a:rPr sz="20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29FB1-5CB1-4B2D-A500-D65E689C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F396F-FB6D-4450-B2FF-FF3EDBFD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500"/>
              <a:t>15.2.3 국가별 에너지믹스와 배출구조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자원조건·산업구조·정책</a:t>
            </a:r>
            <a:r>
              <a:rPr sz="2000" dirty="0"/>
              <a:t> </a:t>
            </a:r>
            <a:r>
              <a:rPr sz="2000" dirty="0" err="1"/>
              <a:t>선택이</a:t>
            </a:r>
            <a:r>
              <a:rPr sz="2000" dirty="0"/>
              <a:t> </a:t>
            </a:r>
            <a:r>
              <a:rPr sz="2000" dirty="0" err="1"/>
              <a:t>믹스를</a:t>
            </a:r>
            <a:r>
              <a:rPr sz="2000" dirty="0"/>
              <a:t> </a:t>
            </a:r>
            <a:r>
              <a:rPr sz="2000" dirty="0" err="1"/>
              <a:t>결정</a:t>
            </a:r>
            <a:endParaRPr sz="2000" dirty="0"/>
          </a:p>
          <a:p>
            <a:pPr>
              <a:defRPr sz="2200"/>
            </a:pPr>
            <a:r>
              <a:rPr sz="2000" dirty="0" err="1"/>
              <a:t>석탄</a:t>
            </a:r>
            <a:r>
              <a:rPr sz="2000" dirty="0"/>
              <a:t> </a:t>
            </a:r>
            <a:r>
              <a:rPr sz="2000" dirty="0" err="1"/>
              <a:t>중심</a:t>
            </a:r>
            <a:r>
              <a:rPr sz="2000" dirty="0"/>
              <a:t> </a:t>
            </a:r>
            <a:r>
              <a:rPr sz="2000" dirty="0" err="1"/>
              <a:t>국가</a:t>
            </a:r>
            <a:r>
              <a:rPr sz="2000" dirty="0"/>
              <a:t>: </a:t>
            </a:r>
            <a:r>
              <a:rPr sz="2000" dirty="0" err="1"/>
              <a:t>전력</a:t>
            </a:r>
            <a:r>
              <a:rPr sz="2000" dirty="0"/>
              <a:t> </a:t>
            </a:r>
            <a:r>
              <a:rPr sz="2000" dirty="0" err="1"/>
              <a:t>탄소집약도</a:t>
            </a:r>
            <a:r>
              <a:rPr sz="2000" dirty="0"/>
              <a:t> </a:t>
            </a:r>
            <a:r>
              <a:rPr sz="2000" dirty="0" err="1"/>
              <a:t>높고</a:t>
            </a:r>
            <a:r>
              <a:rPr sz="2000" dirty="0"/>
              <a:t> </a:t>
            </a:r>
            <a:r>
              <a:rPr sz="2000" dirty="0" err="1"/>
              <a:t>감축</a:t>
            </a:r>
            <a:r>
              <a:rPr sz="2000" dirty="0"/>
              <a:t> </a:t>
            </a:r>
            <a:r>
              <a:rPr sz="2000" dirty="0" err="1"/>
              <a:t>부담</a:t>
            </a:r>
            <a:r>
              <a:rPr sz="2000" dirty="0"/>
              <a:t> 큼</a:t>
            </a:r>
          </a:p>
          <a:p>
            <a:pPr>
              <a:defRPr sz="2200"/>
            </a:pPr>
            <a:r>
              <a:rPr sz="2000" dirty="0" err="1"/>
              <a:t>원자력·수력</a:t>
            </a:r>
            <a:r>
              <a:rPr sz="2000" dirty="0"/>
              <a:t> </a:t>
            </a:r>
            <a:r>
              <a:rPr sz="2000" dirty="0" err="1"/>
              <a:t>중심</a:t>
            </a:r>
            <a:r>
              <a:rPr sz="2000" dirty="0"/>
              <a:t> </a:t>
            </a:r>
            <a:r>
              <a:rPr sz="2000" dirty="0" err="1"/>
              <a:t>국가</a:t>
            </a:r>
            <a:r>
              <a:rPr sz="2000" dirty="0"/>
              <a:t>: </a:t>
            </a:r>
            <a:r>
              <a:rPr sz="2000" dirty="0" err="1"/>
              <a:t>전력부문</a:t>
            </a:r>
            <a:r>
              <a:rPr sz="2000" dirty="0"/>
              <a:t> </a:t>
            </a:r>
            <a:r>
              <a:rPr sz="2000" dirty="0" err="1"/>
              <a:t>배출강도</a:t>
            </a:r>
            <a:r>
              <a:rPr sz="2000" dirty="0"/>
              <a:t> </a:t>
            </a:r>
            <a:r>
              <a:rPr sz="2000" dirty="0" err="1"/>
              <a:t>낮음</a:t>
            </a:r>
            <a:endParaRPr sz="2000" dirty="0"/>
          </a:p>
          <a:p>
            <a:pPr>
              <a:defRPr sz="2200"/>
            </a:pPr>
            <a:r>
              <a:rPr sz="2000" dirty="0" err="1"/>
              <a:t>재생</a:t>
            </a:r>
            <a:r>
              <a:rPr sz="2000" dirty="0"/>
              <a:t> </a:t>
            </a:r>
            <a:r>
              <a:rPr sz="2000" dirty="0" err="1"/>
              <a:t>확대</a:t>
            </a:r>
            <a:r>
              <a:rPr sz="2000" dirty="0"/>
              <a:t> </a:t>
            </a:r>
            <a:r>
              <a:rPr sz="2000" dirty="0" err="1"/>
              <a:t>국가</a:t>
            </a:r>
            <a:r>
              <a:rPr sz="2000" dirty="0"/>
              <a:t>: </a:t>
            </a:r>
            <a:r>
              <a:rPr sz="2000" dirty="0" err="1"/>
              <a:t>계통</a:t>
            </a:r>
            <a:r>
              <a:rPr sz="2000" dirty="0"/>
              <a:t> </a:t>
            </a:r>
            <a:r>
              <a:rPr sz="2000" dirty="0" err="1"/>
              <a:t>유연성·망</a:t>
            </a:r>
            <a:r>
              <a:rPr sz="2000" dirty="0"/>
              <a:t> </a:t>
            </a:r>
            <a:r>
              <a:rPr sz="2000" dirty="0" err="1"/>
              <a:t>투자·수용성</a:t>
            </a:r>
            <a:r>
              <a:rPr sz="2000" dirty="0"/>
              <a:t> </a:t>
            </a:r>
            <a:r>
              <a:rPr sz="2000" dirty="0" err="1"/>
              <a:t>문제가</a:t>
            </a:r>
            <a:r>
              <a:rPr sz="2000" dirty="0"/>
              <a:t> </a:t>
            </a:r>
            <a:r>
              <a:rPr sz="2000" dirty="0" err="1"/>
              <a:t>핵심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D8B33-7487-4181-89ED-B7CC1360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58170-E3F0-45E6-BADD-928F0C90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900"/>
              <a:t>15.2.3 형평성과 책임: 협상 함의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현재</a:t>
            </a:r>
            <a:r>
              <a:rPr sz="2000" dirty="0"/>
              <a:t> </a:t>
            </a:r>
            <a:r>
              <a:rPr sz="2000" dirty="0" err="1"/>
              <a:t>배출과</a:t>
            </a:r>
            <a:r>
              <a:rPr sz="2000" dirty="0"/>
              <a:t> </a:t>
            </a:r>
            <a:r>
              <a:rPr sz="2000" dirty="0" err="1"/>
              <a:t>누적</a:t>
            </a:r>
            <a:r>
              <a:rPr sz="2000" dirty="0"/>
              <a:t> </a:t>
            </a:r>
            <a:r>
              <a:rPr sz="2000" dirty="0" err="1"/>
              <a:t>배출</a:t>
            </a:r>
            <a:r>
              <a:rPr sz="2000" dirty="0"/>
              <a:t>(</a:t>
            </a:r>
            <a:r>
              <a:rPr sz="2000" dirty="0" err="1"/>
              <a:t>역사적</a:t>
            </a:r>
            <a:r>
              <a:rPr sz="2000" dirty="0"/>
              <a:t> </a:t>
            </a:r>
            <a:r>
              <a:rPr sz="2000" dirty="0" err="1"/>
              <a:t>책임</a:t>
            </a:r>
            <a:r>
              <a:rPr sz="2000" dirty="0"/>
              <a:t>)이 </a:t>
            </a:r>
            <a:r>
              <a:rPr sz="2000" dirty="0" err="1"/>
              <a:t>분리될</a:t>
            </a:r>
            <a:r>
              <a:rPr sz="2000" dirty="0"/>
              <a:t> 수 </a:t>
            </a:r>
            <a:r>
              <a:rPr sz="2000" dirty="0" err="1"/>
              <a:t>있음</a:t>
            </a:r>
            <a:endParaRPr sz="2000" dirty="0"/>
          </a:p>
          <a:p>
            <a:pPr>
              <a:defRPr sz="2200"/>
            </a:pPr>
            <a:r>
              <a:rPr sz="2000" dirty="0" err="1"/>
              <a:t>선진국</a:t>
            </a:r>
            <a:r>
              <a:rPr sz="2000" dirty="0"/>
              <a:t>: </a:t>
            </a:r>
            <a:r>
              <a:rPr sz="2000" dirty="0" err="1"/>
              <a:t>감축역량·기술·재정이</a:t>
            </a:r>
            <a:r>
              <a:rPr sz="2000" dirty="0"/>
              <a:t> </a:t>
            </a:r>
            <a:r>
              <a:rPr sz="2000" dirty="0" err="1"/>
              <a:t>상대적으로</a:t>
            </a:r>
            <a:r>
              <a:rPr sz="2000" dirty="0"/>
              <a:t> 큼</a:t>
            </a:r>
          </a:p>
          <a:p>
            <a:pPr>
              <a:defRPr sz="2200"/>
            </a:pPr>
            <a:r>
              <a:rPr sz="2000" dirty="0" err="1"/>
              <a:t>개도국</a:t>
            </a:r>
            <a:r>
              <a:rPr sz="2000" dirty="0"/>
              <a:t>: </a:t>
            </a:r>
            <a:r>
              <a:rPr sz="2000" dirty="0" err="1"/>
              <a:t>에너지</a:t>
            </a:r>
            <a:r>
              <a:rPr sz="2000" dirty="0"/>
              <a:t> </a:t>
            </a:r>
            <a:r>
              <a:rPr sz="2000" dirty="0" err="1"/>
              <a:t>접근성·산업화</a:t>
            </a:r>
            <a:r>
              <a:rPr sz="2000" dirty="0"/>
              <a:t> </a:t>
            </a:r>
            <a:r>
              <a:rPr sz="2000" dirty="0" err="1"/>
              <a:t>필요</a:t>
            </a:r>
            <a:r>
              <a:rPr sz="2000" dirty="0"/>
              <a:t> → </a:t>
            </a:r>
            <a:r>
              <a:rPr sz="2000" dirty="0" err="1"/>
              <a:t>개발과</a:t>
            </a:r>
            <a:r>
              <a:rPr sz="2000" dirty="0"/>
              <a:t> </a:t>
            </a:r>
            <a:r>
              <a:rPr sz="2000" dirty="0" err="1"/>
              <a:t>감축의</a:t>
            </a:r>
            <a:r>
              <a:rPr sz="2000" dirty="0"/>
              <a:t> </a:t>
            </a:r>
            <a:r>
              <a:rPr sz="2000" dirty="0" err="1"/>
              <a:t>균형</a:t>
            </a:r>
            <a:endParaRPr sz="2000" dirty="0"/>
          </a:p>
          <a:p>
            <a:pPr>
              <a:defRPr sz="2200"/>
            </a:pPr>
            <a:r>
              <a:rPr sz="2000" dirty="0" err="1"/>
              <a:t>차별화된</a:t>
            </a:r>
            <a:r>
              <a:rPr sz="2000" dirty="0"/>
              <a:t> </a:t>
            </a:r>
            <a:r>
              <a:rPr sz="2000" dirty="0" err="1"/>
              <a:t>책임·지원</a:t>
            </a:r>
            <a:r>
              <a:rPr sz="2000" dirty="0"/>
              <a:t>(</a:t>
            </a:r>
            <a:r>
              <a:rPr sz="2000" dirty="0" err="1"/>
              <a:t>재원·기술이전</a:t>
            </a:r>
            <a:r>
              <a:rPr sz="2000" dirty="0"/>
              <a:t>)이 </a:t>
            </a:r>
            <a:r>
              <a:rPr sz="2000" dirty="0" err="1"/>
              <a:t>거버넌스</a:t>
            </a:r>
            <a:r>
              <a:rPr sz="2000" dirty="0"/>
              <a:t> </a:t>
            </a:r>
            <a:r>
              <a:rPr sz="2000" dirty="0" err="1"/>
              <a:t>쟁점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B2303-E228-47D1-ACA1-A1AD8B0C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88BE-9DAE-40CA-B7D9-C044EFC5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900"/>
              <a:t>15.2.4 배출경로 시나리오: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인구·성장·기술·정책</a:t>
            </a:r>
            <a:r>
              <a:rPr sz="2000" dirty="0"/>
              <a:t> </a:t>
            </a:r>
            <a:r>
              <a:rPr sz="2000" dirty="0" err="1"/>
              <a:t>강도</a:t>
            </a:r>
            <a:r>
              <a:rPr sz="2000" dirty="0"/>
              <a:t> </a:t>
            </a:r>
            <a:r>
              <a:rPr sz="2000" dirty="0" err="1"/>
              <a:t>조합에</a:t>
            </a:r>
            <a:r>
              <a:rPr sz="2000" dirty="0"/>
              <a:t> </a:t>
            </a:r>
            <a:r>
              <a:rPr sz="2000" dirty="0" err="1"/>
              <a:t>따라</a:t>
            </a:r>
            <a:r>
              <a:rPr sz="2000" dirty="0"/>
              <a:t> </a:t>
            </a:r>
            <a:r>
              <a:rPr sz="2000" dirty="0" err="1"/>
              <a:t>미래</a:t>
            </a:r>
            <a:r>
              <a:rPr sz="2000" dirty="0"/>
              <a:t> </a:t>
            </a:r>
            <a:r>
              <a:rPr sz="2000" dirty="0" err="1"/>
              <a:t>배출</a:t>
            </a:r>
            <a:r>
              <a:rPr sz="2000" dirty="0"/>
              <a:t> 및 </a:t>
            </a:r>
            <a:r>
              <a:rPr sz="2000" dirty="0" err="1"/>
              <a:t>온도상승</a:t>
            </a:r>
            <a:r>
              <a:rPr sz="2000" dirty="0"/>
              <a:t> </a:t>
            </a:r>
            <a:r>
              <a:rPr sz="2000" dirty="0" err="1"/>
              <a:t>경로를</a:t>
            </a:r>
            <a:r>
              <a:rPr sz="2000" dirty="0"/>
              <a:t> </a:t>
            </a:r>
            <a:r>
              <a:rPr sz="2000" dirty="0" err="1"/>
              <a:t>제시</a:t>
            </a:r>
            <a:endParaRPr sz="2000" dirty="0"/>
          </a:p>
          <a:p>
            <a:pPr>
              <a:defRPr sz="2200"/>
            </a:pPr>
            <a:r>
              <a:rPr sz="2000" dirty="0" err="1"/>
              <a:t>공약</a:t>
            </a:r>
            <a:r>
              <a:rPr sz="2000" dirty="0"/>
              <a:t>(NDC)과 </a:t>
            </a:r>
            <a:r>
              <a:rPr sz="2000" dirty="0" err="1"/>
              <a:t>실제</a:t>
            </a:r>
            <a:r>
              <a:rPr sz="2000" dirty="0"/>
              <a:t> </a:t>
            </a:r>
            <a:r>
              <a:rPr sz="2000" dirty="0" err="1"/>
              <a:t>정책의</a:t>
            </a:r>
            <a:r>
              <a:rPr sz="2000" dirty="0"/>
              <a:t> ‘</a:t>
            </a:r>
            <a:r>
              <a:rPr sz="2000" dirty="0" err="1"/>
              <a:t>배출</a:t>
            </a:r>
            <a:r>
              <a:rPr sz="2000" dirty="0"/>
              <a:t> </a:t>
            </a:r>
            <a:r>
              <a:rPr sz="2000" dirty="0" err="1"/>
              <a:t>격차’를</a:t>
            </a:r>
            <a:r>
              <a:rPr sz="2000" dirty="0"/>
              <a:t> </a:t>
            </a:r>
            <a:r>
              <a:rPr sz="2000" dirty="0" err="1"/>
              <a:t>정량적으로</a:t>
            </a:r>
            <a:r>
              <a:rPr sz="2000" dirty="0"/>
              <a:t> </a:t>
            </a:r>
            <a:r>
              <a:rPr sz="2000" dirty="0" err="1"/>
              <a:t>제시</a:t>
            </a:r>
            <a:endParaRPr sz="2000" dirty="0"/>
          </a:p>
          <a:p>
            <a:pPr>
              <a:defRPr sz="2200"/>
            </a:pPr>
            <a:r>
              <a:rPr sz="2000" dirty="0"/>
              <a:t>IPCC(SSP-RCP)와 IEA(STEPS/APS/NZE) </a:t>
            </a:r>
            <a:r>
              <a:rPr sz="2000" dirty="0" err="1"/>
              <a:t>체계가</a:t>
            </a:r>
            <a:r>
              <a:rPr sz="2000" dirty="0"/>
              <a:t> </a:t>
            </a:r>
            <a:r>
              <a:rPr sz="2000" dirty="0" err="1"/>
              <a:t>대표적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57C76-F84A-4EFB-BD06-D2CF801B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6E0B0-3BA6-4B86-A3F1-3A0AAE19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600"/>
              <a:t>15.2.4 IPCC/IEA 시나리오 비교(요약)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/>
              <a:t>IPCC: </a:t>
            </a:r>
            <a:r>
              <a:rPr sz="2000" dirty="0" err="1"/>
              <a:t>농도</a:t>
            </a:r>
            <a:r>
              <a:rPr sz="2000" dirty="0"/>
              <a:t>/</a:t>
            </a:r>
            <a:r>
              <a:rPr sz="2000" dirty="0" err="1"/>
              <a:t>방사강제력과</a:t>
            </a:r>
            <a:r>
              <a:rPr sz="2000" dirty="0"/>
              <a:t> </a:t>
            </a:r>
            <a:r>
              <a:rPr sz="2000" dirty="0" err="1"/>
              <a:t>사회경제</a:t>
            </a:r>
            <a:r>
              <a:rPr sz="2000" dirty="0"/>
              <a:t> </a:t>
            </a:r>
            <a:r>
              <a:rPr sz="2000" dirty="0" err="1"/>
              <a:t>경로를</a:t>
            </a:r>
            <a:r>
              <a:rPr sz="2000" dirty="0"/>
              <a:t> </a:t>
            </a:r>
            <a:r>
              <a:rPr sz="2000" dirty="0" err="1"/>
              <a:t>결합해</a:t>
            </a:r>
            <a:r>
              <a:rPr sz="2000" dirty="0"/>
              <a:t> </a:t>
            </a:r>
            <a:r>
              <a:rPr sz="2000" dirty="0" err="1"/>
              <a:t>온난화</a:t>
            </a:r>
            <a:r>
              <a:rPr sz="2000" dirty="0"/>
              <a:t> </a:t>
            </a:r>
            <a:r>
              <a:rPr sz="2000" dirty="0" err="1"/>
              <a:t>수준을</a:t>
            </a:r>
            <a:r>
              <a:rPr sz="2000" dirty="0"/>
              <a:t> </a:t>
            </a:r>
            <a:r>
              <a:rPr sz="2000" dirty="0" err="1"/>
              <a:t>전망</a:t>
            </a:r>
            <a:endParaRPr sz="2000" dirty="0"/>
          </a:p>
          <a:p>
            <a:pPr>
              <a:defRPr sz="2200"/>
            </a:pPr>
            <a:r>
              <a:rPr sz="2000" dirty="0"/>
              <a:t>IEA: </a:t>
            </a:r>
            <a:r>
              <a:rPr sz="2000" dirty="0" err="1"/>
              <a:t>에너지</a:t>
            </a:r>
            <a:r>
              <a:rPr sz="2000" dirty="0"/>
              <a:t> </a:t>
            </a:r>
            <a:r>
              <a:rPr sz="2000" dirty="0" err="1"/>
              <a:t>부문</a:t>
            </a:r>
            <a:r>
              <a:rPr sz="2000" dirty="0"/>
              <a:t> </a:t>
            </a:r>
            <a:r>
              <a:rPr sz="2000" dirty="0" err="1"/>
              <a:t>중심으로</a:t>
            </a:r>
            <a:r>
              <a:rPr sz="2000" dirty="0"/>
              <a:t> </a:t>
            </a:r>
            <a:r>
              <a:rPr sz="2000" dirty="0" err="1"/>
              <a:t>정책</a:t>
            </a:r>
            <a:r>
              <a:rPr sz="2000" dirty="0"/>
              <a:t>(</a:t>
            </a:r>
            <a:r>
              <a:rPr sz="2000" dirty="0" err="1"/>
              <a:t>현행</a:t>
            </a:r>
            <a:r>
              <a:rPr sz="2000" dirty="0"/>
              <a:t>/</a:t>
            </a:r>
            <a:r>
              <a:rPr sz="2000" dirty="0" err="1"/>
              <a:t>공약</a:t>
            </a:r>
            <a:r>
              <a:rPr sz="2000" dirty="0"/>
              <a:t>/</a:t>
            </a:r>
            <a:r>
              <a:rPr sz="2000" dirty="0" err="1"/>
              <a:t>순배출제로</a:t>
            </a:r>
            <a:r>
              <a:rPr sz="2000" dirty="0"/>
              <a:t>)별 </a:t>
            </a:r>
            <a:r>
              <a:rPr sz="2000" dirty="0" err="1"/>
              <a:t>전환</a:t>
            </a:r>
            <a:r>
              <a:rPr sz="2000" dirty="0"/>
              <a:t> </a:t>
            </a:r>
            <a:r>
              <a:rPr sz="2000" dirty="0" err="1"/>
              <a:t>속도를</a:t>
            </a:r>
            <a:r>
              <a:rPr sz="2000" dirty="0"/>
              <a:t> </a:t>
            </a:r>
            <a:r>
              <a:rPr sz="2000" dirty="0" err="1"/>
              <a:t>제시</a:t>
            </a:r>
            <a:endParaRPr sz="2000" dirty="0"/>
          </a:p>
          <a:p>
            <a:pPr>
              <a:defRPr sz="2200"/>
            </a:pPr>
            <a:r>
              <a:rPr sz="2000" dirty="0" err="1"/>
              <a:t>정책</a:t>
            </a:r>
            <a:r>
              <a:rPr sz="2000" dirty="0"/>
              <a:t> </a:t>
            </a:r>
            <a:r>
              <a:rPr sz="2000" dirty="0" err="1"/>
              <a:t>활용</a:t>
            </a:r>
            <a:r>
              <a:rPr sz="2000" dirty="0"/>
              <a:t>: </a:t>
            </a:r>
            <a:r>
              <a:rPr sz="2000" dirty="0" err="1"/>
              <a:t>필요한</a:t>
            </a:r>
            <a:r>
              <a:rPr sz="2000" dirty="0"/>
              <a:t> </a:t>
            </a:r>
            <a:r>
              <a:rPr sz="2000" dirty="0" err="1"/>
              <a:t>투자·기술확산·수요전환의</a:t>
            </a:r>
            <a:r>
              <a:rPr sz="2000" dirty="0"/>
              <a:t> ‘</a:t>
            </a:r>
            <a:r>
              <a:rPr sz="2000" dirty="0" err="1"/>
              <a:t>속도’와</a:t>
            </a:r>
            <a:r>
              <a:rPr sz="2000" dirty="0"/>
              <a:t> ‘</a:t>
            </a:r>
            <a:r>
              <a:rPr sz="2000" dirty="0" err="1"/>
              <a:t>격차’를</a:t>
            </a:r>
            <a:r>
              <a:rPr sz="2000" dirty="0"/>
              <a:t> </a:t>
            </a:r>
            <a:r>
              <a:rPr sz="2000" dirty="0" err="1"/>
              <a:t>파악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21E9C-306D-4134-8D46-2917D0A3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3A271-EECC-4ACD-9E8F-B1378A03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15.3 기후변화의 경제학: 큰 그림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기후변화는</a:t>
            </a:r>
            <a:r>
              <a:rPr sz="2000" dirty="0"/>
              <a:t> </a:t>
            </a:r>
            <a:r>
              <a:rPr sz="2000" dirty="0" err="1"/>
              <a:t>글로벌·장기·비가역적</a:t>
            </a:r>
            <a:r>
              <a:rPr sz="2000" dirty="0"/>
              <a:t> </a:t>
            </a:r>
            <a:r>
              <a:rPr sz="2000" dirty="0" err="1"/>
              <a:t>외부성</a:t>
            </a:r>
            <a:r>
              <a:rPr sz="2000" dirty="0"/>
              <a:t> → </a:t>
            </a:r>
            <a:r>
              <a:rPr sz="2000" dirty="0" err="1"/>
              <a:t>시장실패</a:t>
            </a:r>
            <a:endParaRPr sz="2000" dirty="0"/>
          </a:p>
          <a:p>
            <a:pPr>
              <a:defRPr sz="2200"/>
            </a:pPr>
            <a:r>
              <a:rPr sz="2000" dirty="0" err="1"/>
              <a:t>정책</a:t>
            </a:r>
            <a:r>
              <a:rPr sz="2000" dirty="0"/>
              <a:t> </a:t>
            </a:r>
            <a:r>
              <a:rPr sz="2000" dirty="0" err="1"/>
              <a:t>과제</a:t>
            </a:r>
            <a:r>
              <a:rPr sz="2000" dirty="0"/>
              <a:t>: </a:t>
            </a:r>
            <a:r>
              <a:rPr sz="2000" dirty="0" err="1"/>
              <a:t>외부비용</a:t>
            </a:r>
            <a:r>
              <a:rPr sz="2000" dirty="0"/>
              <a:t> </a:t>
            </a:r>
            <a:r>
              <a:rPr sz="2000" dirty="0" err="1"/>
              <a:t>내부화</a:t>
            </a:r>
            <a:r>
              <a:rPr sz="2000" dirty="0"/>
              <a:t>(</a:t>
            </a:r>
            <a:r>
              <a:rPr sz="2000" dirty="0" err="1"/>
              <a:t>탄소가격</a:t>
            </a:r>
            <a:r>
              <a:rPr sz="2000" dirty="0"/>
              <a:t>) + </a:t>
            </a:r>
            <a:r>
              <a:rPr sz="2000" dirty="0" err="1"/>
              <a:t>규제</a:t>
            </a:r>
            <a:r>
              <a:rPr sz="2000" dirty="0"/>
              <a:t>/</a:t>
            </a:r>
            <a:r>
              <a:rPr sz="2000" dirty="0" err="1"/>
              <a:t>표준</a:t>
            </a:r>
            <a:r>
              <a:rPr sz="2000" dirty="0"/>
              <a:t> + </a:t>
            </a:r>
            <a:r>
              <a:rPr sz="2000" dirty="0" err="1"/>
              <a:t>보조금</a:t>
            </a:r>
            <a:r>
              <a:rPr sz="2000" dirty="0"/>
              <a:t>/</a:t>
            </a:r>
            <a:r>
              <a:rPr sz="2000" dirty="0" err="1"/>
              <a:t>투자</a:t>
            </a:r>
            <a:r>
              <a:rPr sz="2000" dirty="0"/>
              <a:t> + </a:t>
            </a:r>
            <a:r>
              <a:rPr sz="2000" dirty="0" err="1"/>
              <a:t>국제협력</a:t>
            </a:r>
            <a:endParaRPr sz="2000" dirty="0"/>
          </a:p>
          <a:p>
            <a:pPr>
              <a:defRPr sz="2200"/>
            </a:pPr>
            <a:r>
              <a:rPr sz="2000" dirty="0" err="1"/>
              <a:t>분석</a:t>
            </a:r>
            <a:r>
              <a:rPr sz="2000" dirty="0"/>
              <a:t> </a:t>
            </a:r>
            <a:r>
              <a:rPr sz="2000" dirty="0" err="1"/>
              <a:t>도구</a:t>
            </a:r>
            <a:r>
              <a:rPr sz="2000" dirty="0"/>
              <a:t>: </a:t>
            </a:r>
            <a:r>
              <a:rPr sz="2000" dirty="0" err="1"/>
              <a:t>비용-편익</a:t>
            </a:r>
            <a:r>
              <a:rPr sz="2000" dirty="0"/>
              <a:t>, </a:t>
            </a:r>
            <a:r>
              <a:rPr sz="2000" dirty="0" err="1"/>
              <a:t>한계감축비용</a:t>
            </a:r>
            <a:r>
              <a:rPr sz="2000" dirty="0"/>
              <a:t>, </a:t>
            </a:r>
            <a:r>
              <a:rPr sz="2000" dirty="0" err="1"/>
              <a:t>통합평가모형</a:t>
            </a:r>
            <a:r>
              <a:rPr sz="2000" dirty="0"/>
              <a:t>(IAM), </a:t>
            </a:r>
            <a:r>
              <a:rPr sz="2000" dirty="0" err="1"/>
              <a:t>분배</a:t>
            </a:r>
            <a:r>
              <a:rPr sz="2000" dirty="0"/>
              <a:t>/</a:t>
            </a:r>
            <a:r>
              <a:rPr sz="2000" dirty="0" err="1"/>
              <a:t>형평</a:t>
            </a:r>
            <a:r>
              <a:rPr sz="2000" dirty="0"/>
              <a:t> </a:t>
            </a:r>
            <a:r>
              <a:rPr sz="2000" dirty="0" err="1"/>
              <a:t>분석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D2C08-5C3E-43E3-95AF-3664DAF9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51E15-B735-4271-B293-BB1ED080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15.3.1 외부성과 시장실패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배출자는</a:t>
            </a:r>
            <a:r>
              <a:rPr sz="2000" dirty="0"/>
              <a:t> </a:t>
            </a:r>
            <a:r>
              <a:rPr sz="2000" dirty="0" err="1"/>
              <a:t>사적</a:t>
            </a:r>
            <a:r>
              <a:rPr sz="2000" dirty="0"/>
              <a:t> </a:t>
            </a:r>
            <a:r>
              <a:rPr sz="2000" dirty="0" err="1"/>
              <a:t>비용만</a:t>
            </a:r>
            <a:r>
              <a:rPr sz="2000" dirty="0"/>
              <a:t> </a:t>
            </a:r>
            <a:r>
              <a:rPr sz="2000" dirty="0" err="1"/>
              <a:t>고려</a:t>
            </a:r>
            <a:r>
              <a:rPr sz="2000" dirty="0"/>
              <a:t> → </a:t>
            </a:r>
            <a:r>
              <a:rPr sz="2000" dirty="0" err="1"/>
              <a:t>사회적</a:t>
            </a:r>
            <a:r>
              <a:rPr sz="2000" dirty="0"/>
              <a:t> </a:t>
            </a:r>
            <a:r>
              <a:rPr sz="2000" dirty="0" err="1"/>
              <a:t>비용</a:t>
            </a:r>
            <a:r>
              <a:rPr sz="2000" dirty="0"/>
              <a:t>(</a:t>
            </a:r>
            <a:r>
              <a:rPr sz="2000" dirty="0" err="1"/>
              <a:t>피해</a:t>
            </a:r>
            <a:r>
              <a:rPr sz="2000" dirty="0"/>
              <a:t>)을 </a:t>
            </a:r>
            <a:r>
              <a:rPr sz="2000" dirty="0" err="1"/>
              <a:t>가격에</a:t>
            </a:r>
            <a:r>
              <a:rPr sz="2000" dirty="0"/>
              <a:t> </a:t>
            </a:r>
            <a:r>
              <a:rPr sz="2000" dirty="0" err="1"/>
              <a:t>반영하지</a:t>
            </a:r>
            <a:r>
              <a:rPr sz="2000" dirty="0"/>
              <a:t> </a:t>
            </a:r>
            <a:r>
              <a:rPr sz="2000" dirty="0" err="1"/>
              <a:t>않음</a:t>
            </a:r>
            <a:endParaRPr sz="2000" dirty="0"/>
          </a:p>
          <a:p>
            <a:pPr>
              <a:defRPr sz="2200"/>
            </a:pPr>
            <a:r>
              <a:rPr sz="2000" dirty="0" err="1"/>
              <a:t>피해는</a:t>
            </a:r>
            <a:r>
              <a:rPr sz="2000" dirty="0"/>
              <a:t> </a:t>
            </a:r>
            <a:r>
              <a:rPr sz="2000" dirty="0" err="1"/>
              <a:t>공간적으로</a:t>
            </a:r>
            <a:r>
              <a:rPr sz="2000" dirty="0"/>
              <a:t> </a:t>
            </a:r>
            <a:r>
              <a:rPr sz="2000" dirty="0" err="1"/>
              <a:t>분산</a:t>
            </a:r>
            <a:r>
              <a:rPr sz="2000" dirty="0"/>
              <a:t>, </a:t>
            </a:r>
            <a:r>
              <a:rPr sz="2000" dirty="0" err="1"/>
              <a:t>시간적으로</a:t>
            </a:r>
            <a:r>
              <a:rPr sz="2000" dirty="0"/>
              <a:t> </a:t>
            </a:r>
            <a:r>
              <a:rPr sz="2000" dirty="0" err="1"/>
              <a:t>미래에</a:t>
            </a:r>
            <a:r>
              <a:rPr sz="2000" dirty="0"/>
              <a:t> </a:t>
            </a:r>
            <a:r>
              <a:rPr sz="2000" dirty="0" err="1"/>
              <a:t>집중</a:t>
            </a:r>
            <a:r>
              <a:rPr sz="2000" dirty="0"/>
              <a:t> → </a:t>
            </a:r>
            <a:r>
              <a:rPr sz="2000" dirty="0" err="1"/>
              <a:t>책임</a:t>
            </a:r>
            <a:r>
              <a:rPr sz="2000" dirty="0"/>
              <a:t> </a:t>
            </a:r>
            <a:r>
              <a:rPr sz="2000" dirty="0" err="1"/>
              <a:t>귀속</a:t>
            </a:r>
            <a:r>
              <a:rPr sz="2000" dirty="0"/>
              <a:t> </a:t>
            </a:r>
            <a:r>
              <a:rPr sz="2000" dirty="0" err="1"/>
              <a:t>어려움</a:t>
            </a:r>
            <a:endParaRPr sz="2000" dirty="0"/>
          </a:p>
          <a:p>
            <a:pPr>
              <a:defRPr sz="2200"/>
            </a:pPr>
            <a:r>
              <a:rPr sz="2000" dirty="0" err="1"/>
              <a:t>결과</a:t>
            </a:r>
            <a:r>
              <a:rPr sz="2000" dirty="0"/>
              <a:t>: </a:t>
            </a:r>
            <a:r>
              <a:rPr sz="2000" dirty="0" err="1"/>
              <a:t>사회적으로</a:t>
            </a:r>
            <a:r>
              <a:rPr sz="2000" dirty="0"/>
              <a:t> </a:t>
            </a:r>
            <a:r>
              <a:rPr sz="2000" dirty="0" err="1"/>
              <a:t>바람직한</a:t>
            </a:r>
            <a:r>
              <a:rPr sz="2000" dirty="0"/>
              <a:t> </a:t>
            </a:r>
            <a:r>
              <a:rPr sz="2000" dirty="0" err="1"/>
              <a:t>수준보다</a:t>
            </a:r>
            <a:r>
              <a:rPr sz="2000" dirty="0"/>
              <a:t> </a:t>
            </a:r>
            <a:r>
              <a:rPr sz="2000" dirty="0" err="1"/>
              <a:t>과다</a:t>
            </a:r>
            <a:r>
              <a:rPr sz="2000" dirty="0"/>
              <a:t> </a:t>
            </a:r>
            <a:r>
              <a:rPr sz="2000" dirty="0" err="1"/>
              <a:t>배출</a:t>
            </a:r>
            <a:r>
              <a:rPr sz="2000" dirty="0"/>
              <a:t>, </a:t>
            </a:r>
            <a:r>
              <a:rPr sz="2000" dirty="0" err="1"/>
              <a:t>감축</a:t>
            </a:r>
            <a:r>
              <a:rPr sz="2000" dirty="0"/>
              <a:t> </a:t>
            </a:r>
            <a:r>
              <a:rPr sz="2000" dirty="0" err="1"/>
              <a:t>투자</a:t>
            </a:r>
            <a:r>
              <a:rPr sz="2000" dirty="0"/>
              <a:t> </a:t>
            </a:r>
            <a:r>
              <a:rPr sz="2000" dirty="0" err="1"/>
              <a:t>지연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641C1-B276-4DEC-8546-814ECE7E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4FEEE-028D-49DF-AEB2-94B6B9BF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15.3.1 집합행동 실패와 국제협력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기후는</a:t>
            </a:r>
            <a:r>
              <a:rPr sz="2000" dirty="0"/>
              <a:t> </a:t>
            </a:r>
            <a:r>
              <a:rPr sz="2000" dirty="0" err="1"/>
              <a:t>공공재적</a:t>
            </a:r>
            <a:r>
              <a:rPr sz="2000" dirty="0"/>
              <a:t> </a:t>
            </a:r>
            <a:r>
              <a:rPr sz="2000" dirty="0" err="1"/>
              <a:t>성격</a:t>
            </a:r>
            <a:r>
              <a:rPr sz="2000" dirty="0"/>
              <a:t> → </a:t>
            </a:r>
            <a:r>
              <a:rPr sz="2000" dirty="0" err="1"/>
              <a:t>무임승차</a:t>
            </a:r>
            <a:r>
              <a:rPr sz="2000" dirty="0"/>
              <a:t> </a:t>
            </a:r>
            <a:r>
              <a:rPr sz="2000" dirty="0" err="1"/>
              <a:t>유인</a:t>
            </a:r>
            <a:r>
              <a:rPr sz="2000" dirty="0"/>
              <a:t> </a:t>
            </a:r>
            <a:r>
              <a:rPr sz="2000" dirty="0" err="1"/>
              <a:t>존재</a:t>
            </a:r>
            <a:endParaRPr sz="2000" dirty="0"/>
          </a:p>
          <a:p>
            <a:pPr>
              <a:defRPr sz="2200"/>
            </a:pPr>
            <a:r>
              <a:rPr sz="2000" dirty="0" err="1"/>
              <a:t>국가</a:t>
            </a:r>
            <a:r>
              <a:rPr sz="2000" dirty="0"/>
              <a:t> 간 </a:t>
            </a:r>
            <a:r>
              <a:rPr sz="2000" dirty="0" err="1"/>
              <a:t>이해</a:t>
            </a:r>
            <a:r>
              <a:rPr sz="2000" dirty="0"/>
              <a:t> </a:t>
            </a:r>
            <a:r>
              <a:rPr sz="2000" dirty="0" err="1"/>
              <a:t>상충으로</a:t>
            </a:r>
            <a:r>
              <a:rPr sz="2000" dirty="0"/>
              <a:t> </a:t>
            </a:r>
            <a:r>
              <a:rPr sz="2000" dirty="0" err="1"/>
              <a:t>협상·이행</a:t>
            </a:r>
            <a:r>
              <a:rPr sz="2000" dirty="0"/>
              <a:t> </a:t>
            </a:r>
            <a:r>
              <a:rPr sz="2000" dirty="0" err="1"/>
              <a:t>비용이</a:t>
            </a:r>
            <a:r>
              <a:rPr sz="2000" dirty="0"/>
              <a:t> 큼</a:t>
            </a:r>
          </a:p>
          <a:p>
            <a:pPr>
              <a:defRPr sz="2200"/>
            </a:pPr>
            <a:r>
              <a:rPr sz="2000" dirty="0" err="1"/>
              <a:t>국제규범</a:t>
            </a:r>
            <a:r>
              <a:rPr sz="2000" dirty="0"/>
              <a:t>, </a:t>
            </a:r>
            <a:r>
              <a:rPr sz="2000" dirty="0" err="1"/>
              <a:t>상호감시</a:t>
            </a:r>
            <a:r>
              <a:rPr sz="2000" dirty="0"/>
              <a:t>, </a:t>
            </a:r>
            <a:r>
              <a:rPr sz="2000" dirty="0" err="1"/>
              <a:t>재원</a:t>
            </a:r>
            <a:r>
              <a:rPr sz="2000" dirty="0"/>
              <a:t>/</a:t>
            </a:r>
            <a:r>
              <a:rPr sz="2000" dirty="0" err="1"/>
              <a:t>기술</a:t>
            </a:r>
            <a:r>
              <a:rPr sz="2000" dirty="0"/>
              <a:t> </a:t>
            </a:r>
            <a:r>
              <a:rPr sz="2000" dirty="0" err="1"/>
              <a:t>지원</a:t>
            </a:r>
            <a:r>
              <a:rPr sz="2000" dirty="0"/>
              <a:t>, </a:t>
            </a:r>
            <a:r>
              <a:rPr sz="2000" dirty="0" err="1"/>
              <a:t>국경조정</a:t>
            </a:r>
            <a:r>
              <a:rPr sz="2000" dirty="0"/>
              <a:t> 등 </a:t>
            </a:r>
            <a:r>
              <a:rPr sz="2000" dirty="0" err="1"/>
              <a:t>보완장치가</a:t>
            </a:r>
            <a:r>
              <a:rPr sz="2000" dirty="0"/>
              <a:t> </a:t>
            </a:r>
            <a:r>
              <a:rPr sz="2000" dirty="0" err="1"/>
              <a:t>중요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E6B55-B399-4AF7-A610-95A23614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EEA94-E3BA-43A2-9714-CEE01AB8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15.3.1 할인율과 장기정책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미래</a:t>
            </a:r>
            <a:r>
              <a:rPr sz="2000" dirty="0"/>
              <a:t> </a:t>
            </a:r>
            <a:r>
              <a:rPr sz="2000" dirty="0" err="1"/>
              <a:t>피해를</a:t>
            </a:r>
            <a:r>
              <a:rPr sz="2000" dirty="0"/>
              <a:t> </a:t>
            </a:r>
            <a:r>
              <a:rPr sz="2000" dirty="0" err="1"/>
              <a:t>현재가치로</a:t>
            </a:r>
            <a:r>
              <a:rPr sz="2000" dirty="0"/>
              <a:t> </a:t>
            </a:r>
            <a:r>
              <a:rPr sz="2000" dirty="0" err="1"/>
              <a:t>환산할</a:t>
            </a:r>
            <a:r>
              <a:rPr sz="2000" dirty="0"/>
              <a:t> 때 </a:t>
            </a:r>
            <a:r>
              <a:rPr sz="2000" dirty="0" err="1"/>
              <a:t>사회적</a:t>
            </a:r>
            <a:r>
              <a:rPr sz="2000" dirty="0"/>
              <a:t> </a:t>
            </a:r>
            <a:r>
              <a:rPr sz="2000" dirty="0" err="1"/>
              <a:t>할인율</a:t>
            </a:r>
            <a:r>
              <a:rPr sz="2000" dirty="0"/>
              <a:t> </a:t>
            </a:r>
            <a:r>
              <a:rPr sz="2000" dirty="0" err="1"/>
              <a:t>선택이</a:t>
            </a:r>
            <a:r>
              <a:rPr sz="2000" dirty="0"/>
              <a:t> </a:t>
            </a:r>
            <a:r>
              <a:rPr sz="2000" dirty="0" err="1"/>
              <a:t>결과를</a:t>
            </a:r>
            <a:r>
              <a:rPr sz="2000" dirty="0"/>
              <a:t> </a:t>
            </a:r>
            <a:r>
              <a:rPr sz="2000" dirty="0" err="1"/>
              <a:t>크게</a:t>
            </a:r>
            <a:r>
              <a:rPr sz="2000" dirty="0"/>
              <a:t> </a:t>
            </a:r>
            <a:r>
              <a:rPr sz="2000" dirty="0" err="1"/>
              <a:t>좌우</a:t>
            </a:r>
            <a:endParaRPr sz="2000" dirty="0"/>
          </a:p>
          <a:p>
            <a:pPr>
              <a:defRPr sz="2200"/>
            </a:pPr>
            <a:r>
              <a:rPr sz="2000" dirty="0" err="1"/>
              <a:t>할인율이</a:t>
            </a:r>
            <a:r>
              <a:rPr sz="2000" dirty="0"/>
              <a:t> </a:t>
            </a:r>
            <a:r>
              <a:rPr sz="2000" dirty="0" err="1"/>
              <a:t>높을수록</a:t>
            </a:r>
            <a:r>
              <a:rPr sz="2000" dirty="0"/>
              <a:t> </a:t>
            </a:r>
            <a:r>
              <a:rPr sz="2000" dirty="0" err="1"/>
              <a:t>장기</a:t>
            </a:r>
            <a:r>
              <a:rPr sz="2000" dirty="0"/>
              <a:t> </a:t>
            </a:r>
            <a:r>
              <a:rPr sz="2000" dirty="0" err="1"/>
              <a:t>피해를</a:t>
            </a:r>
            <a:r>
              <a:rPr sz="2000" dirty="0"/>
              <a:t> </a:t>
            </a:r>
            <a:r>
              <a:rPr sz="2000" dirty="0" err="1"/>
              <a:t>과소평가</a:t>
            </a:r>
            <a:r>
              <a:rPr sz="2000" dirty="0"/>
              <a:t> → </a:t>
            </a:r>
            <a:r>
              <a:rPr sz="2000" dirty="0" err="1"/>
              <a:t>감축의</a:t>
            </a:r>
            <a:r>
              <a:rPr sz="2000" dirty="0"/>
              <a:t> </a:t>
            </a:r>
            <a:r>
              <a:rPr sz="2000" dirty="0" err="1"/>
              <a:t>최적</a:t>
            </a:r>
            <a:r>
              <a:rPr sz="2000" dirty="0"/>
              <a:t> </a:t>
            </a:r>
            <a:r>
              <a:rPr sz="2000" dirty="0" err="1"/>
              <a:t>시점이</a:t>
            </a:r>
            <a:r>
              <a:rPr sz="2000" dirty="0"/>
              <a:t> </a:t>
            </a:r>
            <a:r>
              <a:rPr sz="2000" dirty="0" err="1"/>
              <a:t>늦춰짐</a:t>
            </a:r>
            <a:endParaRPr sz="2000" dirty="0"/>
          </a:p>
          <a:p>
            <a:pPr>
              <a:defRPr sz="2200"/>
            </a:pPr>
            <a:r>
              <a:rPr sz="2000" dirty="0" err="1"/>
              <a:t>세대간</a:t>
            </a:r>
            <a:r>
              <a:rPr sz="2000" dirty="0"/>
              <a:t> </a:t>
            </a:r>
            <a:r>
              <a:rPr sz="2000" dirty="0" err="1"/>
              <a:t>형평과</a:t>
            </a:r>
            <a:r>
              <a:rPr sz="2000" dirty="0"/>
              <a:t> </a:t>
            </a:r>
            <a:r>
              <a:rPr sz="2000" dirty="0" err="1"/>
              <a:t>효율성의</a:t>
            </a:r>
            <a:r>
              <a:rPr sz="2000" dirty="0"/>
              <a:t> </a:t>
            </a:r>
            <a:r>
              <a:rPr sz="2000" dirty="0" err="1"/>
              <a:t>균형이</a:t>
            </a:r>
            <a:r>
              <a:rPr sz="2000" dirty="0"/>
              <a:t> </a:t>
            </a:r>
            <a:r>
              <a:rPr sz="2000" dirty="0" err="1"/>
              <a:t>정책</a:t>
            </a:r>
            <a:r>
              <a:rPr sz="2000" dirty="0"/>
              <a:t> </a:t>
            </a:r>
            <a:r>
              <a:rPr sz="2000" dirty="0" err="1"/>
              <a:t>논쟁의</a:t>
            </a:r>
            <a:r>
              <a:rPr sz="2000" dirty="0"/>
              <a:t> </a:t>
            </a:r>
            <a:r>
              <a:rPr sz="2000" dirty="0" err="1"/>
              <a:t>핵심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428C8-F90F-45D8-99BD-19A215A9C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C2155-F504-4FB9-AB5B-772FDB11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15.3.2 탄소의 사회적 비용(SCC):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/>
              <a:t>CO₂ 1톤 </a:t>
            </a:r>
            <a:r>
              <a:rPr sz="2000" dirty="0" err="1"/>
              <a:t>추가</a:t>
            </a:r>
            <a:r>
              <a:rPr sz="2000" dirty="0"/>
              <a:t> </a:t>
            </a:r>
            <a:r>
              <a:rPr sz="2000" dirty="0" err="1"/>
              <a:t>배출이</a:t>
            </a:r>
            <a:r>
              <a:rPr sz="2000" dirty="0"/>
              <a:t> </a:t>
            </a:r>
            <a:r>
              <a:rPr sz="2000" dirty="0" err="1"/>
              <a:t>유발하는</a:t>
            </a:r>
            <a:r>
              <a:rPr sz="2000" dirty="0"/>
              <a:t> 전 </a:t>
            </a:r>
            <a:r>
              <a:rPr sz="2000" dirty="0" err="1"/>
              <a:t>세계</a:t>
            </a:r>
            <a:r>
              <a:rPr sz="2000" dirty="0"/>
              <a:t> </a:t>
            </a:r>
            <a:r>
              <a:rPr sz="2000" dirty="0" err="1"/>
              <a:t>장기</a:t>
            </a:r>
            <a:r>
              <a:rPr sz="2000" dirty="0"/>
              <a:t> </a:t>
            </a:r>
            <a:r>
              <a:rPr sz="2000" dirty="0" err="1"/>
              <a:t>피해의</a:t>
            </a:r>
            <a:r>
              <a:rPr sz="2000" dirty="0"/>
              <a:t> </a:t>
            </a:r>
            <a:r>
              <a:rPr sz="2000" dirty="0" err="1"/>
              <a:t>현재가치</a:t>
            </a:r>
            <a:endParaRPr sz="2000" dirty="0"/>
          </a:p>
          <a:p>
            <a:pPr>
              <a:defRPr sz="2200"/>
            </a:pPr>
            <a:r>
              <a:rPr sz="2000" dirty="0" err="1"/>
              <a:t>피해</a:t>
            </a:r>
            <a:r>
              <a:rPr sz="2000" dirty="0"/>
              <a:t> </a:t>
            </a:r>
            <a:r>
              <a:rPr sz="2000" dirty="0" err="1"/>
              <a:t>항목</a:t>
            </a:r>
            <a:r>
              <a:rPr sz="2000" dirty="0"/>
              <a:t>: </a:t>
            </a:r>
            <a:r>
              <a:rPr sz="2000" dirty="0" err="1"/>
              <a:t>농업·건강·해수면·생태계·재난</a:t>
            </a:r>
            <a:r>
              <a:rPr sz="2000" dirty="0"/>
              <a:t> 등(</a:t>
            </a:r>
            <a:r>
              <a:rPr sz="2000" dirty="0" err="1"/>
              <a:t>불확실성</a:t>
            </a:r>
            <a:r>
              <a:rPr sz="2000" dirty="0"/>
              <a:t> </a:t>
            </a:r>
            <a:r>
              <a:rPr sz="2000" dirty="0" err="1"/>
              <a:t>포함</a:t>
            </a:r>
            <a:r>
              <a:rPr sz="2000" dirty="0"/>
              <a:t>)</a:t>
            </a:r>
          </a:p>
          <a:p>
            <a:pPr>
              <a:defRPr sz="2200"/>
            </a:pPr>
            <a:r>
              <a:rPr sz="2000" dirty="0" err="1"/>
              <a:t>탄소세율</a:t>
            </a:r>
            <a:r>
              <a:rPr sz="2000" dirty="0"/>
              <a:t> </a:t>
            </a:r>
            <a:r>
              <a:rPr sz="2000" dirty="0" err="1"/>
              <a:t>설계</a:t>
            </a:r>
            <a:r>
              <a:rPr sz="2000" dirty="0"/>
              <a:t>, </a:t>
            </a:r>
            <a:r>
              <a:rPr sz="2000" dirty="0" err="1"/>
              <a:t>규제의</a:t>
            </a:r>
            <a:r>
              <a:rPr sz="2000" dirty="0"/>
              <a:t> </a:t>
            </a:r>
            <a:r>
              <a:rPr sz="2000" dirty="0" err="1"/>
              <a:t>비용-편익</a:t>
            </a:r>
            <a:r>
              <a:rPr sz="2000" dirty="0"/>
              <a:t> </a:t>
            </a:r>
            <a:r>
              <a:rPr sz="2000" dirty="0" err="1"/>
              <a:t>평가</a:t>
            </a:r>
            <a:r>
              <a:rPr sz="2000" dirty="0"/>
              <a:t>, </a:t>
            </a:r>
            <a:r>
              <a:rPr sz="2000" dirty="0" err="1"/>
              <a:t>공공투자</a:t>
            </a:r>
            <a:r>
              <a:rPr sz="2000" dirty="0"/>
              <a:t> </a:t>
            </a:r>
            <a:r>
              <a:rPr sz="2000" dirty="0" err="1"/>
              <a:t>우선순위에</a:t>
            </a:r>
            <a:r>
              <a:rPr sz="2000" dirty="0"/>
              <a:t> </a:t>
            </a:r>
            <a:r>
              <a:rPr sz="2000" dirty="0" err="1"/>
              <a:t>활용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F28D0-ADB0-40A2-A8B9-92B360C6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04809-734D-43E6-930C-77B37000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15.3.2 SCC 추정의 핵심 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피해함수</a:t>
            </a:r>
            <a:r>
              <a:rPr sz="2000" dirty="0"/>
              <a:t>: </a:t>
            </a:r>
            <a:r>
              <a:rPr sz="2000" dirty="0" err="1"/>
              <a:t>온도상승</a:t>
            </a:r>
            <a:r>
              <a:rPr sz="2000" dirty="0"/>
              <a:t> → </a:t>
            </a:r>
            <a:r>
              <a:rPr sz="2000" dirty="0" err="1"/>
              <a:t>경제손실의</a:t>
            </a:r>
            <a:r>
              <a:rPr sz="2000" dirty="0"/>
              <a:t> </a:t>
            </a:r>
            <a:r>
              <a:rPr sz="2000" dirty="0" err="1"/>
              <a:t>관계</a:t>
            </a:r>
            <a:endParaRPr sz="2000" dirty="0"/>
          </a:p>
          <a:p>
            <a:pPr>
              <a:defRPr sz="2200"/>
            </a:pPr>
            <a:r>
              <a:rPr sz="2000" dirty="0" err="1"/>
              <a:t>기후민감도</a:t>
            </a:r>
            <a:r>
              <a:rPr sz="2000" dirty="0"/>
              <a:t> 및 </a:t>
            </a:r>
            <a:r>
              <a:rPr sz="2000" dirty="0" err="1"/>
              <a:t>과학적</a:t>
            </a:r>
            <a:r>
              <a:rPr sz="2000" dirty="0"/>
              <a:t> </a:t>
            </a:r>
            <a:r>
              <a:rPr sz="2000" dirty="0" err="1"/>
              <a:t>불확실성</a:t>
            </a:r>
            <a:endParaRPr sz="2000" dirty="0"/>
          </a:p>
          <a:p>
            <a:pPr>
              <a:defRPr sz="2200"/>
            </a:pPr>
            <a:r>
              <a:rPr sz="2000" dirty="0" err="1"/>
              <a:t>경제경로</a:t>
            </a:r>
            <a:r>
              <a:rPr sz="2000" dirty="0"/>
              <a:t>: </a:t>
            </a:r>
            <a:r>
              <a:rPr sz="2000" dirty="0" err="1"/>
              <a:t>성장·인구·기술</a:t>
            </a:r>
            <a:r>
              <a:rPr sz="2000" dirty="0"/>
              <a:t> </a:t>
            </a:r>
            <a:r>
              <a:rPr sz="2000" dirty="0" err="1"/>
              <a:t>변화</a:t>
            </a:r>
            <a:endParaRPr sz="2000" dirty="0"/>
          </a:p>
          <a:p>
            <a:pPr>
              <a:defRPr sz="2200"/>
            </a:pPr>
            <a:r>
              <a:rPr sz="2000" dirty="0" err="1"/>
              <a:t>할인율</a:t>
            </a:r>
            <a:r>
              <a:rPr sz="2000" dirty="0"/>
              <a:t>: </a:t>
            </a:r>
            <a:r>
              <a:rPr sz="2000" dirty="0" err="1"/>
              <a:t>미래</a:t>
            </a:r>
            <a:r>
              <a:rPr sz="2000" dirty="0"/>
              <a:t> </a:t>
            </a:r>
            <a:r>
              <a:rPr sz="2000" dirty="0" err="1"/>
              <a:t>피해의</a:t>
            </a:r>
            <a:r>
              <a:rPr sz="2000" dirty="0"/>
              <a:t> </a:t>
            </a:r>
            <a:r>
              <a:rPr sz="2000" dirty="0" err="1"/>
              <a:t>현재가치</a:t>
            </a:r>
            <a:r>
              <a:rPr sz="2000" dirty="0"/>
              <a:t> </a:t>
            </a:r>
            <a:r>
              <a:rPr sz="2000" dirty="0" err="1"/>
              <a:t>결정</a:t>
            </a:r>
            <a:r>
              <a:rPr sz="2000" dirty="0"/>
              <a:t>(</a:t>
            </a:r>
            <a:r>
              <a:rPr sz="2000" dirty="0" err="1"/>
              <a:t>가장</a:t>
            </a:r>
            <a:r>
              <a:rPr sz="2000" dirty="0"/>
              <a:t> </a:t>
            </a:r>
            <a:r>
              <a:rPr sz="2000" dirty="0" err="1"/>
              <a:t>논쟁적</a:t>
            </a:r>
            <a:r>
              <a:rPr sz="20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2A7BED-17FA-417E-9718-C1263511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B20E0-005F-40B1-BE60-2B70AE83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15.3.2 IAM 기반 SCC 활용 시 유의점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모형</a:t>
            </a:r>
            <a:r>
              <a:rPr sz="2000" dirty="0"/>
              <a:t> </a:t>
            </a:r>
            <a:r>
              <a:rPr sz="2000" dirty="0" err="1"/>
              <a:t>가정과</a:t>
            </a:r>
            <a:r>
              <a:rPr sz="2000" dirty="0"/>
              <a:t> </a:t>
            </a:r>
            <a:r>
              <a:rPr sz="2000" dirty="0" err="1"/>
              <a:t>데이터에</a:t>
            </a:r>
            <a:r>
              <a:rPr sz="2000" dirty="0"/>
              <a:t> </a:t>
            </a:r>
            <a:r>
              <a:rPr sz="2000" dirty="0" err="1"/>
              <a:t>따라</a:t>
            </a:r>
            <a:r>
              <a:rPr sz="2000" dirty="0"/>
              <a:t> </a:t>
            </a:r>
            <a:r>
              <a:rPr sz="2000" dirty="0" err="1"/>
              <a:t>결과가</a:t>
            </a:r>
            <a:r>
              <a:rPr sz="2000" dirty="0"/>
              <a:t> </a:t>
            </a:r>
            <a:r>
              <a:rPr sz="2000" dirty="0" err="1"/>
              <a:t>민감하게</a:t>
            </a:r>
            <a:r>
              <a:rPr sz="2000" dirty="0"/>
              <a:t> </a:t>
            </a:r>
            <a:r>
              <a:rPr sz="2000" dirty="0" err="1"/>
              <a:t>달라질</a:t>
            </a:r>
            <a:r>
              <a:rPr sz="2000" dirty="0"/>
              <a:t> 수 </a:t>
            </a:r>
            <a:r>
              <a:rPr sz="2000" dirty="0" err="1"/>
              <a:t>있음</a:t>
            </a:r>
            <a:endParaRPr sz="2000" dirty="0"/>
          </a:p>
          <a:p>
            <a:pPr>
              <a:defRPr sz="2200"/>
            </a:pPr>
            <a:r>
              <a:rPr sz="2000" dirty="0" err="1"/>
              <a:t>극단적</a:t>
            </a:r>
            <a:r>
              <a:rPr sz="2000" dirty="0"/>
              <a:t> </a:t>
            </a:r>
            <a:r>
              <a:rPr sz="2000" dirty="0" err="1"/>
              <a:t>위험</a:t>
            </a:r>
            <a:r>
              <a:rPr sz="2000" dirty="0"/>
              <a:t>(</a:t>
            </a:r>
            <a:r>
              <a:rPr sz="2000" dirty="0" err="1"/>
              <a:t>꼬리위험</a:t>
            </a:r>
            <a:r>
              <a:rPr sz="2000" dirty="0"/>
              <a:t>) </a:t>
            </a:r>
            <a:r>
              <a:rPr sz="2000" dirty="0" err="1"/>
              <a:t>반영</a:t>
            </a:r>
            <a:r>
              <a:rPr sz="2000" dirty="0"/>
              <a:t>, </a:t>
            </a:r>
            <a:r>
              <a:rPr sz="2000" dirty="0" err="1"/>
              <a:t>피해함수의</a:t>
            </a:r>
            <a:r>
              <a:rPr sz="2000" dirty="0"/>
              <a:t> </a:t>
            </a:r>
            <a:r>
              <a:rPr sz="2000" dirty="0" err="1"/>
              <a:t>과소추정</a:t>
            </a:r>
            <a:r>
              <a:rPr sz="2000" dirty="0"/>
              <a:t> </a:t>
            </a:r>
            <a:r>
              <a:rPr sz="2000" dirty="0" err="1"/>
              <a:t>가능성에</a:t>
            </a:r>
            <a:r>
              <a:rPr sz="2000" dirty="0"/>
              <a:t> </a:t>
            </a:r>
            <a:r>
              <a:rPr sz="2000" dirty="0" err="1"/>
              <a:t>주의</a:t>
            </a:r>
            <a:endParaRPr sz="2000" dirty="0"/>
          </a:p>
          <a:p>
            <a:pPr>
              <a:defRPr sz="2200"/>
            </a:pPr>
            <a:r>
              <a:rPr sz="2000" dirty="0" err="1"/>
              <a:t>단일</a:t>
            </a:r>
            <a:r>
              <a:rPr sz="2000" dirty="0"/>
              <a:t> </a:t>
            </a:r>
            <a:r>
              <a:rPr sz="2000" dirty="0" err="1"/>
              <a:t>수치보다</a:t>
            </a:r>
            <a:r>
              <a:rPr sz="2000" dirty="0"/>
              <a:t> </a:t>
            </a:r>
            <a:r>
              <a:rPr sz="2000" dirty="0" err="1"/>
              <a:t>범위</a:t>
            </a:r>
            <a:r>
              <a:rPr sz="2000" dirty="0"/>
              <a:t>/</a:t>
            </a:r>
            <a:r>
              <a:rPr sz="2000" dirty="0" err="1"/>
              <a:t>민감도</a:t>
            </a:r>
            <a:r>
              <a:rPr sz="2000" dirty="0"/>
              <a:t> </a:t>
            </a:r>
            <a:r>
              <a:rPr sz="2000" dirty="0" err="1"/>
              <a:t>분석을</a:t>
            </a:r>
            <a:r>
              <a:rPr sz="2000" dirty="0"/>
              <a:t> </a:t>
            </a:r>
            <a:r>
              <a:rPr sz="2000" dirty="0" err="1"/>
              <a:t>병행하는</a:t>
            </a:r>
            <a:r>
              <a:rPr sz="2000" dirty="0"/>
              <a:t> </a:t>
            </a:r>
            <a:r>
              <a:rPr sz="2000" dirty="0" err="1"/>
              <a:t>접근이</a:t>
            </a:r>
            <a:r>
              <a:rPr sz="2000" dirty="0"/>
              <a:t> </a:t>
            </a:r>
            <a:r>
              <a:rPr sz="2000" dirty="0" err="1"/>
              <a:t>바람직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382E3-A84E-49C7-A8C1-6977C26E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CC052-8A74-4654-8747-E06E2A92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15.3.4 탄소세: 기본 메커니즘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배출</a:t>
            </a:r>
            <a:r>
              <a:rPr sz="2000" dirty="0"/>
              <a:t> 1톤당 </a:t>
            </a:r>
            <a:r>
              <a:rPr sz="2000" dirty="0" err="1"/>
              <a:t>세율을</a:t>
            </a:r>
            <a:r>
              <a:rPr sz="2000" dirty="0"/>
              <a:t> </a:t>
            </a:r>
            <a:r>
              <a:rPr sz="2000" dirty="0" err="1"/>
              <a:t>부과해</a:t>
            </a:r>
            <a:r>
              <a:rPr sz="2000" dirty="0"/>
              <a:t> </a:t>
            </a:r>
            <a:r>
              <a:rPr sz="2000" dirty="0" err="1"/>
              <a:t>외부비용을</a:t>
            </a:r>
            <a:r>
              <a:rPr sz="2000" dirty="0"/>
              <a:t> </a:t>
            </a:r>
            <a:r>
              <a:rPr sz="2000" dirty="0" err="1"/>
              <a:t>내부화</a:t>
            </a:r>
            <a:r>
              <a:rPr sz="2000" dirty="0"/>
              <a:t>(</a:t>
            </a:r>
            <a:r>
              <a:rPr sz="2000" dirty="0" err="1"/>
              <a:t>피구세</a:t>
            </a:r>
            <a:r>
              <a:rPr sz="2000" dirty="0"/>
              <a:t>)</a:t>
            </a:r>
          </a:p>
          <a:p>
            <a:pPr>
              <a:defRPr sz="2200"/>
            </a:pPr>
            <a:r>
              <a:rPr sz="2000" dirty="0" err="1"/>
              <a:t>가격</a:t>
            </a:r>
            <a:r>
              <a:rPr sz="2000" dirty="0"/>
              <a:t> </a:t>
            </a:r>
            <a:r>
              <a:rPr sz="2000" dirty="0" err="1"/>
              <a:t>신호를</a:t>
            </a:r>
            <a:r>
              <a:rPr sz="2000" dirty="0"/>
              <a:t> </a:t>
            </a:r>
            <a:r>
              <a:rPr sz="2000" dirty="0" err="1"/>
              <a:t>통해</a:t>
            </a:r>
            <a:r>
              <a:rPr sz="2000" dirty="0"/>
              <a:t> </a:t>
            </a:r>
            <a:r>
              <a:rPr sz="2000" dirty="0" err="1"/>
              <a:t>절약</a:t>
            </a:r>
            <a:r>
              <a:rPr sz="2000" dirty="0"/>
              <a:t>, </a:t>
            </a:r>
            <a:r>
              <a:rPr sz="2000" dirty="0" err="1"/>
              <a:t>연료</a:t>
            </a:r>
            <a:r>
              <a:rPr sz="2000" dirty="0"/>
              <a:t> </a:t>
            </a:r>
            <a:r>
              <a:rPr sz="2000" dirty="0" err="1"/>
              <a:t>전환</a:t>
            </a:r>
            <a:r>
              <a:rPr sz="2000" dirty="0"/>
              <a:t>, </a:t>
            </a:r>
            <a:r>
              <a:rPr sz="2000" dirty="0" err="1"/>
              <a:t>저탄소</a:t>
            </a:r>
            <a:r>
              <a:rPr sz="2000" dirty="0"/>
              <a:t> </a:t>
            </a:r>
            <a:r>
              <a:rPr sz="2000" dirty="0" err="1"/>
              <a:t>기술투자를</a:t>
            </a:r>
            <a:r>
              <a:rPr sz="2000" dirty="0"/>
              <a:t> </a:t>
            </a:r>
            <a:r>
              <a:rPr sz="2000" dirty="0" err="1"/>
              <a:t>유인</a:t>
            </a:r>
            <a:endParaRPr sz="2000" dirty="0"/>
          </a:p>
          <a:p>
            <a:pPr>
              <a:defRPr sz="2200"/>
            </a:pPr>
            <a:r>
              <a:rPr sz="2000" dirty="0" err="1"/>
              <a:t>이상적</a:t>
            </a:r>
            <a:r>
              <a:rPr sz="2000" dirty="0"/>
              <a:t> </a:t>
            </a:r>
            <a:r>
              <a:rPr sz="2000" dirty="0" err="1"/>
              <a:t>설계</a:t>
            </a:r>
            <a:r>
              <a:rPr sz="2000" dirty="0"/>
              <a:t>: </a:t>
            </a:r>
            <a:r>
              <a:rPr sz="2000" dirty="0" err="1"/>
              <a:t>세율</a:t>
            </a:r>
            <a:r>
              <a:rPr sz="2000" dirty="0"/>
              <a:t> ≈ SCC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1F0DA-3C3D-4CAE-B057-CEE08C8E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440BF-90F1-4442-8C16-34F25C03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15.3.4 탄소세: 설계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점진적</a:t>
            </a:r>
            <a:r>
              <a:rPr sz="2000" dirty="0"/>
              <a:t> </a:t>
            </a:r>
            <a:r>
              <a:rPr sz="2000" dirty="0" err="1"/>
              <a:t>인상</a:t>
            </a:r>
            <a:r>
              <a:rPr sz="2000" dirty="0"/>
              <a:t> </a:t>
            </a:r>
            <a:r>
              <a:rPr sz="2000" dirty="0" err="1"/>
              <a:t>경로로</a:t>
            </a:r>
            <a:r>
              <a:rPr sz="2000" dirty="0"/>
              <a:t> </a:t>
            </a:r>
            <a:r>
              <a:rPr sz="2000" dirty="0" err="1"/>
              <a:t>예측가능성을</a:t>
            </a:r>
            <a:r>
              <a:rPr sz="2000" dirty="0"/>
              <a:t> </a:t>
            </a:r>
            <a:r>
              <a:rPr sz="2000" dirty="0" err="1"/>
              <a:t>제공</a:t>
            </a:r>
            <a:r>
              <a:rPr sz="2000" dirty="0"/>
              <a:t>(</a:t>
            </a:r>
            <a:r>
              <a:rPr sz="2000" dirty="0" err="1"/>
              <a:t>투자</a:t>
            </a:r>
            <a:r>
              <a:rPr sz="2000" dirty="0"/>
              <a:t> </a:t>
            </a:r>
            <a:r>
              <a:rPr sz="2000" dirty="0" err="1"/>
              <a:t>유도</a:t>
            </a:r>
            <a:r>
              <a:rPr sz="2000" dirty="0"/>
              <a:t>)</a:t>
            </a:r>
          </a:p>
          <a:p>
            <a:pPr>
              <a:defRPr sz="2200"/>
            </a:pPr>
            <a:r>
              <a:rPr sz="2000" dirty="0" err="1"/>
              <a:t>세수의</a:t>
            </a:r>
            <a:r>
              <a:rPr sz="2000" dirty="0"/>
              <a:t> </a:t>
            </a:r>
            <a:r>
              <a:rPr sz="2000" dirty="0" err="1"/>
              <a:t>재분배</a:t>
            </a:r>
            <a:r>
              <a:rPr sz="2000" dirty="0"/>
              <a:t>(</a:t>
            </a:r>
            <a:r>
              <a:rPr sz="2000" dirty="0" err="1"/>
              <a:t>환급</a:t>
            </a:r>
            <a:r>
              <a:rPr sz="2000" dirty="0"/>
              <a:t>/</a:t>
            </a:r>
            <a:r>
              <a:rPr sz="2000" dirty="0" err="1"/>
              <a:t>에너지복지</a:t>
            </a:r>
            <a:r>
              <a:rPr sz="2000" dirty="0"/>
              <a:t>/</a:t>
            </a:r>
            <a:r>
              <a:rPr sz="2000" dirty="0" err="1"/>
              <a:t>감세</a:t>
            </a:r>
            <a:r>
              <a:rPr sz="2000" dirty="0"/>
              <a:t>)로 </a:t>
            </a:r>
            <a:r>
              <a:rPr sz="2000" dirty="0" err="1"/>
              <a:t>수용성</a:t>
            </a:r>
            <a:r>
              <a:rPr sz="2000" dirty="0"/>
              <a:t> </a:t>
            </a:r>
            <a:r>
              <a:rPr sz="2000" dirty="0" err="1"/>
              <a:t>제고</a:t>
            </a:r>
            <a:endParaRPr sz="2000" dirty="0"/>
          </a:p>
          <a:p>
            <a:pPr>
              <a:defRPr sz="2200"/>
            </a:pPr>
            <a:r>
              <a:rPr sz="2000" dirty="0" err="1"/>
              <a:t>탄소누출·경쟁력</a:t>
            </a:r>
            <a:r>
              <a:rPr sz="2000" dirty="0"/>
              <a:t> </a:t>
            </a:r>
            <a:r>
              <a:rPr sz="2000" dirty="0" err="1"/>
              <a:t>우려에</a:t>
            </a:r>
            <a:r>
              <a:rPr sz="2000" dirty="0"/>
              <a:t> </a:t>
            </a:r>
            <a:r>
              <a:rPr sz="2000" dirty="0" err="1"/>
              <a:t>대한</a:t>
            </a:r>
            <a:r>
              <a:rPr sz="2000" dirty="0"/>
              <a:t> </a:t>
            </a:r>
            <a:r>
              <a:rPr sz="2000" dirty="0" err="1"/>
              <a:t>보완</a:t>
            </a:r>
            <a:r>
              <a:rPr sz="2000" dirty="0"/>
              <a:t>(</a:t>
            </a:r>
            <a:r>
              <a:rPr sz="2000" dirty="0" err="1"/>
              <a:t>전환지원</a:t>
            </a:r>
            <a:r>
              <a:rPr sz="2000" dirty="0"/>
              <a:t>/</a:t>
            </a:r>
            <a:r>
              <a:rPr sz="2000" dirty="0" err="1"/>
              <a:t>국경조정</a:t>
            </a:r>
            <a:r>
              <a:rPr sz="2000" dirty="0"/>
              <a:t> 등)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452A3-0A5D-4AD4-A65F-84270E75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C4700-A241-429B-928B-44777191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800"/>
              <a:t>15.3.5 배출권거래제(ETS):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총량</a:t>
            </a:r>
            <a:r>
              <a:rPr sz="2000" dirty="0"/>
              <a:t>(cap) </a:t>
            </a:r>
            <a:r>
              <a:rPr sz="2000" dirty="0" err="1"/>
              <a:t>설정</a:t>
            </a:r>
            <a:r>
              <a:rPr sz="2000" dirty="0"/>
              <a:t> 후 </a:t>
            </a:r>
            <a:r>
              <a:rPr sz="2000" dirty="0" err="1"/>
              <a:t>배출권</a:t>
            </a:r>
            <a:r>
              <a:rPr sz="2000" dirty="0"/>
              <a:t> </a:t>
            </a:r>
            <a:r>
              <a:rPr sz="2000" dirty="0" err="1"/>
              <a:t>할당</a:t>
            </a:r>
            <a:r>
              <a:rPr sz="2000" dirty="0"/>
              <a:t>/</a:t>
            </a:r>
            <a:r>
              <a:rPr sz="2000" dirty="0" err="1"/>
              <a:t>경매</a:t>
            </a:r>
            <a:r>
              <a:rPr sz="2000" dirty="0"/>
              <a:t> → </a:t>
            </a:r>
            <a:r>
              <a:rPr sz="2000" dirty="0" err="1"/>
              <a:t>시장에서</a:t>
            </a:r>
            <a:r>
              <a:rPr sz="2000" dirty="0"/>
              <a:t> </a:t>
            </a:r>
            <a:r>
              <a:rPr sz="2000" dirty="0" err="1"/>
              <a:t>거래</a:t>
            </a:r>
            <a:r>
              <a:rPr sz="2000" dirty="0"/>
              <a:t>(trade)</a:t>
            </a:r>
          </a:p>
          <a:p>
            <a:pPr>
              <a:defRPr sz="2200"/>
            </a:pPr>
            <a:r>
              <a:rPr sz="2000" dirty="0" err="1"/>
              <a:t>한계감축비용이</a:t>
            </a:r>
            <a:r>
              <a:rPr sz="2000" dirty="0"/>
              <a:t> </a:t>
            </a:r>
            <a:r>
              <a:rPr sz="2000" dirty="0" err="1"/>
              <a:t>낮은</a:t>
            </a:r>
            <a:r>
              <a:rPr sz="2000" dirty="0"/>
              <a:t> </a:t>
            </a:r>
            <a:r>
              <a:rPr sz="2000" dirty="0" err="1"/>
              <a:t>주체가</a:t>
            </a:r>
            <a:r>
              <a:rPr sz="2000" dirty="0"/>
              <a:t> 더 </a:t>
            </a:r>
            <a:r>
              <a:rPr sz="2000" dirty="0" err="1"/>
              <a:t>감축</a:t>
            </a:r>
            <a:r>
              <a:rPr sz="2000" dirty="0"/>
              <a:t> → </a:t>
            </a:r>
            <a:r>
              <a:rPr sz="2000" dirty="0" err="1"/>
              <a:t>전체</a:t>
            </a:r>
            <a:r>
              <a:rPr sz="2000" dirty="0"/>
              <a:t> </a:t>
            </a:r>
            <a:r>
              <a:rPr sz="2000" dirty="0" err="1"/>
              <a:t>비용</a:t>
            </a:r>
            <a:r>
              <a:rPr sz="2000" dirty="0"/>
              <a:t> </a:t>
            </a:r>
            <a:r>
              <a:rPr sz="2000" dirty="0" err="1"/>
              <a:t>최소화</a:t>
            </a:r>
            <a:endParaRPr sz="2000" dirty="0"/>
          </a:p>
          <a:p>
            <a:pPr>
              <a:defRPr sz="2200"/>
            </a:pPr>
            <a:r>
              <a:rPr sz="2000" dirty="0" err="1"/>
              <a:t>탄소가격은</a:t>
            </a:r>
            <a:r>
              <a:rPr sz="2000" dirty="0"/>
              <a:t> </a:t>
            </a:r>
            <a:r>
              <a:rPr sz="2000" dirty="0" err="1"/>
              <a:t>시장에서</a:t>
            </a:r>
            <a:r>
              <a:rPr sz="2000" dirty="0"/>
              <a:t> </a:t>
            </a:r>
            <a:r>
              <a:rPr sz="2000" dirty="0" err="1"/>
              <a:t>형성되며</a:t>
            </a:r>
            <a:r>
              <a:rPr sz="2000" dirty="0"/>
              <a:t> </a:t>
            </a:r>
            <a:r>
              <a:rPr sz="2000" dirty="0" err="1"/>
              <a:t>투자</a:t>
            </a:r>
            <a:r>
              <a:rPr sz="2000" dirty="0"/>
              <a:t> </a:t>
            </a:r>
            <a:r>
              <a:rPr sz="2000" dirty="0" err="1"/>
              <a:t>신호로</a:t>
            </a:r>
            <a:r>
              <a:rPr sz="2000" dirty="0"/>
              <a:t> </a:t>
            </a:r>
            <a:r>
              <a:rPr sz="2000" dirty="0" err="1"/>
              <a:t>작동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AAC27-BA59-4124-BB64-858BC246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DA222-98BC-4FCA-828F-AD2AD0A7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15.3.5 ETS: 운영 핵심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정확한</a:t>
            </a:r>
            <a:r>
              <a:rPr sz="2000" dirty="0"/>
              <a:t> MRV(</a:t>
            </a:r>
            <a:r>
              <a:rPr sz="2000" dirty="0" err="1"/>
              <a:t>측정·보고·검증</a:t>
            </a:r>
            <a:r>
              <a:rPr sz="2000" dirty="0"/>
              <a:t>) </a:t>
            </a:r>
            <a:r>
              <a:rPr sz="2000" dirty="0" err="1"/>
              <a:t>체계가</a:t>
            </a:r>
            <a:r>
              <a:rPr sz="2000" dirty="0"/>
              <a:t> </a:t>
            </a:r>
            <a:r>
              <a:rPr sz="2000" dirty="0" err="1"/>
              <a:t>제도</a:t>
            </a:r>
            <a:r>
              <a:rPr sz="2000" dirty="0"/>
              <a:t> </a:t>
            </a:r>
            <a:r>
              <a:rPr sz="2000" dirty="0" err="1"/>
              <a:t>성패를</a:t>
            </a:r>
            <a:r>
              <a:rPr sz="2000" dirty="0"/>
              <a:t> </a:t>
            </a:r>
            <a:r>
              <a:rPr sz="2000" dirty="0" err="1"/>
              <a:t>좌우</a:t>
            </a:r>
            <a:endParaRPr sz="2000" dirty="0"/>
          </a:p>
          <a:p>
            <a:pPr>
              <a:defRPr sz="2200"/>
            </a:pPr>
            <a:r>
              <a:rPr sz="2000" dirty="0" err="1"/>
              <a:t>시장안정화</a:t>
            </a:r>
            <a:r>
              <a:rPr sz="2000" dirty="0"/>
              <a:t> </a:t>
            </a:r>
            <a:r>
              <a:rPr sz="2000" dirty="0" err="1"/>
              <a:t>장치</a:t>
            </a:r>
            <a:r>
              <a:rPr sz="2000" dirty="0"/>
              <a:t>(</a:t>
            </a:r>
            <a:r>
              <a:rPr sz="2000" dirty="0" err="1"/>
              <a:t>예비물량</a:t>
            </a:r>
            <a:r>
              <a:rPr sz="2000" dirty="0"/>
              <a:t>, </a:t>
            </a:r>
            <a:r>
              <a:rPr sz="2000" dirty="0" err="1"/>
              <a:t>가격상·하한</a:t>
            </a:r>
            <a:r>
              <a:rPr sz="2000" dirty="0"/>
              <a:t> 등)로 </a:t>
            </a:r>
            <a:r>
              <a:rPr sz="2000" dirty="0" err="1"/>
              <a:t>변동성</a:t>
            </a:r>
            <a:r>
              <a:rPr sz="2000" dirty="0"/>
              <a:t> </a:t>
            </a:r>
            <a:r>
              <a:rPr sz="2000" dirty="0" err="1"/>
              <a:t>완화</a:t>
            </a:r>
            <a:r>
              <a:rPr sz="2000" dirty="0"/>
              <a:t> </a:t>
            </a:r>
            <a:r>
              <a:rPr sz="2000" dirty="0" err="1"/>
              <a:t>가능</a:t>
            </a:r>
            <a:endParaRPr sz="2000" dirty="0"/>
          </a:p>
          <a:p>
            <a:pPr>
              <a:defRPr sz="2200"/>
            </a:pPr>
            <a:r>
              <a:rPr sz="2000" dirty="0" err="1"/>
              <a:t>무상할당→유상할당</a:t>
            </a:r>
            <a:r>
              <a:rPr sz="2000" dirty="0"/>
              <a:t> </a:t>
            </a:r>
            <a:r>
              <a:rPr sz="2000" dirty="0" err="1"/>
              <a:t>확대</a:t>
            </a:r>
            <a:r>
              <a:rPr sz="2000" dirty="0"/>
              <a:t>, </a:t>
            </a:r>
            <a:r>
              <a:rPr sz="2000" dirty="0" err="1"/>
              <a:t>상쇄제도</a:t>
            </a:r>
            <a:r>
              <a:rPr sz="2000" dirty="0"/>
              <a:t>/</a:t>
            </a:r>
            <a:r>
              <a:rPr sz="2000" dirty="0" err="1"/>
              <a:t>국제연계</a:t>
            </a:r>
            <a:r>
              <a:rPr sz="2000" dirty="0"/>
              <a:t> 등 </a:t>
            </a:r>
            <a:r>
              <a:rPr sz="2000" dirty="0" err="1"/>
              <a:t>설계가</a:t>
            </a:r>
            <a:r>
              <a:rPr sz="2000" dirty="0"/>
              <a:t> </a:t>
            </a:r>
            <a:r>
              <a:rPr sz="2000" dirty="0" err="1"/>
              <a:t>중요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49A5B-FC7E-492A-BBBD-73AF668D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25F3F-FC07-40CB-BC94-5D114EFB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200"/>
              <a:t>15.4 온실가스 감축 전략: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수요</a:t>
            </a:r>
            <a:r>
              <a:rPr sz="2000" dirty="0"/>
              <a:t>: </a:t>
            </a:r>
            <a:r>
              <a:rPr sz="2000" dirty="0" err="1"/>
              <a:t>에너지</a:t>
            </a:r>
            <a:r>
              <a:rPr sz="2000" dirty="0"/>
              <a:t> </a:t>
            </a:r>
            <a:r>
              <a:rPr sz="2000" dirty="0" err="1"/>
              <a:t>효율</a:t>
            </a:r>
            <a:r>
              <a:rPr sz="2000" dirty="0"/>
              <a:t>, </a:t>
            </a:r>
            <a:r>
              <a:rPr sz="2000" dirty="0" err="1"/>
              <a:t>수요관리</a:t>
            </a:r>
            <a:r>
              <a:rPr sz="2000" dirty="0"/>
              <a:t>(DR), </a:t>
            </a:r>
            <a:r>
              <a:rPr sz="2000" dirty="0" err="1"/>
              <a:t>행동</a:t>
            </a:r>
            <a:r>
              <a:rPr sz="2000" dirty="0"/>
              <a:t> </a:t>
            </a:r>
            <a:r>
              <a:rPr sz="2000" dirty="0" err="1"/>
              <a:t>변화</a:t>
            </a:r>
            <a:endParaRPr sz="2000" dirty="0"/>
          </a:p>
          <a:p>
            <a:pPr>
              <a:defRPr sz="2200"/>
            </a:pPr>
            <a:r>
              <a:rPr sz="2000" dirty="0" err="1"/>
              <a:t>공급</a:t>
            </a:r>
            <a:r>
              <a:rPr sz="2000" dirty="0"/>
              <a:t>: </a:t>
            </a:r>
            <a:r>
              <a:rPr sz="2000" dirty="0" err="1"/>
              <a:t>재생</a:t>
            </a:r>
            <a:r>
              <a:rPr sz="2000" dirty="0"/>
              <a:t> </a:t>
            </a:r>
            <a:r>
              <a:rPr sz="2000" dirty="0" err="1"/>
              <a:t>확대</a:t>
            </a:r>
            <a:r>
              <a:rPr sz="2000" dirty="0"/>
              <a:t>, </a:t>
            </a:r>
            <a:r>
              <a:rPr sz="2000" dirty="0" err="1"/>
              <a:t>전력</a:t>
            </a:r>
            <a:r>
              <a:rPr sz="2000" dirty="0"/>
              <a:t> </a:t>
            </a:r>
            <a:r>
              <a:rPr sz="2000" dirty="0" err="1"/>
              <a:t>탈탄소화</a:t>
            </a:r>
            <a:r>
              <a:rPr sz="2000" dirty="0"/>
              <a:t>, </a:t>
            </a:r>
            <a:r>
              <a:rPr sz="2000" dirty="0" err="1"/>
              <a:t>연료</a:t>
            </a:r>
            <a:r>
              <a:rPr sz="2000" dirty="0"/>
              <a:t> </a:t>
            </a:r>
            <a:r>
              <a:rPr sz="2000" dirty="0" err="1"/>
              <a:t>전환</a:t>
            </a:r>
            <a:endParaRPr sz="2000" dirty="0"/>
          </a:p>
          <a:p>
            <a:pPr>
              <a:defRPr sz="2200"/>
            </a:pPr>
            <a:r>
              <a:rPr sz="2000" dirty="0" err="1"/>
              <a:t>시스템</a:t>
            </a:r>
            <a:r>
              <a:rPr sz="2000" dirty="0"/>
              <a:t>: </a:t>
            </a:r>
            <a:r>
              <a:rPr sz="2000" dirty="0" err="1"/>
              <a:t>전기화</a:t>
            </a:r>
            <a:r>
              <a:rPr sz="2000" dirty="0"/>
              <a:t>, </a:t>
            </a:r>
            <a:r>
              <a:rPr sz="2000" dirty="0" err="1"/>
              <a:t>저장</a:t>
            </a:r>
            <a:r>
              <a:rPr sz="2000" dirty="0"/>
              <a:t>/</a:t>
            </a:r>
            <a:r>
              <a:rPr sz="2000" dirty="0" err="1"/>
              <a:t>유연성</a:t>
            </a:r>
            <a:r>
              <a:rPr sz="2000" dirty="0"/>
              <a:t>, CCUS/CDR 등 </a:t>
            </a:r>
            <a:r>
              <a:rPr sz="2000" dirty="0" err="1"/>
              <a:t>보완기술</a:t>
            </a:r>
            <a:endParaRPr sz="2000" dirty="0"/>
          </a:p>
          <a:p>
            <a:pPr>
              <a:defRPr sz="2200"/>
            </a:pPr>
            <a:r>
              <a:rPr sz="2000" dirty="0" err="1"/>
              <a:t>정책은</a:t>
            </a:r>
            <a:r>
              <a:rPr sz="2000" dirty="0"/>
              <a:t> </a:t>
            </a:r>
            <a:r>
              <a:rPr sz="2000" dirty="0" err="1"/>
              <a:t>기술·시장·인프라·수용성을</a:t>
            </a:r>
            <a:r>
              <a:rPr sz="2000" dirty="0"/>
              <a:t> </a:t>
            </a:r>
            <a:r>
              <a:rPr sz="2000" dirty="0" err="1"/>
              <a:t>함께</a:t>
            </a:r>
            <a:r>
              <a:rPr sz="2000" dirty="0"/>
              <a:t> </a:t>
            </a:r>
            <a:r>
              <a:rPr sz="2000" dirty="0" err="1"/>
              <a:t>고려한</a:t>
            </a:r>
            <a:r>
              <a:rPr sz="2000" dirty="0"/>
              <a:t> </a:t>
            </a:r>
            <a:r>
              <a:rPr sz="2000" dirty="0" err="1"/>
              <a:t>포트폴리오</a:t>
            </a:r>
            <a:r>
              <a:rPr sz="2000" dirty="0"/>
              <a:t> </a:t>
            </a:r>
            <a:r>
              <a:rPr sz="2000" dirty="0" err="1"/>
              <a:t>접근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2AD9B-B381-41E8-92F2-0ED69AB4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CC14E-F837-41A3-9FE7-2B467D3A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15.4.1 에너지 효율: 핵심 논리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동일</a:t>
            </a:r>
            <a:r>
              <a:rPr sz="2000" dirty="0"/>
              <a:t> </a:t>
            </a:r>
            <a:r>
              <a:rPr sz="2000" dirty="0" err="1"/>
              <a:t>서비스</a:t>
            </a:r>
            <a:r>
              <a:rPr sz="2000" dirty="0"/>
              <a:t>/</a:t>
            </a:r>
            <a:r>
              <a:rPr sz="2000" dirty="0" err="1"/>
              <a:t>산출을</a:t>
            </a:r>
            <a:r>
              <a:rPr sz="2000" dirty="0"/>
              <a:t> 더 </a:t>
            </a:r>
            <a:r>
              <a:rPr sz="2000" dirty="0" err="1"/>
              <a:t>적은</a:t>
            </a:r>
            <a:r>
              <a:rPr sz="2000" dirty="0"/>
              <a:t> </a:t>
            </a:r>
            <a:r>
              <a:rPr sz="2000" dirty="0" err="1"/>
              <a:t>에너지로</a:t>
            </a:r>
            <a:r>
              <a:rPr sz="2000" dirty="0"/>
              <a:t> </a:t>
            </a:r>
            <a:r>
              <a:rPr sz="2000" dirty="0" err="1"/>
              <a:t>제공</a:t>
            </a:r>
            <a:r>
              <a:rPr sz="2000" dirty="0"/>
              <a:t> → </a:t>
            </a:r>
            <a:r>
              <a:rPr sz="2000" dirty="0" err="1"/>
              <a:t>배출과</a:t>
            </a:r>
            <a:r>
              <a:rPr sz="2000" dirty="0"/>
              <a:t> </a:t>
            </a:r>
            <a:r>
              <a:rPr sz="2000" dirty="0" err="1"/>
              <a:t>비용을</a:t>
            </a:r>
            <a:r>
              <a:rPr sz="2000" dirty="0"/>
              <a:t> </a:t>
            </a:r>
            <a:r>
              <a:rPr sz="2000" dirty="0" err="1"/>
              <a:t>동시에</a:t>
            </a:r>
            <a:r>
              <a:rPr sz="2000" dirty="0"/>
              <a:t> </a:t>
            </a:r>
            <a:r>
              <a:rPr sz="2000" dirty="0" err="1"/>
              <a:t>절감</a:t>
            </a:r>
            <a:endParaRPr sz="2000" dirty="0"/>
          </a:p>
          <a:p>
            <a:pPr>
              <a:defRPr sz="2200"/>
            </a:pPr>
            <a:r>
              <a:rPr sz="2000" dirty="0" err="1"/>
              <a:t>건물·산업·수송은</a:t>
            </a:r>
            <a:r>
              <a:rPr sz="2000" dirty="0"/>
              <a:t> </a:t>
            </a:r>
            <a:r>
              <a:rPr sz="2000" dirty="0" err="1"/>
              <a:t>절감</a:t>
            </a:r>
            <a:r>
              <a:rPr sz="2000" dirty="0"/>
              <a:t> </a:t>
            </a:r>
            <a:r>
              <a:rPr sz="2000" dirty="0" err="1"/>
              <a:t>잠재력이</a:t>
            </a:r>
            <a:r>
              <a:rPr sz="2000" dirty="0"/>
              <a:t> </a:t>
            </a:r>
            <a:r>
              <a:rPr sz="2000" dirty="0" err="1"/>
              <a:t>크고</a:t>
            </a:r>
            <a:r>
              <a:rPr sz="2000" dirty="0"/>
              <a:t> </a:t>
            </a:r>
            <a:r>
              <a:rPr sz="2000" dirty="0" err="1"/>
              <a:t>상용</a:t>
            </a:r>
            <a:r>
              <a:rPr sz="2000" dirty="0"/>
              <a:t> </a:t>
            </a:r>
            <a:r>
              <a:rPr sz="2000" dirty="0" err="1"/>
              <a:t>기술이</a:t>
            </a:r>
            <a:r>
              <a:rPr sz="2000" dirty="0"/>
              <a:t> </a:t>
            </a:r>
            <a:r>
              <a:rPr sz="2000" dirty="0" err="1"/>
              <a:t>많음</a:t>
            </a:r>
            <a:endParaRPr sz="2000" dirty="0"/>
          </a:p>
          <a:p>
            <a:pPr>
              <a:defRPr sz="2200"/>
            </a:pPr>
            <a:r>
              <a:rPr sz="2000" dirty="0" err="1"/>
              <a:t>에너지안보</a:t>
            </a:r>
            <a:r>
              <a:rPr sz="2000" dirty="0"/>
              <a:t>(</a:t>
            </a:r>
            <a:r>
              <a:rPr sz="2000" dirty="0" err="1"/>
              <a:t>수입의존</a:t>
            </a:r>
            <a:r>
              <a:rPr sz="2000" dirty="0"/>
              <a:t> </a:t>
            </a:r>
            <a:r>
              <a:rPr sz="2000" dirty="0" err="1"/>
              <a:t>완화</a:t>
            </a:r>
            <a:r>
              <a:rPr sz="2000" dirty="0"/>
              <a:t>)와 </a:t>
            </a:r>
            <a:r>
              <a:rPr sz="2000" dirty="0" err="1"/>
              <a:t>가격</a:t>
            </a:r>
            <a:r>
              <a:rPr sz="2000" dirty="0"/>
              <a:t> </a:t>
            </a:r>
            <a:r>
              <a:rPr sz="2000" dirty="0" err="1"/>
              <a:t>변동성</a:t>
            </a:r>
            <a:r>
              <a:rPr sz="2000" dirty="0"/>
              <a:t> </a:t>
            </a:r>
            <a:r>
              <a:rPr sz="2000" dirty="0" err="1"/>
              <a:t>완화에도</a:t>
            </a:r>
            <a:r>
              <a:rPr sz="2000" dirty="0"/>
              <a:t> </a:t>
            </a:r>
            <a:r>
              <a:rPr sz="2000" dirty="0" err="1"/>
              <a:t>기여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F9FDD-24A1-4B36-9D0A-1FEFB0BF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996A5-47FE-4957-AE98-CB143A52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15.4.1 수요관리(DR)와 디지털화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피크</a:t>
            </a:r>
            <a:r>
              <a:rPr sz="2000" dirty="0"/>
              <a:t> </a:t>
            </a:r>
            <a:r>
              <a:rPr sz="2000" dirty="0" err="1"/>
              <a:t>시간대</a:t>
            </a:r>
            <a:r>
              <a:rPr sz="2000" dirty="0"/>
              <a:t> </a:t>
            </a:r>
            <a:r>
              <a:rPr sz="2000" dirty="0" err="1"/>
              <a:t>수요를</a:t>
            </a:r>
            <a:r>
              <a:rPr sz="2000" dirty="0"/>
              <a:t> </a:t>
            </a:r>
            <a:r>
              <a:rPr sz="2000" dirty="0" err="1"/>
              <a:t>이동</a:t>
            </a:r>
            <a:r>
              <a:rPr sz="2000" dirty="0"/>
              <a:t>/</a:t>
            </a:r>
            <a:r>
              <a:rPr sz="2000" dirty="0" err="1"/>
              <a:t>감축</a:t>
            </a:r>
            <a:r>
              <a:rPr sz="2000" dirty="0"/>
              <a:t> → </a:t>
            </a:r>
            <a:r>
              <a:rPr sz="2000" dirty="0" err="1"/>
              <a:t>발전·망</a:t>
            </a:r>
            <a:r>
              <a:rPr sz="2000" dirty="0"/>
              <a:t> </a:t>
            </a:r>
            <a:r>
              <a:rPr sz="2000" dirty="0" err="1"/>
              <a:t>투자</a:t>
            </a:r>
            <a:r>
              <a:rPr sz="2000" dirty="0"/>
              <a:t> </a:t>
            </a:r>
            <a:r>
              <a:rPr sz="2000" dirty="0" err="1"/>
              <a:t>비용</a:t>
            </a:r>
            <a:r>
              <a:rPr sz="2000" dirty="0"/>
              <a:t> </a:t>
            </a:r>
            <a:r>
              <a:rPr sz="2000" dirty="0" err="1"/>
              <a:t>절감</a:t>
            </a:r>
            <a:endParaRPr sz="2000" dirty="0"/>
          </a:p>
          <a:p>
            <a:pPr>
              <a:defRPr sz="2200"/>
            </a:pPr>
            <a:r>
              <a:rPr sz="2000" dirty="0" err="1"/>
              <a:t>계시별</a:t>
            </a:r>
            <a:r>
              <a:rPr sz="2000" dirty="0"/>
              <a:t> </a:t>
            </a:r>
            <a:r>
              <a:rPr sz="2000" dirty="0" err="1"/>
              <a:t>요금</a:t>
            </a:r>
            <a:r>
              <a:rPr sz="2000" dirty="0"/>
              <a:t>, DR </a:t>
            </a:r>
            <a:r>
              <a:rPr sz="2000" dirty="0" err="1"/>
              <a:t>프로그램</a:t>
            </a:r>
            <a:r>
              <a:rPr sz="2000" dirty="0"/>
              <a:t>, </a:t>
            </a:r>
            <a:r>
              <a:rPr sz="2000" dirty="0" err="1"/>
              <a:t>자동제어</a:t>
            </a:r>
            <a:r>
              <a:rPr sz="2000" dirty="0"/>
              <a:t>, </a:t>
            </a:r>
            <a:r>
              <a:rPr sz="2000" dirty="0" err="1"/>
              <a:t>스마트계량기</a:t>
            </a:r>
            <a:r>
              <a:rPr sz="2000" dirty="0"/>
              <a:t>/</a:t>
            </a:r>
            <a:r>
              <a:rPr sz="2000" dirty="0" err="1"/>
              <a:t>스마트홈이</a:t>
            </a:r>
            <a:r>
              <a:rPr sz="2000" dirty="0"/>
              <a:t> </a:t>
            </a:r>
            <a:r>
              <a:rPr sz="2000" dirty="0" err="1"/>
              <a:t>핵심</a:t>
            </a:r>
            <a:r>
              <a:rPr sz="2000" dirty="0"/>
              <a:t> </a:t>
            </a:r>
            <a:r>
              <a:rPr sz="2000" dirty="0" err="1"/>
              <a:t>도구</a:t>
            </a:r>
            <a:endParaRPr sz="2000" dirty="0"/>
          </a:p>
          <a:p>
            <a:pPr>
              <a:defRPr sz="2200"/>
            </a:pPr>
            <a:r>
              <a:rPr sz="2000" dirty="0" err="1"/>
              <a:t>재생에너지</a:t>
            </a:r>
            <a:r>
              <a:rPr sz="2000" dirty="0"/>
              <a:t> </a:t>
            </a:r>
            <a:r>
              <a:rPr sz="2000" dirty="0" err="1"/>
              <a:t>변동성</a:t>
            </a:r>
            <a:r>
              <a:rPr sz="2000" dirty="0"/>
              <a:t> </a:t>
            </a:r>
            <a:r>
              <a:rPr sz="2000" dirty="0" err="1"/>
              <a:t>흡수</a:t>
            </a:r>
            <a:r>
              <a:rPr sz="2000" dirty="0"/>
              <a:t> 및 </a:t>
            </a:r>
            <a:r>
              <a:rPr sz="2000" dirty="0" err="1"/>
              <a:t>전력시장</a:t>
            </a:r>
            <a:r>
              <a:rPr sz="2000" dirty="0"/>
              <a:t> </a:t>
            </a:r>
            <a:r>
              <a:rPr sz="2000" dirty="0" err="1"/>
              <a:t>유연성</a:t>
            </a:r>
            <a:r>
              <a:rPr sz="2000" dirty="0"/>
              <a:t> </a:t>
            </a:r>
            <a:r>
              <a:rPr sz="2000" dirty="0" err="1"/>
              <a:t>확대와</a:t>
            </a:r>
            <a:r>
              <a:rPr sz="2000" dirty="0"/>
              <a:t> </a:t>
            </a:r>
            <a:r>
              <a:rPr sz="2000" dirty="0" err="1"/>
              <a:t>연결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A1C61-2CA8-4AB4-96AD-8F1270AE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4E66E-E6F8-4D14-8B0C-1BFB9C818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700"/>
              <a:t>15.4.2 재생에너지 확대: 비용·계통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태양광·풍력</a:t>
            </a:r>
            <a:r>
              <a:rPr sz="2000" dirty="0"/>
              <a:t> </a:t>
            </a:r>
            <a:r>
              <a:rPr sz="2000" dirty="0" err="1"/>
              <a:t>비용</a:t>
            </a:r>
            <a:r>
              <a:rPr sz="2000" dirty="0"/>
              <a:t> </a:t>
            </a:r>
            <a:r>
              <a:rPr sz="2000" dirty="0" err="1"/>
              <a:t>하락</a:t>
            </a:r>
            <a:r>
              <a:rPr sz="2000" dirty="0"/>
              <a:t> → </a:t>
            </a:r>
            <a:r>
              <a:rPr sz="2000" dirty="0" err="1"/>
              <a:t>신규</a:t>
            </a:r>
            <a:r>
              <a:rPr sz="2000" dirty="0"/>
              <a:t> </a:t>
            </a:r>
            <a:r>
              <a:rPr sz="2000" dirty="0" err="1"/>
              <a:t>설비</a:t>
            </a:r>
            <a:r>
              <a:rPr sz="2000" dirty="0"/>
              <a:t> </a:t>
            </a:r>
            <a:r>
              <a:rPr sz="2000" dirty="0" err="1"/>
              <a:t>경쟁력</a:t>
            </a:r>
            <a:r>
              <a:rPr sz="2000" dirty="0"/>
              <a:t> </a:t>
            </a:r>
            <a:r>
              <a:rPr sz="2000" dirty="0" err="1"/>
              <a:t>강화</a:t>
            </a:r>
            <a:endParaRPr sz="2000" dirty="0"/>
          </a:p>
          <a:p>
            <a:pPr>
              <a:defRPr sz="2200"/>
            </a:pPr>
            <a:r>
              <a:rPr sz="2000" dirty="0" err="1"/>
              <a:t>전력</a:t>
            </a:r>
            <a:r>
              <a:rPr sz="2000" dirty="0"/>
              <a:t> </a:t>
            </a:r>
            <a:r>
              <a:rPr sz="2000" dirty="0" err="1"/>
              <a:t>탈탄소화는</a:t>
            </a:r>
            <a:r>
              <a:rPr sz="2000" dirty="0"/>
              <a:t> </a:t>
            </a:r>
            <a:r>
              <a:rPr sz="2000" dirty="0" err="1"/>
              <a:t>다른</a:t>
            </a:r>
            <a:r>
              <a:rPr sz="2000" dirty="0"/>
              <a:t> </a:t>
            </a:r>
            <a:r>
              <a:rPr sz="2000" dirty="0" err="1"/>
              <a:t>부문</a:t>
            </a:r>
            <a:r>
              <a:rPr sz="2000" dirty="0"/>
              <a:t> </a:t>
            </a:r>
            <a:r>
              <a:rPr sz="2000" dirty="0" err="1"/>
              <a:t>전기화의</a:t>
            </a:r>
            <a:r>
              <a:rPr sz="2000" dirty="0"/>
              <a:t> </a:t>
            </a:r>
            <a:r>
              <a:rPr sz="2000" dirty="0" err="1"/>
              <a:t>전제조건</a:t>
            </a:r>
            <a:endParaRPr sz="2000" dirty="0"/>
          </a:p>
          <a:p>
            <a:pPr>
              <a:defRPr sz="2200"/>
            </a:pPr>
            <a:r>
              <a:rPr sz="2000" dirty="0" err="1"/>
              <a:t>과제</a:t>
            </a:r>
            <a:r>
              <a:rPr sz="2000" dirty="0"/>
              <a:t>: </a:t>
            </a:r>
            <a:r>
              <a:rPr sz="2000" dirty="0" err="1"/>
              <a:t>간헐성</a:t>
            </a:r>
            <a:r>
              <a:rPr sz="2000" dirty="0"/>
              <a:t>, </a:t>
            </a:r>
            <a:r>
              <a:rPr sz="2000" dirty="0" err="1"/>
              <a:t>예측오차</a:t>
            </a:r>
            <a:r>
              <a:rPr sz="2000" dirty="0"/>
              <a:t>, </a:t>
            </a:r>
            <a:r>
              <a:rPr sz="2000" dirty="0" err="1"/>
              <a:t>송전망</a:t>
            </a:r>
            <a:r>
              <a:rPr sz="2000" dirty="0"/>
              <a:t> </a:t>
            </a:r>
            <a:r>
              <a:rPr sz="2000" dirty="0" err="1"/>
              <a:t>병목</a:t>
            </a:r>
            <a:r>
              <a:rPr sz="2000" dirty="0"/>
              <a:t>, </a:t>
            </a:r>
            <a:r>
              <a:rPr sz="2000" dirty="0" err="1"/>
              <a:t>인허가</a:t>
            </a:r>
            <a:r>
              <a:rPr sz="2000" dirty="0"/>
              <a:t>/</a:t>
            </a:r>
            <a:r>
              <a:rPr sz="2000" dirty="0" err="1"/>
              <a:t>입지</a:t>
            </a:r>
            <a:r>
              <a:rPr sz="2000" dirty="0"/>
              <a:t> </a:t>
            </a:r>
            <a:r>
              <a:rPr sz="2000" dirty="0" err="1"/>
              <a:t>갈등</a:t>
            </a:r>
            <a:r>
              <a:rPr sz="2000" dirty="0"/>
              <a:t>, </a:t>
            </a:r>
            <a:r>
              <a:rPr sz="2000" dirty="0" err="1"/>
              <a:t>지역</a:t>
            </a:r>
            <a:r>
              <a:rPr sz="2000" dirty="0"/>
              <a:t> </a:t>
            </a:r>
            <a:r>
              <a:rPr sz="2000" dirty="0" err="1"/>
              <a:t>수용성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D2B41-031C-4A8D-8D0C-6CB4BEF6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39A01-D671-4049-9DFE-29A8E2F3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15.4.2 정책수단(요약)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초기</a:t>
            </a:r>
            <a:r>
              <a:rPr sz="2000" dirty="0"/>
              <a:t> </a:t>
            </a:r>
            <a:r>
              <a:rPr sz="2000" dirty="0" err="1"/>
              <a:t>확산</a:t>
            </a:r>
            <a:r>
              <a:rPr sz="2000" dirty="0"/>
              <a:t>: </a:t>
            </a:r>
            <a:r>
              <a:rPr sz="2000" dirty="0" err="1"/>
              <a:t>수익</a:t>
            </a:r>
            <a:r>
              <a:rPr sz="2000" dirty="0"/>
              <a:t> </a:t>
            </a:r>
            <a:r>
              <a:rPr sz="2000" dirty="0" err="1"/>
              <a:t>불확실성</a:t>
            </a:r>
            <a:r>
              <a:rPr sz="2000" dirty="0"/>
              <a:t> </a:t>
            </a:r>
            <a:r>
              <a:rPr sz="2000" dirty="0" err="1"/>
              <a:t>완화</a:t>
            </a:r>
            <a:r>
              <a:rPr sz="2000" dirty="0"/>
              <a:t>(FIT/RPS/</a:t>
            </a:r>
            <a:r>
              <a:rPr sz="2000" dirty="0" err="1"/>
              <a:t>장기계약</a:t>
            </a:r>
            <a:r>
              <a:rPr sz="2000" dirty="0"/>
              <a:t> 등)</a:t>
            </a:r>
          </a:p>
          <a:p>
            <a:pPr>
              <a:defRPr sz="2200"/>
            </a:pPr>
            <a:r>
              <a:rPr sz="2000" dirty="0" err="1"/>
              <a:t>시장</a:t>
            </a:r>
            <a:r>
              <a:rPr sz="2000" dirty="0"/>
              <a:t> </a:t>
            </a:r>
            <a:r>
              <a:rPr sz="2000" dirty="0" err="1"/>
              <a:t>성숙</a:t>
            </a:r>
            <a:r>
              <a:rPr sz="2000" dirty="0"/>
              <a:t>: </a:t>
            </a:r>
            <a:r>
              <a:rPr sz="2000" dirty="0" err="1"/>
              <a:t>경쟁입찰·시장통합으로</a:t>
            </a:r>
            <a:r>
              <a:rPr sz="2000" dirty="0"/>
              <a:t> </a:t>
            </a:r>
            <a:r>
              <a:rPr sz="2000" dirty="0" err="1"/>
              <a:t>비용</a:t>
            </a:r>
            <a:r>
              <a:rPr sz="2000" dirty="0"/>
              <a:t> </a:t>
            </a:r>
            <a:r>
              <a:rPr sz="2000" dirty="0" err="1"/>
              <a:t>절감</a:t>
            </a:r>
            <a:r>
              <a:rPr sz="2000" dirty="0"/>
              <a:t> </a:t>
            </a:r>
            <a:r>
              <a:rPr sz="2000" dirty="0" err="1"/>
              <a:t>유도</a:t>
            </a:r>
            <a:endParaRPr sz="2000" dirty="0"/>
          </a:p>
          <a:p>
            <a:pPr>
              <a:defRPr sz="2200"/>
            </a:pPr>
            <a:r>
              <a:rPr sz="2000" dirty="0" err="1"/>
              <a:t>동반과제</a:t>
            </a:r>
            <a:r>
              <a:rPr sz="2000" dirty="0"/>
              <a:t>: 망 </a:t>
            </a:r>
            <a:r>
              <a:rPr sz="2000" dirty="0" err="1"/>
              <a:t>투자계획</a:t>
            </a:r>
            <a:r>
              <a:rPr sz="2000" dirty="0"/>
              <a:t>, </a:t>
            </a:r>
            <a:r>
              <a:rPr sz="2000" dirty="0" err="1"/>
              <a:t>계통연계</a:t>
            </a:r>
            <a:r>
              <a:rPr sz="2000" dirty="0"/>
              <a:t> </a:t>
            </a:r>
            <a:r>
              <a:rPr sz="2000" dirty="0" err="1"/>
              <a:t>규칙</a:t>
            </a:r>
            <a:r>
              <a:rPr sz="2000" dirty="0"/>
              <a:t>, </a:t>
            </a:r>
            <a:r>
              <a:rPr sz="2000" dirty="0" err="1"/>
              <a:t>저장</a:t>
            </a:r>
            <a:r>
              <a:rPr sz="2000" dirty="0"/>
              <a:t>/</a:t>
            </a:r>
            <a:r>
              <a:rPr sz="2000" dirty="0" err="1"/>
              <a:t>유연성</a:t>
            </a:r>
            <a:r>
              <a:rPr sz="2000" dirty="0"/>
              <a:t> </a:t>
            </a:r>
            <a:r>
              <a:rPr sz="2000" dirty="0" err="1"/>
              <a:t>자원</a:t>
            </a:r>
            <a:r>
              <a:rPr sz="2000" dirty="0"/>
              <a:t> </a:t>
            </a:r>
            <a:r>
              <a:rPr sz="2000" dirty="0" err="1"/>
              <a:t>보상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0380D-C21A-4B1F-865A-B1A41A26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11758-D13B-406E-B5D3-06603EBE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15.4.3 전기화와 연료 전환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전기화</a:t>
            </a:r>
            <a:r>
              <a:rPr sz="2000" dirty="0"/>
              <a:t>: </a:t>
            </a:r>
            <a:r>
              <a:rPr sz="2000" dirty="0" err="1"/>
              <a:t>전력망</a:t>
            </a:r>
            <a:r>
              <a:rPr sz="2000" dirty="0"/>
              <a:t> </a:t>
            </a:r>
            <a:r>
              <a:rPr sz="2000" dirty="0" err="1"/>
              <a:t>탈탄소화가</a:t>
            </a:r>
            <a:r>
              <a:rPr sz="2000" dirty="0"/>
              <a:t> </a:t>
            </a:r>
            <a:r>
              <a:rPr sz="2000" dirty="0" err="1"/>
              <a:t>진행될수록</a:t>
            </a:r>
            <a:r>
              <a:rPr sz="2000" dirty="0"/>
              <a:t> </a:t>
            </a:r>
            <a:r>
              <a:rPr sz="2000" dirty="0" err="1"/>
              <a:t>감축효과</a:t>
            </a:r>
            <a:r>
              <a:rPr sz="2000" dirty="0"/>
              <a:t> </a:t>
            </a:r>
            <a:r>
              <a:rPr sz="2000" dirty="0" err="1"/>
              <a:t>확대</a:t>
            </a:r>
            <a:r>
              <a:rPr sz="2000" dirty="0"/>
              <a:t>(</a:t>
            </a:r>
            <a:r>
              <a:rPr sz="2000" dirty="0" err="1"/>
              <a:t>전기차·히트펌프</a:t>
            </a:r>
            <a:r>
              <a:rPr sz="2000" dirty="0"/>
              <a:t> 등)</a:t>
            </a:r>
          </a:p>
          <a:p>
            <a:pPr>
              <a:defRPr sz="2200"/>
            </a:pPr>
            <a:r>
              <a:rPr sz="2000" dirty="0" err="1"/>
              <a:t>산업</a:t>
            </a:r>
            <a:r>
              <a:rPr sz="2000" dirty="0"/>
              <a:t> </a:t>
            </a:r>
            <a:r>
              <a:rPr sz="2000" dirty="0" err="1"/>
              <a:t>고온공정은</a:t>
            </a:r>
            <a:r>
              <a:rPr sz="2000" dirty="0"/>
              <a:t> </a:t>
            </a:r>
            <a:r>
              <a:rPr sz="2000" dirty="0" err="1"/>
              <a:t>전기화</a:t>
            </a:r>
            <a:r>
              <a:rPr sz="2000" dirty="0"/>
              <a:t> </a:t>
            </a:r>
            <a:r>
              <a:rPr sz="2000" dirty="0" err="1"/>
              <a:t>제약이</a:t>
            </a:r>
            <a:r>
              <a:rPr sz="2000" dirty="0"/>
              <a:t> 커 </a:t>
            </a:r>
            <a:r>
              <a:rPr sz="2000" dirty="0" err="1"/>
              <a:t>연료</a:t>
            </a:r>
            <a:r>
              <a:rPr sz="2000" dirty="0"/>
              <a:t> </a:t>
            </a:r>
            <a:r>
              <a:rPr sz="2000" dirty="0" err="1"/>
              <a:t>전환이</a:t>
            </a:r>
            <a:r>
              <a:rPr sz="2000" dirty="0"/>
              <a:t> </a:t>
            </a:r>
            <a:r>
              <a:rPr sz="2000" dirty="0" err="1"/>
              <a:t>중요</a:t>
            </a:r>
            <a:endParaRPr sz="2000" dirty="0"/>
          </a:p>
          <a:p>
            <a:pPr>
              <a:defRPr sz="2200"/>
            </a:pPr>
            <a:r>
              <a:rPr sz="2000" dirty="0" err="1"/>
              <a:t>연료</a:t>
            </a:r>
            <a:r>
              <a:rPr sz="2000" dirty="0"/>
              <a:t> </a:t>
            </a:r>
            <a:r>
              <a:rPr sz="2000" dirty="0" err="1"/>
              <a:t>전환</a:t>
            </a:r>
            <a:r>
              <a:rPr sz="2000" dirty="0"/>
              <a:t>: </a:t>
            </a:r>
            <a:r>
              <a:rPr sz="2000" dirty="0" err="1"/>
              <a:t>석탄</a:t>
            </a:r>
            <a:r>
              <a:rPr sz="2000" dirty="0"/>
              <a:t>/</a:t>
            </a:r>
            <a:r>
              <a:rPr sz="2000" dirty="0" err="1"/>
              <a:t>중유</a:t>
            </a:r>
            <a:r>
              <a:rPr sz="2000" dirty="0"/>
              <a:t> → </a:t>
            </a:r>
            <a:r>
              <a:rPr sz="2000" dirty="0" err="1"/>
              <a:t>가스</a:t>
            </a:r>
            <a:r>
              <a:rPr sz="2000" dirty="0"/>
              <a:t> → (</a:t>
            </a:r>
            <a:r>
              <a:rPr sz="2000" dirty="0" err="1"/>
              <a:t>장기</a:t>
            </a:r>
            <a:r>
              <a:rPr sz="2000" dirty="0"/>
              <a:t>) </a:t>
            </a:r>
            <a:r>
              <a:rPr sz="2000" dirty="0" err="1"/>
              <a:t>수소·암모니아·합성연료</a:t>
            </a:r>
            <a:r>
              <a:rPr sz="2000" dirty="0"/>
              <a:t> 등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455BF-064D-41FF-9219-80DE1D99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688AC-6DD1-4791-BB5F-0C2B0070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900"/>
              <a:t>15.4.4 CCUS와 CDR: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산업</a:t>
            </a:r>
            <a:r>
              <a:rPr sz="2000" dirty="0"/>
              <a:t> </a:t>
            </a:r>
            <a:r>
              <a:rPr sz="2000" dirty="0" err="1"/>
              <a:t>공정배출</a:t>
            </a:r>
            <a:r>
              <a:rPr sz="2000" dirty="0"/>
              <a:t> 등 ‘</a:t>
            </a:r>
            <a:r>
              <a:rPr sz="2000" dirty="0" err="1"/>
              <a:t>감축</a:t>
            </a:r>
            <a:r>
              <a:rPr sz="2000" dirty="0"/>
              <a:t> </a:t>
            </a:r>
            <a:r>
              <a:rPr sz="2000" dirty="0" err="1"/>
              <a:t>한계</a:t>
            </a:r>
            <a:r>
              <a:rPr sz="2000" dirty="0"/>
              <a:t>’ </a:t>
            </a:r>
            <a:r>
              <a:rPr sz="2000" dirty="0" err="1"/>
              <a:t>부문에서</a:t>
            </a:r>
            <a:r>
              <a:rPr sz="2000" dirty="0"/>
              <a:t> </a:t>
            </a:r>
            <a:r>
              <a:rPr sz="2000" dirty="0" err="1"/>
              <a:t>보완적</a:t>
            </a:r>
            <a:r>
              <a:rPr sz="2000" dirty="0"/>
              <a:t> </a:t>
            </a:r>
            <a:r>
              <a:rPr sz="2000" dirty="0" err="1"/>
              <a:t>역할</a:t>
            </a:r>
            <a:endParaRPr sz="2000" dirty="0"/>
          </a:p>
          <a:p>
            <a:pPr>
              <a:defRPr sz="2200"/>
            </a:pPr>
            <a:r>
              <a:rPr sz="2000" dirty="0"/>
              <a:t>CCUS: </a:t>
            </a:r>
            <a:r>
              <a:rPr sz="2000" dirty="0" err="1"/>
              <a:t>배출원</a:t>
            </a:r>
            <a:r>
              <a:rPr sz="2000" dirty="0"/>
              <a:t> </a:t>
            </a:r>
            <a:r>
              <a:rPr sz="2000" dirty="0" err="1"/>
              <a:t>포집·수송·저장</a:t>
            </a:r>
            <a:r>
              <a:rPr sz="2000" dirty="0"/>
              <a:t>/</a:t>
            </a:r>
            <a:r>
              <a:rPr sz="2000" dirty="0" err="1"/>
              <a:t>활용</a:t>
            </a:r>
            <a:endParaRPr sz="2000" dirty="0"/>
          </a:p>
          <a:p>
            <a:pPr>
              <a:defRPr sz="2200"/>
            </a:pPr>
            <a:r>
              <a:rPr sz="2000" dirty="0"/>
              <a:t>CDR: </a:t>
            </a:r>
            <a:r>
              <a:rPr sz="2000" dirty="0" err="1"/>
              <a:t>대기</a:t>
            </a:r>
            <a:r>
              <a:rPr sz="2000" dirty="0"/>
              <a:t> 중 CO₂ </a:t>
            </a:r>
            <a:r>
              <a:rPr sz="2000" dirty="0" err="1"/>
              <a:t>제거</a:t>
            </a:r>
            <a:r>
              <a:rPr sz="2000" dirty="0"/>
              <a:t>(</a:t>
            </a:r>
            <a:r>
              <a:rPr sz="2000" dirty="0" err="1"/>
              <a:t>조림·BECCS·DAC</a:t>
            </a:r>
            <a:r>
              <a:rPr sz="2000" dirty="0"/>
              <a:t> 등) → </a:t>
            </a:r>
            <a:r>
              <a:rPr sz="2000" dirty="0" err="1"/>
              <a:t>순배출</a:t>
            </a:r>
            <a:r>
              <a:rPr sz="2000" dirty="0"/>
              <a:t> </a:t>
            </a:r>
            <a:r>
              <a:rPr sz="2000" dirty="0" err="1"/>
              <a:t>제로</a:t>
            </a:r>
            <a:r>
              <a:rPr sz="2000" dirty="0"/>
              <a:t>/</a:t>
            </a:r>
            <a:r>
              <a:rPr sz="2000" dirty="0" err="1"/>
              <a:t>마이너스</a:t>
            </a:r>
            <a:r>
              <a:rPr sz="2000" dirty="0"/>
              <a:t> </a:t>
            </a:r>
            <a:r>
              <a:rPr sz="2000" dirty="0" err="1"/>
              <a:t>보완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77E40-0C5D-4E95-A2D9-FA04326A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93DB7-5F40-4A15-B503-AB9350B5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15.5 기후변화 적응 전략: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적응은</a:t>
            </a:r>
            <a:r>
              <a:rPr sz="2000" dirty="0"/>
              <a:t> </a:t>
            </a:r>
            <a:r>
              <a:rPr sz="2000" dirty="0" err="1"/>
              <a:t>현실화된</a:t>
            </a:r>
            <a:r>
              <a:rPr sz="2000" dirty="0"/>
              <a:t> </a:t>
            </a:r>
            <a:r>
              <a:rPr sz="2000" dirty="0" err="1"/>
              <a:t>기후위험에</a:t>
            </a:r>
            <a:r>
              <a:rPr sz="2000" dirty="0"/>
              <a:t> </a:t>
            </a:r>
            <a:r>
              <a:rPr sz="2000" dirty="0" err="1"/>
              <a:t>대비해</a:t>
            </a:r>
            <a:r>
              <a:rPr sz="2000" dirty="0"/>
              <a:t> </a:t>
            </a:r>
            <a:r>
              <a:rPr sz="2000" dirty="0" err="1"/>
              <a:t>피해를</a:t>
            </a:r>
            <a:r>
              <a:rPr sz="2000" dirty="0"/>
              <a:t> </a:t>
            </a:r>
            <a:r>
              <a:rPr sz="2000" dirty="0" err="1"/>
              <a:t>줄이고</a:t>
            </a:r>
            <a:r>
              <a:rPr sz="2000" dirty="0"/>
              <a:t> </a:t>
            </a:r>
            <a:r>
              <a:rPr sz="2000" dirty="0" err="1"/>
              <a:t>복구능력을</a:t>
            </a:r>
            <a:r>
              <a:rPr sz="2000" dirty="0"/>
              <a:t> </a:t>
            </a:r>
            <a:r>
              <a:rPr sz="2000" dirty="0" err="1"/>
              <a:t>높이는</a:t>
            </a:r>
            <a:r>
              <a:rPr sz="2000" dirty="0"/>
              <a:t> </a:t>
            </a:r>
            <a:r>
              <a:rPr sz="2000" dirty="0" err="1"/>
              <a:t>전략</a:t>
            </a:r>
            <a:endParaRPr sz="2000" dirty="0"/>
          </a:p>
          <a:p>
            <a:pPr>
              <a:defRPr sz="2200"/>
            </a:pPr>
            <a:r>
              <a:rPr sz="2000" dirty="0" err="1"/>
              <a:t>에너지</a:t>
            </a:r>
            <a:r>
              <a:rPr sz="2000" dirty="0"/>
              <a:t> </a:t>
            </a:r>
            <a:r>
              <a:rPr sz="2000" dirty="0" err="1"/>
              <a:t>부문</a:t>
            </a:r>
            <a:r>
              <a:rPr sz="2000" dirty="0"/>
              <a:t> </a:t>
            </a:r>
            <a:r>
              <a:rPr sz="2000" dirty="0" err="1"/>
              <a:t>목표</a:t>
            </a:r>
            <a:r>
              <a:rPr sz="2000" dirty="0"/>
              <a:t>: </a:t>
            </a:r>
            <a:r>
              <a:rPr sz="2000" dirty="0" err="1"/>
              <a:t>공급</a:t>
            </a:r>
            <a:r>
              <a:rPr sz="2000" dirty="0"/>
              <a:t> </a:t>
            </a:r>
            <a:r>
              <a:rPr sz="2000" dirty="0" err="1"/>
              <a:t>신뢰도</a:t>
            </a:r>
            <a:r>
              <a:rPr sz="2000" dirty="0"/>
              <a:t> </a:t>
            </a:r>
            <a:r>
              <a:rPr sz="2000" dirty="0" err="1"/>
              <a:t>유지</a:t>
            </a:r>
            <a:r>
              <a:rPr sz="2000" dirty="0"/>
              <a:t> + </a:t>
            </a:r>
            <a:r>
              <a:rPr sz="2000" dirty="0" err="1"/>
              <a:t>피해</a:t>
            </a:r>
            <a:r>
              <a:rPr sz="2000" dirty="0"/>
              <a:t> </a:t>
            </a:r>
            <a:r>
              <a:rPr sz="2000" dirty="0" err="1"/>
              <a:t>최소화</a:t>
            </a:r>
            <a:r>
              <a:rPr sz="2000" dirty="0"/>
              <a:t> + </a:t>
            </a:r>
            <a:r>
              <a:rPr sz="2000" dirty="0" err="1"/>
              <a:t>빠른</a:t>
            </a:r>
            <a:r>
              <a:rPr sz="2000" dirty="0"/>
              <a:t> </a:t>
            </a:r>
            <a:r>
              <a:rPr sz="2000" dirty="0" err="1"/>
              <a:t>복구</a:t>
            </a:r>
            <a:endParaRPr sz="2000" dirty="0"/>
          </a:p>
          <a:p>
            <a:pPr>
              <a:defRPr sz="2200"/>
            </a:pPr>
            <a:r>
              <a:rPr sz="2000" dirty="0" err="1"/>
              <a:t>핵심</a:t>
            </a:r>
            <a:r>
              <a:rPr sz="2000" dirty="0"/>
              <a:t>: </a:t>
            </a:r>
            <a:r>
              <a:rPr sz="2000" dirty="0" err="1"/>
              <a:t>인프라</a:t>
            </a:r>
            <a:r>
              <a:rPr sz="2000" dirty="0"/>
              <a:t> </a:t>
            </a:r>
            <a:r>
              <a:rPr sz="2000" dirty="0" err="1"/>
              <a:t>회복력</a:t>
            </a:r>
            <a:r>
              <a:rPr sz="2000" dirty="0"/>
              <a:t>, </a:t>
            </a:r>
            <a:r>
              <a:rPr sz="2000" dirty="0" err="1"/>
              <a:t>분산화·스마트화</a:t>
            </a:r>
            <a:r>
              <a:rPr sz="2000" dirty="0"/>
              <a:t>, </a:t>
            </a:r>
            <a:r>
              <a:rPr sz="2000" dirty="0" err="1"/>
              <a:t>수요변동</a:t>
            </a:r>
            <a:r>
              <a:rPr sz="2000" dirty="0"/>
              <a:t> </a:t>
            </a:r>
            <a:r>
              <a:rPr sz="2000" dirty="0" err="1"/>
              <a:t>대응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D1276-95E6-4816-B10E-C7E39F71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3BF93-B134-46D2-BA4B-819834E5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800"/>
              <a:t>15.5.1 에너지 인프라의 기후 회복력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위험요인</a:t>
            </a:r>
            <a:r>
              <a:rPr sz="2000" dirty="0"/>
              <a:t>: </a:t>
            </a:r>
            <a:r>
              <a:rPr sz="2000" dirty="0" err="1"/>
              <a:t>고온·가뭄·침수·태풍·산불·한파</a:t>
            </a:r>
            <a:r>
              <a:rPr sz="2000" dirty="0"/>
              <a:t> 등 </a:t>
            </a:r>
            <a:r>
              <a:rPr sz="2000" dirty="0" err="1"/>
              <a:t>복합재난</a:t>
            </a:r>
            <a:endParaRPr sz="2000" dirty="0"/>
          </a:p>
          <a:p>
            <a:pPr>
              <a:defRPr sz="2200"/>
            </a:pPr>
            <a:r>
              <a:rPr sz="2000" dirty="0" err="1"/>
              <a:t>대응</a:t>
            </a:r>
            <a:r>
              <a:rPr sz="2000" dirty="0"/>
              <a:t>: </a:t>
            </a:r>
            <a:r>
              <a:rPr sz="2000" dirty="0" err="1"/>
              <a:t>입지·설계</a:t>
            </a:r>
            <a:r>
              <a:rPr sz="2000" dirty="0"/>
              <a:t> </a:t>
            </a:r>
            <a:r>
              <a:rPr sz="2000" dirty="0" err="1"/>
              <a:t>기준</a:t>
            </a:r>
            <a:r>
              <a:rPr sz="2000" dirty="0"/>
              <a:t> </a:t>
            </a:r>
            <a:r>
              <a:rPr sz="2000" dirty="0" err="1"/>
              <a:t>강화</a:t>
            </a:r>
            <a:r>
              <a:rPr sz="2000" dirty="0"/>
              <a:t>, </a:t>
            </a:r>
            <a:r>
              <a:rPr sz="2000" dirty="0" err="1"/>
              <a:t>방재·방수·냉각능력</a:t>
            </a:r>
            <a:r>
              <a:rPr sz="2000" dirty="0"/>
              <a:t> </a:t>
            </a:r>
            <a:r>
              <a:rPr sz="2000" dirty="0" err="1"/>
              <a:t>보강</a:t>
            </a:r>
            <a:r>
              <a:rPr sz="2000" dirty="0"/>
              <a:t>, </a:t>
            </a:r>
            <a:r>
              <a:rPr sz="2000" dirty="0" err="1"/>
              <a:t>운영</a:t>
            </a:r>
            <a:r>
              <a:rPr sz="2000" dirty="0"/>
              <a:t> </a:t>
            </a:r>
            <a:r>
              <a:rPr sz="2000" dirty="0" err="1"/>
              <a:t>유연성</a:t>
            </a:r>
            <a:r>
              <a:rPr sz="2000" dirty="0"/>
              <a:t> </a:t>
            </a:r>
            <a:r>
              <a:rPr sz="2000" dirty="0" err="1"/>
              <a:t>확대</a:t>
            </a:r>
            <a:endParaRPr sz="2000" dirty="0"/>
          </a:p>
          <a:p>
            <a:pPr>
              <a:defRPr sz="2200"/>
            </a:pPr>
            <a:r>
              <a:rPr sz="2000" dirty="0" err="1"/>
              <a:t>디지털</a:t>
            </a:r>
            <a:r>
              <a:rPr sz="2000" dirty="0"/>
              <a:t>: </a:t>
            </a:r>
            <a:r>
              <a:rPr sz="2000" dirty="0" err="1"/>
              <a:t>센서</a:t>
            </a:r>
            <a:r>
              <a:rPr sz="2000" dirty="0"/>
              <a:t>/</a:t>
            </a:r>
            <a:r>
              <a:rPr sz="2000" dirty="0" err="1"/>
              <a:t>예측</a:t>
            </a:r>
            <a:r>
              <a:rPr sz="2000" dirty="0"/>
              <a:t>/</a:t>
            </a:r>
            <a:r>
              <a:rPr sz="2000" dirty="0" err="1"/>
              <a:t>디지털트윈으로</a:t>
            </a:r>
            <a:r>
              <a:rPr sz="2000" dirty="0"/>
              <a:t> </a:t>
            </a:r>
            <a:r>
              <a:rPr sz="2000" dirty="0" err="1"/>
              <a:t>조기경보·복구시간</a:t>
            </a:r>
            <a:r>
              <a:rPr sz="2000" dirty="0"/>
              <a:t> </a:t>
            </a:r>
            <a:r>
              <a:rPr sz="2000" dirty="0" err="1"/>
              <a:t>단축</a:t>
            </a:r>
            <a:r>
              <a:rPr sz="2000" dirty="0"/>
              <a:t>(</a:t>
            </a:r>
            <a:r>
              <a:rPr sz="2000" dirty="0" err="1"/>
              <a:t>사이버보안</a:t>
            </a:r>
            <a:r>
              <a:rPr sz="2000" dirty="0"/>
              <a:t> </a:t>
            </a:r>
            <a:r>
              <a:rPr sz="2000" dirty="0" err="1"/>
              <a:t>포함</a:t>
            </a:r>
            <a:r>
              <a:rPr sz="20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54263-FE34-4831-874A-8E4DEC52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1C7E1-210F-4FDF-A8A7-437F96B1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800"/>
              <a:t>15.5.2 분산형 전원과 스마트그리드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분산형</a:t>
            </a:r>
            <a:r>
              <a:rPr sz="2000" dirty="0"/>
              <a:t> </a:t>
            </a:r>
            <a:r>
              <a:rPr sz="2000" dirty="0" err="1"/>
              <a:t>전원</a:t>
            </a:r>
            <a:r>
              <a:rPr sz="2000" dirty="0"/>
              <a:t>: </a:t>
            </a:r>
            <a:r>
              <a:rPr sz="2000" dirty="0" err="1"/>
              <a:t>소비지</a:t>
            </a:r>
            <a:r>
              <a:rPr sz="2000" dirty="0"/>
              <a:t> </a:t>
            </a:r>
            <a:r>
              <a:rPr sz="2000" dirty="0" err="1"/>
              <a:t>인근</a:t>
            </a:r>
            <a:r>
              <a:rPr sz="2000" dirty="0"/>
              <a:t> </a:t>
            </a:r>
            <a:r>
              <a:rPr sz="2000" dirty="0" err="1"/>
              <a:t>소규모</a:t>
            </a:r>
            <a:r>
              <a:rPr sz="2000" dirty="0"/>
              <a:t> </a:t>
            </a:r>
            <a:r>
              <a:rPr sz="2000" dirty="0" err="1"/>
              <a:t>발전</a:t>
            </a:r>
            <a:r>
              <a:rPr sz="2000" dirty="0"/>
              <a:t> → </a:t>
            </a:r>
            <a:r>
              <a:rPr sz="2000" dirty="0" err="1"/>
              <a:t>송배전</a:t>
            </a:r>
            <a:r>
              <a:rPr sz="2000" dirty="0"/>
              <a:t> </a:t>
            </a:r>
            <a:r>
              <a:rPr sz="2000" dirty="0" err="1"/>
              <a:t>손실</a:t>
            </a:r>
            <a:r>
              <a:rPr sz="2000" dirty="0"/>
              <a:t>↓, </a:t>
            </a:r>
            <a:r>
              <a:rPr sz="2000" dirty="0" err="1"/>
              <a:t>지역</a:t>
            </a:r>
            <a:r>
              <a:rPr sz="2000" dirty="0"/>
              <a:t> </a:t>
            </a:r>
            <a:r>
              <a:rPr sz="2000" dirty="0" err="1"/>
              <a:t>자립·회복력</a:t>
            </a:r>
            <a:r>
              <a:rPr sz="2000" dirty="0"/>
              <a:t>↑</a:t>
            </a:r>
          </a:p>
          <a:p>
            <a:pPr>
              <a:defRPr sz="2200"/>
            </a:pPr>
            <a:r>
              <a:rPr sz="2000" dirty="0" err="1"/>
              <a:t>스마트그리드</a:t>
            </a:r>
            <a:r>
              <a:rPr sz="2000" dirty="0"/>
              <a:t>: </a:t>
            </a:r>
            <a:r>
              <a:rPr sz="2000" dirty="0" err="1"/>
              <a:t>AMI·통신·AI로</a:t>
            </a:r>
            <a:r>
              <a:rPr sz="2000" dirty="0"/>
              <a:t> </a:t>
            </a:r>
            <a:r>
              <a:rPr sz="2000" dirty="0" err="1"/>
              <a:t>수요·공급·저장·가격을</a:t>
            </a:r>
            <a:r>
              <a:rPr sz="2000" dirty="0"/>
              <a:t> </a:t>
            </a:r>
            <a:r>
              <a:rPr sz="2000" dirty="0" err="1"/>
              <a:t>실시간</a:t>
            </a:r>
            <a:r>
              <a:rPr sz="2000" dirty="0"/>
              <a:t> </a:t>
            </a:r>
            <a:r>
              <a:rPr sz="2000" dirty="0" err="1"/>
              <a:t>최적화</a:t>
            </a:r>
            <a:endParaRPr sz="2000" dirty="0"/>
          </a:p>
          <a:p>
            <a:pPr>
              <a:defRPr sz="2200"/>
            </a:pPr>
            <a:r>
              <a:rPr sz="2000" dirty="0" err="1"/>
              <a:t>마이크로그리드</a:t>
            </a:r>
            <a:r>
              <a:rPr sz="2000" dirty="0"/>
              <a:t>/VPP 등 </a:t>
            </a:r>
            <a:r>
              <a:rPr sz="2000" dirty="0" err="1"/>
              <a:t>유연한</a:t>
            </a:r>
            <a:r>
              <a:rPr sz="2000" dirty="0"/>
              <a:t> </a:t>
            </a:r>
            <a:r>
              <a:rPr sz="2000" dirty="0" err="1"/>
              <a:t>운영</a:t>
            </a:r>
            <a:r>
              <a:rPr sz="2000" dirty="0"/>
              <a:t> </a:t>
            </a:r>
            <a:r>
              <a:rPr sz="2000" dirty="0" err="1"/>
              <a:t>모델</a:t>
            </a:r>
            <a:r>
              <a:rPr sz="2000" dirty="0"/>
              <a:t> </a:t>
            </a:r>
            <a:r>
              <a:rPr sz="2000" dirty="0" err="1"/>
              <a:t>확산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B144D-A19A-42B3-B004-44676027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0A054-EC32-4B28-A3B8-7F6DC473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15.5.3 수요변동 대응과 적응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폭염</a:t>
            </a:r>
            <a:r>
              <a:rPr sz="2000" dirty="0"/>
              <a:t>/</a:t>
            </a:r>
            <a:r>
              <a:rPr sz="2000" dirty="0" err="1"/>
              <a:t>혹한으로</a:t>
            </a:r>
            <a:r>
              <a:rPr sz="2000" dirty="0"/>
              <a:t> </a:t>
            </a:r>
            <a:r>
              <a:rPr sz="2000" dirty="0" err="1"/>
              <a:t>수요</a:t>
            </a:r>
            <a:r>
              <a:rPr sz="2000" dirty="0"/>
              <a:t> </a:t>
            </a:r>
            <a:r>
              <a:rPr sz="2000" dirty="0" err="1"/>
              <a:t>피크의</a:t>
            </a:r>
            <a:r>
              <a:rPr sz="2000" dirty="0"/>
              <a:t> </a:t>
            </a:r>
            <a:r>
              <a:rPr sz="2000" dirty="0" err="1"/>
              <a:t>변동성이</a:t>
            </a:r>
            <a:r>
              <a:rPr sz="2000" dirty="0"/>
              <a:t> </a:t>
            </a:r>
            <a:r>
              <a:rPr sz="2000" dirty="0" err="1"/>
              <a:t>커짐</a:t>
            </a:r>
            <a:r>
              <a:rPr sz="2000" dirty="0"/>
              <a:t> → </a:t>
            </a:r>
            <a:r>
              <a:rPr sz="2000" dirty="0" err="1"/>
              <a:t>예비력·망</a:t>
            </a:r>
            <a:r>
              <a:rPr sz="2000" dirty="0"/>
              <a:t> </a:t>
            </a:r>
            <a:r>
              <a:rPr sz="2000" dirty="0" err="1"/>
              <a:t>투자</a:t>
            </a:r>
            <a:r>
              <a:rPr sz="2000" dirty="0"/>
              <a:t> </a:t>
            </a:r>
            <a:r>
              <a:rPr sz="2000" dirty="0" err="1"/>
              <a:t>부담</a:t>
            </a:r>
            <a:r>
              <a:rPr sz="2000" dirty="0"/>
              <a:t> </a:t>
            </a:r>
            <a:r>
              <a:rPr sz="2000" dirty="0" err="1"/>
              <a:t>증가</a:t>
            </a:r>
            <a:endParaRPr sz="2000" dirty="0"/>
          </a:p>
          <a:p>
            <a:pPr>
              <a:defRPr sz="2200"/>
            </a:pPr>
            <a:r>
              <a:rPr sz="2000" dirty="0" err="1"/>
              <a:t>대응</a:t>
            </a:r>
            <a:r>
              <a:rPr sz="2000" dirty="0"/>
              <a:t>: DR, </a:t>
            </a:r>
            <a:r>
              <a:rPr sz="2000" dirty="0" err="1"/>
              <a:t>요금제</a:t>
            </a:r>
            <a:r>
              <a:rPr sz="2000" dirty="0"/>
              <a:t> </a:t>
            </a:r>
            <a:r>
              <a:rPr sz="2000" dirty="0" err="1"/>
              <a:t>개편</a:t>
            </a:r>
            <a:r>
              <a:rPr sz="2000" dirty="0"/>
              <a:t>, HEMS, ESS </a:t>
            </a:r>
            <a:r>
              <a:rPr sz="2000" dirty="0" err="1"/>
              <a:t>연계로</a:t>
            </a:r>
            <a:r>
              <a:rPr sz="2000" dirty="0"/>
              <a:t> </a:t>
            </a:r>
            <a:r>
              <a:rPr sz="2000" dirty="0" err="1"/>
              <a:t>피크</a:t>
            </a:r>
            <a:r>
              <a:rPr sz="2000" dirty="0"/>
              <a:t> </a:t>
            </a:r>
            <a:r>
              <a:rPr sz="2000" dirty="0" err="1"/>
              <a:t>완화</a:t>
            </a:r>
            <a:r>
              <a:rPr sz="2000" dirty="0"/>
              <a:t> 및 </a:t>
            </a:r>
            <a:r>
              <a:rPr sz="2000" dirty="0" err="1"/>
              <a:t>시간대</a:t>
            </a:r>
            <a:r>
              <a:rPr sz="2000" dirty="0"/>
              <a:t> </a:t>
            </a:r>
            <a:r>
              <a:rPr sz="2000" dirty="0" err="1"/>
              <a:t>이동</a:t>
            </a:r>
            <a:endParaRPr sz="2000" dirty="0"/>
          </a:p>
          <a:p>
            <a:pPr>
              <a:defRPr sz="2200"/>
            </a:pPr>
            <a:r>
              <a:rPr sz="2000" dirty="0" err="1"/>
              <a:t>기후데이터를</a:t>
            </a:r>
            <a:r>
              <a:rPr sz="2000" dirty="0"/>
              <a:t> </a:t>
            </a:r>
            <a:r>
              <a:rPr sz="2000" dirty="0" err="1"/>
              <a:t>수요예측·계획에</a:t>
            </a:r>
            <a:r>
              <a:rPr sz="2000" dirty="0"/>
              <a:t> </a:t>
            </a:r>
            <a:r>
              <a:rPr sz="2000" dirty="0" err="1"/>
              <a:t>통합해</a:t>
            </a:r>
            <a:r>
              <a:rPr sz="2000" dirty="0"/>
              <a:t> </a:t>
            </a:r>
            <a:r>
              <a:rPr sz="2000" dirty="0" err="1"/>
              <a:t>구조적</a:t>
            </a:r>
            <a:r>
              <a:rPr sz="2000" dirty="0"/>
              <a:t> </a:t>
            </a:r>
            <a:r>
              <a:rPr sz="2000" dirty="0" err="1"/>
              <a:t>변화를</a:t>
            </a:r>
            <a:r>
              <a:rPr sz="2000" dirty="0"/>
              <a:t> </a:t>
            </a:r>
            <a:r>
              <a:rPr sz="2000" dirty="0" err="1"/>
              <a:t>반영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E624E-D94E-4A9B-8164-187627CD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50489-D5C3-4074-9DA2-91D0D48B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800"/>
              <a:t>15.6 전환리스크와 좌초자산: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전환리스크</a:t>
            </a:r>
            <a:r>
              <a:rPr sz="2000" dirty="0"/>
              <a:t>: </a:t>
            </a:r>
            <a:r>
              <a:rPr sz="2000" dirty="0" err="1"/>
              <a:t>탈탄소</a:t>
            </a:r>
            <a:r>
              <a:rPr sz="2000" dirty="0"/>
              <a:t> </a:t>
            </a:r>
            <a:r>
              <a:rPr sz="2000" dirty="0" err="1"/>
              <a:t>과정의</a:t>
            </a:r>
            <a:r>
              <a:rPr sz="2000" dirty="0"/>
              <a:t> </a:t>
            </a:r>
            <a:r>
              <a:rPr sz="2000" dirty="0" err="1"/>
              <a:t>정책·기술·시장</a:t>
            </a:r>
            <a:r>
              <a:rPr sz="2000" dirty="0"/>
              <a:t> </a:t>
            </a:r>
            <a:r>
              <a:rPr sz="2000" dirty="0" err="1"/>
              <a:t>변화로</a:t>
            </a:r>
            <a:r>
              <a:rPr sz="2000" dirty="0"/>
              <a:t> </a:t>
            </a:r>
            <a:r>
              <a:rPr sz="2000" dirty="0" err="1"/>
              <a:t>자산가치</a:t>
            </a:r>
            <a:r>
              <a:rPr sz="2000" dirty="0"/>
              <a:t> </a:t>
            </a:r>
            <a:r>
              <a:rPr sz="2000" dirty="0" err="1"/>
              <a:t>하락</a:t>
            </a:r>
            <a:r>
              <a:rPr sz="2000" dirty="0"/>
              <a:t>/</a:t>
            </a:r>
            <a:r>
              <a:rPr sz="2000" dirty="0" err="1"/>
              <a:t>손실</a:t>
            </a:r>
            <a:r>
              <a:rPr sz="2000" dirty="0"/>
              <a:t> </a:t>
            </a:r>
            <a:r>
              <a:rPr sz="2000" dirty="0" err="1"/>
              <a:t>발생</a:t>
            </a:r>
            <a:endParaRPr sz="2000" dirty="0"/>
          </a:p>
          <a:p>
            <a:pPr>
              <a:defRPr sz="2200"/>
            </a:pPr>
            <a:r>
              <a:rPr sz="2000" dirty="0" err="1"/>
              <a:t>좌초자산</a:t>
            </a:r>
            <a:r>
              <a:rPr sz="2000" dirty="0"/>
              <a:t>: </a:t>
            </a:r>
            <a:r>
              <a:rPr sz="2000" dirty="0" err="1"/>
              <a:t>규제</a:t>
            </a:r>
            <a:r>
              <a:rPr sz="2000" dirty="0"/>
              <a:t>/</a:t>
            </a:r>
            <a:r>
              <a:rPr sz="2000" dirty="0" err="1"/>
              <a:t>수요</a:t>
            </a:r>
            <a:r>
              <a:rPr sz="2000" dirty="0"/>
              <a:t> </a:t>
            </a:r>
            <a:r>
              <a:rPr sz="2000" dirty="0" err="1"/>
              <a:t>감소</a:t>
            </a:r>
            <a:r>
              <a:rPr sz="2000" dirty="0"/>
              <a:t>/</a:t>
            </a:r>
            <a:r>
              <a:rPr sz="2000" dirty="0" err="1"/>
              <a:t>기술</a:t>
            </a:r>
            <a:r>
              <a:rPr sz="2000" dirty="0"/>
              <a:t> </a:t>
            </a:r>
            <a:r>
              <a:rPr sz="2000" dirty="0" err="1"/>
              <a:t>대체로</a:t>
            </a:r>
            <a:r>
              <a:rPr sz="2000" dirty="0"/>
              <a:t> </a:t>
            </a:r>
            <a:r>
              <a:rPr sz="2000" dirty="0" err="1"/>
              <a:t>예상</a:t>
            </a:r>
            <a:r>
              <a:rPr sz="2000" dirty="0"/>
              <a:t> </a:t>
            </a:r>
            <a:r>
              <a:rPr sz="2000" dirty="0" err="1"/>
              <a:t>수익을</a:t>
            </a:r>
            <a:r>
              <a:rPr sz="2000" dirty="0"/>
              <a:t> 못 </a:t>
            </a:r>
            <a:r>
              <a:rPr sz="2000" dirty="0" err="1"/>
              <a:t>내는</a:t>
            </a:r>
            <a:r>
              <a:rPr sz="2000" dirty="0"/>
              <a:t> </a:t>
            </a:r>
            <a:r>
              <a:rPr sz="2000" dirty="0" err="1"/>
              <a:t>자산</a:t>
            </a:r>
            <a:endParaRPr sz="2000" dirty="0"/>
          </a:p>
          <a:p>
            <a:pPr>
              <a:defRPr sz="2200"/>
            </a:pPr>
            <a:r>
              <a:rPr sz="2000" dirty="0" err="1"/>
              <a:t>파급</a:t>
            </a:r>
            <a:r>
              <a:rPr sz="2000" dirty="0"/>
              <a:t>: </a:t>
            </a:r>
            <a:r>
              <a:rPr sz="2000" dirty="0" err="1"/>
              <a:t>기업</a:t>
            </a:r>
            <a:r>
              <a:rPr sz="2000" dirty="0"/>
              <a:t> </a:t>
            </a:r>
            <a:r>
              <a:rPr sz="2000" dirty="0" err="1"/>
              <a:t>재무·금융시스템·지역경제·고용에</a:t>
            </a:r>
            <a:r>
              <a:rPr sz="2000" dirty="0"/>
              <a:t> </a:t>
            </a:r>
            <a:r>
              <a:rPr sz="2000" dirty="0" err="1"/>
              <a:t>광범위한</a:t>
            </a:r>
            <a:r>
              <a:rPr sz="2000" dirty="0"/>
              <a:t> </a:t>
            </a:r>
            <a:r>
              <a:rPr sz="2000" dirty="0" err="1"/>
              <a:t>영향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40BB3-F310-454B-81AB-ACE81664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FE94B-C6D5-4A70-9A0C-9509800A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15.6 전환리스크: 구성요소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정책</a:t>
            </a:r>
            <a:r>
              <a:rPr sz="2000" dirty="0"/>
              <a:t>: </a:t>
            </a:r>
            <a:r>
              <a:rPr sz="2000" dirty="0" err="1"/>
              <a:t>탄소가격</a:t>
            </a:r>
            <a:r>
              <a:rPr sz="2000" dirty="0"/>
              <a:t>/</a:t>
            </a:r>
            <a:r>
              <a:rPr sz="2000" dirty="0" err="1"/>
              <a:t>규제</a:t>
            </a:r>
            <a:r>
              <a:rPr sz="2000" dirty="0"/>
              <a:t> </a:t>
            </a:r>
            <a:r>
              <a:rPr sz="2000" dirty="0" err="1"/>
              <a:t>강화</a:t>
            </a:r>
            <a:r>
              <a:rPr sz="2000" dirty="0"/>
              <a:t>, </a:t>
            </a:r>
            <a:r>
              <a:rPr sz="2000" dirty="0" err="1"/>
              <a:t>보조금</a:t>
            </a:r>
            <a:r>
              <a:rPr sz="2000" dirty="0"/>
              <a:t> </a:t>
            </a:r>
            <a:r>
              <a:rPr sz="2000" dirty="0" err="1"/>
              <a:t>구조</a:t>
            </a:r>
            <a:r>
              <a:rPr sz="2000" dirty="0"/>
              <a:t> </a:t>
            </a:r>
            <a:r>
              <a:rPr sz="2000" dirty="0" err="1"/>
              <a:t>변화</a:t>
            </a:r>
            <a:r>
              <a:rPr sz="2000" dirty="0"/>
              <a:t>, </a:t>
            </a:r>
            <a:r>
              <a:rPr sz="2000" dirty="0" err="1"/>
              <a:t>인허가</a:t>
            </a:r>
            <a:r>
              <a:rPr sz="2000" dirty="0"/>
              <a:t> </a:t>
            </a:r>
            <a:r>
              <a:rPr sz="2000" dirty="0" err="1"/>
              <a:t>제한</a:t>
            </a:r>
            <a:endParaRPr sz="2000" dirty="0"/>
          </a:p>
          <a:p>
            <a:pPr>
              <a:defRPr sz="2200"/>
            </a:pPr>
            <a:r>
              <a:rPr sz="2000" dirty="0" err="1"/>
              <a:t>기술</a:t>
            </a:r>
            <a:r>
              <a:rPr sz="2000" dirty="0"/>
              <a:t>: </a:t>
            </a:r>
            <a:r>
              <a:rPr sz="2000" dirty="0" err="1"/>
              <a:t>저탄소</a:t>
            </a:r>
            <a:r>
              <a:rPr sz="2000" dirty="0"/>
              <a:t> </a:t>
            </a:r>
            <a:r>
              <a:rPr sz="2000" dirty="0" err="1"/>
              <a:t>기술의</a:t>
            </a:r>
            <a:r>
              <a:rPr sz="2000" dirty="0"/>
              <a:t> </a:t>
            </a:r>
            <a:r>
              <a:rPr sz="2000" dirty="0" err="1"/>
              <a:t>급속한</a:t>
            </a:r>
            <a:r>
              <a:rPr sz="2000" dirty="0"/>
              <a:t> </a:t>
            </a:r>
            <a:r>
              <a:rPr sz="2000" dirty="0" err="1"/>
              <a:t>비용</a:t>
            </a:r>
            <a:r>
              <a:rPr sz="2000" dirty="0"/>
              <a:t> </a:t>
            </a:r>
            <a:r>
              <a:rPr sz="2000" dirty="0" err="1"/>
              <a:t>하락·성능</a:t>
            </a:r>
            <a:r>
              <a:rPr sz="2000" dirty="0"/>
              <a:t> </a:t>
            </a:r>
            <a:r>
              <a:rPr sz="2000" dirty="0" err="1"/>
              <a:t>개선으로</a:t>
            </a:r>
            <a:r>
              <a:rPr sz="2000" dirty="0"/>
              <a:t> </a:t>
            </a:r>
            <a:r>
              <a:rPr sz="2000" dirty="0" err="1"/>
              <a:t>기존</a:t>
            </a:r>
            <a:r>
              <a:rPr sz="2000" dirty="0"/>
              <a:t> </a:t>
            </a:r>
            <a:r>
              <a:rPr sz="2000" dirty="0" err="1"/>
              <a:t>기술</a:t>
            </a:r>
            <a:r>
              <a:rPr sz="2000" dirty="0"/>
              <a:t> </a:t>
            </a:r>
            <a:r>
              <a:rPr sz="2000" dirty="0" err="1"/>
              <a:t>대체</a:t>
            </a:r>
            <a:endParaRPr sz="2000" dirty="0"/>
          </a:p>
          <a:p>
            <a:pPr>
              <a:defRPr sz="2200"/>
            </a:pPr>
            <a:r>
              <a:rPr sz="2000" dirty="0" err="1"/>
              <a:t>시장</a:t>
            </a:r>
            <a:r>
              <a:rPr sz="2000" dirty="0"/>
              <a:t>/</a:t>
            </a:r>
            <a:r>
              <a:rPr sz="2000" dirty="0" err="1"/>
              <a:t>사회</a:t>
            </a:r>
            <a:r>
              <a:rPr sz="2000" dirty="0"/>
              <a:t>: </a:t>
            </a:r>
            <a:r>
              <a:rPr sz="2000" dirty="0" err="1"/>
              <a:t>ESG·소비자</a:t>
            </a:r>
            <a:r>
              <a:rPr sz="2000" dirty="0"/>
              <a:t> </a:t>
            </a:r>
            <a:r>
              <a:rPr sz="2000" dirty="0" err="1"/>
              <a:t>선호·공시</a:t>
            </a:r>
            <a:r>
              <a:rPr sz="2000" dirty="0"/>
              <a:t> </a:t>
            </a:r>
            <a:r>
              <a:rPr sz="2000" dirty="0" err="1"/>
              <a:t>의무</a:t>
            </a:r>
            <a:r>
              <a:rPr sz="2000" dirty="0"/>
              <a:t> </a:t>
            </a:r>
            <a:r>
              <a:rPr sz="2000" dirty="0" err="1"/>
              <a:t>강화</a:t>
            </a:r>
            <a:r>
              <a:rPr sz="2000" dirty="0"/>
              <a:t>, </a:t>
            </a:r>
            <a:r>
              <a:rPr sz="2000" dirty="0" err="1"/>
              <a:t>평판</a:t>
            </a:r>
            <a:r>
              <a:rPr sz="2000" dirty="0"/>
              <a:t>/</a:t>
            </a:r>
            <a:r>
              <a:rPr sz="2000" dirty="0" err="1"/>
              <a:t>법적</a:t>
            </a:r>
            <a:r>
              <a:rPr sz="2000" dirty="0"/>
              <a:t> </a:t>
            </a:r>
            <a:r>
              <a:rPr sz="2000" dirty="0" err="1"/>
              <a:t>리스크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444C9-68DB-44D7-8175-75D87B61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55795-3323-479F-90CA-2E75187E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15.7 국제협약과 글로벌 거버넌스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국제협력의</a:t>
            </a:r>
            <a:r>
              <a:rPr sz="2000" dirty="0"/>
              <a:t> </a:t>
            </a:r>
            <a:r>
              <a:rPr sz="2000" dirty="0" err="1"/>
              <a:t>필요성</a:t>
            </a:r>
            <a:r>
              <a:rPr sz="2000" dirty="0"/>
              <a:t>: </a:t>
            </a:r>
            <a:r>
              <a:rPr sz="2000" dirty="0" err="1"/>
              <a:t>기후는</a:t>
            </a:r>
            <a:r>
              <a:rPr sz="2000" dirty="0"/>
              <a:t> </a:t>
            </a:r>
            <a:r>
              <a:rPr sz="2000" dirty="0" err="1"/>
              <a:t>국경을</a:t>
            </a:r>
            <a:r>
              <a:rPr sz="2000" dirty="0"/>
              <a:t> </a:t>
            </a:r>
            <a:r>
              <a:rPr sz="2000" dirty="0" err="1"/>
              <a:t>넘는</a:t>
            </a:r>
            <a:r>
              <a:rPr sz="2000" dirty="0"/>
              <a:t> </a:t>
            </a:r>
            <a:r>
              <a:rPr sz="2000" dirty="0" err="1"/>
              <a:t>공공재</a:t>
            </a:r>
            <a:endParaRPr sz="2000" dirty="0"/>
          </a:p>
          <a:p>
            <a:pPr>
              <a:defRPr sz="2200"/>
            </a:pPr>
            <a:r>
              <a:rPr sz="2000" dirty="0" err="1"/>
              <a:t>핵심</a:t>
            </a:r>
            <a:r>
              <a:rPr sz="2000" dirty="0"/>
              <a:t> </a:t>
            </a:r>
            <a:r>
              <a:rPr sz="2000" dirty="0" err="1"/>
              <a:t>요소</a:t>
            </a:r>
            <a:r>
              <a:rPr sz="2000" dirty="0"/>
              <a:t>: NDC, </a:t>
            </a:r>
            <a:r>
              <a:rPr sz="2000" dirty="0" err="1"/>
              <a:t>투명성</a:t>
            </a:r>
            <a:r>
              <a:rPr sz="2000" dirty="0"/>
              <a:t>/</a:t>
            </a:r>
            <a:r>
              <a:rPr sz="2000" dirty="0" err="1"/>
              <a:t>검증</a:t>
            </a:r>
            <a:r>
              <a:rPr sz="2000" dirty="0"/>
              <a:t>, </a:t>
            </a:r>
            <a:r>
              <a:rPr sz="2000" dirty="0" err="1"/>
              <a:t>기후재원</a:t>
            </a:r>
            <a:r>
              <a:rPr sz="2000" dirty="0"/>
              <a:t>, </a:t>
            </a:r>
            <a:r>
              <a:rPr sz="2000" dirty="0" err="1"/>
              <a:t>기술이전</a:t>
            </a:r>
            <a:r>
              <a:rPr sz="2000" dirty="0"/>
              <a:t>, </a:t>
            </a:r>
            <a:r>
              <a:rPr sz="2000" dirty="0" err="1"/>
              <a:t>적응</a:t>
            </a:r>
            <a:r>
              <a:rPr sz="2000" dirty="0"/>
              <a:t> </a:t>
            </a:r>
            <a:r>
              <a:rPr sz="2000" dirty="0" err="1"/>
              <a:t>지원</a:t>
            </a:r>
            <a:endParaRPr sz="2000" dirty="0"/>
          </a:p>
          <a:p>
            <a:pPr>
              <a:defRPr sz="2200"/>
            </a:pPr>
            <a:r>
              <a:rPr sz="2000" dirty="0" err="1"/>
              <a:t>무역과의</a:t>
            </a:r>
            <a:r>
              <a:rPr sz="2000" dirty="0"/>
              <a:t> </a:t>
            </a:r>
            <a:r>
              <a:rPr sz="2000" dirty="0" err="1"/>
              <a:t>결합</a:t>
            </a:r>
            <a:r>
              <a:rPr sz="2000" dirty="0"/>
              <a:t>: </a:t>
            </a:r>
            <a:r>
              <a:rPr sz="2000" dirty="0" err="1"/>
              <a:t>탄소국경조정</a:t>
            </a:r>
            <a:r>
              <a:rPr sz="2000" dirty="0"/>
              <a:t> 등 </a:t>
            </a:r>
            <a:r>
              <a:rPr sz="2000" dirty="0" err="1"/>
              <a:t>정책</a:t>
            </a:r>
            <a:r>
              <a:rPr sz="2000" dirty="0"/>
              <a:t> </a:t>
            </a:r>
            <a:r>
              <a:rPr sz="2000" dirty="0" err="1"/>
              <a:t>연계가</a:t>
            </a:r>
            <a:r>
              <a:rPr sz="2000" dirty="0"/>
              <a:t> </a:t>
            </a:r>
            <a:r>
              <a:rPr sz="2000" dirty="0" err="1"/>
              <a:t>강화되는</a:t>
            </a:r>
            <a:r>
              <a:rPr sz="2000" dirty="0"/>
              <a:t> </a:t>
            </a:r>
            <a:r>
              <a:rPr sz="2000" dirty="0" err="1"/>
              <a:t>추세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02B58-A600-42BA-9219-1C34C323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F48F8-C718-4F59-BC06-9295F8C0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200"/>
              <a:t>15.8 결론: 정책 패키지 관점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200"/>
            </a:pPr>
            <a:r>
              <a:rPr sz="2000" dirty="0" err="1"/>
              <a:t>에너지-기후는</a:t>
            </a:r>
            <a:r>
              <a:rPr sz="2000" dirty="0"/>
              <a:t> </a:t>
            </a:r>
            <a:r>
              <a:rPr sz="2000" dirty="0" err="1"/>
              <a:t>기술</a:t>
            </a:r>
            <a:r>
              <a:rPr sz="2000" dirty="0"/>
              <a:t> </a:t>
            </a:r>
            <a:r>
              <a:rPr sz="2000" dirty="0" err="1"/>
              <a:t>전환</a:t>
            </a:r>
            <a:r>
              <a:rPr sz="2000" dirty="0"/>
              <a:t> + </a:t>
            </a:r>
            <a:r>
              <a:rPr sz="2000" dirty="0" err="1"/>
              <a:t>시장</a:t>
            </a:r>
            <a:r>
              <a:rPr sz="2000" dirty="0"/>
              <a:t> </a:t>
            </a:r>
            <a:r>
              <a:rPr sz="2000" dirty="0" err="1"/>
              <a:t>설계</a:t>
            </a:r>
            <a:r>
              <a:rPr sz="2000" dirty="0"/>
              <a:t> + </a:t>
            </a:r>
            <a:r>
              <a:rPr sz="2000" dirty="0" err="1"/>
              <a:t>인프라</a:t>
            </a:r>
            <a:r>
              <a:rPr sz="2000" dirty="0"/>
              <a:t> + </a:t>
            </a:r>
            <a:r>
              <a:rPr sz="2000" dirty="0" err="1"/>
              <a:t>거버넌스의</a:t>
            </a:r>
            <a:r>
              <a:rPr sz="2000" dirty="0"/>
              <a:t> </a:t>
            </a:r>
            <a:r>
              <a:rPr sz="2000" dirty="0" err="1"/>
              <a:t>결합</a:t>
            </a:r>
            <a:r>
              <a:rPr sz="2000" dirty="0"/>
              <a:t> </a:t>
            </a:r>
            <a:r>
              <a:rPr sz="2000" dirty="0" err="1"/>
              <a:t>과제</a:t>
            </a:r>
            <a:endParaRPr sz="2000" dirty="0"/>
          </a:p>
          <a:p>
            <a:pPr>
              <a:defRPr sz="2200"/>
            </a:pPr>
            <a:r>
              <a:rPr sz="2000" dirty="0" err="1"/>
              <a:t>탄소가격</a:t>
            </a:r>
            <a:r>
              <a:rPr sz="2000" dirty="0"/>
              <a:t>(세/</a:t>
            </a:r>
            <a:r>
              <a:rPr sz="2000" dirty="0" err="1"/>
              <a:t>거래</a:t>
            </a:r>
            <a:r>
              <a:rPr sz="2000" dirty="0"/>
              <a:t>)과 </a:t>
            </a:r>
            <a:r>
              <a:rPr sz="2000" dirty="0" err="1"/>
              <a:t>규제·투자·혁신정책의</a:t>
            </a:r>
            <a:r>
              <a:rPr sz="2000" dirty="0"/>
              <a:t> </a:t>
            </a:r>
            <a:r>
              <a:rPr sz="2000" dirty="0" err="1"/>
              <a:t>포트폴리오가</a:t>
            </a:r>
            <a:r>
              <a:rPr sz="2000" dirty="0"/>
              <a:t> </a:t>
            </a:r>
            <a:r>
              <a:rPr sz="2000" dirty="0" err="1"/>
              <a:t>필요</a:t>
            </a:r>
            <a:endParaRPr sz="2000" dirty="0"/>
          </a:p>
          <a:p>
            <a:pPr>
              <a:defRPr sz="2200"/>
            </a:pPr>
            <a:r>
              <a:rPr sz="2000" dirty="0" err="1"/>
              <a:t>감축과</a:t>
            </a:r>
            <a:r>
              <a:rPr sz="2000" dirty="0"/>
              <a:t> </a:t>
            </a:r>
            <a:r>
              <a:rPr sz="2000" dirty="0" err="1"/>
              <a:t>적응을</a:t>
            </a:r>
            <a:r>
              <a:rPr sz="2000" dirty="0"/>
              <a:t> </a:t>
            </a:r>
            <a:r>
              <a:rPr sz="2000" dirty="0" err="1"/>
              <a:t>병행하며</a:t>
            </a:r>
            <a:r>
              <a:rPr sz="2000" dirty="0"/>
              <a:t>, </a:t>
            </a:r>
            <a:r>
              <a:rPr sz="2000" dirty="0" err="1"/>
              <a:t>전환리스크를</a:t>
            </a:r>
            <a:r>
              <a:rPr sz="2000" dirty="0"/>
              <a:t> </a:t>
            </a:r>
            <a:r>
              <a:rPr sz="2000" dirty="0" err="1"/>
              <a:t>관리하는</a:t>
            </a:r>
            <a:r>
              <a:rPr sz="2000" dirty="0"/>
              <a:t> ‘</a:t>
            </a:r>
            <a:r>
              <a:rPr sz="2000" dirty="0" err="1"/>
              <a:t>정의로운</a:t>
            </a:r>
            <a:r>
              <a:rPr sz="2000" dirty="0"/>
              <a:t> </a:t>
            </a:r>
            <a:r>
              <a:rPr sz="2000" dirty="0" err="1"/>
              <a:t>전환’이</a:t>
            </a:r>
            <a:r>
              <a:rPr sz="2000" dirty="0"/>
              <a:t> </a:t>
            </a:r>
            <a:r>
              <a:rPr sz="2000" dirty="0" err="1"/>
              <a:t>핵심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CA9CD-19DC-4A37-916C-A4A69384E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15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5AE27-97A6-4B01-929D-B94D6C34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1935</Words>
  <Application>Microsoft Office PowerPoint</Application>
  <PresentationFormat>와이드스크린</PresentationFormat>
  <Paragraphs>239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나눔스퀘어 네오 OTF Heavy</vt:lpstr>
      <vt:lpstr>맑은 고딕</vt:lpstr>
      <vt:lpstr>Arial</vt:lpstr>
      <vt:lpstr>Calibri</vt:lpstr>
      <vt:lpstr>Office Theme</vt:lpstr>
      <vt:lpstr>PowerPoint 프레젠테이션</vt:lpstr>
      <vt:lpstr>제15장  에너지와 기후변화</vt:lpstr>
      <vt:lpstr>15.1 서론: 에너지와 배출의 비중</vt:lpstr>
      <vt:lpstr>15.1 서론: CO₂ 농도 상승과 탄소예산</vt:lpstr>
      <vt:lpstr>15.1 서론: 기후변화가 에너지시스템에 미치는 영향</vt:lpstr>
      <vt:lpstr>15.2 온실가스 배출과 에너지원: 개요</vt:lpstr>
      <vt:lpstr>15.2.1 태양에너지 수지: 기본 개념</vt:lpstr>
      <vt:lpstr>15.2.1 온실가스와 복사강제력</vt:lpstr>
      <vt:lpstr>15.2.2 에너지원별 탄소배출계수: 의미</vt:lpstr>
      <vt:lpstr>15.2.2 연료별 배출계수 비교(정성적)</vt:lpstr>
      <vt:lpstr>15.2.3 국가별 에너지믹스와 배출구조</vt:lpstr>
      <vt:lpstr>15.2.3 형평성과 책임: 협상 함의</vt:lpstr>
      <vt:lpstr>15.2.4 배출경로 시나리오: 목적</vt:lpstr>
      <vt:lpstr>15.2.4 IPCC/IEA 시나리오 비교(요약)</vt:lpstr>
      <vt:lpstr>15.3 기후변화의 경제학: 큰 그림</vt:lpstr>
      <vt:lpstr>15.3.1 외부성과 시장실패</vt:lpstr>
      <vt:lpstr>15.3.1 집합행동 실패와 국제협력</vt:lpstr>
      <vt:lpstr>15.3.1 할인율과 장기정책</vt:lpstr>
      <vt:lpstr>15.3.2 탄소의 사회적 비용(SCC): 정의</vt:lpstr>
      <vt:lpstr>15.3.2 SCC 추정의 핵심 변수</vt:lpstr>
      <vt:lpstr>15.3.2 IAM 기반 SCC 활용 시 유의점</vt:lpstr>
      <vt:lpstr>15.3.4 탄소세: 기본 메커니즘</vt:lpstr>
      <vt:lpstr>15.3.4 탄소세: 설계 포인트</vt:lpstr>
      <vt:lpstr>15.3.5 배출권거래제(ETS): 기본 구조</vt:lpstr>
      <vt:lpstr>15.3.5 ETS: 운영 핵심</vt:lpstr>
      <vt:lpstr>15.4 온실가스 감축 전략: 개요</vt:lpstr>
      <vt:lpstr>15.4.1 에너지 효율: 핵심 논리</vt:lpstr>
      <vt:lpstr>15.4.1 수요관리(DR)와 디지털화</vt:lpstr>
      <vt:lpstr>15.4.2 재생에너지 확대: 비용·계통 과제</vt:lpstr>
      <vt:lpstr>15.4.2 정책수단(요약)</vt:lpstr>
      <vt:lpstr>15.4.3 전기화와 연료 전환</vt:lpstr>
      <vt:lpstr>15.4.4 CCUS와 CDR: 역할</vt:lpstr>
      <vt:lpstr>15.5 기후변화 적응 전략: 개요</vt:lpstr>
      <vt:lpstr>15.5.1 에너지 인프라의 기후 회복력</vt:lpstr>
      <vt:lpstr>15.5.2 분산형 전원과 스마트그리드</vt:lpstr>
      <vt:lpstr>15.5.3 수요변동 대응과 적응</vt:lpstr>
      <vt:lpstr>15.6 전환리스크와 좌초자산: 개요</vt:lpstr>
      <vt:lpstr>15.6 전환리스크: 구성요소</vt:lpstr>
      <vt:lpstr>15.7 국제협약과 글로벌 거버넌스</vt:lpstr>
      <vt:lpstr>15.8 결론: 정책 패키지 관점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donghun kim</dc:creator>
  <cp:lastModifiedBy>장 규식</cp:lastModifiedBy>
  <cp:revision>3</cp:revision>
  <dcterms:created xsi:type="dcterms:W3CDTF">2026-02-24T12:59:30Z</dcterms:created>
  <dcterms:modified xsi:type="dcterms:W3CDTF">2026-02-25T21:44:59Z</dcterms:modified>
</cp:coreProperties>
</file>