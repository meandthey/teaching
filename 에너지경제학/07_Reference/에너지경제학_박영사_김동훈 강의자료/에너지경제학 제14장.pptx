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43"/>
  </p:notesMasterIdLst>
  <p:sldIdLst>
    <p:sldId id="298" r:id="rId3"/>
    <p:sldId id="296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7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un kim" userId="ea4930dfa3cfe607" providerId="LiveId" clId="{91C2E271-0AE1-4FC3-B418-A1BBE9836E15}"/>
    <pc:docChg chg="modSld">
      <pc:chgData name="donghun kim" userId="ea4930dfa3cfe607" providerId="LiveId" clId="{91C2E271-0AE1-4FC3-B418-A1BBE9836E15}" dt="2026-02-25T04:11:39.599" v="14" actId="6549"/>
      <pc:docMkLst>
        <pc:docMk/>
      </pc:docMkLst>
      <pc:sldChg chg="modSp mod">
        <pc:chgData name="donghun kim" userId="ea4930dfa3cfe607" providerId="LiveId" clId="{91C2E271-0AE1-4FC3-B418-A1BBE9836E15}" dt="2026-02-25T04:11:39.599" v="14" actId="6549"/>
        <pc:sldMkLst>
          <pc:docMk/>
          <pc:sldMk cId="0" sldId="257"/>
        </pc:sldMkLst>
        <pc:spChg chg="mod">
          <ac:chgData name="donghun kim" userId="ea4930dfa3cfe607" providerId="LiveId" clId="{91C2E271-0AE1-4FC3-B418-A1BBE9836E15}" dt="2026-02-25T04:11:39.599" v="14" actId="6549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99ACC1AF-F474-4E2A-A36E-D5ED42B1F42E}" type="datetime1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1FCEE8B0-5D56-4FA8-BF4B-D2BCC3456F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7283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7B72-16D7-403E-8A36-97792FFAC6BA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10EFB-7AC6-43F2-99DA-AD96451138CA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D664F-6459-4DCC-825C-743A3B60038A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B0DFF-5412-4DB4-8695-4AC0BFE5DB6A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249C-AA7D-4F52-BFD7-36F498C6034D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74D54-0CA6-4492-BC42-065ED4DA92E8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1870-754E-42FB-BDBC-AB95B3488146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C2065-04B1-476E-9856-8AC7BFFA0F17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02E0A-86EA-4D54-957B-99AB2CE33095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4CD4F-C67F-40D7-BBED-0940A29DE074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0CF5-DEED-4784-80B1-EC56C52C97EB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90849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A3D5110-9FE0-496F-B26A-071D02F2DE37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462958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68530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69547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86945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98313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83668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626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760701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217520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866743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84413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06644-7DC6-4068-AAEC-368D84E07B4B}" type="datetime1">
              <a:rPr lang="en-US" altLang="ko-KR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77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5" y="181576"/>
            <a:ext cx="11830050" cy="631820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>
                <a:solidFill>
                  <a:srgbClr val="FFFFFF"/>
                </a:solidFill>
                <a:ea typeface="맑은 고딕"/>
              </a:rPr>
              <a:t>14</a:t>
            </a:r>
            <a:r>
              <a:rPr lang="ko-KR" altLang="en-US" sz="5200">
                <a:solidFill>
                  <a:srgbClr val="FFFFFF"/>
                </a:solidFill>
                <a:ea typeface="맑은 고딕"/>
              </a:rPr>
              <a:t>장  에너지 안보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4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0C6A38-4290-41DD-B95C-4155372FD4AF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에너지 경제학 제14장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학습목표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81087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안보의</a:t>
            </a:r>
            <a:r>
              <a:rPr dirty="0"/>
              <a:t> </a:t>
            </a:r>
            <a:r>
              <a:rPr dirty="0" err="1"/>
              <a:t>개념과</a:t>
            </a:r>
            <a:r>
              <a:rPr dirty="0"/>
              <a:t> </a:t>
            </a:r>
            <a:r>
              <a:rPr dirty="0" err="1"/>
              <a:t>최근</a:t>
            </a:r>
            <a:r>
              <a:rPr dirty="0"/>
              <a:t> </a:t>
            </a:r>
            <a:r>
              <a:rPr dirty="0" err="1"/>
              <a:t>확장</a:t>
            </a:r>
            <a:r>
              <a:rPr dirty="0"/>
              <a:t>(</a:t>
            </a:r>
            <a:r>
              <a:rPr dirty="0" err="1"/>
              <a:t>가격·지속가능성·복원력</a:t>
            </a:r>
            <a:r>
              <a:rPr dirty="0"/>
              <a:t>)을 </a:t>
            </a:r>
            <a:r>
              <a:rPr dirty="0" err="1"/>
              <a:t>설명</a:t>
            </a:r>
            <a:endParaRPr dirty="0"/>
          </a:p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안보의</a:t>
            </a:r>
            <a:r>
              <a:rPr dirty="0"/>
              <a:t> 3대 </a:t>
            </a:r>
            <a:r>
              <a:rPr dirty="0" err="1"/>
              <a:t>구성요소</a:t>
            </a:r>
            <a:r>
              <a:rPr dirty="0"/>
              <a:t>(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안정성·가격</a:t>
            </a:r>
            <a:r>
              <a:rPr dirty="0"/>
              <a:t> </a:t>
            </a:r>
            <a:r>
              <a:rPr dirty="0" err="1"/>
              <a:t>안정성·인프라</a:t>
            </a:r>
            <a:r>
              <a:rPr dirty="0"/>
              <a:t> </a:t>
            </a:r>
            <a:r>
              <a:rPr dirty="0" err="1"/>
              <a:t>복원력</a:t>
            </a:r>
            <a:r>
              <a:rPr dirty="0"/>
              <a:t>)를 </a:t>
            </a:r>
            <a:r>
              <a:rPr dirty="0" err="1"/>
              <a:t>구분</a:t>
            </a:r>
            <a:endParaRPr dirty="0"/>
          </a:p>
          <a:p>
            <a:pPr>
              <a:defRPr sz="2000"/>
            </a:pPr>
            <a:r>
              <a:rPr dirty="0" err="1"/>
              <a:t>국제적</a:t>
            </a:r>
            <a:r>
              <a:rPr dirty="0"/>
              <a:t> </a:t>
            </a:r>
            <a:r>
              <a:rPr dirty="0" err="1"/>
              <a:t>위협요인</a:t>
            </a:r>
            <a:r>
              <a:rPr dirty="0"/>
              <a:t>(</a:t>
            </a:r>
            <a:r>
              <a:rPr dirty="0" err="1"/>
              <a:t>지정학</a:t>
            </a:r>
            <a:r>
              <a:rPr dirty="0"/>
              <a:t>, </a:t>
            </a:r>
            <a:r>
              <a:rPr dirty="0" err="1"/>
              <a:t>무기화</a:t>
            </a:r>
            <a:r>
              <a:rPr dirty="0"/>
              <a:t>, </a:t>
            </a:r>
            <a:r>
              <a:rPr dirty="0" err="1"/>
              <a:t>공급망</a:t>
            </a:r>
            <a:r>
              <a:rPr dirty="0"/>
              <a:t>, </a:t>
            </a:r>
            <a:r>
              <a:rPr dirty="0" err="1"/>
              <a:t>기후</a:t>
            </a:r>
            <a:r>
              <a:rPr dirty="0"/>
              <a:t>, </a:t>
            </a:r>
            <a:r>
              <a:rPr dirty="0" err="1"/>
              <a:t>사이버</a:t>
            </a:r>
            <a:r>
              <a:rPr dirty="0"/>
              <a:t>, </a:t>
            </a:r>
            <a:r>
              <a:rPr dirty="0" err="1"/>
              <a:t>핵확산</a:t>
            </a:r>
            <a:r>
              <a:rPr dirty="0"/>
              <a:t>)을 </a:t>
            </a:r>
            <a:r>
              <a:rPr dirty="0" err="1"/>
              <a:t>사례와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이해</a:t>
            </a:r>
            <a:endParaRPr dirty="0"/>
          </a:p>
          <a:p>
            <a:pPr>
              <a:defRPr sz="2000"/>
            </a:pPr>
            <a:r>
              <a:rPr dirty="0" err="1"/>
              <a:t>정책수단</a:t>
            </a:r>
            <a:r>
              <a:rPr dirty="0"/>
              <a:t>(</a:t>
            </a:r>
            <a:r>
              <a:rPr dirty="0" err="1"/>
              <a:t>비축</a:t>
            </a:r>
            <a:r>
              <a:rPr dirty="0"/>
              <a:t>, </a:t>
            </a:r>
            <a:r>
              <a:rPr dirty="0" err="1"/>
              <a:t>다변화</a:t>
            </a:r>
            <a:r>
              <a:rPr dirty="0"/>
              <a:t>, </a:t>
            </a:r>
            <a:r>
              <a:rPr dirty="0" err="1"/>
              <a:t>효율·수요관리</a:t>
            </a:r>
            <a:r>
              <a:rPr dirty="0"/>
              <a:t>, </a:t>
            </a:r>
            <a:r>
              <a:rPr dirty="0" err="1"/>
              <a:t>국제협력</a:t>
            </a:r>
            <a:r>
              <a:rPr dirty="0"/>
              <a:t>)의 </a:t>
            </a:r>
            <a:r>
              <a:rPr dirty="0" err="1"/>
              <a:t>작동원리와</a:t>
            </a:r>
            <a:r>
              <a:rPr dirty="0"/>
              <a:t> </a:t>
            </a:r>
            <a:r>
              <a:rPr dirty="0" err="1"/>
              <a:t>한계를</a:t>
            </a:r>
            <a:r>
              <a:rPr dirty="0"/>
              <a:t> </a:t>
            </a:r>
            <a:r>
              <a:rPr dirty="0" err="1"/>
              <a:t>평가</a:t>
            </a:r>
            <a:endParaRPr dirty="0"/>
          </a:p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과정에서</a:t>
            </a:r>
            <a:r>
              <a:rPr dirty="0"/>
              <a:t> </a:t>
            </a:r>
            <a:r>
              <a:rPr dirty="0" err="1"/>
              <a:t>새롭게</a:t>
            </a:r>
            <a:r>
              <a:rPr dirty="0"/>
              <a:t> </a:t>
            </a:r>
            <a:r>
              <a:rPr dirty="0" err="1"/>
              <a:t>등장하는</a:t>
            </a:r>
            <a:r>
              <a:rPr dirty="0"/>
              <a:t> </a:t>
            </a:r>
            <a:r>
              <a:rPr dirty="0" err="1"/>
              <a:t>안보</a:t>
            </a:r>
            <a:r>
              <a:rPr dirty="0"/>
              <a:t> </a:t>
            </a:r>
            <a:r>
              <a:rPr dirty="0" err="1"/>
              <a:t>이슈</a:t>
            </a:r>
            <a:r>
              <a:rPr dirty="0"/>
              <a:t>(</a:t>
            </a:r>
            <a:r>
              <a:rPr dirty="0" err="1"/>
              <a:t>핵심광물·청정기술</a:t>
            </a:r>
            <a:r>
              <a:rPr dirty="0"/>
              <a:t> </a:t>
            </a:r>
            <a:r>
              <a:rPr dirty="0" err="1"/>
              <a:t>공급망</a:t>
            </a:r>
            <a:r>
              <a:rPr dirty="0"/>
              <a:t>)를 </a:t>
            </a:r>
            <a:r>
              <a:rPr dirty="0" err="1"/>
              <a:t>정리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AB3B4-113E-4CE0-8681-AADD1603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F3304-CB5B-48AB-B4C3-CBBFD7C0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에너지 안보 개념의 진화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649" y="1417638"/>
            <a:ext cx="1046797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전통적</a:t>
            </a:r>
            <a:r>
              <a:rPr dirty="0"/>
              <a:t> </a:t>
            </a:r>
            <a:r>
              <a:rPr dirty="0" err="1"/>
              <a:t>관점</a:t>
            </a:r>
            <a:r>
              <a:rPr dirty="0"/>
              <a:t>: “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중단</a:t>
            </a:r>
            <a:r>
              <a:rPr dirty="0"/>
              <a:t> </a:t>
            </a:r>
            <a:r>
              <a:rPr dirty="0" err="1"/>
              <a:t>회피”와</a:t>
            </a:r>
            <a:r>
              <a:rPr dirty="0"/>
              <a:t> “</a:t>
            </a: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” </a:t>
            </a:r>
            <a:r>
              <a:rPr dirty="0" err="1"/>
              <a:t>중심</a:t>
            </a:r>
            <a:r>
              <a:rPr dirty="0"/>
              <a:t>(</a:t>
            </a:r>
            <a:r>
              <a:rPr dirty="0" err="1"/>
              <a:t>국가안보의</a:t>
            </a:r>
            <a:r>
              <a:rPr dirty="0"/>
              <a:t> </a:t>
            </a:r>
            <a:r>
              <a:rPr dirty="0" err="1"/>
              <a:t>연장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/>
              <a:t>1970년대 </a:t>
            </a:r>
            <a:r>
              <a:rPr dirty="0" err="1"/>
              <a:t>오일쇼크</a:t>
            </a:r>
            <a:r>
              <a:rPr dirty="0"/>
              <a:t> </a:t>
            </a:r>
            <a:r>
              <a:rPr dirty="0" err="1"/>
              <a:t>이후</a:t>
            </a:r>
            <a:r>
              <a:rPr dirty="0"/>
              <a:t>: </a:t>
            </a:r>
            <a:r>
              <a:rPr dirty="0" err="1"/>
              <a:t>수입원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, </a:t>
            </a:r>
            <a:r>
              <a:rPr dirty="0" err="1"/>
              <a:t>전략비축</a:t>
            </a:r>
            <a:r>
              <a:rPr dirty="0"/>
              <a:t>, </a:t>
            </a:r>
            <a:r>
              <a:rPr dirty="0" err="1"/>
              <a:t>자립</a:t>
            </a:r>
            <a:r>
              <a:rPr dirty="0"/>
              <a:t> </a:t>
            </a:r>
            <a:r>
              <a:rPr dirty="0" err="1"/>
              <a:t>강화가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정책수단으로</a:t>
            </a:r>
            <a:r>
              <a:rPr dirty="0"/>
              <a:t> </a:t>
            </a:r>
            <a:r>
              <a:rPr dirty="0" err="1"/>
              <a:t>부상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21세기 </a:t>
            </a:r>
            <a:r>
              <a:rPr dirty="0" err="1"/>
              <a:t>이후</a:t>
            </a:r>
            <a:r>
              <a:rPr dirty="0"/>
              <a:t>: </a:t>
            </a:r>
            <a:r>
              <a:rPr dirty="0" err="1"/>
              <a:t>기후변화·시장통합·디지털화로</a:t>
            </a:r>
            <a:r>
              <a:rPr dirty="0"/>
              <a:t> </a:t>
            </a:r>
            <a:r>
              <a:rPr dirty="0" err="1"/>
              <a:t>인해</a:t>
            </a:r>
            <a:r>
              <a:rPr dirty="0"/>
              <a:t> ‘</a:t>
            </a:r>
            <a:r>
              <a:rPr dirty="0" err="1"/>
              <a:t>다차원적</a:t>
            </a:r>
            <a:r>
              <a:rPr dirty="0"/>
              <a:t> </a:t>
            </a:r>
            <a:r>
              <a:rPr dirty="0" err="1"/>
              <a:t>안보’로</a:t>
            </a:r>
            <a:r>
              <a:rPr dirty="0"/>
              <a:t> </a:t>
            </a:r>
            <a:r>
              <a:rPr dirty="0" err="1"/>
              <a:t>확장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IEA </a:t>
            </a:r>
            <a:r>
              <a:rPr dirty="0" err="1"/>
              <a:t>정의</a:t>
            </a:r>
            <a:r>
              <a:rPr dirty="0"/>
              <a:t>: </a:t>
            </a:r>
            <a:r>
              <a:rPr dirty="0" err="1"/>
              <a:t>경제</a:t>
            </a:r>
            <a:r>
              <a:rPr dirty="0"/>
              <a:t> </a:t>
            </a:r>
            <a:r>
              <a:rPr dirty="0" err="1"/>
              <a:t>활동과</a:t>
            </a:r>
            <a:r>
              <a:rPr dirty="0"/>
              <a:t> </a:t>
            </a:r>
            <a:r>
              <a:rPr dirty="0" err="1"/>
              <a:t>삶에</a:t>
            </a:r>
            <a:r>
              <a:rPr dirty="0"/>
              <a:t> </a:t>
            </a:r>
            <a:r>
              <a:rPr dirty="0" err="1"/>
              <a:t>지장</a:t>
            </a:r>
            <a:r>
              <a:rPr dirty="0"/>
              <a:t> </a:t>
            </a:r>
            <a:r>
              <a:rPr dirty="0" err="1"/>
              <a:t>없도록</a:t>
            </a:r>
            <a:r>
              <a:rPr dirty="0"/>
              <a:t> ‘</a:t>
            </a:r>
            <a:r>
              <a:rPr dirty="0" err="1"/>
              <a:t>적정</a:t>
            </a:r>
            <a:r>
              <a:rPr dirty="0"/>
              <a:t> </a:t>
            </a:r>
            <a:r>
              <a:rPr dirty="0" err="1"/>
              <a:t>가격’에</a:t>
            </a:r>
            <a:r>
              <a:rPr dirty="0"/>
              <a:t> ‘</a:t>
            </a:r>
            <a:r>
              <a:rPr dirty="0" err="1"/>
              <a:t>안정적·지속가능’하게</a:t>
            </a:r>
            <a:r>
              <a:rPr dirty="0"/>
              <a:t> </a:t>
            </a:r>
            <a:r>
              <a:rPr dirty="0" err="1"/>
              <a:t>공급받는</a:t>
            </a:r>
            <a:r>
              <a:rPr dirty="0"/>
              <a:t> </a:t>
            </a:r>
            <a:r>
              <a:rPr dirty="0" err="1"/>
              <a:t>능력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학문적</a:t>
            </a:r>
            <a:r>
              <a:rPr dirty="0"/>
              <a:t> </a:t>
            </a:r>
            <a:r>
              <a:rPr dirty="0" err="1"/>
              <a:t>관점</a:t>
            </a:r>
            <a:r>
              <a:rPr dirty="0"/>
              <a:t>: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충격</a:t>
            </a:r>
            <a:r>
              <a:rPr dirty="0"/>
              <a:t> </a:t>
            </a:r>
            <a:r>
              <a:rPr dirty="0" err="1"/>
              <a:t>회복력</a:t>
            </a:r>
            <a:r>
              <a:rPr dirty="0"/>
              <a:t>(resilience) + </a:t>
            </a:r>
            <a:r>
              <a:rPr dirty="0" err="1"/>
              <a:t>장기적으로</a:t>
            </a:r>
            <a:r>
              <a:rPr dirty="0"/>
              <a:t> </a:t>
            </a:r>
            <a:r>
              <a:rPr dirty="0" err="1"/>
              <a:t>지속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 </a:t>
            </a:r>
            <a:r>
              <a:rPr dirty="0" err="1"/>
              <a:t>유지</a:t>
            </a:r>
            <a:r>
              <a:rPr dirty="0"/>
              <a:t> </a:t>
            </a:r>
            <a:r>
              <a:rPr dirty="0" err="1"/>
              <a:t>능력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1D17E2-3DD6-4CAC-B4A4-466854B8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11022-E1D2-4BED-AB73-0DF6B901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에너지 안보의 중요성 ① 거시경제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991552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급등</a:t>
            </a:r>
            <a:r>
              <a:rPr dirty="0"/>
              <a:t> → </a:t>
            </a:r>
            <a:r>
              <a:rPr dirty="0" err="1"/>
              <a:t>생산비</a:t>
            </a:r>
            <a:r>
              <a:rPr dirty="0"/>
              <a:t> </a:t>
            </a:r>
            <a:r>
              <a:rPr dirty="0" err="1"/>
              <a:t>상승</a:t>
            </a:r>
            <a:r>
              <a:rPr dirty="0"/>
              <a:t>, </a:t>
            </a:r>
            <a:r>
              <a:rPr dirty="0" err="1"/>
              <a:t>소비</a:t>
            </a:r>
            <a:r>
              <a:rPr dirty="0"/>
              <a:t> </a:t>
            </a:r>
            <a:r>
              <a:rPr dirty="0" err="1"/>
              <a:t>위축</a:t>
            </a:r>
            <a:r>
              <a:rPr dirty="0"/>
              <a:t>, </a:t>
            </a:r>
            <a:r>
              <a:rPr dirty="0" err="1"/>
              <a:t>물가</a:t>
            </a:r>
            <a:r>
              <a:rPr dirty="0"/>
              <a:t> </a:t>
            </a:r>
            <a:r>
              <a:rPr dirty="0" err="1"/>
              <a:t>상승</a:t>
            </a:r>
            <a:r>
              <a:rPr dirty="0"/>
              <a:t> → </a:t>
            </a:r>
            <a:r>
              <a:rPr dirty="0" err="1"/>
              <a:t>경기</a:t>
            </a:r>
            <a:r>
              <a:rPr dirty="0"/>
              <a:t> </a:t>
            </a:r>
            <a:r>
              <a:rPr dirty="0" err="1"/>
              <a:t>침체</a:t>
            </a:r>
            <a:r>
              <a:rPr dirty="0"/>
              <a:t> </a:t>
            </a:r>
            <a:r>
              <a:rPr dirty="0" err="1"/>
              <a:t>위험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수입의존국은</a:t>
            </a:r>
            <a:r>
              <a:rPr dirty="0"/>
              <a:t> </a:t>
            </a:r>
            <a:r>
              <a:rPr dirty="0" err="1"/>
              <a:t>국제유가</a:t>
            </a:r>
            <a:r>
              <a:rPr dirty="0"/>
              <a:t> + </a:t>
            </a:r>
            <a:r>
              <a:rPr dirty="0" err="1"/>
              <a:t>환율</a:t>
            </a:r>
            <a:r>
              <a:rPr dirty="0"/>
              <a:t> </a:t>
            </a:r>
            <a:r>
              <a:rPr dirty="0" err="1"/>
              <a:t>변동이</a:t>
            </a:r>
            <a:r>
              <a:rPr dirty="0"/>
              <a:t> </a:t>
            </a:r>
            <a:r>
              <a:rPr dirty="0" err="1"/>
              <a:t>결합되어</a:t>
            </a:r>
            <a:r>
              <a:rPr dirty="0"/>
              <a:t> </a:t>
            </a:r>
            <a:r>
              <a:rPr dirty="0" err="1"/>
              <a:t>외환·재정</a:t>
            </a:r>
            <a:r>
              <a:rPr dirty="0"/>
              <a:t> </a:t>
            </a:r>
            <a:r>
              <a:rPr dirty="0" err="1"/>
              <a:t>리스크가</a:t>
            </a:r>
            <a:r>
              <a:rPr dirty="0"/>
              <a:t> </a:t>
            </a:r>
            <a:r>
              <a:rPr dirty="0" err="1"/>
              <a:t>확대될</a:t>
            </a:r>
            <a:r>
              <a:rPr dirty="0"/>
              <a:t> 수 </a:t>
            </a:r>
            <a:r>
              <a:rPr dirty="0" err="1"/>
              <a:t>있음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변동성은</a:t>
            </a:r>
            <a:r>
              <a:rPr dirty="0"/>
              <a:t> </a:t>
            </a:r>
            <a:r>
              <a:rPr dirty="0" err="1"/>
              <a:t>기업의</a:t>
            </a:r>
            <a:r>
              <a:rPr dirty="0"/>
              <a:t> </a:t>
            </a:r>
            <a:r>
              <a:rPr dirty="0" err="1"/>
              <a:t>장기</a:t>
            </a:r>
            <a:r>
              <a:rPr dirty="0"/>
              <a:t> </a:t>
            </a:r>
            <a:r>
              <a:rPr dirty="0" err="1"/>
              <a:t>투자·산업전략</a:t>
            </a:r>
            <a:r>
              <a:rPr dirty="0"/>
              <a:t> </a:t>
            </a:r>
            <a:r>
              <a:rPr dirty="0" err="1"/>
              <a:t>의사결정의</a:t>
            </a:r>
            <a:r>
              <a:rPr dirty="0"/>
              <a:t> </a:t>
            </a:r>
            <a:r>
              <a:rPr dirty="0" err="1"/>
              <a:t>불확실성을</a:t>
            </a:r>
            <a:r>
              <a:rPr dirty="0"/>
              <a:t> </a:t>
            </a:r>
            <a:r>
              <a:rPr dirty="0" err="1"/>
              <a:t>높임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정책적</a:t>
            </a:r>
            <a:r>
              <a:rPr dirty="0"/>
              <a:t> </a:t>
            </a:r>
            <a:r>
              <a:rPr dirty="0" err="1"/>
              <a:t>함의</a:t>
            </a:r>
            <a:r>
              <a:rPr dirty="0"/>
              <a:t>: </a:t>
            </a:r>
            <a:r>
              <a:rPr dirty="0" err="1"/>
              <a:t>가격충격</a:t>
            </a:r>
            <a:r>
              <a:rPr dirty="0"/>
              <a:t> </a:t>
            </a:r>
            <a:r>
              <a:rPr dirty="0" err="1"/>
              <a:t>흡수</a:t>
            </a:r>
            <a:r>
              <a:rPr dirty="0"/>
              <a:t>(</a:t>
            </a:r>
            <a:r>
              <a:rPr dirty="0" err="1"/>
              <a:t>비축·세제·장기계약</a:t>
            </a:r>
            <a:r>
              <a:rPr dirty="0"/>
              <a:t>)와 </a:t>
            </a:r>
            <a:r>
              <a:rPr dirty="0" err="1"/>
              <a:t>수요</a:t>
            </a:r>
            <a:r>
              <a:rPr dirty="0"/>
              <a:t> </a:t>
            </a:r>
            <a:r>
              <a:rPr dirty="0" err="1"/>
              <a:t>탄력성</a:t>
            </a:r>
            <a:r>
              <a:rPr dirty="0"/>
              <a:t> </a:t>
            </a:r>
            <a:r>
              <a:rPr dirty="0" err="1"/>
              <a:t>제고가</a:t>
            </a:r>
            <a:r>
              <a:rPr dirty="0"/>
              <a:t> </a:t>
            </a:r>
            <a:r>
              <a:rPr dirty="0" err="1"/>
              <a:t>중요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625AB-BAF7-4022-B1EF-2A5F03E2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FABF4-0821-4982-9FE4-01477863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에너지 안보의 중요성 ② 지정학·전략자율성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001376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공급은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지역</a:t>
            </a:r>
            <a:r>
              <a:rPr dirty="0"/>
              <a:t>/</a:t>
            </a:r>
            <a:r>
              <a:rPr dirty="0" err="1"/>
              <a:t>국가에</a:t>
            </a:r>
            <a:r>
              <a:rPr dirty="0"/>
              <a:t> </a:t>
            </a:r>
            <a:r>
              <a:rPr dirty="0" err="1"/>
              <a:t>집중</a:t>
            </a:r>
            <a:r>
              <a:rPr dirty="0"/>
              <a:t>: </a:t>
            </a:r>
            <a:r>
              <a:rPr dirty="0" err="1"/>
              <a:t>갈등·정치불안이</a:t>
            </a:r>
            <a:r>
              <a:rPr dirty="0"/>
              <a:t> 곧 </a:t>
            </a:r>
            <a:r>
              <a:rPr dirty="0" err="1"/>
              <a:t>수급</a:t>
            </a:r>
            <a:r>
              <a:rPr dirty="0"/>
              <a:t> </a:t>
            </a:r>
            <a:r>
              <a:rPr dirty="0" err="1"/>
              <a:t>위기로</a:t>
            </a:r>
            <a:r>
              <a:rPr dirty="0"/>
              <a:t> </a:t>
            </a:r>
            <a:r>
              <a:rPr dirty="0" err="1"/>
              <a:t>전이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러시아-우크라이나</a:t>
            </a:r>
            <a:r>
              <a:rPr dirty="0"/>
              <a:t> </a:t>
            </a:r>
            <a:r>
              <a:rPr dirty="0" err="1"/>
              <a:t>전쟁은</a:t>
            </a:r>
            <a:r>
              <a:rPr dirty="0"/>
              <a:t> ‘</a:t>
            </a:r>
            <a:r>
              <a:rPr dirty="0" err="1"/>
              <a:t>가스·석유</a:t>
            </a:r>
            <a:r>
              <a:rPr dirty="0"/>
              <a:t> </a:t>
            </a:r>
            <a:r>
              <a:rPr dirty="0" err="1"/>
              <a:t>의존’이</a:t>
            </a:r>
            <a:r>
              <a:rPr dirty="0"/>
              <a:t> </a:t>
            </a:r>
            <a:r>
              <a:rPr dirty="0" err="1"/>
              <a:t>산업·정치·사회</a:t>
            </a:r>
            <a:r>
              <a:rPr dirty="0"/>
              <a:t> </a:t>
            </a:r>
            <a:r>
              <a:rPr dirty="0" err="1"/>
              <a:t>위기로</a:t>
            </a:r>
            <a:r>
              <a:rPr dirty="0"/>
              <a:t> </a:t>
            </a:r>
            <a:r>
              <a:rPr dirty="0" err="1"/>
              <a:t>확산될</a:t>
            </a:r>
            <a:r>
              <a:rPr dirty="0"/>
              <a:t> 수 </a:t>
            </a:r>
            <a:r>
              <a:rPr dirty="0" err="1"/>
              <a:t>있음을</a:t>
            </a:r>
            <a:r>
              <a:rPr dirty="0"/>
              <a:t> </a:t>
            </a:r>
            <a:r>
              <a:rPr dirty="0" err="1"/>
              <a:t>보여줌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수송로</a:t>
            </a:r>
            <a:r>
              <a:rPr dirty="0"/>
              <a:t>(</a:t>
            </a:r>
            <a:r>
              <a:rPr dirty="0" err="1"/>
              <a:t>해협·운하·파이프라인</a:t>
            </a:r>
            <a:r>
              <a:rPr dirty="0"/>
              <a:t>) </a:t>
            </a:r>
            <a:r>
              <a:rPr dirty="0" err="1"/>
              <a:t>취약</a:t>
            </a:r>
            <a:r>
              <a:rPr dirty="0"/>
              <a:t>: </a:t>
            </a:r>
            <a:r>
              <a:rPr dirty="0" err="1"/>
              <a:t>호르무즈</a:t>
            </a:r>
            <a:r>
              <a:rPr dirty="0"/>
              <a:t>, </a:t>
            </a:r>
            <a:r>
              <a:rPr dirty="0" err="1"/>
              <a:t>수에즈</a:t>
            </a:r>
            <a:r>
              <a:rPr dirty="0"/>
              <a:t> 등 </a:t>
            </a:r>
            <a:r>
              <a:rPr dirty="0" err="1"/>
              <a:t>초크포인트가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정책적</a:t>
            </a:r>
            <a:r>
              <a:rPr dirty="0"/>
              <a:t> </a:t>
            </a:r>
            <a:r>
              <a:rPr dirty="0" err="1"/>
              <a:t>함의</a:t>
            </a:r>
            <a:r>
              <a:rPr dirty="0"/>
              <a:t>: </a:t>
            </a:r>
            <a:r>
              <a:rPr dirty="0" err="1"/>
              <a:t>동맹·에너지외교</a:t>
            </a:r>
            <a:r>
              <a:rPr dirty="0"/>
              <a:t>, </a:t>
            </a:r>
            <a:r>
              <a:rPr dirty="0" err="1"/>
              <a:t>공급경로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, </a:t>
            </a:r>
            <a:r>
              <a:rPr dirty="0" err="1"/>
              <a:t>위기대응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 </a:t>
            </a:r>
            <a:r>
              <a:rPr dirty="0" err="1"/>
              <a:t>구축이</a:t>
            </a:r>
            <a:r>
              <a:rPr dirty="0"/>
              <a:t> </a:t>
            </a:r>
            <a:r>
              <a:rPr dirty="0" err="1"/>
              <a:t>필수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5526C-C9A8-4278-9CA8-51FC9834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58D12-C16E-48F2-AB19-80B35227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에너지 안보의 중요성 ③ 기후·사회·기술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94422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전환은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화석연료</a:t>
            </a:r>
            <a:r>
              <a:rPr dirty="0"/>
              <a:t> </a:t>
            </a:r>
            <a:r>
              <a:rPr dirty="0" err="1"/>
              <a:t>리스크를</a:t>
            </a:r>
            <a:r>
              <a:rPr dirty="0"/>
              <a:t> </a:t>
            </a:r>
            <a:r>
              <a:rPr dirty="0" err="1"/>
              <a:t>줄이지만</a:t>
            </a:r>
            <a:r>
              <a:rPr dirty="0"/>
              <a:t>, </a:t>
            </a:r>
            <a:r>
              <a:rPr dirty="0" err="1"/>
              <a:t>핵심광물·부품</a:t>
            </a:r>
            <a:r>
              <a:rPr dirty="0"/>
              <a:t> </a:t>
            </a: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리스크를</a:t>
            </a:r>
            <a:r>
              <a:rPr dirty="0"/>
              <a:t> </a:t>
            </a:r>
            <a:r>
              <a:rPr dirty="0" err="1"/>
              <a:t>새로</a:t>
            </a:r>
            <a:r>
              <a:rPr dirty="0"/>
              <a:t> </a:t>
            </a:r>
            <a:r>
              <a:rPr dirty="0" err="1"/>
              <a:t>유발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전력공급</a:t>
            </a:r>
            <a:r>
              <a:rPr dirty="0"/>
              <a:t> </a:t>
            </a:r>
            <a:r>
              <a:rPr dirty="0" err="1"/>
              <a:t>중단·난방</a:t>
            </a:r>
            <a:r>
              <a:rPr dirty="0"/>
              <a:t> </a:t>
            </a:r>
            <a:r>
              <a:rPr dirty="0" err="1"/>
              <a:t>연료</a:t>
            </a:r>
            <a:r>
              <a:rPr dirty="0"/>
              <a:t> </a:t>
            </a:r>
            <a:r>
              <a:rPr dirty="0" err="1"/>
              <a:t>부족·가격</a:t>
            </a:r>
            <a:r>
              <a:rPr dirty="0"/>
              <a:t> </a:t>
            </a:r>
            <a:r>
              <a:rPr dirty="0" err="1"/>
              <a:t>급등은</a:t>
            </a:r>
            <a:r>
              <a:rPr dirty="0"/>
              <a:t> </a:t>
            </a:r>
            <a:r>
              <a:rPr dirty="0" err="1"/>
              <a:t>시민</a:t>
            </a:r>
            <a:r>
              <a:rPr dirty="0"/>
              <a:t> </a:t>
            </a:r>
            <a:r>
              <a:rPr dirty="0" err="1"/>
              <a:t>생활과</a:t>
            </a:r>
            <a:r>
              <a:rPr dirty="0"/>
              <a:t> </a:t>
            </a:r>
            <a:r>
              <a:rPr dirty="0" err="1"/>
              <a:t>사회</a:t>
            </a:r>
            <a:r>
              <a:rPr dirty="0"/>
              <a:t> </a:t>
            </a:r>
            <a:r>
              <a:rPr dirty="0" err="1"/>
              <a:t>안정에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타격</a:t>
            </a:r>
            <a:r>
              <a:rPr dirty="0"/>
              <a:t>(</a:t>
            </a:r>
            <a:r>
              <a:rPr dirty="0" err="1"/>
              <a:t>연료빈곤</a:t>
            </a:r>
            <a:r>
              <a:rPr dirty="0"/>
              <a:t> </a:t>
            </a:r>
            <a:r>
              <a:rPr dirty="0" err="1"/>
              <a:t>문제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데이터센터·첨단제조</a:t>
            </a:r>
            <a:r>
              <a:rPr dirty="0"/>
              <a:t> 등 </a:t>
            </a:r>
            <a:r>
              <a:rPr dirty="0" err="1"/>
              <a:t>고에너지</a:t>
            </a:r>
            <a:r>
              <a:rPr dirty="0"/>
              <a:t> </a:t>
            </a:r>
            <a:r>
              <a:rPr dirty="0" err="1"/>
              <a:t>산업은</a:t>
            </a:r>
            <a:r>
              <a:rPr dirty="0"/>
              <a:t> ‘</a:t>
            </a:r>
            <a:r>
              <a:rPr dirty="0" err="1"/>
              <a:t>안정적·예측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’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공급이</a:t>
            </a:r>
            <a:r>
              <a:rPr dirty="0"/>
              <a:t> </a:t>
            </a:r>
            <a:r>
              <a:rPr dirty="0" err="1"/>
              <a:t>경쟁력의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정책적</a:t>
            </a:r>
            <a:r>
              <a:rPr dirty="0"/>
              <a:t> </a:t>
            </a:r>
            <a:r>
              <a:rPr dirty="0" err="1"/>
              <a:t>함의</a:t>
            </a:r>
            <a:r>
              <a:rPr dirty="0"/>
              <a:t>: </a:t>
            </a:r>
            <a:r>
              <a:rPr dirty="0" err="1"/>
              <a:t>취약계층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, </a:t>
            </a:r>
            <a:r>
              <a:rPr dirty="0" err="1"/>
              <a:t>계통·저장·디지털</a:t>
            </a:r>
            <a:r>
              <a:rPr dirty="0"/>
              <a:t>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, </a:t>
            </a:r>
            <a:r>
              <a:rPr dirty="0" err="1"/>
              <a:t>기술혁신</a:t>
            </a:r>
            <a:r>
              <a:rPr dirty="0"/>
              <a:t> </a:t>
            </a:r>
            <a:r>
              <a:rPr dirty="0" err="1"/>
              <a:t>촉진이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053F9-8EEE-4C07-80E6-A88B3637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A497B-2A93-45F9-B712-0FFF2B0A9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/>
            </a:pPr>
            <a:r>
              <a:rPr lang="en-US" dirty="0"/>
              <a:t>14.3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안보의</a:t>
            </a:r>
            <a:r>
              <a:rPr dirty="0"/>
              <a:t> </a:t>
            </a:r>
            <a:r>
              <a:rPr dirty="0" err="1"/>
              <a:t>구성요소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172825" cy="4525963"/>
          </a:xfrm>
        </p:spPr>
        <p:txBody>
          <a:bodyPr/>
          <a:lstStyle/>
          <a:p>
            <a:pPr>
              <a:defRPr sz="2000"/>
            </a:pPr>
            <a:r>
              <a:rPr dirty="0"/>
              <a:t>① </a:t>
            </a:r>
            <a:r>
              <a:rPr dirty="0" err="1"/>
              <a:t>공급의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: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시점·장소에</a:t>
            </a:r>
            <a:r>
              <a:rPr dirty="0"/>
              <a:t> </a:t>
            </a:r>
            <a:r>
              <a:rPr dirty="0" err="1"/>
              <a:t>연속적으로</a:t>
            </a:r>
            <a:r>
              <a:rPr dirty="0"/>
              <a:t> </a:t>
            </a:r>
            <a:r>
              <a:rPr dirty="0" err="1"/>
              <a:t>에너지를</a:t>
            </a:r>
            <a:r>
              <a:rPr dirty="0"/>
              <a:t> </a:t>
            </a:r>
            <a:r>
              <a:rPr dirty="0" err="1"/>
              <a:t>확보·전달하는</a:t>
            </a:r>
            <a:r>
              <a:rPr dirty="0"/>
              <a:t> </a:t>
            </a:r>
            <a:r>
              <a:rPr dirty="0" err="1"/>
              <a:t>능력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②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: </a:t>
            </a:r>
            <a:r>
              <a:rPr dirty="0" err="1"/>
              <a:t>감당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수준에서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가격으로</a:t>
            </a:r>
            <a:r>
              <a:rPr dirty="0"/>
              <a:t> </a:t>
            </a:r>
            <a:r>
              <a:rPr dirty="0" err="1"/>
              <a:t>공급되는</a:t>
            </a:r>
            <a:r>
              <a:rPr dirty="0"/>
              <a:t> </a:t>
            </a:r>
            <a:r>
              <a:rPr dirty="0" err="1"/>
              <a:t>정도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③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복원력</a:t>
            </a:r>
            <a:r>
              <a:rPr dirty="0"/>
              <a:t>: </a:t>
            </a:r>
            <a:r>
              <a:rPr dirty="0" err="1"/>
              <a:t>재난·사고·사이버</a:t>
            </a:r>
            <a:r>
              <a:rPr dirty="0"/>
              <a:t> 등 </a:t>
            </a:r>
            <a:r>
              <a:rPr dirty="0" err="1"/>
              <a:t>충격</a:t>
            </a:r>
            <a:r>
              <a:rPr dirty="0"/>
              <a:t> </a:t>
            </a:r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시스템이</a:t>
            </a:r>
            <a:r>
              <a:rPr dirty="0"/>
              <a:t> </a:t>
            </a:r>
            <a:r>
              <a:rPr dirty="0" err="1"/>
              <a:t>빠르게</a:t>
            </a:r>
            <a:r>
              <a:rPr dirty="0"/>
              <a:t> </a:t>
            </a:r>
            <a:r>
              <a:rPr dirty="0" err="1"/>
              <a:t>회복하는</a:t>
            </a:r>
            <a:r>
              <a:rPr dirty="0"/>
              <a:t> </a:t>
            </a:r>
            <a:r>
              <a:rPr dirty="0" err="1"/>
              <a:t>능력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세 </a:t>
            </a:r>
            <a:r>
              <a:rPr dirty="0" err="1"/>
              <a:t>요소는</a:t>
            </a:r>
            <a:r>
              <a:rPr dirty="0"/>
              <a:t> </a:t>
            </a:r>
            <a:r>
              <a:rPr dirty="0" err="1"/>
              <a:t>상호</a:t>
            </a:r>
            <a:r>
              <a:rPr dirty="0"/>
              <a:t> </a:t>
            </a:r>
            <a:r>
              <a:rPr dirty="0" err="1"/>
              <a:t>연결</a:t>
            </a:r>
            <a:r>
              <a:rPr dirty="0"/>
              <a:t>: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충격</a:t>
            </a:r>
            <a:r>
              <a:rPr dirty="0"/>
              <a:t> →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변동</a:t>
            </a:r>
            <a:r>
              <a:rPr dirty="0"/>
              <a:t> → </a:t>
            </a:r>
            <a:r>
              <a:rPr dirty="0" err="1"/>
              <a:t>사회·정치</a:t>
            </a:r>
            <a:r>
              <a:rPr dirty="0"/>
              <a:t> </a:t>
            </a:r>
            <a:r>
              <a:rPr dirty="0" err="1"/>
              <a:t>갈등</a:t>
            </a:r>
            <a:r>
              <a:rPr dirty="0"/>
              <a:t> →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위축으로</a:t>
            </a:r>
            <a:r>
              <a:rPr dirty="0"/>
              <a:t> </a:t>
            </a:r>
            <a:r>
              <a:rPr dirty="0" err="1"/>
              <a:t>이어질</a:t>
            </a:r>
            <a:r>
              <a:rPr dirty="0"/>
              <a:t> 수 </a:t>
            </a:r>
            <a:r>
              <a:rPr dirty="0" err="1"/>
              <a:t>있음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9060A-1DC2-4FA0-8DB7-9B947D38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E8121-AE0D-4F77-84C1-742C7614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9686925" cy="1143000"/>
          </a:xfrm>
        </p:spPr>
        <p:txBody>
          <a:bodyPr/>
          <a:lstStyle/>
          <a:p>
            <a:pPr algn="l">
              <a:defRPr sz="3200"/>
            </a:pPr>
            <a:r>
              <a:rPr lang="en-US" dirty="0"/>
              <a:t>14.3.1. </a:t>
            </a:r>
            <a:r>
              <a:rPr dirty="0" err="1"/>
              <a:t>공급의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 — </a:t>
            </a:r>
            <a:r>
              <a:rPr dirty="0" err="1"/>
              <a:t>개념과</a:t>
            </a:r>
            <a:r>
              <a:rPr dirty="0"/>
              <a:t> 두 </a:t>
            </a:r>
            <a:r>
              <a:rPr dirty="0" err="1"/>
              <a:t>차원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83945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안정성은</a:t>
            </a:r>
            <a:r>
              <a:rPr dirty="0"/>
              <a:t> ‘</a:t>
            </a:r>
            <a:r>
              <a:rPr dirty="0" err="1"/>
              <a:t>자원</a:t>
            </a:r>
            <a:r>
              <a:rPr dirty="0"/>
              <a:t> </a:t>
            </a:r>
            <a:r>
              <a:rPr dirty="0" err="1"/>
              <a:t>존재’가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‘</a:t>
            </a:r>
            <a:r>
              <a:rPr dirty="0" err="1"/>
              <a:t>전달</a:t>
            </a:r>
            <a:r>
              <a:rPr dirty="0"/>
              <a:t> </a:t>
            </a:r>
            <a:r>
              <a:rPr dirty="0" err="1"/>
              <a:t>가능성</a:t>
            </a:r>
            <a:r>
              <a:rPr dirty="0"/>
              <a:t>(</a:t>
            </a:r>
            <a:r>
              <a:rPr dirty="0" err="1"/>
              <a:t>인프라·제도·시장</a:t>
            </a:r>
            <a:r>
              <a:rPr dirty="0"/>
              <a:t>)’</a:t>
            </a:r>
            <a:r>
              <a:rPr dirty="0" err="1"/>
              <a:t>까지</a:t>
            </a:r>
            <a:r>
              <a:rPr dirty="0"/>
              <a:t> </a:t>
            </a:r>
            <a:r>
              <a:rPr dirty="0" err="1"/>
              <a:t>포함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단기적</a:t>
            </a:r>
            <a:r>
              <a:rPr dirty="0"/>
              <a:t> </a:t>
            </a:r>
            <a:r>
              <a:rPr dirty="0" err="1"/>
              <a:t>충격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: </a:t>
            </a:r>
            <a:r>
              <a:rPr dirty="0" err="1"/>
              <a:t>자연재해</a:t>
            </a:r>
            <a:r>
              <a:rPr dirty="0"/>
              <a:t>, </a:t>
            </a:r>
            <a:r>
              <a:rPr dirty="0" err="1"/>
              <a:t>정세불안</a:t>
            </a:r>
            <a:r>
              <a:rPr dirty="0"/>
              <a:t>, </a:t>
            </a:r>
            <a:r>
              <a:rPr dirty="0" err="1"/>
              <a:t>테러</a:t>
            </a:r>
            <a:r>
              <a:rPr dirty="0"/>
              <a:t>/</a:t>
            </a:r>
            <a:r>
              <a:rPr dirty="0" err="1"/>
              <a:t>사고</a:t>
            </a:r>
            <a:r>
              <a:rPr dirty="0"/>
              <a:t> </a:t>
            </a:r>
            <a:r>
              <a:rPr dirty="0" err="1"/>
              <a:t>등으로</a:t>
            </a:r>
            <a:r>
              <a:rPr dirty="0"/>
              <a:t> </a:t>
            </a:r>
            <a:r>
              <a:rPr dirty="0" err="1"/>
              <a:t>인한</a:t>
            </a:r>
            <a:r>
              <a:rPr dirty="0"/>
              <a:t>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중단에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복구</a:t>
            </a:r>
            <a:r>
              <a:rPr dirty="0"/>
              <a:t> </a:t>
            </a:r>
            <a:r>
              <a:rPr dirty="0" err="1"/>
              <a:t>속도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장기적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안정</a:t>
            </a:r>
            <a:r>
              <a:rPr dirty="0"/>
              <a:t>: </a:t>
            </a:r>
            <a:r>
              <a:rPr dirty="0" err="1"/>
              <a:t>수입처</a:t>
            </a:r>
            <a:r>
              <a:rPr dirty="0"/>
              <a:t> </a:t>
            </a:r>
            <a:r>
              <a:rPr dirty="0" err="1"/>
              <a:t>다양성</a:t>
            </a:r>
            <a:r>
              <a:rPr dirty="0"/>
              <a:t>, </a:t>
            </a:r>
            <a:r>
              <a:rPr dirty="0" err="1"/>
              <a:t>해외의존도</a:t>
            </a:r>
            <a:r>
              <a:rPr dirty="0"/>
              <a:t>, </a:t>
            </a:r>
            <a:r>
              <a:rPr dirty="0" err="1"/>
              <a:t>국내</a:t>
            </a:r>
            <a:r>
              <a:rPr dirty="0"/>
              <a:t> </a:t>
            </a:r>
            <a:r>
              <a:rPr dirty="0" err="1"/>
              <a:t>대체원</a:t>
            </a:r>
            <a:r>
              <a:rPr dirty="0"/>
              <a:t> </a:t>
            </a:r>
            <a:r>
              <a:rPr dirty="0" err="1"/>
              <a:t>확보</a:t>
            </a:r>
            <a:r>
              <a:rPr dirty="0"/>
              <a:t> 등 </a:t>
            </a: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취약성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사례</a:t>
            </a:r>
            <a:r>
              <a:rPr dirty="0"/>
              <a:t>: </a:t>
            </a:r>
            <a:r>
              <a:rPr dirty="0" err="1"/>
              <a:t>텍사스</a:t>
            </a:r>
            <a:r>
              <a:rPr dirty="0"/>
              <a:t> </a:t>
            </a:r>
            <a:r>
              <a:rPr dirty="0" err="1"/>
              <a:t>혹한기</a:t>
            </a:r>
            <a:r>
              <a:rPr dirty="0"/>
              <a:t> </a:t>
            </a:r>
            <a:r>
              <a:rPr dirty="0" err="1"/>
              <a:t>정전</a:t>
            </a:r>
            <a:r>
              <a:rPr dirty="0"/>
              <a:t>, </a:t>
            </a:r>
            <a:r>
              <a:rPr dirty="0" err="1"/>
              <a:t>가스</a:t>
            </a:r>
            <a:r>
              <a:rPr dirty="0"/>
              <a:t> </a:t>
            </a:r>
            <a:r>
              <a:rPr dirty="0" err="1"/>
              <a:t>분쟁</a:t>
            </a:r>
            <a:r>
              <a:rPr dirty="0"/>
              <a:t> </a:t>
            </a:r>
            <a:r>
              <a:rPr dirty="0" err="1"/>
              <a:t>등은</a:t>
            </a:r>
            <a:r>
              <a:rPr dirty="0"/>
              <a:t>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취약성이</a:t>
            </a:r>
            <a:r>
              <a:rPr dirty="0"/>
              <a:t> 큰 </a:t>
            </a:r>
            <a:r>
              <a:rPr dirty="0" err="1"/>
              <a:t>피해로</a:t>
            </a:r>
            <a:r>
              <a:rPr dirty="0"/>
              <a:t> </a:t>
            </a:r>
            <a:r>
              <a:rPr dirty="0" err="1"/>
              <a:t>이어질</a:t>
            </a:r>
            <a:r>
              <a:rPr dirty="0"/>
              <a:t> 수 </a:t>
            </a:r>
            <a:r>
              <a:rPr dirty="0" err="1"/>
              <a:t>있음을</a:t>
            </a:r>
            <a:r>
              <a:rPr dirty="0"/>
              <a:t> </a:t>
            </a:r>
            <a:r>
              <a:rPr dirty="0" err="1"/>
              <a:t>시사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BF10E-BCDB-4441-8709-194DC93A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1B48C-1C26-429B-A6E2-BD5C877C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/>
            </a:pP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 </a:t>
            </a:r>
            <a:r>
              <a:rPr dirty="0" err="1"/>
              <a:t>강화의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패키지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43952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수입처</a:t>
            </a:r>
            <a:r>
              <a:rPr dirty="0"/>
              <a:t>/</a:t>
            </a:r>
            <a:r>
              <a:rPr dirty="0" err="1"/>
              <a:t>경로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: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국가·노선</a:t>
            </a:r>
            <a:r>
              <a:rPr dirty="0"/>
              <a:t> </a:t>
            </a:r>
            <a:r>
              <a:rPr dirty="0" err="1"/>
              <a:t>집중을</a:t>
            </a:r>
            <a:r>
              <a:rPr dirty="0"/>
              <a:t> </a:t>
            </a:r>
            <a:r>
              <a:rPr dirty="0" err="1"/>
              <a:t>완화해</a:t>
            </a:r>
            <a:r>
              <a:rPr dirty="0"/>
              <a:t> ‘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실패점’을</a:t>
            </a:r>
            <a:r>
              <a:rPr dirty="0"/>
              <a:t> </a:t>
            </a:r>
            <a:r>
              <a:rPr dirty="0" err="1"/>
              <a:t>줄임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전략적</a:t>
            </a:r>
            <a:r>
              <a:rPr dirty="0"/>
              <a:t> </a:t>
            </a:r>
            <a:r>
              <a:rPr dirty="0" err="1"/>
              <a:t>비축</a:t>
            </a:r>
            <a:r>
              <a:rPr dirty="0"/>
              <a:t>: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중단</a:t>
            </a:r>
            <a:r>
              <a:rPr dirty="0"/>
              <a:t> 시 </a:t>
            </a:r>
            <a:r>
              <a:rPr dirty="0" err="1"/>
              <a:t>수주~수개월</a:t>
            </a:r>
            <a:r>
              <a:rPr dirty="0"/>
              <a:t> </a:t>
            </a:r>
            <a:r>
              <a:rPr dirty="0" err="1"/>
              <a:t>완충</a:t>
            </a:r>
            <a:r>
              <a:rPr dirty="0"/>
              <a:t>(</a:t>
            </a:r>
            <a:r>
              <a:rPr dirty="0" err="1"/>
              <a:t>보험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대체</a:t>
            </a:r>
            <a:r>
              <a:rPr dirty="0"/>
              <a:t> </a:t>
            </a:r>
            <a:r>
              <a:rPr dirty="0" err="1"/>
              <a:t>에너지원</a:t>
            </a:r>
            <a:r>
              <a:rPr dirty="0"/>
              <a:t>/</a:t>
            </a:r>
            <a:r>
              <a:rPr dirty="0" err="1"/>
              <a:t>국내</a:t>
            </a:r>
            <a:r>
              <a:rPr dirty="0"/>
              <a:t> </a:t>
            </a:r>
            <a:r>
              <a:rPr dirty="0" err="1"/>
              <a:t>생산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: </a:t>
            </a:r>
            <a:r>
              <a:rPr dirty="0" err="1"/>
              <a:t>연료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, </a:t>
            </a:r>
            <a:r>
              <a:rPr dirty="0" err="1"/>
              <a:t>재생에너지·원전·수소</a:t>
            </a:r>
            <a:r>
              <a:rPr dirty="0"/>
              <a:t> 등 </a:t>
            </a:r>
            <a:r>
              <a:rPr dirty="0" err="1"/>
              <a:t>믹스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신뢰성</a:t>
            </a:r>
            <a:r>
              <a:rPr dirty="0"/>
              <a:t> </a:t>
            </a:r>
            <a:r>
              <a:rPr dirty="0" err="1"/>
              <a:t>제고</a:t>
            </a:r>
            <a:r>
              <a:rPr dirty="0"/>
              <a:t>: </a:t>
            </a:r>
            <a:r>
              <a:rPr dirty="0" err="1"/>
              <a:t>송전망·터미널·저장시설의</a:t>
            </a:r>
            <a:r>
              <a:rPr dirty="0"/>
              <a:t> </a:t>
            </a:r>
            <a:r>
              <a:rPr dirty="0" err="1"/>
              <a:t>노후화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, </a:t>
            </a:r>
            <a:r>
              <a:rPr dirty="0" err="1"/>
              <a:t>예비설비</a:t>
            </a:r>
            <a:r>
              <a:rPr dirty="0"/>
              <a:t> </a:t>
            </a:r>
            <a:r>
              <a:rPr dirty="0" err="1"/>
              <a:t>확보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일관성</a:t>
            </a:r>
            <a:r>
              <a:rPr dirty="0"/>
              <a:t>: </a:t>
            </a:r>
            <a:r>
              <a:rPr dirty="0" err="1"/>
              <a:t>규제·제도</a:t>
            </a:r>
            <a:r>
              <a:rPr dirty="0"/>
              <a:t> </a:t>
            </a:r>
            <a:r>
              <a:rPr dirty="0" err="1"/>
              <a:t>불확실성은</a:t>
            </a:r>
            <a:r>
              <a:rPr dirty="0"/>
              <a:t> </a:t>
            </a:r>
            <a:r>
              <a:rPr dirty="0" err="1"/>
              <a:t>리스크</a:t>
            </a:r>
            <a:r>
              <a:rPr dirty="0"/>
              <a:t> </a:t>
            </a:r>
            <a:r>
              <a:rPr dirty="0" err="1"/>
              <a:t>프리미엄을</a:t>
            </a:r>
            <a:r>
              <a:rPr dirty="0"/>
              <a:t> </a:t>
            </a:r>
            <a:r>
              <a:rPr dirty="0" err="1"/>
              <a:t>높여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위축</a:t>
            </a:r>
            <a:r>
              <a:rPr dirty="0"/>
              <a:t> →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불안정으로</a:t>
            </a:r>
            <a:r>
              <a:rPr dirty="0"/>
              <a:t> </a:t>
            </a:r>
            <a:r>
              <a:rPr dirty="0" err="1"/>
              <a:t>연결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61475-8A0A-44FB-B0B7-395009F5F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46585-292C-40EE-A67B-07592891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/>
            </a:pPr>
            <a:r>
              <a:rPr lang="en-US" dirty="0"/>
              <a:t>14.3.2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 — </a:t>
            </a:r>
            <a:r>
              <a:rPr dirty="0" err="1"/>
              <a:t>영향과</a:t>
            </a:r>
            <a:r>
              <a:rPr dirty="0"/>
              <a:t> </a:t>
            </a:r>
            <a:r>
              <a:rPr dirty="0" err="1"/>
              <a:t>정책수단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99185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공급이</a:t>
            </a:r>
            <a:r>
              <a:rPr dirty="0"/>
              <a:t> </a:t>
            </a:r>
            <a:r>
              <a:rPr dirty="0" err="1"/>
              <a:t>유지돼도</a:t>
            </a:r>
            <a:r>
              <a:rPr dirty="0"/>
              <a:t>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급등·변동성</a:t>
            </a:r>
            <a:r>
              <a:rPr dirty="0"/>
              <a:t> </a:t>
            </a:r>
            <a:r>
              <a:rPr dirty="0" err="1"/>
              <a:t>확대는</a:t>
            </a:r>
            <a:r>
              <a:rPr dirty="0"/>
              <a:t> ‘</a:t>
            </a:r>
            <a:r>
              <a:rPr dirty="0" err="1"/>
              <a:t>경제적</a:t>
            </a:r>
            <a:r>
              <a:rPr dirty="0"/>
              <a:t> </a:t>
            </a:r>
            <a:r>
              <a:rPr dirty="0" err="1"/>
              <a:t>안보’를</a:t>
            </a:r>
            <a:r>
              <a:rPr dirty="0"/>
              <a:t> </a:t>
            </a:r>
            <a:r>
              <a:rPr dirty="0" err="1"/>
              <a:t>훼손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경제</a:t>
            </a:r>
            <a:r>
              <a:rPr dirty="0"/>
              <a:t> </a:t>
            </a:r>
            <a:r>
              <a:rPr dirty="0" err="1"/>
              <a:t>경로</a:t>
            </a:r>
            <a:r>
              <a:rPr dirty="0"/>
              <a:t>: </a:t>
            </a:r>
            <a:r>
              <a:rPr dirty="0" err="1"/>
              <a:t>인플레이션</a:t>
            </a:r>
            <a:r>
              <a:rPr dirty="0"/>
              <a:t> → </a:t>
            </a:r>
            <a:r>
              <a:rPr dirty="0" err="1"/>
              <a:t>실질소득</a:t>
            </a:r>
            <a:r>
              <a:rPr dirty="0"/>
              <a:t> </a:t>
            </a:r>
            <a:r>
              <a:rPr dirty="0" err="1"/>
              <a:t>감소</a:t>
            </a:r>
            <a:r>
              <a:rPr dirty="0"/>
              <a:t> → </a:t>
            </a:r>
            <a:r>
              <a:rPr dirty="0" err="1"/>
              <a:t>소비·투자</a:t>
            </a:r>
            <a:r>
              <a:rPr dirty="0"/>
              <a:t> </a:t>
            </a:r>
            <a:r>
              <a:rPr dirty="0" err="1"/>
              <a:t>위축</a:t>
            </a:r>
            <a:r>
              <a:rPr dirty="0"/>
              <a:t>(‘</a:t>
            </a:r>
            <a:r>
              <a:rPr dirty="0" err="1"/>
              <a:t>석유가격</a:t>
            </a:r>
            <a:r>
              <a:rPr dirty="0"/>
              <a:t> </a:t>
            </a:r>
            <a:r>
              <a:rPr dirty="0" err="1"/>
              <a:t>충격</a:t>
            </a:r>
            <a:r>
              <a:rPr dirty="0"/>
              <a:t>’).</a:t>
            </a:r>
          </a:p>
          <a:p>
            <a:pPr>
              <a:defRPr sz="2000"/>
            </a:pP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수단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 err="1"/>
              <a:t>장기계약·헤징</a:t>
            </a:r>
            <a:r>
              <a:rPr dirty="0"/>
              <a:t>: </a:t>
            </a:r>
            <a:r>
              <a:rPr dirty="0" err="1"/>
              <a:t>조달</a:t>
            </a:r>
            <a:r>
              <a:rPr dirty="0"/>
              <a:t> </a:t>
            </a:r>
            <a:r>
              <a:rPr dirty="0" err="1"/>
              <a:t>가격의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가능성</a:t>
            </a:r>
            <a:r>
              <a:rPr dirty="0"/>
              <a:t> </a:t>
            </a:r>
            <a:r>
              <a:rPr dirty="0" err="1"/>
              <a:t>확보</a:t>
            </a:r>
            <a:endParaRPr dirty="0"/>
          </a:p>
          <a:p>
            <a:pPr lvl="1">
              <a:defRPr sz="1800"/>
            </a:pPr>
            <a:r>
              <a:rPr dirty="0" err="1"/>
              <a:t>세제·가격안정기금</a:t>
            </a:r>
            <a:r>
              <a:rPr dirty="0"/>
              <a:t>: </a:t>
            </a:r>
            <a:r>
              <a:rPr dirty="0" err="1"/>
              <a:t>충격</a:t>
            </a:r>
            <a:r>
              <a:rPr dirty="0"/>
              <a:t> </a:t>
            </a:r>
            <a:r>
              <a:rPr dirty="0" err="1"/>
              <a:t>완화</a:t>
            </a:r>
            <a:r>
              <a:rPr dirty="0"/>
              <a:t>(단, </a:t>
            </a:r>
            <a:r>
              <a:rPr dirty="0" err="1"/>
              <a:t>과도한</a:t>
            </a:r>
            <a:r>
              <a:rPr dirty="0"/>
              <a:t> </a:t>
            </a:r>
            <a:r>
              <a:rPr dirty="0" err="1"/>
              <a:t>보조는</a:t>
            </a:r>
            <a:r>
              <a:rPr dirty="0"/>
              <a:t> </a:t>
            </a:r>
            <a:r>
              <a:rPr dirty="0" err="1"/>
              <a:t>왜곡·과소비</a:t>
            </a:r>
            <a:r>
              <a:rPr dirty="0"/>
              <a:t> </a:t>
            </a:r>
            <a:r>
              <a:rPr dirty="0" err="1"/>
              <a:t>유발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)</a:t>
            </a:r>
          </a:p>
          <a:p>
            <a:pPr lvl="1">
              <a:defRPr sz="1800"/>
            </a:pPr>
            <a:r>
              <a:rPr dirty="0" err="1"/>
              <a:t>비상</a:t>
            </a:r>
            <a:r>
              <a:rPr dirty="0"/>
              <a:t> 시 </a:t>
            </a:r>
            <a:r>
              <a:rPr dirty="0" err="1"/>
              <a:t>비축</a:t>
            </a:r>
            <a:r>
              <a:rPr dirty="0"/>
              <a:t> </a:t>
            </a:r>
            <a:r>
              <a:rPr dirty="0" err="1"/>
              <a:t>방출</a:t>
            </a:r>
            <a:r>
              <a:rPr dirty="0"/>
              <a:t>: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급등</a:t>
            </a:r>
            <a:r>
              <a:rPr dirty="0"/>
              <a:t> </a:t>
            </a:r>
            <a:r>
              <a:rPr dirty="0" err="1"/>
              <a:t>진정</a:t>
            </a:r>
            <a:r>
              <a:rPr dirty="0"/>
              <a:t>(</a:t>
            </a:r>
            <a:r>
              <a:rPr dirty="0" err="1"/>
              <a:t>방출</a:t>
            </a:r>
            <a:r>
              <a:rPr dirty="0"/>
              <a:t> </a:t>
            </a:r>
            <a:r>
              <a:rPr dirty="0" err="1"/>
              <a:t>규칙의</a:t>
            </a:r>
            <a:r>
              <a:rPr dirty="0"/>
              <a:t> </a:t>
            </a:r>
            <a:r>
              <a:rPr dirty="0" err="1"/>
              <a:t>투명성이</a:t>
            </a:r>
            <a:r>
              <a:rPr dirty="0"/>
              <a:t> </a:t>
            </a:r>
            <a:r>
              <a:rPr dirty="0" err="1"/>
              <a:t>중요</a:t>
            </a:r>
            <a:r>
              <a:rPr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60F61-B706-43A9-9B48-C9EFB3FA6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095E6-4276-4034-9516-F20AE0B2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277350" cy="1143000"/>
          </a:xfrm>
        </p:spPr>
        <p:txBody>
          <a:bodyPr/>
          <a:lstStyle/>
          <a:p>
            <a:pPr algn="l">
              <a:defRPr sz="3200"/>
            </a:pPr>
            <a:r>
              <a:rPr lang="en-US" dirty="0"/>
              <a:t>14.3.3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복원력</a:t>
            </a:r>
            <a:r>
              <a:rPr dirty="0"/>
              <a:t> — </a:t>
            </a:r>
            <a:r>
              <a:rPr dirty="0" err="1"/>
              <a:t>네트워크·사이버·기후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13460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시스템은</a:t>
            </a:r>
            <a:r>
              <a:rPr dirty="0"/>
              <a:t> </a:t>
            </a:r>
            <a:r>
              <a:rPr dirty="0" err="1"/>
              <a:t>상호연계</a:t>
            </a:r>
            <a:r>
              <a:rPr dirty="0"/>
              <a:t> </a:t>
            </a:r>
            <a:r>
              <a:rPr dirty="0" err="1"/>
              <a:t>네트워크</a:t>
            </a:r>
            <a:r>
              <a:rPr dirty="0"/>
              <a:t>: 한 </a:t>
            </a:r>
            <a:r>
              <a:rPr dirty="0" err="1"/>
              <a:t>지점</a:t>
            </a:r>
            <a:r>
              <a:rPr dirty="0"/>
              <a:t> </a:t>
            </a:r>
            <a:r>
              <a:rPr dirty="0" err="1"/>
              <a:t>고장이</a:t>
            </a:r>
            <a:r>
              <a:rPr dirty="0"/>
              <a:t> </a:t>
            </a:r>
            <a:r>
              <a:rPr dirty="0" err="1"/>
              <a:t>연쇄</a:t>
            </a:r>
            <a:r>
              <a:rPr dirty="0"/>
              <a:t> </a:t>
            </a:r>
            <a:r>
              <a:rPr dirty="0" err="1"/>
              <a:t>붕괴로</a:t>
            </a:r>
            <a:r>
              <a:rPr dirty="0"/>
              <a:t> </a:t>
            </a:r>
            <a:r>
              <a:rPr dirty="0" err="1"/>
              <a:t>확대될</a:t>
            </a:r>
            <a:r>
              <a:rPr dirty="0"/>
              <a:t> 수 </a:t>
            </a:r>
            <a:r>
              <a:rPr dirty="0" err="1"/>
              <a:t>있음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사례</a:t>
            </a:r>
            <a:r>
              <a:rPr dirty="0"/>
              <a:t>: 2003년 </a:t>
            </a:r>
            <a:r>
              <a:rPr dirty="0" err="1"/>
              <a:t>북미</a:t>
            </a:r>
            <a:r>
              <a:rPr dirty="0"/>
              <a:t> </a:t>
            </a:r>
            <a:r>
              <a:rPr dirty="0" err="1"/>
              <a:t>대정전은</a:t>
            </a:r>
            <a:r>
              <a:rPr dirty="0"/>
              <a:t>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고장이</a:t>
            </a:r>
            <a:r>
              <a:rPr dirty="0"/>
              <a:t> </a:t>
            </a:r>
            <a:r>
              <a:rPr dirty="0" err="1"/>
              <a:t>광역</a:t>
            </a:r>
            <a:r>
              <a:rPr dirty="0"/>
              <a:t> </a:t>
            </a:r>
            <a:r>
              <a:rPr dirty="0" err="1"/>
              <a:t>정전으로</a:t>
            </a:r>
            <a:r>
              <a:rPr dirty="0"/>
              <a:t> </a:t>
            </a:r>
            <a:r>
              <a:rPr dirty="0" err="1"/>
              <a:t>확산된</a:t>
            </a:r>
            <a:r>
              <a:rPr dirty="0"/>
              <a:t> </a:t>
            </a:r>
            <a:r>
              <a:rPr dirty="0" err="1"/>
              <a:t>대표적</a:t>
            </a:r>
            <a:r>
              <a:rPr dirty="0"/>
              <a:t> </a:t>
            </a:r>
            <a:r>
              <a:rPr dirty="0" err="1"/>
              <a:t>사례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복원력</a:t>
            </a:r>
            <a:r>
              <a:rPr dirty="0"/>
              <a:t> 3요소:</a:t>
            </a:r>
          </a:p>
          <a:p>
            <a:pPr lvl="1">
              <a:defRPr sz="1800"/>
            </a:pPr>
            <a:r>
              <a:rPr dirty="0" err="1"/>
              <a:t>내성</a:t>
            </a:r>
            <a:r>
              <a:rPr dirty="0"/>
              <a:t>(</a:t>
            </a:r>
            <a:r>
              <a:rPr dirty="0" err="1"/>
              <a:t>견고한</a:t>
            </a:r>
            <a:r>
              <a:rPr dirty="0"/>
              <a:t> </a:t>
            </a:r>
            <a:r>
              <a:rPr dirty="0" err="1"/>
              <a:t>설계·보안</a:t>
            </a:r>
            <a:r>
              <a:rPr dirty="0"/>
              <a:t>) / </a:t>
            </a:r>
            <a:r>
              <a:rPr dirty="0" err="1"/>
              <a:t>반응</a:t>
            </a:r>
            <a:r>
              <a:rPr dirty="0"/>
              <a:t>(</a:t>
            </a:r>
            <a:r>
              <a:rPr dirty="0" err="1"/>
              <a:t>탐지·대응</a:t>
            </a:r>
            <a:r>
              <a:rPr dirty="0"/>
              <a:t> </a:t>
            </a:r>
            <a:r>
              <a:rPr dirty="0" err="1"/>
              <a:t>속도</a:t>
            </a:r>
            <a:r>
              <a:rPr dirty="0"/>
              <a:t>) / </a:t>
            </a:r>
            <a:r>
              <a:rPr dirty="0" err="1"/>
              <a:t>복구</a:t>
            </a:r>
            <a:r>
              <a:rPr dirty="0"/>
              <a:t>(</a:t>
            </a:r>
            <a:r>
              <a:rPr dirty="0" err="1"/>
              <a:t>대체경로·예비설비</a:t>
            </a:r>
            <a:r>
              <a:rPr dirty="0"/>
              <a:t>)</a:t>
            </a:r>
          </a:p>
          <a:p>
            <a:pPr>
              <a:defRPr sz="2000"/>
            </a:pPr>
            <a:r>
              <a:rPr dirty="0" err="1"/>
              <a:t>스마트그리드</a:t>
            </a:r>
            <a:r>
              <a:rPr dirty="0"/>
              <a:t> </a:t>
            </a:r>
            <a:r>
              <a:rPr dirty="0" err="1"/>
              <a:t>확산</a:t>
            </a:r>
            <a:r>
              <a:rPr dirty="0"/>
              <a:t> → </a:t>
            </a:r>
            <a:r>
              <a:rPr dirty="0" err="1"/>
              <a:t>사이버</a:t>
            </a:r>
            <a:r>
              <a:rPr dirty="0"/>
              <a:t> </a:t>
            </a:r>
            <a:r>
              <a:rPr dirty="0" err="1"/>
              <a:t>공격면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: </a:t>
            </a:r>
            <a:r>
              <a:rPr dirty="0" err="1"/>
              <a:t>디지털</a:t>
            </a:r>
            <a:r>
              <a:rPr dirty="0"/>
              <a:t> </a:t>
            </a:r>
            <a:r>
              <a:rPr dirty="0" err="1"/>
              <a:t>보안은</a:t>
            </a:r>
            <a:r>
              <a:rPr dirty="0"/>
              <a:t> </a:t>
            </a:r>
            <a:r>
              <a:rPr dirty="0" err="1"/>
              <a:t>복원력의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기후변화</a:t>
            </a:r>
            <a:r>
              <a:rPr dirty="0"/>
              <a:t>(</a:t>
            </a:r>
            <a:r>
              <a:rPr dirty="0" err="1"/>
              <a:t>폭염·한파·홍수·산불</a:t>
            </a:r>
            <a:r>
              <a:rPr dirty="0"/>
              <a:t>) →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설계·투자</a:t>
            </a:r>
            <a:r>
              <a:rPr dirty="0"/>
              <a:t> </a:t>
            </a:r>
            <a:r>
              <a:rPr dirty="0" err="1"/>
              <a:t>기준에</a:t>
            </a:r>
            <a:r>
              <a:rPr dirty="0"/>
              <a:t> ‘</a:t>
            </a:r>
            <a:r>
              <a:rPr dirty="0" err="1"/>
              <a:t>기후</a:t>
            </a:r>
            <a:r>
              <a:rPr dirty="0"/>
              <a:t> </a:t>
            </a:r>
            <a:r>
              <a:rPr dirty="0" err="1"/>
              <a:t>회복력</a:t>
            </a:r>
            <a:r>
              <a:rPr dirty="0"/>
              <a:t>’ </a:t>
            </a:r>
            <a:r>
              <a:rPr dirty="0" err="1"/>
              <a:t>반영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A041A-55F4-4CF3-A235-51ABAEDAF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B3AE5-5C6C-41AE-9BC2-D1573558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/>
            </a:pPr>
            <a:r>
              <a:rPr lang="en-US" dirty="0"/>
              <a:t>14.4 </a:t>
            </a:r>
            <a:r>
              <a:rPr dirty="0" err="1"/>
              <a:t>국제적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안보의</a:t>
            </a:r>
            <a:r>
              <a:rPr dirty="0"/>
              <a:t> </a:t>
            </a:r>
            <a:r>
              <a:rPr dirty="0" err="1"/>
              <a:t>위협요인</a:t>
            </a:r>
            <a:r>
              <a:rPr dirty="0"/>
              <a:t> </a:t>
            </a:r>
            <a:r>
              <a:rPr dirty="0" err="1"/>
              <a:t>개요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 err="1"/>
              <a:t>지정학적</a:t>
            </a:r>
            <a:r>
              <a:rPr dirty="0"/>
              <a:t> </a:t>
            </a:r>
            <a:r>
              <a:rPr dirty="0" err="1"/>
              <a:t>리스크</a:t>
            </a:r>
            <a:r>
              <a:rPr dirty="0"/>
              <a:t>: </a:t>
            </a:r>
            <a:r>
              <a:rPr dirty="0" err="1"/>
              <a:t>갈등·정치불안이</a:t>
            </a:r>
            <a:r>
              <a:rPr dirty="0"/>
              <a:t> </a:t>
            </a:r>
            <a:r>
              <a:rPr dirty="0" err="1"/>
              <a:t>공급·가격</a:t>
            </a:r>
            <a:r>
              <a:rPr dirty="0"/>
              <a:t> </a:t>
            </a:r>
            <a:r>
              <a:rPr dirty="0" err="1"/>
              <a:t>충격으로</a:t>
            </a:r>
            <a:r>
              <a:rPr dirty="0"/>
              <a:t> </a:t>
            </a:r>
            <a:r>
              <a:rPr dirty="0" err="1"/>
              <a:t>전이</a:t>
            </a:r>
            <a:endParaRPr dirty="0"/>
          </a:p>
          <a:p>
            <a:pPr>
              <a:defRPr sz="2000"/>
            </a:pPr>
            <a:r>
              <a:rPr dirty="0" err="1"/>
              <a:t>에너지의</a:t>
            </a:r>
            <a:r>
              <a:rPr dirty="0"/>
              <a:t> </a:t>
            </a:r>
            <a:r>
              <a:rPr dirty="0" err="1"/>
              <a:t>무기화</a:t>
            </a:r>
            <a:r>
              <a:rPr dirty="0"/>
              <a:t>: </a:t>
            </a:r>
            <a:r>
              <a:rPr dirty="0" err="1"/>
              <a:t>공급·가격·인프라</a:t>
            </a:r>
            <a:r>
              <a:rPr dirty="0"/>
              <a:t> </a:t>
            </a:r>
            <a:r>
              <a:rPr dirty="0" err="1"/>
              <a:t>통제를</a:t>
            </a:r>
            <a:r>
              <a:rPr dirty="0"/>
              <a:t> </a:t>
            </a:r>
            <a:r>
              <a:rPr dirty="0" err="1"/>
              <a:t>통한</a:t>
            </a:r>
            <a:r>
              <a:rPr dirty="0"/>
              <a:t> </a:t>
            </a:r>
            <a:r>
              <a:rPr dirty="0" err="1"/>
              <a:t>압박</a:t>
            </a:r>
            <a:endParaRPr dirty="0"/>
          </a:p>
          <a:p>
            <a:pPr>
              <a:defRPr sz="2000"/>
            </a:pPr>
            <a:r>
              <a:rPr dirty="0" err="1"/>
              <a:t>글로벌</a:t>
            </a:r>
            <a:r>
              <a:rPr dirty="0"/>
              <a:t> </a:t>
            </a: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취약성</a:t>
            </a:r>
            <a:r>
              <a:rPr dirty="0"/>
              <a:t>: </a:t>
            </a:r>
            <a:r>
              <a:rPr dirty="0" err="1"/>
              <a:t>초크포인트·집중도·팬데믹</a:t>
            </a:r>
            <a:r>
              <a:rPr dirty="0"/>
              <a:t> 등</a:t>
            </a:r>
          </a:p>
          <a:p>
            <a:pPr>
              <a:defRPr sz="2000"/>
            </a:pPr>
            <a:r>
              <a:rPr dirty="0" err="1"/>
              <a:t>기후변화</a:t>
            </a:r>
            <a:r>
              <a:rPr dirty="0"/>
              <a:t>: </a:t>
            </a:r>
            <a:r>
              <a:rPr dirty="0" err="1"/>
              <a:t>공급·수요·인프라·정책</a:t>
            </a:r>
            <a:r>
              <a:rPr dirty="0"/>
              <a:t> </a:t>
            </a:r>
            <a:r>
              <a:rPr dirty="0" err="1"/>
              <a:t>전반의</a:t>
            </a:r>
            <a:r>
              <a:rPr dirty="0"/>
              <a:t> </a:t>
            </a:r>
            <a:r>
              <a:rPr dirty="0" err="1"/>
              <a:t>불안정성</a:t>
            </a:r>
            <a:endParaRPr dirty="0"/>
          </a:p>
          <a:p>
            <a:pPr>
              <a:defRPr sz="2000"/>
            </a:pPr>
            <a:r>
              <a:rPr dirty="0" err="1"/>
              <a:t>사이버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: </a:t>
            </a:r>
            <a:r>
              <a:rPr dirty="0" err="1"/>
              <a:t>전력시장·계통의</a:t>
            </a:r>
            <a:r>
              <a:rPr dirty="0"/>
              <a:t> </a:t>
            </a:r>
            <a:r>
              <a:rPr dirty="0" err="1"/>
              <a:t>신뢰성·효율성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위협</a:t>
            </a:r>
            <a:endParaRPr dirty="0"/>
          </a:p>
          <a:p>
            <a:pPr>
              <a:defRPr sz="2000"/>
            </a:pPr>
            <a:r>
              <a:rPr dirty="0"/>
              <a:t> </a:t>
            </a:r>
            <a:r>
              <a:rPr dirty="0" err="1"/>
              <a:t>핵연료</a:t>
            </a:r>
            <a:r>
              <a:rPr dirty="0"/>
              <a:t> </a:t>
            </a:r>
            <a:r>
              <a:rPr dirty="0" err="1"/>
              <a:t>재처리와</a:t>
            </a:r>
            <a:r>
              <a:rPr dirty="0"/>
              <a:t> </a:t>
            </a:r>
            <a:r>
              <a:rPr dirty="0" err="1"/>
              <a:t>핵확산</a:t>
            </a:r>
            <a:r>
              <a:rPr dirty="0"/>
              <a:t>: </a:t>
            </a:r>
            <a:r>
              <a:rPr dirty="0" err="1"/>
              <a:t>연료</a:t>
            </a:r>
            <a:r>
              <a:rPr dirty="0"/>
              <a:t> </a:t>
            </a:r>
            <a:r>
              <a:rPr dirty="0" err="1"/>
              <a:t>안보</a:t>
            </a:r>
            <a:r>
              <a:rPr dirty="0"/>
              <a:t> vs </a:t>
            </a:r>
            <a:r>
              <a:rPr dirty="0" err="1"/>
              <a:t>비확산</a:t>
            </a:r>
            <a:r>
              <a:rPr dirty="0"/>
              <a:t> </a:t>
            </a:r>
            <a:r>
              <a:rPr dirty="0" err="1"/>
              <a:t>딜레마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60E95-DC34-487A-82EC-B68FDDD4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2CE68C-70AD-4922-B3D6-FFDD6CD45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/>
            </a:pPr>
            <a:r>
              <a:rPr lang="en-US" dirty="0"/>
              <a:t>14.4.1 </a:t>
            </a:r>
            <a:r>
              <a:rPr dirty="0" err="1"/>
              <a:t>지정학적</a:t>
            </a:r>
            <a:r>
              <a:rPr dirty="0"/>
              <a:t> </a:t>
            </a:r>
            <a:r>
              <a:rPr dirty="0" err="1"/>
              <a:t>리스크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59180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자원은</a:t>
            </a:r>
            <a:r>
              <a:rPr dirty="0"/>
              <a:t> </a:t>
            </a:r>
            <a:r>
              <a:rPr dirty="0" err="1"/>
              <a:t>지리적으로</a:t>
            </a:r>
            <a:r>
              <a:rPr dirty="0"/>
              <a:t> </a:t>
            </a:r>
            <a:r>
              <a:rPr dirty="0" err="1"/>
              <a:t>불균등</a:t>
            </a:r>
            <a:r>
              <a:rPr dirty="0"/>
              <a:t>: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지역의</a:t>
            </a:r>
            <a:r>
              <a:rPr dirty="0"/>
              <a:t> </a:t>
            </a:r>
            <a:r>
              <a:rPr dirty="0" err="1"/>
              <a:t>충돌이</a:t>
            </a:r>
            <a:r>
              <a:rPr dirty="0"/>
              <a:t> </a:t>
            </a:r>
            <a:r>
              <a:rPr dirty="0" err="1"/>
              <a:t>세계시장에</a:t>
            </a:r>
            <a:r>
              <a:rPr dirty="0"/>
              <a:t> </a:t>
            </a:r>
            <a:r>
              <a:rPr dirty="0" err="1"/>
              <a:t>즉각</a:t>
            </a:r>
            <a:r>
              <a:rPr dirty="0"/>
              <a:t> </a:t>
            </a:r>
            <a:r>
              <a:rPr dirty="0" err="1"/>
              <a:t>반영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역사적</a:t>
            </a:r>
            <a:r>
              <a:rPr dirty="0"/>
              <a:t> </a:t>
            </a:r>
            <a:r>
              <a:rPr dirty="0" err="1"/>
              <a:t>사례</a:t>
            </a:r>
            <a:r>
              <a:rPr dirty="0"/>
              <a:t>: 1973년 </a:t>
            </a:r>
            <a:r>
              <a:rPr dirty="0" err="1"/>
              <a:t>석유</a:t>
            </a:r>
            <a:r>
              <a:rPr dirty="0"/>
              <a:t> </a:t>
            </a:r>
            <a:r>
              <a:rPr dirty="0" err="1"/>
              <a:t>금수조치</a:t>
            </a:r>
            <a:r>
              <a:rPr dirty="0"/>
              <a:t>, </a:t>
            </a:r>
            <a:r>
              <a:rPr dirty="0" err="1"/>
              <a:t>걸프전</a:t>
            </a:r>
            <a:r>
              <a:rPr dirty="0"/>
              <a:t>, </a:t>
            </a:r>
            <a:r>
              <a:rPr dirty="0" err="1"/>
              <a:t>중동</a:t>
            </a:r>
            <a:r>
              <a:rPr dirty="0"/>
              <a:t> </a:t>
            </a:r>
            <a:r>
              <a:rPr dirty="0" err="1"/>
              <a:t>긴장</a:t>
            </a:r>
            <a:r>
              <a:rPr dirty="0"/>
              <a:t> </a:t>
            </a:r>
            <a:r>
              <a:rPr dirty="0" err="1"/>
              <a:t>등은</a:t>
            </a:r>
            <a:r>
              <a:rPr dirty="0"/>
              <a:t> </a:t>
            </a:r>
            <a:r>
              <a:rPr dirty="0" err="1"/>
              <a:t>유가</a:t>
            </a:r>
            <a:r>
              <a:rPr dirty="0"/>
              <a:t> </a:t>
            </a:r>
            <a:r>
              <a:rPr dirty="0" err="1"/>
              <a:t>급등을</a:t>
            </a:r>
            <a:r>
              <a:rPr dirty="0"/>
              <a:t> </a:t>
            </a:r>
            <a:r>
              <a:rPr dirty="0" err="1"/>
              <a:t>촉발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최근</a:t>
            </a:r>
            <a:r>
              <a:rPr dirty="0"/>
              <a:t> </a:t>
            </a:r>
            <a:r>
              <a:rPr dirty="0" err="1"/>
              <a:t>사례</a:t>
            </a:r>
            <a:r>
              <a:rPr dirty="0"/>
              <a:t>: 러-우 </a:t>
            </a:r>
            <a:r>
              <a:rPr dirty="0" err="1"/>
              <a:t>전쟁은</a:t>
            </a:r>
            <a:r>
              <a:rPr dirty="0"/>
              <a:t> </a:t>
            </a:r>
            <a:r>
              <a:rPr dirty="0" err="1"/>
              <a:t>유럽의</a:t>
            </a:r>
            <a:r>
              <a:rPr dirty="0"/>
              <a:t> </a:t>
            </a:r>
            <a:r>
              <a:rPr dirty="0" err="1"/>
              <a:t>가스</a:t>
            </a:r>
            <a:r>
              <a:rPr dirty="0"/>
              <a:t> </a:t>
            </a:r>
            <a:r>
              <a:rPr dirty="0" err="1"/>
              <a:t>의존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취약점으로</a:t>
            </a:r>
            <a:r>
              <a:rPr dirty="0"/>
              <a:t> </a:t>
            </a:r>
            <a:r>
              <a:rPr dirty="0" err="1"/>
              <a:t>노출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초크포인트</a:t>
            </a:r>
            <a:r>
              <a:rPr dirty="0"/>
              <a:t> </a:t>
            </a:r>
            <a:r>
              <a:rPr dirty="0" err="1"/>
              <a:t>취약</a:t>
            </a:r>
            <a:r>
              <a:rPr dirty="0"/>
              <a:t>: </a:t>
            </a:r>
            <a:r>
              <a:rPr dirty="0" err="1"/>
              <a:t>해협·운하·파이프라인</a:t>
            </a:r>
            <a:r>
              <a:rPr dirty="0"/>
              <a:t> </a:t>
            </a:r>
            <a:r>
              <a:rPr dirty="0" err="1"/>
              <a:t>경유국의</a:t>
            </a:r>
            <a:r>
              <a:rPr dirty="0"/>
              <a:t> </a:t>
            </a:r>
            <a:r>
              <a:rPr dirty="0" err="1"/>
              <a:t>리스크가</a:t>
            </a:r>
            <a:r>
              <a:rPr dirty="0"/>
              <a:t>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중단으로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대응</a:t>
            </a:r>
            <a:r>
              <a:rPr dirty="0"/>
              <a:t>: </a:t>
            </a:r>
            <a:r>
              <a:rPr dirty="0" err="1"/>
              <a:t>공급원·경로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, </a:t>
            </a:r>
            <a:r>
              <a:rPr dirty="0" err="1"/>
              <a:t>전략비축</a:t>
            </a:r>
            <a:r>
              <a:rPr dirty="0"/>
              <a:t>, </a:t>
            </a:r>
            <a:r>
              <a:rPr dirty="0" err="1"/>
              <a:t>동맹·협력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, </a:t>
            </a:r>
            <a:r>
              <a:rPr dirty="0" err="1"/>
              <a:t>대체</a:t>
            </a:r>
            <a:r>
              <a:rPr dirty="0"/>
              <a:t>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FC095-E650-4D9C-A3C5-F34913E2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D3CDD-D035-41EE-9BD0-7288650F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/>
            </a:pPr>
            <a:r>
              <a:rPr lang="en-US" dirty="0"/>
              <a:t>14.4.2 </a:t>
            </a:r>
            <a:r>
              <a:rPr dirty="0" err="1"/>
              <a:t>에너지의</a:t>
            </a:r>
            <a:r>
              <a:rPr dirty="0"/>
              <a:t> </a:t>
            </a:r>
            <a:r>
              <a:rPr dirty="0" err="1"/>
              <a:t>무기화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82040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정의</a:t>
            </a:r>
            <a:r>
              <a:rPr dirty="0"/>
              <a:t>: </a:t>
            </a:r>
            <a:r>
              <a:rPr dirty="0" err="1"/>
              <a:t>에너지를</a:t>
            </a:r>
            <a:r>
              <a:rPr dirty="0"/>
              <a:t> </a:t>
            </a:r>
            <a:r>
              <a:rPr dirty="0" err="1"/>
              <a:t>정치·전략적</a:t>
            </a:r>
            <a:r>
              <a:rPr dirty="0"/>
              <a:t> </a:t>
            </a:r>
            <a:r>
              <a:rPr dirty="0" err="1"/>
              <a:t>영향력</a:t>
            </a:r>
            <a:r>
              <a:rPr dirty="0"/>
              <a:t> </a:t>
            </a:r>
            <a:r>
              <a:rPr dirty="0" err="1"/>
              <a:t>행사</a:t>
            </a:r>
            <a:r>
              <a:rPr dirty="0"/>
              <a:t> </a:t>
            </a:r>
            <a:r>
              <a:rPr dirty="0" err="1"/>
              <a:t>수단으로</a:t>
            </a:r>
            <a:r>
              <a:rPr dirty="0"/>
              <a:t> </a:t>
            </a:r>
            <a:r>
              <a:rPr dirty="0" err="1"/>
              <a:t>활용</a:t>
            </a:r>
            <a:r>
              <a:rPr dirty="0"/>
              <a:t>(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/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조작</a:t>
            </a:r>
            <a:r>
              <a:rPr dirty="0"/>
              <a:t>/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통제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배경</a:t>
            </a:r>
            <a:r>
              <a:rPr dirty="0"/>
              <a:t>: </a:t>
            </a:r>
            <a:r>
              <a:rPr dirty="0" err="1"/>
              <a:t>수출국</a:t>
            </a:r>
            <a:r>
              <a:rPr dirty="0"/>
              <a:t>(</a:t>
            </a:r>
            <a:r>
              <a:rPr dirty="0" err="1"/>
              <a:t>통제권</a:t>
            </a:r>
            <a:r>
              <a:rPr dirty="0"/>
              <a:t>) vs </a:t>
            </a:r>
            <a:r>
              <a:rPr dirty="0" err="1"/>
              <a:t>수입국</a:t>
            </a:r>
            <a:r>
              <a:rPr dirty="0"/>
              <a:t>(</a:t>
            </a:r>
            <a:r>
              <a:rPr dirty="0" err="1"/>
              <a:t>의존</a:t>
            </a:r>
            <a:r>
              <a:rPr dirty="0"/>
              <a:t>) 간 </a:t>
            </a:r>
            <a:r>
              <a:rPr dirty="0" err="1"/>
              <a:t>비대칭성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사례</a:t>
            </a:r>
            <a:r>
              <a:rPr dirty="0"/>
              <a:t>: 1973년 OAPEC </a:t>
            </a:r>
            <a:r>
              <a:rPr dirty="0" err="1"/>
              <a:t>금수</a:t>
            </a:r>
            <a:r>
              <a:rPr dirty="0"/>
              <a:t>, </a:t>
            </a:r>
            <a:r>
              <a:rPr dirty="0" err="1"/>
              <a:t>러시아의</a:t>
            </a:r>
            <a:r>
              <a:rPr dirty="0"/>
              <a:t> </a:t>
            </a:r>
            <a:r>
              <a:rPr dirty="0" err="1"/>
              <a:t>가스</a:t>
            </a:r>
            <a:r>
              <a:rPr dirty="0"/>
              <a:t> </a:t>
            </a:r>
            <a:r>
              <a:rPr dirty="0" err="1"/>
              <a:t>외교</a:t>
            </a:r>
            <a:r>
              <a:rPr dirty="0"/>
              <a:t>(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감축·차단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소유·운영을</a:t>
            </a:r>
            <a:r>
              <a:rPr dirty="0"/>
              <a:t> </a:t>
            </a:r>
            <a:r>
              <a:rPr dirty="0" err="1"/>
              <a:t>통한</a:t>
            </a:r>
            <a:r>
              <a:rPr dirty="0"/>
              <a:t> </a:t>
            </a:r>
            <a:r>
              <a:rPr dirty="0" err="1"/>
              <a:t>영향력</a:t>
            </a:r>
            <a:r>
              <a:rPr dirty="0"/>
              <a:t>: </a:t>
            </a:r>
            <a:r>
              <a:rPr dirty="0" err="1"/>
              <a:t>저장소·파이프라인</a:t>
            </a:r>
            <a:r>
              <a:rPr dirty="0"/>
              <a:t> </a:t>
            </a:r>
            <a:r>
              <a:rPr dirty="0" err="1"/>
              <a:t>운영권이</a:t>
            </a:r>
            <a:r>
              <a:rPr dirty="0"/>
              <a:t> </a:t>
            </a:r>
            <a:r>
              <a:rPr dirty="0" err="1"/>
              <a:t>간접적</a:t>
            </a:r>
            <a:r>
              <a:rPr dirty="0"/>
              <a:t> </a:t>
            </a:r>
            <a:r>
              <a:rPr dirty="0" err="1"/>
              <a:t>지렛대가</a:t>
            </a:r>
            <a:r>
              <a:rPr dirty="0"/>
              <a:t> 될 수 </a:t>
            </a:r>
            <a:r>
              <a:rPr dirty="0" err="1"/>
              <a:t>있음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대응</a:t>
            </a:r>
            <a:r>
              <a:rPr dirty="0"/>
              <a:t>: </a:t>
            </a:r>
            <a:r>
              <a:rPr dirty="0" err="1"/>
              <a:t>공동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협약</a:t>
            </a:r>
            <a:r>
              <a:rPr dirty="0"/>
              <a:t>, LNG </a:t>
            </a:r>
            <a:r>
              <a:rPr dirty="0" err="1"/>
              <a:t>인프라로</a:t>
            </a:r>
            <a:r>
              <a:rPr dirty="0"/>
              <a:t> </a:t>
            </a:r>
            <a:r>
              <a:rPr dirty="0" err="1"/>
              <a:t>유연성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, </a:t>
            </a:r>
            <a:r>
              <a:rPr dirty="0" err="1"/>
              <a:t>비축·다변화</a:t>
            </a:r>
            <a:r>
              <a:rPr dirty="0"/>
              <a:t>, </a:t>
            </a:r>
            <a:r>
              <a:rPr dirty="0" err="1"/>
              <a:t>재생·분산형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1ECF7F-405F-4990-8F91-B6D6282AE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CB41F-4E45-48CE-98A4-9229BBF76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601200" cy="1143000"/>
          </a:xfrm>
        </p:spPr>
        <p:txBody>
          <a:bodyPr/>
          <a:lstStyle/>
          <a:p>
            <a:pPr algn="l">
              <a:defRPr sz="3200"/>
            </a:pPr>
            <a:r>
              <a:rPr lang="en-US" dirty="0"/>
              <a:t>14.3.3 </a:t>
            </a:r>
            <a:r>
              <a:rPr dirty="0" err="1"/>
              <a:t>글로벌</a:t>
            </a:r>
            <a:r>
              <a:rPr dirty="0"/>
              <a:t> </a:t>
            </a: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취약성</a:t>
            </a:r>
            <a:r>
              <a:rPr dirty="0"/>
              <a:t>— </a:t>
            </a:r>
            <a:r>
              <a:rPr dirty="0" err="1"/>
              <a:t>원인과</a:t>
            </a:r>
            <a:r>
              <a:rPr dirty="0"/>
              <a:t> </a:t>
            </a:r>
            <a:r>
              <a:rPr dirty="0" err="1"/>
              <a:t>사례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46797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공급은</a:t>
            </a:r>
            <a:r>
              <a:rPr dirty="0"/>
              <a:t> </a:t>
            </a:r>
            <a:r>
              <a:rPr dirty="0" err="1"/>
              <a:t>생산</a:t>
            </a:r>
            <a:r>
              <a:rPr dirty="0"/>
              <a:t>–</a:t>
            </a:r>
            <a:r>
              <a:rPr dirty="0" err="1"/>
              <a:t>수송</a:t>
            </a:r>
            <a:r>
              <a:rPr dirty="0"/>
              <a:t>–</a:t>
            </a:r>
            <a:r>
              <a:rPr dirty="0" err="1"/>
              <a:t>저장</a:t>
            </a:r>
            <a:r>
              <a:rPr dirty="0"/>
              <a:t>–</a:t>
            </a:r>
            <a:r>
              <a:rPr dirty="0" err="1"/>
              <a:t>소비가</a:t>
            </a:r>
            <a:r>
              <a:rPr dirty="0"/>
              <a:t> </a:t>
            </a:r>
            <a:r>
              <a:rPr dirty="0" err="1"/>
              <a:t>글로벌</a:t>
            </a:r>
            <a:r>
              <a:rPr dirty="0"/>
              <a:t> </a:t>
            </a:r>
            <a:r>
              <a:rPr dirty="0" err="1"/>
              <a:t>네트워크로</a:t>
            </a:r>
            <a:r>
              <a:rPr dirty="0"/>
              <a:t> </a:t>
            </a:r>
            <a:r>
              <a:rPr dirty="0" err="1"/>
              <a:t>연결</a:t>
            </a:r>
            <a:r>
              <a:rPr dirty="0"/>
              <a:t> → 한 </a:t>
            </a:r>
            <a:r>
              <a:rPr dirty="0" err="1"/>
              <a:t>지점</a:t>
            </a:r>
            <a:r>
              <a:rPr dirty="0"/>
              <a:t> </a:t>
            </a:r>
            <a:r>
              <a:rPr dirty="0" err="1"/>
              <a:t>장애가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전체로</a:t>
            </a:r>
            <a:r>
              <a:rPr dirty="0"/>
              <a:t> </a:t>
            </a:r>
            <a:r>
              <a:rPr dirty="0" err="1"/>
              <a:t>확산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물류</a:t>
            </a:r>
            <a:r>
              <a:rPr dirty="0"/>
              <a:t> </a:t>
            </a:r>
            <a:r>
              <a:rPr dirty="0" err="1"/>
              <a:t>차질</a:t>
            </a:r>
            <a:r>
              <a:rPr dirty="0"/>
              <a:t>: </a:t>
            </a:r>
            <a:r>
              <a:rPr dirty="0" err="1"/>
              <a:t>수에즈</a:t>
            </a:r>
            <a:r>
              <a:rPr dirty="0"/>
              <a:t> </a:t>
            </a:r>
            <a:r>
              <a:rPr dirty="0" err="1"/>
              <a:t>운하</a:t>
            </a:r>
            <a:r>
              <a:rPr dirty="0"/>
              <a:t> </a:t>
            </a:r>
            <a:r>
              <a:rPr dirty="0" err="1"/>
              <a:t>사고와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사건이</a:t>
            </a:r>
            <a:r>
              <a:rPr dirty="0"/>
              <a:t> </a:t>
            </a:r>
            <a:r>
              <a:rPr dirty="0" err="1"/>
              <a:t>운송·가격·일정에</a:t>
            </a:r>
            <a:r>
              <a:rPr dirty="0"/>
              <a:t> </a:t>
            </a:r>
            <a:r>
              <a:rPr dirty="0" err="1"/>
              <a:t>연쇄</a:t>
            </a:r>
            <a:r>
              <a:rPr dirty="0"/>
              <a:t> </a:t>
            </a:r>
            <a:r>
              <a:rPr dirty="0" err="1"/>
              <a:t>영향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과도한</a:t>
            </a:r>
            <a:r>
              <a:rPr dirty="0"/>
              <a:t> </a:t>
            </a:r>
            <a:r>
              <a:rPr dirty="0" err="1"/>
              <a:t>집중도</a:t>
            </a:r>
            <a:r>
              <a:rPr dirty="0"/>
              <a:t>: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자원</a:t>
            </a:r>
            <a:r>
              <a:rPr dirty="0"/>
              <a:t>/</a:t>
            </a:r>
            <a:r>
              <a:rPr dirty="0" err="1"/>
              <a:t>기술이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국가에</a:t>
            </a:r>
            <a:r>
              <a:rPr dirty="0"/>
              <a:t> </a:t>
            </a:r>
            <a:r>
              <a:rPr dirty="0" err="1"/>
              <a:t>편중되면</a:t>
            </a:r>
            <a:r>
              <a:rPr dirty="0"/>
              <a:t> ‘</a:t>
            </a:r>
            <a:r>
              <a:rPr dirty="0" err="1"/>
              <a:t>대체가</a:t>
            </a:r>
            <a:r>
              <a:rPr dirty="0"/>
              <a:t> </a:t>
            </a:r>
            <a:r>
              <a:rPr dirty="0" err="1"/>
              <a:t>어려운</a:t>
            </a:r>
            <a:r>
              <a:rPr dirty="0"/>
              <a:t> </a:t>
            </a:r>
            <a:r>
              <a:rPr dirty="0" err="1"/>
              <a:t>리스크’가</a:t>
            </a:r>
            <a:r>
              <a:rPr dirty="0"/>
              <a:t> </a:t>
            </a:r>
            <a:r>
              <a:rPr dirty="0" err="1"/>
              <a:t>발생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팬데믹</a:t>
            </a:r>
            <a:r>
              <a:rPr dirty="0"/>
              <a:t>: </a:t>
            </a:r>
            <a:r>
              <a:rPr dirty="0" err="1"/>
              <a:t>노동·제조·물류가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마비되며</a:t>
            </a:r>
            <a:r>
              <a:rPr dirty="0"/>
              <a:t> </a:t>
            </a:r>
            <a:r>
              <a:rPr dirty="0" err="1"/>
              <a:t>설비·부품</a:t>
            </a:r>
            <a:r>
              <a:rPr dirty="0"/>
              <a:t>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지연</a:t>
            </a:r>
            <a:r>
              <a:rPr dirty="0"/>
              <a:t>,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 </a:t>
            </a:r>
            <a:r>
              <a:rPr dirty="0" err="1"/>
              <a:t>상승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방향</a:t>
            </a:r>
            <a:r>
              <a:rPr dirty="0"/>
              <a:t>: </a:t>
            </a: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분산</a:t>
            </a:r>
            <a:r>
              <a:rPr dirty="0"/>
              <a:t>, </a:t>
            </a:r>
            <a:r>
              <a:rPr dirty="0" err="1"/>
              <a:t>지역화</a:t>
            </a:r>
            <a:r>
              <a:rPr dirty="0"/>
              <a:t>, </a:t>
            </a:r>
            <a:r>
              <a:rPr dirty="0" err="1"/>
              <a:t>투명성</a:t>
            </a:r>
            <a:r>
              <a:rPr dirty="0"/>
              <a:t>(</a:t>
            </a:r>
            <a:r>
              <a:rPr dirty="0" err="1"/>
              <a:t>원산지·경로</a:t>
            </a:r>
            <a:r>
              <a:rPr dirty="0"/>
              <a:t> </a:t>
            </a:r>
            <a:r>
              <a:rPr dirty="0" err="1"/>
              <a:t>추적</a:t>
            </a:r>
            <a:r>
              <a:rPr dirty="0"/>
              <a:t>) </a:t>
            </a:r>
            <a:r>
              <a:rPr dirty="0" err="1"/>
              <a:t>강화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CDE81-DA37-489E-9523-30CCECBE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C282D-AD5B-4D8B-97A7-5EA31574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청정에너지 전환과 핵심광물 공급망 리스크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36320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태양광·풍력·배터리·ESS</a:t>
            </a:r>
            <a:r>
              <a:rPr dirty="0"/>
              <a:t> </a:t>
            </a:r>
            <a:r>
              <a:rPr dirty="0" err="1"/>
              <a:t>확산</a:t>
            </a:r>
            <a:r>
              <a:rPr dirty="0"/>
              <a:t> → </a:t>
            </a:r>
            <a:r>
              <a:rPr dirty="0" err="1"/>
              <a:t>리튬·니켈·코발트·희토류</a:t>
            </a:r>
            <a:r>
              <a:rPr dirty="0"/>
              <a:t> 등 </a:t>
            </a:r>
            <a:r>
              <a:rPr dirty="0" err="1"/>
              <a:t>핵심광물</a:t>
            </a:r>
            <a:r>
              <a:rPr dirty="0"/>
              <a:t> </a:t>
            </a:r>
            <a:r>
              <a:rPr dirty="0" err="1"/>
              <a:t>의존</a:t>
            </a:r>
            <a:r>
              <a:rPr dirty="0"/>
              <a:t> </a:t>
            </a:r>
            <a:r>
              <a:rPr dirty="0" err="1"/>
              <a:t>증가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매장지뿐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‘</a:t>
            </a:r>
            <a:r>
              <a:rPr dirty="0" err="1"/>
              <a:t>제련·정제·제조</a:t>
            </a:r>
            <a:r>
              <a:rPr dirty="0"/>
              <a:t>’ </a:t>
            </a:r>
            <a:r>
              <a:rPr dirty="0" err="1"/>
              <a:t>역량이</a:t>
            </a:r>
            <a:r>
              <a:rPr dirty="0"/>
              <a:t> </a:t>
            </a:r>
            <a:r>
              <a:rPr dirty="0" err="1"/>
              <a:t>일부</a:t>
            </a:r>
            <a:r>
              <a:rPr dirty="0"/>
              <a:t> </a:t>
            </a:r>
            <a:r>
              <a:rPr dirty="0" err="1"/>
              <a:t>국가에</a:t>
            </a:r>
            <a:r>
              <a:rPr dirty="0"/>
              <a:t> </a:t>
            </a:r>
            <a:r>
              <a:rPr dirty="0" err="1"/>
              <a:t>집중</a:t>
            </a:r>
            <a:r>
              <a:rPr dirty="0"/>
              <a:t> → 신(新)</a:t>
            </a:r>
            <a:r>
              <a:rPr dirty="0" err="1"/>
              <a:t>자원</a:t>
            </a:r>
            <a:r>
              <a:rPr dirty="0"/>
              <a:t> </a:t>
            </a:r>
            <a:r>
              <a:rPr dirty="0" err="1"/>
              <a:t>지정학</a:t>
            </a:r>
            <a:r>
              <a:rPr dirty="0"/>
              <a:t> </a:t>
            </a:r>
            <a:r>
              <a:rPr dirty="0" err="1"/>
              <a:t>형성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리스크</a:t>
            </a:r>
            <a:r>
              <a:rPr dirty="0"/>
              <a:t>: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차질은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속도·비용·정책</a:t>
            </a:r>
            <a:r>
              <a:rPr dirty="0"/>
              <a:t> </a:t>
            </a:r>
            <a:r>
              <a:rPr dirty="0" err="1"/>
              <a:t>수용성에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영향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패키지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 err="1"/>
              <a:t>공급원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 + </a:t>
            </a:r>
            <a:r>
              <a:rPr dirty="0" err="1"/>
              <a:t>전략적</a:t>
            </a:r>
            <a:r>
              <a:rPr dirty="0"/>
              <a:t> </a:t>
            </a:r>
            <a:r>
              <a:rPr dirty="0" err="1"/>
              <a:t>비축</a:t>
            </a:r>
            <a:r>
              <a:rPr dirty="0"/>
              <a:t> + </a:t>
            </a:r>
            <a:r>
              <a:rPr dirty="0" err="1"/>
              <a:t>재활용</a:t>
            </a:r>
            <a:r>
              <a:rPr dirty="0"/>
              <a:t>/</a:t>
            </a:r>
            <a:r>
              <a:rPr dirty="0" err="1"/>
              <a:t>순환경제</a:t>
            </a:r>
            <a:r>
              <a:rPr dirty="0"/>
              <a:t> </a:t>
            </a:r>
            <a:r>
              <a:rPr dirty="0" err="1"/>
              <a:t>확대</a:t>
            </a:r>
            <a:endParaRPr dirty="0"/>
          </a:p>
          <a:p>
            <a:pPr lvl="1">
              <a:defRPr sz="1800"/>
            </a:pP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투명성</a:t>
            </a:r>
            <a:r>
              <a:rPr dirty="0"/>
              <a:t>(</a:t>
            </a:r>
            <a:r>
              <a:rPr dirty="0" err="1"/>
              <a:t>추적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) + </a:t>
            </a:r>
            <a:r>
              <a:rPr dirty="0" err="1"/>
              <a:t>국제</a:t>
            </a:r>
            <a:r>
              <a:rPr dirty="0"/>
              <a:t> </a:t>
            </a:r>
            <a:r>
              <a:rPr dirty="0" err="1"/>
              <a:t>협력</a:t>
            </a:r>
            <a:r>
              <a:rPr dirty="0"/>
              <a:t>(</a:t>
            </a:r>
            <a:r>
              <a:rPr dirty="0" err="1"/>
              <a:t>우호국</a:t>
            </a:r>
            <a:r>
              <a:rPr dirty="0"/>
              <a:t> </a:t>
            </a:r>
            <a:r>
              <a:rPr dirty="0" err="1"/>
              <a:t>연대</a:t>
            </a:r>
            <a:r>
              <a:rPr dirty="0"/>
              <a:t>) +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대체</a:t>
            </a:r>
            <a:r>
              <a:rPr dirty="0"/>
              <a:t>(</a:t>
            </a:r>
            <a:r>
              <a:rPr dirty="0" err="1"/>
              <a:t>저희귀</a:t>
            </a:r>
            <a:r>
              <a:rPr dirty="0"/>
              <a:t>/</a:t>
            </a:r>
            <a:r>
              <a:rPr dirty="0" err="1"/>
              <a:t>무코발트</a:t>
            </a:r>
            <a:r>
              <a:rPr dirty="0"/>
              <a:t> 등)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C0A52-759A-4DAC-97B7-294F1CAC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E36FF-B24F-4A20-8068-F39A0854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563225" cy="1143000"/>
          </a:xfrm>
        </p:spPr>
        <p:txBody>
          <a:bodyPr/>
          <a:lstStyle/>
          <a:p>
            <a:pPr>
              <a:defRPr sz="3200"/>
            </a:pPr>
            <a:r>
              <a:rPr lang="en-US" dirty="0"/>
              <a:t>14.4.4 </a:t>
            </a:r>
            <a:r>
              <a:rPr dirty="0" err="1"/>
              <a:t>기후변화와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불안정</a:t>
            </a:r>
            <a:r>
              <a:rPr dirty="0"/>
              <a:t> ① </a:t>
            </a:r>
            <a:r>
              <a:rPr dirty="0" err="1"/>
              <a:t>공급·인프라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63942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가뭄</a:t>
            </a:r>
            <a:r>
              <a:rPr dirty="0"/>
              <a:t> → </a:t>
            </a:r>
            <a:r>
              <a:rPr dirty="0" err="1"/>
              <a:t>수력발전</a:t>
            </a:r>
            <a:r>
              <a:rPr dirty="0"/>
              <a:t> </a:t>
            </a:r>
            <a:r>
              <a:rPr dirty="0" err="1"/>
              <a:t>용수</a:t>
            </a:r>
            <a:r>
              <a:rPr dirty="0"/>
              <a:t> </a:t>
            </a:r>
            <a:r>
              <a:rPr dirty="0" err="1"/>
              <a:t>부족</a:t>
            </a:r>
            <a:r>
              <a:rPr dirty="0"/>
              <a:t>, </a:t>
            </a:r>
            <a:r>
              <a:rPr dirty="0" err="1"/>
              <a:t>원전·화력</a:t>
            </a:r>
            <a:r>
              <a:rPr dirty="0"/>
              <a:t> </a:t>
            </a:r>
            <a:r>
              <a:rPr dirty="0" err="1"/>
              <a:t>냉각</a:t>
            </a:r>
            <a:r>
              <a:rPr dirty="0"/>
              <a:t> </a:t>
            </a:r>
            <a:r>
              <a:rPr dirty="0" err="1"/>
              <a:t>효율</a:t>
            </a:r>
            <a:r>
              <a:rPr dirty="0"/>
              <a:t> </a:t>
            </a:r>
            <a:r>
              <a:rPr dirty="0" err="1"/>
              <a:t>저하로</a:t>
            </a:r>
            <a:r>
              <a:rPr dirty="0"/>
              <a:t> </a:t>
            </a:r>
            <a:r>
              <a:rPr dirty="0" err="1"/>
              <a:t>발전량</a:t>
            </a:r>
            <a:r>
              <a:rPr dirty="0"/>
              <a:t> </a:t>
            </a:r>
            <a:r>
              <a:rPr dirty="0" err="1"/>
              <a:t>감소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폭염·한파·홍수·산불</a:t>
            </a:r>
            <a:r>
              <a:rPr dirty="0"/>
              <a:t> 등 </a:t>
            </a:r>
            <a:r>
              <a:rPr dirty="0" err="1"/>
              <a:t>이상기후</a:t>
            </a:r>
            <a:r>
              <a:rPr dirty="0"/>
              <a:t> → </a:t>
            </a:r>
            <a:r>
              <a:rPr dirty="0" err="1"/>
              <a:t>송전망·발전소·연료</a:t>
            </a:r>
            <a:r>
              <a:rPr dirty="0"/>
              <a:t> </a:t>
            </a:r>
            <a:r>
              <a:rPr dirty="0" err="1"/>
              <a:t>인프라의</a:t>
            </a:r>
            <a:r>
              <a:rPr dirty="0"/>
              <a:t> </a:t>
            </a:r>
            <a:r>
              <a:rPr dirty="0" err="1"/>
              <a:t>물리적</a:t>
            </a:r>
            <a:r>
              <a:rPr dirty="0"/>
              <a:t> </a:t>
            </a:r>
            <a:r>
              <a:rPr dirty="0" err="1"/>
              <a:t>손상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기후</a:t>
            </a:r>
            <a:r>
              <a:rPr dirty="0"/>
              <a:t> </a:t>
            </a:r>
            <a:r>
              <a:rPr dirty="0" err="1"/>
              <a:t>리스크는</a:t>
            </a:r>
            <a:r>
              <a:rPr dirty="0"/>
              <a:t> </a:t>
            </a:r>
            <a:r>
              <a:rPr dirty="0" err="1"/>
              <a:t>장기적이며</a:t>
            </a:r>
            <a:r>
              <a:rPr dirty="0"/>
              <a:t> </a:t>
            </a:r>
            <a:r>
              <a:rPr dirty="0" err="1"/>
              <a:t>누적적</a:t>
            </a:r>
            <a:r>
              <a:rPr dirty="0"/>
              <a:t>: </a:t>
            </a:r>
            <a:r>
              <a:rPr dirty="0" err="1"/>
              <a:t>유지보수</a:t>
            </a:r>
            <a:r>
              <a:rPr dirty="0"/>
              <a:t> </a:t>
            </a:r>
            <a:r>
              <a:rPr dirty="0" err="1"/>
              <a:t>수준을</a:t>
            </a:r>
            <a:r>
              <a:rPr dirty="0"/>
              <a:t> </a:t>
            </a:r>
            <a:r>
              <a:rPr dirty="0" err="1"/>
              <a:t>넘어</a:t>
            </a:r>
            <a:r>
              <a:rPr dirty="0"/>
              <a:t> ‘</a:t>
            </a:r>
            <a:r>
              <a:rPr dirty="0" err="1"/>
              <a:t>설계·입지·투자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’ </a:t>
            </a:r>
            <a:r>
              <a:rPr dirty="0" err="1"/>
              <a:t>재정립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대응</a:t>
            </a:r>
            <a:r>
              <a:rPr dirty="0"/>
              <a:t>: </a:t>
            </a:r>
            <a:r>
              <a:rPr dirty="0" err="1"/>
              <a:t>기후</a:t>
            </a:r>
            <a:r>
              <a:rPr dirty="0"/>
              <a:t> </a:t>
            </a:r>
            <a:r>
              <a:rPr dirty="0" err="1"/>
              <a:t>회복력</a:t>
            </a:r>
            <a:r>
              <a:rPr dirty="0"/>
              <a:t> </a:t>
            </a:r>
            <a:r>
              <a:rPr dirty="0" err="1"/>
              <a:t>기반의</a:t>
            </a:r>
            <a:r>
              <a:rPr dirty="0"/>
              <a:t>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, </a:t>
            </a:r>
            <a:r>
              <a:rPr dirty="0" err="1"/>
              <a:t>취약구간</a:t>
            </a:r>
            <a:r>
              <a:rPr dirty="0"/>
              <a:t> </a:t>
            </a:r>
            <a:r>
              <a:rPr dirty="0" err="1"/>
              <a:t>보강</a:t>
            </a:r>
            <a:r>
              <a:rPr dirty="0"/>
              <a:t>, </a:t>
            </a:r>
            <a:r>
              <a:rPr dirty="0" err="1"/>
              <a:t>분산형·마이크로그리드</a:t>
            </a:r>
            <a:r>
              <a:rPr dirty="0"/>
              <a:t> 등.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C0D29-4C5E-43AF-8EC8-CA1C26BC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71105-7DE6-46C4-875B-EAE6C0AE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172700" cy="1143000"/>
          </a:xfrm>
        </p:spPr>
        <p:txBody>
          <a:bodyPr/>
          <a:lstStyle/>
          <a:p>
            <a:pPr>
              <a:defRPr sz="3200"/>
            </a:pPr>
            <a:r>
              <a:t>기후변화와 에너지 시스템 불안정 ② 수요·변동성·정책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16330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폭염·한파</a:t>
            </a:r>
            <a:r>
              <a:rPr dirty="0"/>
              <a:t> → </a:t>
            </a:r>
            <a:r>
              <a:rPr dirty="0" err="1"/>
              <a:t>냉난방</a:t>
            </a:r>
            <a:r>
              <a:rPr dirty="0"/>
              <a:t> </a:t>
            </a:r>
            <a:r>
              <a:rPr dirty="0" err="1"/>
              <a:t>수요</a:t>
            </a:r>
            <a:r>
              <a:rPr dirty="0"/>
              <a:t> </a:t>
            </a:r>
            <a:r>
              <a:rPr dirty="0" err="1"/>
              <a:t>급증</a:t>
            </a:r>
            <a:r>
              <a:rPr dirty="0"/>
              <a:t>, </a:t>
            </a:r>
            <a:r>
              <a:rPr dirty="0" err="1"/>
              <a:t>전력</a:t>
            </a:r>
            <a:r>
              <a:rPr dirty="0"/>
              <a:t> </a:t>
            </a:r>
            <a:r>
              <a:rPr dirty="0" err="1"/>
              <a:t>피크</a:t>
            </a:r>
            <a:r>
              <a:rPr dirty="0"/>
              <a:t> </a:t>
            </a:r>
            <a:r>
              <a:rPr dirty="0" err="1"/>
              <a:t>빈도·강도</a:t>
            </a:r>
            <a:r>
              <a:rPr dirty="0"/>
              <a:t> </a:t>
            </a:r>
            <a:r>
              <a:rPr dirty="0" err="1"/>
              <a:t>증가</a:t>
            </a:r>
            <a:r>
              <a:rPr dirty="0"/>
              <a:t> → </a:t>
            </a:r>
            <a:r>
              <a:rPr dirty="0" err="1"/>
              <a:t>계통</a:t>
            </a:r>
            <a:r>
              <a:rPr dirty="0"/>
              <a:t> </a:t>
            </a:r>
            <a:r>
              <a:rPr dirty="0" err="1"/>
              <a:t>부하</a:t>
            </a:r>
            <a:r>
              <a:rPr dirty="0"/>
              <a:t> </a:t>
            </a:r>
            <a:r>
              <a:rPr dirty="0" err="1"/>
              <a:t>상승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재생에너지</a:t>
            </a:r>
            <a:r>
              <a:rPr dirty="0"/>
              <a:t> </a:t>
            </a:r>
            <a:r>
              <a:rPr dirty="0" err="1"/>
              <a:t>확대는</a:t>
            </a:r>
            <a:r>
              <a:rPr dirty="0"/>
              <a:t> </a:t>
            </a:r>
            <a:r>
              <a:rPr dirty="0" err="1"/>
              <a:t>장점</a:t>
            </a:r>
            <a:r>
              <a:rPr dirty="0"/>
              <a:t>(</a:t>
            </a:r>
            <a:r>
              <a:rPr dirty="0" err="1"/>
              <a:t>연료수입</a:t>
            </a:r>
            <a:r>
              <a:rPr dirty="0"/>
              <a:t>↓)과 </a:t>
            </a:r>
            <a:r>
              <a:rPr dirty="0" err="1"/>
              <a:t>약점</a:t>
            </a:r>
            <a:r>
              <a:rPr dirty="0"/>
              <a:t>(</a:t>
            </a:r>
            <a:r>
              <a:rPr dirty="0" err="1"/>
              <a:t>날씨</a:t>
            </a:r>
            <a:r>
              <a:rPr dirty="0"/>
              <a:t> </a:t>
            </a:r>
            <a:r>
              <a:rPr dirty="0" err="1"/>
              <a:t>의존·간헐성</a:t>
            </a:r>
            <a:r>
              <a:rPr dirty="0"/>
              <a:t>)을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가짐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리스크</a:t>
            </a:r>
            <a:r>
              <a:rPr dirty="0"/>
              <a:t>: </a:t>
            </a:r>
            <a:r>
              <a:rPr dirty="0" err="1"/>
              <a:t>화석연료</a:t>
            </a:r>
            <a:r>
              <a:rPr dirty="0"/>
              <a:t> </a:t>
            </a:r>
            <a:r>
              <a:rPr dirty="0" err="1"/>
              <a:t>감축이</a:t>
            </a:r>
            <a:r>
              <a:rPr dirty="0"/>
              <a:t> ‘</a:t>
            </a:r>
            <a:r>
              <a:rPr dirty="0" err="1"/>
              <a:t>대체원·인프라’보다</a:t>
            </a:r>
            <a:r>
              <a:rPr dirty="0"/>
              <a:t> </a:t>
            </a:r>
            <a:r>
              <a:rPr dirty="0" err="1"/>
              <a:t>빠르면</a:t>
            </a:r>
            <a:r>
              <a:rPr dirty="0"/>
              <a:t> 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부족·요금</a:t>
            </a:r>
            <a:r>
              <a:rPr dirty="0"/>
              <a:t> </a:t>
            </a:r>
            <a:r>
              <a:rPr dirty="0" err="1"/>
              <a:t>급등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대응</a:t>
            </a:r>
            <a:r>
              <a:rPr dirty="0"/>
              <a:t>: </a:t>
            </a:r>
            <a:r>
              <a:rPr dirty="0" err="1"/>
              <a:t>저장</a:t>
            </a:r>
            <a:r>
              <a:rPr dirty="0"/>
              <a:t>(</a:t>
            </a:r>
            <a:r>
              <a:rPr dirty="0" err="1"/>
              <a:t>배터리·수소</a:t>
            </a:r>
            <a:r>
              <a:rPr dirty="0"/>
              <a:t> 등), </a:t>
            </a:r>
            <a:r>
              <a:rPr dirty="0" err="1"/>
              <a:t>유연자원</a:t>
            </a:r>
            <a:r>
              <a:rPr dirty="0"/>
              <a:t>(</a:t>
            </a:r>
            <a:r>
              <a:rPr dirty="0" err="1"/>
              <a:t>수요반응·가스터빈</a:t>
            </a:r>
            <a:r>
              <a:rPr dirty="0"/>
              <a:t>), </a:t>
            </a:r>
            <a:r>
              <a:rPr dirty="0" err="1"/>
              <a:t>스마트그리드</a:t>
            </a:r>
            <a:r>
              <a:rPr dirty="0"/>
              <a:t>,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거버넌스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A1AEC-4489-4680-98C3-3986192C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BDB37-30FB-4390-9376-103DB803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14.4.5 </a:t>
            </a:r>
            <a:r>
              <a:rPr dirty="0" err="1"/>
              <a:t>전력시장의</a:t>
            </a:r>
            <a:r>
              <a:rPr dirty="0"/>
              <a:t> </a:t>
            </a:r>
            <a:r>
              <a:rPr dirty="0" err="1"/>
              <a:t>사이버</a:t>
            </a:r>
            <a:r>
              <a:rPr dirty="0"/>
              <a:t> </a:t>
            </a:r>
            <a:r>
              <a:rPr dirty="0" err="1"/>
              <a:t>공격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26807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스마트그리드·원격제어·자동화</a:t>
            </a:r>
            <a:r>
              <a:rPr dirty="0"/>
              <a:t>(DR/EMS/AMI) </a:t>
            </a:r>
            <a:r>
              <a:rPr dirty="0" err="1"/>
              <a:t>확산</a:t>
            </a:r>
            <a:r>
              <a:rPr dirty="0"/>
              <a:t> → </a:t>
            </a:r>
            <a:r>
              <a:rPr dirty="0" err="1"/>
              <a:t>사이버</a:t>
            </a:r>
            <a:r>
              <a:rPr dirty="0"/>
              <a:t> </a:t>
            </a:r>
            <a:r>
              <a:rPr dirty="0" err="1"/>
              <a:t>공격면</a:t>
            </a:r>
            <a:r>
              <a:rPr dirty="0"/>
              <a:t>(attack surface) </a:t>
            </a:r>
            <a:r>
              <a:rPr dirty="0" err="1"/>
              <a:t>확대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사이버</a:t>
            </a:r>
            <a:r>
              <a:rPr dirty="0"/>
              <a:t> </a:t>
            </a:r>
            <a:r>
              <a:rPr dirty="0" err="1"/>
              <a:t>공격은</a:t>
            </a:r>
            <a:r>
              <a:rPr dirty="0"/>
              <a:t> 3축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위협</a:t>
            </a:r>
            <a:r>
              <a:rPr dirty="0"/>
              <a:t>: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,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복원력</a:t>
            </a:r>
            <a:r>
              <a:rPr dirty="0"/>
              <a:t>, </a:t>
            </a:r>
            <a:r>
              <a:rPr dirty="0" err="1"/>
              <a:t>경제적</a:t>
            </a:r>
            <a:r>
              <a:rPr dirty="0"/>
              <a:t> </a:t>
            </a:r>
            <a:r>
              <a:rPr dirty="0" err="1"/>
              <a:t>효율성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조작</a:t>
            </a:r>
            <a:r>
              <a:rPr dirty="0"/>
              <a:t>(</a:t>
            </a:r>
            <a:r>
              <a:rPr dirty="0" err="1"/>
              <a:t>수요예측·입찰정보</a:t>
            </a:r>
            <a:r>
              <a:rPr dirty="0"/>
              <a:t>) →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신호</a:t>
            </a:r>
            <a:r>
              <a:rPr dirty="0"/>
              <a:t> </a:t>
            </a:r>
            <a:r>
              <a:rPr dirty="0" err="1"/>
              <a:t>왜곡</a:t>
            </a:r>
            <a:r>
              <a:rPr dirty="0"/>
              <a:t>, </a:t>
            </a:r>
            <a:r>
              <a:rPr dirty="0" err="1"/>
              <a:t>거래</a:t>
            </a:r>
            <a:r>
              <a:rPr dirty="0"/>
              <a:t> </a:t>
            </a:r>
            <a:r>
              <a:rPr dirty="0" err="1"/>
              <a:t>실패</a:t>
            </a:r>
            <a:r>
              <a:rPr dirty="0"/>
              <a:t>, </a:t>
            </a:r>
            <a:r>
              <a:rPr dirty="0" err="1"/>
              <a:t>변동성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, </a:t>
            </a:r>
            <a:r>
              <a:rPr dirty="0" err="1"/>
              <a:t>신뢰</a:t>
            </a:r>
            <a:r>
              <a:rPr dirty="0"/>
              <a:t> </a:t>
            </a:r>
            <a:r>
              <a:rPr dirty="0" err="1"/>
              <a:t>하락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사례</a:t>
            </a:r>
            <a:r>
              <a:rPr dirty="0"/>
              <a:t>: Colonial Pipeline </a:t>
            </a:r>
            <a:r>
              <a:rPr dirty="0" err="1"/>
              <a:t>해킹은</a:t>
            </a:r>
            <a:r>
              <a:rPr dirty="0"/>
              <a:t> IT </a:t>
            </a:r>
            <a:r>
              <a:rPr dirty="0" err="1"/>
              <a:t>마비가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중단·가격</a:t>
            </a:r>
            <a:r>
              <a:rPr dirty="0"/>
              <a:t> </a:t>
            </a:r>
            <a:r>
              <a:rPr dirty="0" err="1"/>
              <a:t>급등으로</a:t>
            </a:r>
            <a:r>
              <a:rPr dirty="0"/>
              <a:t> </a:t>
            </a:r>
            <a:r>
              <a:rPr dirty="0" err="1"/>
              <a:t>이어질</a:t>
            </a:r>
            <a:r>
              <a:rPr dirty="0"/>
              <a:t> 수 </a:t>
            </a:r>
            <a:r>
              <a:rPr dirty="0" err="1"/>
              <a:t>있음을</a:t>
            </a:r>
            <a:r>
              <a:rPr dirty="0"/>
              <a:t> </a:t>
            </a:r>
            <a:r>
              <a:rPr dirty="0" err="1"/>
              <a:t>보여줌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C3753-5D52-4A76-B3D5-A2EEB303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C7ED9-3A25-4D13-885B-F74C392F7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사이버 대응 전략(정책·운영)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951547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모니터링·침입탐지</a:t>
            </a:r>
            <a:r>
              <a:rPr dirty="0"/>
              <a:t>(IDS)·</a:t>
            </a:r>
            <a:r>
              <a:rPr dirty="0" err="1"/>
              <a:t>사고대응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운영기술</a:t>
            </a:r>
            <a:r>
              <a:rPr dirty="0"/>
              <a:t>(OT)과 </a:t>
            </a:r>
            <a:r>
              <a:rPr dirty="0" err="1"/>
              <a:t>정보기술</a:t>
            </a:r>
            <a:r>
              <a:rPr dirty="0"/>
              <a:t>(IT) </a:t>
            </a:r>
            <a:r>
              <a:rPr dirty="0" err="1"/>
              <a:t>분리</a:t>
            </a:r>
            <a:r>
              <a:rPr dirty="0"/>
              <a:t>, </a:t>
            </a:r>
            <a:r>
              <a:rPr dirty="0" err="1"/>
              <a:t>산업제어시스템</a:t>
            </a:r>
            <a:r>
              <a:rPr dirty="0"/>
              <a:t>(ICS) </a:t>
            </a:r>
            <a:r>
              <a:rPr dirty="0" err="1"/>
              <a:t>특화</a:t>
            </a:r>
            <a:r>
              <a:rPr dirty="0"/>
              <a:t> </a:t>
            </a:r>
            <a:r>
              <a:rPr dirty="0" err="1"/>
              <a:t>보안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마련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정기적</a:t>
            </a:r>
            <a:r>
              <a:rPr dirty="0"/>
              <a:t> </a:t>
            </a:r>
            <a:r>
              <a:rPr dirty="0" err="1"/>
              <a:t>모의훈련과</a:t>
            </a:r>
            <a:r>
              <a:rPr dirty="0"/>
              <a:t> </a:t>
            </a:r>
            <a:r>
              <a:rPr dirty="0" err="1"/>
              <a:t>복구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(</a:t>
            </a:r>
            <a:r>
              <a:rPr dirty="0" err="1"/>
              <a:t>백업·대체운영</a:t>
            </a:r>
            <a:r>
              <a:rPr dirty="0"/>
              <a:t>) </a:t>
            </a:r>
            <a:r>
              <a:rPr dirty="0" err="1"/>
              <a:t>확보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규제기관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: </a:t>
            </a:r>
            <a:r>
              <a:rPr dirty="0" err="1"/>
              <a:t>보안</a:t>
            </a:r>
            <a:r>
              <a:rPr dirty="0"/>
              <a:t> </a:t>
            </a:r>
            <a:r>
              <a:rPr dirty="0" err="1"/>
              <a:t>수준</a:t>
            </a:r>
            <a:r>
              <a:rPr dirty="0"/>
              <a:t> </a:t>
            </a:r>
            <a:r>
              <a:rPr dirty="0" err="1"/>
              <a:t>점검·표준화</a:t>
            </a:r>
            <a:r>
              <a:rPr dirty="0"/>
              <a:t>, </a:t>
            </a:r>
            <a:r>
              <a:rPr dirty="0" err="1"/>
              <a:t>민간과</a:t>
            </a:r>
            <a:r>
              <a:rPr dirty="0"/>
              <a:t> </a:t>
            </a:r>
            <a:r>
              <a:rPr dirty="0" err="1"/>
              <a:t>위협</a:t>
            </a:r>
            <a:r>
              <a:rPr dirty="0"/>
              <a:t> </a:t>
            </a:r>
            <a:r>
              <a:rPr dirty="0" err="1"/>
              <a:t>인텔리전스</a:t>
            </a:r>
            <a:r>
              <a:rPr dirty="0"/>
              <a:t> </a:t>
            </a:r>
            <a:r>
              <a:rPr dirty="0" err="1"/>
              <a:t>공유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국제협력</a:t>
            </a:r>
            <a:r>
              <a:rPr dirty="0"/>
              <a:t>: </a:t>
            </a:r>
            <a:r>
              <a:rPr dirty="0" err="1"/>
              <a:t>공격정보</a:t>
            </a:r>
            <a:r>
              <a:rPr dirty="0"/>
              <a:t> </a:t>
            </a:r>
            <a:r>
              <a:rPr dirty="0" err="1"/>
              <a:t>공유</a:t>
            </a:r>
            <a:r>
              <a:rPr dirty="0"/>
              <a:t>, </a:t>
            </a: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보안</a:t>
            </a:r>
            <a:r>
              <a:rPr dirty="0"/>
              <a:t>(</a:t>
            </a:r>
            <a:r>
              <a:rPr dirty="0" err="1"/>
              <a:t>장비</a:t>
            </a:r>
            <a:r>
              <a:rPr dirty="0"/>
              <a:t>/</a:t>
            </a:r>
            <a:r>
              <a:rPr dirty="0" err="1"/>
              <a:t>소프트웨어</a:t>
            </a:r>
            <a:r>
              <a:rPr dirty="0"/>
              <a:t>)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정합화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763469-21C4-45D4-B933-C04EF5B2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0C145-B85A-48CD-8EA6-C62F179A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14.4.6 </a:t>
            </a:r>
            <a:r>
              <a:rPr dirty="0" err="1"/>
              <a:t>핵연료</a:t>
            </a:r>
            <a:r>
              <a:rPr dirty="0"/>
              <a:t> </a:t>
            </a:r>
            <a:r>
              <a:rPr dirty="0" err="1"/>
              <a:t>재처리와</a:t>
            </a:r>
            <a:r>
              <a:rPr dirty="0"/>
              <a:t> </a:t>
            </a:r>
            <a:r>
              <a:rPr dirty="0" err="1"/>
              <a:t>핵확산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13472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재처리</a:t>
            </a:r>
            <a:r>
              <a:rPr dirty="0"/>
              <a:t>: </a:t>
            </a:r>
            <a:r>
              <a:rPr dirty="0" err="1"/>
              <a:t>사용후핵연료에서</a:t>
            </a:r>
            <a:r>
              <a:rPr dirty="0"/>
              <a:t> </a:t>
            </a:r>
            <a:r>
              <a:rPr dirty="0" err="1"/>
              <a:t>우라늄·플루토늄을</a:t>
            </a:r>
            <a:r>
              <a:rPr dirty="0"/>
              <a:t> </a:t>
            </a:r>
            <a:r>
              <a:rPr dirty="0" err="1"/>
              <a:t>회수해</a:t>
            </a:r>
            <a:r>
              <a:rPr dirty="0"/>
              <a:t> </a:t>
            </a:r>
            <a:r>
              <a:rPr dirty="0" err="1"/>
              <a:t>연료</a:t>
            </a:r>
            <a:r>
              <a:rPr dirty="0"/>
              <a:t> </a:t>
            </a:r>
            <a:r>
              <a:rPr dirty="0" err="1"/>
              <a:t>활용</a:t>
            </a:r>
            <a:r>
              <a:rPr dirty="0"/>
              <a:t> </a:t>
            </a:r>
            <a:r>
              <a:rPr dirty="0" err="1"/>
              <a:t>효율·자립성</a:t>
            </a:r>
            <a:r>
              <a:rPr dirty="0"/>
              <a:t> </a:t>
            </a:r>
            <a:r>
              <a:rPr dirty="0" err="1"/>
              <a:t>제고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</a:t>
            </a:r>
            <a:r>
              <a:rPr dirty="0"/>
              <a:t> </a:t>
            </a:r>
            <a:r>
              <a:rPr dirty="0" err="1"/>
              <a:t>이점</a:t>
            </a:r>
            <a:r>
              <a:rPr dirty="0"/>
              <a:t>: </a:t>
            </a:r>
            <a:r>
              <a:rPr dirty="0" err="1"/>
              <a:t>우라늄</a:t>
            </a:r>
            <a:r>
              <a:rPr dirty="0"/>
              <a:t>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불확실성</a:t>
            </a:r>
            <a:r>
              <a:rPr dirty="0"/>
              <a:t> </a:t>
            </a:r>
            <a:r>
              <a:rPr dirty="0" err="1"/>
              <a:t>완화</a:t>
            </a:r>
            <a:r>
              <a:rPr dirty="0"/>
              <a:t>, </a:t>
            </a:r>
            <a:r>
              <a:rPr dirty="0" err="1"/>
              <a:t>장기</a:t>
            </a:r>
            <a:r>
              <a:rPr dirty="0"/>
              <a:t> </a:t>
            </a:r>
            <a:r>
              <a:rPr dirty="0" err="1"/>
              <a:t>연료</a:t>
            </a:r>
            <a:r>
              <a:rPr dirty="0"/>
              <a:t> </a:t>
            </a:r>
            <a:r>
              <a:rPr dirty="0" err="1"/>
              <a:t>안보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(</a:t>
            </a:r>
            <a:r>
              <a:rPr dirty="0" err="1"/>
              <a:t>고속로</a:t>
            </a:r>
            <a:r>
              <a:rPr dirty="0"/>
              <a:t> </a:t>
            </a:r>
            <a:r>
              <a:rPr dirty="0" err="1"/>
              <a:t>결합</a:t>
            </a:r>
            <a:r>
              <a:rPr dirty="0"/>
              <a:t> 시 </a:t>
            </a:r>
            <a:r>
              <a:rPr dirty="0" err="1"/>
              <a:t>효과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핵확산</a:t>
            </a:r>
            <a:r>
              <a:rPr dirty="0"/>
              <a:t> </a:t>
            </a:r>
            <a:r>
              <a:rPr dirty="0" err="1"/>
              <a:t>리스크</a:t>
            </a:r>
            <a:r>
              <a:rPr dirty="0"/>
              <a:t>: </a:t>
            </a:r>
            <a:r>
              <a:rPr dirty="0" err="1"/>
              <a:t>분리된</a:t>
            </a:r>
            <a:r>
              <a:rPr dirty="0"/>
              <a:t> </a:t>
            </a:r>
            <a:r>
              <a:rPr dirty="0" err="1"/>
              <a:t>플루토늄은</a:t>
            </a:r>
            <a:r>
              <a:rPr dirty="0"/>
              <a:t> </a:t>
            </a:r>
            <a:r>
              <a:rPr dirty="0" err="1"/>
              <a:t>핵무기</a:t>
            </a:r>
            <a:r>
              <a:rPr dirty="0"/>
              <a:t> </a:t>
            </a:r>
            <a:r>
              <a:rPr dirty="0" err="1"/>
              <a:t>전용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 → </a:t>
            </a:r>
            <a:r>
              <a:rPr dirty="0" err="1"/>
              <a:t>국제적</a:t>
            </a:r>
            <a:r>
              <a:rPr dirty="0"/>
              <a:t> </a:t>
            </a:r>
            <a:r>
              <a:rPr dirty="0" err="1"/>
              <a:t>의심·안보</a:t>
            </a:r>
            <a:r>
              <a:rPr dirty="0"/>
              <a:t> </a:t>
            </a:r>
            <a:r>
              <a:rPr dirty="0" err="1"/>
              <a:t>딜레마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국제</a:t>
            </a:r>
            <a:r>
              <a:rPr dirty="0"/>
              <a:t> </a:t>
            </a:r>
            <a:r>
              <a:rPr dirty="0" err="1"/>
              <a:t>거버넌스</a:t>
            </a:r>
            <a:r>
              <a:rPr dirty="0"/>
              <a:t>: IAEA </a:t>
            </a:r>
            <a:r>
              <a:rPr dirty="0" err="1"/>
              <a:t>안전조치</a:t>
            </a:r>
            <a:r>
              <a:rPr dirty="0"/>
              <a:t>(safeguards), </a:t>
            </a:r>
            <a:r>
              <a:rPr dirty="0" err="1"/>
              <a:t>투명성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, </a:t>
            </a:r>
            <a:r>
              <a:rPr dirty="0" err="1"/>
              <a:t>다자</a:t>
            </a:r>
            <a:r>
              <a:rPr dirty="0"/>
              <a:t> </a:t>
            </a:r>
            <a:r>
              <a:rPr dirty="0" err="1"/>
              <a:t>연료은행</a:t>
            </a:r>
            <a:r>
              <a:rPr dirty="0"/>
              <a:t>/</a:t>
            </a:r>
            <a:r>
              <a:rPr dirty="0" err="1"/>
              <a:t>공동시설</a:t>
            </a:r>
            <a:r>
              <a:rPr dirty="0"/>
              <a:t> </a:t>
            </a:r>
            <a:r>
              <a:rPr dirty="0" err="1"/>
              <a:t>논의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정책적</a:t>
            </a:r>
            <a:r>
              <a:rPr dirty="0"/>
              <a:t> </a:t>
            </a:r>
            <a:r>
              <a:rPr dirty="0" err="1"/>
              <a:t>과제</a:t>
            </a:r>
            <a:r>
              <a:rPr dirty="0"/>
              <a:t>: ‘</a:t>
            </a:r>
            <a:r>
              <a:rPr dirty="0" err="1"/>
              <a:t>연료</a:t>
            </a:r>
            <a:r>
              <a:rPr dirty="0"/>
              <a:t> </a:t>
            </a:r>
            <a:r>
              <a:rPr dirty="0" err="1"/>
              <a:t>안보’와</a:t>
            </a:r>
            <a:r>
              <a:rPr dirty="0"/>
              <a:t> ‘</a:t>
            </a:r>
            <a:r>
              <a:rPr dirty="0" err="1"/>
              <a:t>비확산</a:t>
            </a:r>
            <a:r>
              <a:rPr dirty="0"/>
              <a:t> </a:t>
            </a:r>
            <a:r>
              <a:rPr dirty="0" err="1"/>
              <a:t>체제</a:t>
            </a:r>
            <a:r>
              <a:rPr dirty="0"/>
              <a:t> </a:t>
            </a:r>
            <a:r>
              <a:rPr dirty="0" err="1"/>
              <a:t>신뢰’의</a:t>
            </a:r>
            <a:r>
              <a:rPr dirty="0"/>
              <a:t> </a:t>
            </a:r>
            <a:r>
              <a:rPr dirty="0" err="1"/>
              <a:t>균형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95058-A7D6-4C45-8442-4505E9D5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7A41F-0914-4291-BB50-4DF663449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14.5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안보의</a:t>
            </a:r>
            <a:r>
              <a:rPr dirty="0"/>
              <a:t> </a:t>
            </a:r>
            <a:r>
              <a:rPr dirty="0" err="1"/>
              <a:t>경제학적</a:t>
            </a:r>
            <a:r>
              <a:rPr dirty="0"/>
              <a:t> </a:t>
            </a:r>
            <a:r>
              <a:rPr dirty="0" err="1"/>
              <a:t>성격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86802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안보를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규정하느냐가</a:t>
            </a:r>
            <a:r>
              <a:rPr dirty="0"/>
              <a:t> </a:t>
            </a:r>
            <a:r>
              <a:rPr dirty="0" err="1"/>
              <a:t>정부</a:t>
            </a:r>
            <a:r>
              <a:rPr dirty="0"/>
              <a:t> </a:t>
            </a:r>
            <a:r>
              <a:rPr dirty="0" err="1"/>
              <a:t>개입의</a:t>
            </a:r>
            <a:r>
              <a:rPr dirty="0"/>
              <a:t> </a:t>
            </a:r>
            <a:r>
              <a:rPr dirty="0" err="1"/>
              <a:t>범위·수단을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외부성</a:t>
            </a:r>
            <a:r>
              <a:rPr dirty="0"/>
              <a:t> </a:t>
            </a:r>
            <a:r>
              <a:rPr dirty="0" err="1"/>
              <a:t>관점</a:t>
            </a:r>
            <a:r>
              <a:rPr dirty="0"/>
              <a:t>: </a:t>
            </a:r>
            <a:r>
              <a:rPr dirty="0" err="1"/>
              <a:t>공급중단·가격충격의</a:t>
            </a:r>
            <a:r>
              <a:rPr dirty="0"/>
              <a:t> </a:t>
            </a:r>
            <a:r>
              <a:rPr dirty="0" err="1"/>
              <a:t>사회적</a:t>
            </a:r>
            <a:r>
              <a:rPr dirty="0"/>
              <a:t> </a:t>
            </a:r>
            <a:r>
              <a:rPr dirty="0" err="1"/>
              <a:t>비용이</a:t>
            </a:r>
            <a:r>
              <a:rPr dirty="0"/>
              <a:t> </a:t>
            </a:r>
            <a:r>
              <a:rPr dirty="0" err="1"/>
              <a:t>시장가격에</a:t>
            </a:r>
            <a:r>
              <a:rPr dirty="0"/>
              <a:t> </a:t>
            </a:r>
            <a:r>
              <a:rPr dirty="0" err="1"/>
              <a:t>반영되지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 → </a:t>
            </a:r>
            <a:r>
              <a:rPr dirty="0" err="1"/>
              <a:t>시장실패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공공재</a:t>
            </a:r>
            <a:r>
              <a:rPr dirty="0"/>
              <a:t> </a:t>
            </a:r>
            <a:r>
              <a:rPr dirty="0" err="1"/>
              <a:t>관점</a:t>
            </a:r>
            <a:r>
              <a:rPr dirty="0"/>
              <a:t>: </a:t>
            </a:r>
            <a:r>
              <a:rPr dirty="0" err="1"/>
              <a:t>비배제성·비경합성</a:t>
            </a:r>
            <a:r>
              <a:rPr dirty="0"/>
              <a:t>(예: </a:t>
            </a:r>
            <a:r>
              <a:rPr dirty="0" err="1"/>
              <a:t>전력망</a:t>
            </a:r>
            <a:r>
              <a:rPr dirty="0"/>
              <a:t> </a:t>
            </a:r>
            <a:r>
              <a:rPr dirty="0" err="1"/>
              <a:t>보안</a:t>
            </a:r>
            <a:r>
              <a:rPr dirty="0"/>
              <a:t>, </a:t>
            </a:r>
            <a:r>
              <a:rPr dirty="0" err="1"/>
              <a:t>해상수송로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) → </a:t>
            </a:r>
            <a:r>
              <a:rPr dirty="0" err="1"/>
              <a:t>과소공급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현실은</a:t>
            </a:r>
            <a:r>
              <a:rPr dirty="0"/>
              <a:t> </a:t>
            </a:r>
            <a:r>
              <a:rPr dirty="0" err="1"/>
              <a:t>혼합형</a:t>
            </a:r>
            <a:r>
              <a:rPr dirty="0"/>
              <a:t>: </a:t>
            </a:r>
            <a:r>
              <a:rPr dirty="0" err="1"/>
              <a:t>비축·인프라</a:t>
            </a:r>
            <a:r>
              <a:rPr dirty="0"/>
              <a:t> </a:t>
            </a:r>
            <a:r>
              <a:rPr dirty="0" err="1"/>
              <a:t>보안</a:t>
            </a:r>
            <a:r>
              <a:rPr dirty="0"/>
              <a:t> </a:t>
            </a:r>
            <a:r>
              <a:rPr dirty="0" err="1"/>
              <a:t>등은</a:t>
            </a:r>
            <a:r>
              <a:rPr dirty="0"/>
              <a:t> </a:t>
            </a:r>
            <a:r>
              <a:rPr dirty="0" err="1"/>
              <a:t>외부성</a:t>
            </a:r>
            <a:r>
              <a:rPr dirty="0"/>
              <a:t> </a:t>
            </a:r>
            <a:r>
              <a:rPr dirty="0" err="1"/>
              <a:t>완화</a:t>
            </a:r>
            <a:r>
              <a:rPr dirty="0"/>
              <a:t> + </a:t>
            </a:r>
            <a:r>
              <a:rPr dirty="0" err="1"/>
              <a:t>집합적</a:t>
            </a:r>
            <a:r>
              <a:rPr dirty="0"/>
              <a:t> </a:t>
            </a:r>
            <a:r>
              <a:rPr dirty="0" err="1"/>
              <a:t>보호재</a:t>
            </a:r>
            <a:r>
              <a:rPr dirty="0"/>
              <a:t> </a:t>
            </a:r>
            <a:r>
              <a:rPr dirty="0" err="1"/>
              <a:t>성격을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가짐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BF532-B608-4265-BBE3-0DF073516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6A004-40D0-4C4F-A0EB-C4F966DB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외부성 관점: 정책 함의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992505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급등은</a:t>
            </a:r>
            <a:r>
              <a:rPr dirty="0"/>
              <a:t> </a:t>
            </a:r>
            <a:r>
              <a:rPr dirty="0" err="1"/>
              <a:t>물가·고용·성장에</a:t>
            </a:r>
            <a:r>
              <a:rPr dirty="0"/>
              <a:t> </a:t>
            </a:r>
            <a:r>
              <a:rPr dirty="0" err="1"/>
              <a:t>광범위한</a:t>
            </a:r>
            <a:r>
              <a:rPr dirty="0"/>
              <a:t> </a:t>
            </a:r>
            <a:r>
              <a:rPr dirty="0" err="1"/>
              <a:t>거시</a:t>
            </a:r>
            <a:r>
              <a:rPr dirty="0"/>
              <a:t> </a:t>
            </a:r>
            <a:r>
              <a:rPr dirty="0" err="1"/>
              <a:t>충격을</a:t>
            </a:r>
            <a:r>
              <a:rPr dirty="0"/>
              <a:t> </a:t>
            </a:r>
            <a:r>
              <a:rPr dirty="0" err="1"/>
              <a:t>유발</a:t>
            </a:r>
            <a:r>
              <a:rPr dirty="0"/>
              <a:t>(</a:t>
            </a:r>
            <a:r>
              <a:rPr dirty="0" err="1"/>
              <a:t>사회적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국제</a:t>
            </a:r>
            <a:r>
              <a:rPr dirty="0"/>
              <a:t> </a:t>
            </a:r>
            <a:r>
              <a:rPr dirty="0" err="1"/>
              <a:t>거래재</a:t>
            </a:r>
            <a:r>
              <a:rPr dirty="0"/>
              <a:t>(</a:t>
            </a:r>
            <a:r>
              <a:rPr dirty="0" err="1"/>
              <a:t>석유</a:t>
            </a:r>
            <a:r>
              <a:rPr dirty="0"/>
              <a:t> 등)는 한 </a:t>
            </a:r>
            <a:r>
              <a:rPr dirty="0" err="1"/>
              <a:t>국가의</a:t>
            </a:r>
            <a:r>
              <a:rPr dirty="0"/>
              <a:t> </a:t>
            </a:r>
            <a:r>
              <a:rPr dirty="0" err="1"/>
              <a:t>정책이</a:t>
            </a:r>
            <a:r>
              <a:rPr dirty="0"/>
              <a:t> </a:t>
            </a:r>
            <a:r>
              <a:rPr dirty="0" err="1"/>
              <a:t>국제시장에</a:t>
            </a:r>
            <a:r>
              <a:rPr dirty="0"/>
              <a:t> </a:t>
            </a:r>
            <a:r>
              <a:rPr dirty="0" err="1"/>
              <a:t>파급</a:t>
            </a:r>
            <a:r>
              <a:rPr dirty="0"/>
              <a:t> → </a:t>
            </a:r>
            <a:r>
              <a:rPr dirty="0" err="1"/>
              <a:t>외부성이</a:t>
            </a:r>
            <a:r>
              <a:rPr dirty="0"/>
              <a:t> 더 </a:t>
            </a:r>
            <a:r>
              <a:rPr dirty="0" err="1"/>
              <a:t>강함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정책수단</a:t>
            </a:r>
            <a:r>
              <a:rPr dirty="0"/>
              <a:t>(</a:t>
            </a:r>
            <a:r>
              <a:rPr dirty="0" err="1"/>
              <a:t>내부화</a:t>
            </a:r>
            <a:r>
              <a:rPr dirty="0"/>
              <a:t>):</a:t>
            </a:r>
          </a:p>
          <a:p>
            <a:pPr lvl="1">
              <a:defRPr sz="1800"/>
            </a:pPr>
            <a:r>
              <a:rPr dirty="0"/>
              <a:t>Pigouvian 세/</a:t>
            </a:r>
            <a:r>
              <a:rPr dirty="0" err="1"/>
              <a:t>보조·규제·정보</a:t>
            </a:r>
            <a:r>
              <a:rPr dirty="0"/>
              <a:t> </a:t>
            </a:r>
            <a:r>
              <a:rPr dirty="0" err="1"/>
              <a:t>제공으로</a:t>
            </a:r>
            <a:r>
              <a:rPr dirty="0"/>
              <a:t> </a:t>
            </a:r>
            <a:r>
              <a:rPr dirty="0" err="1"/>
              <a:t>행태를</a:t>
            </a:r>
            <a:r>
              <a:rPr dirty="0"/>
              <a:t> </a:t>
            </a:r>
            <a:r>
              <a:rPr dirty="0" err="1"/>
              <a:t>조정</a:t>
            </a:r>
            <a:endParaRPr dirty="0"/>
          </a:p>
          <a:p>
            <a:pPr lvl="1">
              <a:defRPr sz="1800"/>
            </a:pPr>
            <a:r>
              <a:rPr dirty="0" err="1"/>
              <a:t>효율·수요관리로</a:t>
            </a:r>
            <a:r>
              <a:rPr dirty="0"/>
              <a:t> ‘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민감도’와</a:t>
            </a:r>
            <a:r>
              <a:rPr dirty="0"/>
              <a:t> </a:t>
            </a:r>
            <a:r>
              <a:rPr dirty="0" err="1"/>
              <a:t>충격</a:t>
            </a:r>
            <a:r>
              <a:rPr dirty="0"/>
              <a:t> </a:t>
            </a:r>
            <a:r>
              <a:rPr dirty="0" err="1"/>
              <a:t>전이경로를</a:t>
            </a:r>
            <a:r>
              <a:rPr dirty="0"/>
              <a:t> </a:t>
            </a:r>
            <a:r>
              <a:rPr dirty="0" err="1"/>
              <a:t>약화</a:t>
            </a:r>
            <a:endParaRPr dirty="0"/>
          </a:p>
          <a:p>
            <a:pPr lvl="1">
              <a:defRPr sz="1800"/>
            </a:pP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메커니즘과의</a:t>
            </a:r>
            <a:r>
              <a:rPr dirty="0"/>
              <a:t> </a:t>
            </a:r>
            <a:r>
              <a:rPr dirty="0" err="1"/>
              <a:t>균형</a:t>
            </a:r>
            <a:r>
              <a:rPr dirty="0"/>
              <a:t>: </a:t>
            </a:r>
            <a:r>
              <a:rPr dirty="0" err="1"/>
              <a:t>과도한</a:t>
            </a:r>
            <a:r>
              <a:rPr dirty="0"/>
              <a:t> </a:t>
            </a:r>
            <a:r>
              <a:rPr dirty="0" err="1"/>
              <a:t>개입은</a:t>
            </a:r>
            <a:r>
              <a:rPr dirty="0"/>
              <a:t>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왜곡·과소비를</a:t>
            </a:r>
            <a:r>
              <a:rPr dirty="0"/>
              <a:t> </a:t>
            </a:r>
            <a:r>
              <a:rPr dirty="0" err="1"/>
              <a:t>초래할</a:t>
            </a:r>
            <a:r>
              <a:rPr dirty="0"/>
              <a:t> 수 </a:t>
            </a:r>
            <a:r>
              <a:rPr dirty="0" err="1"/>
              <a:t>있음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AE45C-3DD7-4C05-B03A-43A2315BB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C8B62-B936-4141-8483-75B9F0BF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공공재 관점: 정부·국제협력의 역할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966787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보안·복원력은</a:t>
            </a:r>
            <a:r>
              <a:rPr dirty="0"/>
              <a:t> </a:t>
            </a:r>
            <a:r>
              <a:rPr dirty="0" err="1"/>
              <a:t>개별</a:t>
            </a:r>
            <a:r>
              <a:rPr dirty="0"/>
              <a:t> </a:t>
            </a:r>
            <a:r>
              <a:rPr dirty="0" err="1"/>
              <a:t>기업이</a:t>
            </a:r>
            <a:r>
              <a:rPr dirty="0"/>
              <a:t> </a:t>
            </a:r>
            <a:r>
              <a:rPr dirty="0" err="1"/>
              <a:t>단독으로</a:t>
            </a:r>
            <a:r>
              <a:rPr dirty="0"/>
              <a:t> </a:t>
            </a:r>
            <a:r>
              <a:rPr dirty="0" err="1"/>
              <a:t>제공하기</a:t>
            </a:r>
            <a:r>
              <a:rPr dirty="0"/>
              <a:t> </a:t>
            </a:r>
            <a:r>
              <a:rPr dirty="0" err="1"/>
              <a:t>어렵고</a:t>
            </a:r>
            <a:r>
              <a:rPr dirty="0"/>
              <a:t> </a:t>
            </a:r>
            <a:r>
              <a:rPr dirty="0" err="1"/>
              <a:t>과소투자</a:t>
            </a:r>
            <a:r>
              <a:rPr dirty="0"/>
              <a:t> </a:t>
            </a:r>
            <a:r>
              <a:rPr dirty="0" err="1"/>
              <a:t>유인이</a:t>
            </a:r>
            <a:r>
              <a:rPr dirty="0"/>
              <a:t> 큼.</a:t>
            </a:r>
          </a:p>
          <a:p>
            <a:pPr>
              <a:defRPr sz="2000"/>
            </a:pPr>
            <a:r>
              <a:rPr dirty="0"/>
              <a:t>예: </a:t>
            </a:r>
            <a:r>
              <a:rPr dirty="0" err="1"/>
              <a:t>송전망</a:t>
            </a:r>
            <a:r>
              <a:rPr dirty="0"/>
              <a:t> </a:t>
            </a:r>
            <a:r>
              <a:rPr dirty="0" err="1"/>
              <a:t>사이버</a:t>
            </a:r>
            <a:r>
              <a:rPr dirty="0"/>
              <a:t> </a:t>
            </a:r>
            <a:r>
              <a:rPr dirty="0" err="1"/>
              <a:t>보안</a:t>
            </a:r>
            <a:r>
              <a:rPr dirty="0"/>
              <a:t>, </a:t>
            </a:r>
            <a:r>
              <a:rPr dirty="0" err="1"/>
              <a:t>비상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훈련</a:t>
            </a:r>
            <a:r>
              <a:rPr dirty="0"/>
              <a:t>, </a:t>
            </a:r>
            <a:r>
              <a:rPr dirty="0" err="1"/>
              <a:t>국제</a:t>
            </a:r>
            <a:r>
              <a:rPr dirty="0"/>
              <a:t> </a:t>
            </a:r>
            <a:r>
              <a:rPr dirty="0" err="1"/>
              <a:t>수송로</a:t>
            </a:r>
            <a:r>
              <a:rPr dirty="0"/>
              <a:t> </a:t>
            </a:r>
            <a:r>
              <a:rPr dirty="0" err="1"/>
              <a:t>보호는</a:t>
            </a:r>
            <a:r>
              <a:rPr dirty="0"/>
              <a:t> </a:t>
            </a:r>
            <a:r>
              <a:rPr dirty="0" err="1"/>
              <a:t>사회</a:t>
            </a:r>
            <a:r>
              <a:rPr dirty="0"/>
              <a:t> </a:t>
            </a:r>
            <a:r>
              <a:rPr dirty="0" err="1"/>
              <a:t>전체가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누림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정책수단</a:t>
            </a:r>
            <a:r>
              <a:rPr dirty="0"/>
              <a:t>: </a:t>
            </a:r>
            <a:r>
              <a:rPr dirty="0" err="1"/>
              <a:t>공공투자</a:t>
            </a:r>
            <a:r>
              <a:rPr dirty="0"/>
              <a:t>, </a:t>
            </a:r>
            <a:r>
              <a:rPr dirty="0" err="1"/>
              <a:t>법·규범</a:t>
            </a:r>
            <a:r>
              <a:rPr dirty="0"/>
              <a:t> </a:t>
            </a:r>
            <a:r>
              <a:rPr dirty="0" err="1"/>
              <a:t>정비</a:t>
            </a:r>
            <a:r>
              <a:rPr dirty="0"/>
              <a:t>, </a:t>
            </a:r>
            <a:r>
              <a:rPr dirty="0" err="1"/>
              <a:t>표준화</a:t>
            </a:r>
            <a:r>
              <a:rPr dirty="0"/>
              <a:t>, </a:t>
            </a:r>
            <a:r>
              <a:rPr dirty="0" err="1"/>
              <a:t>국제협약·다자</a:t>
            </a:r>
            <a:r>
              <a:rPr dirty="0"/>
              <a:t> </a:t>
            </a:r>
            <a:r>
              <a:rPr dirty="0" err="1"/>
              <a:t>제도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시사점</a:t>
            </a:r>
            <a:r>
              <a:rPr dirty="0"/>
              <a:t>: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안보는</a:t>
            </a:r>
            <a:r>
              <a:rPr dirty="0"/>
              <a:t> ‘</a:t>
            </a:r>
            <a:r>
              <a:rPr dirty="0" err="1"/>
              <a:t>시장+정부+국제협력’이</a:t>
            </a:r>
            <a:r>
              <a:rPr dirty="0"/>
              <a:t> </a:t>
            </a:r>
            <a:r>
              <a:rPr dirty="0" err="1"/>
              <a:t>결합된</a:t>
            </a:r>
            <a:r>
              <a:rPr dirty="0"/>
              <a:t> </a:t>
            </a:r>
            <a:r>
              <a:rPr dirty="0" err="1"/>
              <a:t>거버넌스</a:t>
            </a:r>
            <a:r>
              <a:rPr dirty="0"/>
              <a:t> </a:t>
            </a:r>
            <a:r>
              <a:rPr dirty="0" err="1"/>
              <a:t>영역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E38EB-DF7F-43D1-8844-B95B261F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0107C-8C4F-434B-9CAE-2DB30B1F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14.6 </a:t>
            </a:r>
            <a:r>
              <a:rPr dirty="0" err="1"/>
              <a:t>정책수단과</a:t>
            </a:r>
            <a:r>
              <a:rPr dirty="0"/>
              <a:t> </a:t>
            </a:r>
            <a:r>
              <a:rPr dirty="0" err="1"/>
              <a:t>제도적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개요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03947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수단</a:t>
            </a:r>
            <a:r>
              <a:rPr dirty="0"/>
              <a:t>: ① </a:t>
            </a:r>
            <a:r>
              <a:rPr dirty="0" err="1"/>
              <a:t>전략비축</a:t>
            </a:r>
            <a:r>
              <a:rPr dirty="0"/>
              <a:t> ② </a:t>
            </a:r>
            <a:r>
              <a:rPr dirty="0" err="1"/>
              <a:t>수입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 ③ </a:t>
            </a:r>
            <a:r>
              <a:rPr dirty="0" err="1"/>
              <a:t>효율·수요관리</a:t>
            </a:r>
            <a:r>
              <a:rPr dirty="0"/>
              <a:t> ④ </a:t>
            </a:r>
            <a:r>
              <a:rPr dirty="0" err="1"/>
              <a:t>국제협력</a:t>
            </a:r>
            <a:r>
              <a:rPr dirty="0"/>
              <a:t>(</a:t>
            </a:r>
            <a:r>
              <a:rPr dirty="0" err="1"/>
              <a:t>다자</a:t>
            </a:r>
            <a:r>
              <a:rPr dirty="0"/>
              <a:t> </a:t>
            </a:r>
            <a:r>
              <a:rPr dirty="0" err="1"/>
              <a:t>제도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원칙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 err="1"/>
              <a:t>위기</a:t>
            </a:r>
            <a:r>
              <a:rPr dirty="0"/>
              <a:t> </a:t>
            </a:r>
            <a:r>
              <a:rPr dirty="0" err="1"/>
              <a:t>대비</a:t>
            </a:r>
            <a:r>
              <a:rPr dirty="0"/>
              <a:t> ‘</a:t>
            </a:r>
            <a:r>
              <a:rPr dirty="0" err="1"/>
              <a:t>보험’과</a:t>
            </a:r>
            <a:r>
              <a:rPr dirty="0"/>
              <a:t> </a:t>
            </a:r>
            <a:r>
              <a:rPr dirty="0" err="1"/>
              <a:t>평시</a:t>
            </a:r>
            <a:r>
              <a:rPr dirty="0"/>
              <a:t> </a:t>
            </a:r>
            <a:r>
              <a:rPr dirty="0" err="1"/>
              <a:t>효율성의</a:t>
            </a:r>
            <a:r>
              <a:rPr dirty="0"/>
              <a:t> </a:t>
            </a:r>
            <a:r>
              <a:rPr dirty="0" err="1"/>
              <a:t>균형</a:t>
            </a:r>
            <a:r>
              <a:rPr dirty="0"/>
              <a:t>(</a:t>
            </a:r>
            <a:r>
              <a:rPr dirty="0" err="1"/>
              <a:t>비용-편익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)</a:t>
            </a:r>
          </a:p>
          <a:p>
            <a:pPr lvl="1">
              <a:defRPr sz="1800"/>
            </a:pPr>
            <a:r>
              <a:rPr dirty="0" err="1"/>
              <a:t>명확한</a:t>
            </a:r>
            <a:r>
              <a:rPr dirty="0"/>
              <a:t> </a:t>
            </a:r>
            <a:r>
              <a:rPr dirty="0" err="1"/>
              <a:t>운용</a:t>
            </a:r>
            <a:r>
              <a:rPr dirty="0"/>
              <a:t> </a:t>
            </a:r>
            <a:r>
              <a:rPr dirty="0" err="1"/>
              <a:t>규칙</a:t>
            </a:r>
            <a:r>
              <a:rPr dirty="0"/>
              <a:t>(</a:t>
            </a:r>
            <a:r>
              <a:rPr dirty="0" err="1"/>
              <a:t>비축</a:t>
            </a:r>
            <a:r>
              <a:rPr dirty="0"/>
              <a:t> </a:t>
            </a:r>
            <a:r>
              <a:rPr dirty="0" err="1"/>
              <a:t>방출</a:t>
            </a:r>
            <a:r>
              <a:rPr dirty="0"/>
              <a:t>, </a:t>
            </a:r>
            <a:r>
              <a:rPr dirty="0" err="1"/>
              <a:t>비상</a:t>
            </a:r>
            <a:r>
              <a:rPr dirty="0"/>
              <a:t> </a:t>
            </a:r>
            <a:r>
              <a:rPr dirty="0" err="1"/>
              <a:t>단계</a:t>
            </a:r>
            <a:r>
              <a:rPr dirty="0"/>
              <a:t>,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공개</a:t>
            </a:r>
            <a:r>
              <a:rPr dirty="0"/>
              <a:t>)</a:t>
            </a:r>
          </a:p>
          <a:p>
            <a:pPr lvl="1">
              <a:defRPr sz="1800"/>
            </a:pP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변화</a:t>
            </a:r>
            <a:r>
              <a:rPr dirty="0"/>
              <a:t> </a:t>
            </a:r>
            <a:r>
              <a:rPr dirty="0" err="1"/>
              <a:t>반영</a:t>
            </a:r>
            <a:r>
              <a:rPr dirty="0"/>
              <a:t>(</a:t>
            </a:r>
            <a:r>
              <a:rPr dirty="0" err="1"/>
              <a:t>전력·저장·디지털화</a:t>
            </a:r>
            <a:r>
              <a:rPr dirty="0"/>
              <a:t>)과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유연성</a:t>
            </a:r>
            <a:endParaRPr dirty="0"/>
          </a:p>
          <a:p>
            <a:pPr lvl="1">
              <a:defRPr sz="1800"/>
            </a:pPr>
            <a:r>
              <a:rPr dirty="0" err="1"/>
              <a:t>형평성</a:t>
            </a:r>
            <a:r>
              <a:rPr dirty="0"/>
              <a:t> </a:t>
            </a:r>
            <a:r>
              <a:rPr dirty="0" err="1"/>
              <a:t>고려</a:t>
            </a:r>
            <a:r>
              <a:rPr dirty="0"/>
              <a:t>: </a:t>
            </a:r>
            <a:r>
              <a:rPr dirty="0" err="1"/>
              <a:t>취약계층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,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 </a:t>
            </a:r>
            <a:r>
              <a:rPr dirty="0" err="1"/>
              <a:t>분담</a:t>
            </a:r>
            <a:r>
              <a:rPr dirty="0"/>
              <a:t>, </a:t>
            </a:r>
            <a:r>
              <a:rPr dirty="0" err="1"/>
              <a:t>지역</a:t>
            </a:r>
            <a:r>
              <a:rPr dirty="0"/>
              <a:t> </a:t>
            </a:r>
            <a:r>
              <a:rPr dirty="0" err="1"/>
              <a:t>수용성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61554-E294-441B-A48D-9A41DA811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371E4-B326-49F9-B49E-C7F664F7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14.6.1 </a:t>
            </a:r>
            <a:r>
              <a:rPr dirty="0" err="1"/>
              <a:t>전략적</a:t>
            </a:r>
            <a:r>
              <a:rPr dirty="0"/>
              <a:t> </a:t>
            </a:r>
            <a:r>
              <a:rPr dirty="0" err="1"/>
              <a:t>비축제도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997267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목적</a:t>
            </a:r>
            <a:r>
              <a:rPr dirty="0"/>
              <a:t>: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충격</a:t>
            </a:r>
            <a:r>
              <a:rPr dirty="0"/>
              <a:t> 시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혼란</a:t>
            </a:r>
            <a:r>
              <a:rPr dirty="0"/>
              <a:t> </a:t>
            </a:r>
            <a:r>
              <a:rPr dirty="0" err="1"/>
              <a:t>최소화</a:t>
            </a:r>
            <a:r>
              <a:rPr dirty="0"/>
              <a:t>, </a:t>
            </a:r>
            <a:r>
              <a:rPr dirty="0" err="1"/>
              <a:t>경제</a:t>
            </a:r>
            <a:r>
              <a:rPr dirty="0"/>
              <a:t> </a:t>
            </a:r>
            <a:r>
              <a:rPr dirty="0" err="1"/>
              <a:t>피해</a:t>
            </a:r>
            <a:r>
              <a:rPr dirty="0"/>
              <a:t> </a:t>
            </a:r>
            <a:r>
              <a:rPr dirty="0" err="1"/>
              <a:t>완화</a:t>
            </a:r>
            <a:r>
              <a:rPr dirty="0"/>
              <a:t>(</a:t>
            </a:r>
            <a:r>
              <a:rPr dirty="0" err="1"/>
              <a:t>단기</a:t>
            </a:r>
            <a:r>
              <a:rPr dirty="0"/>
              <a:t> </a:t>
            </a:r>
            <a:r>
              <a:rPr dirty="0" err="1"/>
              <a:t>완충장치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/>
              <a:t>IEA </a:t>
            </a:r>
            <a:r>
              <a:rPr dirty="0" err="1"/>
              <a:t>권고</a:t>
            </a:r>
            <a:r>
              <a:rPr dirty="0"/>
              <a:t>: </a:t>
            </a:r>
            <a:r>
              <a:rPr dirty="0" err="1"/>
              <a:t>회원국은</a:t>
            </a:r>
            <a:r>
              <a:rPr dirty="0"/>
              <a:t> </a:t>
            </a:r>
            <a:r>
              <a:rPr dirty="0" err="1"/>
              <a:t>최소</a:t>
            </a:r>
            <a:r>
              <a:rPr dirty="0"/>
              <a:t> 90일 </a:t>
            </a:r>
            <a:r>
              <a:rPr dirty="0" err="1"/>
              <a:t>수준의</a:t>
            </a:r>
            <a:r>
              <a:rPr dirty="0"/>
              <a:t> </a:t>
            </a:r>
            <a:r>
              <a:rPr dirty="0" err="1"/>
              <a:t>석유</a:t>
            </a:r>
            <a:r>
              <a:rPr dirty="0"/>
              <a:t> </a:t>
            </a:r>
            <a:r>
              <a:rPr dirty="0" err="1"/>
              <a:t>비축</a:t>
            </a:r>
            <a:r>
              <a:rPr dirty="0"/>
              <a:t> </a:t>
            </a:r>
            <a:r>
              <a:rPr dirty="0" err="1"/>
              <a:t>유지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사례</a:t>
            </a:r>
            <a:r>
              <a:rPr dirty="0"/>
              <a:t>: </a:t>
            </a:r>
            <a:r>
              <a:rPr dirty="0" err="1"/>
              <a:t>미국</a:t>
            </a:r>
            <a:r>
              <a:rPr dirty="0"/>
              <a:t> SPR(</a:t>
            </a:r>
            <a:r>
              <a:rPr dirty="0" err="1"/>
              <a:t>대규모</a:t>
            </a:r>
            <a:r>
              <a:rPr dirty="0"/>
              <a:t> </a:t>
            </a:r>
            <a:r>
              <a:rPr dirty="0" err="1"/>
              <a:t>비축</a:t>
            </a:r>
            <a:r>
              <a:rPr dirty="0"/>
              <a:t>), </a:t>
            </a:r>
            <a:r>
              <a:rPr dirty="0" err="1"/>
              <a:t>한국은</a:t>
            </a:r>
            <a:r>
              <a:rPr dirty="0"/>
              <a:t> </a:t>
            </a:r>
            <a:r>
              <a:rPr dirty="0" err="1"/>
              <a:t>석유공사를</a:t>
            </a:r>
            <a:r>
              <a:rPr dirty="0"/>
              <a:t> </a:t>
            </a:r>
            <a:r>
              <a:rPr dirty="0" err="1"/>
              <a:t>통한</a:t>
            </a:r>
            <a:r>
              <a:rPr dirty="0"/>
              <a:t> </a:t>
            </a:r>
            <a:r>
              <a:rPr dirty="0" err="1"/>
              <a:t>비축기지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국제</a:t>
            </a:r>
            <a:r>
              <a:rPr dirty="0"/>
              <a:t> </a:t>
            </a:r>
            <a:r>
              <a:rPr dirty="0" err="1"/>
              <a:t>공조</a:t>
            </a:r>
            <a:r>
              <a:rPr dirty="0"/>
              <a:t>: </a:t>
            </a:r>
            <a:r>
              <a:rPr dirty="0" err="1"/>
              <a:t>IEA는</a:t>
            </a:r>
            <a:r>
              <a:rPr dirty="0"/>
              <a:t> </a:t>
            </a:r>
            <a:r>
              <a:rPr dirty="0" err="1"/>
              <a:t>위기</a:t>
            </a:r>
            <a:r>
              <a:rPr dirty="0"/>
              <a:t> 시 </a:t>
            </a:r>
            <a:r>
              <a:rPr dirty="0" err="1"/>
              <a:t>공동</a:t>
            </a:r>
            <a:r>
              <a:rPr dirty="0"/>
              <a:t> </a:t>
            </a:r>
            <a:r>
              <a:rPr dirty="0" err="1"/>
              <a:t>방출을</a:t>
            </a:r>
            <a:r>
              <a:rPr dirty="0"/>
              <a:t> </a:t>
            </a:r>
            <a:r>
              <a:rPr dirty="0" err="1"/>
              <a:t>조정</a:t>
            </a:r>
            <a:r>
              <a:rPr dirty="0"/>
              <a:t>(</a:t>
            </a:r>
            <a:r>
              <a:rPr dirty="0" err="1"/>
              <a:t>걸프전</a:t>
            </a:r>
            <a:r>
              <a:rPr dirty="0"/>
              <a:t>, </a:t>
            </a:r>
            <a:r>
              <a:rPr dirty="0" err="1"/>
              <a:t>허리케인</a:t>
            </a:r>
            <a:r>
              <a:rPr dirty="0"/>
              <a:t>, </a:t>
            </a:r>
            <a:r>
              <a:rPr dirty="0" err="1"/>
              <a:t>전쟁</a:t>
            </a:r>
            <a:r>
              <a:rPr dirty="0"/>
              <a:t> </a:t>
            </a:r>
            <a:r>
              <a:rPr dirty="0" err="1"/>
              <a:t>등에서</a:t>
            </a:r>
            <a:r>
              <a:rPr dirty="0"/>
              <a:t> </a:t>
            </a:r>
            <a:r>
              <a:rPr dirty="0" err="1"/>
              <a:t>활용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한계</a:t>
            </a:r>
            <a:r>
              <a:rPr dirty="0"/>
              <a:t>/</a:t>
            </a:r>
            <a:r>
              <a:rPr dirty="0" err="1"/>
              <a:t>과제</a:t>
            </a:r>
            <a:r>
              <a:rPr dirty="0"/>
              <a:t>: </a:t>
            </a:r>
            <a:r>
              <a:rPr dirty="0" err="1"/>
              <a:t>구매·저장</a:t>
            </a:r>
            <a:r>
              <a:rPr dirty="0"/>
              <a:t> </a:t>
            </a:r>
            <a:r>
              <a:rPr dirty="0" err="1"/>
              <a:t>비용과</a:t>
            </a:r>
            <a:r>
              <a:rPr dirty="0"/>
              <a:t> </a:t>
            </a:r>
            <a:r>
              <a:rPr dirty="0" err="1"/>
              <a:t>기회비용</a:t>
            </a:r>
            <a:r>
              <a:rPr dirty="0"/>
              <a:t>, </a:t>
            </a:r>
            <a:r>
              <a:rPr dirty="0" err="1"/>
              <a:t>방출의</a:t>
            </a:r>
            <a:r>
              <a:rPr dirty="0"/>
              <a:t> </a:t>
            </a:r>
            <a:r>
              <a:rPr dirty="0" err="1"/>
              <a:t>정치화·시장왜곡</a:t>
            </a:r>
            <a:r>
              <a:rPr dirty="0"/>
              <a:t> </a:t>
            </a:r>
            <a:r>
              <a:rPr dirty="0" err="1"/>
              <a:t>가능성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전환기</a:t>
            </a:r>
            <a:r>
              <a:rPr dirty="0"/>
              <a:t> </a:t>
            </a:r>
            <a:r>
              <a:rPr dirty="0" err="1"/>
              <a:t>과제</a:t>
            </a:r>
            <a:r>
              <a:rPr dirty="0"/>
              <a:t>: </a:t>
            </a:r>
            <a:r>
              <a:rPr dirty="0" err="1"/>
              <a:t>전력저장·수소·배터리</a:t>
            </a:r>
            <a:r>
              <a:rPr dirty="0"/>
              <a:t> 등 ‘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형태의</a:t>
            </a:r>
            <a:r>
              <a:rPr dirty="0"/>
              <a:t> </a:t>
            </a:r>
            <a:r>
              <a:rPr dirty="0" err="1"/>
              <a:t>비축</a:t>
            </a:r>
            <a:r>
              <a:rPr dirty="0"/>
              <a:t>’ </a:t>
            </a:r>
            <a:r>
              <a:rPr dirty="0" err="1"/>
              <a:t>논의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D0430-7F3A-4377-A394-5E658E95D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36C2D-FA2D-4116-BDCA-99F2AC96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14.6.1 </a:t>
            </a:r>
            <a:r>
              <a:rPr dirty="0" err="1"/>
              <a:t>전략적</a:t>
            </a:r>
            <a:r>
              <a:rPr dirty="0"/>
              <a:t> </a:t>
            </a:r>
            <a:r>
              <a:rPr dirty="0" err="1"/>
              <a:t>비축제도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D0430-7F3A-4377-A394-5E658E95D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36C2D-FA2D-4116-BDCA-99F2AC96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grpSp>
        <p:nvGrpSpPr>
          <p:cNvPr id="6" name="Group 15"/>
          <p:cNvGrpSpPr/>
          <p:nvPr/>
        </p:nvGrpSpPr>
        <p:grpSpPr>
          <a:xfrm>
            <a:off x="2015566" y="937691"/>
            <a:ext cx="8160867" cy="4923696"/>
            <a:chOff x="907292" y="1074945"/>
            <a:chExt cx="8160867" cy="4923696"/>
          </a:xfrm>
        </p:grpSpPr>
        <p:grpSp>
          <p:nvGrpSpPr>
            <p:cNvPr id="7" name="Group 23"/>
            <p:cNvGrpSpPr/>
            <p:nvPr/>
          </p:nvGrpSpPr>
          <p:grpSpPr>
            <a:xfrm>
              <a:off x="1633243" y="2128838"/>
              <a:ext cx="6567750" cy="3418504"/>
              <a:chOff x="3406415" y="1305954"/>
              <a:chExt cx="5032281" cy="3942731"/>
            </a:xfrm>
          </p:grpSpPr>
          <p:cxnSp>
            <p:nvCxnSpPr>
              <p:cNvPr id="8" name="Straight Connector 25"/>
              <p:cNvCxnSpPr/>
              <p:nvPr/>
            </p:nvCxnSpPr>
            <p:spPr>
              <a:xfrm>
                <a:off x="3406415" y="1305954"/>
                <a:ext cx="0" cy="3942731"/>
              </a:xfrm>
              <a:prstGeom prst="line">
                <a:avLst/>
              </a:prstGeom>
              <a:ln>
                <a:head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26"/>
              <p:cNvCxnSpPr/>
              <p:nvPr/>
            </p:nvCxnSpPr>
            <p:spPr>
              <a:xfrm>
                <a:off x="3406416" y="5248685"/>
                <a:ext cx="5032280" cy="0"/>
              </a:xfrm>
              <a:prstGeom prst="line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/>
            <p:cNvCxnSpPr/>
            <p:nvPr/>
          </p:nvCxnSpPr>
          <p:spPr>
            <a:xfrm flipV="1">
              <a:off x="3508054" y="3726873"/>
              <a:ext cx="0" cy="1820469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w="med" len="med"/>
              <a:tailEnd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" name="Arc 18"/>
            <p:cNvSpPr/>
            <p:nvPr/>
          </p:nvSpPr>
          <p:spPr>
            <a:xfrm rot="11802679">
              <a:off x="2330042" y="1074945"/>
              <a:ext cx="6738117" cy="3516567"/>
            </a:xfrm>
            <a:prstGeom prst="arc">
              <a:avLst>
                <a:gd name="adj1" fmla="val 12615693"/>
                <a:gd name="adj2" fmla="val 21259628"/>
              </a:avLst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endParaRPr lang="en-KR"/>
            </a:p>
          </p:txBody>
        </p:sp>
        <p:cxnSp>
          <p:nvCxnSpPr>
            <p:cNvPr id="12" name="Straight Connector 32"/>
            <p:cNvCxnSpPr/>
            <p:nvPr/>
          </p:nvCxnSpPr>
          <p:spPr>
            <a:xfrm flipH="1">
              <a:off x="1633243" y="3726872"/>
              <a:ext cx="5016939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w="med" len="med"/>
              <a:tailEnd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" name="TextBox 8"/>
            <p:cNvSpPr txBox="1"/>
            <p:nvPr/>
          </p:nvSpPr>
          <p:spPr>
            <a:xfrm>
              <a:off x="4314443" y="3148585"/>
              <a:ext cx="21487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/>
              </a:pPr>
              <a:r>
                <a:rPr lang="ko-KR" altLang="en-US" sz="1400"/>
                <a:t>한계 비축 비용</a:t>
              </a:r>
              <a:endParaRPr lang="en-KR" sz="1400"/>
            </a:p>
          </p:txBody>
        </p:sp>
        <p:sp>
          <p:nvSpPr>
            <p:cNvPr id="14" name="TextBox 10"/>
            <p:cNvSpPr txBox="1"/>
            <p:nvPr/>
          </p:nvSpPr>
          <p:spPr>
            <a:xfrm>
              <a:off x="6490231" y="5676536"/>
              <a:ext cx="21487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/>
              </a:pPr>
              <a:r>
                <a:rPr lang="ko-KR" altLang="en-US" sz="1400"/>
                <a:t>비축량</a:t>
              </a:r>
              <a:endParaRPr lang="en-KR" sz="1400"/>
            </a:p>
          </p:txBody>
        </p:sp>
        <p:sp>
          <p:nvSpPr>
            <p:cNvPr id="15" name="TextBox 11"/>
            <p:cNvSpPr txBox="1"/>
            <p:nvPr/>
          </p:nvSpPr>
          <p:spPr>
            <a:xfrm>
              <a:off x="3302092" y="5617614"/>
              <a:ext cx="950456" cy="3810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/>
              </a:pPr>
              <a:r>
                <a:rPr lang="en-AU" altLang="ko-KR"/>
                <a:t>SR*</a:t>
              </a:r>
              <a:endParaRPr lang="en-KR"/>
            </a:p>
          </p:txBody>
        </p:sp>
        <p:sp>
          <p:nvSpPr>
            <p:cNvPr id="16" name="TextBox 12"/>
            <p:cNvSpPr txBox="1"/>
            <p:nvPr/>
          </p:nvSpPr>
          <p:spPr>
            <a:xfrm>
              <a:off x="5731295" y="4113887"/>
              <a:ext cx="11425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/>
              </a:pPr>
              <a:r>
                <a:rPr lang="ko-KR" altLang="en-US" sz="1400" b="0" i="0">
                  <a:solidFill>
                    <a:srgbClr val="222225"/>
                  </a:solidFill>
                  <a:effectLst/>
                  <a:latin typeface="-apple-system"/>
                </a:rPr>
                <a:t>공급 부족의 한계 비용</a:t>
              </a:r>
              <a:endParaRPr lang="en-KR" sz="1400"/>
            </a:p>
          </p:txBody>
        </p:sp>
        <p:sp>
          <p:nvSpPr>
            <p:cNvPr id="17" name="TextBox 14"/>
            <p:cNvSpPr txBox="1"/>
            <p:nvPr/>
          </p:nvSpPr>
          <p:spPr>
            <a:xfrm>
              <a:off x="907292" y="2058567"/>
              <a:ext cx="55985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/>
              </a:pPr>
              <a:r>
                <a:rPr lang="ko-KR" altLang="en-US" sz="1400"/>
                <a:t>비축비용</a:t>
              </a:r>
              <a:endParaRPr lang="en-KR" sz="1400"/>
            </a:p>
          </p:txBody>
        </p:sp>
      </p:grp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1623745" y="1417638"/>
            <a:ext cx="8925246" cy="4525963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ko-KR" altLang="en-US"/>
              <a:t>  </a:t>
            </a:r>
          </a:p>
        </p:txBody>
      </p:sp>
      <p:sp>
        <p:nvSpPr>
          <p:cNvPr id="19" name="가로 글상자 18"/>
          <p:cNvSpPr txBox="1"/>
          <p:nvPr/>
        </p:nvSpPr>
        <p:spPr>
          <a:xfrm>
            <a:off x="1697376" y="1304603"/>
            <a:ext cx="914400" cy="443501"/>
          </a:xfrm>
          <a:prstGeom prst="rect">
            <a:avLst/>
          </a:prstGeom>
        </p:spPr>
        <p:txBody>
          <a:bodyPr wrap="none"/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14-1]</a:t>
            </a:r>
            <a:r>
              <a:rPr lang="ko-KR" altLang="en-US"/>
              <a:t> 적정 전략적 비축량의 결정</a:t>
            </a:r>
          </a:p>
        </p:txBody>
      </p:sp>
    </p:spTree>
    <p:extLst>
      <p:ext uri="{BB962C8B-B14F-4D97-AF65-F5344CB8AC3E}">
        <p14:creationId xmlns:p14="http://schemas.microsoft.com/office/powerpoint/2010/main" val="2678517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14.6.2 </a:t>
            </a:r>
            <a:r>
              <a:rPr dirty="0" err="1"/>
              <a:t>수입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 </a:t>
            </a:r>
            <a:r>
              <a:rPr dirty="0" err="1"/>
              <a:t>정책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48715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정의</a:t>
            </a:r>
            <a:r>
              <a:rPr dirty="0"/>
              <a:t>: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국가·지역</a:t>
            </a:r>
            <a:r>
              <a:rPr dirty="0"/>
              <a:t> </a:t>
            </a:r>
            <a:r>
              <a:rPr dirty="0" err="1"/>
              <a:t>의존도를</a:t>
            </a:r>
            <a:r>
              <a:rPr dirty="0"/>
              <a:t> </a:t>
            </a:r>
            <a:r>
              <a:rPr dirty="0" err="1"/>
              <a:t>낮춰</a:t>
            </a:r>
            <a:r>
              <a:rPr dirty="0"/>
              <a:t>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충격</a:t>
            </a:r>
            <a:r>
              <a:rPr dirty="0"/>
              <a:t> </a:t>
            </a:r>
            <a:r>
              <a:rPr dirty="0" err="1"/>
              <a:t>손실을</a:t>
            </a:r>
            <a:r>
              <a:rPr dirty="0"/>
              <a:t> </a:t>
            </a:r>
            <a:r>
              <a:rPr dirty="0" err="1"/>
              <a:t>분산</a:t>
            </a:r>
            <a:r>
              <a:rPr dirty="0"/>
              <a:t>(‘</a:t>
            </a:r>
            <a:r>
              <a:rPr dirty="0" err="1"/>
              <a:t>포트폴리오</a:t>
            </a:r>
            <a:r>
              <a:rPr dirty="0"/>
              <a:t> </a:t>
            </a:r>
            <a:r>
              <a:rPr dirty="0" err="1"/>
              <a:t>전략</a:t>
            </a:r>
            <a:r>
              <a:rPr dirty="0"/>
              <a:t>’).</a:t>
            </a:r>
          </a:p>
          <a:p>
            <a:pPr>
              <a:defRPr sz="2000"/>
            </a:pPr>
            <a:r>
              <a:rPr dirty="0" err="1"/>
              <a:t>다변화의</a:t>
            </a:r>
            <a:r>
              <a:rPr dirty="0"/>
              <a:t> </a:t>
            </a:r>
            <a:r>
              <a:rPr dirty="0" err="1"/>
              <a:t>범위</a:t>
            </a:r>
            <a:r>
              <a:rPr dirty="0"/>
              <a:t>: </a:t>
            </a:r>
            <a:r>
              <a:rPr dirty="0" err="1"/>
              <a:t>공급국</a:t>
            </a:r>
            <a:r>
              <a:rPr dirty="0"/>
              <a:t>(</a:t>
            </a:r>
            <a:r>
              <a:rPr dirty="0" err="1"/>
              <a:t>원천</a:t>
            </a:r>
            <a:r>
              <a:rPr dirty="0"/>
              <a:t>) + </a:t>
            </a:r>
            <a:r>
              <a:rPr dirty="0" err="1"/>
              <a:t>수송</a:t>
            </a:r>
            <a:r>
              <a:rPr dirty="0"/>
              <a:t> </a:t>
            </a:r>
            <a:r>
              <a:rPr dirty="0" err="1"/>
              <a:t>경로</a:t>
            </a:r>
            <a:r>
              <a:rPr dirty="0"/>
              <a:t> + </a:t>
            </a:r>
            <a:r>
              <a:rPr dirty="0" err="1"/>
              <a:t>계약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(</a:t>
            </a:r>
            <a:r>
              <a:rPr dirty="0" err="1"/>
              <a:t>장기</a:t>
            </a:r>
            <a:r>
              <a:rPr dirty="0"/>
              <a:t>/</a:t>
            </a:r>
            <a:r>
              <a:rPr dirty="0" err="1"/>
              <a:t>스팟</a:t>
            </a:r>
            <a:r>
              <a:rPr dirty="0"/>
              <a:t>) + </a:t>
            </a:r>
            <a:r>
              <a:rPr dirty="0" err="1"/>
              <a:t>인프라</a:t>
            </a:r>
            <a:r>
              <a:rPr dirty="0"/>
              <a:t>(LNG 등).</a:t>
            </a:r>
          </a:p>
          <a:p>
            <a:pPr>
              <a:defRPr sz="2000"/>
            </a:pPr>
            <a:r>
              <a:rPr dirty="0" err="1"/>
              <a:t>장점</a:t>
            </a:r>
            <a:r>
              <a:rPr dirty="0"/>
              <a:t>: </a:t>
            </a:r>
            <a:r>
              <a:rPr dirty="0" err="1"/>
              <a:t>지정학</a:t>
            </a:r>
            <a:r>
              <a:rPr dirty="0"/>
              <a:t> </a:t>
            </a:r>
            <a:r>
              <a:rPr dirty="0" err="1"/>
              <a:t>리스크</a:t>
            </a:r>
            <a:r>
              <a:rPr dirty="0"/>
              <a:t> </a:t>
            </a:r>
            <a:r>
              <a:rPr dirty="0" err="1"/>
              <a:t>완화</a:t>
            </a:r>
            <a:r>
              <a:rPr dirty="0"/>
              <a:t>,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협상력</a:t>
            </a:r>
            <a:r>
              <a:rPr dirty="0"/>
              <a:t> </a:t>
            </a:r>
            <a:r>
              <a:rPr dirty="0" err="1"/>
              <a:t>제고</a:t>
            </a:r>
            <a:r>
              <a:rPr dirty="0"/>
              <a:t>,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유연성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사례</a:t>
            </a:r>
            <a:r>
              <a:rPr dirty="0"/>
              <a:t>: </a:t>
            </a:r>
            <a:r>
              <a:rPr dirty="0" err="1"/>
              <a:t>EU는</a:t>
            </a:r>
            <a:r>
              <a:rPr dirty="0"/>
              <a:t> </a:t>
            </a:r>
            <a:r>
              <a:rPr dirty="0" err="1"/>
              <a:t>러시아</a:t>
            </a:r>
            <a:r>
              <a:rPr dirty="0"/>
              <a:t> </a:t>
            </a:r>
            <a:r>
              <a:rPr dirty="0" err="1"/>
              <a:t>가스</a:t>
            </a:r>
            <a:r>
              <a:rPr dirty="0"/>
              <a:t> </a:t>
            </a:r>
            <a:r>
              <a:rPr dirty="0" err="1"/>
              <a:t>의존이</a:t>
            </a:r>
            <a:r>
              <a:rPr dirty="0"/>
              <a:t> </a:t>
            </a:r>
            <a:r>
              <a:rPr dirty="0" err="1"/>
              <a:t>위기</a:t>
            </a:r>
            <a:r>
              <a:rPr dirty="0"/>
              <a:t> </a:t>
            </a:r>
            <a:r>
              <a:rPr dirty="0" err="1"/>
              <a:t>요인으로</a:t>
            </a:r>
            <a:r>
              <a:rPr dirty="0"/>
              <a:t> </a:t>
            </a:r>
            <a:r>
              <a:rPr dirty="0" err="1"/>
              <a:t>드러나며</a:t>
            </a:r>
            <a:r>
              <a:rPr dirty="0"/>
              <a:t> LNG 등 </a:t>
            </a:r>
            <a:r>
              <a:rPr dirty="0" err="1"/>
              <a:t>대체</a:t>
            </a:r>
            <a:r>
              <a:rPr dirty="0"/>
              <a:t> </a:t>
            </a:r>
            <a:r>
              <a:rPr dirty="0" err="1"/>
              <a:t>조달을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한계</a:t>
            </a:r>
            <a:r>
              <a:rPr dirty="0"/>
              <a:t>: </a:t>
            </a:r>
            <a:r>
              <a:rPr dirty="0" err="1"/>
              <a:t>다변화는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(</a:t>
            </a:r>
            <a:r>
              <a:rPr dirty="0" err="1"/>
              <a:t>인프라·계약</a:t>
            </a:r>
            <a:r>
              <a:rPr dirty="0"/>
              <a:t> </a:t>
            </a:r>
            <a:r>
              <a:rPr dirty="0" err="1"/>
              <a:t>프리미엄</a:t>
            </a:r>
            <a:r>
              <a:rPr dirty="0"/>
              <a:t>)과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추진되어야</a:t>
            </a:r>
            <a:r>
              <a:rPr dirty="0"/>
              <a:t> </a:t>
            </a:r>
            <a:r>
              <a:rPr dirty="0" err="1"/>
              <a:t>하며</a:t>
            </a:r>
            <a:r>
              <a:rPr dirty="0"/>
              <a:t>, ‘</a:t>
            </a:r>
            <a:r>
              <a:rPr dirty="0" err="1"/>
              <a:t>안정성·비용’의</a:t>
            </a:r>
            <a:r>
              <a:rPr dirty="0"/>
              <a:t> </a:t>
            </a:r>
            <a:r>
              <a:rPr dirty="0" err="1"/>
              <a:t>균형이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5997-0001-427D-B628-B756BB6DB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6692A-4C9C-4933-8046-057122B1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14.6.3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효율성</a:t>
            </a:r>
            <a:r>
              <a:rPr dirty="0"/>
              <a:t> 및 </a:t>
            </a:r>
            <a:r>
              <a:rPr dirty="0" err="1"/>
              <a:t>수요관리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9190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대책만큼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‘</a:t>
            </a:r>
            <a:r>
              <a:rPr dirty="0" err="1"/>
              <a:t>수요</a:t>
            </a:r>
            <a:r>
              <a:rPr dirty="0"/>
              <a:t> 측’ </a:t>
            </a:r>
            <a:r>
              <a:rPr dirty="0" err="1"/>
              <a:t>안보</a:t>
            </a:r>
            <a:r>
              <a:rPr dirty="0"/>
              <a:t> </a:t>
            </a:r>
            <a:r>
              <a:rPr dirty="0" err="1"/>
              <a:t>전략</a:t>
            </a:r>
            <a:r>
              <a:rPr dirty="0"/>
              <a:t>: </a:t>
            </a:r>
            <a:r>
              <a:rPr dirty="0" err="1"/>
              <a:t>소비</a:t>
            </a:r>
            <a:r>
              <a:rPr dirty="0"/>
              <a:t> </a:t>
            </a:r>
            <a:r>
              <a:rPr dirty="0" err="1"/>
              <a:t>절감</a:t>
            </a:r>
            <a:r>
              <a:rPr dirty="0"/>
              <a:t> + </a:t>
            </a:r>
            <a:r>
              <a:rPr dirty="0" err="1"/>
              <a:t>피크</a:t>
            </a:r>
            <a:r>
              <a:rPr dirty="0"/>
              <a:t> </a:t>
            </a:r>
            <a:r>
              <a:rPr dirty="0" err="1"/>
              <a:t>조절</a:t>
            </a:r>
            <a:r>
              <a:rPr dirty="0"/>
              <a:t> + </a:t>
            </a:r>
            <a:r>
              <a:rPr dirty="0" err="1"/>
              <a:t>회복력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효율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: </a:t>
            </a:r>
            <a:r>
              <a:rPr dirty="0" err="1"/>
              <a:t>최소</a:t>
            </a:r>
            <a:r>
              <a:rPr dirty="0"/>
              <a:t> </a:t>
            </a:r>
            <a:r>
              <a:rPr dirty="0" err="1"/>
              <a:t>효율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,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라벨</a:t>
            </a:r>
            <a:r>
              <a:rPr dirty="0"/>
              <a:t>, </a:t>
            </a:r>
            <a:r>
              <a:rPr dirty="0" err="1"/>
              <a:t>고효율</a:t>
            </a:r>
            <a:r>
              <a:rPr dirty="0"/>
              <a:t> </a:t>
            </a:r>
            <a:r>
              <a:rPr dirty="0" err="1"/>
              <a:t>기기</a:t>
            </a:r>
            <a:r>
              <a:rPr dirty="0"/>
              <a:t> </a:t>
            </a:r>
            <a:r>
              <a:rPr dirty="0" err="1"/>
              <a:t>보급</a:t>
            </a:r>
            <a:r>
              <a:rPr dirty="0"/>
              <a:t>, </a:t>
            </a:r>
            <a:r>
              <a:rPr dirty="0" err="1"/>
              <a:t>성능계약</a:t>
            </a:r>
            <a:r>
              <a:rPr dirty="0"/>
              <a:t>(EPC), </a:t>
            </a:r>
            <a:r>
              <a:rPr dirty="0" err="1"/>
              <a:t>세제·금융</a:t>
            </a:r>
            <a:r>
              <a:rPr dirty="0"/>
              <a:t> </a:t>
            </a:r>
            <a:r>
              <a:rPr dirty="0" err="1"/>
              <a:t>인센티브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수요관리</a:t>
            </a:r>
            <a:r>
              <a:rPr dirty="0"/>
              <a:t>: </a:t>
            </a:r>
            <a:r>
              <a:rPr dirty="0" err="1"/>
              <a:t>시간대별</a:t>
            </a:r>
            <a:r>
              <a:rPr dirty="0"/>
              <a:t> </a:t>
            </a:r>
            <a:r>
              <a:rPr dirty="0" err="1"/>
              <a:t>요금제</a:t>
            </a:r>
            <a:r>
              <a:rPr dirty="0"/>
              <a:t>, </a:t>
            </a:r>
            <a:r>
              <a:rPr dirty="0" err="1"/>
              <a:t>수요반응</a:t>
            </a:r>
            <a:r>
              <a:rPr dirty="0"/>
              <a:t>(DR), </a:t>
            </a:r>
            <a:r>
              <a:rPr dirty="0" err="1"/>
              <a:t>스마트</a:t>
            </a:r>
            <a:r>
              <a:rPr dirty="0"/>
              <a:t> </a:t>
            </a:r>
            <a:r>
              <a:rPr dirty="0" err="1"/>
              <a:t>계량기</a:t>
            </a:r>
            <a:r>
              <a:rPr dirty="0"/>
              <a:t> → </a:t>
            </a:r>
            <a:r>
              <a:rPr dirty="0" err="1"/>
              <a:t>피크</a:t>
            </a:r>
            <a:r>
              <a:rPr dirty="0"/>
              <a:t> </a:t>
            </a:r>
            <a:r>
              <a:rPr dirty="0" err="1"/>
              <a:t>분산·예비설비</a:t>
            </a:r>
            <a:r>
              <a:rPr dirty="0"/>
              <a:t> </a:t>
            </a:r>
            <a:r>
              <a:rPr dirty="0" err="1"/>
              <a:t>부담</a:t>
            </a:r>
            <a:r>
              <a:rPr dirty="0"/>
              <a:t> </a:t>
            </a:r>
            <a:r>
              <a:rPr dirty="0" err="1"/>
              <a:t>완화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장점</a:t>
            </a:r>
            <a:r>
              <a:rPr dirty="0"/>
              <a:t>: </a:t>
            </a:r>
            <a:r>
              <a:rPr dirty="0" err="1"/>
              <a:t>자국</a:t>
            </a:r>
            <a:r>
              <a:rPr dirty="0"/>
              <a:t> </a:t>
            </a:r>
            <a:r>
              <a:rPr dirty="0" err="1"/>
              <a:t>내에서</a:t>
            </a:r>
            <a:r>
              <a:rPr dirty="0"/>
              <a:t> </a:t>
            </a:r>
            <a:r>
              <a:rPr dirty="0" err="1"/>
              <a:t>즉각적·독립적으로</a:t>
            </a:r>
            <a:r>
              <a:rPr dirty="0"/>
              <a:t> </a:t>
            </a:r>
            <a:r>
              <a:rPr dirty="0" err="1"/>
              <a:t>시행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(</a:t>
            </a:r>
            <a:r>
              <a:rPr dirty="0" err="1"/>
              <a:t>외교·지정학</a:t>
            </a:r>
            <a:r>
              <a:rPr dirty="0"/>
              <a:t> </a:t>
            </a:r>
            <a:r>
              <a:rPr dirty="0" err="1"/>
              <a:t>변수에</a:t>
            </a:r>
            <a:r>
              <a:rPr dirty="0"/>
              <a:t> 덜 </a:t>
            </a:r>
            <a:r>
              <a:rPr dirty="0" err="1"/>
              <a:t>민감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한계</a:t>
            </a:r>
            <a:r>
              <a:rPr dirty="0"/>
              <a:t>: </a:t>
            </a:r>
            <a:r>
              <a:rPr dirty="0" err="1"/>
              <a:t>효율성</a:t>
            </a:r>
            <a:r>
              <a:rPr dirty="0"/>
              <a:t> 갭(</a:t>
            </a:r>
            <a:r>
              <a:rPr dirty="0" err="1"/>
              <a:t>정보·행동</a:t>
            </a:r>
            <a:r>
              <a:rPr dirty="0"/>
              <a:t> </a:t>
            </a:r>
            <a:r>
              <a:rPr dirty="0" err="1"/>
              <a:t>문제</a:t>
            </a:r>
            <a:r>
              <a:rPr dirty="0"/>
              <a:t>),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, </a:t>
            </a:r>
            <a:r>
              <a:rPr dirty="0" err="1"/>
              <a:t>반등효과</a:t>
            </a:r>
            <a:r>
              <a:rPr dirty="0"/>
              <a:t>(</a:t>
            </a:r>
            <a:r>
              <a:rPr dirty="0" err="1"/>
              <a:t>절감이</a:t>
            </a:r>
            <a:r>
              <a:rPr dirty="0"/>
              <a:t> </a:t>
            </a:r>
            <a:r>
              <a:rPr dirty="0" err="1"/>
              <a:t>소비</a:t>
            </a:r>
            <a:r>
              <a:rPr dirty="0"/>
              <a:t> </a:t>
            </a:r>
            <a:r>
              <a:rPr dirty="0" err="1"/>
              <a:t>증가를</a:t>
            </a:r>
            <a:r>
              <a:rPr dirty="0"/>
              <a:t> </a:t>
            </a:r>
            <a:r>
              <a:rPr dirty="0" err="1"/>
              <a:t>유발</a:t>
            </a:r>
            <a:r>
              <a:rPr dirty="0"/>
              <a:t>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6525B-B3A1-438D-AF26-D13E031B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E670F-ADE7-4F09-8667-C085A4B4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14.6.4 </a:t>
            </a:r>
            <a:r>
              <a:rPr dirty="0" err="1"/>
              <a:t>국제협력과</a:t>
            </a:r>
            <a:r>
              <a:rPr dirty="0"/>
              <a:t> </a:t>
            </a:r>
            <a:r>
              <a:rPr dirty="0" err="1"/>
              <a:t>다자</a:t>
            </a:r>
            <a:r>
              <a:rPr dirty="0"/>
              <a:t> </a:t>
            </a:r>
            <a:r>
              <a:rPr dirty="0" err="1"/>
              <a:t>제도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38225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안보는</a:t>
            </a:r>
            <a:r>
              <a:rPr dirty="0"/>
              <a:t> </a:t>
            </a:r>
            <a:r>
              <a:rPr dirty="0" err="1"/>
              <a:t>초국경</a:t>
            </a:r>
            <a:r>
              <a:rPr dirty="0"/>
              <a:t> </a:t>
            </a:r>
            <a:r>
              <a:rPr dirty="0" err="1"/>
              <a:t>문제</a:t>
            </a:r>
            <a:r>
              <a:rPr dirty="0"/>
              <a:t>: </a:t>
            </a:r>
            <a:r>
              <a:rPr dirty="0" err="1"/>
              <a:t>정보·가격·수송·기술·탄소가</a:t>
            </a:r>
            <a:r>
              <a:rPr dirty="0"/>
              <a:t> </a:t>
            </a:r>
            <a:r>
              <a:rPr dirty="0" err="1"/>
              <a:t>국제</a:t>
            </a:r>
            <a:r>
              <a:rPr dirty="0"/>
              <a:t> </a:t>
            </a:r>
            <a:r>
              <a:rPr dirty="0" err="1"/>
              <a:t>상호의존</a:t>
            </a:r>
            <a:r>
              <a:rPr dirty="0"/>
              <a:t> </a:t>
            </a:r>
            <a:r>
              <a:rPr dirty="0" err="1"/>
              <a:t>체계에서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국제협력의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:</a:t>
            </a:r>
          </a:p>
          <a:p>
            <a:pPr lvl="1">
              <a:defRPr sz="1800"/>
            </a:pP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공유·시장</a:t>
            </a:r>
            <a:r>
              <a:rPr dirty="0"/>
              <a:t> </a:t>
            </a:r>
            <a:r>
              <a:rPr dirty="0" err="1"/>
              <a:t>투명성</a:t>
            </a:r>
            <a:r>
              <a:rPr dirty="0"/>
              <a:t> </a:t>
            </a:r>
            <a:r>
              <a:rPr dirty="0" err="1"/>
              <a:t>제고</a:t>
            </a:r>
            <a:r>
              <a:rPr dirty="0"/>
              <a:t> → </a:t>
            </a: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대응력</a:t>
            </a:r>
            <a:r>
              <a:rPr dirty="0"/>
              <a:t> </a:t>
            </a:r>
            <a:r>
              <a:rPr dirty="0" err="1"/>
              <a:t>강화</a:t>
            </a:r>
            <a:endParaRPr dirty="0"/>
          </a:p>
          <a:p>
            <a:pPr lvl="1">
              <a:defRPr sz="1800"/>
            </a:pPr>
            <a:r>
              <a:rPr dirty="0" err="1"/>
              <a:t>공동</a:t>
            </a:r>
            <a:r>
              <a:rPr dirty="0"/>
              <a:t> </a:t>
            </a:r>
            <a:r>
              <a:rPr dirty="0" err="1"/>
              <a:t>비축·위기대응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 → </a:t>
            </a:r>
            <a:r>
              <a:rPr dirty="0" err="1"/>
              <a:t>집단적</a:t>
            </a:r>
            <a:r>
              <a:rPr dirty="0"/>
              <a:t>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안정</a:t>
            </a:r>
            <a:endParaRPr dirty="0"/>
          </a:p>
          <a:p>
            <a:pPr lvl="1">
              <a:defRPr sz="1800"/>
            </a:pP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협력·표준화·투자환경</a:t>
            </a:r>
            <a:r>
              <a:rPr dirty="0"/>
              <a:t> </a:t>
            </a:r>
            <a:r>
              <a:rPr dirty="0" err="1"/>
              <a:t>조성</a:t>
            </a:r>
            <a:r>
              <a:rPr dirty="0"/>
              <a:t> → </a:t>
            </a:r>
            <a:r>
              <a:rPr dirty="0" err="1"/>
              <a:t>전환과</a:t>
            </a:r>
            <a:r>
              <a:rPr dirty="0"/>
              <a:t> </a:t>
            </a:r>
            <a:r>
              <a:rPr dirty="0" err="1"/>
              <a:t>접근성</a:t>
            </a:r>
            <a:r>
              <a:rPr dirty="0"/>
              <a:t> </a:t>
            </a:r>
            <a:r>
              <a:rPr dirty="0" err="1"/>
              <a:t>개선</a:t>
            </a:r>
            <a:endParaRPr dirty="0"/>
          </a:p>
          <a:p>
            <a:pPr>
              <a:defRPr sz="2000"/>
            </a:pPr>
            <a:r>
              <a:rPr dirty="0" err="1"/>
              <a:t>한계</a:t>
            </a:r>
            <a:r>
              <a:rPr dirty="0"/>
              <a:t>: </a:t>
            </a:r>
            <a:r>
              <a:rPr dirty="0" err="1"/>
              <a:t>이해관계</a:t>
            </a:r>
            <a:r>
              <a:rPr dirty="0"/>
              <a:t> </a:t>
            </a:r>
            <a:r>
              <a:rPr dirty="0" err="1"/>
              <a:t>충돌·신뢰</a:t>
            </a:r>
            <a:r>
              <a:rPr dirty="0"/>
              <a:t> </a:t>
            </a:r>
            <a:r>
              <a:rPr dirty="0" err="1"/>
              <a:t>부족·실행력</a:t>
            </a:r>
            <a:r>
              <a:rPr dirty="0"/>
              <a:t> </a:t>
            </a:r>
            <a:r>
              <a:rPr dirty="0" err="1"/>
              <a:t>한계</a:t>
            </a:r>
            <a:r>
              <a:rPr dirty="0"/>
              <a:t> → ‘</a:t>
            </a:r>
            <a:r>
              <a:rPr dirty="0" err="1"/>
              <a:t>유연한</a:t>
            </a:r>
            <a:r>
              <a:rPr dirty="0"/>
              <a:t> </a:t>
            </a:r>
            <a:r>
              <a:rPr dirty="0" err="1"/>
              <a:t>다층</a:t>
            </a:r>
            <a:r>
              <a:rPr dirty="0"/>
              <a:t> </a:t>
            </a:r>
            <a:r>
              <a:rPr dirty="0" err="1"/>
              <a:t>거버넌스’가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4A5C6-D2C6-4478-940D-6EF73845F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B3B2D-F23B-4C0E-B3F9-D80A48AA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14.7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전환과</a:t>
            </a:r>
            <a:r>
              <a:rPr dirty="0"/>
              <a:t> </a:t>
            </a:r>
            <a:r>
              <a:rPr dirty="0" err="1"/>
              <a:t>안보의</a:t>
            </a:r>
            <a:r>
              <a:rPr dirty="0"/>
              <a:t> </a:t>
            </a:r>
            <a:r>
              <a:rPr dirty="0" err="1"/>
              <a:t>관계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19250"/>
            <a:ext cx="10848976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전환은</a:t>
            </a:r>
            <a:r>
              <a:rPr dirty="0"/>
              <a:t> ‘</a:t>
            </a:r>
            <a:r>
              <a:rPr dirty="0" err="1"/>
              <a:t>안보를</a:t>
            </a:r>
            <a:r>
              <a:rPr dirty="0"/>
              <a:t> </a:t>
            </a:r>
            <a:r>
              <a:rPr dirty="0" err="1"/>
              <a:t>강화’할</a:t>
            </a:r>
            <a:r>
              <a:rPr dirty="0"/>
              <a:t> </a:t>
            </a:r>
            <a:r>
              <a:rPr dirty="0" err="1"/>
              <a:t>수도</a:t>
            </a:r>
            <a:r>
              <a:rPr dirty="0"/>
              <a:t>, ‘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취약성’을</a:t>
            </a:r>
            <a:r>
              <a:rPr dirty="0"/>
              <a:t> </a:t>
            </a:r>
            <a:r>
              <a:rPr dirty="0" err="1"/>
              <a:t>만들</a:t>
            </a:r>
            <a:r>
              <a:rPr dirty="0"/>
              <a:t> </a:t>
            </a:r>
            <a:r>
              <a:rPr dirty="0" err="1"/>
              <a:t>수도</a:t>
            </a:r>
            <a:r>
              <a:rPr dirty="0"/>
              <a:t> </a:t>
            </a:r>
            <a:r>
              <a:rPr dirty="0" err="1"/>
              <a:t>있음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강화</a:t>
            </a:r>
            <a:r>
              <a:rPr dirty="0"/>
              <a:t> </a:t>
            </a:r>
            <a:r>
              <a:rPr dirty="0" err="1"/>
              <a:t>경로</a:t>
            </a:r>
            <a:r>
              <a:rPr dirty="0"/>
              <a:t>: </a:t>
            </a:r>
            <a:r>
              <a:rPr dirty="0" err="1"/>
              <a:t>국내</a:t>
            </a:r>
            <a:r>
              <a:rPr dirty="0"/>
              <a:t> </a:t>
            </a:r>
            <a:r>
              <a:rPr dirty="0" err="1"/>
              <a:t>재생에너지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 → </a:t>
            </a:r>
            <a:r>
              <a:rPr dirty="0" err="1"/>
              <a:t>연료</a:t>
            </a:r>
            <a:r>
              <a:rPr dirty="0"/>
              <a:t> </a:t>
            </a:r>
            <a:r>
              <a:rPr dirty="0" err="1"/>
              <a:t>수입</a:t>
            </a:r>
            <a:r>
              <a:rPr dirty="0"/>
              <a:t> </a:t>
            </a:r>
            <a:r>
              <a:rPr dirty="0" err="1"/>
              <a:t>의존</a:t>
            </a:r>
            <a:r>
              <a:rPr dirty="0"/>
              <a:t>↓ →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충격</a:t>
            </a:r>
            <a:r>
              <a:rPr dirty="0"/>
              <a:t> </a:t>
            </a:r>
            <a:r>
              <a:rPr dirty="0" err="1"/>
              <a:t>민감도</a:t>
            </a:r>
            <a:r>
              <a:rPr dirty="0"/>
              <a:t>↓.</a:t>
            </a:r>
          </a:p>
          <a:p>
            <a:pPr>
              <a:defRPr sz="2000"/>
            </a:pPr>
            <a:r>
              <a:rPr dirty="0" err="1"/>
              <a:t>취약성</a:t>
            </a:r>
            <a:r>
              <a:rPr dirty="0"/>
              <a:t> </a:t>
            </a:r>
            <a:r>
              <a:rPr dirty="0" err="1"/>
              <a:t>경로</a:t>
            </a:r>
            <a:r>
              <a:rPr dirty="0"/>
              <a:t>: </a:t>
            </a:r>
            <a:r>
              <a:rPr dirty="0" err="1"/>
              <a:t>전력화·간헐성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 → </a:t>
            </a:r>
            <a:r>
              <a:rPr dirty="0" err="1"/>
              <a:t>저장·유연자원·계통</a:t>
            </a:r>
            <a:r>
              <a:rPr dirty="0"/>
              <a:t> </a:t>
            </a:r>
            <a:r>
              <a:rPr dirty="0" err="1"/>
              <a:t>운영능력</a:t>
            </a:r>
            <a:r>
              <a:rPr dirty="0"/>
              <a:t> </a:t>
            </a:r>
            <a:r>
              <a:rPr dirty="0" err="1"/>
              <a:t>부족</a:t>
            </a:r>
            <a:r>
              <a:rPr dirty="0"/>
              <a:t> 시 </a:t>
            </a:r>
            <a:r>
              <a:rPr dirty="0" err="1"/>
              <a:t>불안정</a:t>
            </a:r>
            <a:r>
              <a:rPr dirty="0"/>
              <a:t>↑.</a:t>
            </a:r>
          </a:p>
          <a:p>
            <a:pPr>
              <a:defRPr sz="2000"/>
            </a:pPr>
            <a:r>
              <a:rPr dirty="0" err="1"/>
              <a:t>전환기적</a:t>
            </a:r>
            <a:r>
              <a:rPr dirty="0"/>
              <a:t> </a:t>
            </a:r>
            <a:r>
              <a:rPr dirty="0" err="1"/>
              <a:t>이행</a:t>
            </a:r>
            <a:r>
              <a:rPr dirty="0"/>
              <a:t> </a:t>
            </a:r>
            <a:r>
              <a:rPr dirty="0" err="1"/>
              <a:t>리스크</a:t>
            </a:r>
            <a:r>
              <a:rPr dirty="0"/>
              <a:t>: </a:t>
            </a:r>
            <a:r>
              <a:rPr dirty="0" err="1"/>
              <a:t>산업</a:t>
            </a:r>
            <a:r>
              <a:rPr dirty="0"/>
              <a:t> </a:t>
            </a:r>
            <a:r>
              <a:rPr dirty="0" err="1"/>
              <a:t>구조조정·고용·지역경제·정책</a:t>
            </a:r>
            <a:r>
              <a:rPr dirty="0"/>
              <a:t> </a:t>
            </a:r>
            <a:r>
              <a:rPr dirty="0" err="1"/>
              <a:t>수용성</a:t>
            </a:r>
            <a:r>
              <a:rPr dirty="0"/>
              <a:t> </a:t>
            </a:r>
            <a:r>
              <a:rPr dirty="0" err="1"/>
              <a:t>문제가</a:t>
            </a:r>
            <a:r>
              <a:rPr dirty="0"/>
              <a:t> </a:t>
            </a:r>
            <a:r>
              <a:rPr dirty="0" err="1"/>
              <a:t>안보</a:t>
            </a:r>
            <a:r>
              <a:rPr dirty="0"/>
              <a:t> </a:t>
            </a:r>
            <a:r>
              <a:rPr dirty="0" err="1"/>
              <a:t>기반을</a:t>
            </a:r>
            <a:r>
              <a:rPr dirty="0"/>
              <a:t> </a:t>
            </a:r>
            <a:r>
              <a:rPr dirty="0" err="1"/>
              <a:t>흔들</a:t>
            </a:r>
            <a:r>
              <a:rPr dirty="0"/>
              <a:t> 수 </a:t>
            </a:r>
            <a:r>
              <a:rPr dirty="0" err="1"/>
              <a:t>있음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FC982-4717-416B-8B73-45FCF1DA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0DEDC-8A2E-4117-BED3-52E0D93A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14.7.1 </a:t>
            </a:r>
            <a:r>
              <a:rPr dirty="0" err="1"/>
              <a:t>탈탄소화가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안보에</a:t>
            </a:r>
            <a:r>
              <a:rPr dirty="0"/>
              <a:t> </a:t>
            </a:r>
            <a:r>
              <a:rPr dirty="0" err="1"/>
              <a:t>미치는</a:t>
            </a:r>
            <a:r>
              <a:rPr dirty="0"/>
              <a:t> </a:t>
            </a:r>
            <a:r>
              <a:rPr dirty="0" err="1"/>
              <a:t>영향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09650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장기적으로는</a:t>
            </a:r>
            <a:r>
              <a:rPr dirty="0"/>
              <a:t>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다양성·자립성</a:t>
            </a:r>
            <a:r>
              <a:rPr dirty="0"/>
              <a:t> </a:t>
            </a:r>
            <a:r>
              <a:rPr dirty="0" err="1"/>
              <a:t>향상을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안보에</a:t>
            </a:r>
            <a:r>
              <a:rPr dirty="0"/>
              <a:t> </a:t>
            </a:r>
            <a:r>
              <a:rPr dirty="0" err="1"/>
              <a:t>긍정적</a:t>
            </a:r>
            <a:r>
              <a:rPr dirty="0"/>
              <a:t> </a:t>
            </a:r>
            <a:r>
              <a:rPr dirty="0" err="1"/>
              <a:t>기여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안보의</a:t>
            </a:r>
            <a:r>
              <a:rPr dirty="0"/>
              <a:t> </a:t>
            </a:r>
            <a:r>
              <a:rPr dirty="0" err="1"/>
              <a:t>중심이</a:t>
            </a:r>
            <a:r>
              <a:rPr dirty="0"/>
              <a:t> ‘</a:t>
            </a:r>
            <a:r>
              <a:rPr dirty="0" err="1"/>
              <a:t>자원</a:t>
            </a:r>
            <a:r>
              <a:rPr dirty="0"/>
              <a:t> </a:t>
            </a:r>
            <a:r>
              <a:rPr dirty="0" err="1"/>
              <a:t>통제’에서</a:t>
            </a:r>
            <a:r>
              <a:rPr dirty="0"/>
              <a:t> ‘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경쟁력·혁신·표준’으로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과제</a:t>
            </a:r>
            <a:r>
              <a:rPr dirty="0"/>
              <a:t>: </a:t>
            </a:r>
            <a:r>
              <a:rPr dirty="0" err="1"/>
              <a:t>재생</a:t>
            </a:r>
            <a:r>
              <a:rPr dirty="0"/>
              <a:t> </a:t>
            </a:r>
            <a:r>
              <a:rPr dirty="0" err="1"/>
              <a:t>확대에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</a:t>
            </a:r>
            <a:r>
              <a:rPr dirty="0" err="1"/>
              <a:t>계통</a:t>
            </a:r>
            <a:r>
              <a:rPr dirty="0"/>
              <a:t> </a:t>
            </a:r>
            <a:r>
              <a:rPr dirty="0" err="1"/>
              <a:t>유연성</a:t>
            </a:r>
            <a:r>
              <a:rPr dirty="0"/>
              <a:t>(</a:t>
            </a:r>
            <a:r>
              <a:rPr dirty="0" err="1"/>
              <a:t>저장·망·수요반응</a:t>
            </a:r>
            <a:r>
              <a:rPr dirty="0"/>
              <a:t>), </a:t>
            </a:r>
            <a:r>
              <a:rPr dirty="0" err="1"/>
              <a:t>안정적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사회적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: </a:t>
            </a:r>
            <a:r>
              <a:rPr dirty="0" err="1"/>
              <a:t>형평성·에너지</a:t>
            </a:r>
            <a:r>
              <a:rPr dirty="0"/>
              <a:t> </a:t>
            </a:r>
            <a:r>
              <a:rPr dirty="0" err="1"/>
              <a:t>빈곤·정의로운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(Just Transition) </a:t>
            </a:r>
            <a:r>
              <a:rPr dirty="0" err="1"/>
              <a:t>고려가</a:t>
            </a:r>
            <a:r>
              <a:rPr dirty="0"/>
              <a:t> </a:t>
            </a:r>
            <a:r>
              <a:rPr dirty="0" err="1"/>
              <a:t>필수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패키지</a:t>
            </a:r>
            <a:r>
              <a:rPr dirty="0"/>
              <a:t>: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 + </a:t>
            </a:r>
            <a:r>
              <a:rPr dirty="0" err="1"/>
              <a:t>핵심광물</a:t>
            </a:r>
            <a:r>
              <a:rPr dirty="0"/>
              <a:t> </a:t>
            </a:r>
            <a:r>
              <a:rPr dirty="0" err="1"/>
              <a:t>안정화</a:t>
            </a:r>
            <a:r>
              <a:rPr dirty="0"/>
              <a:t> + </a:t>
            </a:r>
            <a:r>
              <a:rPr dirty="0" err="1"/>
              <a:t>인력</a:t>
            </a:r>
            <a:r>
              <a:rPr dirty="0"/>
              <a:t>/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혁신</a:t>
            </a:r>
            <a:r>
              <a:rPr dirty="0"/>
              <a:t> + </a:t>
            </a:r>
            <a:r>
              <a:rPr dirty="0" err="1"/>
              <a:t>국제협력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CD62A-36DA-4A73-A14B-61F1A0D7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77376-BA25-4F97-8595-381D542B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14.7.2 </a:t>
            </a:r>
            <a:r>
              <a:rPr dirty="0" err="1"/>
              <a:t>청정기술</a:t>
            </a:r>
            <a:r>
              <a:rPr dirty="0"/>
              <a:t> </a:t>
            </a:r>
            <a:r>
              <a:rPr dirty="0" err="1"/>
              <a:t>공급망의</a:t>
            </a:r>
            <a:r>
              <a:rPr dirty="0"/>
              <a:t> </a:t>
            </a:r>
            <a:r>
              <a:rPr dirty="0" err="1"/>
              <a:t>지정학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50607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청정기술</a:t>
            </a:r>
            <a:r>
              <a:rPr dirty="0"/>
              <a:t>(</a:t>
            </a:r>
            <a:r>
              <a:rPr dirty="0" err="1"/>
              <a:t>태양광·풍력·배터리·수소</a:t>
            </a:r>
            <a:r>
              <a:rPr dirty="0"/>
              <a:t>)은 </a:t>
            </a:r>
            <a:r>
              <a:rPr dirty="0" err="1"/>
              <a:t>복잡한</a:t>
            </a:r>
            <a:r>
              <a:rPr dirty="0"/>
              <a:t> </a:t>
            </a:r>
            <a:r>
              <a:rPr dirty="0" err="1"/>
              <a:t>국제</a:t>
            </a:r>
            <a:r>
              <a:rPr dirty="0"/>
              <a:t> </a:t>
            </a: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위에서</a:t>
            </a:r>
            <a:r>
              <a:rPr dirty="0"/>
              <a:t> </a:t>
            </a:r>
            <a:r>
              <a:rPr dirty="0" err="1"/>
              <a:t>작동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핵심광물</a:t>
            </a:r>
            <a:r>
              <a:rPr dirty="0"/>
              <a:t>(</a:t>
            </a:r>
            <a:r>
              <a:rPr dirty="0" err="1"/>
              <a:t>리튬·코발트·니켈·희토류</a:t>
            </a:r>
            <a:r>
              <a:rPr dirty="0"/>
              <a:t>)과 </a:t>
            </a:r>
            <a:r>
              <a:rPr dirty="0" err="1"/>
              <a:t>제련·가공·제조</a:t>
            </a:r>
            <a:r>
              <a:rPr dirty="0"/>
              <a:t> </a:t>
            </a:r>
            <a:r>
              <a:rPr dirty="0" err="1"/>
              <a:t>공정이</a:t>
            </a:r>
            <a:r>
              <a:rPr dirty="0"/>
              <a:t> </a:t>
            </a:r>
            <a:r>
              <a:rPr dirty="0" err="1"/>
              <a:t>일부</a:t>
            </a:r>
            <a:r>
              <a:rPr dirty="0"/>
              <a:t> </a:t>
            </a:r>
            <a:r>
              <a:rPr dirty="0" err="1"/>
              <a:t>국가에</a:t>
            </a:r>
            <a:r>
              <a:rPr dirty="0"/>
              <a:t> </a:t>
            </a:r>
            <a:r>
              <a:rPr dirty="0" err="1"/>
              <a:t>집중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국가의</a:t>
            </a:r>
            <a:r>
              <a:rPr dirty="0"/>
              <a:t> </a:t>
            </a:r>
            <a:r>
              <a:rPr dirty="0" err="1"/>
              <a:t>부품·소재</a:t>
            </a:r>
            <a:r>
              <a:rPr dirty="0"/>
              <a:t>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우위는</a:t>
            </a:r>
            <a:r>
              <a:rPr dirty="0"/>
              <a:t> ‘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리스크’와</a:t>
            </a:r>
            <a:r>
              <a:rPr dirty="0"/>
              <a:t> </a:t>
            </a:r>
            <a:r>
              <a:rPr dirty="0" err="1"/>
              <a:t>산업</a:t>
            </a:r>
            <a:r>
              <a:rPr dirty="0"/>
              <a:t> </a:t>
            </a:r>
            <a:r>
              <a:rPr dirty="0" err="1"/>
              <a:t>종속을</a:t>
            </a:r>
            <a:r>
              <a:rPr dirty="0"/>
              <a:t> </a:t>
            </a:r>
            <a:r>
              <a:rPr dirty="0" err="1"/>
              <a:t>유발할</a:t>
            </a:r>
            <a:r>
              <a:rPr dirty="0"/>
              <a:t> 수 </a:t>
            </a:r>
            <a:r>
              <a:rPr dirty="0" err="1"/>
              <a:t>있음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대응</a:t>
            </a:r>
            <a:r>
              <a:rPr dirty="0"/>
              <a:t>: </a:t>
            </a:r>
            <a:r>
              <a:rPr dirty="0" err="1"/>
              <a:t>국내화</a:t>
            </a:r>
            <a:r>
              <a:rPr dirty="0"/>
              <a:t>, </a:t>
            </a:r>
            <a:r>
              <a:rPr dirty="0" err="1"/>
              <a:t>우호국</a:t>
            </a:r>
            <a:r>
              <a:rPr dirty="0"/>
              <a:t> </a:t>
            </a:r>
            <a:r>
              <a:rPr dirty="0" err="1"/>
              <a:t>중심</a:t>
            </a:r>
            <a:r>
              <a:rPr dirty="0"/>
              <a:t> </a:t>
            </a:r>
            <a:r>
              <a:rPr dirty="0" err="1"/>
              <a:t>재편</a:t>
            </a:r>
            <a:r>
              <a:rPr dirty="0"/>
              <a:t>(friend-shoring), </a:t>
            </a: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, </a:t>
            </a:r>
            <a:r>
              <a:rPr dirty="0" err="1"/>
              <a:t>핵심원자재</a:t>
            </a:r>
            <a:r>
              <a:rPr dirty="0"/>
              <a:t> </a:t>
            </a:r>
            <a:r>
              <a:rPr dirty="0" err="1"/>
              <a:t>법제화</a:t>
            </a:r>
            <a:r>
              <a:rPr dirty="0"/>
              <a:t>(예: EU).</a:t>
            </a:r>
          </a:p>
          <a:p>
            <a:pPr>
              <a:defRPr sz="2000"/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과제</a:t>
            </a:r>
            <a:r>
              <a:rPr dirty="0"/>
              <a:t>: </a:t>
            </a: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투명성</a:t>
            </a:r>
            <a:r>
              <a:rPr dirty="0"/>
              <a:t>(</a:t>
            </a:r>
            <a:r>
              <a:rPr dirty="0" err="1"/>
              <a:t>추적</a:t>
            </a:r>
            <a:r>
              <a:rPr dirty="0"/>
              <a:t>), </a:t>
            </a:r>
            <a:r>
              <a:rPr dirty="0" err="1"/>
              <a:t>재활용</a:t>
            </a:r>
            <a:r>
              <a:rPr dirty="0"/>
              <a:t> </a:t>
            </a:r>
            <a:r>
              <a:rPr dirty="0" err="1"/>
              <a:t>역량</a:t>
            </a:r>
            <a:r>
              <a:rPr dirty="0"/>
              <a:t>,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대체</a:t>
            </a:r>
            <a:r>
              <a:rPr dirty="0"/>
              <a:t>, </a:t>
            </a:r>
            <a:r>
              <a:rPr dirty="0" err="1"/>
              <a:t>국제</a:t>
            </a:r>
            <a:r>
              <a:rPr dirty="0"/>
              <a:t> </a:t>
            </a:r>
            <a:r>
              <a:rPr dirty="0" err="1"/>
              <a:t>협력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956CC-4D7F-4200-9800-E8D13D529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7664F-0F2D-4EDD-B764-7DA54B59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dirty="0" err="1"/>
              <a:t>주요국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</a:t>
            </a:r>
            <a:r>
              <a:rPr dirty="0"/>
              <a:t> </a:t>
            </a:r>
            <a:r>
              <a:rPr dirty="0" err="1"/>
              <a:t>전략</a:t>
            </a:r>
            <a:r>
              <a:rPr dirty="0"/>
              <a:t>: </a:t>
            </a:r>
            <a:r>
              <a:rPr dirty="0" err="1"/>
              <a:t>공통요소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877550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공급·가격·복원력의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: </a:t>
            </a:r>
            <a:r>
              <a:rPr dirty="0" err="1"/>
              <a:t>비축</a:t>
            </a:r>
            <a:r>
              <a:rPr dirty="0"/>
              <a:t>, </a:t>
            </a:r>
            <a:r>
              <a:rPr dirty="0" err="1"/>
              <a:t>다변화</a:t>
            </a:r>
            <a:r>
              <a:rPr dirty="0"/>
              <a:t>, </a:t>
            </a:r>
            <a:r>
              <a:rPr dirty="0" err="1"/>
              <a:t>계통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, </a:t>
            </a:r>
            <a:r>
              <a:rPr dirty="0" err="1"/>
              <a:t>사이버·기후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전환기</a:t>
            </a:r>
            <a:r>
              <a:rPr dirty="0"/>
              <a:t> </a:t>
            </a:r>
            <a:r>
              <a:rPr dirty="0" err="1"/>
              <a:t>전략</a:t>
            </a:r>
            <a:r>
              <a:rPr dirty="0"/>
              <a:t>: </a:t>
            </a:r>
            <a:r>
              <a:rPr dirty="0" err="1"/>
              <a:t>재생·원전·LNG·수소</a:t>
            </a:r>
            <a:r>
              <a:rPr dirty="0"/>
              <a:t> 등 ‘</a:t>
            </a:r>
            <a:r>
              <a:rPr dirty="0" err="1"/>
              <a:t>다층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믹스’와</a:t>
            </a:r>
            <a:r>
              <a:rPr dirty="0"/>
              <a:t> </a:t>
            </a:r>
            <a:r>
              <a:rPr dirty="0" err="1"/>
              <a:t>유연자원</a:t>
            </a:r>
            <a:r>
              <a:rPr dirty="0"/>
              <a:t> </a:t>
            </a:r>
            <a:r>
              <a:rPr dirty="0" err="1"/>
              <a:t>확충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: </a:t>
            </a:r>
            <a:r>
              <a:rPr dirty="0" err="1"/>
              <a:t>핵심광물</a:t>
            </a:r>
            <a:r>
              <a:rPr dirty="0"/>
              <a:t> </a:t>
            </a:r>
            <a:r>
              <a:rPr dirty="0" err="1"/>
              <a:t>확보</a:t>
            </a:r>
            <a:r>
              <a:rPr dirty="0"/>
              <a:t>, </a:t>
            </a:r>
            <a:r>
              <a:rPr dirty="0" err="1"/>
              <a:t>제조역량</a:t>
            </a:r>
            <a:r>
              <a:rPr dirty="0"/>
              <a:t>/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경쟁</a:t>
            </a:r>
            <a:r>
              <a:rPr dirty="0"/>
              <a:t>, </a:t>
            </a:r>
            <a:r>
              <a:rPr dirty="0" err="1"/>
              <a:t>산업정책과</a:t>
            </a:r>
            <a:r>
              <a:rPr dirty="0"/>
              <a:t> </a:t>
            </a:r>
            <a:r>
              <a:rPr dirty="0" err="1"/>
              <a:t>연계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실증평가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: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편익</a:t>
            </a:r>
            <a:r>
              <a:rPr dirty="0"/>
              <a:t>(</a:t>
            </a:r>
            <a:r>
              <a:rPr dirty="0" err="1"/>
              <a:t>정전</a:t>
            </a:r>
            <a:r>
              <a:rPr dirty="0"/>
              <a:t> </a:t>
            </a:r>
            <a:r>
              <a:rPr dirty="0" err="1"/>
              <a:t>감소</a:t>
            </a:r>
            <a:r>
              <a:rPr dirty="0"/>
              <a:t>,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안정</a:t>
            </a:r>
            <a:r>
              <a:rPr dirty="0"/>
              <a:t>)과 </a:t>
            </a:r>
            <a:r>
              <a:rPr dirty="0" err="1"/>
              <a:t>비용</a:t>
            </a:r>
            <a:r>
              <a:rPr dirty="0"/>
              <a:t>(</a:t>
            </a:r>
            <a:r>
              <a:rPr dirty="0" err="1"/>
              <a:t>투자·보조·규제</a:t>
            </a:r>
            <a:r>
              <a:rPr dirty="0"/>
              <a:t>)을 </a:t>
            </a:r>
            <a:r>
              <a:rPr dirty="0" err="1"/>
              <a:t>계량적으로</a:t>
            </a:r>
            <a:r>
              <a:rPr dirty="0"/>
              <a:t> </a:t>
            </a:r>
            <a:r>
              <a:rPr dirty="0" err="1"/>
              <a:t>검토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8F72B-9547-4929-8F5E-304F03BB6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97812-D6CE-4D0A-98EC-B2372663B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14.8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</a:t>
            </a:r>
            <a:r>
              <a:rPr dirty="0"/>
              <a:t> </a:t>
            </a:r>
            <a:r>
              <a:rPr dirty="0" err="1"/>
              <a:t>정책의</a:t>
            </a:r>
            <a:r>
              <a:rPr dirty="0"/>
              <a:t> </a:t>
            </a:r>
            <a:r>
              <a:rPr dirty="0" err="1"/>
              <a:t>혜택과</a:t>
            </a:r>
            <a:r>
              <a:rPr dirty="0"/>
              <a:t> </a:t>
            </a:r>
            <a:r>
              <a:rPr dirty="0" err="1"/>
              <a:t>비용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98232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정당성은</a:t>
            </a:r>
            <a:r>
              <a:rPr dirty="0"/>
              <a:t> ‘</a:t>
            </a:r>
            <a:r>
              <a:rPr dirty="0" err="1"/>
              <a:t>비용-편익</a:t>
            </a:r>
            <a:r>
              <a:rPr dirty="0"/>
              <a:t>’ </a:t>
            </a:r>
            <a:r>
              <a:rPr dirty="0" err="1"/>
              <a:t>분석에</a:t>
            </a:r>
            <a:r>
              <a:rPr dirty="0"/>
              <a:t> </a:t>
            </a:r>
            <a:r>
              <a:rPr dirty="0" err="1"/>
              <a:t>의해</a:t>
            </a:r>
            <a:r>
              <a:rPr dirty="0"/>
              <a:t> </a:t>
            </a:r>
            <a:r>
              <a:rPr dirty="0" err="1"/>
              <a:t>강화됨</a:t>
            </a:r>
            <a:r>
              <a:rPr dirty="0"/>
              <a:t>: </a:t>
            </a:r>
            <a:r>
              <a:rPr dirty="0" err="1"/>
              <a:t>비축·다변화·인프라·사이버</a:t>
            </a:r>
            <a:r>
              <a:rPr dirty="0"/>
              <a:t> </a:t>
            </a:r>
            <a:r>
              <a:rPr dirty="0" err="1"/>
              <a:t>보안</a:t>
            </a:r>
            <a:r>
              <a:rPr dirty="0"/>
              <a:t> 등.</a:t>
            </a:r>
          </a:p>
          <a:p>
            <a:pPr>
              <a:defRPr sz="2000"/>
            </a:pPr>
            <a:r>
              <a:rPr dirty="0"/>
              <a:t>예: </a:t>
            </a:r>
            <a:r>
              <a:rPr dirty="0" err="1"/>
              <a:t>스마트그리드</a:t>
            </a:r>
            <a:r>
              <a:rPr dirty="0"/>
              <a:t> </a:t>
            </a:r>
            <a:r>
              <a:rPr dirty="0" err="1"/>
              <a:t>도입은</a:t>
            </a:r>
            <a:r>
              <a:rPr dirty="0"/>
              <a:t> </a:t>
            </a:r>
            <a:r>
              <a:rPr dirty="0" err="1"/>
              <a:t>정전</a:t>
            </a:r>
            <a:r>
              <a:rPr dirty="0"/>
              <a:t> </a:t>
            </a:r>
            <a:r>
              <a:rPr dirty="0" err="1"/>
              <a:t>빈도·복구시간</a:t>
            </a:r>
            <a:r>
              <a:rPr dirty="0"/>
              <a:t> </a:t>
            </a:r>
            <a:r>
              <a:rPr dirty="0" err="1"/>
              <a:t>감소</a:t>
            </a:r>
            <a:r>
              <a:rPr dirty="0"/>
              <a:t>, </a:t>
            </a:r>
            <a:r>
              <a:rPr dirty="0" err="1"/>
              <a:t>모니터링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 </a:t>
            </a:r>
            <a:r>
              <a:rPr dirty="0" err="1"/>
              <a:t>등을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큰 </a:t>
            </a:r>
            <a:r>
              <a:rPr dirty="0" err="1"/>
              <a:t>편익이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(단, </a:t>
            </a:r>
            <a:r>
              <a:rPr dirty="0" err="1"/>
              <a:t>가정치에</a:t>
            </a:r>
            <a:r>
              <a:rPr dirty="0"/>
              <a:t> </a:t>
            </a:r>
            <a:r>
              <a:rPr dirty="0" err="1"/>
              <a:t>민감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: </a:t>
            </a:r>
            <a:r>
              <a:rPr dirty="0" err="1"/>
              <a:t>정전</a:t>
            </a:r>
            <a:r>
              <a:rPr dirty="0"/>
              <a:t> </a:t>
            </a:r>
            <a:r>
              <a:rPr dirty="0" err="1"/>
              <a:t>피해비용</a:t>
            </a:r>
            <a:r>
              <a:rPr dirty="0"/>
              <a:t>(</a:t>
            </a:r>
            <a:r>
              <a:rPr dirty="0" err="1"/>
              <a:t>VoLL</a:t>
            </a:r>
            <a:r>
              <a:rPr dirty="0"/>
              <a:t>, Value of Lost Load) </a:t>
            </a:r>
            <a:r>
              <a:rPr dirty="0" err="1"/>
              <a:t>설정에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편익</a:t>
            </a:r>
            <a:r>
              <a:rPr dirty="0"/>
              <a:t> </a:t>
            </a:r>
            <a:r>
              <a:rPr dirty="0" err="1"/>
              <a:t>추정이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달라짐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수입원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 </a:t>
            </a:r>
            <a:r>
              <a:rPr dirty="0" err="1"/>
              <a:t>지수</a:t>
            </a:r>
            <a:r>
              <a:rPr dirty="0"/>
              <a:t> ↑ → </a:t>
            </a:r>
            <a:r>
              <a:rPr dirty="0" err="1"/>
              <a:t>유가</a:t>
            </a:r>
            <a:r>
              <a:rPr dirty="0"/>
              <a:t> </a:t>
            </a:r>
            <a:r>
              <a:rPr dirty="0" err="1"/>
              <a:t>변동에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GDP </a:t>
            </a:r>
            <a:r>
              <a:rPr dirty="0" err="1"/>
              <a:t>변동폭</a:t>
            </a:r>
            <a:r>
              <a:rPr dirty="0"/>
              <a:t> ↓ 등 </a:t>
            </a:r>
            <a:r>
              <a:rPr dirty="0" err="1"/>
              <a:t>실증</a:t>
            </a:r>
            <a:r>
              <a:rPr dirty="0"/>
              <a:t> </a:t>
            </a:r>
            <a:r>
              <a:rPr dirty="0" err="1"/>
              <a:t>연구가</a:t>
            </a:r>
            <a:r>
              <a:rPr dirty="0"/>
              <a:t> </a:t>
            </a:r>
            <a:r>
              <a:rPr dirty="0" err="1"/>
              <a:t>존재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시사점</a:t>
            </a:r>
            <a:r>
              <a:rPr dirty="0"/>
              <a:t>: </a:t>
            </a:r>
            <a:r>
              <a:rPr dirty="0" err="1"/>
              <a:t>안보</a:t>
            </a:r>
            <a:r>
              <a:rPr dirty="0"/>
              <a:t> </a:t>
            </a:r>
            <a:r>
              <a:rPr dirty="0" err="1"/>
              <a:t>정책은</a:t>
            </a:r>
            <a:r>
              <a:rPr dirty="0"/>
              <a:t> ‘</a:t>
            </a:r>
            <a:r>
              <a:rPr dirty="0" err="1"/>
              <a:t>정량평가</a:t>
            </a:r>
            <a:r>
              <a:rPr dirty="0"/>
              <a:t> + </a:t>
            </a:r>
            <a:r>
              <a:rPr dirty="0" err="1"/>
              <a:t>불확실성</a:t>
            </a:r>
            <a:r>
              <a:rPr dirty="0"/>
              <a:t> </a:t>
            </a:r>
            <a:r>
              <a:rPr dirty="0" err="1"/>
              <a:t>관리’가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설계돼야</a:t>
            </a:r>
            <a:r>
              <a:rPr dirty="0"/>
              <a:t> 함.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5E7A6-8868-48A1-8FC5-220D2E1B0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D2720-0BF5-46D5-B12E-52F34C43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14.9 </a:t>
            </a:r>
            <a:r>
              <a:rPr dirty="0" err="1"/>
              <a:t>한국의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</a:t>
            </a:r>
            <a:r>
              <a:rPr dirty="0"/>
              <a:t>: </a:t>
            </a: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특징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9725"/>
            <a:ext cx="1062037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자원</a:t>
            </a:r>
            <a:r>
              <a:rPr dirty="0"/>
              <a:t> </a:t>
            </a:r>
            <a:r>
              <a:rPr dirty="0" err="1"/>
              <a:t>빈약</a:t>
            </a:r>
            <a:r>
              <a:rPr dirty="0"/>
              <a:t> + </a:t>
            </a:r>
            <a:r>
              <a:rPr dirty="0" err="1"/>
              <a:t>수입</a:t>
            </a:r>
            <a:r>
              <a:rPr dirty="0"/>
              <a:t> </a:t>
            </a:r>
            <a:r>
              <a:rPr dirty="0" err="1"/>
              <a:t>의존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→ </a:t>
            </a:r>
            <a:r>
              <a:rPr dirty="0" err="1"/>
              <a:t>공급·가격</a:t>
            </a:r>
            <a:r>
              <a:rPr dirty="0"/>
              <a:t> </a:t>
            </a:r>
            <a:r>
              <a:rPr dirty="0" err="1"/>
              <a:t>충격에</a:t>
            </a:r>
            <a:r>
              <a:rPr dirty="0"/>
              <a:t> </a:t>
            </a:r>
            <a:r>
              <a:rPr dirty="0" err="1"/>
              <a:t>취약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제조업</a:t>
            </a:r>
            <a:r>
              <a:rPr dirty="0"/>
              <a:t> </a:t>
            </a:r>
            <a:r>
              <a:rPr dirty="0" err="1"/>
              <a:t>비중이</a:t>
            </a:r>
            <a:r>
              <a:rPr dirty="0"/>
              <a:t> </a:t>
            </a:r>
            <a:r>
              <a:rPr dirty="0" err="1"/>
              <a:t>높고</a:t>
            </a:r>
            <a:r>
              <a:rPr dirty="0"/>
              <a:t> </a:t>
            </a:r>
            <a:r>
              <a:rPr dirty="0" err="1"/>
              <a:t>전력</a:t>
            </a:r>
            <a:r>
              <a:rPr dirty="0"/>
              <a:t> </a:t>
            </a:r>
            <a:r>
              <a:rPr dirty="0" err="1"/>
              <a:t>중심</a:t>
            </a:r>
            <a:r>
              <a:rPr dirty="0"/>
              <a:t> </a:t>
            </a:r>
            <a:r>
              <a:rPr dirty="0" err="1"/>
              <a:t>경제로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 중 → </a:t>
            </a:r>
            <a:r>
              <a:rPr dirty="0" err="1"/>
              <a:t>안정적</a:t>
            </a:r>
            <a:r>
              <a:rPr dirty="0"/>
              <a:t> </a:t>
            </a:r>
            <a:r>
              <a:rPr dirty="0" err="1"/>
              <a:t>전력공급과</a:t>
            </a:r>
            <a:r>
              <a:rPr dirty="0"/>
              <a:t> </a:t>
            </a:r>
            <a:r>
              <a:rPr dirty="0" err="1"/>
              <a:t>가격의</a:t>
            </a:r>
            <a:r>
              <a:rPr dirty="0"/>
              <a:t> </a:t>
            </a:r>
            <a:r>
              <a:rPr dirty="0" err="1"/>
              <a:t>중요성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과제</a:t>
            </a:r>
            <a:r>
              <a:rPr dirty="0"/>
              <a:t>: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믹스</a:t>
            </a:r>
            <a:r>
              <a:rPr dirty="0"/>
              <a:t> </a:t>
            </a:r>
            <a:r>
              <a:rPr dirty="0" err="1"/>
              <a:t>논쟁</a:t>
            </a:r>
            <a:r>
              <a:rPr dirty="0"/>
              <a:t>, </a:t>
            </a:r>
            <a:r>
              <a:rPr dirty="0" err="1"/>
              <a:t>송전망·입지</a:t>
            </a:r>
            <a:r>
              <a:rPr dirty="0"/>
              <a:t> </a:t>
            </a:r>
            <a:r>
              <a:rPr dirty="0" err="1"/>
              <a:t>수용성</a:t>
            </a:r>
            <a:r>
              <a:rPr dirty="0"/>
              <a:t>, </a:t>
            </a:r>
            <a:r>
              <a:rPr dirty="0" err="1"/>
              <a:t>가격의</a:t>
            </a:r>
            <a:r>
              <a:rPr dirty="0"/>
              <a:t> </a:t>
            </a:r>
            <a:r>
              <a:rPr dirty="0" err="1"/>
              <a:t>정치화</a:t>
            </a:r>
            <a:r>
              <a:rPr dirty="0"/>
              <a:t>,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 </a:t>
            </a:r>
            <a:r>
              <a:rPr dirty="0" err="1"/>
              <a:t>조정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동시에</a:t>
            </a:r>
            <a:r>
              <a:rPr dirty="0"/>
              <a:t>: </a:t>
            </a:r>
            <a:r>
              <a:rPr dirty="0" err="1"/>
              <a:t>핵심광물·LNG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, </a:t>
            </a:r>
            <a:r>
              <a:rPr dirty="0" err="1"/>
              <a:t>비축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, </a:t>
            </a:r>
            <a:r>
              <a:rPr dirty="0" err="1"/>
              <a:t>국제협력</a:t>
            </a:r>
            <a:r>
              <a:rPr dirty="0"/>
              <a:t> </a:t>
            </a:r>
            <a:r>
              <a:rPr dirty="0" err="1"/>
              <a:t>강화가</a:t>
            </a:r>
            <a:r>
              <a:rPr dirty="0"/>
              <a:t> </a:t>
            </a:r>
            <a:r>
              <a:rPr dirty="0" err="1"/>
              <a:t>우선순위로</a:t>
            </a:r>
            <a:r>
              <a:rPr dirty="0"/>
              <a:t> </a:t>
            </a:r>
            <a:r>
              <a:rPr dirty="0" err="1"/>
              <a:t>부상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38893-2D02-4042-A5AC-1EC358FE0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F287B-344A-4454-B33E-3BD899419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한국 에너지 안보 정책의 진화(요약)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467975" cy="4525963"/>
          </a:xfrm>
        </p:spPr>
        <p:txBody>
          <a:bodyPr/>
          <a:lstStyle/>
          <a:p>
            <a:pPr>
              <a:defRPr sz="2000"/>
            </a:pPr>
            <a:r>
              <a:rPr dirty="0"/>
              <a:t>1970~80년대: </a:t>
            </a:r>
            <a:r>
              <a:rPr dirty="0" err="1"/>
              <a:t>석유파동</a:t>
            </a:r>
            <a:r>
              <a:rPr dirty="0"/>
              <a:t> </a:t>
            </a:r>
            <a:r>
              <a:rPr dirty="0" err="1"/>
              <a:t>충격</a:t>
            </a:r>
            <a:r>
              <a:rPr dirty="0"/>
              <a:t> →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 </a:t>
            </a:r>
            <a:r>
              <a:rPr dirty="0" err="1"/>
              <a:t>최우선</a:t>
            </a:r>
            <a:r>
              <a:rPr dirty="0"/>
              <a:t>(</a:t>
            </a:r>
            <a:r>
              <a:rPr dirty="0" err="1"/>
              <a:t>공기업</a:t>
            </a:r>
            <a:r>
              <a:rPr dirty="0"/>
              <a:t> </a:t>
            </a:r>
            <a:r>
              <a:rPr dirty="0" err="1"/>
              <a:t>설립</a:t>
            </a:r>
            <a:r>
              <a:rPr dirty="0"/>
              <a:t>, </a:t>
            </a:r>
            <a:r>
              <a:rPr dirty="0" err="1"/>
              <a:t>연료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, </a:t>
            </a:r>
            <a:r>
              <a:rPr dirty="0" err="1"/>
              <a:t>원전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/>
              <a:t>1990년대 </a:t>
            </a:r>
            <a:r>
              <a:rPr dirty="0" err="1"/>
              <a:t>이후</a:t>
            </a:r>
            <a:r>
              <a:rPr dirty="0"/>
              <a:t>: </a:t>
            </a:r>
            <a:r>
              <a:rPr dirty="0" err="1"/>
              <a:t>시장</a:t>
            </a:r>
            <a:r>
              <a:rPr dirty="0"/>
              <a:t> </a:t>
            </a:r>
            <a:r>
              <a:rPr dirty="0" err="1"/>
              <a:t>효율·민간</a:t>
            </a:r>
            <a:r>
              <a:rPr dirty="0"/>
              <a:t> </a:t>
            </a:r>
            <a:r>
              <a:rPr dirty="0" err="1"/>
              <a:t>참여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(</a:t>
            </a:r>
            <a:r>
              <a:rPr dirty="0" err="1"/>
              <a:t>전력산업</a:t>
            </a:r>
            <a:r>
              <a:rPr dirty="0"/>
              <a:t> </a:t>
            </a:r>
            <a:r>
              <a:rPr dirty="0" err="1"/>
              <a:t>구조개편</a:t>
            </a:r>
            <a:r>
              <a:rPr dirty="0"/>
              <a:t>, KPX </a:t>
            </a:r>
            <a:r>
              <a:rPr dirty="0" err="1"/>
              <a:t>설립</a:t>
            </a:r>
            <a:r>
              <a:rPr dirty="0"/>
              <a:t> 등).</a:t>
            </a:r>
          </a:p>
          <a:p>
            <a:pPr>
              <a:defRPr sz="2000"/>
            </a:pPr>
            <a:r>
              <a:rPr dirty="0"/>
              <a:t>2000년대 </a:t>
            </a:r>
            <a:r>
              <a:rPr dirty="0" err="1"/>
              <a:t>이후</a:t>
            </a:r>
            <a:r>
              <a:rPr dirty="0"/>
              <a:t>: </a:t>
            </a:r>
            <a:r>
              <a:rPr dirty="0" err="1"/>
              <a:t>기후·안보</a:t>
            </a:r>
            <a:r>
              <a:rPr dirty="0"/>
              <a:t> </a:t>
            </a:r>
            <a:r>
              <a:rPr dirty="0" err="1"/>
              <a:t>결합</a:t>
            </a:r>
            <a:r>
              <a:rPr dirty="0"/>
              <a:t> → </a:t>
            </a:r>
            <a:r>
              <a:rPr dirty="0" err="1"/>
              <a:t>재생·효율·수요관리</a:t>
            </a:r>
            <a:r>
              <a:rPr dirty="0"/>
              <a:t> </a:t>
            </a:r>
            <a:r>
              <a:rPr dirty="0" err="1"/>
              <a:t>강화</a:t>
            </a:r>
            <a:r>
              <a:rPr dirty="0"/>
              <a:t>, LNG </a:t>
            </a:r>
            <a:r>
              <a:rPr dirty="0" err="1"/>
              <a:t>확대</a:t>
            </a:r>
            <a:r>
              <a:rPr dirty="0"/>
              <a:t>, </a:t>
            </a:r>
            <a:r>
              <a:rPr dirty="0" err="1"/>
              <a:t>국제협력</a:t>
            </a:r>
            <a:r>
              <a:rPr dirty="0"/>
              <a:t> </a:t>
            </a:r>
            <a:r>
              <a:rPr dirty="0" err="1"/>
              <a:t>다변화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최근</a:t>
            </a:r>
            <a:r>
              <a:rPr dirty="0"/>
              <a:t>: </a:t>
            </a:r>
            <a:r>
              <a:rPr dirty="0" err="1"/>
              <a:t>지정학·핵심광물·사이버·기후를</a:t>
            </a:r>
            <a:r>
              <a:rPr dirty="0"/>
              <a:t> </a:t>
            </a:r>
            <a:r>
              <a:rPr dirty="0" err="1"/>
              <a:t>포괄하는</a:t>
            </a:r>
            <a:r>
              <a:rPr dirty="0"/>
              <a:t> ‘</a:t>
            </a:r>
            <a:r>
              <a:rPr dirty="0" err="1"/>
              <a:t>다차원</a:t>
            </a:r>
            <a:r>
              <a:rPr dirty="0"/>
              <a:t> </a:t>
            </a:r>
            <a:r>
              <a:rPr dirty="0" err="1"/>
              <a:t>안보’로</a:t>
            </a:r>
            <a:r>
              <a:rPr dirty="0"/>
              <a:t> </a:t>
            </a:r>
            <a:r>
              <a:rPr dirty="0" err="1"/>
              <a:t>재정의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B8F41-3A60-4107-AEB5-69391857C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D0A4A-A7E4-4F23-9B1C-EA32BF87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315450" cy="1143000"/>
          </a:xfrm>
        </p:spPr>
        <p:txBody>
          <a:bodyPr/>
          <a:lstStyle/>
          <a:p>
            <a:pPr>
              <a:defRPr sz="3200"/>
            </a:pPr>
            <a:r>
              <a:rPr lang="en-US" dirty="0"/>
              <a:t>14.10</a:t>
            </a:r>
            <a:r>
              <a:rPr dirty="0"/>
              <a:t>결론 ①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안보의</a:t>
            </a:r>
            <a:r>
              <a:rPr dirty="0"/>
              <a:t> </a:t>
            </a:r>
            <a:r>
              <a:rPr dirty="0" err="1"/>
              <a:t>다차원</a:t>
            </a:r>
            <a:r>
              <a:rPr dirty="0"/>
              <a:t> </a:t>
            </a:r>
            <a:r>
              <a:rPr dirty="0" err="1"/>
              <a:t>프레임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52512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안보는</a:t>
            </a:r>
            <a:r>
              <a:rPr dirty="0"/>
              <a:t> </a:t>
            </a:r>
            <a:r>
              <a:rPr dirty="0" err="1"/>
              <a:t>공급만이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접근성</a:t>
            </a:r>
            <a:r>
              <a:rPr dirty="0"/>
              <a:t>, </a:t>
            </a:r>
            <a:r>
              <a:rPr dirty="0" err="1"/>
              <a:t>기술·환경·사회</a:t>
            </a:r>
            <a:r>
              <a:rPr dirty="0"/>
              <a:t> </a:t>
            </a:r>
            <a:r>
              <a:rPr dirty="0" err="1"/>
              <a:t>요소까지</a:t>
            </a:r>
            <a:r>
              <a:rPr dirty="0"/>
              <a:t> </a:t>
            </a:r>
            <a:r>
              <a:rPr dirty="0" err="1"/>
              <a:t>포함하는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핵심</a:t>
            </a:r>
            <a:r>
              <a:rPr dirty="0"/>
              <a:t> 축 </a:t>
            </a:r>
            <a:r>
              <a:rPr dirty="0" err="1"/>
              <a:t>정리</a:t>
            </a:r>
            <a:r>
              <a:rPr dirty="0"/>
              <a:t>: </a:t>
            </a:r>
            <a:r>
              <a:rPr dirty="0" err="1"/>
              <a:t>공급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(</a:t>
            </a:r>
            <a:r>
              <a:rPr dirty="0" err="1"/>
              <a:t>물리</a:t>
            </a:r>
            <a:r>
              <a:rPr dirty="0"/>
              <a:t>) + </a:t>
            </a:r>
            <a:r>
              <a:rPr dirty="0" err="1"/>
              <a:t>가격</a:t>
            </a:r>
            <a:r>
              <a:rPr dirty="0"/>
              <a:t> </a:t>
            </a:r>
            <a:r>
              <a:rPr dirty="0" err="1"/>
              <a:t>안정성</a:t>
            </a:r>
            <a:r>
              <a:rPr dirty="0"/>
              <a:t>(</a:t>
            </a:r>
            <a:r>
              <a:rPr dirty="0" err="1"/>
              <a:t>경제</a:t>
            </a:r>
            <a:r>
              <a:rPr dirty="0"/>
              <a:t>) + </a:t>
            </a:r>
            <a:r>
              <a:rPr dirty="0" err="1"/>
              <a:t>인프라</a:t>
            </a:r>
            <a:r>
              <a:rPr dirty="0"/>
              <a:t> </a:t>
            </a:r>
            <a:r>
              <a:rPr dirty="0" err="1"/>
              <a:t>복원력</a:t>
            </a:r>
            <a:r>
              <a:rPr dirty="0"/>
              <a:t>(</a:t>
            </a:r>
            <a:r>
              <a:rPr dirty="0" err="1"/>
              <a:t>시스템</a:t>
            </a:r>
            <a:r>
              <a:rPr dirty="0"/>
              <a:t>).</a:t>
            </a:r>
          </a:p>
          <a:p>
            <a:pPr>
              <a:defRPr sz="2000"/>
            </a:pPr>
            <a:r>
              <a:rPr dirty="0" err="1"/>
              <a:t>리스크</a:t>
            </a:r>
            <a:r>
              <a:rPr dirty="0"/>
              <a:t> </a:t>
            </a:r>
            <a:r>
              <a:rPr dirty="0" err="1"/>
              <a:t>지도</a:t>
            </a:r>
            <a:r>
              <a:rPr dirty="0"/>
              <a:t>: </a:t>
            </a:r>
            <a:r>
              <a:rPr dirty="0" err="1"/>
              <a:t>지정학</a:t>
            </a:r>
            <a:r>
              <a:rPr dirty="0"/>
              <a:t>/</a:t>
            </a:r>
            <a:r>
              <a:rPr dirty="0" err="1"/>
              <a:t>무기화</a:t>
            </a:r>
            <a:r>
              <a:rPr dirty="0"/>
              <a:t>/</a:t>
            </a:r>
            <a:r>
              <a:rPr dirty="0" err="1"/>
              <a:t>공급망</a:t>
            </a:r>
            <a:r>
              <a:rPr dirty="0"/>
              <a:t>/</a:t>
            </a:r>
            <a:r>
              <a:rPr dirty="0" err="1"/>
              <a:t>기후</a:t>
            </a:r>
            <a:r>
              <a:rPr dirty="0"/>
              <a:t>/</a:t>
            </a:r>
            <a:r>
              <a:rPr dirty="0" err="1"/>
              <a:t>사이버</a:t>
            </a:r>
            <a:r>
              <a:rPr dirty="0"/>
              <a:t>/</a:t>
            </a:r>
            <a:r>
              <a:rPr dirty="0" err="1"/>
              <a:t>비확산</a:t>
            </a:r>
            <a:r>
              <a:rPr dirty="0"/>
              <a:t> </a:t>
            </a:r>
            <a:r>
              <a:rPr dirty="0" err="1"/>
              <a:t>리스크가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발생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따라서</a:t>
            </a:r>
            <a:r>
              <a:rPr dirty="0"/>
              <a:t> ‘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해법’이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다층적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패키지와</a:t>
            </a:r>
            <a:r>
              <a:rPr dirty="0"/>
              <a:t> </a:t>
            </a:r>
            <a:r>
              <a:rPr dirty="0" err="1"/>
              <a:t>유연한</a:t>
            </a:r>
            <a:r>
              <a:rPr dirty="0"/>
              <a:t> </a:t>
            </a:r>
            <a:r>
              <a:rPr dirty="0" err="1"/>
              <a:t>거버넌스가</a:t>
            </a:r>
            <a:r>
              <a:rPr dirty="0"/>
              <a:t> </a:t>
            </a:r>
            <a:r>
              <a:rPr dirty="0" err="1"/>
              <a:t>필요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DF341-2161-4A11-966A-369E8554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CC058-E788-4F5B-9C07-5DAE0D24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결론 ② 정책적 시사점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239375" cy="4525963"/>
          </a:xfrm>
        </p:spPr>
        <p:txBody>
          <a:bodyPr/>
          <a:lstStyle/>
          <a:p>
            <a:pPr>
              <a:defRPr sz="2000"/>
            </a:pP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믹스의</a:t>
            </a:r>
            <a:r>
              <a:rPr dirty="0"/>
              <a:t> ‘</a:t>
            </a:r>
            <a:r>
              <a:rPr dirty="0" err="1"/>
              <a:t>다양성’과</a:t>
            </a:r>
            <a:r>
              <a:rPr dirty="0"/>
              <a:t> </a:t>
            </a:r>
            <a:r>
              <a:rPr dirty="0" err="1"/>
              <a:t>계통의</a:t>
            </a:r>
            <a:r>
              <a:rPr dirty="0"/>
              <a:t> ‘</a:t>
            </a:r>
            <a:r>
              <a:rPr dirty="0" err="1"/>
              <a:t>유연성’이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: </a:t>
            </a:r>
            <a:r>
              <a:rPr dirty="0" err="1"/>
              <a:t>저장·DR·망</a:t>
            </a:r>
            <a:r>
              <a:rPr dirty="0"/>
              <a:t> </a:t>
            </a:r>
            <a:r>
              <a:rPr dirty="0" err="1"/>
              <a:t>투자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안보</a:t>
            </a:r>
            <a:r>
              <a:rPr dirty="0"/>
              <a:t> </a:t>
            </a:r>
            <a:r>
              <a:rPr dirty="0" err="1"/>
              <a:t>정책은</a:t>
            </a:r>
            <a:r>
              <a:rPr dirty="0"/>
              <a:t> </a:t>
            </a:r>
            <a:r>
              <a:rPr dirty="0" err="1"/>
              <a:t>비용-편익</a:t>
            </a:r>
            <a:r>
              <a:rPr dirty="0"/>
              <a:t> </a:t>
            </a:r>
            <a:r>
              <a:rPr dirty="0" err="1"/>
              <a:t>평가와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: </a:t>
            </a:r>
            <a:r>
              <a:rPr dirty="0" err="1"/>
              <a:t>과잉</a:t>
            </a:r>
            <a:r>
              <a:rPr dirty="0"/>
              <a:t> </a:t>
            </a:r>
            <a:r>
              <a:rPr dirty="0" err="1"/>
              <a:t>비축</a:t>
            </a:r>
            <a:r>
              <a:rPr dirty="0"/>
              <a:t>, </a:t>
            </a:r>
            <a:r>
              <a:rPr dirty="0" err="1"/>
              <a:t>과도한</a:t>
            </a:r>
            <a:r>
              <a:rPr dirty="0"/>
              <a:t> </a:t>
            </a:r>
            <a:r>
              <a:rPr dirty="0" err="1"/>
              <a:t>가격통제의</a:t>
            </a:r>
            <a:r>
              <a:rPr dirty="0"/>
              <a:t> </a:t>
            </a:r>
            <a:r>
              <a:rPr dirty="0" err="1"/>
              <a:t>부작용</a:t>
            </a:r>
            <a:r>
              <a:rPr dirty="0"/>
              <a:t> </a:t>
            </a:r>
            <a:r>
              <a:rPr dirty="0" err="1"/>
              <a:t>점검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전환기의</a:t>
            </a:r>
            <a:r>
              <a:rPr dirty="0"/>
              <a:t> </a:t>
            </a:r>
            <a:r>
              <a:rPr dirty="0" err="1"/>
              <a:t>형평성</a:t>
            </a:r>
            <a:r>
              <a:rPr dirty="0"/>
              <a:t>: </a:t>
            </a:r>
            <a:r>
              <a:rPr dirty="0" err="1"/>
              <a:t>취약계층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, </a:t>
            </a:r>
            <a:r>
              <a:rPr dirty="0" err="1"/>
              <a:t>산업·지역의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지원이</a:t>
            </a:r>
            <a:r>
              <a:rPr dirty="0"/>
              <a:t> </a:t>
            </a:r>
            <a:r>
              <a:rPr dirty="0" err="1"/>
              <a:t>안보의</a:t>
            </a:r>
            <a:r>
              <a:rPr dirty="0"/>
              <a:t> </a:t>
            </a:r>
            <a:r>
              <a:rPr dirty="0" err="1"/>
              <a:t>사회적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국제협력의</a:t>
            </a:r>
            <a:r>
              <a:rPr dirty="0"/>
              <a:t> </a:t>
            </a:r>
            <a:r>
              <a:rPr dirty="0" err="1"/>
              <a:t>중요성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: </a:t>
            </a:r>
            <a:r>
              <a:rPr dirty="0" err="1"/>
              <a:t>공동</a:t>
            </a:r>
            <a:r>
              <a:rPr dirty="0"/>
              <a:t> </a:t>
            </a:r>
            <a:r>
              <a:rPr dirty="0" err="1"/>
              <a:t>비축</a:t>
            </a:r>
            <a:r>
              <a:rPr dirty="0"/>
              <a:t>, </a:t>
            </a:r>
            <a:r>
              <a:rPr dirty="0" err="1"/>
              <a:t>공급망</a:t>
            </a:r>
            <a:r>
              <a:rPr dirty="0"/>
              <a:t> </a:t>
            </a:r>
            <a:r>
              <a:rPr dirty="0" err="1"/>
              <a:t>동맹</a:t>
            </a:r>
            <a:r>
              <a:rPr dirty="0"/>
              <a:t>, </a:t>
            </a:r>
            <a:r>
              <a:rPr dirty="0" err="1"/>
              <a:t>표준·데이터·사이버</a:t>
            </a:r>
            <a:r>
              <a:rPr dirty="0"/>
              <a:t> </a:t>
            </a:r>
            <a:r>
              <a:rPr dirty="0" err="1"/>
              <a:t>협력</a:t>
            </a:r>
            <a:r>
              <a:rPr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6B7D9-1F5E-45ED-99BA-83E2E804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14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DBDD5-15EA-406B-8B76-8D8BEA3D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3404</Words>
  <Application>Microsoft Office PowerPoint</Application>
  <PresentationFormat>와이드스크린</PresentationFormat>
  <Paragraphs>303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-apple-system</vt:lpstr>
      <vt:lpstr>나눔스퀘어 네오 OTF Heavy</vt:lpstr>
      <vt:lpstr>맑은 고딕</vt:lpstr>
      <vt:lpstr>Arial</vt:lpstr>
      <vt:lpstr>Calibri</vt:lpstr>
      <vt:lpstr>Office Theme</vt:lpstr>
      <vt:lpstr>한컴오피스</vt:lpstr>
      <vt:lpstr>PowerPoint 프레젠테이션</vt:lpstr>
      <vt:lpstr>제14장  에너지 안보</vt:lpstr>
      <vt:lpstr>학습목표</vt:lpstr>
      <vt:lpstr>에너지 안보 개념의 진화</vt:lpstr>
      <vt:lpstr>에너지 안보의 중요성 ① 거시경제</vt:lpstr>
      <vt:lpstr>에너지 안보의 중요성 ② 지정학·전략자율성</vt:lpstr>
      <vt:lpstr>에너지 안보의 중요성 ③ 기후·사회·기술</vt:lpstr>
      <vt:lpstr>14.3 에너지 안보의 구성요소</vt:lpstr>
      <vt:lpstr>14.3.1. 공급의 안정성 — 개념과 두 차원</vt:lpstr>
      <vt:lpstr>공급 안정성 강화의 정책 패키지</vt:lpstr>
      <vt:lpstr>14.3.2 가격 안정성 — 영향과 정책수단</vt:lpstr>
      <vt:lpstr>14.3.3 인프라 복원력 — 네트워크·사이버·기후</vt:lpstr>
      <vt:lpstr>14.4 국제적 에너지 안보의 위협요인 개요</vt:lpstr>
      <vt:lpstr>14.4.1 지정학적 리스크</vt:lpstr>
      <vt:lpstr>14.4.2 에너지의 무기화</vt:lpstr>
      <vt:lpstr>14.3.3 글로벌 공급망 취약성— 원인과 사례</vt:lpstr>
      <vt:lpstr>청정에너지 전환과 핵심광물 공급망 리스크</vt:lpstr>
      <vt:lpstr>14.4.4 기후변화와 에너지 시스템 불안정 ① 공급·인프라</vt:lpstr>
      <vt:lpstr>기후변화와 에너지 시스템 불안정 ② 수요·변동성·정책</vt:lpstr>
      <vt:lpstr>14.4.5 전력시장의 사이버 공격</vt:lpstr>
      <vt:lpstr>사이버 대응 전략(정책·운영)</vt:lpstr>
      <vt:lpstr>14.4.6 핵연료 재처리와 핵확산</vt:lpstr>
      <vt:lpstr>14.5 에너지 안보의 경제학적 성격</vt:lpstr>
      <vt:lpstr>외부성 관점: 정책 함의</vt:lpstr>
      <vt:lpstr>공공재 관점: 정부·국제협력의 역할</vt:lpstr>
      <vt:lpstr>14.6 정책수단과 제도적 대응 개요</vt:lpstr>
      <vt:lpstr>14.6.1 전략적 비축제도</vt:lpstr>
      <vt:lpstr>14.6.1 전략적 비축제도</vt:lpstr>
      <vt:lpstr>14.6.2 수입 다변화 정책</vt:lpstr>
      <vt:lpstr>14.6.3 에너지 효율성 및 수요관리</vt:lpstr>
      <vt:lpstr>14.6.4 국제협력과 다자 제도</vt:lpstr>
      <vt:lpstr>14.7 에너지 전환과 안보의 관계</vt:lpstr>
      <vt:lpstr>14.7.1 탈탄소화가 에너지 안보에 미치는 영향</vt:lpstr>
      <vt:lpstr>14.7.2 청정기술 공급망의 지정학</vt:lpstr>
      <vt:lpstr>주요국 에너지 안보 전략: 공통요소</vt:lpstr>
      <vt:lpstr>14.8 에너지 안보 정책의 혜택과 비용</vt:lpstr>
      <vt:lpstr>14.9 한국의 에너지 안보: 구조적 특징</vt:lpstr>
      <vt:lpstr>한국 에너지 안보 정책의 진화(요약)</vt:lpstr>
      <vt:lpstr>14.10결론 ① 에너지 안보의 다차원 프레임</vt:lpstr>
      <vt:lpstr>결론 ② 정책적 시사점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제14장 에너지 안보</dc:title>
  <dc:creator>donghun kim</dc:creator>
  <dc:description>generated using python-pptx</dc:description>
  <cp:lastModifiedBy>장 규식</cp:lastModifiedBy>
  <cp:revision>24</cp:revision>
  <dcterms:created xsi:type="dcterms:W3CDTF">2013-01-27T09:14:16Z</dcterms:created>
  <dcterms:modified xsi:type="dcterms:W3CDTF">2026-02-25T21:44:47Z</dcterms:modified>
  <cp:version/>
</cp:coreProperties>
</file>