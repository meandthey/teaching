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78" r:id="rId2"/>
    <p:sldId id="257" r:id="rId3"/>
    <p:sldId id="258" r:id="rId4"/>
    <p:sldId id="439" r:id="rId5"/>
    <p:sldId id="471" r:id="rId6"/>
    <p:sldId id="472" r:id="rId7"/>
    <p:sldId id="440" r:id="rId8"/>
    <p:sldId id="474" r:id="rId9"/>
    <p:sldId id="476" r:id="rId10"/>
    <p:sldId id="477" r:id="rId11"/>
    <p:sldId id="478" r:id="rId12"/>
    <p:sldId id="479" r:id="rId13"/>
    <p:sldId id="480" r:id="rId14"/>
    <p:sldId id="481" r:id="rId15"/>
    <p:sldId id="482" r:id="rId16"/>
    <p:sldId id="483" r:id="rId17"/>
    <p:sldId id="484" r:id="rId18"/>
    <p:sldId id="485" r:id="rId19"/>
    <p:sldId id="486" r:id="rId20"/>
    <p:sldId id="441" r:id="rId21"/>
    <p:sldId id="487" r:id="rId22"/>
    <p:sldId id="488" r:id="rId23"/>
    <p:sldId id="489" r:id="rId24"/>
    <p:sldId id="492" r:id="rId25"/>
    <p:sldId id="493" r:id="rId26"/>
    <p:sldId id="494" r:id="rId27"/>
    <p:sldId id="495" r:id="rId28"/>
    <p:sldId id="442" r:id="rId29"/>
    <p:sldId id="496" r:id="rId30"/>
    <p:sldId id="497" r:id="rId31"/>
    <p:sldId id="499" r:id="rId32"/>
    <p:sldId id="500" r:id="rId33"/>
    <p:sldId id="501" r:id="rId34"/>
    <p:sldId id="443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>
          <p15:clr>
            <a:srgbClr val="A4A3A4"/>
          </p15:clr>
        </p15:guide>
        <p15:guide id="2" pos="38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Grid="0" snapToObjects="1">
      <p:cViewPr varScale="1">
        <p:scale>
          <a:sx n="99" d="100"/>
          <a:sy n="99" d="100"/>
        </p:scale>
        <p:origin x="1170" y="84"/>
      </p:cViewPr>
      <p:guideLst>
        <p:guide orient="horz" pos="2149"/>
        <p:guide pos="382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203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9709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430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A3D5110-9FE0-496F-B26A-071D02F2DE37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5" y="181576"/>
            <a:ext cx="11830050" cy="631820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 dirty="0">
                <a:solidFill>
                  <a:srgbClr val="FFFFFF"/>
                </a:solidFill>
                <a:ea typeface="맑은 고딕"/>
              </a:rPr>
              <a:t>10</a:t>
            </a: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장  전력시장의 기초 이론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  <p:sp>
        <p:nvSpPr>
          <p:cNvPr id="4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1.</a:t>
            </a:r>
            <a:r>
              <a:rPr lang="ko-KR" altLang="en-US" sz="32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 전력시장은 경제적으로나 기술적으로 매우 독특한 속성을 지닌 시장임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r>
              <a:rPr lang="ko-KR" altLang="en-US" sz="2000" dirty="0"/>
              <a:t>전력은 현대 경제와 사회의 필수재로서</a:t>
            </a:r>
            <a:r>
              <a:rPr lang="en-US" altLang="ko-KR" sz="2000" dirty="0"/>
              <a:t>,</a:t>
            </a:r>
            <a:r>
              <a:rPr lang="ko-KR" altLang="en-US" sz="2000" dirty="0"/>
              <a:t> 그 생산과 소비는 국가 경제의 전반적인 효율성과 지속가능성에 중대한 영향을 미침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r>
              <a:rPr lang="ko-KR" altLang="en-US" sz="2000" dirty="0"/>
              <a:t>전력은 물리적</a:t>
            </a:r>
            <a:r>
              <a:rPr lang="en-US" altLang="ko-KR" sz="2000" dirty="0"/>
              <a:t>·</a:t>
            </a:r>
            <a:r>
              <a:rPr lang="ko-KR" altLang="en-US" sz="2000" dirty="0"/>
              <a:t>경제적 특성이 여타 상품과는 구별되는 독특한 속성을 지니며</a:t>
            </a:r>
            <a:r>
              <a:rPr lang="en-US" altLang="ko-KR" sz="2000" dirty="0"/>
              <a:t>,</a:t>
            </a:r>
            <a:r>
              <a:rPr lang="ko-KR" altLang="en-US" sz="2000" dirty="0"/>
              <a:t> 이에 따라 전력시장은 특수한 제도적 설계와 운영방식을 필요로 함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r>
              <a:rPr lang="ko-KR" altLang="en-US" sz="2000" dirty="0"/>
              <a:t>이러한 특성은 전력산업이 전통적으로 국가에 의해 규제되거나 공공독점 형태로 운영되어 온 역사적 이유이기도 함</a:t>
            </a:r>
          </a:p>
          <a:p>
            <a:pPr lvl="2">
              <a:buChar char="•"/>
              <a:defRPr/>
            </a:pPr>
            <a:endParaRPr lang="ko-KR" altLang="en-US" sz="2000" dirty="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57745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전력시장의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 fontScale="92500" lnSpcReduction="10000"/>
          </a:bodyPr>
          <a:lstStyle/>
          <a:p>
            <a:pPr lvl="0">
              <a:defRPr/>
            </a:pPr>
            <a:r>
              <a:rPr lang="ko-KR" altLang="en-US" sz="2000" dirty="0"/>
              <a:t>실시간 균형의 필요성과 저장의 어려움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전력의 가장 핵심적인 특성은 실시간으로 수요와 공급의 균형이 유지되어야 한다는 점임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발전량이 수요를 초과하거나 부족할 경우 전력망의 주파수나 전압이 허용 범위를 벗어나게 되고 이는 전체 계통의 정전이나 장비 손상으로 이어짐</a:t>
            </a:r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2">
              <a:buChar char="•"/>
              <a:defRPr/>
            </a:pPr>
            <a:r>
              <a:rPr lang="ko-KR" altLang="en-US" sz="2000" dirty="0"/>
              <a:t>계통운영자</a:t>
            </a:r>
            <a:r>
              <a:rPr lang="en-US" altLang="ko-KR" sz="2000" dirty="0"/>
              <a:t>(system operator)</a:t>
            </a:r>
            <a:r>
              <a:rPr lang="ko-KR" altLang="en-US" sz="2000" dirty="0"/>
              <a:t>는 수요 예측</a:t>
            </a:r>
            <a:r>
              <a:rPr lang="en-US" altLang="ko-KR" sz="2000" dirty="0"/>
              <a:t>,</a:t>
            </a:r>
            <a:r>
              <a:rPr lang="ko-KR" altLang="en-US" sz="2000" dirty="0"/>
              <a:t> 발전계획</a:t>
            </a:r>
            <a:r>
              <a:rPr lang="en-US" altLang="ko-KR" sz="2000" dirty="0"/>
              <a:t>,</a:t>
            </a:r>
            <a:r>
              <a:rPr lang="ko-KR" altLang="en-US" sz="2000" dirty="0"/>
              <a:t> 송전망 안정성 등을 모두 고려하여 실시간 균형을 유지함</a:t>
            </a:r>
          </a:p>
          <a:p>
            <a:pPr lvl="0">
              <a:buChar char="•"/>
              <a:defRPr/>
            </a:pPr>
            <a:endParaRPr lang="ko-KR" altLang="en-US" sz="2000" dirty="0"/>
          </a:p>
          <a:p>
            <a:pPr lvl="0">
              <a:buChar char="•"/>
              <a:defRPr/>
            </a:pPr>
            <a:r>
              <a:rPr lang="ko-KR" altLang="en-US" sz="2000" dirty="0"/>
              <a:t>기술적 복잡성과 중앙 운영의 필요성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전력망은 다양한 발전소</a:t>
            </a:r>
            <a:r>
              <a:rPr lang="en-US" altLang="ko-KR" sz="2000" dirty="0"/>
              <a:t>,</a:t>
            </a:r>
            <a:r>
              <a:rPr lang="ko-KR" altLang="en-US" sz="2000" dirty="0"/>
              <a:t> 변전소</a:t>
            </a:r>
            <a:r>
              <a:rPr lang="en-US" altLang="ko-KR" sz="2000" dirty="0"/>
              <a:t>,</a:t>
            </a:r>
            <a:r>
              <a:rPr lang="ko-KR" altLang="en-US" sz="2000" dirty="0"/>
              <a:t> 송전선로</a:t>
            </a:r>
            <a:r>
              <a:rPr lang="en-US" altLang="ko-KR" sz="2000" dirty="0"/>
              <a:t>,</a:t>
            </a:r>
            <a:r>
              <a:rPr lang="ko-KR" altLang="en-US" sz="2000" dirty="0"/>
              <a:t> 배전망 등으로 구성되어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이들 간의 연계가 전력의 흐름과 품질에 결정정 영향을 미침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송전망은 키르히호프</a:t>
            </a:r>
            <a:r>
              <a:rPr lang="en-US" altLang="ko-KR" sz="2000" dirty="0"/>
              <a:t>(Kirchhoff)</a:t>
            </a:r>
            <a:r>
              <a:rPr lang="ko-KR" altLang="en-US" sz="2000" dirty="0"/>
              <a:t>의</a:t>
            </a:r>
            <a:r>
              <a:rPr lang="en-US" altLang="ko-KR" sz="2000" dirty="0"/>
              <a:t> </a:t>
            </a:r>
            <a:r>
              <a:rPr lang="ko-KR" altLang="en-US" sz="2000" dirty="0"/>
              <a:t>법칙에 따라 전력이 자동적으로 흐르며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단순한 시장 메커니즘만으로는 제어하기 어려움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이러한 기술적 제약으로 대부분의 전력시장에서는 중립적인 중앙 운영 기관</a:t>
            </a:r>
            <a:r>
              <a:rPr lang="en-US" altLang="ko-KR" sz="2000" dirty="0"/>
              <a:t>,</a:t>
            </a:r>
            <a:r>
              <a:rPr lang="ko-KR" altLang="en-US" sz="2000" dirty="0"/>
              <a:t> 즉 독립계통운영자가 발전기 입찰 결과를 바탕으로 시스템의 전체 균형을 유지하고</a:t>
            </a:r>
            <a:r>
              <a:rPr lang="en-US" altLang="ko-KR" sz="2000" dirty="0"/>
              <a:t>,</a:t>
            </a:r>
            <a:r>
              <a:rPr lang="ko-KR" altLang="en-US" sz="2000" dirty="0"/>
              <a:t> 송전 혼잡을 해소하며</a:t>
            </a:r>
            <a:r>
              <a:rPr lang="en-US" altLang="ko-KR" sz="2000" dirty="0"/>
              <a:t>,</a:t>
            </a:r>
            <a:r>
              <a:rPr lang="ko-KR" altLang="en-US" sz="2000" dirty="0"/>
              <a:t> 안정적인 주파수와 전압을 유지하는 기능을 수행</a:t>
            </a:r>
          </a:p>
          <a:p>
            <a:pPr lvl="0">
              <a:buChar char="•"/>
              <a:defRPr/>
            </a:pPr>
            <a:endParaRPr lang="ko-KR" altLang="en-US" sz="2000" dirty="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1531958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전력시장의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sz="2000" dirty="0"/>
              <a:t>자연독점 구조와 수직통합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전력산업은 전통적으로 고정비용이 크고</a:t>
            </a:r>
            <a:r>
              <a:rPr lang="en-US" altLang="ko-KR" sz="2000" dirty="0"/>
              <a:t>,</a:t>
            </a:r>
            <a:r>
              <a:rPr lang="ko-KR" altLang="en-US" sz="2000" dirty="0"/>
              <a:t> 규모의 경제가 작용하는 산업으로 분류됨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송전과 배전 부문은 동일 지역 내에 중복되게 시설을 구축하는 것이 비효율적이기 때문에 자연독점적 성격을 지님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많은 국가에서 전력산업은 오랬동안 정부 혹은 공공기관에 의해 운영되어 왔으며</a:t>
            </a:r>
            <a:r>
              <a:rPr lang="en-US" altLang="ko-KR" sz="2000" dirty="0"/>
              <a:t>,</a:t>
            </a:r>
            <a:r>
              <a:rPr lang="ko-KR" altLang="en-US" sz="2000" dirty="0"/>
              <a:t> 발전</a:t>
            </a:r>
            <a:r>
              <a:rPr lang="en-US" altLang="ko-KR" sz="2000" dirty="0"/>
              <a:t>·</a:t>
            </a:r>
            <a:r>
              <a:rPr lang="ko-KR" altLang="en-US" sz="2000" dirty="0"/>
              <a:t>송전</a:t>
            </a:r>
            <a:r>
              <a:rPr lang="en-US" altLang="ko-KR" sz="2000" dirty="0"/>
              <a:t>·</a:t>
            </a:r>
            <a:r>
              <a:rPr lang="ko-KR" altLang="en-US" sz="2000" dirty="0"/>
              <a:t>배전</a:t>
            </a:r>
            <a:r>
              <a:rPr lang="en-US" altLang="ko-KR" sz="2000" dirty="0"/>
              <a:t>·</a:t>
            </a:r>
            <a:r>
              <a:rPr lang="ko-KR" altLang="en-US" sz="2000" dirty="0"/>
              <a:t>소매판매로 이어지는 수직통합 구조가 일반적이었음</a:t>
            </a:r>
          </a:p>
          <a:p>
            <a:pPr lvl="2">
              <a:buChar char="•"/>
              <a:defRPr/>
            </a:pPr>
            <a:r>
              <a:rPr lang="en-US" altLang="ko-KR" sz="2000" dirty="0"/>
              <a:t>1990</a:t>
            </a:r>
            <a:r>
              <a:rPr lang="ko-KR" altLang="en-US" sz="2000" dirty="0"/>
              <a:t>년 이후 일부 국가에서는 전력산업의 효율성과 경쟁 촉진을 위해 수직통합 구조를 해체하고</a:t>
            </a:r>
            <a:r>
              <a:rPr lang="en-US" altLang="ko-KR" sz="2000" dirty="0"/>
              <a:t>,</a:t>
            </a:r>
            <a:r>
              <a:rPr lang="ko-KR" altLang="en-US" sz="2000" dirty="0"/>
              <a:t> 발전 및 판매 부문에 경쟁을 도입하는 구조개편을 진행하였음</a:t>
            </a:r>
          </a:p>
          <a:p>
            <a:pPr lvl="0">
              <a:buChar char="•"/>
              <a:defRPr/>
            </a:pPr>
            <a:endParaRPr lang="ko-KR" altLang="en-US" sz="2000" dirty="0"/>
          </a:p>
          <a:p>
            <a:pPr lvl="0">
              <a:buChar char="•"/>
              <a:defRPr/>
            </a:pPr>
            <a:r>
              <a:rPr lang="ko-KR" altLang="en-US" sz="2000" dirty="0"/>
              <a:t>수요의 가격 비탄력성과 시간별 변동성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전력수요는 단기적으로 가격에 매우 비탄력적임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전력의 필수재적 성격과 소비자들의 실시간 가격 정보을 인식하고 소비 행태를 빠르게 조정하기 어렵기 때문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전력수요는 시간대별</a:t>
            </a:r>
            <a:r>
              <a:rPr lang="en-US" altLang="ko-KR" sz="2000" dirty="0"/>
              <a:t>,</a:t>
            </a:r>
            <a:r>
              <a:rPr lang="ko-KR" altLang="en-US" sz="2000" dirty="0"/>
              <a:t> 계절별로 크게 변동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발전기를 기저부하</a:t>
            </a:r>
            <a:r>
              <a:rPr lang="en-US" altLang="ko-KR" sz="2000" dirty="0"/>
              <a:t>,</a:t>
            </a:r>
            <a:r>
              <a:rPr lang="ko-KR" altLang="en-US" sz="2000" dirty="0"/>
              <a:t> 중간부하</a:t>
            </a:r>
            <a:r>
              <a:rPr lang="en-US" altLang="ko-KR" sz="2000" dirty="0"/>
              <a:t>,</a:t>
            </a:r>
            <a:r>
              <a:rPr lang="ko-KR" altLang="en-US" sz="2000" dirty="0"/>
              <a:t> 첨부두하로 나누어 운영되는 이유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77959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전력시장의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/>
              <a:t>동질적 상품의 지역별 가격 차이</a:t>
            </a:r>
          </a:p>
          <a:p>
            <a:pPr lvl="1">
              <a:buChar char="•"/>
              <a:defRPr/>
            </a:pPr>
            <a:r>
              <a:rPr lang="ko-KR" altLang="en-US" sz="2000"/>
              <a:t>전력은 기술적으로 동질적인 재화지만</a:t>
            </a:r>
            <a:r>
              <a:rPr lang="en-US" altLang="ko-KR" sz="2000"/>
              <a:t>,</a:t>
            </a:r>
            <a:r>
              <a:rPr lang="ko-KR" altLang="en-US" sz="2000"/>
              <a:t> 물리적인 송전망의 제약으로 인해 지역 간 차이가 발생</a:t>
            </a:r>
          </a:p>
          <a:p>
            <a:pPr lvl="2">
              <a:buChar char="•"/>
              <a:defRPr/>
            </a:pPr>
            <a:r>
              <a:rPr lang="ko-KR" altLang="en-US" sz="2000"/>
              <a:t>이는 송전 선로의 혼잡이나 전력 손실 때문임</a:t>
            </a:r>
          </a:p>
          <a:p>
            <a:pPr lvl="2">
              <a:buChar char="•"/>
              <a:defRPr/>
            </a:pPr>
            <a:r>
              <a:rPr lang="ko-KR" altLang="en-US" sz="2000"/>
              <a:t>미국</a:t>
            </a:r>
            <a:r>
              <a:rPr lang="en-US" altLang="ko-KR" sz="2000"/>
              <a:t>,</a:t>
            </a:r>
            <a:r>
              <a:rPr lang="ko-KR" altLang="en-US" sz="2000"/>
              <a:t> 유럽 등 주요 전력시장에서는 지역별 한계가격 체계를 도입하고 있음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1454894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 전력시장의 운영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전력시스템에 대한 기본 개념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전기는 전하의 흐름이나 전기장과 같은 물리적 현상을 의미하며</a:t>
            </a:r>
            <a:r>
              <a:rPr lang="en-US" altLang="ko-KR" sz="2000" dirty="0"/>
              <a:t>, </a:t>
            </a:r>
            <a:r>
              <a:rPr lang="ko-KR" altLang="en-US" sz="2000" dirty="0"/>
              <a:t>전기에너지는 이러한 전기를 통해 전달되거나 변환되는 에너지를 의미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발전기는 새로운 전하를 만들어 내는 것이 아니라</a:t>
            </a:r>
            <a:r>
              <a:rPr lang="en-US" altLang="ko-KR" sz="2000" dirty="0"/>
              <a:t>, </a:t>
            </a:r>
            <a:r>
              <a:rPr lang="ko-KR" altLang="en-US" sz="2000" dirty="0"/>
              <a:t>전하를 도체 내에서 이동시키는 방식으로 전류를 유도하며</a:t>
            </a:r>
            <a:r>
              <a:rPr lang="en-US" altLang="ko-KR" sz="2000" dirty="0"/>
              <a:t>, </a:t>
            </a:r>
            <a:r>
              <a:rPr lang="ko-KR" altLang="en-US" sz="2000" dirty="0"/>
              <a:t>이 과정을 통해 전기에너지를 생산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전력은 단위 시간당 전달되는 에너지의 양을 의미하며</a:t>
            </a:r>
            <a:r>
              <a:rPr lang="en-US" altLang="ko-KR" sz="2000" dirty="0"/>
              <a:t>, </a:t>
            </a:r>
            <a:r>
              <a:rPr lang="ko-KR" altLang="en-US" sz="2000" dirty="0"/>
              <a:t>와트</a:t>
            </a:r>
            <a:r>
              <a:rPr lang="en-US" altLang="ko-KR" sz="2000" dirty="0"/>
              <a:t>(watt)</a:t>
            </a:r>
            <a:r>
              <a:rPr lang="ko-KR" altLang="en-US" sz="2000" dirty="0"/>
              <a:t>단위로 표시</a:t>
            </a:r>
          </a:p>
          <a:p>
            <a:pPr lvl="2">
              <a:buChar char="•"/>
              <a:defRPr/>
            </a:pPr>
            <a:r>
              <a:rPr lang="en-US" altLang="ko-KR" sz="2000" dirty="0"/>
              <a:t>1</a:t>
            </a:r>
            <a:r>
              <a:rPr lang="ko-KR" altLang="en-US" sz="2000" dirty="0"/>
              <a:t>와트는 </a:t>
            </a:r>
            <a:r>
              <a:rPr lang="en-US" altLang="ko-KR" sz="2000" dirty="0"/>
              <a:t>1</a:t>
            </a:r>
            <a:r>
              <a:rPr lang="ko-KR" altLang="en-US" sz="2000" dirty="0"/>
              <a:t>초에 </a:t>
            </a:r>
            <a:r>
              <a:rPr lang="en-US" altLang="ko-KR" sz="2000" dirty="0"/>
              <a:t>1</a:t>
            </a:r>
            <a:r>
              <a:rPr lang="ko-KR" altLang="en-US" sz="2000" dirty="0"/>
              <a:t>줄</a:t>
            </a:r>
            <a:r>
              <a:rPr lang="en-US" altLang="ko-KR" sz="2000" dirty="0"/>
              <a:t>(Joule)</a:t>
            </a:r>
            <a:r>
              <a:rPr lang="ko-KR" altLang="en-US" sz="2000" dirty="0"/>
              <a:t>의 에너지가 전달되는 것을 의미</a:t>
            </a:r>
          </a:p>
          <a:p>
            <a:pPr lvl="2">
              <a:buChar char="•"/>
              <a:defRPr/>
            </a:pPr>
            <a:r>
              <a:rPr lang="en-US" altLang="ko-KR" sz="2000" dirty="0"/>
              <a:t>100</a:t>
            </a:r>
            <a:r>
              <a:rPr lang="ko-KR" altLang="en-US" sz="2000" dirty="0"/>
              <a:t>와트 전구를 </a:t>
            </a:r>
            <a:r>
              <a:rPr lang="en-US" altLang="ko-KR" sz="2000" dirty="0"/>
              <a:t>1</a:t>
            </a:r>
            <a:r>
              <a:rPr lang="ko-KR" altLang="en-US" sz="2000" dirty="0"/>
              <a:t>시간 동안 사용할 경우 </a:t>
            </a:r>
            <a:r>
              <a:rPr lang="en-US" altLang="ko-KR" sz="2000" dirty="0"/>
              <a:t>100</a:t>
            </a:r>
            <a:r>
              <a:rPr lang="ko-KR" altLang="en-US" sz="2000" dirty="0"/>
              <a:t>와트시</a:t>
            </a:r>
            <a:r>
              <a:rPr lang="en-US" altLang="ko-KR" sz="2000" dirty="0"/>
              <a:t>(100Wh)</a:t>
            </a:r>
            <a:r>
              <a:rPr lang="ko-KR" altLang="en-US" sz="2000" dirty="0"/>
              <a:t>의 전기에너지를 소비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전력은 생산 직후 변압기를 통해 높은 전압으로 변환된 후 송전망을 따라 수요지로 이동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높은 전압과 낮은 전류를 사용하는 것이 에너지 손실을 줄이는데 효과적임</a:t>
            </a:r>
          </a:p>
          <a:p>
            <a:pPr lvl="2">
              <a:buChar char="•"/>
              <a:defRPr/>
            </a:pPr>
            <a:endParaRPr lang="ko-KR" altLang="en-US" sz="2000" dirty="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1083162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 전력시장의 운영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전력시스템에 대한 기본 개념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부등률</a:t>
            </a:r>
            <a:r>
              <a:rPr lang="en-US" altLang="ko-KR" sz="2000" dirty="0"/>
              <a:t>(diversity factor)</a:t>
            </a:r>
            <a:r>
              <a:rPr lang="ko-KR" altLang="en-US" sz="2000" dirty="0"/>
              <a:t>는 전력 개별 최대 수요의 총합을 시스템 최대 부하로 나눈값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부등률이 높을수록 수요는 시간적으로 분산되어 시스템 효울성이 향상되고</a:t>
            </a:r>
            <a:r>
              <a:rPr lang="en-US" altLang="ko-KR" sz="2000" dirty="0"/>
              <a:t>,</a:t>
            </a:r>
            <a:r>
              <a:rPr lang="ko-KR" altLang="en-US" sz="2000" dirty="0"/>
              <a:t> 설비 투자가 절감됨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부하지속곡선</a:t>
            </a:r>
            <a:r>
              <a:rPr lang="en-US" altLang="ko-KR" sz="2000" dirty="0"/>
              <a:t>(load duration curve)</a:t>
            </a:r>
            <a:r>
              <a:rPr lang="ko-KR" altLang="en-US" sz="2000" dirty="0"/>
              <a:t>은 일년 동안의 일별 부하를 부하률 높은 순서로 재배열한 후</a:t>
            </a:r>
            <a:r>
              <a:rPr lang="en-US" altLang="ko-KR" sz="2000" dirty="0"/>
              <a:t>,</a:t>
            </a:r>
            <a:r>
              <a:rPr lang="ko-KR" altLang="en-US" sz="2000" dirty="0"/>
              <a:t>  부하가 지속되는 시간을 나타내는 곡선으로</a:t>
            </a:r>
            <a:r>
              <a:rPr lang="en-US" altLang="ko-KR" sz="2000" dirty="0"/>
              <a:t>,</a:t>
            </a:r>
            <a:r>
              <a:rPr lang="ko-KR" altLang="en-US" sz="2000" dirty="0"/>
              <a:t> 이를 통해 시스템이 특정 부하 이상을 얼마나 오랫동안 유지했는지 확인할 수 있음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가장 오랜 기간 동안 유지되는 낮은 부하를 기저부하</a:t>
            </a:r>
            <a:r>
              <a:rPr lang="en-US" altLang="ko-KR" sz="2000" dirty="0"/>
              <a:t>(base load), </a:t>
            </a:r>
            <a:r>
              <a:rPr lang="ko-KR" altLang="en-US" sz="2000" dirty="0"/>
              <a:t>가장</a:t>
            </a:r>
            <a:r>
              <a:rPr lang="en-US" altLang="ko-KR" sz="2000" dirty="0"/>
              <a:t> </a:t>
            </a:r>
            <a:r>
              <a:rPr lang="ko-KR" altLang="en-US" sz="2000" dirty="0"/>
              <a:t>짧은 시간 동안 나타나는 최대 수요를 첨두부하</a:t>
            </a:r>
            <a:r>
              <a:rPr lang="en-US" altLang="ko-KR" sz="2000" dirty="0"/>
              <a:t>(peak load), </a:t>
            </a:r>
            <a:r>
              <a:rPr lang="ko-KR" altLang="en-US" sz="2000" dirty="0"/>
              <a:t>이 둘 사이에서 점진적으로 증가하는 수요를 중간 부하</a:t>
            </a:r>
            <a:r>
              <a:rPr lang="en-US" altLang="ko-KR" sz="2000" dirty="0"/>
              <a:t>(intermediate load)</a:t>
            </a:r>
            <a:r>
              <a:rPr lang="ko-KR" altLang="en-US" sz="2000" dirty="0"/>
              <a:t>라 함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설비이용율</a:t>
            </a:r>
            <a:r>
              <a:rPr lang="en-US" altLang="ko-KR" sz="2000" dirty="0"/>
              <a:t>(capacity factor)</a:t>
            </a:r>
            <a:r>
              <a:rPr lang="ko-KR" altLang="en-US" sz="2000" dirty="0"/>
              <a:t>은 발전기가 </a:t>
            </a:r>
            <a:r>
              <a:rPr lang="en-US" altLang="ko-KR" sz="2000" dirty="0"/>
              <a:t>1</a:t>
            </a:r>
            <a:r>
              <a:rPr lang="ko-KR" altLang="en-US" sz="2000" dirty="0"/>
              <a:t>년 동안 실제로 생산한 전력량</a:t>
            </a:r>
            <a:r>
              <a:rPr lang="en-US" altLang="ko-KR" sz="2000" dirty="0"/>
              <a:t>(kWh)</a:t>
            </a:r>
            <a:r>
              <a:rPr lang="ko-KR" altLang="en-US" sz="2000" dirty="0"/>
              <a:t>을</a:t>
            </a:r>
            <a:r>
              <a:rPr lang="en-US" altLang="ko-KR" sz="2000" dirty="0"/>
              <a:t>,</a:t>
            </a:r>
            <a:r>
              <a:rPr lang="ko-KR" altLang="en-US" sz="2000" dirty="0"/>
              <a:t> 이론적인 최대 출력으로 </a:t>
            </a:r>
            <a:r>
              <a:rPr lang="en-US" altLang="ko-KR" sz="2000" dirty="0"/>
              <a:t>1</a:t>
            </a:r>
            <a:r>
              <a:rPr lang="ko-KR" altLang="en-US" sz="2000" dirty="0"/>
              <a:t>년 내내 운전했을 때 생산할 수  있는 전략량으로 나눈 값 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2220047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 전력시장의 운영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0" lvl="0" indent="0">
              <a:buNone/>
              <a:defRPr/>
            </a:pPr>
            <a:r>
              <a:rPr lang="ko-KR" altLang="en-US" sz="2000"/>
              <a:t> 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959304" y="1236822"/>
            <a:ext cx="2716257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10-1]</a:t>
            </a:r>
            <a:r>
              <a:rPr lang="ko-KR" altLang="en-US"/>
              <a:t> 부하지속곡선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34825" y="1642500"/>
            <a:ext cx="9000743" cy="406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16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 전력시장의 운영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ko-KR" altLang="en-US" sz="2000" dirty="0"/>
              <a:t>전력시스템의 운영과 균형 메카니즘</a:t>
            </a:r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전력은 저장이 어려운 재화이기 때문에 전력시스템은 매 순간 수요와 공급의 균형을 시간으로 유지해야 하는 고도의 운영 체계를 필요로 함</a:t>
            </a:r>
          </a:p>
          <a:p>
            <a:pPr marL="742950" lvl="1" indent="-342900">
              <a:buChar char="•"/>
              <a:defRPr/>
            </a:pPr>
            <a:endParaRPr lang="ko-KR" altLang="en-US" sz="2000" dirty="0"/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계통운영자의 기본 임무는 전력 수급의 실시간 균형을 유지하는 것임</a:t>
            </a:r>
            <a:r>
              <a:rPr lang="en-US" altLang="ko-KR" sz="2000" dirty="0"/>
              <a:t>.</a:t>
            </a:r>
            <a:r>
              <a:rPr lang="ko-KR" altLang="en-US" sz="2000" dirty="0"/>
              <a:t> 이를 위해 운영자는 발전사업자들의 입찰 데이터를 활용하여 시장청산을 수행하고</a:t>
            </a:r>
            <a:r>
              <a:rPr lang="en-US" altLang="ko-KR" sz="2000" dirty="0"/>
              <a:t>,</a:t>
            </a:r>
            <a:r>
              <a:rPr lang="ko-KR" altLang="en-US" sz="2000" dirty="0"/>
              <a:t> 급전 명령을 통해 각 발전기의 가동 여부 및 출력량을 결정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이 과정은 수요 예측</a:t>
            </a:r>
            <a:r>
              <a:rPr lang="en-US" altLang="ko-KR" sz="2000" dirty="0"/>
              <a:t>,</a:t>
            </a:r>
            <a:r>
              <a:rPr lang="ko-KR" altLang="en-US" sz="2000" dirty="0"/>
              <a:t> 송전망 제약</a:t>
            </a:r>
            <a:r>
              <a:rPr lang="en-US" altLang="ko-KR" sz="2000" dirty="0"/>
              <a:t>,</a:t>
            </a:r>
            <a:r>
              <a:rPr lang="ko-KR" altLang="en-US" sz="2000" dirty="0"/>
              <a:t> 발전기의 기술적 제약 등을 종합적으로 고려한 중앙집중형 최적화를 통해 달성</a:t>
            </a:r>
          </a:p>
          <a:p>
            <a:pPr marL="1143000" lvl="2" indent="-342900">
              <a:buChar char="•"/>
              <a:defRPr/>
            </a:pPr>
            <a:endParaRPr lang="ko-KR" altLang="en-US" sz="2000" dirty="0"/>
          </a:p>
          <a:p>
            <a:pPr marL="742950" lvl="1" indent="-342900">
              <a:buChar char="•"/>
              <a:defRPr/>
            </a:pPr>
            <a:endParaRPr lang="ko-KR" altLang="en-US" sz="2000" dirty="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1555716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 전력시장의 운영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ko-KR" altLang="en-US" sz="2000" dirty="0"/>
              <a:t>전력생산</a:t>
            </a:r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화력발전소는 석탄</a:t>
            </a:r>
            <a:r>
              <a:rPr lang="en-US" altLang="ko-KR" sz="2000" dirty="0"/>
              <a:t>,</a:t>
            </a:r>
            <a:r>
              <a:rPr lang="ko-KR" altLang="en-US" sz="2000" dirty="0"/>
              <a:t> 중유</a:t>
            </a:r>
            <a:r>
              <a:rPr lang="en-US" altLang="ko-KR" sz="2000" dirty="0"/>
              <a:t>,</a:t>
            </a:r>
            <a:r>
              <a:rPr lang="ko-KR" altLang="en-US" sz="2000" dirty="0"/>
              <a:t> 천연가스 등의 연료를 연소시켜 발생하는 열에너지로 고온</a:t>
            </a:r>
            <a:r>
              <a:rPr lang="en-US" altLang="ko-KR" sz="2000" dirty="0"/>
              <a:t>·</a:t>
            </a:r>
            <a:r>
              <a:rPr lang="ko-KR" altLang="en-US" sz="2000" dirty="0"/>
              <a:t>고압의 증기를 생산하고</a:t>
            </a:r>
            <a:r>
              <a:rPr lang="en-US" altLang="ko-KR" sz="2000" dirty="0"/>
              <a:t>,</a:t>
            </a:r>
            <a:r>
              <a:rPr lang="ko-KR" altLang="en-US" sz="2000" dirty="0"/>
              <a:t> 이 증기로 증기터빈 또는 가스터빈을 회전시켜 전기를 생산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복합화력발전소는 열효율을 높이기 위해 </a:t>
            </a:r>
            <a:r>
              <a:rPr lang="en-US" altLang="ko-KR" sz="2000" dirty="0"/>
              <a:t>1</a:t>
            </a:r>
            <a:r>
              <a:rPr lang="ko-KR" altLang="en-US" sz="2000" dirty="0"/>
              <a:t>차로 가스터빈을 이용한 발전을 수행한 후</a:t>
            </a:r>
            <a:r>
              <a:rPr lang="en-US" altLang="ko-KR" sz="2000" dirty="0"/>
              <a:t>,</a:t>
            </a:r>
            <a:r>
              <a:rPr lang="ko-KR" altLang="en-US" sz="2000" dirty="0"/>
              <a:t> 가스터빈에서 나오는 고온의 배기가스로 다시 증기를 발생시켜 증기터빈을 구동하는 </a:t>
            </a:r>
            <a:r>
              <a:rPr lang="en-US" altLang="ko-KR" sz="2000" dirty="0"/>
              <a:t>2</a:t>
            </a:r>
            <a:r>
              <a:rPr lang="ko-KR" altLang="en-US" sz="2000" dirty="0"/>
              <a:t>차 발전을 수행</a:t>
            </a:r>
          </a:p>
          <a:p>
            <a:pPr marL="742950" lvl="1" indent="-342900">
              <a:buChar char="•"/>
              <a:defRPr/>
            </a:pPr>
            <a:endParaRPr lang="ko-KR" altLang="en-US" sz="2000" dirty="0"/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원자력 발전은 우라늄 혹은 플루토늄의 핵분열 반응에서 방출되는 열에너지를 이용해 증기를 생산하고</a:t>
            </a:r>
            <a:r>
              <a:rPr lang="en-US" altLang="ko-KR" sz="2000" dirty="0"/>
              <a:t>,</a:t>
            </a:r>
            <a:r>
              <a:rPr lang="ko-KR" altLang="en-US" sz="2000" dirty="0"/>
              <a:t> 이릍 통해 터빈을 돌려 전력을 생산</a:t>
            </a:r>
          </a:p>
          <a:p>
            <a:pPr marL="742950" lvl="1" indent="-342900">
              <a:buChar char="•"/>
              <a:defRPr/>
            </a:pPr>
            <a:endParaRPr lang="ko-KR" altLang="en-US" sz="2000" dirty="0"/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수력발전은 높은 위치에 저장된 물이 낙하하면서 갖는 위치에너지를 수차</a:t>
            </a:r>
            <a:r>
              <a:rPr lang="en-US" altLang="ko-KR" sz="2000" dirty="0"/>
              <a:t>(water turbine)</a:t>
            </a:r>
            <a:r>
              <a:rPr lang="ko-KR" altLang="en-US" sz="2000" dirty="0"/>
              <a:t>를 통해 기계에너지로 전환하고</a:t>
            </a:r>
            <a:r>
              <a:rPr lang="en-US" altLang="ko-KR" sz="2000" dirty="0"/>
              <a:t>,</a:t>
            </a:r>
            <a:r>
              <a:rPr lang="ko-KR" altLang="en-US" sz="2000" dirty="0"/>
              <a:t> 이로부터 발전기를 구동해 전기를 생산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3837918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 전력시장의 운영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ko-KR" altLang="en-US" sz="2000" dirty="0"/>
              <a:t>급전</a:t>
            </a:r>
            <a:r>
              <a:rPr lang="en-US" altLang="ko-KR" sz="2000" dirty="0"/>
              <a:t>(dispatch)</a:t>
            </a:r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급전은 전력 시스템의 운용에서 가장 핵심적인 결정 과정 중 하나로</a:t>
            </a:r>
            <a:r>
              <a:rPr lang="en-US" altLang="ko-KR" sz="2000" dirty="0"/>
              <a:t>,</a:t>
            </a:r>
            <a:r>
              <a:rPr lang="ko-KR" altLang="en-US" sz="2000" dirty="0"/>
              <a:t> 일정 시간대에 어떤 발전기에서 얼마만큼의 전력을 생산할지를 결정하는 것</a:t>
            </a:r>
          </a:p>
          <a:p>
            <a:pPr marL="742950" lvl="1" indent="-342900">
              <a:buChar char="•"/>
              <a:defRPr/>
            </a:pPr>
            <a:endParaRPr lang="ko-KR" altLang="en-US" sz="2000" dirty="0"/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전통적으로 전력 시스템 운용 방식은 두가지 기본적 접근 방식이 존재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첫번째는 가능한 모든 발전기를 항상 운전하여 전체 부하와 에너지 수요를 충족시키는 방식</a:t>
            </a:r>
          </a:p>
          <a:p>
            <a:pPr marL="1600200" lvl="3" indent="-342900">
              <a:buChar char="•"/>
              <a:defRPr/>
            </a:pPr>
            <a:r>
              <a:rPr lang="ko-KR" altLang="en-US" sz="2000" dirty="0"/>
              <a:t>모든 발전기를 저부하 상태로 운전할 경우 효율성이 떨어지고 전체 연료 소비량과 운영비용이 증가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두번째 방식은 발전기를 선택적으로 운영하여 전체 시스템의 연료비용을 절감하는 경제급전</a:t>
            </a:r>
            <a:r>
              <a:rPr lang="en-US" altLang="ko-KR" sz="2000" dirty="0"/>
              <a:t>(economic dispatch)</a:t>
            </a:r>
          </a:p>
          <a:p>
            <a:pPr marL="1600200" lvl="3" indent="-342900">
              <a:buChar char="•"/>
              <a:defRPr/>
            </a:pPr>
            <a:r>
              <a:rPr lang="ko-KR" altLang="en-US" sz="2000" dirty="0"/>
              <a:t>발전기별 단위 발전비용을 기준으로 발전기를 순위화한 뒤</a:t>
            </a:r>
            <a:r>
              <a:rPr lang="en-US" altLang="ko-KR" sz="2000" dirty="0"/>
              <a:t>,</a:t>
            </a:r>
            <a:r>
              <a:rPr lang="ko-KR" altLang="en-US" sz="2000" dirty="0"/>
              <a:t> 가장 저렴한 발전기 부터 순차적으로 발전 출력을 배정하는 급전우선순위 방식</a:t>
            </a:r>
            <a:r>
              <a:rPr lang="en-US" altLang="ko-KR" sz="2000" dirty="0"/>
              <a:t>(merit order dispatch)</a:t>
            </a:r>
            <a:r>
              <a:rPr lang="ko-KR" altLang="en-US" sz="2000" dirty="0"/>
              <a:t> 많이 사용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25623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 전력시장의 운영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ko-KR" altLang="en-US" sz="2000" dirty="0"/>
              <a:t>발전기 기동 계획</a:t>
            </a:r>
            <a:r>
              <a:rPr lang="en-US" altLang="ko-KR" sz="2000" dirty="0"/>
              <a:t>(unit commitment)</a:t>
            </a:r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발전기 기동 계획은 급전뿐만 아니라 발전기의 기동</a:t>
            </a:r>
            <a:r>
              <a:rPr lang="en-US" altLang="ko-KR" sz="2000" dirty="0"/>
              <a:t>·</a:t>
            </a:r>
            <a:r>
              <a:rPr lang="ko-KR" altLang="en-US" sz="2000" dirty="0"/>
              <a:t>정지 여부</a:t>
            </a:r>
            <a:r>
              <a:rPr lang="en-US" altLang="ko-KR" sz="2000" dirty="0"/>
              <a:t>,</a:t>
            </a:r>
            <a:r>
              <a:rPr lang="ko-KR" altLang="en-US" sz="2000" dirty="0"/>
              <a:t> 최소운전시간</a:t>
            </a:r>
            <a:r>
              <a:rPr lang="en-US" altLang="ko-KR" sz="2000" dirty="0"/>
              <a:t>,</a:t>
            </a:r>
            <a:r>
              <a:rPr lang="ko-KR" altLang="en-US" sz="2000" dirty="0"/>
              <a:t>  기동 비용 등 시간에 따른 운전 상태의 변화 등의 문제를 다룸</a:t>
            </a:r>
          </a:p>
          <a:p>
            <a:pPr marL="742950" lvl="1" indent="-342900">
              <a:buChar char="•"/>
              <a:defRPr/>
            </a:pPr>
            <a:endParaRPr lang="ko-KR" altLang="en-US" sz="2000" dirty="0"/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발전기의 운영에는 다양한 제약 수반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각 발전기는 최대 출력 이상으로 운전할 수 없고</a:t>
            </a:r>
            <a:r>
              <a:rPr lang="en-US" altLang="ko-KR" sz="2000" dirty="0"/>
              <a:t>,</a:t>
            </a:r>
            <a:r>
              <a:rPr lang="ko-KR" altLang="en-US" sz="2000" dirty="0"/>
              <a:t> 일전 수준 이하로도 안정적인 운전이 어려우며</a:t>
            </a:r>
            <a:r>
              <a:rPr lang="en-US" altLang="ko-KR" sz="2000" dirty="0"/>
              <a:t>,</a:t>
            </a:r>
            <a:r>
              <a:rPr lang="ko-KR" altLang="en-US" sz="2000" dirty="0"/>
              <a:t> 한번 운전을 개시하면 최소운전시간</a:t>
            </a:r>
            <a:r>
              <a:rPr lang="en-US" altLang="ko-KR" sz="2000" dirty="0"/>
              <a:t>(minimum up-time)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만족해야 함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한번 정지한 이후에는 일정 시간 동안 재기동이 불가능한 최소정지시간 조건이 존재</a:t>
            </a:r>
          </a:p>
          <a:p>
            <a:pPr marL="742950" lvl="1" indent="-342900">
              <a:buChar char="•"/>
              <a:defRPr/>
            </a:pPr>
            <a:endParaRPr lang="ko-KR" altLang="en-US" sz="2000" dirty="0"/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발전기별 제약 외에도</a:t>
            </a:r>
            <a:r>
              <a:rPr lang="en-US" altLang="ko-KR" sz="2000" dirty="0"/>
              <a:t>,</a:t>
            </a:r>
            <a:r>
              <a:rPr lang="ko-KR" altLang="en-US" sz="2000" dirty="0"/>
              <a:t> 전력계통 전체의 제약 조건도 기동 계획에 반영되어야 함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수요 충족 조건</a:t>
            </a:r>
            <a:r>
              <a:rPr lang="en-US" altLang="ko-KR" sz="2000" dirty="0"/>
              <a:t>,</a:t>
            </a:r>
            <a:r>
              <a:rPr lang="ko-KR" altLang="en-US" sz="2000" dirty="0"/>
              <a:t> 시간대별 예비력 확보</a:t>
            </a:r>
            <a:r>
              <a:rPr lang="en-US" altLang="ko-KR" sz="2000" dirty="0"/>
              <a:t>,</a:t>
            </a:r>
            <a:r>
              <a:rPr lang="ko-KR" altLang="en-US" sz="2000" dirty="0"/>
              <a:t> 송전망의 물리적 제약도 고려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681209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 전력시장의 운영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ko-KR" altLang="en-US" sz="2000" dirty="0"/>
              <a:t>보조서비스</a:t>
            </a:r>
            <a:r>
              <a:rPr lang="en-US" altLang="ko-KR" sz="2000" dirty="0"/>
              <a:t>(Ancillary services)</a:t>
            </a:r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보조서비스는 전력 시스템의 안정성과 전력 품질을 유지하기 위해 필수적인 다양한 지원 기능을 의미하며 크게 세가지 기능으로 구분</a:t>
            </a:r>
          </a:p>
          <a:p>
            <a:pPr marL="742950" lvl="1" indent="-342900">
              <a:buChar char="•"/>
              <a:defRPr/>
            </a:pPr>
            <a:endParaRPr lang="ko-KR" altLang="en-US" sz="2000" dirty="0"/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주파수 조정</a:t>
            </a:r>
            <a:r>
              <a:rPr lang="en-US" altLang="ko-KR" sz="2000" dirty="0"/>
              <a:t>(frequency control)</a:t>
            </a:r>
          </a:p>
          <a:p>
            <a:pPr marL="1143000" lvl="2" indent="-342900">
              <a:buChar char="•"/>
              <a:defRPr/>
            </a:pPr>
            <a:r>
              <a:rPr lang="en-US" altLang="ko-KR" sz="2000" dirty="0"/>
              <a:t>1</a:t>
            </a:r>
            <a:r>
              <a:rPr lang="ko-KR" altLang="en-US" sz="2000" dirty="0"/>
              <a:t>차 주파수 조정은 발전기 조속기</a:t>
            </a:r>
            <a:r>
              <a:rPr lang="en-US" altLang="ko-KR" sz="2000" dirty="0"/>
              <a:t>(governor)</a:t>
            </a:r>
            <a:r>
              <a:rPr lang="ko-KR" altLang="en-US" sz="2000" dirty="0"/>
              <a:t>의 작동을 통해 자동적으로 수행되며 수초 내에 주파수 편차를 억제하는 억할을 함</a:t>
            </a:r>
          </a:p>
          <a:p>
            <a:pPr marL="1143000" lvl="2" indent="-342900">
              <a:buChar char="•"/>
              <a:defRPr/>
            </a:pPr>
            <a:r>
              <a:rPr lang="en-US" altLang="ko-KR" sz="2000" dirty="0"/>
              <a:t>2</a:t>
            </a:r>
            <a:r>
              <a:rPr lang="ko-KR" altLang="en-US" sz="2000" dirty="0"/>
              <a:t>차 조정은 자동주파수제어장치</a:t>
            </a:r>
            <a:r>
              <a:rPr lang="en-US" altLang="ko-KR" sz="2000" dirty="0"/>
              <a:t>(AGC) </a:t>
            </a:r>
            <a:r>
              <a:rPr lang="ko-KR" altLang="en-US" sz="2000" dirty="0"/>
              <a:t>또는</a:t>
            </a:r>
            <a:r>
              <a:rPr lang="en-US" altLang="ko-KR" sz="2000" dirty="0"/>
              <a:t> </a:t>
            </a:r>
            <a:r>
              <a:rPr lang="ko-KR" altLang="en-US" sz="2000" dirty="0"/>
              <a:t>에너지관리스시템</a:t>
            </a:r>
            <a:r>
              <a:rPr lang="en-US" altLang="ko-KR" sz="2000" dirty="0"/>
              <a:t>(EMS)</a:t>
            </a:r>
            <a:r>
              <a:rPr lang="ko-KR" altLang="en-US" sz="2000" dirty="0"/>
              <a:t>에 의해 수분 내에 목표 주파수로 복구하는 기능을 수행</a:t>
            </a:r>
          </a:p>
          <a:p>
            <a:pPr marL="1143000" lvl="2" indent="-342900">
              <a:buChar char="•"/>
              <a:defRPr/>
            </a:pPr>
            <a:r>
              <a:rPr lang="en-US" altLang="ko-KR" sz="2000" dirty="0"/>
              <a:t>3</a:t>
            </a:r>
            <a:r>
              <a:rPr lang="ko-KR" altLang="en-US" sz="2000" dirty="0"/>
              <a:t>차 조정은 수분에서 수십 분에 걸쳐</a:t>
            </a:r>
            <a:r>
              <a:rPr lang="en-US" altLang="ko-KR" sz="2000" dirty="0"/>
              <a:t>,</a:t>
            </a:r>
            <a:r>
              <a:rPr lang="ko-KR" altLang="en-US" sz="2000" dirty="0"/>
              <a:t> 예비력 자원을 동원해 주파수를 안정화하는 활동</a:t>
            </a:r>
          </a:p>
          <a:p>
            <a:pPr marL="742950" lvl="1" indent="-342900">
              <a:buChar char="•"/>
              <a:defRPr/>
            </a:pPr>
            <a:endParaRPr lang="ko-KR" altLang="en-US" sz="2000" dirty="0"/>
          </a:p>
          <a:p>
            <a:pPr marL="1143000" lvl="2" indent="-342900">
              <a:buChar char="•"/>
              <a:defRPr/>
            </a:pPr>
            <a:endParaRPr lang="en-US" altLang="ko-KR" sz="2000" dirty="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437720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 전력시장의 운영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ko-KR" altLang="en-US" sz="2000" dirty="0"/>
              <a:t>보조서비스</a:t>
            </a:r>
            <a:r>
              <a:rPr lang="en-US" altLang="ko-KR" sz="2000" dirty="0"/>
              <a:t>(Ancillary services)</a:t>
            </a:r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전압조정</a:t>
            </a:r>
            <a:r>
              <a:rPr lang="en-US" altLang="ko-KR" sz="2000" dirty="0"/>
              <a:t>(voltage control)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발전기는 송전선로 또는 부하 측에서 무효전력을 공급하거나 흡수함으로써 시스템 전압을 안정된 범위로 유지시킴</a:t>
            </a:r>
          </a:p>
          <a:p>
            <a:pPr marL="1600200" lvl="3" indent="-342900">
              <a:buChar char="•"/>
              <a:defRPr/>
            </a:pPr>
            <a:r>
              <a:rPr lang="ko-KR" altLang="en-US" sz="2000" dirty="0"/>
              <a:t>무효전력은 실제 일을 하지는 않지만</a:t>
            </a:r>
            <a:r>
              <a:rPr lang="en-US" altLang="ko-KR" sz="2000" dirty="0"/>
              <a:t>,</a:t>
            </a:r>
            <a:r>
              <a:rPr lang="ko-KR" altLang="en-US" sz="2000" dirty="0"/>
              <a:t> 전압 유지를 통해 유효전력이 효율적으로 전달되도록 돕는 역할을 함</a:t>
            </a:r>
          </a:p>
          <a:p>
            <a:pPr marL="1143000" lvl="2" indent="-342900">
              <a:buChar char="•"/>
              <a:defRPr/>
            </a:pPr>
            <a:endParaRPr lang="ko-KR" altLang="en-US" sz="2000" dirty="0"/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예비력</a:t>
            </a:r>
            <a:r>
              <a:rPr lang="en-US" altLang="ko-KR" sz="2000" dirty="0"/>
              <a:t>(reserve power)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예비력은 수요 급증</a:t>
            </a:r>
            <a:r>
              <a:rPr lang="en-US" altLang="ko-KR" sz="2000" dirty="0"/>
              <a:t>,</a:t>
            </a:r>
            <a:r>
              <a:rPr lang="ko-KR" altLang="en-US" sz="2000" dirty="0"/>
              <a:t> 발전기 고장 등 돌발적인 상황에 대비해 확보되는 추가적인 발전용량을 의미</a:t>
            </a:r>
          </a:p>
          <a:p>
            <a:pPr marL="1143000" lvl="2" indent="-342900">
              <a:buChar char="•"/>
              <a:defRPr/>
            </a:pPr>
            <a:endParaRPr lang="en-US" altLang="ko-KR" sz="2000" dirty="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2319094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 전력시장의 운영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ko-KR" altLang="en-US" sz="2000" dirty="0"/>
              <a:t>전원개발계획과 심사곡선</a:t>
            </a:r>
            <a:r>
              <a:rPr lang="en-US" altLang="ko-KR" sz="2000" dirty="0"/>
              <a:t>(generation planning and screening curve)</a:t>
            </a:r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전원개발계획은 전력시스템의 안정성과 지속가능성을 확보하기 위한 장기적인 시계에서의 전원 설비 계획임</a:t>
            </a:r>
          </a:p>
          <a:p>
            <a:pPr marL="742950" lvl="1" indent="-342900">
              <a:buChar char="•"/>
              <a:defRPr/>
            </a:pPr>
            <a:endParaRPr lang="ko-KR" altLang="en-US" sz="2000" dirty="0"/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전원개발계획의 도구 중 하나는 심사곡선</a:t>
            </a:r>
            <a:r>
              <a:rPr lang="en-US" altLang="ko-KR" sz="2000" dirty="0"/>
              <a:t>(screening curve)</a:t>
            </a:r>
            <a:r>
              <a:rPr lang="ko-KR" altLang="en-US" sz="2000" dirty="0"/>
              <a:t>임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심사곡선은 각 발전 기술의 고정비용과 변동비용을 기준으로 연간 이용률 또는 연간 운전시간을 축으로 설정해</a:t>
            </a:r>
            <a:r>
              <a:rPr lang="en-US" altLang="ko-KR" sz="2000" dirty="0"/>
              <a:t>,</a:t>
            </a:r>
            <a:r>
              <a:rPr lang="ko-KR" altLang="en-US" sz="2000" dirty="0"/>
              <a:t>  발전 기술 별 총비용의 구조를 시각적으로 나타냄</a:t>
            </a:r>
          </a:p>
          <a:p>
            <a:pPr marL="1143000" lvl="2" indent="-342900">
              <a:buChar char="•"/>
              <a:defRPr/>
            </a:pPr>
            <a:endParaRPr lang="ko-KR" altLang="en-US" sz="2000" dirty="0"/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심사곡선은  부하지속곡선과 결합되어 부하지속 곡선의 특정 구간별로 가장 경제적인 발전원을 식별할 수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이에 따라 기저부하</a:t>
            </a:r>
            <a:r>
              <a:rPr lang="en-US" altLang="ko-KR" sz="2000" dirty="0"/>
              <a:t>,</a:t>
            </a:r>
            <a:r>
              <a:rPr lang="ko-KR" altLang="en-US" sz="2000" dirty="0"/>
              <a:t> 중간부하</a:t>
            </a:r>
            <a:r>
              <a:rPr lang="en-US" altLang="ko-KR" sz="2000" dirty="0"/>
              <a:t>,</a:t>
            </a:r>
            <a:r>
              <a:rPr lang="ko-KR" altLang="en-US" sz="2000" dirty="0"/>
              <a:t> 첨두부하를 담당할 발전원 믹스를 구성하게 됨</a:t>
            </a:r>
          </a:p>
          <a:p>
            <a:pPr marL="1600200" lvl="3" indent="-342900">
              <a:buChar char="•"/>
              <a:defRPr/>
            </a:pPr>
            <a:r>
              <a:rPr lang="ko-KR" altLang="en-US" sz="2000" dirty="0"/>
              <a:t>예들들어</a:t>
            </a:r>
            <a:r>
              <a:rPr lang="en-US" altLang="ko-KR" sz="2000" dirty="0"/>
              <a:t>,</a:t>
            </a:r>
            <a:r>
              <a:rPr lang="ko-KR" altLang="en-US" sz="2000" dirty="0"/>
              <a:t> 기저부하는 원자력</a:t>
            </a:r>
            <a:r>
              <a:rPr lang="en-US" altLang="ko-KR" sz="2000" dirty="0"/>
              <a:t>·</a:t>
            </a:r>
            <a:r>
              <a:rPr lang="ko-KR" altLang="en-US" sz="2000" dirty="0"/>
              <a:t>석탄화력</a:t>
            </a:r>
            <a:r>
              <a:rPr lang="en-US" altLang="ko-KR" sz="2000" dirty="0"/>
              <a:t>,</a:t>
            </a:r>
            <a:r>
              <a:rPr lang="ko-KR" altLang="en-US" sz="2000" dirty="0"/>
              <a:t> 중간부하는 복합가스화력</a:t>
            </a:r>
            <a:r>
              <a:rPr lang="en-US" altLang="ko-KR" sz="2000" dirty="0"/>
              <a:t>,</a:t>
            </a:r>
            <a:r>
              <a:rPr lang="ko-KR" altLang="en-US" sz="2000" dirty="0"/>
              <a:t> 첨두부하에는 </a:t>
            </a:r>
            <a:r>
              <a:rPr lang="en-US" altLang="ko-KR" sz="2000" dirty="0"/>
              <a:t>LNG</a:t>
            </a:r>
            <a:r>
              <a:rPr lang="ko-KR" altLang="en-US" sz="2000" dirty="0"/>
              <a:t> 단주기 발전소나 배터리 저장장치</a:t>
            </a:r>
          </a:p>
          <a:p>
            <a:pPr marL="1143000" lvl="2" indent="-342900">
              <a:buChar char="•"/>
              <a:defRPr/>
            </a:pPr>
            <a:endParaRPr lang="ko-KR" altLang="en-US" sz="2000" dirty="0"/>
          </a:p>
          <a:p>
            <a:pPr marL="1143000" lvl="2" indent="-342900">
              <a:buChar char="•"/>
              <a:defRPr/>
            </a:pPr>
            <a:endParaRPr lang="ko-KR" altLang="en-US" sz="2000" dirty="0"/>
          </a:p>
          <a:p>
            <a:pPr marL="1143000" lvl="2" indent="-342900">
              <a:buChar char="•"/>
              <a:defRPr/>
            </a:pPr>
            <a:endParaRPr lang="en-US" altLang="ko-KR" sz="2000" dirty="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1964576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 전력시장의 운영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0" lvl="0" indent="0">
              <a:buNone/>
              <a:defRPr/>
            </a:pPr>
            <a:endParaRPr lang="en-US" altLang="ko-KR" sz="2000"/>
          </a:p>
          <a:p>
            <a:pPr marL="1143000" lvl="2" indent="-342900">
              <a:buChar char="•"/>
              <a:defRPr/>
            </a:pPr>
            <a:endParaRPr lang="en-US" altLang="ko-KR" sz="200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936624" y="1224870"/>
            <a:ext cx="4129133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10-2]</a:t>
            </a:r>
            <a:r>
              <a:rPr lang="ko-KR" altLang="en-US"/>
              <a:t> 전원개발계획과 심사곡선법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68842" y="1787089"/>
            <a:ext cx="9000743" cy="436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01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 전력시장의 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buChar char="•"/>
              <a:defRPr/>
            </a:pPr>
            <a:r>
              <a:rPr lang="ko-KR" altLang="en-US" sz="2000" dirty="0"/>
              <a:t>수직독점 모형</a:t>
            </a:r>
            <a:r>
              <a:rPr lang="en-US" altLang="ko-KR" sz="2000" dirty="0"/>
              <a:t>(vertically integrated </a:t>
            </a:r>
            <a:r>
              <a:rPr lang="en-US" altLang="ko-KR" sz="2000" dirty="0" err="1"/>
              <a:t>monoploy</a:t>
            </a:r>
            <a:r>
              <a:rPr lang="en-US" altLang="ko-KR" sz="2000" dirty="0"/>
              <a:t> model)</a:t>
            </a:r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전통적인 전력산업은 하나의 기업이 발전</a:t>
            </a:r>
            <a:r>
              <a:rPr lang="en-US" altLang="ko-KR" sz="2000" dirty="0"/>
              <a:t>,</a:t>
            </a:r>
            <a:r>
              <a:rPr lang="ko-KR" altLang="en-US" sz="2000" dirty="0"/>
              <a:t> 송전</a:t>
            </a:r>
            <a:r>
              <a:rPr lang="en-US" altLang="ko-KR" sz="2000" dirty="0"/>
              <a:t>,</a:t>
            </a:r>
            <a:r>
              <a:rPr lang="ko-KR" altLang="en-US" sz="2000" dirty="0"/>
              <a:t> 배전 전 과정을 일괄적으로 운영하는 수직통합 독점 구조 유지</a:t>
            </a:r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수직독점 구조를 옹호하는 이론적 배경은 </a:t>
            </a:r>
            <a:r>
              <a:rPr lang="en-US" altLang="ko-KR" sz="2000" dirty="0"/>
              <a:t>Williamson(1985)</a:t>
            </a:r>
            <a:r>
              <a:rPr lang="ko-KR" altLang="en-US" sz="2000" dirty="0"/>
              <a:t>이 제시한 거래비용 이론을 들 수 있음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발전과 송전 사이의 물리적 조정은 실시간으로 복합적으로 이루어 지기 때문에</a:t>
            </a:r>
            <a:r>
              <a:rPr lang="en-US" altLang="ko-KR" sz="2000" dirty="0"/>
              <a:t>,</a:t>
            </a:r>
            <a:r>
              <a:rPr lang="ko-KR" altLang="en-US" sz="2000" dirty="0"/>
              <a:t> 이를 별동의 조직이 수행할 경우 거래비용이 크게 증가</a:t>
            </a:r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수직통합은 장기간에 걸치 안정적인 전력공급과 산업 성장에 크게 기여</a:t>
            </a:r>
          </a:p>
          <a:p>
            <a:pPr marL="1143000" lvl="2" indent="-342900">
              <a:buChar char="•"/>
              <a:defRPr/>
            </a:pPr>
            <a:r>
              <a:rPr lang="ko-KR" altLang="en-US" sz="2000" dirty="0"/>
              <a:t>발전</a:t>
            </a:r>
            <a:r>
              <a:rPr lang="en-US" altLang="ko-KR" sz="2000" dirty="0"/>
              <a:t>,</a:t>
            </a:r>
            <a:r>
              <a:rPr lang="ko-KR" altLang="en-US" sz="2000" dirty="0"/>
              <a:t> 송전</a:t>
            </a:r>
            <a:r>
              <a:rPr lang="en-US" altLang="ko-KR" sz="2000" dirty="0"/>
              <a:t>,</a:t>
            </a:r>
            <a:r>
              <a:rPr lang="ko-KR" altLang="en-US" sz="2000" dirty="0"/>
              <a:t> 배전 등 각 단계의 활동과 투자 및 운영계획을 단일 조직이 통합적으로 조율할 수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이로 인해 큰 갈등 없이 시스템이 안정적으로 유지</a:t>
            </a:r>
          </a:p>
          <a:p>
            <a:pPr marL="742950" lvl="1" indent="-342900">
              <a:buChar char="•"/>
              <a:defRPr/>
            </a:pPr>
            <a:r>
              <a:rPr lang="ko-KR" altLang="en-US" sz="2000" dirty="0"/>
              <a:t>수직통합 독점 구조는 경쟁을 억제하여 기술혁신의 유인을 저하시킬 수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서비스 품질 개선이 지연되는 등 비효율을 초래할 가능성이 큼</a:t>
            </a:r>
          </a:p>
          <a:p>
            <a:pPr marL="1143000" lvl="2" indent="-342900">
              <a:buChar char="•"/>
              <a:defRPr/>
            </a:pPr>
            <a:endParaRPr lang="ko-KR" altLang="en-US" sz="2000" dirty="0"/>
          </a:p>
          <a:p>
            <a:pPr marL="1143000" lvl="2" indent="-342900">
              <a:buChar char="•"/>
              <a:defRPr/>
            </a:pPr>
            <a:endParaRPr lang="en-US" altLang="ko-KR" sz="2000" dirty="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843072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 전력시장의 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800100" lvl="2" indent="0">
              <a:buNone/>
              <a:defRPr/>
            </a:pPr>
            <a:r>
              <a:rPr lang="ko-KR" altLang="en-US" sz="2000"/>
              <a:t> 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834570" y="1224870"/>
            <a:ext cx="4238445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10-3]</a:t>
            </a:r>
            <a:r>
              <a:rPr lang="ko-KR" altLang="en-US"/>
              <a:t> 수직통합 독점 전력회사 모형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1907305"/>
            <a:ext cx="9000743" cy="396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0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 dirty="0"/>
              <a:t>4.</a:t>
            </a:r>
            <a:r>
              <a:rPr lang="ko-KR" altLang="en-US" sz="3200" dirty="0"/>
              <a:t> 전력시장의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defRPr/>
            </a:pPr>
            <a:r>
              <a:rPr lang="ko-KR" altLang="en-US" sz="2000" dirty="0"/>
              <a:t>독립발전사업자 모형</a:t>
            </a:r>
            <a:r>
              <a:rPr lang="en-US" altLang="ko-KR" sz="2000" dirty="0"/>
              <a:t>(independent power producer model: IPP)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독립발전사업자 모형은 전통적인 수직통합형 전력공급자가 아닌 민간 기업이 독립적으로 발전 설비를 보유하고 전력을 생산하여 도매시장이나 계약을 통해 판매하는 구조를 의미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독립발전사업자는 송전이나 배전망을 직접 소유하거나 운영하지 않으며</a:t>
            </a:r>
            <a:r>
              <a:rPr lang="en-US" altLang="ko-KR" sz="2000" dirty="0"/>
              <a:t>,</a:t>
            </a:r>
            <a:r>
              <a:rPr lang="ko-KR" altLang="en-US" sz="2000" dirty="0"/>
              <a:t> 발전 설비만을 보유한 채 시장에 참여하거나 특정 수요자와의 장기계약을 통해 수익을 창출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전력시장에서 독립발전사업자는 경쟁을 도입하는데 기여하며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전체 시스템의 비용 효울성을 높이고 전력가격을 하향 안정화 하는 효과를 가져올 수 있음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다양한 에너지원과 기술을 활용하는 독립발전사업자는 계통 내 자원의 다양성을 높이며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공급 안정성과 수요 대응력의 제고로 이어짐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20</a:t>
            </a:fld>
            <a:endParaRPr lang="ko-KR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3853210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전력시장의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457200" lvl="1" indent="0">
              <a:buNone/>
              <a:defRPr/>
            </a:pPr>
            <a:endParaRPr lang="ko-KR" altLang="en-US" sz="2000"/>
          </a:p>
          <a:p>
            <a:pPr lvl="1">
              <a:buChar char="•"/>
              <a:defRPr/>
            </a:pPr>
            <a:endParaRPr lang="ko-KR" altLang="en-US" sz="200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1015999" y="1417638"/>
            <a:ext cx="3447416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10-4]</a:t>
            </a:r>
            <a:r>
              <a:rPr lang="ko-KR" altLang="en-US"/>
              <a:t> 독립발전사업자 모델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2101850"/>
            <a:ext cx="9000743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83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전력시장의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 fontScale="92500" lnSpcReduction="10000"/>
          </a:bodyPr>
          <a:lstStyle/>
          <a:p>
            <a:pPr lvl="0">
              <a:buChar char="•"/>
              <a:defRPr/>
            </a:pPr>
            <a:r>
              <a:rPr lang="ko-KR" altLang="en-US" sz="2000" dirty="0"/>
              <a:t>단일 구매자 모형</a:t>
            </a:r>
            <a:r>
              <a:rPr lang="en-US" altLang="ko-KR" sz="2000" dirty="0"/>
              <a:t>(single buyer model)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단일 구매자 모형은 전력시장 구조에서 하나의 중앙 구매자가 다양한 발전사업자로 부터 전력을 구매하고</a:t>
            </a:r>
            <a:r>
              <a:rPr lang="en-US" altLang="ko-KR" sz="2000" dirty="0"/>
              <a:t>,</a:t>
            </a:r>
            <a:r>
              <a:rPr lang="ko-KR" altLang="en-US" sz="2000" dirty="0"/>
              <a:t> 이를 배전사업자 또는 최종소비자에게 판매하는 체계를 의미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단일 구매자 모형은 일반적으로 전력시장 경쟁이 충분히 성숙하지 않은 개발 도상국이나 체제 전환국가에서 도입되며</a:t>
            </a:r>
            <a:r>
              <a:rPr lang="en-US" altLang="ko-KR" sz="2000" dirty="0"/>
              <a:t>,</a:t>
            </a:r>
            <a:r>
              <a:rPr lang="ko-KR" altLang="en-US" sz="2000" dirty="0"/>
              <a:t> 완전한 시장 자유화 이전의 중간 단계 모델로 활용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단일 구매자는 규제기관 및 시장운영자와의 관계에서 거래 구조를 단순화시킬 수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발전사 입장에서도 복수의 전력회사와 거래하는 대신 단일 계약 상대와 협상함으로써 행정적 비용을 줄이고 계약관리의 효율성을 높일 수 있음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그러나 단일 구매자 모형은 경쟁 제한성과 비효율 문제를 동반할 수 있음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발전사업자는 단일 구매자와의 계약이 없으면 시장에 진입할 수 없기 때문에 신규 진입자에게는 진입 장벽이 높음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단일 구매자는 계약조건 결정에서 상대적으로 우월한 지위를 가지게 되며</a:t>
            </a:r>
            <a:r>
              <a:rPr lang="en-US" altLang="ko-KR" sz="2000" dirty="0"/>
              <a:t>,</a:t>
            </a:r>
            <a:r>
              <a:rPr lang="ko-KR" altLang="en-US" sz="2000" dirty="0"/>
              <a:t> 공급자의 수익성과 투자유인이 약화될 가능성도 존재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2396404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전력시장의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0" lvl="0" indent="0">
              <a:buNone/>
              <a:defRPr/>
            </a:pPr>
            <a:r>
              <a:rPr lang="ko-KR" altLang="en-US" sz="2000"/>
              <a:t> 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1197429" y="1236822"/>
            <a:ext cx="3274330" cy="36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10-5]</a:t>
            </a:r>
            <a:r>
              <a:rPr lang="ko-KR" altLang="en-US"/>
              <a:t> 단일 구매자 모형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1779270"/>
            <a:ext cx="9000743" cy="431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14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전력시장의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defRPr/>
            </a:pPr>
            <a:r>
              <a:rPr lang="ko-KR" altLang="en-US" sz="2000" dirty="0"/>
              <a:t>도매시장 경쟁 모형</a:t>
            </a:r>
            <a:endParaRPr lang="en-US" altLang="ko-KR" sz="2000" dirty="0"/>
          </a:p>
          <a:p>
            <a:pPr lvl="1">
              <a:buChar char="•"/>
              <a:defRPr/>
            </a:pPr>
            <a:r>
              <a:rPr lang="ko-KR" altLang="en-US" sz="2000" dirty="0"/>
              <a:t>중앙집중형 전력시장은 발전사업자와 수요자가 중앙시장</a:t>
            </a:r>
            <a:r>
              <a:rPr lang="en-US" altLang="ko-KR" sz="2000" dirty="0"/>
              <a:t>(</a:t>
            </a:r>
            <a:r>
              <a:rPr lang="ko-KR" altLang="en-US" sz="2000" dirty="0"/>
              <a:t>전력거래소 또는 독립계통운영자</a:t>
            </a:r>
            <a:r>
              <a:rPr lang="en-US" altLang="ko-KR" sz="2000" dirty="0"/>
              <a:t>)</a:t>
            </a:r>
            <a:r>
              <a:rPr lang="ko-KR" altLang="en-US" sz="2000" dirty="0"/>
              <a:t>에 참여하여 입찰</a:t>
            </a:r>
            <a:r>
              <a:rPr lang="en-US" altLang="ko-KR" sz="2000" dirty="0"/>
              <a:t>(offer)</a:t>
            </a:r>
            <a:r>
              <a:rPr lang="ko-KR" altLang="en-US" sz="2000" dirty="0"/>
              <a:t>와 응찰</a:t>
            </a:r>
            <a:r>
              <a:rPr lang="en-US" altLang="ko-KR" sz="2000" dirty="0"/>
              <a:t>(bid)</a:t>
            </a:r>
            <a:r>
              <a:rPr lang="ko-KR" altLang="en-US" sz="2000" dirty="0"/>
              <a:t>을 통해 전력을 거래하는 구조임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시장운영자는 모든 입찰 정보를 바탕으로 수요</a:t>
            </a:r>
            <a:r>
              <a:rPr lang="en-US" altLang="ko-KR" sz="2000" dirty="0"/>
              <a:t>-</a:t>
            </a:r>
            <a:r>
              <a:rPr lang="ko-KR" altLang="en-US" sz="2000" dirty="0"/>
              <a:t>공급 균형을 맟추고</a:t>
            </a:r>
            <a:r>
              <a:rPr lang="en-US" altLang="ko-KR" sz="2000" dirty="0"/>
              <a:t>,</a:t>
            </a:r>
            <a:r>
              <a:rPr lang="ko-KR" altLang="en-US" sz="2000" dirty="0"/>
              <a:t> 이에 따라 시스템 한계가격</a:t>
            </a:r>
            <a:r>
              <a:rPr lang="en-US" altLang="ko-KR" sz="2000" dirty="0"/>
              <a:t>(system marginal price: SMP) 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산정하여 정산함</a:t>
            </a:r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2">
              <a:buChar char="•"/>
              <a:defRPr/>
            </a:pPr>
            <a:r>
              <a:rPr lang="ko-KR" altLang="en-US" sz="2000" dirty="0"/>
              <a:t>강제풀</a:t>
            </a:r>
            <a:r>
              <a:rPr lang="en-US" altLang="ko-KR" sz="2000" dirty="0"/>
              <a:t>(gross pool)</a:t>
            </a:r>
            <a:r>
              <a:rPr lang="ko-KR" altLang="en-US" sz="2000" dirty="0"/>
              <a:t>은 모든 거래가 중앙시장에서 이루어져아 하는 구조인 반면</a:t>
            </a:r>
            <a:r>
              <a:rPr lang="en-US" altLang="ko-KR" sz="2000" dirty="0"/>
              <a:t>,</a:t>
            </a:r>
            <a:r>
              <a:rPr lang="ko-KR" altLang="en-US" sz="2000" dirty="0"/>
              <a:t> 자발적 풀</a:t>
            </a:r>
            <a:r>
              <a:rPr lang="en-US" altLang="ko-KR" sz="2000" dirty="0"/>
              <a:t>(net pool)</a:t>
            </a:r>
            <a:r>
              <a:rPr lang="ko-KR" altLang="en-US" sz="2000" dirty="0"/>
              <a:t>은 시장 참가자가 중앙시장 외에도 양자계약 등 직접 거래를 선택할 수 있는 유연한 구조를 의미</a:t>
            </a:r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2">
              <a:buChar char="•"/>
              <a:defRPr/>
            </a:pPr>
            <a:r>
              <a:rPr lang="ko-KR" altLang="en-US" sz="2000" dirty="0"/>
              <a:t>미국의 </a:t>
            </a:r>
            <a:r>
              <a:rPr lang="en-US" altLang="ko-KR" sz="2000" dirty="0"/>
              <a:t>PJM</a:t>
            </a:r>
            <a:r>
              <a:rPr lang="ko-KR" altLang="en-US" sz="2000" dirty="0"/>
              <a:t>과 </a:t>
            </a:r>
            <a:r>
              <a:rPr lang="en-US" altLang="ko-KR" sz="2000" dirty="0"/>
              <a:t>CAISO</a:t>
            </a:r>
            <a:r>
              <a:rPr lang="ko-KR" altLang="en-US" sz="2000" dirty="0"/>
              <a:t>가 대표적인 사례</a:t>
            </a:r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3387013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전력시장의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 lnSpcReduction="10000"/>
          </a:bodyPr>
          <a:lstStyle/>
          <a:p>
            <a:pPr lvl="0">
              <a:buChar char="•"/>
              <a:defRPr/>
            </a:pPr>
            <a:r>
              <a:rPr lang="ko-KR" altLang="en-US" sz="2000"/>
              <a:t>도매시장 경쟁 모형</a:t>
            </a:r>
            <a:endParaRPr lang="en-US" altLang="ko-KR" sz="2000"/>
          </a:p>
          <a:p>
            <a:pPr lvl="1">
              <a:buChar char="•"/>
              <a:defRPr/>
            </a:pPr>
            <a:r>
              <a:rPr lang="ko-KR" altLang="en-US" sz="2000"/>
              <a:t>분산형 전력시장은 전력의 거래가 발전사업자와 수요자 간의 쌍무계약</a:t>
            </a:r>
            <a:r>
              <a:rPr lang="en-US" altLang="ko-KR" sz="2000"/>
              <a:t>(bilateral contracts)</a:t>
            </a:r>
            <a:r>
              <a:rPr lang="ko-KR" altLang="en-US" sz="2000"/>
              <a:t>을 통해 개별적으로 체결되는 구조로</a:t>
            </a:r>
            <a:r>
              <a:rPr lang="en-US" altLang="ko-KR" sz="2000"/>
              <a:t>,</a:t>
            </a:r>
            <a:r>
              <a:rPr lang="ko-KR" altLang="en-US" sz="2000"/>
              <a:t>  중앙시장의 개입은 최소화됨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거래조건</a:t>
            </a:r>
            <a:r>
              <a:rPr lang="en-US" altLang="ko-KR" sz="2000"/>
              <a:t>-</a:t>
            </a:r>
            <a:r>
              <a:rPr lang="ko-KR" altLang="en-US" sz="2000"/>
              <a:t>가격</a:t>
            </a:r>
            <a:r>
              <a:rPr lang="en-US" altLang="ko-KR" sz="2000"/>
              <a:t>,</a:t>
            </a:r>
            <a:r>
              <a:rPr lang="ko-KR" altLang="en-US" sz="2000"/>
              <a:t> 물량</a:t>
            </a:r>
            <a:r>
              <a:rPr lang="en-US" altLang="ko-KR" sz="2000"/>
              <a:t>,</a:t>
            </a:r>
            <a:r>
              <a:rPr lang="ko-KR" altLang="en-US" sz="2000"/>
              <a:t> 기간</a:t>
            </a:r>
            <a:r>
              <a:rPr lang="en-US" altLang="ko-KR" sz="2000"/>
              <a:t>-</a:t>
            </a:r>
            <a:r>
              <a:rPr lang="ko-KR" altLang="en-US" sz="2000"/>
              <a:t>은</a:t>
            </a:r>
            <a:r>
              <a:rPr lang="en-US" altLang="ko-KR" sz="2000"/>
              <a:t> </a:t>
            </a:r>
            <a:r>
              <a:rPr lang="ko-KR" altLang="en-US" sz="2000"/>
              <a:t>계약 당사자 간 협상에 의해 결정되며</a:t>
            </a:r>
            <a:r>
              <a:rPr lang="en-US" altLang="ko-KR" sz="2000"/>
              <a:t>,</a:t>
            </a:r>
            <a:r>
              <a:rPr lang="ko-KR" altLang="en-US" sz="2000"/>
              <a:t> 시장운영자는 송전망의 안정적 운영과 실시간 물리적 수급 조정에 국한된 역할만 수행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분산형 시장은 참여자 간의 계약 유연성</a:t>
            </a:r>
            <a:r>
              <a:rPr lang="en-US" altLang="ko-KR" sz="2000"/>
              <a:t>,</a:t>
            </a:r>
            <a:r>
              <a:rPr lang="ko-KR" altLang="en-US" sz="2000"/>
              <a:t> 맞춤형 거래 구조</a:t>
            </a:r>
            <a:r>
              <a:rPr lang="en-US" altLang="ko-KR" sz="2000"/>
              <a:t>,</a:t>
            </a:r>
            <a:r>
              <a:rPr lang="ko-KR" altLang="en-US" sz="2000"/>
              <a:t> 위험 회피의 용이성이라는 장점을 가짐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그러나</a:t>
            </a:r>
            <a:r>
              <a:rPr lang="en-US" altLang="ko-KR" sz="2000"/>
              <a:t>,</a:t>
            </a:r>
            <a:r>
              <a:rPr lang="ko-KR" altLang="en-US" sz="2000"/>
              <a:t> 시장 전체의 가격신호가 불분명해지고</a:t>
            </a:r>
            <a:r>
              <a:rPr lang="en-US" altLang="ko-KR" sz="2000"/>
              <a:t>,</a:t>
            </a:r>
            <a:r>
              <a:rPr lang="ko-KR" altLang="en-US" sz="2000"/>
              <a:t> 계약조건이 비공개로 유지되기 때문에 투명성 저하</a:t>
            </a:r>
            <a:r>
              <a:rPr lang="en-US" altLang="ko-KR" sz="2000"/>
              <a:t>,</a:t>
            </a:r>
            <a:r>
              <a:rPr lang="ko-KR" altLang="en-US" sz="2000"/>
              <a:t> 정보 비대칭</a:t>
            </a:r>
            <a:r>
              <a:rPr lang="en-US" altLang="ko-KR" sz="2000"/>
              <a:t>,</a:t>
            </a:r>
            <a:r>
              <a:rPr lang="ko-KR" altLang="en-US" sz="2000"/>
              <a:t> 시장감시의 어려움이 존재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대표적인 사례는 미국의 </a:t>
            </a:r>
            <a:r>
              <a:rPr lang="en-US" altLang="ko-KR" sz="2000"/>
              <a:t>ERCOT(Electric Reliablity Council of Texas) </a:t>
            </a:r>
            <a:r>
              <a:rPr lang="ko-KR" altLang="en-US" sz="2000"/>
              <a:t>시장</a:t>
            </a:r>
          </a:p>
          <a:p>
            <a:pPr lvl="1">
              <a:buChar char="•"/>
              <a:defRPr/>
            </a:pPr>
            <a:endParaRPr lang="ko-KR" altLang="en-US" sz="200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510195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전력시장의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 lnSpcReduction="10000"/>
          </a:bodyPr>
          <a:lstStyle/>
          <a:p>
            <a:pPr lvl="0">
              <a:buChar char="•"/>
              <a:defRPr/>
            </a:pPr>
            <a:r>
              <a:rPr lang="ko-KR" altLang="en-US" sz="2000" dirty="0"/>
              <a:t>소매시장 경쟁 모형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소매시장 경쟁 모형은 소비자가 다양한 전력 공급자 중에서 자유롭게 선택할 수 있는 권한을 가지는 전력시장 구조를 의미하며</a:t>
            </a:r>
            <a:r>
              <a:rPr lang="en-US" altLang="ko-KR" sz="2000" dirty="0"/>
              <a:t>,</a:t>
            </a:r>
            <a:r>
              <a:rPr lang="ko-KR" altLang="en-US" sz="2000" dirty="0"/>
              <a:t> 공급자간 가격</a:t>
            </a:r>
            <a:r>
              <a:rPr lang="en-US" altLang="ko-KR" sz="2000" dirty="0"/>
              <a:t>·</a:t>
            </a:r>
            <a:r>
              <a:rPr lang="ko-KR" altLang="en-US" sz="2000" dirty="0"/>
              <a:t>서비스 경쟁을 통해 소비자 후생과 시장 효율성을 동시에 제고하는 것을 목표로 함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소매시장 경쟁이 성공적으로 작동하기 위해서는 발전</a:t>
            </a:r>
            <a:r>
              <a:rPr lang="en-US" altLang="ko-KR" sz="2000" dirty="0"/>
              <a:t>,</a:t>
            </a:r>
            <a:r>
              <a:rPr lang="ko-KR" altLang="en-US" sz="2000" dirty="0"/>
              <a:t> 도매공급</a:t>
            </a:r>
            <a:r>
              <a:rPr lang="en-US" altLang="ko-KR" sz="2000" dirty="0"/>
              <a:t>,</a:t>
            </a:r>
            <a:r>
              <a:rPr lang="ko-KR" altLang="en-US" sz="2000" dirty="0"/>
              <a:t> 소매공급 부문이 송전 및 배전망 운영자와 명확히 분리되어야 하며</a:t>
            </a:r>
            <a:r>
              <a:rPr lang="en-US" altLang="ko-KR" sz="2000" dirty="0"/>
              <a:t>,</a:t>
            </a:r>
            <a:r>
              <a:rPr lang="ko-KR" altLang="en-US" sz="2000" dirty="0"/>
              <a:t> 모든 소매공급자가 공정하게 전력망에 접근할  수 있는 비차별적인 전력망 이용권</a:t>
            </a:r>
            <a:r>
              <a:rPr lang="en-US" altLang="ko-KR" sz="2000" dirty="0"/>
              <a:t>(non-</a:t>
            </a:r>
            <a:r>
              <a:rPr lang="en-US" altLang="ko-KR" sz="2000" dirty="0" err="1"/>
              <a:t>discriminary</a:t>
            </a:r>
            <a:r>
              <a:rPr lang="en-US" altLang="ko-KR" sz="2000" dirty="0"/>
              <a:t> access)</a:t>
            </a:r>
            <a:r>
              <a:rPr lang="ko-KR" altLang="en-US" sz="2000" dirty="0"/>
              <a:t>이 보장되어야 함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소매경쟁이 활성화되면</a:t>
            </a:r>
            <a:r>
              <a:rPr lang="en-US" altLang="ko-KR" sz="2000" dirty="0"/>
              <a:t>,</a:t>
            </a:r>
            <a:r>
              <a:rPr lang="ko-KR" altLang="en-US" sz="2000" dirty="0"/>
              <a:t> 공급자간 가격 경쟁이 촉진되고</a:t>
            </a:r>
            <a:r>
              <a:rPr lang="en-US" altLang="ko-KR" sz="2000" dirty="0"/>
              <a:t>,</a:t>
            </a:r>
            <a:r>
              <a:rPr lang="ko-KR" altLang="en-US" sz="2000" dirty="0"/>
              <a:t> 다양한 요금제</a:t>
            </a:r>
            <a:r>
              <a:rPr lang="en-US" altLang="ko-KR" sz="2000" dirty="0"/>
              <a:t>,</a:t>
            </a:r>
            <a:r>
              <a:rPr lang="ko-KR" altLang="en-US" sz="2000" dirty="0"/>
              <a:t> 결제 옵션</a:t>
            </a:r>
            <a:r>
              <a:rPr lang="en-US" altLang="ko-KR" sz="2000" dirty="0"/>
              <a:t>,</a:t>
            </a:r>
            <a:r>
              <a:rPr lang="ko-KR" altLang="en-US" sz="2000" dirty="0"/>
              <a:t> 에너지 효율성 프로그램</a:t>
            </a:r>
            <a:r>
              <a:rPr lang="en-US" altLang="ko-KR" sz="2000" dirty="0"/>
              <a:t>,</a:t>
            </a:r>
            <a:r>
              <a:rPr lang="ko-KR" altLang="en-US" sz="2000" dirty="0"/>
              <a:t> 신재생에너지 연계 서비스 등 소비자 중심의 다양한 서비스가 도입될 수 있음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하지만 소매지장 경쟁은 제도적으로 복잡하며</a:t>
            </a:r>
            <a:r>
              <a:rPr lang="en-US" altLang="ko-KR" sz="2000" dirty="0"/>
              <a:t>,</a:t>
            </a:r>
            <a:r>
              <a:rPr lang="ko-KR" altLang="en-US" sz="2000" dirty="0"/>
              <a:t> 소비자 보호 및 공정 경쟁 유지를 위한 정교한 설계가 필요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1074223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전력시장의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0" lvl="0" indent="0">
              <a:buNone/>
              <a:defRPr/>
            </a:pPr>
            <a:r>
              <a:rPr lang="ko-KR" altLang="en-US" sz="2000"/>
              <a:t> 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endParaRPr lang="ko-KR" altLang="en-US" sz="2000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857250" y="1336902"/>
            <a:ext cx="3215640" cy="3661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10-6]</a:t>
            </a:r>
            <a:r>
              <a:rPr lang="ko-KR" altLang="en-US"/>
              <a:t> 소매시장 경쟁모형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95628" y="1816590"/>
            <a:ext cx="9000743" cy="389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449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 dirty="0"/>
              <a:t>5.</a:t>
            </a:r>
            <a:r>
              <a:rPr lang="ko-KR" altLang="en-US" sz="3200" dirty="0"/>
              <a:t> 전 세계 전력생산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전 세계 전력 생산량은 </a:t>
            </a:r>
            <a:r>
              <a:rPr lang="en-US" altLang="ko-KR" sz="2000" dirty="0"/>
              <a:t>29,924.8 </a:t>
            </a:r>
            <a:r>
              <a:rPr lang="en-US" altLang="ko-KR" sz="2000" dirty="0" err="1"/>
              <a:t>TWh</a:t>
            </a:r>
            <a:r>
              <a:rPr lang="ko-KR" altLang="en-US" sz="2000" dirty="0"/>
              <a:t>로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2013</a:t>
            </a:r>
            <a:r>
              <a:rPr lang="ko-KR" altLang="en-US" sz="2000" dirty="0"/>
              <a:t>년의 </a:t>
            </a:r>
            <a:r>
              <a:rPr lang="en-US" altLang="ko-KR" sz="2000" dirty="0"/>
              <a:t>23,469.4TWh</a:t>
            </a:r>
            <a:r>
              <a:rPr lang="ko-KR" altLang="en-US" sz="2000" dirty="0"/>
              <a:t>에 비해 </a:t>
            </a:r>
            <a:r>
              <a:rPr lang="en-US" altLang="ko-KR" sz="2000" dirty="0"/>
              <a:t>6,455.3TWh</a:t>
            </a:r>
            <a:r>
              <a:rPr lang="ko-KR" altLang="en-US" sz="2000" dirty="0"/>
              <a:t> 증가하였음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이러한 증가세는 중국을 중심으로 한 아시아태평양 지역의 전력생산 증가가 주요 원인으로 작용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아시아태평양 지역은 동 기간 전체 전력 생산 증가분의 </a:t>
            </a:r>
            <a:r>
              <a:rPr lang="en-US" altLang="ko-KR" sz="2000" dirty="0"/>
              <a:t>70%</a:t>
            </a:r>
            <a:r>
              <a:rPr lang="ko-KR" altLang="en-US" sz="2000" dirty="0"/>
              <a:t> 이상을 차지하고 있음</a:t>
            </a:r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342750" lvl="0" indent="-285600">
              <a:buChar char="•"/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기준</a:t>
            </a:r>
            <a:r>
              <a:rPr lang="en-US" altLang="ko-KR" sz="2000" dirty="0"/>
              <a:t>,</a:t>
            </a:r>
            <a:r>
              <a:rPr lang="ko-KR" altLang="en-US" sz="2000" dirty="0"/>
              <a:t> 아시아태평양 지역은 전 세계 전력생산의 </a:t>
            </a:r>
            <a:r>
              <a:rPr lang="en-US" altLang="ko-KR" sz="2000" dirty="0"/>
              <a:t>51%</a:t>
            </a:r>
            <a:r>
              <a:rPr lang="ko-KR" altLang="en-US" sz="2000" dirty="0"/>
              <a:t>를 차지하며 가장 큰 전력 생산 지역이 되었음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중국 </a:t>
            </a:r>
            <a:r>
              <a:rPr lang="en-US" altLang="ko-KR" sz="2000" dirty="0"/>
              <a:t>31.6%,</a:t>
            </a:r>
            <a:r>
              <a:rPr lang="ko-KR" altLang="en-US" sz="2000" dirty="0"/>
              <a:t>  인도 </a:t>
            </a:r>
            <a:r>
              <a:rPr lang="en-US" altLang="ko-KR" sz="2000" dirty="0"/>
              <a:t>6.5%,</a:t>
            </a:r>
            <a:r>
              <a:rPr lang="ko-KR" altLang="en-US" sz="2000" dirty="0"/>
              <a:t> 일본 </a:t>
            </a:r>
            <a:r>
              <a:rPr lang="en-US" altLang="ko-KR" sz="2000" dirty="0"/>
              <a:t>3.4%,</a:t>
            </a:r>
            <a:r>
              <a:rPr lang="ko-KR" altLang="en-US" sz="2000" dirty="0"/>
              <a:t> 한국 </a:t>
            </a:r>
            <a:r>
              <a:rPr lang="en-US" altLang="ko-KR" sz="2000" dirty="0"/>
              <a:t>2.1%</a:t>
            </a:r>
          </a:p>
          <a:p>
            <a:pPr marL="342750" lvl="0" indent="-285600">
              <a:buChar char="•"/>
              <a:defRPr/>
            </a:pPr>
            <a:endParaRPr lang="en-US" altLang="ko-KR" sz="2000" dirty="0"/>
          </a:p>
          <a:p>
            <a:pPr marL="342750" lvl="0" indent="-285600">
              <a:buChar char="•"/>
              <a:defRPr/>
            </a:pPr>
            <a:r>
              <a:rPr lang="ko-KR" altLang="en-US" sz="2000" dirty="0"/>
              <a:t>북미는 미국</a:t>
            </a:r>
            <a:r>
              <a:rPr lang="en-US" altLang="ko-KR" sz="2000" dirty="0"/>
              <a:t>(15.0%)</a:t>
            </a:r>
            <a:r>
              <a:rPr lang="ko-KR" altLang="en-US" sz="2000" dirty="0"/>
              <a:t>을 중심으로 전 세계 전력생산의 </a:t>
            </a:r>
            <a:r>
              <a:rPr lang="en-US" altLang="ko-KR" sz="2000" dirty="0"/>
              <a:t>18.3%</a:t>
            </a:r>
            <a:r>
              <a:rPr lang="ko-KR" altLang="en-US" sz="2000" dirty="0"/>
              <a:t>를 차지하고 있음</a:t>
            </a:r>
          </a:p>
          <a:p>
            <a:pPr marL="342750" lvl="0" indent="-285600">
              <a:buChar char="•"/>
              <a:defRPr/>
            </a:pPr>
            <a:r>
              <a:rPr lang="ko-KR" altLang="en-US" sz="2000" dirty="0"/>
              <a:t>유럽은 </a:t>
            </a:r>
            <a:r>
              <a:rPr lang="en-US" altLang="ko-KR" sz="2000" dirty="0"/>
              <a:t>12.7%,</a:t>
            </a:r>
            <a:r>
              <a:rPr lang="ko-KR" altLang="en-US" sz="2000" dirty="0"/>
              <a:t> 러이아와 중동은 각각 </a:t>
            </a:r>
            <a:r>
              <a:rPr lang="en-US" altLang="ko-KR" sz="2000" dirty="0"/>
              <a:t>5.0%,</a:t>
            </a:r>
            <a:r>
              <a:rPr lang="ko-KR" altLang="en-US" sz="2000" dirty="0"/>
              <a:t> 아프리카는 </a:t>
            </a:r>
            <a:r>
              <a:rPr lang="en-US" altLang="ko-KR" sz="2000" dirty="0"/>
              <a:t>3.0%</a:t>
            </a:r>
            <a:r>
              <a:rPr lang="ko-KR" altLang="en-US" sz="2000" dirty="0"/>
              <a:t> 수준을 기록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28</a:t>
            </a:fld>
            <a:endParaRPr lang="ko-KR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1768778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전 세계 전력생산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57150" lvl="0" indent="0">
              <a:buNone/>
              <a:defRPr/>
            </a:pPr>
            <a:r>
              <a:rPr lang="en-US" altLang="ko-KR" sz="2000"/>
              <a:t>  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868589" y="1417638"/>
            <a:ext cx="5337901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10-7]</a:t>
            </a:r>
            <a:r>
              <a:rPr lang="ko-KR" altLang="en-US"/>
              <a:t>  전 세계 전력생산</a:t>
            </a:r>
            <a:r>
              <a:rPr lang="en-US" altLang="ko-KR"/>
              <a:t>(2013-2023,</a:t>
            </a:r>
            <a:r>
              <a:rPr lang="ko-KR" altLang="en-US"/>
              <a:t> 단위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TWh)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1944932"/>
            <a:ext cx="9000743" cy="397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33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57150" lvl="0" indent="0">
              <a:buNone/>
              <a:defRPr/>
            </a:pPr>
            <a:r>
              <a:rPr lang="en-US" altLang="ko-KR" sz="2000"/>
              <a:t>  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496207" y="0"/>
            <a:ext cx="6118952" cy="3639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</a:t>
            </a:r>
            <a:r>
              <a:rPr lang="en-US" altLang="ko-KR"/>
              <a:t>10-1]</a:t>
            </a:r>
            <a:r>
              <a:rPr lang="ko-KR" altLang="en-US"/>
              <a:t>  </a:t>
            </a:r>
            <a:r>
              <a:rPr lang="en-US" altLang="ko-KR"/>
              <a:t>2023</a:t>
            </a:r>
            <a:r>
              <a:rPr lang="ko-KR" altLang="en-US"/>
              <a:t>년 지역별 국가별 전력생산 비중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:TWh, %)</a:t>
            </a:r>
          </a:p>
        </p:txBody>
      </p:sp>
      <p:sp>
        <p:nvSpPr>
          <p:cNvPr id="2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 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/>
        </p:nvGraphicFramePr>
        <p:xfrm>
          <a:off x="972912" y="363900"/>
          <a:ext cx="9187084" cy="585547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084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3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9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9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지역 및 국가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2013-23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 비중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5,482.0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캐나다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633.2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4,494.0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1,464.5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브라질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710.0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3,805.1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프랑스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519.7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-1.0%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독일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513.7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-2.1%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1,524.8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러시아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1,178.2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1,463.4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902.9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15,282.0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9,456.4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1,958.2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일본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1,013.3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한국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617.9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666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29,924.8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3748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전 세계 전력생산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en-US" altLang="ko-KR" sz="2000"/>
              <a:t>2023</a:t>
            </a:r>
            <a:r>
              <a:rPr lang="ko-KR" altLang="en-US" sz="2000"/>
              <a:t>년 전 세계 전력생산의 에너지원별 비중을 살펴보면 석탄 </a:t>
            </a:r>
            <a:r>
              <a:rPr lang="en-US" altLang="ko-KR" sz="2000"/>
              <a:t>35.1%,</a:t>
            </a:r>
            <a:r>
              <a:rPr lang="ko-KR" altLang="en-US" sz="2000"/>
              <a:t> 천연가스 </a:t>
            </a:r>
            <a:r>
              <a:rPr lang="en-US" altLang="ko-KR" sz="2000"/>
              <a:t>22.5%,</a:t>
            </a:r>
            <a:r>
              <a:rPr lang="ko-KR" altLang="en-US" sz="2000"/>
              <a:t> 석유 </a:t>
            </a:r>
            <a:r>
              <a:rPr lang="en-US" altLang="ko-KR" sz="2000"/>
              <a:t>2.3%</a:t>
            </a:r>
            <a:r>
              <a:rPr lang="ko-KR" altLang="en-US" sz="2000"/>
              <a:t>를 포함한 화석연료의 총 비중은 </a:t>
            </a:r>
            <a:r>
              <a:rPr lang="en-US" altLang="ko-KR" sz="2000"/>
              <a:t>59.9%</a:t>
            </a:r>
            <a:r>
              <a:rPr lang="ko-KR" altLang="en-US" sz="2000"/>
              <a:t>에 달하고 있음</a:t>
            </a:r>
            <a:r>
              <a:rPr lang="en-US" altLang="ko-KR" sz="2000"/>
              <a:t>.</a:t>
            </a:r>
            <a:r>
              <a:rPr lang="ko-KR" altLang="en-US" sz="2000"/>
              <a:t> 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수력과 기타 재생에너지의 합계는 </a:t>
            </a:r>
            <a:r>
              <a:rPr lang="en-US" altLang="ko-KR" sz="2000"/>
              <a:t>30.9%,</a:t>
            </a:r>
            <a:r>
              <a:rPr lang="ko-KR" altLang="en-US" sz="2000"/>
              <a:t> 원자력은 </a:t>
            </a:r>
            <a:r>
              <a:rPr lang="en-US" altLang="ko-KR" sz="2000"/>
              <a:t>9.1%</a:t>
            </a:r>
            <a:r>
              <a:rPr lang="ko-KR" altLang="en-US" sz="2000"/>
              <a:t>로 나타나고 있음</a:t>
            </a:r>
          </a:p>
          <a:p>
            <a:pPr marL="742800" lvl="1" indent="-285600">
              <a:buChar char="•"/>
              <a:defRPr/>
            </a:pPr>
            <a:endParaRPr lang="ko-KR" altLang="en-US" sz="2000"/>
          </a:p>
          <a:p>
            <a:pPr marL="342750" lvl="0" indent="-285600">
              <a:buChar char="•"/>
              <a:defRPr/>
            </a:pPr>
            <a:r>
              <a:rPr lang="ko-KR" altLang="en-US" sz="2000"/>
              <a:t>주요 전력 생산국의 전원 믹스에 큰 차이가 있음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천연가스 자원이 풍부한 미국과 러시아는 전력생산에서 천연가스가 각각 </a:t>
            </a:r>
            <a:r>
              <a:rPr lang="en-US" altLang="ko-KR" sz="2000"/>
              <a:t>43.1%,</a:t>
            </a:r>
            <a:r>
              <a:rPr lang="ko-KR" altLang="en-US" sz="2000"/>
              <a:t> </a:t>
            </a:r>
            <a:r>
              <a:rPr lang="en-US" altLang="ko-KR" sz="2000"/>
              <a:t>44.8%</a:t>
            </a:r>
            <a:r>
              <a:rPr lang="ko-KR" altLang="en-US" sz="2000"/>
              <a:t>를 차지하고 있음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중국과 인도는 석탄발전의 비중이 매우 높아 각각 </a:t>
            </a:r>
            <a:r>
              <a:rPr lang="en-US" altLang="ko-KR" sz="2000"/>
              <a:t>60.8%,</a:t>
            </a:r>
            <a:r>
              <a:rPr lang="ko-KR" altLang="en-US" sz="2000"/>
              <a:t> </a:t>
            </a:r>
            <a:r>
              <a:rPr lang="en-US" altLang="ko-KR" sz="2000"/>
              <a:t>75.1%</a:t>
            </a:r>
            <a:r>
              <a:rPr lang="ko-KR" altLang="en-US" sz="2000"/>
              <a:t>에 달함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수력자원이 풍부한 캐나다와 브라질은 재생에너지 비중이 각각 </a:t>
            </a:r>
            <a:r>
              <a:rPr lang="en-US" altLang="ko-KR" sz="2000"/>
              <a:t>60.5%,</a:t>
            </a:r>
            <a:r>
              <a:rPr lang="ko-KR" altLang="en-US" sz="2000"/>
              <a:t> </a:t>
            </a:r>
            <a:r>
              <a:rPr lang="en-US" altLang="ko-KR" sz="2000"/>
              <a:t>89.0%</a:t>
            </a:r>
            <a:r>
              <a:rPr lang="ko-KR" altLang="en-US" sz="2000"/>
              <a:t>로 매우 높음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프랑스는 원자력이 </a:t>
            </a:r>
            <a:r>
              <a:rPr lang="en-US" altLang="ko-KR" sz="2000"/>
              <a:t>65.1%,</a:t>
            </a:r>
            <a:r>
              <a:rPr lang="ko-KR" altLang="en-US" sz="2000"/>
              <a:t>  재생에너지가 </a:t>
            </a:r>
            <a:r>
              <a:rPr lang="en-US" altLang="ko-KR" sz="2000"/>
              <a:t>26.9%</a:t>
            </a:r>
            <a:r>
              <a:rPr lang="ko-KR" altLang="en-US" sz="2000"/>
              <a:t>를 치하고 있음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/>
              <a:t>한국은 천연가스 </a:t>
            </a:r>
            <a:r>
              <a:rPr lang="en-US" altLang="ko-KR" sz="2000"/>
              <a:t>27.0%,</a:t>
            </a:r>
            <a:r>
              <a:rPr lang="ko-KR" altLang="en-US" sz="2000"/>
              <a:t> 석탄 </a:t>
            </a:r>
            <a:r>
              <a:rPr lang="en-US" altLang="ko-KR" sz="2000"/>
              <a:t>32.8%,</a:t>
            </a:r>
            <a:r>
              <a:rPr lang="ko-KR" altLang="en-US" sz="2000"/>
              <a:t> 원자력 </a:t>
            </a:r>
            <a:r>
              <a:rPr lang="en-US" altLang="ko-KR" sz="2000"/>
              <a:t>29.2%</a:t>
            </a:r>
            <a:r>
              <a:rPr lang="ko-KR" altLang="en-US" sz="2000"/>
              <a:t>로 세가지 주력 에너지원이 균형을 이루고 있으며</a:t>
            </a:r>
            <a:r>
              <a:rPr lang="en-US" altLang="ko-KR" sz="2000"/>
              <a:t>,</a:t>
            </a:r>
            <a:r>
              <a:rPr lang="ko-KR" altLang="en-US" sz="2000"/>
              <a:t> 재생에너지는 </a:t>
            </a:r>
            <a:r>
              <a:rPr lang="en-US" altLang="ko-KR" sz="2000"/>
              <a:t>9.0%</a:t>
            </a:r>
            <a:r>
              <a:rPr lang="ko-KR" altLang="en-US" sz="2000"/>
              <a:t>로 주요국 중 가장 낮은 수준을 보이고 있음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3777445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전 세계 전력생산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57150" lvl="0" indent="0">
              <a:buNone/>
              <a:defRPr/>
            </a:pPr>
            <a:r>
              <a:rPr lang="ko-KR" altLang="en-US" sz="2000"/>
              <a:t> 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738186" y="1236822"/>
            <a:ext cx="4970736" cy="36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10-2]</a:t>
            </a:r>
            <a:r>
              <a:rPr lang="ko-KR" altLang="en-US"/>
              <a:t> 에너지원별 전력생산 비중</a:t>
            </a:r>
            <a:r>
              <a:rPr lang="en-US" altLang="ko-KR"/>
              <a:t>(2023</a:t>
            </a:r>
            <a:r>
              <a:rPr lang="ko-KR" altLang="en-US"/>
              <a:t>년 기준</a:t>
            </a:r>
            <a:r>
              <a:rPr lang="en-US" altLang="ko-KR"/>
              <a:t>)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738188" y="1635896"/>
          <a:ext cx="10604500" cy="43586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10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0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4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80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석유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천연가스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석탄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원자력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수력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기타 재생에너지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기타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51.2%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19.3%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</a:t>
                      </a: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47.4%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70.3%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42.5%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24.9%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56.4%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22.5%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35.1%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45.9%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255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전 세계 전력생산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57150" lvl="0" indent="0">
              <a:buNone/>
              <a:defRPr/>
            </a:pPr>
            <a:r>
              <a:rPr lang="ko-KR" altLang="en-US" sz="2000"/>
              <a:t> 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828902" y="1059180"/>
            <a:ext cx="2986812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10-3]</a:t>
            </a:r>
            <a:r>
              <a:rPr lang="ko-KR" altLang="en-US"/>
              <a:t> 주요국의 전원믹스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1102178" y="1426845"/>
          <a:ext cx="9538591" cy="4752217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886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40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49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71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9011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석유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천연가스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석탄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원자력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수력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기타 재생에너지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기타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43.1%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78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프랑스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65.1%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0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독일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24.9%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49.2%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78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캐나다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57.5%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78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브라질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60.4%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28.6%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78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러시아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44.8%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0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60.8%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0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75.1%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0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일본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01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한국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27.0%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32.8%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4382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 dirty="0"/>
              <a:t>6.</a:t>
            </a:r>
            <a:r>
              <a:rPr lang="ko-KR" altLang="en-US" sz="3200" dirty="0"/>
              <a:t> 결론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/>
              <a:t>전력은 단순한 상품이 아니라 실시간 수요와 공급의 정확한 일치가 요구되는 물리적 재화로서</a:t>
            </a:r>
            <a:r>
              <a:rPr lang="en-US" altLang="ko-KR" sz="2000"/>
              <a:t>,</a:t>
            </a:r>
            <a:r>
              <a:rPr lang="ko-KR" altLang="en-US" sz="2000"/>
              <a:t> 여타 재화와는 다른 고유한 특성을 지님</a:t>
            </a:r>
          </a:p>
          <a:p>
            <a:pPr lvl="1">
              <a:buChar char="•"/>
              <a:defRPr/>
            </a:pPr>
            <a:r>
              <a:rPr lang="ko-KR" altLang="en-US" sz="2000"/>
              <a:t>저장이 제한되고</a:t>
            </a:r>
            <a:r>
              <a:rPr lang="en-US" altLang="ko-KR" sz="2000"/>
              <a:t>,</a:t>
            </a:r>
            <a:r>
              <a:rPr lang="ko-KR" altLang="en-US" sz="2000"/>
              <a:t> 전송망이라는 자연독점적 기반시설 위에서 거래되며</a:t>
            </a:r>
            <a:r>
              <a:rPr lang="en-US" altLang="ko-KR" sz="2000"/>
              <a:t>,</a:t>
            </a:r>
            <a:r>
              <a:rPr lang="ko-KR" altLang="en-US" sz="2000"/>
              <a:t> 수요 변동에 따라 즉각적 대응이 필수적이라는 점에서</a:t>
            </a:r>
            <a:r>
              <a:rPr lang="en-US" altLang="ko-KR" sz="2000"/>
              <a:t>,</a:t>
            </a:r>
            <a:r>
              <a:rPr lang="ko-KR" altLang="en-US" sz="2000"/>
              <a:t> 전력시장은 매우 정교하고 복잡한 설계를 필요로 함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이러한 특성은 전력의 가격 형성과 거래 방식</a:t>
            </a:r>
            <a:r>
              <a:rPr lang="en-US" altLang="ko-KR" sz="2000"/>
              <a:t>,</a:t>
            </a:r>
            <a:r>
              <a:rPr lang="ko-KR" altLang="en-US" sz="2000"/>
              <a:t> 시장 참가자의 전략적 행위에 결정적인 영향을 미치며</a:t>
            </a:r>
            <a:r>
              <a:rPr lang="en-US" altLang="ko-KR" sz="2000"/>
              <a:t>,</a:t>
            </a:r>
            <a:r>
              <a:rPr lang="ko-KR" altLang="en-US" sz="2000"/>
              <a:t> 시장 운영과 제도 설계에서 고려해야 할 변수들을 복합적으로 증가시킴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특히</a:t>
            </a:r>
            <a:r>
              <a:rPr lang="en-US" altLang="ko-KR" sz="2000"/>
              <a:t>,</a:t>
            </a:r>
            <a:r>
              <a:rPr lang="ko-KR" altLang="en-US" sz="2000"/>
              <a:t> 단기적으로는 급전과 정산이</a:t>
            </a:r>
            <a:r>
              <a:rPr lang="en-US" altLang="ko-KR" sz="2000"/>
              <a:t>,</a:t>
            </a:r>
            <a:r>
              <a:rPr lang="ko-KR" altLang="en-US" sz="2000"/>
              <a:t> 중장기적으로는 설비 투자와 자원 배분이 전력시장의 구조와 성과를 좌우함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34</a:t>
            </a:fld>
            <a:endParaRPr lang="ko-KR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제10장</a:t>
            </a:r>
          </a:p>
        </p:txBody>
      </p:sp>
    </p:spTree>
    <p:extLst>
      <p:ext uri="{BB962C8B-B14F-4D97-AF65-F5344CB8AC3E}">
        <p14:creationId xmlns:p14="http://schemas.microsoft.com/office/powerpoint/2010/main" val="1110352070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3098</Words>
  <Application>Microsoft Office PowerPoint</Application>
  <PresentationFormat>와이드스크린</PresentationFormat>
  <Paragraphs>569</Paragraphs>
  <Slides>34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0" baseType="lpstr">
      <vt:lpstr>나눔스퀘어 네오 OTF Heavy</vt:lpstr>
      <vt:lpstr>맑은 고딕</vt:lpstr>
      <vt:lpstr>함초롬바탕</vt:lpstr>
      <vt:lpstr>Arial</vt:lpstr>
      <vt:lpstr>Calibri</vt:lpstr>
      <vt:lpstr>한컴오피스</vt:lpstr>
      <vt:lpstr>PowerPoint 프레젠테이션</vt:lpstr>
      <vt:lpstr>제10장  전력시장의 기초 이론</vt:lpstr>
      <vt:lpstr>1. 서론</vt:lpstr>
      <vt:lpstr>2. 전력시장의 특징</vt:lpstr>
      <vt:lpstr>2. 전력시장의 특징</vt:lpstr>
      <vt:lpstr>2. 전력시장의 특징</vt:lpstr>
      <vt:lpstr>3.  전력시장의 운영</vt:lpstr>
      <vt:lpstr>3.  전력시장의 운영</vt:lpstr>
      <vt:lpstr>3.  전력시장의 운영</vt:lpstr>
      <vt:lpstr>3.  전력시장의 운영</vt:lpstr>
      <vt:lpstr>3.  전력시장의 운영</vt:lpstr>
      <vt:lpstr>3.  전력시장의 운영</vt:lpstr>
      <vt:lpstr>3.  전력시장의 운영</vt:lpstr>
      <vt:lpstr>3.  전력시장의 운영</vt:lpstr>
      <vt:lpstr>3.  전력시장의 운영</vt:lpstr>
      <vt:lpstr>3.  전력시장의 운영</vt:lpstr>
      <vt:lpstr>3.  전력시장의 운영</vt:lpstr>
      <vt:lpstr>4.  전력시장의  구조</vt:lpstr>
      <vt:lpstr>4.  전력시장의  구조</vt:lpstr>
      <vt:lpstr>4. 전력시장의 구조</vt:lpstr>
      <vt:lpstr>4. 전력시장의 구조</vt:lpstr>
      <vt:lpstr>4. 전력시장의 구조</vt:lpstr>
      <vt:lpstr>4. 전력시장의 구조</vt:lpstr>
      <vt:lpstr>4. 전력시장의 구조</vt:lpstr>
      <vt:lpstr>4. 전력시장의 구조</vt:lpstr>
      <vt:lpstr>4. 전력시장의 구조</vt:lpstr>
      <vt:lpstr>4. 전력시장의 구조</vt:lpstr>
      <vt:lpstr>5. 전 세계 전력생산 현황</vt:lpstr>
      <vt:lpstr>5. 전 세계 전력생산 현황</vt:lpstr>
      <vt:lpstr> </vt:lpstr>
      <vt:lpstr>5. 전 세계 전력생산 현황</vt:lpstr>
      <vt:lpstr>5. 전 세계 전력생산 현황</vt:lpstr>
      <vt:lpstr>5. 전 세계 전력생산 현황</vt:lpstr>
      <vt:lpstr>6. 결론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제3장 에너지 시장의 수요와 공급</dc:title>
  <dc:creator>admin</dc:creator>
  <cp:lastModifiedBy>장 규식</cp:lastModifiedBy>
  <cp:revision>787</cp:revision>
  <dcterms:created xsi:type="dcterms:W3CDTF">2026-01-09T02:29:36Z</dcterms:created>
  <dcterms:modified xsi:type="dcterms:W3CDTF">2026-02-25T21:45:33Z</dcterms:modified>
  <cp:version>13.0.0.2760</cp:version>
</cp:coreProperties>
</file>