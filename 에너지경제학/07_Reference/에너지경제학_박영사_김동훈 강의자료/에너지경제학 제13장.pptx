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  <p:sldId id="300" r:id="rId3"/>
    <p:sldId id="29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98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99" r:id="rId37"/>
    <p:sldId id="288" r:id="rId38"/>
    <p:sldId id="289" r:id="rId3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hun kim" userId="ea4930dfa3cfe607" providerId="LiveId" clId="{C3973552-9C56-48F8-834A-0E5514CC2E9F}"/>
    <pc:docChg chg="delSld modSld">
      <pc:chgData name="donghun kim" userId="ea4930dfa3cfe607" providerId="LiveId" clId="{C3973552-9C56-48F8-834A-0E5514CC2E9F}" dt="2026-02-25T04:11:06.455" v="6" actId="47"/>
      <pc:docMkLst>
        <pc:docMk/>
      </pc:docMkLst>
      <pc:sldChg chg="modSp del mod">
        <pc:chgData name="donghun kim" userId="ea4930dfa3cfe607" providerId="LiveId" clId="{C3973552-9C56-48F8-834A-0E5514CC2E9F}" dt="2026-02-25T04:11:06.455" v="6" actId="47"/>
        <pc:sldMkLst>
          <pc:docMk/>
          <pc:sldMk cId="0" sldId="295"/>
        </pc:sldMkLst>
        <pc:spChg chg="mod">
          <ac:chgData name="donghun kim" userId="ea4930dfa3cfe607" providerId="LiveId" clId="{C3973552-9C56-48F8-834A-0E5514CC2E9F}" dt="2026-02-25T04:10:29.113" v="5" actId="6549"/>
          <ac:spMkLst>
            <pc:docMk/>
            <pc:sldMk cId="0" sldId="29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B0EB0-6272-4B37-B6C5-4FE5B76DC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804461-E1D9-47B5-B98A-89A7F22E86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92C50-E1EF-4C7C-A7C2-58D06D64C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3F93-E0AB-431E-A241-6D2BE8AC72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A833E-9060-4798-B9EC-52685504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6A6DA-E4D5-4613-A797-D3A0B0C31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CF6D-E6B4-45E6-9997-0EE35D8CA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477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B2F17-B52C-4CA4-8F7E-B2BC79508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0D8AF-8A20-4BB0-A146-6C7929CEB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83568-74C3-43CA-9492-B017E9375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3F93-E0AB-431E-A241-6D2BE8AC72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3C465-EFF8-435E-8197-7D2345ADE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5F8BB-9F0D-4F30-9BE5-7E0D7CAFA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CF6D-E6B4-45E6-9997-0EE35D8CA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131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3240A-6B48-48DD-A620-D6EA953F0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0FC66-0E47-4D11-9CA3-301613CA0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32731-356E-4152-B810-129C63BF0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3F93-E0AB-431E-A241-6D2BE8AC72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4EFF-DED1-4DF6-BF0F-1B428EE14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27CC-09DA-42D5-BA23-D96A97804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CF6D-E6B4-45E6-9997-0EE35D8CA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7348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69547-BF19-41CB-81E1-625F19E72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9CC7E-6604-41FA-BCCC-F2F2BEE28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0D4D0-81F8-433A-B7B8-E72DDDCF8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8606B-18C4-47C6-A2FF-87034269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3F93-E0AB-431E-A241-6D2BE8AC72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76FB2-3C55-4FCB-BC93-305BBCE3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D58F9-A21A-4573-8D77-472327E41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CF6D-E6B4-45E6-9997-0EE35D8CA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976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15330-72E1-45A6-9493-7A7766BF4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389AC-7061-431F-B81B-AC45D129C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96D41-823C-4BBB-88A8-56F8A9FD3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AC7C59-F63C-4766-B3EC-CD93142B10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608656-C31B-427C-8950-B2A34986FE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88AA02-2924-4F4E-B3D6-0FBF6793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3F93-E0AB-431E-A241-6D2BE8AC72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C6CE6F-3426-4443-930B-BB22F99D0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93BF64-A0BB-4898-99CB-D6DBA3706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CF6D-E6B4-45E6-9997-0EE35D8CA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729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7AC0D-74F7-4412-97CA-C5B0FC731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AEC4D-B268-4066-850D-BFB54D70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3F93-E0AB-431E-A241-6D2BE8AC72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6314F8-5331-4518-AE0A-F0FDCF7DA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39C0E4-E3B5-46AE-9DF0-D2721F8C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CF6D-E6B4-45E6-9997-0EE35D8CA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0518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CE7602-C88B-4E60-97B2-6A7C1BAC6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3F93-E0AB-431E-A241-6D2BE8AC72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528F48-7D41-4FB4-AC18-1788A57F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B181A-FD73-43FF-9C93-E238C256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CF6D-E6B4-45E6-9997-0EE35D8CA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724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A73A-6939-4D47-A08A-751AA11E4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6839D-50D9-41F0-A4B3-4DBD4E807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D8987-F3D3-467F-8539-A33504C3DC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CA636-7308-4D4D-9A05-8DF9ED976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3F93-E0AB-431E-A241-6D2BE8AC72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EF1B4-D2F1-4CDD-BA6C-C5DF24DF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7B8EA7-1835-4C59-85DA-1CDAFC87E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CF6D-E6B4-45E6-9997-0EE35D8CA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687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7B182-DCC8-445B-9F23-F717914AF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16B2C-724F-45EA-B3BE-F2F0C5888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C402DE-8A31-4F6F-8A35-D37590DA1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91B55-AD97-4C2D-86C9-B539EE9BA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3F93-E0AB-431E-A241-6D2BE8AC72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813B47-07B2-47E6-8D72-82FA79696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F77E4-7889-4D94-A111-1187F754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CF6D-E6B4-45E6-9997-0EE35D8CA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58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3CAF1-E736-499C-B826-B5EA0F8F2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364AED-7891-4613-AAFC-208A7E27C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0A766-2996-4F98-8556-A5FF57C51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3F93-E0AB-431E-A241-6D2BE8AC72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4A4BD-3BFD-460F-959B-B014C11A1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026FE-884B-4B1F-AD4D-E46829D3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CF6D-E6B4-45E6-9997-0EE35D8CA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743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36A22A-8F2E-45EF-8D7D-E2E5FF87F5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7AD0C-086C-4ABC-AD74-5E1BBDA427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D2659-5BF2-409C-A563-2C37622C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93F93-E0AB-431E-A241-6D2BE8AC72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5DD36-484D-4726-9794-0EE0C99C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93ED8-EC8E-4C53-9CE1-FC55EA68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CCF6D-E6B4-45E6-9997-0EE35D8CA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93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2447F5-3B7A-46FD-84F0-CFBBBCE49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C6FA6-40AB-453F-970F-C137B9AAF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242AD-A7B7-414A-8BEE-89B5E30B7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93F93-E0AB-431E-A241-6D2BE8AC7296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ABE16-7DAB-4352-B66A-46A485C2C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DD83E-98B6-4B15-95AA-48B135B53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CCF6D-E6B4-45E6-9997-0EE35D8CA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242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/>
          </a:p>
        </p:txBody>
      </p:sp>
      <p:sp>
        <p:nvSpPr>
          <p:cNvPr id="27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0974" y="175336"/>
            <a:ext cx="11823638" cy="649978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 dirty="0">
                <a:solidFill>
                  <a:srgbClr val="FFFFFF"/>
                </a:solidFill>
                <a:ea typeface="맑은 고딕"/>
              </a:rPr>
              <a:t>13</a:t>
            </a:r>
            <a:r>
              <a:rPr lang="ko-KR" altLang="en-US" sz="5200" dirty="0">
                <a:solidFill>
                  <a:srgbClr val="FFFFFF"/>
                </a:solidFill>
                <a:ea typeface="맑은 고딕"/>
              </a:rPr>
              <a:t>장 에너지 효율성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lvl="0" algn="l">
              <a:defRPr/>
            </a:pPr>
            <a:endParaRPr lang="ko-KR" altLang="en-US">
              <a:solidFill>
                <a:srgbClr val="FFFFFF"/>
              </a:solidFill>
            </a:endParaRPr>
          </a:p>
        </p:txBody>
      </p:sp>
      <p:sp>
        <p:nvSpPr>
          <p:cNvPr id="3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2</a:t>
            </a:fld>
            <a:endParaRPr lang="ko-KR" altLang="en-US"/>
          </a:p>
        </p:txBody>
      </p:sp>
      <p:sp>
        <p:nvSpPr>
          <p:cNvPr id="3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제6장</a:t>
            </a:r>
          </a:p>
        </p:txBody>
      </p:sp>
    </p:spTree>
    <p:extLst>
      <p:ext uri="{BB962C8B-B14F-4D97-AF65-F5344CB8AC3E}">
        <p14:creationId xmlns:p14="http://schemas.microsoft.com/office/powerpoint/2010/main" val="3541649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제13장 에너지 효율성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목표: 에너지 효율성의 개념, 경제적 효과, 시장실패, 정책수단, 반등효과, 기술혁신, 실증결과를 체계적으로 정리</a:t>
            </a:r>
          </a:p>
          <a:p>
            <a:r>
              <a:rPr sz="1800">
                <a:latin typeface="Calibri"/>
              </a:rPr>
              <a:t>핵심 메시지: ‘동일 서비스(산출) + 더 적은 에너지’ → 비용·환경·안보의 삼중 편익(triple dividend) (IEA, 2022)</a:t>
            </a:r>
          </a:p>
          <a:p>
            <a:r>
              <a:rPr sz="1800">
                <a:latin typeface="Calibri"/>
              </a:rPr>
              <a:t>정책 설계는 기술잠재력뿐 아니라 소비자/기업의 행태 반응(반등효과)과 시장실패를 함께 고려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750253-5813-480B-BA0F-98AD81574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4A3FA4-A0B0-45EA-BBFA-7EDB70588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466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13.1 서론: 왜 효율성인가?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수요측 관리의 핵심 수단: 신규 공급 확대보다 비용이 낮은 경우가 많음 (IEA, 2022)</a:t>
            </a:r>
          </a:p>
          <a:p>
            <a:r>
              <a:rPr sz="1800">
                <a:latin typeface="Calibri"/>
              </a:rPr>
              <a:t>2030년까지 에너지 관련 탄소감축의 상당 부분을 효율 개선으로 달성 가능하다는 평가 (IEA, 2022)</a:t>
            </a:r>
          </a:p>
          <a:p>
            <a:r>
              <a:rPr sz="1800">
                <a:latin typeface="Calibri"/>
              </a:rPr>
              <a:t>기술(LED, 단열, 보일러 등) + 제도·행태(정보, 인센티브, 인지편향) 결합이 성과를 좌우</a:t>
            </a:r>
          </a:p>
          <a:p>
            <a:r>
              <a:rPr sz="1800">
                <a:latin typeface="Calibri"/>
              </a:rPr>
              <a:t>잠재적 한계: 효율 향상이 사용비용을 낮춰 소비를 증가시킬 수 있음(반등효과) (Sorrell, 2009)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F22412-7161-4730-9A52-CA8599D89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56EB57-828C-4069-A24A-66BAB060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학습 목표(강의 흐름)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1) 정의: 에너지 효율성 vs 에너지 절약</a:t>
            </a:r>
          </a:p>
          <a:p>
            <a:r>
              <a:rPr sz="1800">
                <a:latin typeface="Calibri"/>
              </a:rPr>
              <a:t>2) 편익: 비용·환경·안보·거시경제 안정</a:t>
            </a:r>
          </a:p>
          <a:p>
            <a:r>
              <a:rPr sz="1800">
                <a:latin typeface="Calibri"/>
              </a:rPr>
              <a:t>3) ‘효율성 갭’의 원인: 정보, 외부성, 거래비용, 행동편향</a:t>
            </a:r>
          </a:p>
          <a:p>
            <a:r>
              <a:rPr sz="1800">
                <a:latin typeface="Calibri"/>
              </a:rPr>
              <a:t>4) 측정: 에너지 집약도, 기술 효율성, 경제 효율성</a:t>
            </a:r>
          </a:p>
          <a:p>
            <a:r>
              <a:rPr sz="1800">
                <a:latin typeface="Calibri"/>
              </a:rPr>
              <a:t>5) 정책: 규제·유인·정보·표준/라벨링, 그리고 정책조합</a:t>
            </a:r>
          </a:p>
          <a:p>
            <a:r>
              <a:rPr sz="1800">
                <a:latin typeface="Calibri"/>
              </a:rPr>
              <a:t>6) 반등효과와 실증결과, 기술혁신(확산·학습곡선)과의 연계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CEE29-BD13-43F8-8E47-63F36705D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999BC-9AF4-44E0-ACDA-7404BEC30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13.2 에너지 효율성의 개념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정의: 동일 산출(서비스)을 더 적은 에너지 투입으로 달성하는 능력 (Sorrell, 2009)</a:t>
            </a:r>
          </a:p>
          <a:p>
            <a:r>
              <a:rPr sz="1800">
                <a:latin typeface="Calibri"/>
              </a:rPr>
              <a:t>기술 관점: 장비·시스템의 에너지 전환/사용 성능(예: km/L, COP, 효율등급)</a:t>
            </a:r>
          </a:p>
          <a:p>
            <a:r>
              <a:rPr sz="1800">
                <a:latin typeface="Calibri"/>
              </a:rPr>
              <a:t>경제 관점: 경제 전체에서 단위 산출(GDP 등)당 에너지 사용량, 비용 효과성 포함</a:t>
            </a:r>
          </a:p>
          <a:p>
            <a:r>
              <a:rPr sz="1800">
                <a:latin typeface="Calibri"/>
              </a:rPr>
              <a:t>정책 관점: 온실가스 감축, 에너지 안보, 산업 경쟁력의 공통 기반(‘first fuel’) (IEA, 2022)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E0BBE2-EC98-4213-A3A1-62D049C1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44141E-DC8B-436F-8B76-D1647FAE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13.2.1 기술적 정의와 예시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자동차: 연비(km/L) 또는 kWh/km(전기차) — 동일 이동서비스 대비 에너지 투입 감소</a:t>
            </a:r>
          </a:p>
          <a:p>
            <a:r>
              <a:rPr sz="1800">
                <a:latin typeface="Calibri"/>
              </a:rPr>
              <a:t>냉난방: COP/EER 등 — 동일 열/냉방 제공에 필요한 전력(연료) 감소</a:t>
            </a:r>
          </a:p>
          <a:p>
            <a:r>
              <a:rPr sz="1800">
                <a:latin typeface="Calibri"/>
              </a:rPr>
              <a:t>건물: 단열·창호·열회수 환기 등 — 동일 실내쾌적성 유지 비용 감소</a:t>
            </a:r>
          </a:p>
          <a:p>
            <a:r>
              <a:rPr sz="1800">
                <a:latin typeface="Calibri"/>
              </a:rPr>
              <a:t>산업: 모터·보일러·공정 최적화 — 동일 생산량 대비 연료·전력 절감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768EDE-0B09-4279-85B2-09B4EBF2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E903F2-D188-442C-9495-E69A26747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13.2.1 경제학적 확장: 집약도와 구조효과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거시 지표: 에너지 집약도 = 에너지 소비 / GDP (IEA, 2022)</a:t>
            </a:r>
          </a:p>
          <a:p>
            <a:r>
              <a:rPr sz="1800">
                <a:latin typeface="Calibri"/>
              </a:rPr>
              <a:t>집약도 하락 요인: (i) 기술 효율 개선 (ii) 산업구조 변화(제조→서비스) (iii) 연료믹스 변화 등</a:t>
            </a:r>
          </a:p>
          <a:p>
            <a:r>
              <a:rPr sz="1800">
                <a:latin typeface="Calibri"/>
              </a:rPr>
              <a:t>따라서 집약도는 ‘종합 지표’이지만 기술 효율성과 1:1로 대응되지는 않음</a:t>
            </a:r>
          </a:p>
          <a:p>
            <a:r>
              <a:rPr sz="1800">
                <a:latin typeface="Calibri"/>
              </a:rPr>
              <a:t>정책평가에는 보완 지표(부문별 물리적 효율, 비용지표) 병행이 필요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E18C3-5BDF-4D90-8388-6B6323E9A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803081-473C-4C6E-B34D-8D80B72B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13.2.2 에너지 효율성 vs 에너지 절약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 err="1">
                <a:latin typeface="Calibri"/>
              </a:rPr>
              <a:t>효율성</a:t>
            </a:r>
            <a:r>
              <a:rPr sz="1800" dirty="0">
                <a:latin typeface="Calibri"/>
              </a:rPr>
              <a:t>: </a:t>
            </a:r>
            <a:r>
              <a:rPr sz="1800" dirty="0" err="1">
                <a:latin typeface="Calibri"/>
              </a:rPr>
              <a:t>서비스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수준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유지</a:t>
            </a:r>
            <a:r>
              <a:rPr sz="1800" dirty="0">
                <a:latin typeface="Calibri"/>
              </a:rPr>
              <a:t> + </a:t>
            </a:r>
            <a:r>
              <a:rPr sz="1800" dirty="0" err="1">
                <a:latin typeface="Calibri"/>
              </a:rPr>
              <a:t>에너지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투입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감소</a:t>
            </a:r>
            <a:r>
              <a:rPr sz="1800" dirty="0">
                <a:latin typeface="Calibri"/>
              </a:rPr>
              <a:t>(</a:t>
            </a:r>
            <a:r>
              <a:rPr sz="1800" dirty="0" err="1">
                <a:latin typeface="Calibri"/>
              </a:rPr>
              <a:t>기술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변화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성격</a:t>
            </a:r>
            <a:r>
              <a:rPr sz="1800" dirty="0">
                <a:latin typeface="Calibri"/>
              </a:rPr>
              <a:t>) </a:t>
            </a:r>
            <a:endParaRPr lang="en-US" altLang="ko-KR" sz="1800" dirty="0">
              <a:latin typeface="Calibri"/>
            </a:endParaRPr>
          </a:p>
          <a:p>
            <a:r>
              <a:rPr lang="ko-KR" altLang="en-US" sz="1800" dirty="0">
                <a:latin typeface="Calibri"/>
              </a:rPr>
              <a:t>절약</a:t>
            </a:r>
            <a:r>
              <a:rPr lang="en-US" altLang="ko-KR" sz="1800" dirty="0">
                <a:latin typeface="Calibri"/>
              </a:rPr>
              <a:t>: </a:t>
            </a:r>
            <a:r>
              <a:rPr lang="ko-KR" altLang="en-US" sz="1800" dirty="0">
                <a:latin typeface="Calibri"/>
              </a:rPr>
              <a:t>서비스 수준 자체를 줄이거나 사용을 억제</a:t>
            </a:r>
            <a:r>
              <a:rPr lang="en-US" altLang="ko-KR" sz="1800" dirty="0">
                <a:latin typeface="Calibri"/>
              </a:rPr>
              <a:t>(</a:t>
            </a:r>
            <a:r>
              <a:rPr lang="ko-KR" altLang="en-US" sz="1800" dirty="0">
                <a:latin typeface="Calibri"/>
              </a:rPr>
              <a:t>행동 변화 성격</a:t>
            </a:r>
            <a:r>
              <a:rPr lang="en-US" altLang="ko-KR" sz="1800" dirty="0">
                <a:latin typeface="Calibri"/>
              </a:rPr>
              <a:t>) </a:t>
            </a:r>
          </a:p>
          <a:p>
            <a:r>
              <a:rPr sz="1800" dirty="0">
                <a:latin typeface="Calibri"/>
              </a:rPr>
              <a:t>예: </a:t>
            </a:r>
            <a:r>
              <a:rPr sz="1800" dirty="0" err="1">
                <a:latin typeface="Calibri"/>
              </a:rPr>
              <a:t>LED로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교체</a:t>
            </a:r>
            <a:r>
              <a:rPr sz="1800" dirty="0">
                <a:latin typeface="Calibri"/>
              </a:rPr>
              <a:t>(</a:t>
            </a:r>
            <a:r>
              <a:rPr sz="1800" dirty="0" err="1">
                <a:latin typeface="Calibri"/>
              </a:rPr>
              <a:t>효율</a:t>
            </a:r>
            <a:r>
              <a:rPr sz="1800" dirty="0">
                <a:latin typeface="Calibri"/>
              </a:rPr>
              <a:t>) vs </a:t>
            </a:r>
            <a:r>
              <a:rPr sz="1800" dirty="0" err="1">
                <a:latin typeface="Calibri"/>
              </a:rPr>
              <a:t>조명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사용시간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단축</a:t>
            </a:r>
            <a:r>
              <a:rPr sz="1800" dirty="0">
                <a:latin typeface="Calibri"/>
              </a:rPr>
              <a:t>(</a:t>
            </a:r>
            <a:r>
              <a:rPr sz="1800" dirty="0" err="1">
                <a:latin typeface="Calibri"/>
              </a:rPr>
              <a:t>절약</a:t>
            </a:r>
            <a:r>
              <a:rPr sz="1800" dirty="0">
                <a:latin typeface="Calibri"/>
              </a:rPr>
              <a:t>)</a:t>
            </a:r>
          </a:p>
          <a:p>
            <a:r>
              <a:rPr sz="1800" dirty="0" err="1">
                <a:latin typeface="Calibri"/>
              </a:rPr>
              <a:t>정책</a:t>
            </a:r>
            <a:r>
              <a:rPr sz="1800" dirty="0">
                <a:latin typeface="Calibri"/>
              </a:rPr>
              <a:t>: </a:t>
            </a:r>
            <a:r>
              <a:rPr sz="1800" dirty="0" err="1">
                <a:latin typeface="Calibri"/>
              </a:rPr>
              <a:t>효율은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표준·인센티브·R&amp;D</a:t>
            </a:r>
            <a:r>
              <a:rPr sz="1800" dirty="0">
                <a:latin typeface="Calibri"/>
              </a:rPr>
              <a:t>, </a:t>
            </a:r>
            <a:r>
              <a:rPr sz="1800" dirty="0" err="1">
                <a:latin typeface="Calibri"/>
              </a:rPr>
              <a:t>절약은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캠페인·피크절전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권고·행동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유도</a:t>
            </a:r>
            <a:endParaRPr sz="1800" dirty="0">
              <a:latin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DB89A2-0A98-4411-A33B-18EA355A1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4A1B0-4324-421B-87E6-C998F93B5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13.3 효율 향상의 경제적 효과: 개관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미시: 소비자 비용 절감 → 가처분소득 증가, 후생 개선</a:t>
            </a:r>
          </a:p>
          <a:p>
            <a:r>
              <a:rPr sz="1800">
                <a:latin typeface="Calibri"/>
              </a:rPr>
              <a:t>환경: 에너지 수요 감소 → 온실가스·대기오염 저감</a:t>
            </a:r>
          </a:p>
          <a:p>
            <a:r>
              <a:rPr sz="1800">
                <a:latin typeface="Calibri"/>
              </a:rPr>
              <a:t>안보: 수입연료 의존도 완화 → 가격·지정학 충격 취약성 감소</a:t>
            </a:r>
          </a:p>
          <a:p>
            <a:r>
              <a:rPr sz="1800">
                <a:latin typeface="Calibri"/>
              </a:rPr>
              <a:t>시스템: 피크 완화 → 설비투자(발전·송전) 부담 및 요금 압력 완화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32D8E-9829-43CB-8426-A5F1D399D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E00778-A6EE-427F-9C90-B7A90303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13.3.1 소비자 비용 절감 메커니즘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동일 서비스 제공 비용(전기료·연료비·난방비) 감소 (Gillingham et al., 2009)</a:t>
            </a:r>
          </a:p>
          <a:p>
            <a:r>
              <a:rPr sz="1800">
                <a:latin typeface="Calibri"/>
              </a:rPr>
              <a:t>수명주기 관점: 초기 투자비↑라도 운영비 절감이 누적되어 총비용(LCC)↓</a:t>
            </a:r>
          </a:p>
          <a:p>
            <a:r>
              <a:rPr sz="1800">
                <a:latin typeface="Calibri"/>
              </a:rPr>
              <a:t>가격 변동성에 대한 ‘헤지 효과’: 에너지 가격 급등 시 충격 완화</a:t>
            </a:r>
          </a:p>
          <a:p>
            <a:r>
              <a:rPr sz="1800">
                <a:latin typeface="Calibri"/>
              </a:rPr>
              <a:t>단, 초기 비용·정보 부족·재정 제약이 채택을 막을 수 있어 정책 보완 필요(Allcott &amp; Greenstone, 2012)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EC55D5-75E0-455C-8481-EF7BA2E5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23702-7CB5-4931-A377-B2B0CEAE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사례: 가정 부문의 비용 절감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고효율 냉장고·에어컨·보일러, LED, 단열재: 에너지 서비스 유지 + 월간 요금 절감</a:t>
            </a:r>
          </a:p>
          <a:p>
            <a:r>
              <a:rPr sz="1800">
                <a:latin typeface="Calibri"/>
              </a:rPr>
              <a:t>투자 판단: 회수기간(payback)뿐 아니라 할인율을 반영한 현재가치(NPV)로 평가</a:t>
            </a:r>
          </a:p>
          <a:p>
            <a:r>
              <a:rPr sz="1800">
                <a:latin typeface="Calibri"/>
              </a:rPr>
              <a:t>저소득층은 에너지 지출 비중이 커서 절감 효과가 상대적으로 큼 → 에너지복지 연계 가능</a:t>
            </a:r>
          </a:p>
          <a:p>
            <a:r>
              <a:rPr sz="1800">
                <a:latin typeface="Calibri"/>
              </a:rPr>
              <a:t>정책 설계 시 ‘접근성’(금융·정보·시공품질)을 함께 다뤄야 실효성 확보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ECC11-448C-4D91-833B-9C2CDD45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FEE1B-9C13-40F0-94EA-64A597EA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13.3.2 환경 편익: 온실가스·대기오염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효율 향상 → 화석연료 사용량 감소 → CO₂ 배출 저감 (IEA, 2022)</a:t>
            </a:r>
          </a:p>
          <a:p>
            <a:r>
              <a:rPr sz="1800">
                <a:latin typeface="Calibri"/>
              </a:rPr>
              <a:t>동시에 SOx/NOx/PM 등 대기오염물질 감소 → 공중보건·의료비 절감</a:t>
            </a:r>
          </a:p>
          <a:p>
            <a:r>
              <a:rPr sz="1800">
                <a:latin typeface="Calibri"/>
              </a:rPr>
              <a:t>전력 시스템 차원: 수요 감소/완만화 → 신규 발전·송전 투자 필요성 감소(요금 안정에 기여)</a:t>
            </a:r>
          </a:p>
          <a:p>
            <a:r>
              <a:rPr sz="1800">
                <a:latin typeface="Calibri"/>
              </a:rPr>
              <a:t>단, 반등효과가 절감분을 일부 상쇄할 수 있어 정량평가 필요(Sorrell, 2009)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D985F5-5209-467F-9FEB-88F4FFC35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5F9DFE-3DD3-4575-A248-E8F92982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13.3.3 에너지 안보·수입 의존도 감소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총수요 감소 → 수입 연료(석유·가스·석탄) 의존도 하락</a:t>
            </a:r>
          </a:p>
          <a:p>
            <a:r>
              <a:rPr sz="1800">
                <a:latin typeface="Calibri"/>
              </a:rPr>
              <a:t>국제가격 변동·지정학 분쟁·공급제한에 대한 취약성 완화 (IEA, 2022)</a:t>
            </a:r>
          </a:p>
          <a:p>
            <a:r>
              <a:rPr sz="1800">
                <a:latin typeface="Calibri"/>
              </a:rPr>
              <a:t>거시경제: 수입액 감소 → 경상수지·환율·물가 안정에 기여</a:t>
            </a:r>
          </a:p>
          <a:p>
            <a:r>
              <a:rPr sz="1800">
                <a:latin typeface="Calibri"/>
              </a:rPr>
              <a:t>피크 완화는 비상시 회복탄력성(resilience) 강화로 연결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EB9037-470F-4D6D-98E7-ABD1C5597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1A610F-73DC-4C78-A393-4B85FCD3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13.4 효율성 갭(에너지 패러독스)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관찰: 경제적으로 이득인 고효율 투자도 시장에서 과소채택되는 경향</a:t>
            </a:r>
          </a:p>
          <a:p>
            <a:r>
              <a:rPr sz="1800">
                <a:latin typeface="Calibri"/>
              </a:rPr>
              <a:t>해석: (i) 시장실패(정보·외부성) + (ii) 제약/행태(거래비용·편향) 복합 작용</a:t>
            </a:r>
          </a:p>
          <a:p>
            <a:r>
              <a:rPr sz="1800">
                <a:latin typeface="Calibri"/>
              </a:rPr>
              <a:t>결과: 자발적 시장만으로 사회적으로 바람직한 투자 수준 달성 어려움</a:t>
            </a:r>
          </a:p>
          <a:p>
            <a:r>
              <a:rPr sz="1800">
                <a:latin typeface="Calibri"/>
              </a:rPr>
              <a:t>따라서 정책 개입의 정당성 및 정책 설계의 정교함이 중요(Allcott &amp; Greenstone, 2012)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B78CBB-F0E4-4E99-9AB7-7745622D4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9B049-7531-4776-A0D4-D9DC0CEF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13.4.1 정보비대칭과 불완전 정보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제품 성능·수명·절감효과에 대한 정보가 불완전/비대칭 → 의사결정 왜곡</a:t>
            </a:r>
          </a:p>
          <a:p>
            <a:r>
              <a:rPr sz="1800">
                <a:latin typeface="Calibri"/>
              </a:rPr>
              <a:t>임대시장: 투자자(집주인)와 수혜자(세입자) 불일치(Principal–Agent problem)</a:t>
            </a:r>
          </a:p>
          <a:p>
            <a:r>
              <a:rPr sz="1800">
                <a:latin typeface="Calibri"/>
              </a:rPr>
              <a:t>소비자가 미래 연료비 절감보다 초기비용에 과도 가중(높은 주관적 할인율) (Allcott, 2011)</a:t>
            </a:r>
          </a:p>
          <a:p>
            <a:r>
              <a:rPr sz="1800">
                <a:latin typeface="Calibri"/>
              </a:rPr>
              <a:t>대응: 라벨링, 성능정보 표준화, 비교정보 제공, 신뢰 가능한 인증체계(Newell et al., 1999)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7EC056-9B08-42B0-8E0D-5C91E01DA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7AD715-2981-472B-855C-1D473B8D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13.4.2 외부성(양의 외부효과)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 err="1">
                <a:latin typeface="Calibri"/>
              </a:rPr>
              <a:t>개인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투자로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사회적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편익</a:t>
            </a:r>
            <a:r>
              <a:rPr sz="1800" dirty="0">
                <a:latin typeface="Calibri"/>
              </a:rPr>
              <a:t>(</a:t>
            </a:r>
            <a:r>
              <a:rPr sz="1800" dirty="0" err="1">
                <a:latin typeface="Calibri"/>
              </a:rPr>
              <a:t>탄소·대기오염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저감</a:t>
            </a:r>
            <a:r>
              <a:rPr sz="1800" dirty="0">
                <a:latin typeface="Calibri"/>
              </a:rPr>
              <a:t>, </a:t>
            </a:r>
            <a:r>
              <a:rPr sz="1800" dirty="0" err="1">
                <a:latin typeface="Calibri"/>
              </a:rPr>
              <a:t>시스템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안정</a:t>
            </a:r>
            <a:r>
              <a:rPr sz="1800" dirty="0">
                <a:latin typeface="Calibri"/>
              </a:rPr>
              <a:t>, </a:t>
            </a:r>
            <a:r>
              <a:rPr sz="1800" dirty="0" err="1">
                <a:latin typeface="Calibri"/>
              </a:rPr>
              <a:t>수입감소</a:t>
            </a:r>
            <a:r>
              <a:rPr sz="1800" dirty="0">
                <a:latin typeface="Calibri"/>
              </a:rPr>
              <a:t>)이 </a:t>
            </a:r>
            <a:r>
              <a:rPr sz="1800" dirty="0" err="1">
                <a:latin typeface="Calibri"/>
              </a:rPr>
              <a:t>발생</a:t>
            </a:r>
            <a:endParaRPr sz="1800" dirty="0">
              <a:latin typeface="Calibri"/>
            </a:endParaRPr>
          </a:p>
          <a:p>
            <a:r>
              <a:rPr sz="1800" dirty="0" err="1">
                <a:latin typeface="Calibri"/>
              </a:rPr>
              <a:t>그러나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시장가격에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완전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반영되지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않아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사적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투자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유인이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부족</a:t>
            </a:r>
            <a:r>
              <a:rPr sz="1800" dirty="0">
                <a:latin typeface="Calibri"/>
              </a:rPr>
              <a:t> → </a:t>
            </a:r>
            <a:r>
              <a:rPr sz="1800" dirty="0" err="1">
                <a:latin typeface="Calibri"/>
              </a:rPr>
              <a:t>과소투자</a:t>
            </a:r>
            <a:endParaRPr sz="1800" dirty="0">
              <a:latin typeface="Calibri"/>
            </a:endParaRPr>
          </a:p>
          <a:p>
            <a:r>
              <a:rPr sz="1800" dirty="0" err="1">
                <a:latin typeface="Calibri"/>
              </a:rPr>
              <a:t>정책</a:t>
            </a:r>
            <a:r>
              <a:rPr sz="1800" dirty="0">
                <a:latin typeface="Calibri"/>
              </a:rPr>
              <a:t>: </a:t>
            </a:r>
            <a:r>
              <a:rPr sz="1800" dirty="0" err="1">
                <a:latin typeface="Calibri"/>
              </a:rPr>
              <a:t>탄소세</a:t>
            </a:r>
            <a:r>
              <a:rPr sz="1800" dirty="0">
                <a:latin typeface="Calibri"/>
              </a:rPr>
              <a:t>/</a:t>
            </a:r>
            <a:r>
              <a:rPr sz="1800" dirty="0" err="1">
                <a:latin typeface="Calibri"/>
              </a:rPr>
              <a:t>에너지세</a:t>
            </a:r>
            <a:r>
              <a:rPr sz="1800" dirty="0">
                <a:latin typeface="Calibri"/>
              </a:rPr>
              <a:t>(</a:t>
            </a:r>
            <a:r>
              <a:rPr sz="1800" dirty="0" err="1">
                <a:latin typeface="Calibri"/>
              </a:rPr>
              <a:t>가격</a:t>
            </a:r>
            <a:r>
              <a:rPr sz="1800" dirty="0">
                <a:latin typeface="Calibri"/>
              </a:rPr>
              <a:t>), </a:t>
            </a:r>
            <a:r>
              <a:rPr sz="1800" dirty="0" err="1">
                <a:latin typeface="Calibri"/>
              </a:rPr>
              <a:t>효율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기준·건물코드</a:t>
            </a:r>
            <a:r>
              <a:rPr sz="1800" dirty="0">
                <a:latin typeface="Calibri"/>
              </a:rPr>
              <a:t>(</a:t>
            </a:r>
            <a:r>
              <a:rPr sz="1800" dirty="0" err="1">
                <a:latin typeface="Calibri"/>
              </a:rPr>
              <a:t>규제</a:t>
            </a:r>
            <a:r>
              <a:rPr sz="1800" dirty="0">
                <a:latin typeface="Calibri"/>
              </a:rPr>
              <a:t>), </a:t>
            </a:r>
            <a:r>
              <a:rPr sz="1800" dirty="0" err="1">
                <a:latin typeface="Calibri"/>
              </a:rPr>
              <a:t>보조금</a:t>
            </a:r>
            <a:r>
              <a:rPr sz="1800" dirty="0">
                <a:latin typeface="Calibri"/>
              </a:rPr>
              <a:t>(</a:t>
            </a:r>
            <a:r>
              <a:rPr sz="1800" dirty="0" err="1">
                <a:latin typeface="Calibri"/>
              </a:rPr>
              <a:t>확산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촉진</a:t>
            </a:r>
            <a:r>
              <a:rPr sz="1800" dirty="0">
                <a:latin typeface="Calibri"/>
              </a:rPr>
              <a:t>) </a:t>
            </a:r>
            <a:endParaRPr lang="en-US" sz="1800" dirty="0">
              <a:latin typeface="Calibri"/>
            </a:endParaRPr>
          </a:p>
          <a:p>
            <a:r>
              <a:rPr sz="1800" dirty="0" err="1">
                <a:latin typeface="Calibri"/>
              </a:rPr>
              <a:t>기술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외부성</a:t>
            </a:r>
            <a:r>
              <a:rPr sz="1800" dirty="0">
                <a:latin typeface="Calibri"/>
              </a:rPr>
              <a:t>: </a:t>
            </a:r>
            <a:r>
              <a:rPr sz="1800" dirty="0" err="1">
                <a:latin typeface="Calibri"/>
              </a:rPr>
              <a:t>학습·지식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확산으로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비용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하락</a:t>
            </a:r>
            <a:r>
              <a:rPr sz="1800" dirty="0">
                <a:latin typeface="Calibri"/>
              </a:rPr>
              <a:t> → </a:t>
            </a:r>
            <a:r>
              <a:rPr sz="1800" dirty="0" err="1">
                <a:latin typeface="Calibri"/>
              </a:rPr>
              <a:t>공공</a:t>
            </a:r>
            <a:r>
              <a:rPr sz="1800" dirty="0">
                <a:latin typeface="Calibri"/>
              </a:rPr>
              <a:t> R&amp;D/</a:t>
            </a:r>
            <a:r>
              <a:rPr sz="1800" dirty="0" err="1">
                <a:latin typeface="Calibri"/>
              </a:rPr>
              <a:t>초기시장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창출의</a:t>
            </a:r>
            <a:r>
              <a:rPr sz="1800" dirty="0">
                <a:latin typeface="Calibri"/>
              </a:rPr>
              <a:t> </a:t>
            </a:r>
            <a:r>
              <a:rPr sz="1800" dirty="0" err="1">
                <a:latin typeface="Calibri"/>
              </a:rPr>
              <a:t>근거</a:t>
            </a:r>
            <a:endParaRPr sz="1800" dirty="0">
              <a:latin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5E959-6D1F-4991-AEEB-84F8D591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BD476-5C5A-4A54-840F-09C7AC9F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13.4.3 거래비용과 제한된 합리성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탐색·비교·설치·유지보수 등 거래비용이 높으면 투자 지연/회피(Allcott &amp; Wozny, 2014)</a:t>
            </a:r>
          </a:p>
          <a:p>
            <a:r>
              <a:rPr sz="1800">
                <a:latin typeface="Calibri"/>
              </a:rPr>
              <a:t>소규모 소비자는 단위당 거래비용 비중이 커 ‘합리적 무관심’이 발생(Sallee, 2014)</a:t>
            </a:r>
          </a:p>
          <a:p>
            <a:r>
              <a:rPr sz="1800">
                <a:latin typeface="Calibri"/>
              </a:rPr>
              <a:t>행태요인: 현재 편향, 디폴트 편향, 프레이밍 효과, 정보 과부하(Frederick et al., 2002)</a:t>
            </a:r>
          </a:p>
          <a:p>
            <a:r>
              <a:rPr sz="1800">
                <a:latin typeface="Calibri"/>
              </a:rPr>
              <a:t>대응: 넛지, 디폴트 조정, 메시지 단순화, 맞춤형 피드백(Sunstein &amp; Reisch, 2014)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AA4DF-6AC3-478C-A9B8-72498B42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1D28D6-024E-4736-A4ED-16F7161C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13.5 측정과 지표: 왜 중요한가?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정책 목표 설정(예: 집약도 개선), 성과 모니터링, 국제 비교의 기반</a:t>
            </a:r>
          </a:p>
          <a:p>
            <a:r>
              <a:rPr sz="1800">
                <a:latin typeface="Calibri"/>
              </a:rPr>
              <a:t>단일 지표는 한계가 있어 ‘다층 지표’(거시·부문·기술·비용)를 결합</a:t>
            </a:r>
          </a:p>
          <a:p>
            <a:r>
              <a:rPr sz="1800">
                <a:latin typeface="Calibri"/>
              </a:rPr>
              <a:t>기술 효율성과 경제 효율성의 구분이 핵심</a:t>
            </a:r>
          </a:p>
          <a:p>
            <a:r>
              <a:rPr sz="1800">
                <a:latin typeface="Calibri"/>
              </a:rPr>
              <a:t>반등효과까지 포함한 ‘실질 절감’ 평가가 필요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A61E4-CCEA-4AC8-8574-B3E33FB2B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69DF5-215E-4CA3-912C-961C8E28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13.5.1 에너지 집약도(Energy Intensity)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정의: 에너지 소비량 ÷ GDP (IEA, 2022)</a:t>
            </a:r>
          </a:p>
          <a:p>
            <a:r>
              <a:rPr sz="1800">
                <a:latin typeface="Calibri"/>
              </a:rPr>
              <a:t>장점: 장기 추세·국가 비교·정책 성과 모니터링에 유용</a:t>
            </a:r>
          </a:p>
          <a:p>
            <a:r>
              <a:rPr sz="1800">
                <a:latin typeface="Calibri"/>
              </a:rPr>
              <a:t>주의: 기술효율 외에 산업구조, 연료믹스, 기후, 환율/가격수준의 영향</a:t>
            </a:r>
          </a:p>
          <a:p>
            <a:r>
              <a:rPr sz="1800">
                <a:latin typeface="Calibri"/>
              </a:rPr>
              <a:t>해석: 집약도 하락=기술개선일 수도, 구조전환 효과일 수도 → 보완 지표 필요(Mulder &amp; de Groot, 2012)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BF2ED-FCEB-4A96-9E15-3F8DED59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72170-C736-4F11-A130-4C1A3C90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13.5.1 에너지 집약도(Energy Intensity)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981200" y="2058470"/>
            <a:ext cx="8229600" cy="389832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BF2ED-FCEB-4A96-9E15-3F8DED59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72170-C736-4F11-A130-4C1A3C90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2221787" y="1417638"/>
            <a:ext cx="3696983" cy="475608"/>
          </a:xfrm>
          <a:prstGeom prst="rect">
            <a:avLst/>
          </a:prstGeom>
        </p:spPr>
        <p:txBody>
          <a:bodyPr wrap="none"/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13-1]</a:t>
            </a:r>
            <a:r>
              <a:rPr lang="ko-KR" altLang="en-US"/>
              <a:t> 에너지 집약도</a:t>
            </a:r>
            <a:r>
              <a:rPr lang="en-US" altLang="ko-KR"/>
              <a:t>(MJ/2017</a:t>
            </a:r>
            <a:r>
              <a:rPr lang="ko-KR" altLang="en-US"/>
              <a:t>년 </a:t>
            </a:r>
            <a:r>
              <a:rPr lang="en-US" altLang="ko-KR"/>
              <a:t>USD PPP</a:t>
            </a:r>
            <a:r>
              <a:rPr lang="ko-KR" altLang="en-US"/>
              <a:t> 기준</a:t>
            </a:r>
            <a:r>
              <a:rPr lang="en-US" altLang="ko-KR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2220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13.5.2 기술 효율성 vs 경제 효율성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기술 효율성: 물리적 산출/서비스당 에너지 투입(예: kWh/냉방량) — 장비·시스템 단위</a:t>
            </a:r>
          </a:p>
          <a:p>
            <a:r>
              <a:rPr sz="1800">
                <a:latin typeface="Calibri"/>
              </a:rPr>
              <a:t>경제 효율성: 비용-효과성(단위 산출당 에너지 비용, 절감 1단위당 비용) (Gillingham et al., 2009)</a:t>
            </a:r>
          </a:p>
          <a:p>
            <a:r>
              <a:rPr sz="1800">
                <a:latin typeface="Calibri"/>
              </a:rPr>
              <a:t>경제 효율성 평가는 할인율, 수명주기비용, 에너지 가격 전망 포함(Allcott &amp; Greenstone, 2012)</a:t>
            </a:r>
          </a:p>
          <a:p>
            <a:r>
              <a:rPr sz="1800">
                <a:latin typeface="Calibri"/>
              </a:rPr>
              <a:t>정책 설계는 기술 기준(최소 성능) + 경제성 평가(인센티브) 결합이 중요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0CF80D-8C87-4FA3-B379-D36BB19B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9E3ED-7AB6-4607-AAE6-97C1576A0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13.6 정책수단: 큰 틀(Policy Mix)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규제(기준) + 가격/재정 유인 + 정보/행동개입을 결합하는 ‘정책조합’이 일반적으로 효과적</a:t>
            </a:r>
          </a:p>
          <a:p>
            <a:r>
              <a:rPr sz="1800">
                <a:latin typeface="Calibri"/>
              </a:rPr>
              <a:t>시장실패 유형별 처방이 다름: 정보→라벨링/비교정보, 외부성→가격/규제, 거래비용·편향→넛지</a:t>
            </a:r>
          </a:p>
          <a:p>
            <a:r>
              <a:rPr sz="1800">
                <a:latin typeface="Calibri"/>
              </a:rPr>
              <a:t>정책 설계 핵심: 타겟팅(대상), 추가성(additionality), 검증(M&amp;V), 형평성</a:t>
            </a:r>
          </a:p>
          <a:p>
            <a:r>
              <a:rPr sz="1800">
                <a:latin typeface="Calibri"/>
              </a:rPr>
              <a:t>실행기관(정부·지자체·공기업)과 시장(제조·시공·ESCO)의 역할분담 필요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FDB91E-9768-4997-A54D-0E18ADBED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DC9BAE-54A2-48F0-B5D3-2F9407AD9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13.6.1 명령-통제형 규제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MEPS(최소 에너지 성능 기준): 비효율 제품의 시장 퇴출(Newell et al., 1999)</a:t>
            </a:r>
          </a:p>
          <a:p>
            <a:r>
              <a:rPr sz="1800">
                <a:latin typeface="Calibri"/>
              </a:rPr>
              <a:t>건물 에너지 코드: 단열·창호·설비 성능 기준으로 구조적 낭비 방지</a:t>
            </a:r>
          </a:p>
          <a:p>
            <a:r>
              <a:rPr sz="1800">
                <a:latin typeface="Calibri"/>
              </a:rPr>
              <a:t>의무 교체/사용 금지: 노후·비효율 설비 퇴출(강제력 높음)</a:t>
            </a:r>
          </a:p>
          <a:p>
            <a:r>
              <a:rPr sz="1800">
                <a:latin typeface="Calibri"/>
              </a:rPr>
              <a:t>장점: 예측 가능·확산 속도 / 한계: 이질성 미반영, 혁신 저해 위험(Jaffe et al., 2002)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3063D3-1C69-4D2B-A903-3CDA1573F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21C5E8-24F9-4A40-9994-85F628D2E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13.6.2 경제적 유인: 보조금·세금·리베이트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목표: 초기 투자장벽 완화 → 비용·편익 구조를 변화시켜 채택 유도</a:t>
            </a:r>
          </a:p>
          <a:p>
            <a:r>
              <a:rPr sz="1800">
                <a:latin typeface="Calibri"/>
              </a:rPr>
              <a:t>보조금/세액공제: 고효율 제품·리모델링 투자비 일부 지원(Allcott &amp; Greenstone, 2012)</a:t>
            </a:r>
          </a:p>
          <a:p>
            <a:r>
              <a:rPr sz="1800">
                <a:latin typeface="Calibri"/>
              </a:rPr>
              <a:t>리베이트: 구매 후 환급 → 보급률을 단기간에 높이기 용이</a:t>
            </a:r>
          </a:p>
          <a:p>
            <a:r>
              <a:rPr sz="1800">
                <a:latin typeface="Calibri"/>
              </a:rPr>
              <a:t>세금/부과금: 비효율 선택에 가격 신호 제공(외부성 일부 내부화)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ED085-061F-4723-A2D7-10CB0C12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AFAFB3-38A2-4E78-9892-F5A11F36F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유인정책의 한계와 개선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무임승차(Free-rider): 보조금 없이도 구매했을 수요에 지원이 지급(Gillingham et al., 2009)</a:t>
            </a:r>
          </a:p>
          <a:p>
            <a:r>
              <a:rPr sz="1800">
                <a:latin typeface="Calibri"/>
              </a:rPr>
              <a:t>타겟팅: 소득·건물 유형·노후도·에너지빈곤 등 조건부 설계로 효율성/형평성 제고</a:t>
            </a:r>
          </a:p>
          <a:p>
            <a:r>
              <a:rPr sz="1800">
                <a:latin typeface="Calibri"/>
              </a:rPr>
              <a:t>성과기반 지급: 절감된 에너지량에 연동한 보상(ESCO 모델 등) (IEA, 2022)</a:t>
            </a:r>
          </a:p>
          <a:p>
            <a:r>
              <a:rPr sz="1800">
                <a:latin typeface="Calibri"/>
              </a:rPr>
              <a:t>M&amp;V(측정·검증): 실제 절감 확인이 정책 신뢰성과 재정 효율을 좌우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F68493-13B4-42E1-BE8C-D63AF5B45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4178A0-3A65-40D5-96D0-21CD9433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13.6.3 정보 제공 정책 및 교육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라벨링/인증: 효율 등급, 예상 연간 비용, 소비량을 직관적으로 제시(US EPA, 2020)</a:t>
            </a:r>
          </a:p>
          <a:p>
            <a:r>
              <a:rPr sz="1800">
                <a:latin typeface="Calibri"/>
              </a:rPr>
              <a:t>비교 정보 제공: 유사 가구 대비 사용량 피드백 → 행동 변화(Allcott, 2011)</a:t>
            </a:r>
          </a:p>
          <a:p>
            <a:r>
              <a:rPr sz="1800">
                <a:latin typeface="Calibri"/>
              </a:rPr>
              <a:t>교육 캠페인: 에너지 문해력(energy literacy) 제고, 장기적 행동 변화(Delmas et al., 2013)</a:t>
            </a:r>
          </a:p>
          <a:p>
            <a:r>
              <a:rPr sz="1800">
                <a:latin typeface="Calibri"/>
              </a:rPr>
              <a:t>한계: 정보만으로는 편향·제약을 극복하기 어려워 유인/규제와 결합 필요(Allcott &amp; Taubinsky, 2015)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92D86-35D5-4AF1-8250-09F72D76E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0894C-E5EC-4F38-B60C-A9D470BE3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13.6.4 효율 표준 및 라벨링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표준(MEPS): 시장의 ‘하한선’을 설정 → 비효율 제품 퇴출</a:t>
            </a:r>
          </a:p>
          <a:p>
            <a:r>
              <a:rPr sz="1800">
                <a:latin typeface="Calibri"/>
              </a:rPr>
              <a:t>라벨링: 소비자 선택을 통해 ‘상향 경쟁’을 유도(Newell &amp; Siikamäki, 2014)</a:t>
            </a:r>
          </a:p>
          <a:p>
            <a:r>
              <a:rPr sz="1800">
                <a:latin typeface="Calibri"/>
              </a:rPr>
              <a:t>행태설계 포인트: 복잡한 기술정보보다 ‘연간 비용’ 등 의미 있는 지표를 전면 배치</a:t>
            </a:r>
          </a:p>
          <a:p>
            <a:r>
              <a:rPr sz="1800">
                <a:latin typeface="Calibri"/>
              </a:rPr>
              <a:t>최근: 디지털 라벨, 실시간 비교 플랫폼, 보조금 연동 등으로 진화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21E1F-6E59-489F-9A75-ED70F6874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FA648-E6A2-4D51-8355-124E76965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정부실패 관점: 정책의 부작용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일률적 기준/보조금은 이질성을 반영하지 못해 재정 비효율·형평성 문제 초래 가능</a:t>
            </a:r>
          </a:p>
          <a:p>
            <a:r>
              <a:rPr sz="1800">
                <a:latin typeface="Calibri"/>
              </a:rPr>
              <a:t>관료적 유연성 부족: 기술 변화·시장 변화에 정책이 뒤처질 위험</a:t>
            </a:r>
          </a:p>
          <a:p>
            <a:r>
              <a:rPr sz="1800">
                <a:latin typeface="Calibri"/>
              </a:rPr>
              <a:t>규제 포획: 특정 이해관계가 정책을 왜곡할 수 있음</a:t>
            </a:r>
          </a:p>
          <a:p>
            <a:r>
              <a:rPr sz="1800">
                <a:latin typeface="Calibri"/>
              </a:rPr>
              <a:t>해결: 투명성, 사후평가, 참여적 거버넌스, 정책 일관성 강화(Sunstein &amp; Reisch, 2014)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2A0BFE-8EB2-4503-A043-6938C2F2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6CFD5-D65C-47D6-86CF-AE6E86D7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13.7 기술혁신과 효율성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효율 향상은 ‘기술 개발’뿐 아니라 ‘확산’과 ‘학습’의 동태 과정에 의해 좌우</a:t>
            </a:r>
          </a:p>
          <a:p>
            <a:r>
              <a:rPr sz="1800">
                <a:latin typeface="Calibri"/>
              </a:rPr>
              <a:t>초기에는 비용·불확실성으로 확산이 느리지만 임계점 이후 급속 확산(S-curve) (Rogers, 2003)</a:t>
            </a:r>
          </a:p>
          <a:p>
            <a:r>
              <a:rPr sz="1800">
                <a:latin typeface="Calibri"/>
              </a:rPr>
              <a:t>확산이 누적될수록 생산·설치 경험이 축적되어 비용 하락(학습곡선) (McDonald &amp; Schrattenholzer, 2001)</a:t>
            </a:r>
          </a:p>
          <a:p>
            <a:r>
              <a:rPr sz="1800">
                <a:latin typeface="Calibri"/>
              </a:rPr>
              <a:t>정책은 초기시장 창출을 통해 학습기회를 제공하고 장기 비용을 낮추는 역할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F02E24-1F28-4EE5-9BD4-753AF54B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1EEBC-2D95-457A-A4E1-8F29DC1AA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13.7.1 기술 확산과 학습곡선(예: LED)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학습률: 누적 생산량이 2배 증가할 때 단위비용이 10~30% 감소하는 사례가 보고(McDonald &amp; Schrattenholzer, 2001)</a:t>
            </a:r>
          </a:p>
          <a:p>
            <a:r>
              <a:rPr sz="1800">
                <a:latin typeface="Calibri"/>
              </a:rPr>
              <a:t>LED는 기술개선+규모의 경제로 가격 하락, 효율 향상 → 빠른 보급 확산</a:t>
            </a:r>
          </a:p>
          <a:p>
            <a:r>
              <a:rPr sz="1800">
                <a:latin typeface="Calibri"/>
              </a:rPr>
              <a:t>유사 사례: 히트펌프, 인버터, 고성능 창호, 산업용 고효율 모터</a:t>
            </a:r>
          </a:p>
          <a:p>
            <a:r>
              <a:rPr sz="1800">
                <a:latin typeface="Calibri"/>
              </a:rPr>
              <a:t>정책 레버: 보조금·공공구매·표준 강화를 통한 초기 수요 창출(Acemoglu et al., 2012)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128697-13C3-4263-B52A-2074A6D4E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70634-9DC9-46E0-BA6D-63CD8CAF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13.7.2 혁신의 ‘방향성’과 유도된 기술변화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혁신은 중립적이지 않음: 수익성·규제·가격 신호가 R&amp;D 방향을 결정(Acemoglu et al., 2012)</a:t>
            </a:r>
          </a:p>
          <a:p>
            <a:r>
              <a:rPr sz="1800">
                <a:latin typeface="Calibri"/>
              </a:rPr>
              <a:t>에너지 효율 기술은 초기 시장이 작고 회수기간이 길며 외부성이 강함 → 과소투자 위험</a:t>
            </a:r>
          </a:p>
          <a:p>
            <a:r>
              <a:rPr sz="1800">
                <a:latin typeface="Calibri"/>
              </a:rPr>
              <a:t>따라서 ‘방향성 있는 기술정책’(세제·표준·샌드박스·인증 인프라)이 필요</a:t>
            </a:r>
          </a:p>
          <a:p>
            <a:r>
              <a:rPr sz="1800">
                <a:latin typeface="Calibri"/>
              </a:rPr>
              <a:t>사용자 친화성·시스템 통합성까지 고려해야 확산이 지속가능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89885-2F7F-4A9A-A636-E8A31DD8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342D3-4E0C-4C77-8991-7DD043667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13.8 정책효과 평가와 반등효과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효율 개선이 ‘기술적 잠재 절감’만큼 실질 절감으로 이어지지 않을 수 있음</a:t>
            </a:r>
          </a:p>
          <a:p>
            <a:r>
              <a:rPr sz="1800">
                <a:latin typeface="Calibri"/>
              </a:rPr>
              <a:t>원인: 효율 향상 → 서비스 단가 하락 → 사용량 증가(직접 반등) (Sorrell, 2009)</a:t>
            </a:r>
          </a:p>
          <a:p>
            <a:r>
              <a:rPr sz="1800">
                <a:latin typeface="Calibri"/>
              </a:rPr>
              <a:t>또는 절감된 비용이 다른 에너지 소비로 전환(간접 반등)</a:t>
            </a:r>
          </a:p>
          <a:p>
            <a:r>
              <a:rPr sz="1800">
                <a:latin typeface="Calibri"/>
              </a:rPr>
              <a:t>정책평가에서 반등효과를 정량화하여 순절감(Net saving)을 산정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C1E15-E81D-4173-B71C-290DCE3C8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D915E-E397-4111-9174-26576C9F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반등효과 예시(교재의 수치 예)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가정: 새 에어컨이 기존 대비 50% 효율 개선</a:t>
            </a:r>
          </a:p>
          <a:p>
            <a:r>
              <a:rPr sz="1800">
                <a:latin typeface="Calibri"/>
              </a:rPr>
              <a:t>기대: 1000kWh → 500kWh(절감 500kWh)</a:t>
            </a:r>
          </a:p>
          <a:p>
            <a:r>
              <a:rPr sz="1800">
                <a:latin typeface="Calibri"/>
              </a:rPr>
              <a:t>실제: 사용 증가로 600kWh 소비(실질 절감 400kWh)</a:t>
            </a:r>
          </a:p>
          <a:p>
            <a:r>
              <a:rPr sz="1800">
                <a:latin typeface="Calibri"/>
              </a:rPr>
              <a:t>반등효과 = (예상 절감 − 실질 절감) / 예상 절감 = (500−400)/500 = 20%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13A40-FF1D-44BD-AB59-D1E90AD66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A93307-7ED1-4E82-A893-53CBAC9D1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반등효과의 경제학: 대체효과·소득효과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효율 향상은 에너지 서비스의 ‘상대가격’을 낮춤 → 대체효과로 사용량 증가</a:t>
            </a:r>
          </a:p>
          <a:p>
            <a:r>
              <a:rPr sz="1800">
                <a:latin typeface="Calibri"/>
              </a:rPr>
              <a:t>비용 절감은 가처분소득 증가처럼 작용 → 소득효과로 전체 소비 확대</a:t>
            </a:r>
          </a:p>
          <a:p>
            <a:r>
              <a:rPr sz="1800">
                <a:latin typeface="Calibri"/>
              </a:rPr>
              <a:t>따라서 에너지 사용이 감소하지 않거나 일부 증가할 수도 있음</a:t>
            </a:r>
          </a:p>
          <a:p>
            <a:r>
              <a:rPr sz="1800">
                <a:latin typeface="Calibri"/>
              </a:rPr>
              <a:t>정책 함의: 가격정책(탄소세 등)·수요관리와 결합해 순절감을 확보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9EFA5B-F42C-4A2C-9E4C-3158448B7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2200C-E262-48AC-84BB-2640E8693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sz="3200"/>
              <a:t>반등효과의 경제학: 대체효과·소득효과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ko-KR" altLang="en-US" sz="1800">
                <a:latin typeface="Calibri"/>
              </a:rPr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1FF6DA9-008F-8B48-92A6-B652298478BF}" type="slidenum">
              <a:rPr lang="en-US"/>
              <a:pPr lvl="0">
                <a:defRPr/>
              </a:pPr>
              <a:t>36</a:t>
            </a:fld>
            <a:endParaRPr 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264596" y="1381767"/>
            <a:ext cx="3579260" cy="436866"/>
          </a:xfrm>
          <a:prstGeom prst="rect">
            <a:avLst/>
          </a:prstGeom>
        </p:spPr>
        <p:txBody>
          <a:bodyPr wrap="none"/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13-2]</a:t>
            </a:r>
            <a:r>
              <a:rPr lang="ko-KR" altLang="en-US"/>
              <a:t> 연비 향상과 주행거리 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264597" y="1818634"/>
            <a:ext cx="7871579" cy="401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47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반등효과의 유형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직접 반등: 해당 서비스(조명·냉방·주행)의 사용 증가(Greening et al., 2000)</a:t>
            </a:r>
          </a:p>
          <a:p>
            <a:r>
              <a:rPr sz="1800">
                <a:latin typeface="Calibri"/>
              </a:rPr>
              <a:t>간접 반등: 절감 비용이 다른 에너지 소비 활동으로 이동</a:t>
            </a:r>
          </a:p>
          <a:p>
            <a:r>
              <a:rPr sz="1800">
                <a:latin typeface="Calibri"/>
              </a:rPr>
              <a:t>일반균형 효과: 생산성·가격 변화가 경제 전반의 수요를 변화</a:t>
            </a:r>
          </a:p>
          <a:p>
            <a:r>
              <a:rPr sz="1800">
                <a:latin typeface="Calibri"/>
              </a:rPr>
              <a:t>실증적으로는 보통 ‘부분 상쇄’ 수준이라는 결과가 많으나(문헌 다양) 정밀 추정이 필요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120FD1-78C9-4B6D-9B24-435F9D191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1649C3-9AE2-4E1D-87A8-B312C826A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13.7.4 실증 연구 결과(요지)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Calibri"/>
              </a:rPr>
              <a:t>효율 정책의 평균 효과는 정책 설계(타겟팅·검증·보완수단)에 크게 의존</a:t>
            </a:r>
          </a:p>
          <a:p>
            <a:r>
              <a:rPr sz="1800">
                <a:latin typeface="Calibri"/>
              </a:rPr>
              <a:t>라벨링/비교정보는 평균적으로 유의한 절감 효과를 보고(Delmas et al., 2013)</a:t>
            </a:r>
          </a:p>
          <a:p>
            <a:r>
              <a:rPr sz="1800">
                <a:latin typeface="Calibri"/>
              </a:rPr>
              <a:t>보조금은 확산을 가속하나 무임승차 문제를 줄이는 설계가 핵심</a:t>
            </a:r>
          </a:p>
          <a:p>
            <a:r>
              <a:rPr sz="1800">
                <a:latin typeface="Calibri"/>
              </a:rPr>
              <a:t>규제(MEPS)는 하한선을 높여 기술혁신·시장 구조를 바꾸는 장점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E78D81-E9CF-48CE-8829-920EEDFB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에너지 경제학 제</a:t>
            </a:r>
            <a:r>
              <a:rPr lang="en-US" altLang="ko-KR"/>
              <a:t>13</a:t>
            </a:r>
            <a:r>
              <a:rPr lang="ko-KR" altLang="en-US"/>
              <a:t>장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6350A7-C06D-4044-B266-467F0605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2696</Words>
  <Application>Microsoft Office PowerPoint</Application>
  <PresentationFormat>와이드스크린</PresentationFormat>
  <Paragraphs>253</Paragraphs>
  <Slides>38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3" baseType="lpstr">
      <vt:lpstr>나눔스퀘어 네오 OTF Heavy</vt:lpstr>
      <vt:lpstr>맑은 고딕</vt:lpstr>
      <vt:lpstr>Arial</vt:lpstr>
      <vt:lpstr>Calibri</vt:lpstr>
      <vt:lpstr>Office Theme</vt:lpstr>
      <vt:lpstr>PowerPoint 프레젠테이션</vt:lpstr>
      <vt:lpstr>제13장 에너지 효율성</vt:lpstr>
      <vt:lpstr>제13장 에너지 효율성</vt:lpstr>
      <vt:lpstr>13.1 서론: 왜 효율성인가?</vt:lpstr>
      <vt:lpstr>학습 목표(강의 흐름)</vt:lpstr>
      <vt:lpstr>13.2 에너지 효율성의 개념</vt:lpstr>
      <vt:lpstr>13.2.1 기술적 정의와 예시</vt:lpstr>
      <vt:lpstr>13.2.1 경제학적 확장: 집약도와 구조효과</vt:lpstr>
      <vt:lpstr>13.2.2 에너지 효율성 vs 에너지 절약</vt:lpstr>
      <vt:lpstr>13.3 효율 향상의 경제적 효과: 개관</vt:lpstr>
      <vt:lpstr>13.3.1 소비자 비용 절감 메커니즘</vt:lpstr>
      <vt:lpstr>사례: 가정 부문의 비용 절감</vt:lpstr>
      <vt:lpstr>13.3.2 환경 편익: 온실가스·대기오염</vt:lpstr>
      <vt:lpstr>13.3.3 에너지 안보·수입 의존도 감소</vt:lpstr>
      <vt:lpstr>13.4 효율성 갭(에너지 패러독스)</vt:lpstr>
      <vt:lpstr>13.4.1 정보비대칭과 불완전 정보</vt:lpstr>
      <vt:lpstr>13.4.2 외부성(양의 외부효과)</vt:lpstr>
      <vt:lpstr>13.4.3 거래비용과 제한된 합리성</vt:lpstr>
      <vt:lpstr>13.5 측정과 지표: 왜 중요한가?</vt:lpstr>
      <vt:lpstr>13.5.1 에너지 집약도(Energy Intensity)</vt:lpstr>
      <vt:lpstr>13.5.1 에너지 집약도(Energy Intensity)</vt:lpstr>
      <vt:lpstr>13.5.2 기술 효율성 vs 경제 효율성</vt:lpstr>
      <vt:lpstr>13.6 정책수단: 큰 틀(Policy Mix)</vt:lpstr>
      <vt:lpstr>13.6.1 명령-통제형 규제</vt:lpstr>
      <vt:lpstr>13.6.2 경제적 유인: 보조금·세금·리베이트</vt:lpstr>
      <vt:lpstr>유인정책의 한계와 개선</vt:lpstr>
      <vt:lpstr>13.6.3 정보 제공 정책 및 교육</vt:lpstr>
      <vt:lpstr>13.6.4 효율 표준 및 라벨링</vt:lpstr>
      <vt:lpstr>정부실패 관점: 정책의 부작용</vt:lpstr>
      <vt:lpstr>13.7 기술혁신과 효율성</vt:lpstr>
      <vt:lpstr>13.7.1 기술 확산과 학습곡선(예: LED)</vt:lpstr>
      <vt:lpstr>13.7.2 혁신의 ‘방향성’과 유도된 기술변화</vt:lpstr>
      <vt:lpstr>13.8 정책효과 평가와 반등효과</vt:lpstr>
      <vt:lpstr>반등효과 예시(교재의 수치 예)</vt:lpstr>
      <vt:lpstr>반등효과의 경제학: 대체효과·소득효과</vt:lpstr>
      <vt:lpstr>반등효과의 경제학: 대체효과·소득효과</vt:lpstr>
      <vt:lpstr>반등효과의 유형</vt:lpstr>
      <vt:lpstr>13.7.4 실증 연구 결과(요지)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donghun kim</dc:creator>
  <cp:lastModifiedBy>장 규식</cp:lastModifiedBy>
  <cp:revision>6</cp:revision>
  <dcterms:created xsi:type="dcterms:W3CDTF">2026-02-24T12:25:36Z</dcterms:created>
  <dcterms:modified xsi:type="dcterms:W3CDTF">2026-02-25T21:45:12Z</dcterms:modified>
</cp:coreProperties>
</file>