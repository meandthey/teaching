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301" r:id="rId2"/>
    <p:sldId id="256" r:id="rId3"/>
    <p:sldId id="263" r:id="rId4"/>
    <p:sldId id="264" r:id="rId5"/>
    <p:sldId id="276" r:id="rId6"/>
    <p:sldId id="278" r:id="rId7"/>
    <p:sldId id="258" r:id="rId8"/>
    <p:sldId id="277" r:id="rId9"/>
    <p:sldId id="265" r:id="rId10"/>
    <p:sldId id="279" r:id="rId11"/>
    <p:sldId id="280" r:id="rId12"/>
    <p:sldId id="266" r:id="rId13"/>
    <p:sldId id="267" r:id="rId14"/>
    <p:sldId id="281" r:id="rId15"/>
    <p:sldId id="282" r:id="rId16"/>
    <p:sldId id="283" r:id="rId17"/>
    <p:sldId id="285" r:id="rId18"/>
    <p:sldId id="284" r:id="rId19"/>
    <p:sldId id="286" r:id="rId20"/>
    <p:sldId id="287" r:id="rId21"/>
    <p:sldId id="288" r:id="rId22"/>
    <p:sldId id="289" r:id="rId23"/>
    <p:sldId id="290" r:id="rId24"/>
    <p:sldId id="293" r:id="rId25"/>
    <p:sldId id="294" r:id="rId26"/>
    <p:sldId id="295" r:id="rId27"/>
    <p:sldId id="296" r:id="rId28"/>
    <p:sldId id="297" r:id="rId29"/>
    <p:sldId id="298" r:id="rId30"/>
    <p:sldId id="299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59" autoAdjust="0"/>
    <p:restoredTop sz="94660"/>
  </p:normalViewPr>
  <p:slideViewPr>
    <p:cSldViewPr snapToGrid="0">
      <p:cViewPr varScale="1">
        <p:scale>
          <a:sx n="90" d="100"/>
          <a:sy n="90" d="100"/>
        </p:scale>
        <p:origin x="648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4096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0405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53282-541D-28A7-760C-8526A655EEFC}"/>
              </a:ext>
            </a:extLst>
          </p:cNvPr>
          <p:cNvSpPr txBox="1">
            <a:spLocks/>
          </p:cNvSpPr>
          <p:nvPr/>
        </p:nvSpPr>
        <p:spPr>
          <a:xfrm>
            <a:off x="1066800" y="1839049"/>
            <a:ext cx="10058400" cy="35661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본 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PPT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는 </a:t>
            </a:r>
            <a:r>
              <a:rPr lang="ko-KR" altLang="en-US" sz="3000" dirty="0">
                <a:solidFill>
                  <a:srgbClr val="FF0000"/>
                </a:solidFill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강의 보조용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으로만 제공되는 것으로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, 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이를 복제 및 배포하거나 이를 편집하여 무단 이용 및 인쇄물로 제작하는 행위를 허용하지 않으므로 위배 시 저작권법에 따라 민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r>
              <a:rPr lang="ko-KR" altLang="en-US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형사상의 책임이 따름을 알려 드립니다</a:t>
            </a:r>
            <a:r>
              <a:rPr lang="en-US" altLang="ko-KR" sz="3000" dirty="0">
                <a:latin typeface="나눔스퀘어 네오 OTF Heavy" panose="00000A00000000000000" pitchFamily="50" charset="-127"/>
                <a:ea typeface="나눔스퀘어 네오 OTF Heavy" panose="00000A00000000000000" pitchFamily="50" charset="-127"/>
              </a:rPr>
              <a:t>.</a:t>
            </a:r>
            <a:endParaRPr lang="ko-KR" altLang="en-US" sz="3000" dirty="0">
              <a:latin typeface="나눔스퀘어 네오 OTF Heavy" panose="00000A00000000000000" pitchFamily="50" charset="-127"/>
              <a:ea typeface="나눔스퀘어 네오 OTF Heavy" panose="00000A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303F57-B9CB-CB49-B472-2A139CEA1F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3" r="10909" b="8674"/>
          <a:stretch/>
        </p:blipFill>
        <p:spPr>
          <a:xfrm>
            <a:off x="5437305" y="490953"/>
            <a:ext cx="1245793" cy="109850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0FAFE3E-F050-80D5-57E7-BD9D5E0ED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8674" y="5386798"/>
            <a:ext cx="2443054" cy="595360"/>
          </a:xfrm>
          <a:prstGeom prst="rect">
            <a:avLst/>
          </a:prstGeom>
        </p:spPr>
      </p:pic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8CAF42D9-585E-DAAD-D631-3E519463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4180" y="6448211"/>
            <a:ext cx="5938164" cy="365125"/>
          </a:xfrm>
        </p:spPr>
        <p:txBody>
          <a:bodyPr/>
          <a:lstStyle/>
          <a:p>
            <a:r>
              <a:rPr lang="ko-KR" altLang="en-US" dirty="0"/>
              <a:t>본 </a:t>
            </a:r>
            <a:r>
              <a:rPr lang="en-US" altLang="ko-KR" dirty="0"/>
              <a:t>PPT</a:t>
            </a:r>
            <a:r>
              <a:rPr lang="ko-KR" altLang="en-US" dirty="0"/>
              <a:t>를 복제 및 배포하는 행위를 일절 금합니다</a:t>
            </a:r>
            <a:r>
              <a:rPr lang="en-US" altLang="ko-KR" dirty="0"/>
              <a:t>. </a:t>
            </a:r>
            <a:r>
              <a:rPr lang="ko-KR" altLang="en-US" dirty="0"/>
              <a:t>위배 시</a:t>
            </a:r>
            <a:r>
              <a:rPr lang="en-US" altLang="ko-KR" dirty="0"/>
              <a:t>, </a:t>
            </a:r>
            <a:r>
              <a:rPr lang="ko-KR" altLang="en-US" dirty="0"/>
              <a:t>민</a:t>
            </a:r>
            <a:r>
              <a:rPr lang="en-US" altLang="ko-KR" dirty="0"/>
              <a:t>·</a:t>
            </a:r>
            <a:r>
              <a:rPr lang="ko-KR" altLang="en-US" dirty="0"/>
              <a:t>형사상의 책임이 따름을 알려드립니다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4068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2278" r="-1" b="-1"/>
          <a:stretch>
            <a:fillRect/>
          </a:stretch>
        </p:blipFill>
        <p:spPr>
          <a:xfrm>
            <a:off x="187387" y="182880"/>
            <a:ext cx="11876186" cy="6499784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98182" y="1122363"/>
            <a:ext cx="10266536" cy="2217158"/>
          </a:xfrm>
        </p:spPr>
        <p:txBody>
          <a:bodyPr>
            <a:normAutofit/>
          </a:bodyPr>
          <a:lstStyle/>
          <a:p>
            <a:pPr lvl="0" algn="l">
              <a:defRPr/>
            </a:pPr>
            <a:r>
              <a:rPr lang="ko-KR" altLang="en-US" sz="5200">
                <a:solidFill>
                  <a:srgbClr val="FFFFFF"/>
                </a:solidFill>
                <a:ea typeface="맑은 고딕"/>
              </a:rPr>
              <a:t>제</a:t>
            </a:r>
            <a:r>
              <a:rPr lang="en-US" altLang="ko-KR" sz="5200">
                <a:solidFill>
                  <a:srgbClr val="FFFFFF"/>
                </a:solidFill>
                <a:ea typeface="맑은 고딕"/>
              </a:rPr>
              <a:t>2</a:t>
            </a:r>
            <a:r>
              <a:rPr lang="ko-KR" altLang="en-US" sz="5200">
                <a:solidFill>
                  <a:srgbClr val="FFFFFF"/>
                </a:solidFill>
                <a:ea typeface="맑은 고딕"/>
              </a:rPr>
              <a:t>장 에너지 시장의 수요와 공급 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98181" y="3526021"/>
            <a:ext cx="9795637" cy="2042260"/>
          </a:xfrm>
        </p:spPr>
        <p:txBody>
          <a:bodyPr>
            <a:normAutofit/>
          </a:bodyPr>
          <a:lstStyle/>
          <a:p>
            <a:pPr algn="l"/>
            <a:endParaRPr lang="ko-KR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1.</a:t>
            </a:r>
            <a:r>
              <a:rPr lang="ko-KR" altLang="en-US" sz="3400"/>
              <a:t> 서론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527251"/>
            <a:ext cx="10894304" cy="4649712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ko-KR" altLang="en-US" sz="2000"/>
              <a:t>에너지는 공급 조절의 단기 조정이 쉽지 않음</a:t>
            </a:r>
          </a:p>
          <a:p>
            <a:pPr lvl="2">
              <a:defRPr/>
            </a:pPr>
            <a:r>
              <a:rPr lang="ko-KR" altLang="en-US" sz="2000"/>
              <a:t>원유의 생산 확대</a:t>
            </a:r>
            <a:r>
              <a:rPr lang="en-US" altLang="ko-KR" sz="2000"/>
              <a:t>,</a:t>
            </a:r>
            <a:r>
              <a:rPr lang="ko-KR" altLang="en-US" sz="2000"/>
              <a:t> 전력 공급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생산과 소비과정에서 외부효과 발생</a:t>
            </a:r>
          </a:p>
          <a:p>
            <a:pPr lvl="2">
              <a:defRPr/>
            </a:pPr>
            <a:r>
              <a:rPr lang="ko-KR" altLang="en-US" sz="2000"/>
              <a:t>환경오염</a:t>
            </a:r>
            <a:r>
              <a:rPr lang="en-US" altLang="ko-KR" sz="2000"/>
              <a:t>,</a:t>
            </a:r>
            <a:r>
              <a:rPr lang="ko-KR" altLang="en-US" sz="2000"/>
              <a:t> 온실 가스 배출</a:t>
            </a:r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에너지 시장의 균형은 복잡한 정책적</a:t>
            </a:r>
            <a:r>
              <a:rPr lang="en-US" altLang="ko-KR" sz="2000"/>
              <a:t>,</a:t>
            </a:r>
            <a:r>
              <a:rPr lang="ko-KR" altLang="en-US" sz="2000"/>
              <a:t> 기술적</a:t>
            </a:r>
            <a:r>
              <a:rPr lang="en-US" altLang="ko-KR" sz="2000"/>
              <a:t>,</a:t>
            </a:r>
            <a:r>
              <a:rPr lang="ko-KR" altLang="en-US" sz="2000"/>
              <a:t> 환경적 요소들의 상호작용에 영향을 받음</a:t>
            </a:r>
          </a:p>
          <a:p>
            <a:pPr lvl="2">
              <a:defRPr/>
            </a:pPr>
            <a:r>
              <a:rPr lang="en-US" altLang="ko-KR" sz="2000"/>
              <a:t>OPEC</a:t>
            </a:r>
            <a:r>
              <a:rPr lang="ko-KR" altLang="en-US" sz="2000"/>
              <a:t>의 영향</a:t>
            </a:r>
            <a:r>
              <a:rPr lang="en-US" altLang="ko-KR" sz="2000"/>
              <a:t>,</a:t>
            </a:r>
            <a:r>
              <a:rPr lang="ko-KR" altLang="en-US" sz="2000"/>
              <a:t> 재생에너지와 저장장치 기술</a:t>
            </a:r>
            <a:r>
              <a:rPr lang="en-US" altLang="ko-KR" sz="2000"/>
              <a:t>,</a:t>
            </a:r>
            <a:r>
              <a:rPr lang="ko-KR" altLang="en-US" sz="2000"/>
              <a:t> 분산형 에너지 시스템</a:t>
            </a:r>
          </a:p>
          <a:p>
            <a:pPr lvl="2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</p:spTree>
    <p:extLst>
      <p:ext uri="{BB962C8B-B14F-4D97-AF65-F5344CB8AC3E}">
        <p14:creationId xmlns:p14="http://schemas.microsoft.com/office/powerpoint/2010/main" val="110138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 시장의 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527251"/>
            <a:ext cx="10894304" cy="4649712"/>
          </a:xfrm>
        </p:spPr>
        <p:txBody>
          <a:bodyPr>
            <a:normAutofit/>
          </a:bodyPr>
          <a:lstStyle/>
          <a:p>
            <a:pPr lvl="1">
              <a:defRPr/>
            </a:pPr>
            <a:r>
              <a:rPr lang="ko-KR" altLang="en-US" sz="2000"/>
              <a:t>에너지 수요량은 소비자가 지불할 능력과 의사가 있을 때 소비하는 에너지의 양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에너지 수요함수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수요함수는 다른 모든 요인들을 고정시키고</a:t>
            </a:r>
            <a:r>
              <a:rPr lang="en-US" altLang="ko-KR" sz="2000"/>
              <a:t>(Ceteris Paribus) </a:t>
            </a:r>
            <a:r>
              <a:rPr lang="ko-KR" altLang="en-US" sz="2000"/>
              <a:t>에너지의 가격과 수요량과의 관계를 나타냄</a:t>
            </a:r>
          </a:p>
          <a:p>
            <a:pPr lvl="2">
              <a:defRPr/>
            </a:pPr>
            <a:endParaRPr lang="ko-KR" altLang="en-US" sz="2000"/>
          </a:p>
          <a:p>
            <a:pPr lvl="2">
              <a:defRPr/>
            </a:pPr>
            <a:r>
              <a:rPr lang="ko-KR" altLang="en-US" sz="2000"/>
              <a:t>수요의 법칙</a:t>
            </a:r>
            <a:r>
              <a:rPr lang="en-US" altLang="ko-KR" sz="2000"/>
              <a:t>:</a:t>
            </a:r>
            <a:r>
              <a:rPr lang="ko-KR" altLang="en-US" sz="2000"/>
              <a:t> 다른 변수들이 고정되어 있을 때 에너지 가격이 상승할 때 에너지 수요는 감소하는 현상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ko-KR" altLang="en-US"/>
              <a:pPr lvl="0">
                <a:defRPr/>
              </a:pPr>
              <a:t>4</a:t>
            </a:fld>
            <a:endParaRPr lang="ko-KR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900718" y="2877834"/>
            <a:ext cx="2324572" cy="358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                       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자유형 10"/>
              <p:cNvSpPr/>
              <p:nvPr/>
            </p:nvSpPr>
            <p:spPr>
              <a:xfrm>
                <a:off x="1870752" y="2470292"/>
                <a:ext cx="2286000" cy="419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𝑓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, 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𝐸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𝑇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𝐷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𝐺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1" name=""/>
              <p:cNvSpPr txBox="1"/>
              <p:nvPr/>
            </p:nvSpPr>
            <p:spPr>
              <a:xfrm>
                <a:off x="1870752" y="2470292"/>
                <a:ext cx="2286000" cy="4191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자유형 12"/>
              <p:cNvSpPr/>
              <p:nvPr/>
            </p:nvSpPr>
            <p:spPr>
              <a:xfrm>
                <a:off x="1805254" y="2986087"/>
                <a:ext cx="5353050" cy="8858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𝑑</m:t>
                          </m:r>
                        </m:sup>
                      </m:sSup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에너지의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 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수요량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,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에너지의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가격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 i="0">
                          <a:latin typeface="Cambria Math"/>
                          <a:sym typeface="Cambria Math"/>
                        </a:rPr>
                        <m:t>𝐸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경제적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요인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𝑇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기술적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요인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𝐺</m:t>
                      </m:r>
                      <m:r>
                        <a:rPr sz="1800" i="0">
                          <a:latin typeface="Cambria Math"/>
                          <a:sym typeface="Cambria Math"/>
                        </a:rPr>
                        <m:t>: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정부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정책적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요인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3" name=""/>
              <p:cNvSpPr txBox="1"/>
              <p:nvPr/>
            </p:nvSpPr>
            <p:spPr>
              <a:xfrm>
                <a:off x="1805254" y="2986087"/>
                <a:ext cx="5353050" cy="8858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  <p:sp>
        <p:nvSpPr>
          <p:cNvPr id="14" name="가로 글상자 13"/>
          <p:cNvSpPr txBox="1"/>
          <p:nvPr/>
        </p:nvSpPr>
        <p:spPr>
          <a:xfrm>
            <a:off x="1654567" y="4472469"/>
            <a:ext cx="275198" cy="36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1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 시장의 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199" y="1527251"/>
            <a:ext cx="10894304" cy="4649712"/>
          </a:xfrm>
        </p:spPr>
        <p:txBody>
          <a:bodyPr>
            <a:normAutofit/>
          </a:bodyPr>
          <a:lstStyle/>
          <a:p>
            <a:pPr marL="457200" lvl="1" indent="0">
              <a:buNone/>
              <a:defRPr/>
            </a:pPr>
            <a:r>
              <a:rPr lang="en-US" altLang="ko-KR" sz="2000"/>
              <a:t> 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9" name="가로 글상자 8"/>
          <p:cNvSpPr txBox="1"/>
          <p:nvPr/>
        </p:nvSpPr>
        <p:spPr>
          <a:xfrm>
            <a:off x="1900718" y="2877834"/>
            <a:ext cx="2324572" cy="3587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/>
              <a:t>                          </a:t>
            </a:r>
          </a:p>
        </p:txBody>
      </p:sp>
      <p:sp>
        <p:nvSpPr>
          <p:cNvPr id="14" name="가로 글상자 13"/>
          <p:cNvSpPr txBox="1"/>
          <p:nvPr/>
        </p:nvSpPr>
        <p:spPr>
          <a:xfrm>
            <a:off x="1654567" y="4472469"/>
            <a:ext cx="275198" cy="36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endParaRPr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44424" y="1638817"/>
            <a:ext cx="5024954" cy="4027465"/>
          </a:xfrm>
          <a:prstGeom prst="rect">
            <a:avLst/>
          </a:prstGeom>
        </p:spPr>
      </p:pic>
      <p:sp>
        <p:nvSpPr>
          <p:cNvPr id="16" name="가로 글상자 15"/>
          <p:cNvSpPr txBox="1"/>
          <p:nvPr/>
        </p:nvSpPr>
        <p:spPr>
          <a:xfrm>
            <a:off x="8534631" y="1483833"/>
            <a:ext cx="2916464" cy="3621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</a:t>
            </a:r>
            <a:r>
              <a:rPr lang="en-US" altLang="ko-KR"/>
              <a:t>2-1]</a:t>
            </a:r>
            <a:r>
              <a:rPr lang="ko-KR" altLang="en-US"/>
              <a:t>에너지 수요 함수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1086766" y="1426453"/>
            <a:ext cx="5551563" cy="5296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수요의 가격 탄력성</a:t>
            </a:r>
            <a:r>
              <a:rPr lang="en-US" altLang="ko-KR"/>
              <a:t>(Price elasticity of demand: PED):</a:t>
            </a:r>
            <a:r>
              <a:rPr lang="ko-KR" altLang="en-US"/>
              <a:t>  에너지 가격이 </a:t>
            </a:r>
            <a:r>
              <a:rPr lang="en-US" altLang="ko-KR"/>
              <a:t>1%</a:t>
            </a:r>
            <a:r>
              <a:rPr lang="ko-KR" altLang="en-US"/>
              <a:t> 상승하였을 경우 수요량의 </a:t>
            </a:r>
            <a:r>
              <a:rPr lang="en-US" altLang="ko-KR"/>
              <a:t>%</a:t>
            </a:r>
            <a:r>
              <a:rPr lang="ko-KR" altLang="en-US"/>
              <a:t> 변화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          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에너지는 필수재적 성격이 강하여 수요의 가격 탄력성이 대적으로 낮은 경우가 많음</a:t>
            </a:r>
          </a:p>
          <a:p>
            <a:pPr marL="257040" lvl="0" indent="-257040">
              <a:buFont typeface="Arial"/>
              <a:buChar char="•"/>
              <a:defRPr/>
            </a:pPr>
            <a:endParaRPr lang="ko-KR" altLang="en-US"/>
          </a:p>
          <a:p>
            <a:pPr marL="257040" lvl="0" indent="-257040">
              <a:buFont typeface="Arial"/>
              <a:buChar char="•"/>
              <a:defRPr/>
            </a:pPr>
            <a:r>
              <a:rPr lang="ko-KR" altLang="en-US"/>
              <a:t>수요의 교차탄력성</a:t>
            </a:r>
            <a:r>
              <a:rPr lang="en-US" altLang="ko-KR"/>
              <a:t>(cross elasticity of demand:CED)</a:t>
            </a:r>
            <a:r>
              <a:rPr lang="ko-KR" altLang="en-US"/>
              <a:t>은 한</a:t>
            </a:r>
            <a:r>
              <a:rPr lang="en-US" altLang="ko-KR"/>
              <a:t> </a:t>
            </a:r>
            <a:r>
              <a:rPr lang="ko-KR" altLang="en-US"/>
              <a:t>에너지원의 가격이 </a:t>
            </a:r>
            <a:r>
              <a:rPr lang="en-US" altLang="ko-KR"/>
              <a:t>1%</a:t>
            </a:r>
            <a:r>
              <a:rPr lang="ko-KR" altLang="en-US"/>
              <a:t> 변할 때</a:t>
            </a:r>
            <a:r>
              <a:rPr lang="en-US" altLang="ko-KR"/>
              <a:t>,</a:t>
            </a:r>
            <a:r>
              <a:rPr lang="ko-KR" altLang="en-US"/>
              <a:t> 다른 에너지원 수요량의 </a:t>
            </a:r>
            <a:r>
              <a:rPr lang="en-US" altLang="ko-KR"/>
              <a:t>%</a:t>
            </a:r>
            <a:r>
              <a:rPr lang="ko-KR" altLang="en-US"/>
              <a:t>변화를 나타냄</a:t>
            </a:r>
          </a:p>
          <a:p>
            <a:pPr marL="0" lvl="0" indent="0">
              <a:buFont typeface="Arial"/>
              <a:buNone/>
              <a:defRPr/>
            </a:pPr>
            <a:endParaRPr lang="ko-KR" altLang="en-US"/>
          </a:p>
          <a:p>
            <a:pPr marL="0" lvl="0" indent="0">
              <a:buFont typeface="Arial"/>
              <a:buNone/>
              <a:defRPr/>
            </a:pPr>
            <a:endParaRPr lang="ko-KR" altLang="en-US"/>
          </a:p>
          <a:p>
            <a:pPr marL="0" lvl="0" indent="0">
              <a:buFont typeface="Arial"/>
              <a:buNone/>
              <a:defRPr/>
            </a:pPr>
            <a:r>
              <a:rPr lang="ko-KR" altLang="en-US"/>
              <a:t>               </a:t>
            </a:r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자유형 17"/>
              <p:cNvSpPr/>
              <p:nvPr/>
            </p:nvSpPr>
            <p:spPr>
              <a:xfrm>
                <a:off x="2197692" y="2457450"/>
                <a:ext cx="2219325" cy="9715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𝑃𝐸𝐷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0">
                              <a:latin typeface="Cambria Math"/>
                              <a:sym typeface="Cambria Math"/>
                            </a:rPr>
                            <m:t>% </m:t>
                          </m:r>
                          <m:r>
                            <a:rPr sz="1800" i="0">
                              <a:latin typeface="Cambria Math"/>
                              <a:sym typeface="Cambria Math"/>
                            </a:rPr>
                            <m:t>수요변화</m:t>
                          </m:r>
                        </m:num>
                        <m:den>
                          <m:r>
                            <a:rPr sz="1800" i="0">
                              <a:latin typeface="Cambria Math"/>
                              <a:sym typeface="Cambria Math"/>
                            </a:rPr>
                            <m:t>% </m:t>
                          </m:r>
                          <m:r>
                            <a:rPr sz="1800" i="0">
                              <a:latin typeface="Cambria Math"/>
                              <a:sym typeface="Cambria Math"/>
                            </a:rPr>
                            <m:t>가격변화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8" name=""/>
              <p:cNvSpPr txBox="1"/>
              <p:nvPr/>
            </p:nvSpPr>
            <p:spPr>
              <a:xfrm>
                <a:off x="2197692" y="2457450"/>
                <a:ext cx="2219325" cy="971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자유형 18"/>
              <p:cNvSpPr/>
              <p:nvPr/>
            </p:nvSpPr>
            <p:spPr>
              <a:xfrm>
                <a:off x="1718689" y="5353165"/>
                <a:ext cx="3705225" cy="9715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𝐶𝐸𝐷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f>
                        <m:f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𝐴</m:t>
                          </m:r>
                          <m:r>
                            <a:rPr sz="1800" b="1" i="0">
                              <a:latin typeface="Cambria Math"/>
                              <a:sym typeface="Cambria Math"/>
                            </a:rPr>
                            <m:t> 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에너지원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  % 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수요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 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변화율</m:t>
                          </m:r>
                        </m:num>
                        <m:den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𝐵</m:t>
                          </m:r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 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에너지원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 % </m:t>
                          </m:r>
                          <m:r>
                            <a:rPr sz="1800" b="0" i="0">
                              <a:latin typeface="Cambria Math"/>
                              <a:sym typeface="Cambria Math"/>
                            </a:rPr>
                            <m:t>가격변화율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9" name=""/>
              <p:cNvSpPr txBox="1"/>
              <p:nvPr/>
            </p:nvSpPr>
            <p:spPr>
              <a:xfrm>
                <a:off x="1718689" y="5353165"/>
                <a:ext cx="3705225" cy="971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894241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 수요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527252"/>
            <a:ext cx="9436864" cy="965946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비탄력적인 수요곡선은 가파른 모습을 보이며 탄력성이 클 경우 수요곡선은 수평축에 대하여 덜 가파른 모습을 보임</a:t>
            </a:r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ko-KR" altLang="en-US"/>
              <a:pPr lvl="0">
                <a:defRPr/>
              </a:pPr>
              <a:t>6</a:t>
            </a:fld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52107" y="2702805"/>
            <a:ext cx="10343423" cy="3625876"/>
          </a:xfrm>
          <a:prstGeom prst="rect">
            <a:avLst/>
          </a:prstGeom>
        </p:spPr>
      </p:pic>
      <p:sp>
        <p:nvSpPr>
          <p:cNvPr id="7" name="가로 글상자 6"/>
          <p:cNvSpPr txBox="1"/>
          <p:nvPr/>
        </p:nvSpPr>
        <p:spPr>
          <a:xfrm>
            <a:off x="3588513" y="2287146"/>
            <a:ext cx="3681677" cy="358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2-2]</a:t>
            </a:r>
            <a:r>
              <a:rPr lang="ko-KR" altLang="en-US"/>
              <a:t> 수요함수와 가격탄력성</a:t>
            </a:r>
          </a:p>
        </p:txBody>
      </p:sp>
    </p:spTree>
    <p:extLst>
      <p:ext uri="{BB962C8B-B14F-4D97-AF65-F5344CB8AC3E}">
        <p14:creationId xmlns:p14="http://schemas.microsoft.com/office/powerpoint/2010/main" val="1743968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 시장의 수요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ko-KR" altLang="en-US" sz="2000"/>
              <a:t>에너지 수요의 결정요인</a:t>
            </a:r>
          </a:p>
          <a:p>
            <a:pPr lvl="1">
              <a:defRPr/>
            </a:pPr>
            <a:r>
              <a:rPr lang="ko-KR" altLang="en-US" sz="2000"/>
              <a:t>소득 수준</a:t>
            </a:r>
          </a:p>
          <a:p>
            <a:pPr lvl="2">
              <a:defRPr/>
            </a:pPr>
            <a:r>
              <a:rPr lang="ko-KR" altLang="en-US" sz="2000"/>
              <a:t>수요의 소득 탄력성은 소득이 </a:t>
            </a:r>
            <a:r>
              <a:rPr lang="en-US" altLang="ko-KR" sz="2000"/>
              <a:t>1%</a:t>
            </a:r>
            <a:r>
              <a:rPr lang="ko-KR" altLang="en-US" sz="2000"/>
              <a:t> 증가하였을 경우 에너지 소비량의 </a:t>
            </a:r>
            <a:r>
              <a:rPr lang="en-US" altLang="ko-KR" sz="2000"/>
              <a:t>%</a:t>
            </a:r>
            <a:r>
              <a:rPr lang="ko-KR" altLang="en-US" sz="2000"/>
              <a:t> 변화량을 계측</a:t>
            </a:r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기술적 요인</a:t>
            </a:r>
          </a:p>
          <a:p>
            <a:pPr lvl="2">
              <a:defRPr/>
            </a:pPr>
            <a:r>
              <a:rPr lang="ko-KR" altLang="en-US" sz="2000"/>
              <a:t>에너지 효율성 향상은 동일한 에너지 서비스를 유지하면서 에너지 소비를 감소 시킴</a:t>
            </a:r>
          </a:p>
          <a:p>
            <a:pPr lvl="2">
              <a:defRPr/>
            </a:pPr>
            <a:r>
              <a:rPr lang="ko-KR" altLang="en-US" sz="2000"/>
              <a:t>태양광 풍력 등의 새로운 기술은 동일한 가격하에 전통적인 화석연료의 소비를 감소 시킴</a:t>
            </a:r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인구통계학적 요인</a:t>
            </a:r>
          </a:p>
          <a:p>
            <a:pPr lvl="2">
              <a:defRPr/>
            </a:pPr>
            <a:r>
              <a:rPr lang="ko-KR" altLang="en-US" sz="2000"/>
              <a:t>인구의 증가는 모든 경제 부문에서 에너지 수요 증가</a:t>
            </a:r>
          </a:p>
          <a:p>
            <a:pPr lvl="2">
              <a:defRPr/>
            </a:pPr>
            <a:r>
              <a:rPr lang="ko-KR" altLang="en-US" sz="2000"/>
              <a:t>도시화는 전력</a:t>
            </a:r>
            <a:r>
              <a:rPr lang="en-US" altLang="ko-KR" sz="2000"/>
              <a:t>,</a:t>
            </a:r>
            <a:r>
              <a:rPr lang="ko-KR" altLang="en-US" sz="2000"/>
              <a:t> 교통 등 에너지 집약적인 서비스에 대한 수요 증가로 에너지 수요 증가</a:t>
            </a:r>
          </a:p>
          <a:p>
            <a:pPr lvl="2">
              <a:defRPr/>
            </a:pPr>
            <a:r>
              <a:rPr lang="en-US" altLang="ko-KR" sz="2000"/>
              <a:t>1</a:t>
            </a:r>
            <a:r>
              <a:rPr lang="ko-KR" altLang="en-US" sz="2000"/>
              <a:t>인 가족</a:t>
            </a:r>
            <a:r>
              <a:rPr lang="en-US" altLang="ko-KR" sz="2000"/>
              <a:t>,</a:t>
            </a:r>
            <a:r>
              <a:rPr lang="ko-KR" altLang="en-US" sz="2000"/>
              <a:t> 노인 가족 등 가족 구성도 에너지 소비 패턴을 변동 시킴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ko-KR" altLang="en-US"/>
              <a:pPr lvl="0">
                <a:defRPr/>
              </a:pPr>
              <a:t>7</a:t>
            </a:fld>
            <a:endParaRPr lang="ko-KR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</p:spTree>
    <p:extLst>
      <p:ext uri="{BB962C8B-B14F-4D97-AF65-F5344CB8AC3E}">
        <p14:creationId xmlns:p14="http://schemas.microsoft.com/office/powerpoint/2010/main" val="2270426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2.</a:t>
            </a:r>
            <a:r>
              <a:rPr lang="ko-KR" altLang="en-US" sz="3400"/>
              <a:t> 에너지 시장의 수요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에너지 수요의 결정요인</a:t>
            </a:r>
          </a:p>
          <a:p>
            <a:pPr lvl="1">
              <a:defRPr/>
            </a:pPr>
            <a:r>
              <a:rPr lang="ko-KR" altLang="en-US" sz="2000"/>
              <a:t>정부 정책과 규제</a:t>
            </a: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보조금 지급과 세금 부과 등의 정부 정책은 에너지의 유효가격을 변동시킴으로써 에너지 수요를 변화 시킴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탄소세나 배출권거래제는 탄소집약적인 에너지원의 비용을 증가시켜 소비를 감소시키거나 대체에너지원의 소비를 증가시킴</a:t>
            </a:r>
          </a:p>
          <a:p>
            <a:pPr lvl="2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에너지 효율성 기술과 규제는 에너지 사용의 효율성을 증가시켜 에너지 소비를 감소시킴</a:t>
            </a:r>
          </a:p>
          <a:p>
            <a:pPr lvl="3">
              <a:lnSpc>
                <a:spcPts val="2402"/>
              </a:lnSpc>
              <a:defRPr/>
            </a:pPr>
            <a:endParaRPr lang="ko-KR" altLang="en-US" sz="2000">
              <a:solidFill>
                <a:schemeClr val="tx1"/>
              </a:solidFill>
            </a:endParaRPr>
          </a:p>
          <a:p>
            <a:pPr lvl="2">
              <a:defRPr/>
            </a:pPr>
            <a:endParaRPr lang="ko-KR" altLang="en-US" sz="2000"/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</p:spTree>
    <p:extLst>
      <p:ext uri="{BB962C8B-B14F-4D97-AF65-F5344CB8AC3E}">
        <p14:creationId xmlns:p14="http://schemas.microsoft.com/office/powerpoint/2010/main" val="1983772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3.</a:t>
            </a:r>
            <a:r>
              <a:rPr lang="ko-KR" altLang="en-US" sz="3400"/>
              <a:t> 에너지 시장의 공급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공급의 특징</a:t>
            </a:r>
          </a:p>
          <a:p>
            <a:pPr lvl="1">
              <a:defRPr/>
            </a:pPr>
            <a:r>
              <a:rPr lang="ko-KR" altLang="en-US" sz="2000"/>
              <a:t>단기적으로 에너지 공급은 비탄력적</a:t>
            </a:r>
          </a:p>
          <a:p>
            <a:pPr lvl="2">
              <a:defRPr/>
            </a:pPr>
            <a:r>
              <a:rPr lang="ko-KR" altLang="en-US" sz="2000"/>
              <a:t>탐사</a:t>
            </a:r>
            <a:r>
              <a:rPr lang="en-US" altLang="ko-KR" sz="2000"/>
              <a:t>,</a:t>
            </a:r>
            <a:r>
              <a:rPr lang="ko-KR" altLang="en-US" sz="2000"/>
              <a:t> 시추</a:t>
            </a:r>
            <a:r>
              <a:rPr lang="en-US" altLang="ko-KR" sz="2000"/>
              <a:t>,</a:t>
            </a:r>
            <a:r>
              <a:rPr lang="ko-KR" altLang="en-US" sz="2000"/>
              <a:t> 발전소 건설에 시간에 오래 걸림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공급망의 복잡성</a:t>
            </a:r>
          </a:p>
          <a:p>
            <a:pPr lvl="2">
              <a:defRPr/>
            </a:pPr>
            <a:r>
              <a:rPr lang="ko-KR" altLang="en-US" sz="2000"/>
              <a:t>공급은 생산</a:t>
            </a:r>
            <a:r>
              <a:rPr lang="en-US" altLang="ko-KR" sz="2000"/>
              <a:t>,</a:t>
            </a:r>
            <a:r>
              <a:rPr lang="ko-KR" altLang="en-US" sz="2000"/>
              <a:t> 변환</a:t>
            </a:r>
            <a:r>
              <a:rPr lang="en-US" altLang="ko-KR" sz="2000"/>
              <a:t>,</a:t>
            </a:r>
            <a:r>
              <a:rPr lang="ko-KR" altLang="en-US" sz="2000"/>
              <a:t> 저장</a:t>
            </a:r>
            <a:r>
              <a:rPr lang="en-US" altLang="ko-KR" sz="2000"/>
              <a:t>,</a:t>
            </a:r>
            <a:r>
              <a:rPr lang="ko-KR" altLang="en-US" sz="2000"/>
              <a:t> 수송</a:t>
            </a:r>
            <a:r>
              <a:rPr lang="en-US" altLang="ko-KR" sz="2000"/>
              <a:t>,</a:t>
            </a:r>
            <a:r>
              <a:rPr lang="ko-KR" altLang="en-US" sz="2000"/>
              <a:t> 소비의 과정을 거침</a:t>
            </a:r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무역과 외교정책과 밀접한 연관성</a:t>
            </a:r>
          </a:p>
          <a:p>
            <a:pPr lvl="2">
              <a:defRPr/>
            </a:pPr>
            <a:r>
              <a:rPr lang="en-US" altLang="ko-KR" sz="2000"/>
              <a:t>1970</a:t>
            </a:r>
            <a:r>
              <a:rPr lang="ko-KR" altLang="en-US" sz="2000"/>
              <a:t>년대 오일쇼크</a:t>
            </a:r>
            <a:r>
              <a:rPr lang="en-US" altLang="ko-KR" sz="2000"/>
              <a:t>,</a:t>
            </a:r>
            <a:r>
              <a:rPr lang="ko-KR" altLang="en-US" sz="2000"/>
              <a:t> 러시아</a:t>
            </a:r>
            <a:r>
              <a:rPr lang="en-US" altLang="ko-KR" sz="2000"/>
              <a:t>-</a:t>
            </a:r>
            <a:r>
              <a:rPr lang="ko-KR" altLang="en-US" sz="2000"/>
              <a:t>우크라이나 전쟁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</p:spTree>
    <p:extLst>
      <p:ext uri="{BB962C8B-B14F-4D97-AF65-F5344CB8AC3E}">
        <p14:creationId xmlns:p14="http://schemas.microsoft.com/office/powerpoint/2010/main" val="1850618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3.</a:t>
            </a:r>
            <a:r>
              <a:rPr lang="ko-KR" altLang="en-US" sz="3400"/>
              <a:t> 에너지 시장의 공급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공급 함수</a:t>
            </a:r>
          </a:p>
          <a:p>
            <a:pPr lvl="1">
              <a:defRPr/>
            </a:pPr>
            <a:r>
              <a:rPr lang="ko-KR" altLang="en-US" sz="2000"/>
              <a:t>에너지 공급은 가격</a:t>
            </a:r>
            <a:r>
              <a:rPr lang="en-US" altLang="ko-KR" sz="2000"/>
              <a:t>,</a:t>
            </a:r>
            <a:r>
              <a:rPr lang="ko-KR" altLang="en-US" sz="2000"/>
              <a:t> 경제적</a:t>
            </a:r>
            <a:r>
              <a:rPr lang="en-US" altLang="ko-KR" sz="2000"/>
              <a:t>,</a:t>
            </a:r>
            <a:r>
              <a:rPr lang="ko-KR" altLang="en-US" sz="2000"/>
              <a:t> 기술적</a:t>
            </a:r>
            <a:r>
              <a:rPr lang="en-US" altLang="ko-KR" sz="2000"/>
              <a:t>,</a:t>
            </a:r>
            <a:r>
              <a:rPr lang="ko-KR" altLang="en-US" sz="2000"/>
              <a:t> 정책적 그리고 자연환경적 요인에 영향을 받음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에너지 공급 곡선은 다른 변수들을 고정하고</a:t>
            </a:r>
            <a:r>
              <a:rPr lang="en-US" altLang="ko-KR" sz="2000"/>
              <a:t>(Ceteris Paribus) </a:t>
            </a:r>
            <a:r>
              <a:rPr lang="ko-KR" altLang="en-US" sz="2000"/>
              <a:t>에너지 가격과 공급과의 관계를 나타냄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자유형 9"/>
              <p:cNvSpPr/>
              <p:nvPr/>
            </p:nvSpPr>
            <p:spPr>
              <a:xfrm>
                <a:off x="1796897" y="2272745"/>
                <a:ext cx="5981700" cy="18764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𝑠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𝑓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(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𝐸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𝑇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p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𝑋</m:t>
                          </m:r>
                        </m:e>
                        <m:sup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𝑠</m:t>
                          </m:r>
                        </m:sup>
                      </m:sSup>
                      <m:r>
                        <a:rPr sz="1800">
                          <a:latin typeface="Cambria Math"/>
                          <a:sym typeface="Cambria Math"/>
                        </a:rPr>
                        <m:t>: 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에너지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𝑋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공급량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𝑝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𝑥</m:t>
                          </m:r>
                        </m:sub>
                      </m:sSub>
                      <m:r>
                        <a:rPr sz="1800">
                          <a:latin typeface="Cambria Math"/>
                          <a:sym typeface="Cambria Math"/>
                        </a:rPr>
                        <m:t>:  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에너지의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가격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𝐸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경제적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요인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 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𝑇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기술적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요인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,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𝑃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정치적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∙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정책적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요인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800">
                          <a:latin typeface="Cambria Math"/>
                          <a:sym typeface="Cambria Math"/>
                        </a:rPr>
                        <m:t>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: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자연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∙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환경적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1800">
                          <a:latin typeface="Cambria Math"/>
                          <a:sym typeface="Cambria Math"/>
                        </a:rPr>
                        <m:t>요인</m:t>
                      </m:r>
                    </m:oMath>
                  </m:oMathPara>
                </a14:m>
                <a:endParaRPr/>
              </a:p>
            </p:txBody>
          </p:sp>
        </mc:Choice>
        <mc:Fallback xmlns:dsp="http://schemas.microsoft.com/office/drawing/2008/diagram" xmlns:dgm="http://schemas.openxmlformats.org/drawingml/2006/diagram" xmlns:c="http://schemas.openxmlformats.org/drawingml/2006/chart" xmlns="">
          <p:sp>
            <p:nvSpPr>
              <p:cNvPr id="10" name=""/>
              <p:cNvSpPr txBox="1"/>
              <p:nvPr/>
            </p:nvSpPr>
            <p:spPr>
              <a:xfrm>
                <a:off x="1796897" y="2272745"/>
                <a:ext cx="5981700" cy="187642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</p:sp>
        </mc:Fallback>
      </mc:AlternateContent>
    </p:spTree>
    <p:extLst>
      <p:ext uri="{BB962C8B-B14F-4D97-AF65-F5344CB8AC3E}">
        <p14:creationId xmlns:p14="http://schemas.microsoft.com/office/powerpoint/2010/main" val="2067591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3.</a:t>
            </a:r>
            <a:r>
              <a:rPr lang="ko-KR" altLang="en-US" sz="3400"/>
              <a:t> 에너지 시장의 공급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공급의 법칙</a:t>
            </a:r>
            <a:r>
              <a:rPr lang="en-US" altLang="ko-KR" sz="2000"/>
              <a:t>:</a:t>
            </a:r>
            <a:r>
              <a:rPr lang="ko-KR" altLang="en-US" sz="2000"/>
              <a:t> 에너지 가격과 공급량은 정</a:t>
            </a:r>
            <a:r>
              <a:rPr lang="en-US" altLang="ko-KR" sz="2000"/>
              <a:t>(+)</a:t>
            </a:r>
            <a:r>
              <a:rPr lang="ko-KR" altLang="en-US" sz="2000"/>
              <a:t>의</a:t>
            </a:r>
            <a:r>
              <a:rPr lang="en-US" altLang="ko-KR" sz="2000"/>
              <a:t> </a:t>
            </a:r>
            <a:r>
              <a:rPr lang="ko-KR" altLang="en-US" sz="2000"/>
              <a:t>관계를 나타냄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69395" y="2318163"/>
            <a:ext cx="6900652" cy="3410712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3863936" y="2189601"/>
            <a:ext cx="3142654" cy="3647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2-3]</a:t>
            </a:r>
            <a:r>
              <a:rPr lang="ko-KR" altLang="en-US"/>
              <a:t> 에너지 공급곡선</a:t>
            </a:r>
          </a:p>
        </p:txBody>
      </p:sp>
    </p:spTree>
    <p:extLst>
      <p:ext uri="{BB962C8B-B14F-4D97-AF65-F5344CB8AC3E}">
        <p14:creationId xmlns:p14="http://schemas.microsoft.com/office/powerpoint/2010/main" val="336188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3.</a:t>
            </a:r>
            <a:r>
              <a:rPr lang="ko-KR" altLang="en-US" sz="3400"/>
              <a:t> 에너지 공급의 결정요인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3968"/>
            <a:ext cx="10515600" cy="4752994"/>
          </a:xfrm>
        </p:spPr>
        <p:txBody>
          <a:bodyPr>
            <a:normAutofit fontScale="92500" lnSpcReduction="10000"/>
          </a:bodyPr>
          <a:lstStyle/>
          <a:p>
            <a:pPr lvl="0">
              <a:defRPr/>
            </a:pPr>
            <a:r>
              <a:rPr lang="ko-KR" altLang="en-US" sz="2000"/>
              <a:t>에너지 공급의 결정요인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경제적 요인의 중요한 구성 요소는 생산비용과 인프라에 대한 투자임</a:t>
            </a:r>
          </a:p>
          <a:p>
            <a:pPr lvl="2">
              <a:defRPr/>
            </a:pPr>
            <a:r>
              <a:rPr lang="ko-KR" altLang="en-US" sz="2000"/>
              <a:t>낮은 비용으로 에너지 시장에서 경쟁적인 가격에 에너지를 제공할 수 있을 경우 에너지 공급 증가</a:t>
            </a:r>
          </a:p>
          <a:p>
            <a:pPr lvl="2">
              <a:defRPr/>
            </a:pPr>
            <a:r>
              <a:rPr lang="ko-KR" altLang="en-US" sz="2000"/>
              <a:t>에너지 인프라에 대한 투자는 안정적이고 충분한 에너지 공급을 위한 필요조건임</a:t>
            </a:r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에너지 공급의 기술적 요인은 기술진보와 가용 자원 및 탐사를 포함</a:t>
            </a:r>
          </a:p>
          <a:p>
            <a:pPr lvl="2">
              <a:defRPr/>
            </a:pPr>
            <a:r>
              <a:rPr lang="ko-KR" altLang="en-US" sz="2000"/>
              <a:t>수평시추법</a:t>
            </a:r>
            <a:r>
              <a:rPr lang="en-US" altLang="ko-KR" sz="2000"/>
              <a:t>,</a:t>
            </a:r>
            <a:r>
              <a:rPr lang="ko-KR" altLang="en-US" sz="2000"/>
              <a:t> 수압파쇄법</a:t>
            </a:r>
            <a:r>
              <a:rPr lang="en-US" altLang="ko-KR" sz="2000"/>
              <a:t>,</a:t>
            </a:r>
            <a:r>
              <a:rPr lang="ko-KR" altLang="en-US" sz="2000"/>
              <a:t> 심해시추기법</a:t>
            </a:r>
          </a:p>
          <a:p>
            <a:pPr lvl="2">
              <a:defRPr/>
            </a:pPr>
            <a:endParaRPr lang="ko-KR" altLang="en-US" sz="2000"/>
          </a:p>
          <a:p>
            <a:pPr lvl="1">
              <a:defRPr/>
            </a:pPr>
            <a:r>
              <a:rPr lang="ko-KR" altLang="en-US" sz="2000"/>
              <a:t>정치적</a:t>
            </a:r>
            <a:r>
              <a:rPr lang="en-US" altLang="ko-KR" sz="2000"/>
              <a:t>·</a:t>
            </a:r>
            <a:r>
              <a:rPr lang="ko-KR" altLang="en-US" sz="2000"/>
              <a:t>정책적 요인은 정부의 규제정책과 지정학적 안정성을 포함</a:t>
            </a:r>
          </a:p>
          <a:p>
            <a:pPr lvl="2">
              <a:defRPr/>
            </a:pPr>
            <a:r>
              <a:rPr lang="ko-KR" altLang="en-US" sz="2000"/>
              <a:t>정부의 에너지 정책은 규제</a:t>
            </a:r>
            <a:r>
              <a:rPr lang="en-US" altLang="ko-KR" sz="2000"/>
              <a:t>,</a:t>
            </a:r>
            <a:r>
              <a:rPr lang="ko-KR" altLang="en-US" sz="2000"/>
              <a:t> 보조금과 세금을 통해서 에너지 공급 확대 또는 감소</a:t>
            </a:r>
          </a:p>
          <a:p>
            <a:pPr lvl="3">
              <a:defRPr/>
            </a:pPr>
            <a:r>
              <a:rPr lang="ko-KR" altLang="en-US" sz="2000"/>
              <a:t>발전차액지원제도</a:t>
            </a:r>
            <a:r>
              <a:rPr lang="en-US" altLang="ko-KR" sz="2000"/>
              <a:t>,</a:t>
            </a:r>
            <a:r>
              <a:rPr lang="ko-KR" altLang="en-US" sz="2000"/>
              <a:t> 신재생에너지 공급의무화제도</a:t>
            </a:r>
          </a:p>
          <a:p>
            <a:pPr lvl="2">
              <a:defRPr/>
            </a:pPr>
            <a:r>
              <a:rPr lang="ko-KR" altLang="en-US" sz="2000"/>
              <a:t>지정학적 불안정성은 에너지 공급 사슬을 불안하게 하고 공급부족과 가격변동 초래</a:t>
            </a:r>
          </a:p>
          <a:p>
            <a:pPr lvl="3">
              <a:defRPr/>
            </a:pPr>
            <a:r>
              <a:rPr lang="ko-KR" altLang="en-US" sz="2000"/>
              <a:t>중동에서의 정치적 충돌</a:t>
            </a:r>
          </a:p>
          <a:p>
            <a:pPr lvl="0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</p:spTree>
    <p:extLst>
      <p:ext uri="{BB962C8B-B14F-4D97-AF65-F5344CB8AC3E}">
        <p14:creationId xmlns:p14="http://schemas.microsoft.com/office/powerpoint/2010/main" val="2023236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시장의 균형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시장의 수급 균형은 가격 조정을 통하여 이루어 짐</a:t>
            </a:r>
          </a:p>
          <a:p>
            <a:pPr lvl="1">
              <a:defRPr/>
            </a:pPr>
            <a:r>
              <a:rPr lang="ko-KR" altLang="en-US" sz="2000"/>
              <a:t>에너지 초과 수요가 발생할 경우 에너지의 가격이 상승하여 균형가격으로 수렴하고</a:t>
            </a:r>
            <a:r>
              <a:rPr lang="en-US" altLang="ko-KR" sz="2000"/>
              <a:t>,</a:t>
            </a:r>
            <a:r>
              <a:rPr lang="ko-KR" altLang="en-US" sz="2000"/>
              <a:t> 초과 공급이 발생할 경우 가격이 하락하여 균형을 회복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2316" y="3095557"/>
            <a:ext cx="5202219" cy="3191586"/>
          </a:xfrm>
          <a:prstGeom prst="rect">
            <a:avLst/>
          </a:prstGeom>
        </p:spPr>
      </p:pic>
      <p:sp>
        <p:nvSpPr>
          <p:cNvPr id="11" name="가로 글상자 10"/>
          <p:cNvSpPr txBox="1"/>
          <p:nvPr/>
        </p:nvSpPr>
        <p:spPr>
          <a:xfrm>
            <a:off x="1649087" y="2866680"/>
            <a:ext cx="3843028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2-4]</a:t>
            </a:r>
            <a:r>
              <a:rPr lang="ko-KR" altLang="en-US"/>
              <a:t> 에너지 시장의 수급 균형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22042" y="3295604"/>
            <a:ext cx="5649779" cy="2952153"/>
          </a:xfrm>
          <a:prstGeom prst="rect">
            <a:avLst/>
          </a:prstGeom>
        </p:spPr>
      </p:pic>
      <p:sp>
        <p:nvSpPr>
          <p:cNvPr id="13" name="가로 글상자 12"/>
          <p:cNvSpPr txBox="1"/>
          <p:nvPr/>
        </p:nvSpPr>
        <p:spPr>
          <a:xfrm>
            <a:off x="7513272" y="2878156"/>
            <a:ext cx="3312842" cy="358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2-5]</a:t>
            </a:r>
            <a:r>
              <a:rPr lang="ko-KR" altLang="en-US"/>
              <a:t> 에너지 시장 불균형</a:t>
            </a:r>
          </a:p>
        </p:txBody>
      </p:sp>
    </p:spTree>
    <p:extLst>
      <p:ext uri="{BB962C8B-B14F-4D97-AF65-F5344CB8AC3E}">
        <p14:creationId xmlns:p14="http://schemas.microsoft.com/office/powerpoint/2010/main" val="3203178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4.</a:t>
            </a:r>
            <a:r>
              <a:rPr lang="ko-KR" altLang="en-US" sz="3400"/>
              <a:t> 에너지 시장의 균형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시장의 공급 충격과 수요 충격</a:t>
            </a:r>
          </a:p>
          <a:p>
            <a:pPr lvl="1">
              <a:defRPr/>
            </a:pPr>
            <a:r>
              <a:rPr lang="ko-KR" altLang="en-US" sz="2000"/>
              <a:t>공급 충격과 수요 충격은 단기적인 불균형과 새로운 균형점으로의 이동을 초래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49087" y="2866680"/>
            <a:ext cx="3843028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2-6]</a:t>
            </a:r>
            <a:r>
              <a:rPr lang="ko-KR" altLang="en-US"/>
              <a:t> 에너지 시장의 공급 충격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6801764" y="2947011"/>
            <a:ext cx="3118670" cy="358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2-7]</a:t>
            </a:r>
            <a:r>
              <a:rPr lang="ko-KR" altLang="en-US"/>
              <a:t> 에너지 수요 충격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0357" y="3429000"/>
            <a:ext cx="4490712" cy="27269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185990" y="3230348"/>
            <a:ext cx="4238241" cy="294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2528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에너지 기업의 공급결정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기업의 비용 함수</a:t>
            </a:r>
          </a:p>
          <a:p>
            <a:pPr lvl="1">
              <a:defRPr/>
            </a:pPr>
            <a:r>
              <a:rPr lang="ko-KR" altLang="en-US" sz="2000"/>
              <a:t>총비용함수는 기업의 생산량과 총비용과이 관계를 나타내는 곡선</a:t>
            </a:r>
          </a:p>
          <a:p>
            <a:pPr lvl="1">
              <a:defRPr/>
            </a:pPr>
            <a:r>
              <a:rPr lang="ko-KR" altLang="en-US" sz="2000"/>
              <a:t>평균비용 함수는 에너지 생산량과 평균비용의 관계를 나타내는 곡선</a:t>
            </a:r>
            <a:r>
              <a:rPr lang="en-US" altLang="ko-KR" sz="2000"/>
              <a:t>,</a:t>
            </a:r>
            <a:r>
              <a:rPr lang="ko-KR" altLang="en-US" sz="2000"/>
              <a:t> 보통 </a:t>
            </a:r>
            <a:r>
              <a:rPr lang="en-US" altLang="ko-KR" sz="2000"/>
              <a:t>U</a:t>
            </a:r>
            <a:r>
              <a:rPr lang="ko-KR" altLang="en-US" sz="2000"/>
              <a:t>자형의 형태를 나타냄</a:t>
            </a: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26135" y="2969963"/>
            <a:ext cx="2461903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2-8]</a:t>
            </a:r>
            <a:r>
              <a:rPr lang="ko-KR" altLang="en-US"/>
              <a:t> 총비용함수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6801764" y="2947011"/>
            <a:ext cx="3118670" cy="365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2-9]</a:t>
            </a:r>
            <a:r>
              <a:rPr lang="ko-KR" altLang="en-US"/>
              <a:t> 평균비용함수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2596" y="3508385"/>
            <a:ext cx="5008804" cy="3019797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994254" y="3689501"/>
            <a:ext cx="5543916" cy="234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354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에너지 기업의 공급결정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규모의 경제와 최소효율규모</a:t>
            </a:r>
          </a:p>
          <a:p>
            <a:pPr lvl="1">
              <a:defRPr/>
            </a:pPr>
            <a:r>
              <a:rPr lang="ko-KR" altLang="en-US" sz="2000"/>
              <a:t>생산량이 증가할수록 평균 비용이 하락하는 현상을 규모의 경제라 함</a:t>
            </a:r>
            <a:endParaRPr lang="en-US" altLang="ko-KR" sz="2000"/>
          </a:p>
          <a:p>
            <a:pPr lvl="1">
              <a:defRPr/>
            </a:pPr>
            <a:r>
              <a:rPr lang="ko-KR" altLang="en-US" sz="2000"/>
              <a:t>규모의 경제로 인하여 당위당 평균비용이 최소화되는 생산 규모를 최소효율규모</a:t>
            </a:r>
            <a:r>
              <a:rPr lang="en-US" altLang="ko-KR" sz="2000"/>
              <a:t>(mimimum efficient scale:MES)</a:t>
            </a:r>
            <a:r>
              <a:rPr lang="ko-KR" altLang="en-US" sz="2000"/>
              <a:t>라 함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49087" y="3068610"/>
            <a:ext cx="4043053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2-10]</a:t>
            </a:r>
            <a:r>
              <a:rPr lang="ko-KR" altLang="en-US"/>
              <a:t> 평균비용과 최소효율규모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48802" y="3428999"/>
            <a:ext cx="6036218" cy="289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53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에너지 기업의 공급결정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평균비용과 한계비용</a:t>
            </a:r>
          </a:p>
          <a:p>
            <a:pPr lvl="1">
              <a:defRPr/>
            </a:pPr>
            <a:r>
              <a:rPr lang="ko-KR" altLang="en-US" sz="2000"/>
              <a:t>평균비용이 하락할 때에는 한계비용이 평균비용보다 낮고 평균비용이 상승할 때에는 한계비용이 평균비용보다 높음</a:t>
            </a:r>
          </a:p>
          <a:p>
            <a:pPr lvl="1">
              <a:defRPr/>
            </a:pPr>
            <a:endParaRPr lang="ko-KR" altLang="en-US" sz="2000"/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3" name="가로 글상자 12"/>
          <p:cNvSpPr txBox="1"/>
          <p:nvPr/>
        </p:nvSpPr>
        <p:spPr>
          <a:xfrm>
            <a:off x="1290107" y="2646784"/>
            <a:ext cx="3557458" cy="365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2-11]</a:t>
            </a:r>
            <a:r>
              <a:rPr lang="ko-KR" altLang="en-US"/>
              <a:t> 평균비용과 한계비용</a:t>
            </a:r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70880" y="3228773"/>
            <a:ext cx="8326501" cy="334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605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에너지 기업의 공급결정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장</a:t>
            </a:r>
            <a:r>
              <a:rPr lang="en-US" altLang="ko-KR" sz="2000"/>
              <a:t>·</a:t>
            </a:r>
            <a:r>
              <a:rPr lang="ko-KR" altLang="en-US" sz="2000"/>
              <a:t>단기 평균비용 함수</a:t>
            </a:r>
          </a:p>
          <a:p>
            <a:pPr lvl="1">
              <a:defRPr/>
            </a:pPr>
            <a:r>
              <a:rPr lang="ko-KR" altLang="en-US" sz="2000"/>
              <a:t>단기에는 생산설비가 고정되어 있지만 생산설비를 장기에 유연하게 조정할 수 있다면 생산량에 따라 단위당 비용을 최소화하면서 생산을 할 수 있는데</a:t>
            </a:r>
            <a:r>
              <a:rPr lang="en-US" altLang="ko-KR" sz="2000"/>
              <a:t>,</a:t>
            </a:r>
            <a:r>
              <a:rPr lang="ko-KR" altLang="en-US" sz="2000"/>
              <a:t> 생산설비를 마음대로 조정하면서 단위당 생산비용을 최소화하는 비용을 장기 평균비용이라 함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49086" y="2866680"/>
            <a:ext cx="3709679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2-12]</a:t>
            </a:r>
            <a:r>
              <a:rPr lang="ko-KR" altLang="en-US"/>
              <a:t> 장</a:t>
            </a:r>
            <a:r>
              <a:rPr lang="en-US" altLang="ko-KR"/>
              <a:t>·</a:t>
            </a:r>
            <a:r>
              <a:rPr lang="ko-KR" altLang="en-US"/>
              <a:t>단기 평균 비용함수</a:t>
            </a: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88270" y="3344546"/>
            <a:ext cx="7759283" cy="286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7042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5.</a:t>
            </a:r>
            <a:r>
              <a:rPr lang="ko-KR" altLang="en-US" sz="3400"/>
              <a:t> 에너지 시장의 균형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/>
          <a:lstStyle/>
          <a:p>
            <a:pPr lvl="0">
              <a:defRPr/>
            </a:pPr>
            <a:r>
              <a:rPr lang="ko-KR" altLang="en-US" sz="2000"/>
              <a:t>에너지 기업의 생산량 결정</a:t>
            </a:r>
          </a:p>
          <a:p>
            <a:pPr lvl="1">
              <a:defRPr/>
            </a:pPr>
            <a:r>
              <a:rPr lang="ko-KR" altLang="en-US" sz="2000"/>
              <a:t>에너지 기업의 이윤 극대화를 위한 생산량은 한계수입과 한계비용이 일치하도록 결정됨</a:t>
            </a:r>
          </a:p>
          <a:p>
            <a:pPr lvl="1">
              <a:defRPr/>
            </a:pPr>
            <a:endParaRPr lang="ko-KR" altLang="en-US" sz="200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49086" y="2866680"/>
            <a:ext cx="2900054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2-13]</a:t>
            </a:r>
            <a:r>
              <a:rPr lang="ko-KR" altLang="en-US"/>
              <a:t> 한계 수입곡선</a:t>
            </a:r>
          </a:p>
        </p:txBody>
      </p:sp>
      <p:sp>
        <p:nvSpPr>
          <p:cNvPr id="17" name="가로 글상자 16"/>
          <p:cNvSpPr txBox="1"/>
          <p:nvPr/>
        </p:nvSpPr>
        <p:spPr>
          <a:xfrm>
            <a:off x="7163309" y="2847842"/>
            <a:ext cx="3205606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2-14]</a:t>
            </a:r>
            <a:r>
              <a:rPr lang="ko-KR" altLang="en-US"/>
              <a:t> 이윤 극대화 조건</a:t>
            </a:r>
          </a:p>
        </p:txBody>
      </p:sp>
      <p:pic>
        <p:nvPicPr>
          <p:cNvPr id="18" name="그림 1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36105" y="3429000"/>
            <a:ext cx="5683047" cy="2903185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36388" y="3260246"/>
            <a:ext cx="4826867" cy="272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258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6.</a:t>
            </a:r>
            <a:r>
              <a:rPr lang="ko-KR" altLang="en-US" sz="3400"/>
              <a:t> 완전경쟁과 에너지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203"/>
            <a:ext cx="10515600" cy="4684139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완전경쟁시장의 균형</a:t>
            </a:r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완전경쟁시장에서는 개별 기업이 가격순응자이기 때문에 기업의 수요곡선은 수평임</a:t>
            </a:r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가격이 주어진 상황에서 완전경쟁기업은 한계수입과 한계비용이 일치하도록 생산량을 결정하기 때문에 한계비용 곡선이 공급곡선과 일치 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70490" y="3068610"/>
            <a:ext cx="3628663" cy="3603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2-15]</a:t>
            </a:r>
            <a:r>
              <a:rPr lang="ko-KR" altLang="en-US"/>
              <a:t> 완전경쟁시장의 균형</a:t>
            </a: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63184" y="3429000"/>
            <a:ext cx="7844899" cy="273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3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6.</a:t>
            </a:r>
            <a:r>
              <a:rPr lang="ko-KR" altLang="en-US" sz="3400"/>
              <a:t> 완전경쟁과 에너지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89332"/>
            <a:ext cx="10515600" cy="4266751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기업공급과 시장공급</a:t>
            </a:r>
          </a:p>
          <a:p>
            <a:pPr lvl="1">
              <a:lnSpc>
                <a:spcPts val="2402"/>
              </a:lnSpc>
              <a:defRPr/>
            </a:pPr>
            <a:r>
              <a:rPr lang="ko-KR" altLang="en-US" sz="2000">
                <a:solidFill>
                  <a:schemeClr val="tx1"/>
                </a:solidFill>
              </a:rPr>
              <a:t>완전경쟁시장에서의 시장공급은 개별 기업 공급의 수평 합으로 구할 수 있음 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27681" y="2576306"/>
            <a:ext cx="4206584" cy="365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2-16]</a:t>
            </a:r>
            <a:r>
              <a:rPr lang="ko-KR" altLang="en-US"/>
              <a:t> 기업 공급과 시장 공급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3067794"/>
            <a:ext cx="9000743" cy="306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821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6.</a:t>
            </a:r>
            <a:r>
              <a:rPr lang="ko-KR" altLang="en-US" sz="3400"/>
              <a:t> 완전경쟁과 에너지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5989"/>
            <a:ext cx="10515600" cy="447009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시장균형과 초과이윤</a:t>
            </a:r>
            <a:endParaRPr lang="ko-KR" altLang="en-US" sz="20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sz="2000">
                <a:solidFill>
                  <a:schemeClr val="tx1"/>
                </a:solidFill>
              </a:rPr>
              <a:t>완전경쟁시장에서는 개별기업의 입장에서 시장가격이 주어져 있기 때문에  기업이 일시적으로 초과이윤을 획득할 수 있음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627681" y="2576306"/>
            <a:ext cx="4206584" cy="365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2-17]</a:t>
            </a:r>
            <a:r>
              <a:rPr lang="ko-KR" altLang="en-US"/>
              <a:t> 시장균형과 초과이윤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3043718"/>
            <a:ext cx="9000743" cy="305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6125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6.</a:t>
            </a:r>
            <a:r>
              <a:rPr lang="ko-KR" altLang="en-US" sz="3400"/>
              <a:t> 완전경쟁과 에너지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85989"/>
            <a:ext cx="10515600" cy="447009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완전경쟁시장의 장기균형</a:t>
            </a:r>
          </a:p>
          <a:p>
            <a:pPr lvl="1">
              <a:defRPr/>
            </a:pPr>
            <a:r>
              <a:rPr lang="ko-KR" altLang="en-US" sz="2000">
                <a:solidFill>
                  <a:schemeClr val="tx1"/>
                </a:solidFill>
              </a:rPr>
              <a:t>완전경쟁시장에서 초과 이윤이 발생할 경우</a:t>
            </a:r>
            <a:r>
              <a:rPr lang="en-US" altLang="ko-KR" sz="2000">
                <a:solidFill>
                  <a:schemeClr val="tx1"/>
                </a:solidFill>
              </a:rPr>
              <a:t>,</a:t>
            </a:r>
            <a:r>
              <a:rPr lang="ko-KR" altLang="en-US" sz="2000">
                <a:solidFill>
                  <a:schemeClr val="tx1"/>
                </a:solidFill>
              </a:rPr>
              <a:t> 잠재적 경쟁자들이 시장에 진입하며 이는 공급곡선을 이동시키게 됨</a:t>
            </a:r>
            <a:r>
              <a:rPr lang="en-US" altLang="ko-KR" sz="2000">
                <a:solidFill>
                  <a:schemeClr val="tx1"/>
                </a:solidFill>
              </a:rPr>
              <a:t>.</a:t>
            </a:r>
            <a:r>
              <a:rPr lang="ko-KR" altLang="en-US" sz="2000">
                <a:solidFill>
                  <a:schemeClr val="tx1"/>
                </a:solidFill>
              </a:rPr>
              <a:t> 이러한 조정 과정은 초과 이윤이 사라지고 정상이윤만을 획들할 때까지 지속됨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24001" y="3063986"/>
            <a:ext cx="4206584" cy="365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2-18]</a:t>
            </a:r>
            <a:r>
              <a:rPr lang="ko-KR" altLang="en-US"/>
              <a:t> 완전경쟁시장의 장기균형</a:t>
            </a:r>
          </a:p>
        </p:txBody>
      </p:sp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3429000"/>
            <a:ext cx="9000743" cy="2808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5400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6.</a:t>
            </a:r>
            <a:r>
              <a:rPr lang="ko-KR" altLang="en-US" sz="3400"/>
              <a:t> 완전경쟁과 에너지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완전경쟁시장과 사회후생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에너지 수요곡선의 높이는 소비자가 각 에너지 단위에 대해서 지불하고자 하는 최대 지불용의 가격</a:t>
            </a:r>
            <a:r>
              <a:rPr lang="en-US" altLang="ko-KR" sz="1800">
                <a:solidFill>
                  <a:schemeClr val="tx1"/>
                </a:solidFill>
              </a:rPr>
              <a:t>(maximum willingness to pay)</a:t>
            </a:r>
            <a:r>
              <a:rPr lang="ko-KR" altLang="en-US" sz="1800">
                <a:solidFill>
                  <a:schemeClr val="tx1"/>
                </a:solidFill>
              </a:rPr>
              <a:t>을 나타냄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수요곡선의 높이와 시장가격의 차이는 각 단위 에너지 소비로 부터 얻을 수 있는 소비자의 혜택이며 이들의 합을 소비자 잉여</a:t>
            </a:r>
            <a:r>
              <a:rPr lang="en-US" altLang="ko-KR" sz="1800">
                <a:solidFill>
                  <a:schemeClr val="tx1"/>
                </a:solidFill>
              </a:rPr>
              <a:t>(consumer surplus)</a:t>
            </a:r>
            <a:r>
              <a:rPr lang="ko-KR" altLang="en-US" sz="1800">
                <a:solidFill>
                  <a:schemeClr val="tx1"/>
                </a:solidFill>
              </a:rPr>
              <a:t>라 함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시장가격과 각 단위당 생산비용의 차이의 합을 생산자 잉여</a:t>
            </a:r>
            <a:r>
              <a:rPr lang="en-US" altLang="ko-KR" sz="1800">
                <a:solidFill>
                  <a:schemeClr val="tx1"/>
                </a:solidFill>
              </a:rPr>
              <a:t>(producer surplus)</a:t>
            </a:r>
            <a:r>
              <a:rPr lang="ko-KR" altLang="en-US" sz="1800">
                <a:solidFill>
                  <a:schemeClr val="tx1"/>
                </a:solidFill>
              </a:rPr>
              <a:t>라 하며</a:t>
            </a:r>
            <a:r>
              <a:rPr lang="en-US" altLang="ko-KR" sz="1800">
                <a:solidFill>
                  <a:schemeClr val="tx1"/>
                </a:solidFill>
              </a:rPr>
              <a:t>,</a:t>
            </a:r>
            <a:r>
              <a:rPr lang="ko-KR" altLang="en-US" sz="1800">
                <a:solidFill>
                  <a:schemeClr val="tx1"/>
                </a:solidFill>
              </a:rPr>
              <a:t> 시장 교환에 참여함으로써 생산자에게 돌아가는 혜택이라 할 수 있음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56108" y="3429000"/>
            <a:ext cx="4206584" cy="3631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2-19]</a:t>
            </a:r>
            <a:r>
              <a:rPr lang="ko-KR" altLang="en-US"/>
              <a:t> 소비자 잉여</a:t>
            </a:r>
          </a:p>
        </p:txBody>
      </p:sp>
      <p:sp>
        <p:nvSpPr>
          <p:cNvPr id="24" name="가로 글상자 23"/>
          <p:cNvSpPr txBox="1"/>
          <p:nvPr/>
        </p:nvSpPr>
        <p:spPr>
          <a:xfrm>
            <a:off x="6542580" y="3355513"/>
            <a:ext cx="4046050" cy="3594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2-20]</a:t>
            </a:r>
            <a:r>
              <a:rPr lang="ko-KR" altLang="en-US"/>
              <a:t> 생산자 잉여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42791" y="3740477"/>
            <a:ext cx="5265660" cy="2302489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679196" y="3739364"/>
            <a:ext cx="4109815" cy="247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843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6.</a:t>
            </a:r>
            <a:r>
              <a:rPr lang="ko-KR" altLang="en-US" sz="3400"/>
              <a:t> 완전경쟁과 에너지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사회후생의 극대화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균형가격에서 소비자 잉여와 생산자 잉여의 합을 사회적 후생</a:t>
            </a:r>
            <a:r>
              <a:rPr lang="en-US" altLang="ko-KR" sz="1800">
                <a:solidFill>
                  <a:schemeClr val="tx1"/>
                </a:solidFill>
              </a:rPr>
              <a:t>(social surplus)</a:t>
            </a:r>
            <a:r>
              <a:rPr lang="ko-KR" altLang="en-US" sz="1800">
                <a:solidFill>
                  <a:schemeClr val="tx1"/>
                </a:solidFill>
              </a:rPr>
              <a:t>라 하며 시장 효율성의 지표로 사용됨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완전경쟁하에서 사회적 후생이 극대화 됨</a:t>
            </a:r>
          </a:p>
          <a:p>
            <a:pPr lvl="1">
              <a:defRPr/>
            </a:pPr>
            <a:endParaRPr lang="ko-KR" altLang="en-US" sz="1800">
              <a:solidFill>
                <a:schemeClr val="tx1"/>
              </a:solidFill>
            </a:endParaRP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45405" y="2786865"/>
            <a:ext cx="4142370" cy="36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2-21]</a:t>
            </a:r>
            <a:r>
              <a:rPr lang="ko-KR" altLang="en-US"/>
              <a:t> 사회후생의 극대화</a:t>
            </a:r>
          </a:p>
        </p:txBody>
      </p:sp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980910" y="3272387"/>
            <a:ext cx="7117147" cy="280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727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7.</a:t>
            </a:r>
            <a:r>
              <a:rPr lang="ko-KR" altLang="en-US" sz="3400"/>
              <a:t> 에너지 시장의 효율성과 시장실패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독점시장</a:t>
            </a:r>
            <a:r>
              <a:rPr lang="en-US" altLang="ko-KR" sz="2000"/>
              <a:t>(Monopoly)</a:t>
            </a:r>
            <a:endParaRPr lang="ko-KR" altLang="en-US" sz="2000"/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에너지 공급이 독점 기업에 의하여 이루어지게 되면 소비자나 생산자에 귀속되지 않는 사회적 후생 손실이 발생하게 되는데 이를 사중손실이라 함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독점적 균형하에서는 독점 가격이 한계비용을 상회하기 때문에 정상이윤을 상회하는 초과이윤을 획득하게 됨</a:t>
            </a:r>
          </a:p>
          <a:p>
            <a:pPr lvl="1">
              <a:defRPr/>
            </a:pPr>
            <a:endParaRPr lang="ko-KR" altLang="en-US" sz="1800">
              <a:solidFill>
                <a:schemeClr val="tx1"/>
              </a:solidFill>
            </a:endParaRP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66810" y="2904461"/>
            <a:ext cx="4859421" cy="360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2-22]</a:t>
            </a:r>
            <a:r>
              <a:rPr lang="ko-KR" altLang="en-US"/>
              <a:t>  독점적 균형과 사회후생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52482" y="3279168"/>
            <a:ext cx="7427513" cy="3089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75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7.</a:t>
            </a:r>
            <a:r>
              <a:rPr lang="ko-KR" altLang="en-US" sz="3400"/>
              <a:t> 에너지 시장의 효율성과 시장실패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자연독점과 사중손실</a:t>
            </a:r>
            <a:endParaRPr lang="en-US" altLang="ko-KR" sz="2000"/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자연독점인 경우 가격과 한계비용이 일치하도록 규제하면 평균비용이 한계비용보다 높기 때문에 손실 발생</a:t>
            </a:r>
            <a:r>
              <a:rPr lang="en-US" altLang="ko-KR" sz="1800">
                <a:solidFill>
                  <a:schemeClr val="tx1"/>
                </a:solidFill>
              </a:rPr>
              <a:t>.</a:t>
            </a:r>
            <a:r>
              <a:rPr lang="ko-KR" altLang="en-US" sz="1800">
                <a:solidFill>
                  <a:schemeClr val="tx1"/>
                </a:solidFill>
              </a:rPr>
              <a:t> 이를 해결하기 위해서 가격이 평균비용과 같도록 규제하면 사중손실 발생</a:t>
            </a:r>
          </a:p>
          <a:p>
            <a:pPr lvl="1">
              <a:defRPr/>
            </a:pPr>
            <a:endParaRPr lang="ko-KR" altLang="en-US" sz="1800">
              <a:solidFill>
                <a:schemeClr val="tx1"/>
              </a:solidFill>
            </a:endParaRP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66810" y="2711820"/>
            <a:ext cx="4859421" cy="3607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2-23]</a:t>
            </a:r>
            <a:r>
              <a:rPr lang="ko-KR" altLang="en-US"/>
              <a:t>  평균비용 가격 설정과 사중손실</a:t>
            </a: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863185" y="3164063"/>
            <a:ext cx="7673663" cy="290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1154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7.</a:t>
            </a:r>
            <a:r>
              <a:rPr lang="ko-KR" altLang="en-US" sz="3400"/>
              <a:t> 에너지 시장의 효율성과 시장실패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보조금 지급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에너지 보조금 지급은 현 기술 수준 하에서 사회적으로 바람직한 생산량을 초과하는 생산과 사중손실 발생시킴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에너지 보조금은 새로운 에너지원의 공급을 촉진시키지만 사회후생을 감소시키는 역할을 함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66810" y="2561988"/>
            <a:ext cx="4859421" cy="3628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2-24]</a:t>
            </a:r>
            <a:r>
              <a:rPr lang="ko-KR" altLang="en-US"/>
              <a:t>  에너지 보조금 지급과 사회후생</a:t>
            </a:r>
          </a:p>
        </p:txBody>
      </p:sp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595628" y="3040378"/>
            <a:ext cx="9000743" cy="279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495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400"/>
              <a:t>7.</a:t>
            </a:r>
            <a:r>
              <a:rPr lang="ko-KR" altLang="en-US" sz="3400"/>
              <a:t> 에너지 시장의 효율성과 시장실패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외부효과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규제가 없는 경쟁시장에서 에너지 기업이 생산할 경우 외부효과를 생산비용에 반영하지 않고 사적비용만을 바탕으로 생산량을 결정하게 됨</a:t>
            </a:r>
            <a:r>
              <a:rPr lang="en-US" altLang="ko-KR" sz="1800">
                <a:solidFill>
                  <a:schemeClr val="tx1"/>
                </a:solidFill>
              </a:rPr>
              <a:t>.</a:t>
            </a:r>
            <a:r>
              <a:rPr lang="ko-KR" altLang="en-US" sz="1800">
                <a:solidFill>
                  <a:schemeClr val="tx1"/>
                </a:solidFill>
              </a:rPr>
              <a:t> 이 경우</a:t>
            </a:r>
            <a:r>
              <a:rPr lang="en-US" altLang="ko-KR" sz="1800">
                <a:solidFill>
                  <a:schemeClr val="tx1"/>
                </a:solidFill>
              </a:rPr>
              <a:t>,</a:t>
            </a:r>
            <a:r>
              <a:rPr lang="ko-KR" altLang="en-US" sz="1800">
                <a:solidFill>
                  <a:schemeClr val="tx1"/>
                </a:solidFill>
              </a:rPr>
              <a:t> 사회적으로 효율적인 생산량보다 많은 생산을 하게 되고 사회적 후생 손실 발생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외부효과에 의한 시장왜곡은 피구세를 통한 정부규제와 코즈</a:t>
            </a:r>
            <a:r>
              <a:rPr lang="en-US" altLang="ko-KR" sz="1800">
                <a:solidFill>
                  <a:schemeClr val="tx1"/>
                </a:solidFill>
              </a:rPr>
              <a:t>(Coase)</a:t>
            </a:r>
            <a:r>
              <a:rPr lang="ko-KR" altLang="en-US" sz="1800">
                <a:solidFill>
                  <a:schemeClr val="tx1"/>
                </a:solidFill>
              </a:rPr>
              <a:t>가 제시하는 사적거래에 의하여 교정될 수 있음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56107" y="3068718"/>
            <a:ext cx="4859421" cy="360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2-25]</a:t>
            </a:r>
            <a:r>
              <a:rPr lang="ko-KR" altLang="en-US"/>
              <a:t>  외부효과와 사회적 후생손실</a:t>
            </a:r>
          </a:p>
        </p:txBody>
      </p:sp>
      <p:pic>
        <p:nvPicPr>
          <p:cNvPr id="31" name="그림 3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77567" y="3428999"/>
            <a:ext cx="7866303" cy="280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3843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3200"/>
              <a:t>7.</a:t>
            </a:r>
            <a:r>
              <a:rPr lang="ko-KR" altLang="en-US" sz="3200"/>
              <a:t> 에너지 시장의 효율성과 시장실패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348"/>
            <a:ext cx="10515600" cy="4662734"/>
          </a:xfrm>
        </p:spPr>
        <p:txBody>
          <a:bodyPr vert="horz" wrap="square" lIns="91440" tIns="45720" rIns="91440" bIns="45720" anchor="t">
            <a:normAutofit/>
          </a:bodyPr>
          <a:lstStyle/>
          <a:p>
            <a:pPr lvl="0">
              <a:defRPr/>
            </a:pPr>
            <a:r>
              <a:rPr lang="ko-KR" altLang="en-US" sz="2000"/>
              <a:t>에너지의 공공재적 성격과 시장실패</a:t>
            </a: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에너지 시장에서는 대부분의 에너지 상품이 사유재로 거래되지만 전력망 운영이나 에너지 공급망 안정성 등 특정 서비스는 공공재적 성격을 지님</a:t>
            </a:r>
          </a:p>
          <a:p>
            <a:pPr lvl="1">
              <a:defRPr/>
            </a:pPr>
            <a:endParaRPr lang="ko-KR" altLang="en-US" sz="180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ko-KR" altLang="en-US" sz="1800">
                <a:solidFill>
                  <a:schemeClr val="tx1"/>
                </a:solidFill>
              </a:rPr>
              <a:t>공공재는 무임승차의 문제로  인하여 시장기능 만으로는 사회적으로 바람직한 공급에 실패함</a:t>
            </a:r>
            <a:r>
              <a:rPr lang="en-US" altLang="ko-KR" sz="1800">
                <a:solidFill>
                  <a:schemeClr val="tx1"/>
                </a:solidFill>
              </a:rPr>
              <a:t>.</a:t>
            </a:r>
            <a:r>
              <a:rPr lang="ko-KR" altLang="en-US" sz="1800">
                <a:solidFill>
                  <a:schemeClr val="tx1"/>
                </a:solidFill>
              </a:rPr>
              <a:t> 이에 따라 세금부과를 통하여 정부가 조달하는 경우가 많음</a:t>
            </a: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lvl="1">
              <a:lnSpc>
                <a:spcPts val="2402"/>
              </a:lnSpc>
              <a:defRPr/>
            </a:pPr>
            <a:endParaRPr kumimoji="0" lang="ko-KR" altLang="en-US" sz="2000" b="0" i="0" u="none" strike="noStrike" kern="1200" cap="none" spc="0" normalizeH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36B6DB3-44B8-41C4-A846-21F6C6172237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9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에너지 경제학 제2장</a:t>
            </a:r>
          </a:p>
        </p:txBody>
      </p:sp>
      <p:sp>
        <p:nvSpPr>
          <p:cNvPr id="11" name="가로 글상자 10"/>
          <p:cNvSpPr txBox="1"/>
          <p:nvPr/>
        </p:nvSpPr>
        <p:spPr>
          <a:xfrm>
            <a:off x="1756107" y="3165038"/>
            <a:ext cx="4859421" cy="358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[</a:t>
            </a:r>
            <a:r>
              <a:rPr lang="ko-KR" altLang="en-US"/>
              <a:t>그림 </a:t>
            </a:r>
            <a:r>
              <a:rPr lang="en-US" altLang="ko-KR"/>
              <a:t>2-26]</a:t>
            </a:r>
            <a:r>
              <a:rPr lang="ko-KR" altLang="en-US"/>
              <a:t>  공공재의 수요와 공급</a:t>
            </a:r>
          </a:p>
        </p:txBody>
      </p:sp>
      <p:pic>
        <p:nvPicPr>
          <p:cNvPr id="32" name="그림 3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37426" y="3598548"/>
            <a:ext cx="6464310" cy="270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61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9525">
          <a:solidFill>
            <a:srgbClr val="E1E1E1"/>
          </a:solidFill>
        </a:ln>
        <a:effectLst>
          <a:outerShdw blurRad="50800" dist="38100" dir="2700000" algn="tl" rotWithShape="0">
            <a:schemeClr val="bg1">
              <a:lumMod val="85000"/>
              <a:alpha val="50000"/>
            </a:schemeClr>
          </a:outerShdw>
        </a:effectLst>
      </a:spPr>
      <a:bodyPr anchor="ctr"/>
      <a:lstStyle>
        <a:defPPr marL="0" marR="0" lvl="0" indent="0" algn="ctr" defTabSz="914400" rtl="0" eaLnBrk="1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FontTx/>
          <a:buNone/>
          <a:defRPr kumimoji="0" lang="en-US" sz="1800" b="0" i="0" u="none" strike="noStrike" kern="1200" cap="none" spc="0" normalizeH="0" baseline="0">
            <a:solidFill>
              <a:prstClr val="white"/>
            </a:solidFill>
            <a:effectLst/>
            <a:uLnTx/>
            <a:uFillTx/>
            <a:latin typeface="Calibri"/>
            <a:ea typeface="+mn-ea"/>
            <a:cs typeface="+mn-cs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Microsoft Office PowerPoint</Application>
  <PresentationFormat>와이드스크린</PresentationFormat>
  <Paragraphs>263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6" baseType="lpstr">
      <vt:lpstr>나눔스퀘어 네오 OTF Heavy</vt:lpstr>
      <vt:lpstr>맑은 고딕</vt:lpstr>
      <vt:lpstr>Arial</vt:lpstr>
      <vt:lpstr>Calibri</vt:lpstr>
      <vt:lpstr>Cambria Math</vt:lpstr>
      <vt:lpstr>Office 테마</vt:lpstr>
      <vt:lpstr>PowerPoint 프레젠테이션</vt:lpstr>
      <vt:lpstr>제2장 에너지 시장의 수요와 공급 </vt:lpstr>
      <vt:lpstr>1. 서론</vt:lpstr>
      <vt:lpstr>2. 에너지 시장의 수요</vt:lpstr>
      <vt:lpstr>2. 에너지 시장의 수요</vt:lpstr>
      <vt:lpstr>2. 에너지 수요</vt:lpstr>
      <vt:lpstr>2. 에너지 시장의 수요</vt:lpstr>
      <vt:lpstr>2. 에너지 시장의 수요</vt:lpstr>
      <vt:lpstr>3. 에너지 시장의 공급</vt:lpstr>
      <vt:lpstr>3. 에너지 시장의 공급</vt:lpstr>
      <vt:lpstr>3. 에너지 시장의 공급</vt:lpstr>
      <vt:lpstr>3. 에너지 공급의 결정요인</vt:lpstr>
      <vt:lpstr>4. 에너지 시장의 균형</vt:lpstr>
      <vt:lpstr>4. 에너지 시장의 균형</vt:lpstr>
      <vt:lpstr>5. 에너지 기업의 공급결정</vt:lpstr>
      <vt:lpstr>5. 에너지 기업의 공급결정</vt:lpstr>
      <vt:lpstr>5. 에너지 기업의 공급결정</vt:lpstr>
      <vt:lpstr>5. 에너지 기업의 공급결정</vt:lpstr>
      <vt:lpstr>5. 에너지 시장의 균형</vt:lpstr>
      <vt:lpstr>6. 완전경쟁과 에너지 시장</vt:lpstr>
      <vt:lpstr>6. 완전경쟁과 에너지 시장</vt:lpstr>
      <vt:lpstr>6. 완전경쟁과 에너지 시장</vt:lpstr>
      <vt:lpstr>6. 완전경쟁과 에너지 시장</vt:lpstr>
      <vt:lpstr>6. 완전경쟁과 에너지 시장</vt:lpstr>
      <vt:lpstr>6. 완전경쟁과 에너지 시장</vt:lpstr>
      <vt:lpstr>7. 에너지 시장의 효율성과 시장실패</vt:lpstr>
      <vt:lpstr>7. 에너지 시장의 효율성과 시장실패</vt:lpstr>
      <vt:lpstr>7. 에너지 시장의 효율성과 시장실패</vt:lpstr>
      <vt:lpstr>7. 에너지 시장의 효율성과 시장실패</vt:lpstr>
      <vt:lpstr>7. 에너지 시장의 효율성과 시장실패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장 규식</cp:lastModifiedBy>
  <cp:revision>234</cp:revision>
  <dcterms:created xsi:type="dcterms:W3CDTF">2026-01-05T00:34:13Z</dcterms:created>
  <dcterms:modified xsi:type="dcterms:W3CDTF">2026-02-25T21:44:02Z</dcterms:modified>
  <cp:version/>
</cp:coreProperties>
</file>