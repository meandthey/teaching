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78" r:id="rId2"/>
    <p:sldId id="257" r:id="rId3"/>
    <p:sldId id="258" r:id="rId4"/>
    <p:sldId id="284" r:id="rId5"/>
    <p:sldId id="285" r:id="rId6"/>
    <p:sldId id="286" r:id="rId7"/>
    <p:sldId id="287" r:id="rId8"/>
    <p:sldId id="288" r:id="rId9"/>
    <p:sldId id="289" r:id="rId10"/>
    <p:sldId id="260" r:id="rId11"/>
    <p:sldId id="290" r:id="rId12"/>
    <p:sldId id="291" r:id="rId13"/>
    <p:sldId id="261" r:id="rId14"/>
    <p:sldId id="292" r:id="rId15"/>
    <p:sldId id="293" r:id="rId16"/>
    <p:sldId id="294" r:id="rId17"/>
    <p:sldId id="295" r:id="rId18"/>
    <p:sldId id="296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83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napVertSplitter="1">
    <p:restoredLeft sz="12579"/>
    <p:restoredTop sz="90000"/>
  </p:normalViewPr>
  <p:slideViewPr>
    <p:cSldViewPr snapToGrid="0" snapToObjects="1">
      <p:cViewPr varScale="1">
        <p:scale>
          <a:sx n="99" d="100"/>
          <a:sy n="99" d="100"/>
        </p:scale>
        <p:origin x="1170" y="84"/>
      </p:cViewPr>
      <p:guideLst>
        <p:guide orient="horz" pos="2158"/>
        <p:guide pos="383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nghun kim" userId="ea4930dfa3cfe607" providerId="LiveId" clId="{7B5402A8-45D1-48D6-BF91-109F2F9EAE24}"/>
    <pc:docChg chg="modSld">
      <pc:chgData name="donghun kim" userId="ea4930dfa3cfe607" providerId="LiveId" clId="{7B5402A8-45D1-48D6-BF91-109F2F9EAE24}" dt="2026-02-23T04:32:39.902" v="28" actId="14100"/>
      <pc:docMkLst>
        <pc:docMk/>
      </pc:docMkLst>
      <pc:sldChg chg="modSp mod">
        <pc:chgData name="donghun kim" userId="ea4930dfa3cfe607" providerId="LiveId" clId="{7B5402A8-45D1-48D6-BF91-109F2F9EAE24}" dt="2026-02-23T04:32:39.902" v="28" actId="14100"/>
        <pc:sldMkLst>
          <pc:docMk/>
          <pc:sldMk cId="594673986" sldId="257"/>
        </pc:sldMkLst>
        <pc:picChg chg="mod">
          <ac:chgData name="donghun kim" userId="ea4930dfa3cfe607" providerId="LiveId" clId="{7B5402A8-45D1-48D6-BF91-109F2F9EAE24}" dt="2026-02-23T04:32:39.902" v="28" actId="14100"/>
          <ac:picMkLst>
            <pc:docMk/>
            <pc:sldMk cId="594673986" sldId="257"/>
            <ac:picMk id="5" creationId="{00000000-0000-0000-0000-000000000000}"/>
          </ac:picMkLst>
        </pc:picChg>
      </pc:sldChg>
      <pc:sldChg chg="modSp mod">
        <pc:chgData name="donghun kim" userId="ea4930dfa3cfe607" providerId="LiveId" clId="{7B5402A8-45D1-48D6-BF91-109F2F9EAE24}" dt="2026-02-23T02:52:34.095" v="5" actId="6549"/>
        <pc:sldMkLst>
          <pc:docMk/>
          <pc:sldMk cId="577451710" sldId="258"/>
        </pc:sldMkLst>
        <pc:spChg chg="mod">
          <ac:chgData name="donghun kim" userId="ea4930dfa3cfe607" providerId="LiveId" clId="{7B5402A8-45D1-48D6-BF91-109F2F9EAE24}" dt="2026-02-23T02:52:34.095" v="5" actId="6549"/>
          <ac:spMkLst>
            <pc:docMk/>
            <pc:sldMk cId="577451710" sldId="258"/>
            <ac:spMk id="3" creationId="{00000000-0000-0000-0000-000000000000}"/>
          </ac:spMkLst>
        </pc:spChg>
      </pc:sldChg>
      <pc:sldChg chg="modSp mod">
        <pc:chgData name="donghun kim" userId="ea4930dfa3cfe607" providerId="LiveId" clId="{7B5402A8-45D1-48D6-BF91-109F2F9EAE24}" dt="2026-02-23T02:52:52.343" v="11"/>
        <pc:sldMkLst>
          <pc:docMk/>
          <pc:sldMk cId="985994888" sldId="284"/>
        </pc:sldMkLst>
        <pc:spChg chg="mod">
          <ac:chgData name="donghun kim" userId="ea4930dfa3cfe607" providerId="LiveId" clId="{7B5402A8-45D1-48D6-BF91-109F2F9EAE24}" dt="2026-02-23T02:52:52.343" v="11"/>
          <ac:spMkLst>
            <pc:docMk/>
            <pc:sldMk cId="985994888" sldId="284"/>
            <ac:spMk id="3" creationId="{00000000-0000-0000-0000-000000000000}"/>
          </ac:spMkLst>
        </pc:spChg>
      </pc:sldChg>
      <pc:sldChg chg="modSp mod">
        <pc:chgData name="donghun kim" userId="ea4930dfa3cfe607" providerId="LiveId" clId="{7B5402A8-45D1-48D6-BF91-109F2F9EAE24}" dt="2026-02-23T02:53:19.806" v="13" actId="20577"/>
        <pc:sldMkLst>
          <pc:docMk/>
          <pc:sldMk cId="1151969689" sldId="285"/>
        </pc:sldMkLst>
        <pc:spChg chg="mod">
          <ac:chgData name="donghun kim" userId="ea4930dfa3cfe607" providerId="LiveId" clId="{7B5402A8-45D1-48D6-BF91-109F2F9EAE24}" dt="2026-02-23T02:53:19.806" v="13" actId="20577"/>
          <ac:spMkLst>
            <pc:docMk/>
            <pc:sldMk cId="1151969689" sldId="285"/>
            <ac:spMk id="3" creationId="{00000000-0000-0000-0000-000000000000}"/>
          </ac:spMkLst>
        </pc:spChg>
      </pc:sldChg>
      <pc:sldChg chg="modSp mod">
        <pc:chgData name="donghun kim" userId="ea4930dfa3cfe607" providerId="LiveId" clId="{7B5402A8-45D1-48D6-BF91-109F2F9EAE24}" dt="2026-02-23T02:53:53.231" v="18" actId="6549"/>
        <pc:sldMkLst>
          <pc:docMk/>
          <pc:sldMk cId="2282955857" sldId="286"/>
        </pc:sldMkLst>
        <pc:spChg chg="mod">
          <ac:chgData name="donghun kim" userId="ea4930dfa3cfe607" providerId="LiveId" clId="{7B5402A8-45D1-48D6-BF91-109F2F9EAE24}" dt="2026-02-23T02:53:53.231" v="18" actId="6549"/>
          <ac:spMkLst>
            <pc:docMk/>
            <pc:sldMk cId="2282955857" sldId="286"/>
            <ac:spMk id="3" creationId="{00000000-0000-0000-0000-000000000000}"/>
          </ac:spMkLst>
        </pc:spChg>
      </pc:sldChg>
      <pc:sldChg chg="modSp mod">
        <pc:chgData name="donghun kim" userId="ea4930dfa3cfe607" providerId="LiveId" clId="{7B5402A8-45D1-48D6-BF91-109F2F9EAE24}" dt="2026-02-23T02:54:35.944" v="22" actId="6549"/>
        <pc:sldMkLst>
          <pc:docMk/>
          <pc:sldMk cId="347630106" sldId="287"/>
        </pc:sldMkLst>
        <pc:spChg chg="mod">
          <ac:chgData name="donghun kim" userId="ea4930dfa3cfe607" providerId="LiveId" clId="{7B5402A8-45D1-48D6-BF91-109F2F9EAE24}" dt="2026-02-23T02:54:35.944" v="22" actId="6549"/>
          <ac:spMkLst>
            <pc:docMk/>
            <pc:sldMk cId="347630106" sldId="287"/>
            <ac:spMk id="3" creationId="{00000000-0000-0000-0000-000000000000}"/>
          </ac:spMkLst>
        </pc:spChg>
      </pc:sldChg>
      <pc:sldChg chg="modSp mod">
        <pc:chgData name="donghun kim" userId="ea4930dfa3cfe607" providerId="LiveId" clId="{7B5402A8-45D1-48D6-BF91-109F2F9EAE24}" dt="2026-02-23T02:56:53.792" v="23" actId="14100"/>
        <pc:sldMkLst>
          <pc:docMk/>
          <pc:sldMk cId="3562165995" sldId="288"/>
        </pc:sldMkLst>
        <pc:spChg chg="mod">
          <ac:chgData name="donghun kim" userId="ea4930dfa3cfe607" providerId="LiveId" clId="{7B5402A8-45D1-48D6-BF91-109F2F9EAE24}" dt="2026-02-23T02:56:53.792" v="23" actId="14100"/>
          <ac:spMkLst>
            <pc:docMk/>
            <pc:sldMk cId="3562165995" sldId="288"/>
            <ac:spMk id="12" creationId="{00000000-0000-0000-0000-000000000000}"/>
          </ac:spMkLst>
        </pc:spChg>
      </pc:sldChg>
      <pc:sldChg chg="modSp">
        <pc:chgData name="donghun kim" userId="ea4930dfa3cfe607" providerId="LiveId" clId="{7B5402A8-45D1-48D6-BF91-109F2F9EAE24}" dt="2026-02-23T03:01:32.217" v="25" actId="6549"/>
        <pc:sldMkLst>
          <pc:docMk/>
          <pc:sldMk cId="648945656" sldId="292"/>
        </pc:sldMkLst>
        <pc:spChg chg="mod">
          <ac:chgData name="donghun kim" userId="ea4930dfa3cfe607" providerId="LiveId" clId="{7B5402A8-45D1-48D6-BF91-109F2F9EAE24}" dt="2026-02-23T03:01:32.217" v="25" actId="6549"/>
          <ac:spMkLst>
            <pc:docMk/>
            <pc:sldMk cId="648945656" sldId="292"/>
            <ac:spMk id="17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말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F450E784-2449-4FFD-AA69-3F5CFAA75BCB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6203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말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99709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40A130E-E3B8-4EBE-931F-81B26B8448AA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1A3D5110-9FE0-496F-B26A-071D02F2DE37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AD2EBAF6-36D0-4DD8-B695-D4C1B37E35D6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60728D28-603B-4EFC-80F8-17E5E9107035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A27A1F4E-0809-4239-8034-C38E431DAF92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E0DA496-7307-4E8B-88DE-CB97B48BAB6F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pPr lvl="0"/>
            <a:r>
              <a:rPr lang="ko-KR" altLang="en-US"/>
              <a:t>표를 추가하려면 아이콘을 클릭하십시오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8721E90-850C-410B-8B89-8394F580CFDA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ACE7E28-9336-4363-8674-B91477D8F243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ACE7E28-9336-4363-8674-B91477D8F243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A348888-F454-4AD2-BA62-3AF29D9807C0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/>
              <a:t>첫째 목차</a:t>
            </a:r>
          </a:p>
          <a:p>
            <a:pPr lvl="0"/>
            <a:r>
              <a:rPr lang="ko-KR" altLang="en-US"/>
              <a:t>둘째 목차</a:t>
            </a:r>
          </a:p>
          <a:p>
            <a:pPr lvl="0"/>
            <a:r>
              <a:rPr lang="ko-KR" altLang="en-US"/>
              <a:t>셋째 목차</a:t>
            </a:r>
          </a:p>
          <a:p>
            <a:pPr lvl="0"/>
            <a:r>
              <a:rPr lang="ko-KR" altLang="en-US"/>
              <a:t>넷째 목차</a:t>
            </a:r>
          </a:p>
          <a:p>
            <a:pPr lvl="0"/>
            <a:r>
              <a:rPr lang="ko-KR" altLang="en-US"/>
              <a:t>다섯째 목차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56FEC12-A4C9-4837-AF94-AD867782C04C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57F84A3-4F29-4053-ACFD-1BAF2D3F140C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D422D86A-5F52-4165-8473-F1B836277586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/>
  <p:hf hd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B53282-541D-28A7-760C-8526A655EEFC}"/>
              </a:ext>
            </a:extLst>
          </p:cNvPr>
          <p:cNvSpPr txBox="1">
            <a:spLocks/>
          </p:cNvSpPr>
          <p:nvPr/>
        </p:nvSpPr>
        <p:spPr>
          <a:xfrm>
            <a:off x="1066800" y="1839049"/>
            <a:ext cx="10058400" cy="356616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본 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PPT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는 </a:t>
            </a:r>
            <a:r>
              <a:rPr lang="ko-KR" altLang="en-US" sz="3000" dirty="0">
                <a:solidFill>
                  <a:srgbClr val="FF00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강의 보조용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으로만 제공되는 것으로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, 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이를 복제 및 배포하거나 이를 편집하여 무단 이용 및 인쇄물로 제작하는 행위를 허용하지 않으므로 위배 시 저작권법에 따라 민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.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형사상의 책임이 따름을 알려 드립니다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.</a:t>
            </a:r>
            <a:endParaRPr lang="ko-KR" altLang="en-US" sz="3000" dirty="0"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2303F57-B9CB-CB49-B472-2A139CEA1F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293" r="10909" b="8674"/>
          <a:stretch/>
        </p:blipFill>
        <p:spPr>
          <a:xfrm>
            <a:off x="5437305" y="490953"/>
            <a:ext cx="1245793" cy="109850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0FAFE3E-F050-80D5-57E7-BD9D5E0ED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674" y="5386798"/>
            <a:ext cx="2443054" cy="595360"/>
          </a:xfrm>
          <a:prstGeom prst="rect">
            <a:avLst/>
          </a:prstGeom>
        </p:spPr>
      </p:pic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8CAF42D9-585E-DAAD-D631-3E519463A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4180" y="6448211"/>
            <a:ext cx="5938164" cy="365125"/>
          </a:xfrm>
        </p:spPr>
        <p:txBody>
          <a:bodyPr/>
          <a:lstStyle/>
          <a:p>
            <a:r>
              <a:rPr lang="ko-KR" altLang="en-US" dirty="0"/>
              <a:t>본 </a:t>
            </a:r>
            <a:r>
              <a:rPr lang="en-US" altLang="ko-KR" dirty="0"/>
              <a:t>PPT</a:t>
            </a:r>
            <a:r>
              <a:rPr lang="ko-KR" altLang="en-US" dirty="0"/>
              <a:t>를 복제 및 배포하는 행위를 일절 금합니다</a:t>
            </a:r>
            <a:r>
              <a:rPr lang="en-US" altLang="ko-KR" dirty="0"/>
              <a:t>. </a:t>
            </a:r>
            <a:r>
              <a:rPr lang="ko-KR" altLang="en-US" dirty="0"/>
              <a:t>위배 시</a:t>
            </a:r>
            <a:r>
              <a:rPr lang="en-US" altLang="ko-KR" dirty="0"/>
              <a:t>, </a:t>
            </a:r>
            <a:r>
              <a:rPr lang="ko-KR" altLang="en-US" dirty="0"/>
              <a:t>민</a:t>
            </a:r>
            <a:r>
              <a:rPr lang="en-US" altLang="ko-KR" dirty="0"/>
              <a:t>·</a:t>
            </a:r>
            <a:r>
              <a:rPr lang="ko-KR" altLang="en-US" dirty="0"/>
              <a:t>형사상의 책임이 따름을 알려드립니다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44068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/>
          </a:p>
        </p:txBody>
      </p:sp>
      <p:sp>
        <p:nvSpPr>
          <p:cNvPr id="27" name="Rectangl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87388" y="181576"/>
            <a:ext cx="11823637" cy="65010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>
              <a:solidFill>
                <a:srgbClr val="0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t="2278" r="-1" b="-1"/>
          <a:stretch>
            <a:fillRect/>
          </a:stretch>
        </p:blipFill>
        <p:spPr>
          <a:xfrm>
            <a:off x="180974" y="181576"/>
            <a:ext cx="11830051" cy="6318208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98182" y="1122363"/>
            <a:ext cx="10266536" cy="2217158"/>
          </a:xfrm>
        </p:spPr>
        <p:txBody>
          <a:bodyPr>
            <a:normAutofit/>
          </a:bodyPr>
          <a:lstStyle/>
          <a:p>
            <a:pPr lvl="0" algn="l">
              <a:defRPr/>
            </a:pPr>
            <a:r>
              <a:rPr lang="ko-KR" altLang="en-US" sz="5200">
                <a:solidFill>
                  <a:srgbClr val="FFFFFF"/>
                </a:solidFill>
                <a:ea typeface="맑은 고딕"/>
              </a:rPr>
              <a:t>제</a:t>
            </a:r>
            <a:r>
              <a:rPr lang="en-US" altLang="ko-KR" sz="5200">
                <a:solidFill>
                  <a:srgbClr val="FFFFFF"/>
                </a:solidFill>
                <a:ea typeface="맑은 고딕"/>
              </a:rPr>
              <a:t>4</a:t>
            </a:r>
            <a:r>
              <a:rPr lang="ko-KR" altLang="en-US" sz="5200">
                <a:solidFill>
                  <a:srgbClr val="FFFFFF"/>
                </a:solidFill>
                <a:ea typeface="맑은 고딕"/>
              </a:rPr>
              <a:t>장 시장구조와 에너지 시장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98181" y="3526021"/>
            <a:ext cx="9795637" cy="2042260"/>
          </a:xfrm>
        </p:spPr>
        <p:txBody>
          <a:bodyPr>
            <a:normAutofit/>
          </a:bodyPr>
          <a:lstStyle/>
          <a:p>
            <a:pPr lvl="0" algn="l">
              <a:defRPr/>
            </a:pPr>
            <a:endParaRPr lang="ko-KR" altLang="en-US">
              <a:solidFill>
                <a:srgbClr val="FFFFFF"/>
              </a:solidFill>
            </a:endParaRPr>
          </a:p>
        </p:txBody>
      </p:sp>
      <p:sp>
        <p:nvSpPr>
          <p:cNvPr id="3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00C6A38-4290-41DD-B95C-4155372FD4AF}" type="slidenum">
              <a:rPr lang="ko-KR" altLang="en-US"/>
              <a:pPr lvl="0">
                <a:defRPr/>
              </a:pPr>
              <a:t>2</a:t>
            </a:fld>
            <a:endParaRPr lang="ko-KR" altLang="en-US"/>
          </a:p>
        </p:txBody>
      </p:sp>
      <p:sp>
        <p:nvSpPr>
          <p:cNvPr id="3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에너지 경제학 제4장</a:t>
            </a:r>
          </a:p>
        </p:txBody>
      </p:sp>
    </p:spTree>
    <p:extLst>
      <p:ext uri="{BB962C8B-B14F-4D97-AF65-F5344CB8AC3E}">
        <p14:creationId xmlns:p14="http://schemas.microsoft.com/office/powerpoint/2010/main" val="594673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1.</a:t>
            </a:r>
            <a:r>
              <a:rPr lang="ko-KR" altLang="en-US" sz="3200"/>
              <a:t> 서론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417638"/>
            <a:ext cx="10972798" cy="4708525"/>
          </a:xfrm>
        </p:spPr>
        <p:txBody>
          <a:bodyPr/>
          <a:lstStyle/>
          <a:p>
            <a:pPr lvl="0">
              <a:defRPr/>
            </a:pPr>
            <a:r>
              <a:rPr lang="ko-KR" altLang="en-US" sz="2000" dirty="0"/>
              <a:t>에너지 시장에서는 소수의 대형 기업이 시장을 지배하거나</a:t>
            </a:r>
            <a:r>
              <a:rPr lang="en-US" altLang="ko-KR" sz="2000" dirty="0"/>
              <a:t>,</a:t>
            </a:r>
            <a:r>
              <a:rPr lang="ko-KR" altLang="en-US" sz="2000" dirty="0"/>
              <a:t> 공급의 전략적 조정을 통해 가격을 형성하는 과점적 구조가 일반적</a:t>
            </a:r>
          </a:p>
          <a:p>
            <a:pPr lvl="0">
              <a:defRPr/>
            </a:pPr>
            <a:endParaRPr lang="ko-KR" altLang="en-US" sz="2000" dirty="0"/>
          </a:p>
          <a:p>
            <a:pPr lvl="0">
              <a:defRPr/>
            </a:pPr>
            <a:r>
              <a:rPr lang="ko-KR" altLang="en-US" sz="2000" dirty="0"/>
              <a:t>공급자가 반복적으로 시장에 참여하면서 경쟁자와 상호작용을 고려해 전략을 조정하는 전략적 경쟁구도</a:t>
            </a:r>
          </a:p>
          <a:p>
            <a:pPr lvl="0">
              <a:defRPr/>
            </a:pPr>
            <a:endParaRPr lang="ko-KR" altLang="en-US" sz="2000" dirty="0"/>
          </a:p>
          <a:p>
            <a:pPr lvl="0">
              <a:defRPr/>
            </a:pPr>
            <a:r>
              <a:rPr lang="ko-KR" altLang="en-US" sz="2000" dirty="0"/>
              <a:t>에너지 시장은 완전경쟁도 순수한 독점도 아닌 중간 형태의 불완전 경쟁 시장이 지배적인 시장 구조를 형성</a:t>
            </a:r>
          </a:p>
          <a:p>
            <a:pPr lvl="0">
              <a:defRPr/>
            </a:pPr>
            <a:endParaRPr lang="ko-KR" altLang="en-US" sz="2000" dirty="0"/>
          </a:p>
          <a:p>
            <a:pPr lvl="0">
              <a:defRPr/>
            </a:pPr>
            <a:endParaRPr lang="ko-KR" altLang="en-US" sz="2000" dirty="0"/>
          </a:p>
          <a:p>
            <a:pPr lvl="0">
              <a:defRPr/>
            </a:pPr>
            <a:endParaRPr lang="ko-KR" altLang="en-US" sz="2000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3</a:t>
            </a:fld>
            <a:endParaRPr lang="ko-KR" altLang="en-US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제4장</a:t>
            </a:r>
          </a:p>
        </p:txBody>
      </p:sp>
    </p:spTree>
    <p:extLst>
      <p:ext uri="{BB962C8B-B14F-4D97-AF65-F5344CB8AC3E}">
        <p14:creationId xmlns:p14="http://schemas.microsoft.com/office/powerpoint/2010/main" val="577451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400"/>
              <a:t>2.</a:t>
            </a:r>
            <a:r>
              <a:rPr lang="ko-KR" altLang="en-US" sz="3400"/>
              <a:t> 에너지 시장에서의 과점 구조와 행태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03325"/>
            <a:ext cx="10972798" cy="4922838"/>
          </a:xfrm>
        </p:spPr>
        <p:txBody>
          <a:bodyPr/>
          <a:lstStyle/>
          <a:p>
            <a:pPr lvl="0">
              <a:defRPr/>
            </a:pPr>
            <a:r>
              <a:rPr lang="ko-KR" altLang="en-US" sz="2200" dirty="0"/>
              <a:t>과점 시장의 정의와 특징</a:t>
            </a:r>
          </a:p>
          <a:p>
            <a:pPr marL="771360" lvl="1" indent="-314160">
              <a:buChar char="•"/>
              <a:defRPr/>
            </a:pPr>
            <a:r>
              <a:rPr lang="ko-KR" altLang="en-US" sz="2200" dirty="0"/>
              <a:t>전략적 상호의존성</a:t>
            </a:r>
          </a:p>
          <a:p>
            <a:pPr marL="771360" lvl="1" indent="-314160">
              <a:buChar char="•"/>
              <a:defRPr/>
            </a:pPr>
            <a:r>
              <a:rPr lang="ko-KR" altLang="en-US" sz="2200" dirty="0"/>
              <a:t>진입장벽의 존재</a:t>
            </a:r>
          </a:p>
          <a:p>
            <a:pPr marL="771360" lvl="1" indent="-314160">
              <a:buChar char="•"/>
              <a:defRPr/>
            </a:pPr>
            <a:r>
              <a:rPr lang="ko-KR" altLang="en-US" sz="2200" dirty="0"/>
              <a:t>시장지배력 행사의 가능성</a:t>
            </a:r>
          </a:p>
          <a:p>
            <a:pPr marL="771360" lvl="1" indent="-314160">
              <a:buChar char="•"/>
              <a:defRPr/>
            </a:pPr>
            <a:r>
              <a:rPr lang="ko-KR" altLang="en-US" sz="2200" dirty="0"/>
              <a:t>제품의 동질성과 차별화</a:t>
            </a:r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371310" lvl="0" indent="-314160">
              <a:buChar char="•"/>
              <a:defRPr/>
            </a:pPr>
            <a:r>
              <a:rPr lang="ko-KR" altLang="en-US" sz="2200" dirty="0"/>
              <a:t> 에너지 시장에서 과점 기업의 전략적 행태</a:t>
            </a:r>
          </a:p>
          <a:p>
            <a:pPr marL="771360" lvl="1" indent="-314160">
              <a:buChar char="•"/>
              <a:defRPr/>
            </a:pPr>
            <a:r>
              <a:rPr lang="ko-KR" altLang="en-US" sz="2200" dirty="0"/>
              <a:t>생산량 조정</a:t>
            </a:r>
          </a:p>
          <a:p>
            <a:pPr marL="771360" lvl="1" indent="-314160">
              <a:buChar char="•"/>
              <a:defRPr/>
            </a:pPr>
            <a:r>
              <a:rPr lang="ko-KR" altLang="en-US" sz="2200" dirty="0"/>
              <a:t>입찰 전략의 조정</a:t>
            </a:r>
          </a:p>
          <a:p>
            <a:pPr marL="771360" lvl="1" indent="-314160">
              <a:buChar char="•"/>
              <a:defRPr/>
            </a:pPr>
            <a:r>
              <a:rPr lang="ko-KR" altLang="en-US" sz="2200" dirty="0"/>
              <a:t>정보 이용 및 시장 예측 전략</a:t>
            </a:r>
          </a:p>
          <a:p>
            <a:pPr marL="771360" lvl="1" indent="-314160">
              <a:buChar char="•"/>
              <a:defRPr/>
            </a:pPr>
            <a:r>
              <a:rPr lang="ko-KR" altLang="en-US" sz="2200" dirty="0"/>
              <a:t>반복 게임을 통한 협조 유지</a:t>
            </a:r>
          </a:p>
          <a:p>
            <a:pPr marL="457200" lvl="1" indent="0">
              <a:buNone/>
              <a:defRPr/>
            </a:pPr>
            <a:endParaRPr lang="ko-KR" altLang="en-US" sz="2200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제4장</a:t>
            </a:r>
          </a:p>
        </p:txBody>
      </p:sp>
    </p:spTree>
    <p:extLst>
      <p:ext uri="{BB962C8B-B14F-4D97-AF65-F5344CB8AC3E}">
        <p14:creationId xmlns:p14="http://schemas.microsoft.com/office/powerpoint/2010/main" val="985994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400"/>
              <a:t>3.</a:t>
            </a:r>
            <a:r>
              <a:rPr lang="ko-KR" altLang="en-US" sz="3400"/>
              <a:t> 과점 시장 모형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03325"/>
            <a:ext cx="10972798" cy="4922838"/>
          </a:xfrm>
        </p:spPr>
        <p:txBody>
          <a:bodyPr/>
          <a:lstStyle/>
          <a:p>
            <a:pPr marL="371310" lvl="0" indent="-314160">
              <a:buChar char="•"/>
              <a:defRPr/>
            </a:pPr>
            <a:r>
              <a:rPr lang="ko-KR" altLang="en-US" sz="2200" dirty="0"/>
              <a:t>버트란드</a:t>
            </a:r>
            <a:r>
              <a:rPr lang="en-US" altLang="ko-KR" sz="2200" dirty="0"/>
              <a:t>(Bertrand) </a:t>
            </a:r>
            <a:r>
              <a:rPr lang="ko-KR" altLang="en-US" sz="2200" dirty="0"/>
              <a:t>모형</a:t>
            </a:r>
          </a:p>
          <a:p>
            <a:pPr marL="771360" lvl="1" indent="-314160">
              <a:buChar char="•"/>
              <a:defRPr/>
            </a:pPr>
            <a:r>
              <a:rPr lang="ko-KR" altLang="en-US" sz="2200" dirty="0"/>
              <a:t>기업들은 가격을  전략적  변수로 설정하여 경쟁</a:t>
            </a:r>
          </a:p>
          <a:p>
            <a:pPr marL="771360" lvl="1" indent="-314160">
              <a:buChar char="•"/>
              <a:defRPr/>
            </a:pPr>
            <a:r>
              <a:rPr lang="ko-KR" altLang="en-US" sz="2200" dirty="0"/>
              <a:t>상대방의 가격이 주어진 것으로 가정하고 자신의 제품 가격 설정</a:t>
            </a:r>
          </a:p>
          <a:p>
            <a:pPr marL="771360" lvl="1" indent="-314160">
              <a:buChar char="•"/>
              <a:defRPr/>
            </a:pPr>
            <a:r>
              <a:rPr lang="ko-KR" altLang="en-US" sz="2200" dirty="0"/>
              <a:t>동질적인 재화 판매</a:t>
            </a:r>
          </a:p>
          <a:p>
            <a:pPr marL="771360" lvl="1" indent="-314160">
              <a:buChar char="•"/>
              <a:defRPr/>
            </a:pPr>
            <a:r>
              <a:rPr lang="ko-KR" altLang="en-US" sz="2200" dirty="0"/>
              <a:t>가격인하 경쟁으로</a:t>
            </a:r>
            <a:r>
              <a:rPr lang="en-US" altLang="ko-KR" sz="2200" dirty="0"/>
              <a:t>,</a:t>
            </a:r>
            <a:r>
              <a:rPr lang="ko-KR" altLang="en-US" sz="2200" dirty="0"/>
              <a:t> 결국</a:t>
            </a:r>
            <a:r>
              <a:rPr lang="en-US" altLang="ko-KR" sz="2200" dirty="0"/>
              <a:t>,</a:t>
            </a:r>
            <a:r>
              <a:rPr lang="ko-KR" altLang="en-US" sz="2200" dirty="0"/>
              <a:t> 가격이 한계비용과 일치</a:t>
            </a:r>
          </a:p>
          <a:p>
            <a:pPr marL="771360" lvl="1" indent="-314160">
              <a:buChar char="•"/>
              <a:defRPr/>
            </a:pPr>
            <a:r>
              <a:rPr lang="ko-KR" altLang="en-US" sz="2200" dirty="0"/>
              <a:t>균형상태에서 완전전쟁과 동일한 결과</a:t>
            </a:r>
            <a:r>
              <a:rPr lang="en-US" altLang="ko-KR" sz="2200" dirty="0"/>
              <a:t>:</a:t>
            </a:r>
            <a:r>
              <a:rPr lang="ko-KR" altLang="en-US" sz="2200" dirty="0"/>
              <a:t> 버트란드의 역설</a:t>
            </a:r>
          </a:p>
          <a:p>
            <a:pPr marL="771360" lvl="1" indent="-314160">
              <a:buChar char="•"/>
              <a:defRPr/>
            </a:pPr>
            <a:r>
              <a:rPr lang="ko-KR" altLang="en-US" sz="2200" dirty="0"/>
              <a:t>제품이 차별화된 경우에는 가격경쟁이 발생하더라도 기업들은 자사 제품에 대한 시장지배력을 보유</a:t>
            </a:r>
            <a:r>
              <a:rPr lang="en-US" altLang="ko-KR" sz="2200" dirty="0"/>
              <a:t>,</a:t>
            </a:r>
            <a:r>
              <a:rPr lang="ko-KR" altLang="en-US" sz="2200" dirty="0"/>
              <a:t> 초과이윤 획득</a:t>
            </a:r>
          </a:p>
          <a:p>
            <a:pPr marL="1171410" lvl="2" indent="-314160">
              <a:buChar char="•"/>
              <a:defRPr/>
            </a:pPr>
            <a:r>
              <a:rPr lang="ko-KR" altLang="en-US" sz="2200" dirty="0"/>
              <a:t>자유화된 전력시장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제4장</a:t>
            </a:r>
          </a:p>
        </p:txBody>
      </p:sp>
    </p:spTree>
    <p:extLst>
      <p:ext uri="{BB962C8B-B14F-4D97-AF65-F5344CB8AC3E}">
        <p14:creationId xmlns:p14="http://schemas.microsoft.com/office/powerpoint/2010/main" val="1151969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400"/>
              <a:t>3.</a:t>
            </a:r>
            <a:r>
              <a:rPr lang="ko-KR" altLang="en-US" sz="3400"/>
              <a:t> 과점 시장 모형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03325"/>
            <a:ext cx="10972798" cy="4922838"/>
          </a:xfrm>
        </p:spPr>
        <p:txBody>
          <a:bodyPr/>
          <a:lstStyle/>
          <a:p>
            <a:pPr marL="371310" lvl="0" indent="-314160">
              <a:buChar char="•"/>
              <a:defRPr/>
            </a:pPr>
            <a:r>
              <a:rPr lang="ko-KR" altLang="en-US" sz="2200" dirty="0"/>
              <a:t>쿠르노</a:t>
            </a:r>
            <a:r>
              <a:rPr lang="en-US" altLang="ko-KR" sz="2200" dirty="0"/>
              <a:t>(Cournot) </a:t>
            </a:r>
            <a:r>
              <a:rPr lang="ko-KR" altLang="en-US" sz="2200" dirty="0"/>
              <a:t>모형</a:t>
            </a:r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기업들은  경쟁기업의 수량이 주어졌다고 가정하고 생산량을 결정하는 수량경쟁 모형</a:t>
            </a:r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반응함수</a:t>
            </a:r>
            <a:r>
              <a:rPr lang="en-US" altLang="ko-KR" sz="2000" dirty="0"/>
              <a:t>(response function)</a:t>
            </a:r>
            <a:r>
              <a:rPr lang="ko-KR" altLang="en-US" sz="2000" dirty="0"/>
              <a:t>는 다른 기업의 생산량이 주어진 상태에서 한 기업의 적정 생산량을 나타내는 함수</a:t>
            </a:r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쿠르노 모형에서 시장 균형은 각 기업의 생산량이 다른 기업  생산량의 최적 반응일 때 결정 됨</a:t>
            </a:r>
            <a:endParaRPr lang="ko-KR" altLang="en-US" sz="2200" dirty="0"/>
          </a:p>
          <a:p>
            <a:pPr marL="857250" lvl="2" indent="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None/>
              <a:defRPr/>
            </a:pPr>
            <a:endParaRPr lang="en-US" altLang="ko-KR" sz="2200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제4장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자유형 8"/>
              <p:cNvSpPr/>
              <p:nvPr/>
            </p:nvSpPr>
            <p:spPr>
              <a:xfrm>
                <a:off x="1275215" y="3429000"/>
                <a:ext cx="8009461" cy="267652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800">
                          <a:latin typeface="Cambria Math"/>
                          <a:sym typeface="Cambria Math"/>
                        </a:rPr>
                        <m:t>두개의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기업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𝑖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와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𝑗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</m:oMath>
                  </m:oMathPara>
                </a14:m>
                <a:endParaRPr dirty="0"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800">
                          <a:latin typeface="Cambria Math"/>
                          <a:sym typeface="Cambria Math"/>
                        </a:rPr>
                        <m:t>수요함수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:   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𝑃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𝑄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)=1−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𝑄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=1−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𝑖</m:t>
                          </m:r>
                        </m:sub>
                      </m:sSub>
                      <m:r>
                        <a:rPr sz="1800">
                          <a:latin typeface="Cambria Math"/>
                          <a:sym typeface="Cambria Math"/>
                        </a:rPr>
                        <m:t>−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𝑗</m:t>
                          </m:r>
                        </m:sub>
                      </m:sSub>
                      <m:r>
                        <a:rPr sz="1800" i="1">
                          <a:latin typeface="Cambria Math"/>
                          <a:sym typeface="Cambria Math"/>
                        </a:rPr>
                        <m:t>,   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𝑄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=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𝑖</m:t>
                          </m:r>
                        </m:sub>
                      </m:sSub>
                      <m:r>
                        <a:rPr sz="1800" i="1">
                          <a:latin typeface="Cambria Math"/>
                          <a:sym typeface="Cambria Math"/>
                        </a:rPr>
                        <m:t> +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dirty="0"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800" i="0">
                          <a:latin typeface="Cambria Math"/>
                          <a:sym typeface="Cambria Math"/>
                        </a:rPr>
                        <m:t>비욯함수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: 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𝐶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𝑖</m:t>
                          </m:r>
                        </m:sub>
                      </m:sSub>
                      <m:r>
                        <a:rPr sz="1800" i="1">
                          <a:latin typeface="Cambria Math"/>
                          <a:sym typeface="Cambria Math"/>
                        </a:rPr>
                        <m:t>(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𝑖</m:t>
                          </m:r>
                        </m:sub>
                      </m:sSub>
                      <m:r>
                        <a:rPr sz="1800" i="1">
                          <a:latin typeface="Cambria Math"/>
                          <a:sym typeface="Cambria Math"/>
                        </a:rPr>
                        <m:t>))=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𝑐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dirty="0"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800" i="0">
                          <a:latin typeface="Cambria Math"/>
                          <a:sym typeface="Cambria Math"/>
                        </a:rPr>
                        <m:t>반응함수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: 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𝑖</m:t>
                          </m:r>
                        </m:sub>
                      </m:sSub>
                      <m:r>
                        <a:rPr sz="1800" i="1">
                          <a:latin typeface="Cambria Math"/>
                          <a:sym typeface="Cambria Math"/>
                        </a:rPr>
                        <m:t>=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𝑅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(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𝑗</m:t>
                          </m:r>
                        </m:sub>
                      </m:sSub>
                      <m:r>
                        <a:rPr sz="1800" i="1">
                          <a:latin typeface="Cambria Math"/>
                          <a:sym typeface="Cambria Math"/>
                        </a:rPr>
                        <m:t>)=(1−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𝑗</m:t>
                          </m:r>
                        </m:sub>
                      </m:sSub>
                      <m:r>
                        <a:rPr sz="1800" i="1">
                          <a:latin typeface="Cambria Math"/>
                          <a:sym typeface="Cambria Math"/>
                        </a:rPr>
                        <m:t>−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𝑐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𝑖</m:t>
                          </m:r>
                        </m:sub>
                      </m:sSub>
                      <m:r>
                        <a:rPr sz="1800" i="1">
                          <a:latin typeface="Cambria Math"/>
                          <a:sym typeface="Cambria Math"/>
                        </a:rPr>
                        <m:t>)/ 2,    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𝑗</m:t>
                          </m:r>
                        </m:sub>
                      </m:sSub>
                      <m:r>
                        <a:rPr sz="1800" i="1">
                          <a:latin typeface="Cambria Math"/>
                          <a:sym typeface="Cambria Math"/>
                        </a:rPr>
                        <m:t>=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𝑅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(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𝑖</m:t>
                          </m:r>
                        </m:sub>
                      </m:sSub>
                      <m:r>
                        <a:rPr sz="1800" i="1">
                          <a:latin typeface="Cambria Math"/>
                          <a:sym typeface="Cambria Math"/>
                        </a:rPr>
                        <m:t>)=(1−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𝑖</m:t>
                          </m:r>
                        </m:sub>
                      </m:sSub>
                      <m:r>
                        <a:rPr sz="1800" i="1">
                          <a:latin typeface="Cambria Math"/>
                          <a:sym typeface="Cambria Math"/>
                        </a:rPr>
                        <m:t>−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𝑐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𝑗</m:t>
                          </m:r>
                        </m:sub>
                      </m:sSub>
                      <m:r>
                        <a:rPr sz="1800" i="1">
                          <a:latin typeface="Cambria Math"/>
                          <a:sym typeface="Cambria Math"/>
                        </a:rPr>
                        <m:t>)/ 2</m:t>
                      </m:r>
                    </m:oMath>
                  </m:oMathPara>
                </a14:m>
                <a:endParaRPr dirty="0"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800" i="0">
                          <a:latin typeface="Cambria Math"/>
                          <a:sym typeface="Cambria Math"/>
                        </a:rPr>
                        <m:t>균형생산량과</m:t>
                      </m:r>
                      <m:r>
                        <a:rPr sz="1800" i="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 i="0">
                          <a:latin typeface="Cambria Math"/>
                          <a:sym typeface="Cambria Math"/>
                        </a:rPr>
                        <m:t>이윤</m:t>
                      </m:r>
                      <m:r>
                        <a:rPr sz="1800" i="0">
                          <a:latin typeface="Cambria Math"/>
                          <a:sym typeface="Cambria Math"/>
                        </a:rPr>
                        <m:t>: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    </m:t>
                      </m:r>
                    </m:oMath>
                  </m:oMathPara>
                </a14:m>
                <a:endParaRPr dirty="0"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800" i="1">
                          <a:latin typeface="Cambria Math"/>
                          <a:sym typeface="Cambria Math"/>
                        </a:rPr>
                        <m:t>                                                       </m:t>
                      </m:r>
                      <m:sSubSup>
                        <m:sSubSup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Sup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𝑖</m:t>
                          </m:r>
                        </m:sub>
                        <m:sup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∗</m:t>
                          </m:r>
                        </m:sup>
                      </m:sSubSup>
                      <m:r>
                        <a:rPr sz="1800" i="1">
                          <a:latin typeface="Cambria Math"/>
                          <a:sym typeface="Cambria Math"/>
                        </a:rPr>
                        <m:t>=</m:t>
                      </m:r>
                      <m:f>
                        <m:f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fPr>
                        <m:num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1−2</m:t>
                          </m:r>
                          <m:sSub>
                            <m:sSubPr>
                              <m:ctrlPr>
                                <a:rPr sz="1800" i="1">
                                  <a:latin typeface="Cambria Math" panose="02040503050406030204" pitchFamily="18" charset="0"/>
                                  <a:sym typeface="Cambria Math"/>
                                </a:rPr>
                              </m:ctrlPr>
                            </m:sSubPr>
                            <m:e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𝑐</m:t>
                              </m:r>
                            </m:e>
                            <m:sub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sz="1800" i="1">
                                  <a:latin typeface="Cambria Math" panose="02040503050406030204" pitchFamily="18" charset="0"/>
                                  <a:sym typeface="Cambria Math"/>
                                </a:rPr>
                              </m:ctrlPr>
                            </m:sSubPr>
                            <m:e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𝑐</m:t>
                              </m:r>
                            </m:e>
                            <m:sub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3</m:t>
                          </m:r>
                        </m:den>
                      </m:f>
                      <m:r>
                        <a:rPr sz="1800" i="1">
                          <a:latin typeface="Cambria Math"/>
                          <a:sym typeface="Cambria Math"/>
                        </a:rPr>
                        <m:t>,            </m:t>
                      </m:r>
                      <m:sSubSup>
                        <m:sSubSup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Sup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𝜋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𝑖</m:t>
                          </m:r>
                        </m:sub>
                        <m:sup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∗</m:t>
                          </m:r>
                        </m:sup>
                      </m:sSubSup>
                      <m:r>
                        <a:rPr sz="1800" i="1">
                          <a:latin typeface="Cambria Math"/>
                          <a:sym typeface="Cambria Math"/>
                        </a:rPr>
                        <m:t> =</m:t>
                      </m:r>
                      <m:f>
                        <m:f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sz="1800" i="1">
                                  <a:latin typeface="Cambria Math" panose="02040503050406030204" pitchFamily="18" charset="0"/>
                                  <a:sym typeface="Cambria Math"/>
                                </a:rPr>
                              </m:ctrlPr>
                            </m:sSupPr>
                            <m:e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(1−2</m:t>
                              </m:r>
                              <m:sSub>
                                <m:sSubPr>
                                  <m:ctrlPr>
                                    <a:rPr sz="1800" i="1">
                                      <a:latin typeface="Cambria Math" panose="02040503050406030204" pitchFamily="18" charset="0"/>
                                      <a:sym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sz="1800" i="1">
                                      <a:latin typeface="Cambria Math"/>
                                      <a:sym typeface="Cambria Math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sz="1800" i="1">
                                      <a:latin typeface="Cambria Math"/>
                                      <a:sym typeface="Cambria Math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sz="1800" i="1">
                                      <a:latin typeface="Cambria Math" panose="02040503050406030204" pitchFamily="18" charset="0"/>
                                      <a:sym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sz="1800" i="1">
                                      <a:latin typeface="Cambria Math"/>
                                      <a:sym typeface="Cambria Math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sz="1800" i="1">
                                      <a:latin typeface="Cambria Math"/>
                                      <a:sym typeface="Cambria Math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9" name="자유형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5215" y="3429000"/>
                <a:ext cx="8009461" cy="267652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>
                <a:blip r:embed="rId2"/>
                <a:stretch>
                  <a:fillRect l="-3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2955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400"/>
              <a:t>3.</a:t>
            </a:r>
            <a:r>
              <a:rPr lang="ko-KR" altLang="en-US" sz="3400"/>
              <a:t> 과점 시장 모형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03325"/>
            <a:ext cx="10972798" cy="4922838"/>
          </a:xfrm>
        </p:spPr>
        <p:txBody>
          <a:bodyPr/>
          <a:lstStyle/>
          <a:p>
            <a:pPr marL="371310" lvl="0" indent="-314160">
              <a:buChar char="•"/>
              <a:defRPr/>
            </a:pPr>
            <a:r>
              <a:rPr lang="ko-KR" altLang="en-US" sz="2200" dirty="0"/>
              <a:t>쿠르노</a:t>
            </a:r>
            <a:r>
              <a:rPr lang="en-US" altLang="ko-KR" sz="2200" dirty="0"/>
              <a:t>(Cournot) </a:t>
            </a:r>
            <a:r>
              <a:rPr lang="ko-KR" altLang="en-US" sz="2200" dirty="0"/>
              <a:t>모형</a:t>
            </a:r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857250" lvl="2" indent="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None/>
              <a:defRPr/>
            </a:pPr>
            <a:endParaRPr lang="en-US" altLang="ko-KR" sz="2200" dirty="0"/>
          </a:p>
          <a:p>
            <a:pPr marL="857250" lvl="2" indent="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None/>
              <a:defRPr/>
            </a:pPr>
            <a:endParaRPr lang="en-US" altLang="ko-KR" sz="2200" dirty="0"/>
          </a:p>
          <a:p>
            <a:pPr marL="857250" lvl="2" indent="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None/>
              <a:defRPr/>
            </a:pPr>
            <a:endParaRPr lang="en-US" altLang="ko-KR" sz="2200" dirty="0"/>
          </a:p>
          <a:p>
            <a:pPr marL="857250" lvl="2" indent="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None/>
              <a:defRPr/>
            </a:pPr>
            <a:endParaRPr lang="en-US" altLang="ko-KR" sz="2200" dirty="0"/>
          </a:p>
          <a:p>
            <a:pPr marL="857250" lvl="2" indent="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None/>
              <a:defRPr/>
            </a:pPr>
            <a:endParaRPr lang="en-US" altLang="ko-KR" sz="2200" dirty="0"/>
          </a:p>
          <a:p>
            <a:pPr marL="857250" lvl="2" indent="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None/>
              <a:defRPr/>
            </a:pPr>
            <a:endParaRPr lang="en-US" altLang="ko-KR" sz="2200" dirty="0"/>
          </a:p>
          <a:p>
            <a:pPr marL="771360" lvl="1" indent="-31416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/>
            </a:pPr>
            <a:endParaRPr lang="ko-KR" altLang="en-US" sz="2100" dirty="0"/>
          </a:p>
          <a:p>
            <a:pPr marL="771360" lvl="1" indent="-31416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/>
            </a:pPr>
            <a:endParaRPr lang="en-US" altLang="ko-KR" sz="2100" dirty="0"/>
          </a:p>
          <a:p>
            <a:pPr marL="771360" lvl="1" indent="-31416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/>
            </a:pPr>
            <a:r>
              <a:rPr lang="ko-KR" altLang="en-US" sz="2100" dirty="0"/>
              <a:t>두 기업의 반응 함수는 우하향하는 모습을 보이고 있는데 이는 수량이 전략적 대체제</a:t>
            </a:r>
            <a:r>
              <a:rPr lang="en-US" altLang="ko-KR" sz="2100" dirty="0"/>
              <a:t>(strategic substitute)</a:t>
            </a:r>
            <a:r>
              <a:rPr lang="ko-KR" altLang="en-US" sz="2100" dirty="0"/>
              <a:t>이기 때문</a:t>
            </a:r>
          </a:p>
          <a:p>
            <a:pPr marL="771360" lvl="1" indent="-31416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/>
            </a:pPr>
            <a:endParaRPr lang="en-US" altLang="ko-KR" sz="2100" dirty="0"/>
          </a:p>
          <a:p>
            <a:pPr marL="457200" lvl="1" indent="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/>
            </a:pPr>
            <a:endParaRPr lang="ko-KR" altLang="en-US" sz="2100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제4장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731700" y="2154841"/>
            <a:ext cx="6449403" cy="3019805"/>
          </a:xfrm>
          <a:prstGeom prst="rect">
            <a:avLst/>
          </a:prstGeom>
        </p:spPr>
      </p:pic>
      <p:sp>
        <p:nvSpPr>
          <p:cNvPr id="11" name="가로 글상자 10"/>
          <p:cNvSpPr txBox="1"/>
          <p:nvPr/>
        </p:nvSpPr>
        <p:spPr>
          <a:xfrm>
            <a:off x="1867772" y="1688419"/>
            <a:ext cx="2944893" cy="3620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4-1]</a:t>
            </a:r>
            <a:r>
              <a:rPr lang="ko-KR" altLang="en-US"/>
              <a:t> 쿠르노</a:t>
            </a:r>
            <a:r>
              <a:rPr lang="en-US" altLang="ko-KR"/>
              <a:t>-</a:t>
            </a:r>
            <a:r>
              <a:rPr lang="ko-KR" altLang="en-US"/>
              <a:t>내쉬 균형</a:t>
            </a:r>
          </a:p>
        </p:txBody>
      </p:sp>
    </p:spTree>
    <p:extLst>
      <p:ext uri="{BB962C8B-B14F-4D97-AF65-F5344CB8AC3E}">
        <p14:creationId xmlns:p14="http://schemas.microsoft.com/office/powerpoint/2010/main" val="347630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400"/>
              <a:t>3.</a:t>
            </a:r>
            <a:r>
              <a:rPr lang="ko-KR" altLang="en-US" sz="3400"/>
              <a:t> 과점 시장 모형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03325"/>
            <a:ext cx="10972798" cy="4922838"/>
          </a:xfrm>
        </p:spPr>
        <p:txBody>
          <a:bodyPr/>
          <a:lstStyle/>
          <a:p>
            <a:pPr marL="371310" lvl="0" indent="-314160">
              <a:buChar char="•"/>
              <a:defRPr/>
            </a:pPr>
            <a:r>
              <a:rPr lang="ko-KR" altLang="en-US" sz="2200" dirty="0"/>
              <a:t>선발자</a:t>
            </a:r>
            <a:r>
              <a:rPr lang="en-US" altLang="ko-KR" sz="2200" dirty="0"/>
              <a:t>-</a:t>
            </a:r>
            <a:r>
              <a:rPr lang="ko-KR" altLang="en-US" sz="2200" dirty="0"/>
              <a:t>후발자 </a:t>
            </a:r>
            <a:r>
              <a:rPr lang="en-US" altLang="ko-KR" sz="2200" dirty="0"/>
              <a:t>(</a:t>
            </a:r>
            <a:r>
              <a:rPr lang="en-US" altLang="ko-KR" sz="2200" dirty="0" err="1"/>
              <a:t>Stakelberg</a:t>
            </a:r>
            <a:r>
              <a:rPr lang="en-US" altLang="ko-KR" sz="2200" dirty="0"/>
              <a:t> Model)</a:t>
            </a:r>
          </a:p>
          <a:p>
            <a:pPr marL="771360" lvl="1" indent="-314160">
              <a:buChar char="•"/>
              <a:defRPr/>
            </a:pPr>
            <a:r>
              <a:rPr lang="ko-KR" altLang="en-US" sz="2200" dirty="0"/>
              <a:t>수량경쟁 모형</a:t>
            </a:r>
          </a:p>
          <a:p>
            <a:pPr marL="771360" lvl="1" indent="-314160">
              <a:buChar char="•"/>
              <a:defRPr/>
            </a:pPr>
            <a:r>
              <a:rPr lang="ko-KR" altLang="en-US" sz="2200" dirty="0"/>
              <a:t>수량 선택에 있어서 선발자</a:t>
            </a:r>
            <a:r>
              <a:rPr lang="en-US" altLang="ko-KR" sz="2200" dirty="0"/>
              <a:t>(leader)</a:t>
            </a:r>
            <a:r>
              <a:rPr lang="ko-KR" altLang="en-US" sz="2200" dirty="0"/>
              <a:t>가 먼저 생산량을 결정하고 후발자</a:t>
            </a:r>
            <a:r>
              <a:rPr lang="en-US" altLang="ko-KR" sz="2200" dirty="0"/>
              <a:t>(</a:t>
            </a:r>
            <a:r>
              <a:rPr lang="en-US" altLang="ko-KR" sz="2200" dirty="0" err="1"/>
              <a:t>follwer</a:t>
            </a:r>
            <a:r>
              <a:rPr lang="en-US" altLang="ko-KR" sz="2200" dirty="0"/>
              <a:t>)</a:t>
            </a:r>
            <a:r>
              <a:rPr lang="ko-KR" altLang="en-US" sz="2200" dirty="0"/>
              <a:t>는 선발자의 생산량을 관찰한 다음 자신의 생산량을 결정</a:t>
            </a:r>
          </a:p>
          <a:p>
            <a:pPr marL="771360" lvl="1" indent="-314160">
              <a:buChar char="•"/>
              <a:defRPr/>
            </a:pPr>
            <a:r>
              <a:rPr lang="ko-KR" altLang="en-US" sz="2200" dirty="0"/>
              <a:t>선발자는 후발자에 비해 더 많이 생산하고 높은 이윤을 확보</a:t>
            </a:r>
            <a:r>
              <a:rPr lang="en-US" altLang="ko-KR" sz="2200" dirty="0"/>
              <a:t>:</a:t>
            </a:r>
            <a:r>
              <a:rPr lang="ko-KR" altLang="en-US" sz="2200" dirty="0"/>
              <a:t> 선발자의 우위</a:t>
            </a:r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857250" lvl="2" indent="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None/>
              <a:defRPr/>
            </a:pPr>
            <a:endParaRPr lang="en-US" altLang="ko-KR" sz="2200" dirty="0"/>
          </a:p>
          <a:p>
            <a:pPr marL="857250" lvl="2" indent="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None/>
              <a:defRPr/>
            </a:pPr>
            <a:endParaRPr lang="en-US" altLang="ko-KR" sz="2200" dirty="0"/>
          </a:p>
          <a:p>
            <a:pPr marL="857250" lvl="2" indent="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None/>
              <a:defRPr/>
            </a:pPr>
            <a:endParaRPr lang="en-US" altLang="ko-KR" sz="2200" dirty="0"/>
          </a:p>
          <a:p>
            <a:pPr marL="857250" lvl="2" indent="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None/>
              <a:defRPr/>
            </a:pPr>
            <a:endParaRPr lang="en-US" altLang="ko-KR" sz="2200" dirty="0"/>
          </a:p>
          <a:p>
            <a:pPr marL="857250" lvl="2" indent="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None/>
              <a:defRPr/>
            </a:pPr>
            <a:endParaRPr lang="en-US" altLang="ko-KR" sz="2200" dirty="0"/>
          </a:p>
          <a:p>
            <a:pPr marL="857250" lvl="2" indent="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None/>
              <a:defRPr/>
            </a:pPr>
            <a:endParaRPr lang="en-US" altLang="ko-KR" sz="2200" dirty="0"/>
          </a:p>
          <a:p>
            <a:pPr marL="771360" lvl="1" indent="-31416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/>
            </a:pPr>
            <a:endParaRPr lang="ko-KR" altLang="en-US" sz="2100" dirty="0"/>
          </a:p>
          <a:p>
            <a:pPr marL="771360" lvl="1" indent="-31416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/>
            </a:pPr>
            <a:endParaRPr lang="en-US" altLang="ko-KR" sz="2100" dirty="0"/>
          </a:p>
          <a:p>
            <a:pPr marL="457200" lvl="1" indent="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/>
            </a:pPr>
            <a:endParaRPr lang="ko-KR" altLang="en-US" sz="2100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제4장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자유형 11"/>
              <p:cNvSpPr/>
              <p:nvPr/>
            </p:nvSpPr>
            <p:spPr>
              <a:xfrm>
                <a:off x="1313542" y="3429000"/>
                <a:ext cx="8975969" cy="206692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800">
                          <a:latin typeface="Cambria Math"/>
                          <a:sym typeface="Cambria Math"/>
                        </a:rPr>
                        <m:t>후발자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2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의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이윤함수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: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𝜋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=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𝑃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2</m:t>
                          </m:r>
                        </m:sub>
                      </m:sSub>
                      <m:r>
                        <a:rPr sz="1800">
                          <a:latin typeface="Cambria Math"/>
                          <a:sym typeface="Cambria Math"/>
                        </a:rPr>
                        <m:t>−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𝑐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2</m:t>
                          </m:r>
                        </m:sub>
                      </m:sSub>
                      <m:r>
                        <a:rPr sz="1800">
                          <a:latin typeface="Cambria Math"/>
                          <a:sym typeface="Cambria Math"/>
                        </a:rPr>
                        <m:t>=(1−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1</m:t>
                          </m:r>
                        </m:sub>
                      </m:sSub>
                      <m:r>
                        <a:rPr sz="1800">
                          <a:latin typeface="Cambria Math"/>
                          <a:sym typeface="Cambria Math"/>
                        </a:rPr>
                        <m:t>−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2</m:t>
                          </m:r>
                        </m:sub>
                      </m:sSub>
                      <m:r>
                        <a:rPr sz="1800">
                          <a:latin typeface="Cambria Math"/>
                          <a:sym typeface="Cambria Math"/>
                        </a:rPr>
                        <m:t>)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2</m:t>
                          </m:r>
                        </m:sub>
                      </m:sSub>
                      <m:r>
                        <a:rPr sz="1800">
                          <a:latin typeface="Cambria Math"/>
                          <a:sym typeface="Cambria Math"/>
                        </a:rPr>
                        <m:t>−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𝑐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dirty="0"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800">
                          <a:latin typeface="Cambria Math"/>
                          <a:sym typeface="Cambria Math"/>
                        </a:rPr>
                        <m:t>후발자의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반응함수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:  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2</m:t>
                          </m:r>
                        </m:sub>
                      </m:sSub>
                      <m:r>
                        <a:rPr sz="1800">
                          <a:latin typeface="Cambria Math"/>
                          <a:sym typeface="Cambria Math"/>
                        </a:rPr>
                        <m:t>=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𝑅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(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1</m:t>
                          </m:r>
                        </m:sub>
                      </m:sSub>
                      <m:r>
                        <a:rPr sz="1800">
                          <a:latin typeface="Cambria Math"/>
                          <a:sym typeface="Cambria Math"/>
                        </a:rPr>
                        <m:t>)=(1−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𝑐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−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1</m:t>
                          </m:r>
                        </m:sub>
                      </m:sSub>
                      <m:r>
                        <a:rPr sz="1800">
                          <a:latin typeface="Cambria Math"/>
                          <a:sym typeface="Cambria Math"/>
                        </a:rPr>
                        <m:t>) /2</m:t>
                      </m:r>
                    </m:oMath>
                  </m:oMathPara>
                </a14:m>
                <a:endParaRPr dirty="0"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800">
                          <a:latin typeface="Cambria Math"/>
                          <a:sym typeface="Cambria Math"/>
                        </a:rPr>
                        <m:t>선발자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1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의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이윤함수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: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𝜋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=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𝑃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1</m:t>
                          </m:r>
                        </m:sub>
                      </m:sSub>
                      <m:r>
                        <a:rPr sz="1800">
                          <a:latin typeface="Cambria Math"/>
                          <a:sym typeface="Cambria Math"/>
                        </a:rPr>
                        <m:t>−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𝑐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1</m:t>
                          </m:r>
                        </m:sub>
                      </m:sSub>
                      <m:r>
                        <a:rPr sz="1800">
                          <a:latin typeface="Cambria Math"/>
                          <a:sym typeface="Cambria Math"/>
                        </a:rPr>
                        <m:t>=(1−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1</m:t>
                          </m:r>
                        </m:sub>
                      </m:sSub>
                      <m:r>
                        <a:rPr sz="1800">
                          <a:latin typeface="Cambria Math"/>
                          <a:sym typeface="Cambria Math"/>
                        </a:rPr>
                        <m:t>−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2</m:t>
                          </m:r>
                        </m:sub>
                      </m:sSub>
                      <m:r>
                        <a:rPr sz="1800">
                          <a:latin typeface="Cambria Math"/>
                          <a:sym typeface="Cambria Math"/>
                        </a:rPr>
                        <m:t>)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1</m:t>
                          </m:r>
                        </m:sub>
                      </m:sSub>
                      <m:r>
                        <a:rPr sz="1800">
                          <a:latin typeface="Cambria Math"/>
                          <a:sym typeface="Cambria Math"/>
                        </a:rPr>
                        <m:t>−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𝑐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1</m:t>
                          </m:r>
                        </m:sub>
                      </m:sSub>
                      <m:r>
                        <a:rPr sz="1800">
                          <a:latin typeface="Cambria Math"/>
                          <a:sym typeface="Cambria Math"/>
                        </a:rPr>
                        <m:t>=1/2∗(1−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𝑐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−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1</m:t>
                          </m:r>
                        </m:sub>
                      </m:sSub>
                      <m:r>
                        <a:rPr sz="1800">
                          <a:latin typeface="Cambria Math"/>
                          <a:sym typeface="Cambria Math"/>
                        </a:rPr>
                        <m:t>)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dirty="0"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800">
                          <a:latin typeface="Cambria Math"/>
                          <a:sym typeface="Cambria Math"/>
                        </a:rPr>
                        <m:t>이윤극대화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생산량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: </m:t>
                      </m:r>
                      <m:sSubSup>
                        <m:sSubSup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Sup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1</m:t>
                          </m:r>
                        </m:sub>
                        <m:sup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∗</m:t>
                          </m:r>
                        </m:sup>
                      </m:sSubSup>
                      <m:r>
                        <a:rPr sz="1800">
                          <a:latin typeface="Cambria Math"/>
                          <a:sym typeface="Cambria Math"/>
                        </a:rPr>
                        <m:t>=(1−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𝑐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) /2,  </m:t>
                      </m:r>
                      <m:sSubSup>
                        <m:sSubSup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Sup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2</m:t>
                          </m:r>
                        </m:sub>
                        <m:sup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∗</m:t>
                          </m:r>
                        </m:sup>
                      </m:sSubSup>
                      <m:r>
                        <a:rPr sz="1800">
                          <a:latin typeface="Cambria Math"/>
                          <a:sym typeface="Cambria Math"/>
                        </a:rPr>
                        <m:t>=(1−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𝑐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)/4</m:t>
                      </m:r>
                    </m:oMath>
                  </m:oMathPara>
                </a14:m>
                <a:endParaRPr dirty="0"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800">
                          <a:latin typeface="Cambria Math"/>
                          <a:sym typeface="Cambria Math"/>
                        </a:rPr>
                        <m:t>선발자와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후발자의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이윤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: </m:t>
                      </m:r>
                      <m:sSubSup>
                        <m:sSubSup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Sup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𝜋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1</m:t>
                          </m:r>
                        </m:sub>
                        <m:sup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∗</m:t>
                          </m:r>
                        </m:sup>
                      </m:sSubSup>
                      <m:r>
                        <a:rPr sz="1800">
                          <a:latin typeface="Cambria Math"/>
                          <a:sym typeface="Cambria Math"/>
                        </a:rPr>
                        <m:t>=</m:t>
                      </m:r>
                      <m:sSup>
                        <m:sSup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p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(1−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𝑐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)</m:t>
                          </m:r>
                        </m:e>
                        <m:sup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2</m:t>
                          </m:r>
                        </m:sup>
                      </m:sSup>
                      <m:r>
                        <a:rPr sz="1800" i="1">
                          <a:latin typeface="Cambria Math"/>
                          <a:sym typeface="Cambria Math"/>
                        </a:rPr>
                        <m:t>/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8 ,  </m:t>
                      </m:r>
                      <m:sSubSup>
                        <m:sSubSup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Sup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𝜋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2</m:t>
                          </m:r>
                        </m:sub>
                        <m:sup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∗</m:t>
                          </m:r>
                        </m:sup>
                      </m:sSubSup>
                      <m:r>
                        <a:rPr sz="1800" i="1">
                          <a:latin typeface="Cambria Math"/>
                          <a:sym typeface="Cambria Math"/>
                        </a:rPr>
                        <m:t>=</m:t>
                      </m:r>
                      <m:sSup>
                        <m:sSup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p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(1−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𝑐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)</m:t>
                          </m:r>
                        </m:e>
                        <m:sup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2</m:t>
                          </m:r>
                        </m:sup>
                      </m:sSup>
                      <m:r>
                        <a:rPr sz="1800">
                          <a:latin typeface="Cambria Math"/>
                          <a:sym typeface="Cambria Math"/>
                        </a:rPr>
                        <m:t> /16  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2" name="자유형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3542" y="3429000"/>
                <a:ext cx="8975969" cy="206692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>
                <a:blip r:embed="rId2"/>
                <a:stretch>
                  <a:fillRect l="-2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2165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400"/>
              <a:t>3.</a:t>
            </a:r>
            <a:r>
              <a:rPr lang="ko-KR" altLang="en-US" sz="3400"/>
              <a:t> 과점 시장 모형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03325"/>
            <a:ext cx="10972798" cy="4922838"/>
          </a:xfrm>
        </p:spPr>
        <p:txBody>
          <a:bodyPr/>
          <a:lstStyle/>
          <a:p>
            <a:pPr marL="371310" lvl="0" indent="-314160">
              <a:buChar char="•"/>
              <a:defRPr/>
            </a:pPr>
            <a:r>
              <a:rPr lang="ko-KR" altLang="en-US" sz="2200"/>
              <a:t>선발자</a:t>
            </a:r>
            <a:r>
              <a:rPr lang="en-US" altLang="ko-KR" sz="2200"/>
              <a:t>-</a:t>
            </a:r>
            <a:r>
              <a:rPr lang="ko-KR" altLang="en-US" sz="2200"/>
              <a:t>후발자 </a:t>
            </a:r>
            <a:r>
              <a:rPr lang="en-US" altLang="ko-KR" sz="2200"/>
              <a:t>(Stakelberg Model)</a:t>
            </a:r>
          </a:p>
          <a:p>
            <a:pPr marL="857250" lvl="2" indent="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None/>
              <a:defRPr/>
            </a:pPr>
            <a:r>
              <a:rPr lang="ko-KR" altLang="en-US" sz="2200"/>
              <a:t>                      </a:t>
            </a:r>
          </a:p>
          <a:p>
            <a:pPr marL="857250" lvl="2" indent="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None/>
              <a:defRPr/>
            </a:pPr>
            <a:endParaRPr lang="en-US" altLang="ko-KR" sz="2200"/>
          </a:p>
          <a:p>
            <a:pPr marL="857250" lvl="2" indent="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None/>
              <a:defRPr/>
            </a:pPr>
            <a:endParaRPr lang="en-US" altLang="ko-KR" sz="2200"/>
          </a:p>
          <a:p>
            <a:pPr marL="857250" lvl="2" indent="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None/>
              <a:defRPr/>
            </a:pPr>
            <a:endParaRPr lang="en-US" altLang="ko-KR" sz="2200"/>
          </a:p>
          <a:p>
            <a:pPr marL="857250" lvl="2" indent="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None/>
              <a:defRPr/>
            </a:pPr>
            <a:endParaRPr lang="en-US" altLang="ko-KR" sz="2200"/>
          </a:p>
          <a:p>
            <a:pPr marL="857250" lvl="2" indent="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None/>
              <a:defRPr/>
            </a:pPr>
            <a:endParaRPr lang="en-US" altLang="ko-KR" sz="2200"/>
          </a:p>
          <a:p>
            <a:pPr marL="771360" lvl="1" indent="-31416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/>
            </a:pPr>
            <a:endParaRPr lang="ko-KR" altLang="en-US" sz="2100"/>
          </a:p>
          <a:p>
            <a:pPr marL="771360" lvl="1" indent="-31416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/>
            </a:pPr>
            <a:endParaRPr lang="en-US" altLang="ko-KR" sz="2100"/>
          </a:p>
          <a:p>
            <a:pPr marL="457200" lvl="1" indent="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/>
            </a:pPr>
            <a:endParaRPr lang="ko-KR" altLang="en-US" sz="210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제4장</a:t>
            </a: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761432" y="2107842"/>
            <a:ext cx="7526637" cy="3558303"/>
          </a:xfrm>
          <a:prstGeom prst="rect">
            <a:avLst/>
          </a:prstGeom>
        </p:spPr>
      </p:pic>
      <p:sp>
        <p:nvSpPr>
          <p:cNvPr id="14" name="가로 글상자 13"/>
          <p:cNvSpPr txBox="1"/>
          <p:nvPr/>
        </p:nvSpPr>
        <p:spPr>
          <a:xfrm>
            <a:off x="5313588" y="1744395"/>
            <a:ext cx="3165747" cy="3634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4-2]</a:t>
            </a:r>
            <a:r>
              <a:rPr lang="ko-KR" altLang="en-US"/>
              <a:t> 선발자</a:t>
            </a:r>
            <a:r>
              <a:rPr lang="en-US" altLang="ko-KR"/>
              <a:t>-</a:t>
            </a:r>
            <a:r>
              <a:rPr lang="ko-KR" altLang="en-US"/>
              <a:t>후발자 모형</a:t>
            </a:r>
          </a:p>
        </p:txBody>
      </p:sp>
      <p:sp>
        <p:nvSpPr>
          <p:cNvPr id="15" name="가로 글상자 14"/>
          <p:cNvSpPr txBox="1"/>
          <p:nvPr/>
        </p:nvSpPr>
        <p:spPr>
          <a:xfrm>
            <a:off x="1117510" y="2255071"/>
            <a:ext cx="3048089" cy="2008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040" lvl="0" indent="-257040">
              <a:buFont typeface="Arial"/>
              <a:buChar char="•"/>
              <a:defRPr/>
            </a:pPr>
            <a:r>
              <a:rPr lang="ko-KR" altLang="en-US"/>
              <a:t>선발자</a:t>
            </a:r>
            <a:r>
              <a:rPr lang="en-US" altLang="ko-KR"/>
              <a:t>-</a:t>
            </a:r>
            <a:r>
              <a:rPr lang="ko-KR" altLang="en-US"/>
              <a:t>후발자 모형에서 전체적인 수량은 쿠르노 균형에서 보다 크고  시장가격은 쿠르노 균형에서 보다 낮음</a:t>
            </a:r>
          </a:p>
          <a:p>
            <a:pPr marL="257040" lvl="0" indent="-257040">
              <a:buFont typeface="Arial"/>
              <a:buChar char="•"/>
              <a:defRPr/>
            </a:pPr>
            <a:endParaRPr lang="ko-KR" altLang="en-US"/>
          </a:p>
          <a:p>
            <a:pPr marL="257040" lvl="0" indent="-257040">
              <a:buFont typeface="Arial"/>
              <a:buChar char="•"/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3845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400"/>
              <a:t>4.</a:t>
            </a:r>
            <a:r>
              <a:rPr lang="ko-KR" altLang="en-US" sz="3400"/>
              <a:t> 독점적 경쟁과 에너지 제품의 차별화 전략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146628"/>
            <a:ext cx="10972798" cy="4979534"/>
          </a:xfrm>
        </p:spPr>
        <p:txBody>
          <a:bodyPr/>
          <a:lstStyle/>
          <a:p>
            <a:pPr lvl="0">
              <a:defRPr/>
            </a:pPr>
            <a:r>
              <a:rPr lang="ko-KR" altLang="en-US" sz="2000"/>
              <a:t>독점적 경쟁시장의 균형</a:t>
            </a:r>
          </a:p>
          <a:p>
            <a:pPr lvl="0">
              <a:defRPr/>
            </a:pPr>
            <a:endParaRPr lang="ko-KR" altLang="en-US" sz="2000"/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10</a:t>
            </a:fld>
            <a:endParaRPr lang="ko-KR" altLang="en-US"/>
          </a:p>
        </p:txBody>
      </p:sp>
      <p:sp>
        <p:nvSpPr>
          <p:cNvPr id="1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제4장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528220" y="2335987"/>
            <a:ext cx="5258779" cy="3417243"/>
          </a:xfrm>
          <a:prstGeom prst="rect">
            <a:avLst/>
          </a:prstGeom>
        </p:spPr>
      </p:pic>
      <p:sp>
        <p:nvSpPr>
          <p:cNvPr id="15" name="가로 글상자 14"/>
          <p:cNvSpPr txBox="1"/>
          <p:nvPr/>
        </p:nvSpPr>
        <p:spPr>
          <a:xfrm>
            <a:off x="7618674" y="1977261"/>
            <a:ext cx="4168326" cy="3587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4-3]</a:t>
            </a:r>
            <a:r>
              <a:rPr lang="ko-KR" altLang="en-US"/>
              <a:t> 독점적 경쟁시장의 단기균형</a:t>
            </a:r>
          </a:p>
        </p:txBody>
      </p:sp>
      <p:sp>
        <p:nvSpPr>
          <p:cNvPr id="16" name="가로 글상자 15"/>
          <p:cNvSpPr txBox="1"/>
          <p:nvPr/>
        </p:nvSpPr>
        <p:spPr>
          <a:xfrm>
            <a:off x="834559" y="1869845"/>
            <a:ext cx="5979026" cy="4052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040" lvl="0" indent="-257040">
              <a:buFont typeface="Arial"/>
              <a:buChar char="•"/>
              <a:defRPr/>
            </a:pPr>
            <a:r>
              <a:rPr lang="ko-KR" altLang="en-US" sz="2000"/>
              <a:t>독점적 경쟁시장은 완전경쟁과 독점시장의 성격을 동시에 보유 </a:t>
            </a:r>
          </a:p>
          <a:p>
            <a:pPr marL="257040" lvl="0" indent="-257040">
              <a:buFont typeface="Arial"/>
              <a:buChar char="•"/>
              <a:defRPr/>
            </a:pPr>
            <a:endParaRPr lang="ko-KR" altLang="en-US" sz="2000"/>
          </a:p>
          <a:p>
            <a:pPr marL="257040" lvl="0" indent="-257040">
              <a:buFont typeface="Arial"/>
              <a:buChar char="•"/>
              <a:defRPr/>
            </a:pPr>
            <a:r>
              <a:rPr lang="ko-KR" altLang="en-US" sz="2000"/>
              <a:t>많은 기업이 경쟁한다는 점에서 완전경쟁과 유사하나 각 기업들은 차별화된 제품 판매</a:t>
            </a:r>
          </a:p>
          <a:p>
            <a:pPr marL="257040" lvl="0" indent="-257040">
              <a:buFont typeface="Arial"/>
              <a:buChar char="•"/>
              <a:defRPr/>
            </a:pPr>
            <a:endParaRPr lang="ko-KR" altLang="en-US" sz="2000"/>
          </a:p>
          <a:p>
            <a:pPr marL="257040" lvl="0" indent="-257040">
              <a:buFont typeface="Arial"/>
              <a:buChar char="•"/>
              <a:defRPr/>
            </a:pPr>
            <a:r>
              <a:rPr lang="ko-KR" altLang="en-US" sz="2000"/>
              <a:t>독점적 경쟁시장에서 각 기업은 우하향하는 수요곡선을 가지고 있음</a:t>
            </a:r>
          </a:p>
          <a:p>
            <a:pPr marL="257040" lvl="0" indent="-257040">
              <a:buFont typeface="Arial"/>
              <a:buChar char="•"/>
              <a:defRPr/>
            </a:pPr>
            <a:endParaRPr lang="ko-KR" altLang="en-US" sz="2000"/>
          </a:p>
          <a:p>
            <a:pPr marL="257040" lvl="0" indent="-257040">
              <a:buFont typeface="Arial"/>
              <a:buChar char="•"/>
              <a:defRPr/>
            </a:pPr>
            <a:r>
              <a:rPr lang="ko-KR" altLang="en-US" sz="2000"/>
              <a:t>각 기업은 한계수입과 한계비용일 일치하도록 생산량을 결정하며 단기적으로 초과 이윤이 발생할 수 있음</a:t>
            </a:r>
          </a:p>
          <a:p>
            <a:pPr marL="714240" lvl="1" indent="-257040">
              <a:buFont typeface="Arial"/>
              <a:buChar char="•"/>
              <a:defRPr/>
            </a:pPr>
            <a:r>
              <a:rPr lang="ko-KR" altLang="en-US" sz="2000"/>
              <a:t>시장가격이 평균비용을 상회</a:t>
            </a:r>
          </a:p>
        </p:txBody>
      </p:sp>
    </p:spTree>
    <p:extLst>
      <p:ext uri="{BB962C8B-B14F-4D97-AF65-F5344CB8AC3E}">
        <p14:creationId xmlns:p14="http://schemas.microsoft.com/office/powerpoint/2010/main" val="3051861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400"/>
              <a:t>4.</a:t>
            </a:r>
            <a:r>
              <a:rPr lang="ko-KR" altLang="en-US" sz="3400"/>
              <a:t> 독점적 경쟁과 에너지 제품의 차별화 전략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146628"/>
            <a:ext cx="10972798" cy="4979534"/>
          </a:xfrm>
        </p:spPr>
        <p:txBody>
          <a:bodyPr/>
          <a:lstStyle/>
          <a:p>
            <a:pPr lvl="0">
              <a:defRPr/>
            </a:pPr>
            <a:r>
              <a:rPr lang="ko-KR" altLang="en-US" sz="2000"/>
              <a:t>독점적 경쟁시장의 균형</a:t>
            </a:r>
          </a:p>
          <a:p>
            <a:pPr lvl="0">
              <a:defRPr/>
            </a:pPr>
            <a:endParaRPr lang="ko-KR" altLang="en-US" sz="2000"/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  <p:sp>
        <p:nvSpPr>
          <p:cNvPr id="1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제4장</a:t>
            </a:r>
          </a:p>
        </p:txBody>
      </p:sp>
      <p:sp>
        <p:nvSpPr>
          <p:cNvPr id="15" name="가로 글상자 14"/>
          <p:cNvSpPr txBox="1"/>
          <p:nvPr/>
        </p:nvSpPr>
        <p:spPr>
          <a:xfrm>
            <a:off x="7618674" y="1977261"/>
            <a:ext cx="4168326" cy="363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4-4]</a:t>
            </a:r>
            <a:r>
              <a:rPr lang="ko-KR" altLang="en-US"/>
              <a:t> 독점적 경쟁시장의 장기균형</a:t>
            </a:r>
          </a:p>
        </p:txBody>
      </p:sp>
      <p:sp>
        <p:nvSpPr>
          <p:cNvPr id="16" name="가로 글상자 15"/>
          <p:cNvSpPr txBox="1"/>
          <p:nvPr/>
        </p:nvSpPr>
        <p:spPr>
          <a:xfrm>
            <a:off x="834559" y="1869843"/>
            <a:ext cx="5979026" cy="37480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040" lvl="0" indent="-257040">
              <a:buFont typeface="Arial"/>
              <a:buChar char="•"/>
              <a:defRPr/>
            </a:pPr>
            <a:r>
              <a:rPr lang="ko-KR" altLang="en-US" sz="2000"/>
              <a:t>독점적 경쟁시장의 특징 중 하나는 자유로운 진입과 이탈 </a:t>
            </a:r>
          </a:p>
          <a:p>
            <a:pPr marL="257040" lvl="0" indent="-257040">
              <a:buFont typeface="Arial"/>
              <a:buChar char="•"/>
              <a:defRPr/>
            </a:pPr>
            <a:endParaRPr lang="ko-KR" altLang="en-US" sz="2000"/>
          </a:p>
          <a:p>
            <a:pPr marL="257040" lvl="0" indent="-257040">
              <a:buFont typeface="Arial"/>
              <a:buChar char="•"/>
              <a:defRPr/>
            </a:pPr>
            <a:r>
              <a:rPr lang="ko-KR" altLang="en-US" sz="2000"/>
              <a:t>초과 이윤이 존재하면 잠재적 진입자의 시장진입이 일어남</a:t>
            </a:r>
          </a:p>
          <a:p>
            <a:pPr marL="257040" lvl="0" indent="-257040">
              <a:buFont typeface="Arial"/>
              <a:buChar char="•"/>
              <a:defRPr/>
            </a:pPr>
            <a:endParaRPr lang="ko-KR" altLang="en-US" sz="2000"/>
          </a:p>
          <a:p>
            <a:pPr marL="257040" lvl="0" indent="-257040">
              <a:buFont typeface="Arial"/>
              <a:buChar char="•"/>
              <a:defRPr/>
            </a:pPr>
            <a:r>
              <a:rPr lang="ko-KR" altLang="en-US" sz="2000"/>
              <a:t>손실이 발생하면 시장으로부터 이탈 발생</a:t>
            </a:r>
          </a:p>
          <a:p>
            <a:pPr marL="257040" lvl="0" indent="-257040">
              <a:buFont typeface="Arial"/>
              <a:buChar char="•"/>
              <a:defRPr/>
            </a:pPr>
            <a:endParaRPr lang="ko-KR" altLang="en-US" sz="2000"/>
          </a:p>
          <a:p>
            <a:pPr marL="257040" lvl="0" indent="-257040">
              <a:buFont typeface="Arial"/>
              <a:buChar char="•"/>
              <a:defRPr/>
            </a:pPr>
            <a:r>
              <a:rPr lang="ko-KR" altLang="en-US" sz="2000"/>
              <a:t>이러한 시장 진입과 이탈의 조정과정은 가격이 평균비용과 일치하여 초과이윤이 </a:t>
            </a:r>
            <a:r>
              <a:rPr lang="en-US" altLang="ko-KR" sz="2000"/>
              <a:t>0</a:t>
            </a:r>
            <a:r>
              <a:rPr lang="ko-KR" altLang="en-US" sz="2000"/>
              <a:t>이 될때까지 일어남</a:t>
            </a:r>
          </a:p>
          <a:p>
            <a:pPr marL="714240" lvl="1" indent="-257040">
              <a:buFont typeface="Arial"/>
              <a:buChar char="•"/>
              <a:defRPr/>
            </a:pPr>
            <a:r>
              <a:rPr lang="ko-KR" altLang="en-US" sz="2000"/>
              <a:t>장기균형</a:t>
            </a:r>
            <a:endParaRPr lang="en-US" altLang="ko-KR" sz="2000"/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231256" y="2341245"/>
            <a:ext cx="4555743" cy="3170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755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400"/>
              <a:t>4.</a:t>
            </a:r>
            <a:r>
              <a:rPr lang="ko-KR" altLang="en-US" sz="3400"/>
              <a:t> 독점적 경쟁과 에너지 제품의 차별화 전략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146628"/>
            <a:ext cx="10972798" cy="4979534"/>
          </a:xfrm>
        </p:spPr>
        <p:txBody>
          <a:bodyPr/>
          <a:lstStyle/>
          <a:p>
            <a:pPr lvl="0">
              <a:defRPr/>
            </a:pPr>
            <a:r>
              <a:rPr lang="ko-KR" altLang="en-US" sz="2000"/>
              <a:t>독점적 경쟁시장과 에너지 시장</a:t>
            </a:r>
          </a:p>
          <a:p>
            <a:pPr lvl="1">
              <a:buChar char="•"/>
              <a:defRPr/>
            </a:pPr>
            <a:r>
              <a:rPr lang="ko-KR" altLang="en-US" sz="2000"/>
              <a:t>제품 차별화 전략은 기업에게 가격결정력을 부여하고 소비자에게 선택권을 확대</a:t>
            </a:r>
          </a:p>
          <a:p>
            <a:pPr lvl="1">
              <a:buChar char="•"/>
              <a:defRPr/>
            </a:pPr>
            <a:endParaRPr lang="ko-KR" altLang="en-US" sz="2000"/>
          </a:p>
          <a:p>
            <a:pPr lvl="1">
              <a:buChar char="•"/>
              <a:defRPr/>
            </a:pPr>
            <a:r>
              <a:rPr lang="ko-KR" altLang="en-US" sz="2000"/>
              <a:t>과도한 시장세분화와 브랜드 프리미엄은 후생 손실로 이어질 수 있음</a:t>
            </a:r>
          </a:p>
          <a:p>
            <a:pPr lvl="2">
              <a:buChar char="•"/>
              <a:defRPr/>
            </a:pPr>
            <a:r>
              <a:rPr lang="ko-KR" altLang="en-US" sz="2000"/>
              <a:t>지나치게 많은 브랜드의 시장 진입</a:t>
            </a:r>
          </a:p>
          <a:p>
            <a:pPr lvl="2">
              <a:buChar char="•"/>
              <a:defRPr/>
            </a:pPr>
            <a:endParaRPr lang="ko-KR" altLang="en-US" sz="2000"/>
          </a:p>
          <a:p>
            <a:pPr lvl="1">
              <a:buChar char="•"/>
              <a:defRPr/>
            </a:pPr>
            <a:r>
              <a:rPr lang="ko-KR" altLang="en-US" sz="2000"/>
              <a:t>정책설계자는 경쟁촉진과 정보 투명성 확보</a:t>
            </a:r>
            <a:r>
              <a:rPr lang="en-US" altLang="ko-KR" sz="2000"/>
              <a:t>,</a:t>
            </a:r>
            <a:r>
              <a:rPr lang="ko-KR" altLang="en-US" sz="2000"/>
              <a:t> 소비자 보호를 균형있게 고려할 필요가 있음</a:t>
            </a:r>
          </a:p>
          <a:p>
            <a:pPr lvl="1">
              <a:buChar char="•"/>
              <a:defRPr/>
            </a:pPr>
            <a:endParaRPr lang="ko-KR" altLang="en-US" sz="2000"/>
          </a:p>
          <a:p>
            <a:pPr lvl="1">
              <a:buChar char="•"/>
              <a:defRPr/>
            </a:pPr>
            <a:r>
              <a:rPr lang="ko-KR" altLang="en-US" sz="2000"/>
              <a:t>사례</a:t>
            </a:r>
            <a:r>
              <a:rPr lang="en-US" altLang="ko-KR" sz="2000"/>
              <a:t>:</a:t>
            </a:r>
          </a:p>
          <a:p>
            <a:pPr lvl="2">
              <a:buChar char="•"/>
              <a:defRPr/>
            </a:pPr>
            <a:r>
              <a:rPr lang="ko-KR" altLang="en-US" sz="2000"/>
              <a:t>에너지 효율성 제품과 서비스 시장</a:t>
            </a:r>
          </a:p>
          <a:p>
            <a:pPr lvl="1">
              <a:buChar char="•"/>
              <a:defRPr/>
            </a:pPr>
            <a:endParaRPr lang="ko-KR" altLang="en-US" sz="2000"/>
          </a:p>
          <a:p>
            <a:pPr lvl="2">
              <a:buChar char="•"/>
              <a:defRPr/>
            </a:pPr>
            <a:r>
              <a:rPr lang="ko-KR" altLang="en-US" sz="2000"/>
              <a:t>지역화된 재생에너지 공급 시장</a:t>
            </a:r>
          </a:p>
          <a:p>
            <a:pPr lvl="1">
              <a:buChar char="•"/>
              <a:defRPr/>
            </a:pPr>
            <a:endParaRPr lang="ko-KR" altLang="en-US" sz="2000"/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  <p:sp>
        <p:nvSpPr>
          <p:cNvPr id="1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제4장</a:t>
            </a:r>
          </a:p>
        </p:txBody>
      </p:sp>
    </p:spTree>
    <p:extLst>
      <p:ext uri="{BB962C8B-B14F-4D97-AF65-F5344CB8AC3E}">
        <p14:creationId xmlns:p14="http://schemas.microsoft.com/office/powerpoint/2010/main" val="33381491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 dirty="0"/>
              <a:t>5.</a:t>
            </a:r>
            <a:r>
              <a:rPr lang="ko-KR" altLang="en-US" sz="3200" dirty="0"/>
              <a:t> 반복게임과 에너지 시장에서의  담합적 행동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146628"/>
            <a:ext cx="10972798" cy="4979534"/>
          </a:xfrm>
        </p:spPr>
        <p:txBody>
          <a:bodyPr/>
          <a:lstStyle/>
          <a:p>
            <a:pPr lvl="0">
              <a:defRPr/>
            </a:pPr>
            <a:r>
              <a:rPr lang="ko-KR" altLang="en-US" sz="2000"/>
              <a:t>반복 게임의 기본 구조</a:t>
            </a:r>
          </a:p>
          <a:p>
            <a:pPr lvl="1">
              <a:buChar char="•"/>
              <a:defRPr/>
            </a:pPr>
            <a:r>
              <a:rPr lang="ko-KR" altLang="en-US" sz="2000"/>
              <a:t>동일한 정적 게임</a:t>
            </a:r>
            <a:r>
              <a:rPr lang="en-US" altLang="ko-KR" sz="2000"/>
              <a:t>(static game)</a:t>
            </a:r>
            <a:r>
              <a:rPr lang="ko-KR" altLang="en-US" sz="2000"/>
              <a:t>이 일정한 횟수 또는 무한히 반복되는 형태</a:t>
            </a:r>
          </a:p>
          <a:p>
            <a:pPr lvl="1">
              <a:buChar char="•"/>
              <a:defRPr/>
            </a:pPr>
            <a:r>
              <a:rPr lang="ko-KR" altLang="en-US" sz="2000"/>
              <a:t>단일 게임에서 나타나지 않는 신뢰구축</a:t>
            </a:r>
            <a:r>
              <a:rPr lang="en-US" altLang="ko-KR" sz="2000"/>
              <a:t>, </a:t>
            </a:r>
            <a:r>
              <a:rPr lang="ko-KR" altLang="en-US" sz="2000"/>
              <a:t>보복 위협</a:t>
            </a:r>
            <a:r>
              <a:rPr lang="en-US" altLang="ko-KR" sz="2000"/>
              <a:t>, </a:t>
            </a:r>
            <a:r>
              <a:rPr lang="ko-KR" altLang="en-US" sz="2000"/>
              <a:t>장기적 협력과 같은 전략적 행동이 가능</a:t>
            </a:r>
          </a:p>
          <a:p>
            <a:pPr lvl="1">
              <a:buChar char="•"/>
              <a:defRPr/>
            </a:pPr>
            <a:r>
              <a:rPr lang="ko-KR" altLang="en-US" sz="2000"/>
              <a:t>현재의 전략은 미래의 이익에 중대한 영향을 미치며 미래 이익에 대한 할인율이 협조적 행동의 유인을 강화</a:t>
            </a:r>
          </a:p>
          <a:p>
            <a:pPr lvl="1">
              <a:buChar char="•"/>
              <a:defRPr/>
            </a:pPr>
            <a:r>
              <a:rPr lang="ko-KR" altLang="en-US" sz="2000"/>
              <a:t>장기적인 협력을 유인하는 전략 중 하나는 방아쇠 전략</a:t>
            </a:r>
            <a:r>
              <a:rPr lang="en-US" altLang="ko-KR" sz="2000"/>
              <a:t>(trigger strategy)</a:t>
            </a:r>
            <a:r>
              <a:rPr lang="ko-KR" altLang="en-US" sz="2000"/>
              <a:t>임</a:t>
            </a:r>
          </a:p>
          <a:p>
            <a:pPr lvl="2">
              <a:buChar char="•"/>
              <a:defRPr/>
            </a:pPr>
            <a:r>
              <a:rPr lang="ko-KR" altLang="en-US" sz="2000"/>
              <a:t>상대방이 협조할 경우 자신도 협조하지만</a:t>
            </a:r>
            <a:r>
              <a:rPr lang="en-US" altLang="ko-KR" sz="2000"/>
              <a:t>,</a:t>
            </a:r>
            <a:r>
              <a:rPr lang="ko-KR" altLang="en-US" sz="2000"/>
              <a:t> 일단 상대방이 협조를 어기면 이후에는 영구보복 전략</a:t>
            </a:r>
            <a:r>
              <a:rPr lang="en-US" altLang="ko-KR" sz="2000"/>
              <a:t>,</a:t>
            </a:r>
            <a:r>
              <a:rPr lang="ko-KR" altLang="en-US" sz="2000"/>
              <a:t> 즉 경쟁적 행동을 택하는 전략</a:t>
            </a:r>
          </a:p>
          <a:p>
            <a:pPr lvl="2">
              <a:buChar char="•"/>
              <a:defRPr/>
            </a:pPr>
            <a:r>
              <a:rPr lang="ko-KR" altLang="en-US" sz="2000"/>
              <a:t>담합이 깨졌을 경우 강력한 보복이 발생할 것이라는 신호를 줌으로써 담합이 장기적으로 유지될 수 있도록 유도하는 기제로 작용</a:t>
            </a:r>
          </a:p>
          <a:p>
            <a:pPr lvl="2">
              <a:buChar char="•"/>
              <a:defRPr/>
            </a:pPr>
            <a:endParaRPr lang="ko-KR" altLang="en-US" sz="2000"/>
          </a:p>
        </p:txBody>
      </p:sp>
      <p:sp>
        <p:nvSpPr>
          <p:cNvPr id="1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13</a:t>
            </a:fld>
            <a:endParaRPr lang="ko-KR" altLang="en-US"/>
          </a:p>
        </p:txBody>
      </p:sp>
      <p:sp>
        <p:nvSpPr>
          <p:cNvPr id="1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제4장</a:t>
            </a:r>
          </a:p>
        </p:txBody>
      </p:sp>
    </p:spTree>
    <p:extLst>
      <p:ext uri="{BB962C8B-B14F-4D97-AF65-F5344CB8AC3E}">
        <p14:creationId xmlns:p14="http://schemas.microsoft.com/office/powerpoint/2010/main" val="1638790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5.</a:t>
            </a:r>
            <a:r>
              <a:rPr lang="ko-KR" altLang="en-US" sz="3200"/>
              <a:t> 반복게임과 에너지 시장에서의  담합적 행동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146628"/>
            <a:ext cx="10972798" cy="4979534"/>
          </a:xfrm>
        </p:spPr>
        <p:txBody>
          <a:bodyPr/>
          <a:lstStyle/>
          <a:p>
            <a:pPr marL="342900" lvl="0" indent="-342900">
              <a:defRPr/>
            </a:pPr>
            <a:r>
              <a:rPr lang="ko-KR" altLang="en-US" sz="2000" dirty="0"/>
              <a:t>암묵적 담합모형</a:t>
            </a:r>
          </a:p>
          <a:p>
            <a:pPr marL="342900" lvl="0" indent="-342900">
              <a:defRPr/>
            </a:pPr>
            <a:endParaRPr lang="ko-KR" altLang="en-US" sz="2000" dirty="0"/>
          </a:p>
          <a:p>
            <a:pPr marL="342900" lvl="0" indent="-342900">
              <a:defRPr/>
            </a:pPr>
            <a:endParaRPr lang="ko-KR" altLang="en-US" sz="2000" dirty="0"/>
          </a:p>
          <a:p>
            <a:pPr marL="342900" lvl="0" indent="-342900">
              <a:defRPr/>
            </a:pPr>
            <a:endParaRPr lang="ko-KR" altLang="en-US" sz="2000" dirty="0"/>
          </a:p>
          <a:p>
            <a:pPr marL="342900" lvl="0" indent="-342900">
              <a:defRPr/>
            </a:pPr>
            <a:endParaRPr lang="ko-KR" altLang="en-US" sz="2000" dirty="0"/>
          </a:p>
          <a:p>
            <a:pPr marL="342900" lvl="0" indent="-342900">
              <a:defRPr/>
            </a:pPr>
            <a:endParaRPr lang="ko-KR" altLang="en-US" sz="2000" dirty="0"/>
          </a:p>
          <a:p>
            <a:pPr marL="342900" lvl="0" indent="-342900">
              <a:defRPr/>
            </a:pPr>
            <a:endParaRPr lang="ko-KR" altLang="en-US" sz="2000" dirty="0"/>
          </a:p>
          <a:p>
            <a:pPr marL="342900" lvl="0" indent="-342900">
              <a:defRPr/>
            </a:pPr>
            <a:endParaRPr lang="ko-KR" altLang="en-US" sz="2000" dirty="0"/>
          </a:p>
          <a:p>
            <a:pPr marL="342900" lvl="0" indent="-342900">
              <a:defRPr/>
            </a:pPr>
            <a:r>
              <a:rPr lang="ko-KR" altLang="en-US" sz="2000" dirty="0"/>
              <a:t>쿠르노</a:t>
            </a:r>
            <a:r>
              <a:rPr lang="en-US" altLang="ko-KR" sz="2000" dirty="0"/>
              <a:t>-</a:t>
            </a:r>
            <a:r>
              <a:rPr lang="ko-KR" altLang="en-US" sz="2000" dirty="0"/>
              <a:t>내쉬 균형</a:t>
            </a:r>
          </a:p>
        </p:txBody>
      </p:sp>
      <p:sp>
        <p:nvSpPr>
          <p:cNvPr id="1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  <p:sp>
        <p:nvSpPr>
          <p:cNvPr id="1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제4장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자유형 16"/>
              <p:cNvSpPr/>
              <p:nvPr/>
            </p:nvSpPr>
            <p:spPr>
              <a:xfrm>
                <a:off x="1206498" y="1662112"/>
                <a:ext cx="6819900" cy="206692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800">
                          <a:latin typeface="Cambria Math"/>
                          <a:sym typeface="Cambria Math"/>
                        </a:rPr>
                        <m:t>두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기업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𝑖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와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𝑗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가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동일한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제품을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생산하며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수량경쟁을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한다고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가정</m:t>
                      </m:r>
                    </m:oMath>
                  </m:oMathPara>
                </a14:m>
                <a:endParaRPr dirty="0"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800">
                          <a:latin typeface="Cambria Math"/>
                          <a:sym typeface="Cambria Math"/>
                        </a:rPr>
                        <m:t>시장수요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곡선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: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𝑃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𝑄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)=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𝑎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−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𝑏𝑄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,  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𝑄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=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𝑖</m:t>
                          </m:r>
                        </m:sub>
                      </m:sSub>
                      <m:r>
                        <a:rPr sz="1800">
                          <a:latin typeface="Cambria Math"/>
                          <a:sym typeface="Cambria Math"/>
                        </a:rPr>
                        <m:t>+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dirty="0"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800" i="0">
                          <a:latin typeface="Cambria Math"/>
                          <a:sym typeface="Cambria Math"/>
                        </a:rPr>
                        <m:t>비용함수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: 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𝐶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(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𝑖</m:t>
                          </m:r>
                        </m:sub>
                      </m:sSub>
                      <m:r>
                        <a:rPr sz="1800" i="1">
                          <a:latin typeface="Cambria Math"/>
                          <a:sym typeface="Cambria Math"/>
                        </a:rPr>
                        <m:t>)=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𝑐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dirty="0"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800" i="0">
                          <a:latin typeface="Cambria Math"/>
                          <a:sym typeface="Cambria Math"/>
                        </a:rPr>
                        <m:t>이윤함수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: 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𝜋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𝑖</m:t>
                          </m:r>
                        </m:sub>
                      </m:sSub>
                      <m:r>
                        <a:rPr sz="1800" i="1">
                          <a:latin typeface="Cambria Math"/>
                          <a:sym typeface="Cambria Math"/>
                        </a:rPr>
                        <m:t>(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𝑖</m:t>
                          </m:r>
                        </m:sub>
                      </m:sSub>
                      <m:r>
                        <a:rPr sz="1800" i="1">
                          <a:latin typeface="Cambria Math"/>
                          <a:sym typeface="Cambria Math"/>
                        </a:rPr>
                        <m:t>,  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𝑗</m:t>
                          </m:r>
                        </m:sub>
                      </m:sSub>
                      <m:r>
                        <a:rPr sz="1800" i="1">
                          <a:latin typeface="Cambria Math"/>
                          <a:sym typeface="Cambria Math"/>
                        </a:rPr>
                        <m:t>)=(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𝑃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𝑄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)−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𝑐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)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𝑖</m:t>
                          </m:r>
                        </m:sub>
                      </m:sSub>
                      <m:r>
                        <a:rPr sz="1800" i="1">
                          <a:latin typeface="Cambria Math"/>
                          <a:sym typeface="Cambria Math"/>
                        </a:rPr>
                        <m:t>=[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𝑎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−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𝑏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(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𝑖</m:t>
                          </m:r>
                        </m:sub>
                      </m:sSub>
                      <m:r>
                        <a:rPr sz="1800" i="1">
                          <a:latin typeface="Cambria Math"/>
                          <a:sym typeface="Cambria Math"/>
                        </a:rPr>
                        <m:t>+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𝑖</m:t>
                          </m:r>
                        </m:sub>
                      </m:sSub>
                      <m:r>
                        <a:rPr sz="1800" i="1">
                          <a:latin typeface="Cambria Math"/>
                          <a:sym typeface="Cambria Math"/>
                        </a:rPr>
                        <m:t>)−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𝑐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]∙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dirty="0"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800" i="0">
                          <a:latin typeface="Cambria Math"/>
                          <a:sym typeface="Cambria Math"/>
                        </a:rPr>
                        <m:t>할인율</m:t>
                      </m:r>
                      <m:r>
                        <a:rPr sz="1800" i="0">
                          <a:latin typeface="Cambria Math"/>
                          <a:sym typeface="Cambria Math"/>
                        </a:rPr>
                        <m:t>: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𝛿𝜖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(0, 1)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7" name="자유형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498" y="1662112"/>
                <a:ext cx="6819900" cy="206692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>
                <a:blip r:embed="rId2"/>
                <a:stretch>
                  <a:fillRect l="-3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자유형 17"/>
              <p:cNvSpPr/>
              <p:nvPr/>
            </p:nvSpPr>
            <p:spPr>
              <a:xfrm>
                <a:off x="2267403" y="4469492"/>
                <a:ext cx="6638925" cy="135255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Sup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𝑖</m:t>
                          </m:r>
                        </m:sub>
                        <m:sup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𝑁</m:t>
                          </m:r>
                        </m:sup>
                      </m:sSubSup>
                      <m:r>
                        <a:rPr sz="1800">
                          <a:latin typeface="Cambria Math"/>
                          <a:sym typeface="Cambria Math"/>
                        </a:rPr>
                        <m:t>=</m:t>
                      </m:r>
                      <m:f>
                        <m:f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fPr>
                        <m:num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𝑎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−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𝑐</m:t>
                          </m:r>
                        </m:num>
                        <m:den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3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𝑏</m:t>
                          </m:r>
                        </m:den>
                      </m:f>
                      <m:r>
                        <a:rPr sz="1800" i="1">
                          <a:latin typeface="Cambria Math"/>
                          <a:sym typeface="Cambria Math"/>
                        </a:rPr>
                        <m:t>,      </m:t>
                      </m:r>
                      <m:sSup>
                        <m:sSup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p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𝑄</m:t>
                          </m:r>
                        </m:e>
                        <m:sup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𝑁</m:t>
                          </m:r>
                        </m:sup>
                      </m:sSup>
                      <m:r>
                        <a:rPr sz="1800" i="1">
                          <a:latin typeface="Cambria Math"/>
                          <a:sym typeface="Cambria Math"/>
                        </a:rPr>
                        <m:t>=2</m:t>
                      </m:r>
                      <m:sSubSup>
                        <m:sSubSup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Sup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𝑖</m:t>
                          </m:r>
                        </m:sub>
                        <m:sup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𝑁</m:t>
                          </m:r>
                        </m:sup>
                      </m:sSubSup>
                      <m:r>
                        <a:rPr sz="1800" i="1">
                          <a:latin typeface="Cambria Math"/>
                          <a:sym typeface="Cambria Math"/>
                        </a:rPr>
                        <m:t>=</m:t>
                      </m:r>
                      <m:f>
                        <m:f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fPr>
                        <m:num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2(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𝑎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−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𝑐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)</m:t>
                          </m:r>
                        </m:num>
                        <m:den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3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𝑏</m:t>
                          </m:r>
                        </m:den>
                      </m:f>
                      <m:r>
                        <a:rPr sz="1800" i="1">
                          <a:latin typeface="Cambria Math"/>
                          <a:sym typeface="Cambria Math"/>
                        </a:rPr>
                        <m:t>,     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𝑃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=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𝑎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−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𝑏</m:t>
                      </m:r>
                      <m:sSup>
                        <m:sSup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p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𝑄</m:t>
                          </m:r>
                        </m:e>
                        <m:sup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𝑁</m:t>
                          </m:r>
                        </m:sup>
                      </m:sSup>
                      <m:r>
                        <a:rPr sz="1800" i="1">
                          <a:latin typeface="Cambria Math"/>
                          <a:sym typeface="Cambria Math"/>
                        </a:rPr>
                        <m:t>=(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𝑎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+2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𝑐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)/3</m:t>
                      </m:r>
                    </m:oMath>
                  </m:oMathPara>
                </a14:m>
                <a:endParaRPr dirty="0"/>
              </a:p>
              <a:p>
                <a:pPr algn="l"/>
                <a:endParaRPr dirty="0"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800" i="0">
                          <a:latin typeface="Cambria Math"/>
                          <a:sym typeface="Cambria Math"/>
                        </a:rPr>
                        <m:t>각</m:t>
                      </m:r>
                      <m:r>
                        <a:rPr sz="1800" i="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 i="0">
                          <a:latin typeface="Cambria Math"/>
                          <a:sym typeface="Cambria Math"/>
                        </a:rPr>
                        <m:t>기업의</m:t>
                      </m:r>
                      <m:r>
                        <a:rPr sz="1800" i="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 i="0">
                          <a:latin typeface="Cambria Math"/>
                          <a:sym typeface="Cambria Math"/>
                        </a:rPr>
                        <m:t>이윤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:  </m:t>
                      </m:r>
                      <m:sSup>
                        <m:sSup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p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𝜋</m:t>
                          </m:r>
                        </m:e>
                        <m:sup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𝑁</m:t>
                          </m:r>
                        </m:sup>
                      </m:sSup>
                      <m:r>
                        <a:rPr sz="1800" i="1">
                          <a:latin typeface="Cambria Math"/>
                          <a:sym typeface="Cambria Math"/>
                        </a:rPr>
                        <m:t>=(</m:t>
                      </m:r>
                      <m:sSup>
                        <m:sSup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p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𝑃</m:t>
                          </m:r>
                        </m:e>
                        <m:sup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𝑁</m:t>
                          </m:r>
                        </m:sup>
                      </m:sSup>
                      <m:r>
                        <a:rPr sz="1800" i="1">
                          <a:latin typeface="Cambria Math"/>
                          <a:sym typeface="Cambria Math"/>
                        </a:rPr>
                        <m:t>−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𝑐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)</m:t>
                      </m:r>
                      <m:sSubSup>
                        <m:sSubSup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Sup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𝑖</m:t>
                          </m:r>
                        </m:sub>
                        <m:sup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𝑁</m:t>
                          </m:r>
                        </m:sup>
                      </m:sSubSup>
                      <m:r>
                        <a:rPr sz="1800" i="1">
                          <a:latin typeface="Cambria Math"/>
                          <a:sym typeface="Cambria Math"/>
                        </a:rPr>
                        <m:t>=</m:t>
                      </m:r>
                      <m:sSup>
                        <m:sSup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p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(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𝑎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−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𝑐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)</m:t>
                          </m:r>
                        </m:e>
                        <m:sup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2</m:t>
                          </m:r>
                        </m:sup>
                      </m:sSup>
                      <m:r>
                        <a:rPr sz="1800" i="1">
                          <a:latin typeface="Cambria Math"/>
                          <a:sym typeface="Cambria Math"/>
                        </a:rPr>
                        <m:t>/9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𝑏</m:t>
                      </m:r>
                    </m:oMath>
                  </m:oMathPara>
                </a14:m>
                <a:endParaRPr dirty="0"/>
              </a:p>
            </p:txBody>
          </p:sp>
        </mc:Choice>
        <mc:Fallback xmlns:dsp="http://schemas.microsoft.com/office/drawing/2008/diagram" xmlns:dgm="http://schemas.openxmlformats.org/drawingml/2006/diagram" xmlns:c="http://schemas.openxmlformats.org/drawingml/2006/chart" xmlns="">
          <p:sp>
            <p:nvSpPr>
              <p:cNvPr id="18" name=""/>
              <p:cNvSpPr txBox="1"/>
              <p:nvPr/>
            </p:nvSpPr>
            <p:spPr>
              <a:xfrm>
                <a:off x="2267403" y="4469492"/>
                <a:ext cx="6638925" cy="1352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</p:sp>
        </mc:Fallback>
      </mc:AlternateContent>
    </p:spTree>
    <p:extLst>
      <p:ext uri="{BB962C8B-B14F-4D97-AF65-F5344CB8AC3E}">
        <p14:creationId xmlns:p14="http://schemas.microsoft.com/office/powerpoint/2010/main" val="6489456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5.</a:t>
            </a:r>
            <a:r>
              <a:rPr lang="ko-KR" altLang="en-US" sz="3200"/>
              <a:t> 반복게임과 에너지 시장에서의  담합적 행동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146628"/>
            <a:ext cx="10972798" cy="4979534"/>
          </a:xfrm>
        </p:spPr>
        <p:txBody>
          <a:bodyPr/>
          <a:lstStyle/>
          <a:p>
            <a:pPr marL="342900" lvl="0" indent="-342900">
              <a:defRPr/>
            </a:pPr>
            <a:r>
              <a:rPr lang="ko-KR" altLang="en-US" sz="2000"/>
              <a:t>담합전략</a:t>
            </a:r>
          </a:p>
          <a:p>
            <a:pPr marL="742950" lvl="1" indent="-342900">
              <a:buChar char="•"/>
              <a:defRPr/>
            </a:pPr>
            <a:r>
              <a:rPr lang="ko-KR" altLang="en-US" sz="2000"/>
              <a:t>두 기업이 담합을 유지할 경우 독점 기업과 같이 행동하여 이윤을 나눔</a:t>
            </a:r>
          </a:p>
          <a:p>
            <a:pPr marL="742950" lvl="1" indent="-342900">
              <a:buChar char="•"/>
              <a:defRPr/>
            </a:pPr>
            <a:endParaRPr lang="ko-KR" altLang="en-US" sz="2000"/>
          </a:p>
          <a:p>
            <a:pPr marL="742950" lvl="1" indent="-342900">
              <a:buChar char="•"/>
              <a:defRPr/>
            </a:pPr>
            <a:endParaRPr lang="ko-KR" altLang="en-US" sz="2000"/>
          </a:p>
          <a:p>
            <a:pPr marL="742950" lvl="1" indent="-342900">
              <a:buChar char="•"/>
              <a:defRPr/>
            </a:pPr>
            <a:endParaRPr lang="ko-KR" altLang="en-US" sz="2000"/>
          </a:p>
          <a:p>
            <a:pPr marL="742950" lvl="1" indent="-342900">
              <a:buChar char="•"/>
              <a:defRPr/>
            </a:pPr>
            <a:endParaRPr lang="ko-KR" altLang="en-US" sz="2000"/>
          </a:p>
          <a:p>
            <a:pPr marL="742950" lvl="1" indent="-342900">
              <a:buChar char="•"/>
              <a:defRPr/>
            </a:pPr>
            <a:endParaRPr lang="ko-KR" altLang="en-US" sz="2000"/>
          </a:p>
          <a:p>
            <a:pPr marL="742950" lvl="1" indent="-342900">
              <a:buChar char="•"/>
              <a:defRPr/>
            </a:pPr>
            <a:endParaRPr lang="ko-KR" altLang="en-US" sz="2000"/>
          </a:p>
          <a:p>
            <a:pPr marL="742950" lvl="1" indent="-342900">
              <a:buChar char="•"/>
              <a:defRPr/>
            </a:pPr>
            <a:r>
              <a:rPr lang="ko-KR" altLang="en-US" sz="2000"/>
              <a:t>담합이 유지되면 매 기마다 두 기업은 담합 이윤을 획득</a:t>
            </a:r>
          </a:p>
          <a:p>
            <a:pPr marL="742950" lvl="1" indent="-342900">
              <a:buChar char="•"/>
              <a:defRPr/>
            </a:pPr>
            <a:endParaRPr lang="ko-KR" altLang="en-US" sz="2000"/>
          </a:p>
          <a:p>
            <a:pPr marL="342900" lvl="0" indent="-342900">
              <a:defRPr/>
            </a:pPr>
            <a:endParaRPr lang="ko-KR" altLang="en-US" sz="2000"/>
          </a:p>
          <a:p>
            <a:pPr marL="342900" lvl="0" indent="-342900">
              <a:defRPr/>
            </a:pPr>
            <a:endParaRPr lang="ko-KR" altLang="en-US" sz="2000"/>
          </a:p>
          <a:p>
            <a:pPr marL="342900" lvl="0" indent="-342900">
              <a:defRPr/>
            </a:pPr>
            <a:endParaRPr lang="ko-KR" altLang="en-US" sz="2000"/>
          </a:p>
          <a:p>
            <a:pPr marL="342900" lvl="0" indent="-342900">
              <a:defRPr/>
            </a:pPr>
            <a:endParaRPr lang="ko-KR" altLang="en-US" sz="2000"/>
          </a:p>
          <a:p>
            <a:pPr marL="342900" lvl="0" indent="-342900">
              <a:defRPr/>
            </a:pPr>
            <a:endParaRPr lang="ko-KR" altLang="en-US" sz="2000"/>
          </a:p>
          <a:p>
            <a:pPr marL="342900" lvl="0" indent="-342900">
              <a:defRPr/>
            </a:pPr>
            <a:endParaRPr lang="ko-KR" altLang="en-US" sz="2000"/>
          </a:p>
          <a:p>
            <a:pPr marL="342900" lvl="0" indent="-342900">
              <a:defRPr/>
            </a:pPr>
            <a:endParaRPr lang="ko-KR" altLang="en-US" sz="2000"/>
          </a:p>
          <a:p>
            <a:pPr marL="342900" lvl="0" indent="-342900">
              <a:defRPr/>
            </a:pPr>
            <a:endParaRPr lang="ko-KR" altLang="en-US" sz="2000"/>
          </a:p>
        </p:txBody>
      </p:sp>
      <p:sp>
        <p:nvSpPr>
          <p:cNvPr id="1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  <p:sp>
        <p:nvSpPr>
          <p:cNvPr id="1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제4장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자유형 18"/>
              <p:cNvSpPr/>
              <p:nvPr/>
            </p:nvSpPr>
            <p:spPr>
              <a:xfrm>
                <a:off x="1705201" y="2046514"/>
                <a:ext cx="8010525" cy="16764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800">
                          <a:latin typeface="Cambria Math"/>
                          <a:sym typeface="Cambria Math"/>
                        </a:rPr>
                        <m:t>독점생산량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: </m:t>
                      </m:r>
                      <m:sSup>
                        <m:sSup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p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𝑄</m:t>
                          </m:r>
                        </m:e>
                        <m:sup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𝑀</m:t>
                          </m:r>
                        </m:sup>
                      </m:sSup>
                      <m:r>
                        <a:rPr sz="1800">
                          <a:latin typeface="Cambria Math"/>
                          <a:sym typeface="Cambria Math"/>
                        </a:rPr>
                        <m:t>=(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𝑎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−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𝑐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)/ 2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𝑏</m:t>
                      </m:r>
                    </m:oMath>
                  </m:oMathPara>
                </a14:m>
                <a:endParaRPr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800">
                          <a:latin typeface="Cambria Math"/>
                          <a:sym typeface="Cambria Math"/>
                        </a:rPr>
                        <m:t>기업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생산량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: </m:t>
                      </m:r>
                      <m:sSubSup>
                        <m:sSubSup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Sup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𝑖</m:t>
                          </m:r>
                        </m:sub>
                        <m:sup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𝑐</m:t>
                          </m:r>
                        </m:sup>
                      </m:sSubSup>
                      <m:r>
                        <a:rPr sz="1800">
                          <a:latin typeface="Cambria Math"/>
                          <a:sym typeface="Cambria Math"/>
                        </a:rPr>
                        <m:t>=</m:t>
                      </m:r>
                      <m:sSup>
                        <m:sSup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p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𝑄</m:t>
                          </m:r>
                        </m:e>
                        <m:sup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𝑀</m:t>
                          </m:r>
                        </m:sup>
                      </m:sSup>
                      <m:r>
                        <a:rPr sz="1800">
                          <a:latin typeface="Cambria Math"/>
                          <a:sym typeface="Cambria Math"/>
                        </a:rPr>
                        <m:t>/2=(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𝑎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−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𝑐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)/ 4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𝑏</m:t>
                      </m:r>
                    </m:oMath>
                  </m:oMathPara>
                </a14:m>
                <a:endParaRPr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800">
                          <a:latin typeface="Cambria Math"/>
                          <a:sym typeface="Cambria Math"/>
                        </a:rPr>
                        <m:t>시장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가격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:</m:t>
                      </m:r>
                      <m:sSup>
                        <m:sSup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p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𝑃</m:t>
                          </m:r>
                        </m:e>
                        <m:sup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𝑀</m:t>
                          </m:r>
                        </m:sup>
                      </m:sSup>
                      <m:r>
                        <a:rPr sz="1800">
                          <a:latin typeface="Cambria Math"/>
                          <a:sym typeface="Cambria Math"/>
                        </a:rPr>
                        <m:t>=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𝑎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−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𝑏</m:t>
                      </m:r>
                      <m:sSup>
                        <m:sSup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p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𝑄</m:t>
                          </m:r>
                        </m:e>
                        <m:sup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𝑀</m:t>
                          </m:r>
                        </m:sup>
                      </m:sSup>
                      <m:r>
                        <a:rPr sz="1800">
                          <a:latin typeface="Cambria Math"/>
                          <a:sym typeface="Cambria Math"/>
                        </a:rPr>
                        <m:t>=(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𝑎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+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𝑐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)/ 2</m:t>
                      </m:r>
                    </m:oMath>
                  </m:oMathPara>
                </a14:m>
                <a:endParaRPr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800">
                          <a:latin typeface="Cambria Math"/>
                          <a:sym typeface="Cambria Math"/>
                        </a:rPr>
                        <m:t>각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기업의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이윤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: </m:t>
                      </m:r>
                      <m:sSup>
                        <m:sSup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p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𝜋</m:t>
                          </m:r>
                        </m:e>
                        <m:sup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𝑐</m:t>
                          </m:r>
                        </m:sup>
                      </m:sSup>
                      <m:r>
                        <a:rPr sz="1800">
                          <a:latin typeface="Cambria Math"/>
                          <a:sym typeface="Cambria Math"/>
                        </a:rPr>
                        <m:t>=(</m:t>
                      </m:r>
                      <m:sSup>
                        <m:sSup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p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𝑃</m:t>
                          </m:r>
                        </m:e>
                        <m:sup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𝑀</m:t>
                          </m:r>
                        </m:sup>
                      </m:sSup>
                      <m:r>
                        <a:rPr sz="1800">
                          <a:latin typeface="Cambria Math"/>
                          <a:sym typeface="Cambria Math"/>
                        </a:rPr>
                        <m:t>−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𝑐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)∙</m:t>
                      </m:r>
                      <m:sSubSup>
                        <m:sSubSup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Sup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𝑖</m:t>
                          </m:r>
                        </m:sub>
                        <m:sup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𝑐</m:t>
                          </m:r>
                        </m:sup>
                      </m:sSubSup>
                      <m:r>
                        <a:rPr sz="1800">
                          <a:latin typeface="Cambria Math"/>
                          <a:sym typeface="Cambria Math"/>
                        </a:rPr>
                        <m:t>=((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𝑎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+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𝑐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)/2−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𝑐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)∙(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𝑎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−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𝑐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) /4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𝑏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=</m:t>
                      </m:r>
                      <m:sSup>
                        <m:sSup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p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(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𝑎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−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𝑐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)</m:t>
                          </m:r>
                        </m:e>
                        <m:sup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2</m:t>
                          </m:r>
                        </m:sup>
                      </m:sSup>
                      <m:r>
                        <a:rPr sz="1800">
                          <a:latin typeface="Cambria Math"/>
                          <a:sym typeface="Cambria Math"/>
                        </a:rPr>
                        <m:t> /8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𝑏</m:t>
                      </m:r>
                    </m:oMath>
                  </m:oMathPara>
                </a14:m>
                <a:endParaRPr/>
              </a:p>
            </p:txBody>
          </p:sp>
        </mc:Choice>
        <mc:Fallback xmlns:dsp="http://schemas.microsoft.com/office/drawing/2008/diagram" xmlns:dgm="http://schemas.openxmlformats.org/drawingml/2006/diagram" xmlns:c="http://schemas.openxmlformats.org/drawingml/2006/chart" xmlns="">
          <p:sp>
            <p:nvSpPr>
              <p:cNvPr id="19" name=""/>
              <p:cNvSpPr txBox="1"/>
              <p:nvPr/>
            </p:nvSpPr>
            <p:spPr>
              <a:xfrm>
                <a:off x="1705201" y="2046514"/>
                <a:ext cx="8010525" cy="16764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</p:sp>
        </mc:Fallback>
      </mc:AlternateContent>
    </p:spTree>
    <p:extLst>
      <p:ext uri="{BB962C8B-B14F-4D97-AF65-F5344CB8AC3E}">
        <p14:creationId xmlns:p14="http://schemas.microsoft.com/office/powerpoint/2010/main" val="11248978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5.</a:t>
            </a:r>
            <a:r>
              <a:rPr lang="ko-KR" altLang="en-US" sz="3200"/>
              <a:t> 반복게임과 에너지 시장에서의  담합적 행동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146628"/>
            <a:ext cx="10972798" cy="4979534"/>
          </a:xfrm>
        </p:spPr>
        <p:txBody>
          <a:bodyPr/>
          <a:lstStyle/>
          <a:p>
            <a:pPr marL="342900" lvl="0" indent="-342900">
              <a:defRPr/>
            </a:pPr>
            <a:r>
              <a:rPr lang="ko-KR" altLang="en-US" sz="2000"/>
              <a:t>배신자의 일회성 이윤</a:t>
            </a:r>
          </a:p>
          <a:p>
            <a:pPr marL="400050" lvl="1" indent="0">
              <a:buNone/>
              <a:defRPr/>
            </a:pPr>
            <a:endParaRPr lang="ko-KR" altLang="en-US" sz="2000"/>
          </a:p>
          <a:p>
            <a:pPr marL="742950" lvl="1" indent="-342900">
              <a:buChar char="•"/>
              <a:defRPr/>
            </a:pPr>
            <a:endParaRPr lang="ko-KR" altLang="en-US" sz="2000"/>
          </a:p>
          <a:p>
            <a:pPr marL="742950" lvl="1" indent="-342900">
              <a:buChar char="•"/>
              <a:defRPr/>
            </a:pPr>
            <a:endParaRPr lang="ko-KR" altLang="en-US" sz="2000"/>
          </a:p>
          <a:p>
            <a:pPr marL="742950" lvl="1" indent="-342900">
              <a:buChar char="•"/>
              <a:defRPr/>
            </a:pPr>
            <a:endParaRPr lang="ko-KR" altLang="en-US" sz="2000"/>
          </a:p>
          <a:p>
            <a:pPr marL="742950" lvl="1" indent="-342900">
              <a:buChar char="•"/>
              <a:defRPr/>
            </a:pPr>
            <a:endParaRPr lang="ko-KR" altLang="en-US" sz="2000"/>
          </a:p>
          <a:p>
            <a:pPr marL="742950" lvl="1" indent="-342900">
              <a:buChar char="•"/>
              <a:defRPr/>
            </a:pPr>
            <a:endParaRPr lang="ko-KR" altLang="en-US" sz="2000"/>
          </a:p>
          <a:p>
            <a:pPr marL="742950" lvl="1" indent="-342900">
              <a:buChar char="•"/>
              <a:defRPr/>
            </a:pPr>
            <a:endParaRPr lang="ko-KR" altLang="en-US" sz="2000"/>
          </a:p>
          <a:p>
            <a:pPr marL="742950" lvl="1" indent="-342900">
              <a:buChar char="•"/>
              <a:defRPr/>
            </a:pPr>
            <a:endParaRPr lang="ko-KR" altLang="en-US" sz="2000"/>
          </a:p>
          <a:p>
            <a:pPr marL="742950" lvl="1" indent="-342900">
              <a:buChar char="•"/>
              <a:defRPr/>
            </a:pPr>
            <a:endParaRPr lang="ko-KR" altLang="en-US" sz="2000"/>
          </a:p>
          <a:p>
            <a:pPr marL="342900" lvl="0" indent="-342900">
              <a:defRPr/>
            </a:pPr>
            <a:endParaRPr lang="ko-KR" altLang="en-US" sz="2000"/>
          </a:p>
          <a:p>
            <a:pPr marL="342900" lvl="0" indent="-342900">
              <a:defRPr/>
            </a:pPr>
            <a:endParaRPr lang="ko-KR" altLang="en-US" sz="2000"/>
          </a:p>
          <a:p>
            <a:pPr marL="342900" lvl="0" indent="-342900">
              <a:defRPr/>
            </a:pPr>
            <a:endParaRPr lang="ko-KR" altLang="en-US" sz="2000"/>
          </a:p>
          <a:p>
            <a:pPr marL="342900" lvl="0" indent="-342900">
              <a:defRPr/>
            </a:pPr>
            <a:endParaRPr lang="ko-KR" altLang="en-US" sz="2000"/>
          </a:p>
          <a:p>
            <a:pPr marL="342900" lvl="0" indent="-342900">
              <a:defRPr/>
            </a:pPr>
            <a:endParaRPr lang="ko-KR" altLang="en-US" sz="2000"/>
          </a:p>
          <a:p>
            <a:pPr marL="342900" lvl="0" indent="-342900">
              <a:defRPr/>
            </a:pPr>
            <a:endParaRPr lang="ko-KR" altLang="en-US" sz="2000"/>
          </a:p>
          <a:p>
            <a:pPr marL="342900" lvl="0" indent="-342900">
              <a:defRPr/>
            </a:pPr>
            <a:endParaRPr lang="ko-KR" altLang="en-US" sz="2000"/>
          </a:p>
          <a:p>
            <a:pPr marL="342900" lvl="0" indent="-342900">
              <a:defRPr/>
            </a:pPr>
            <a:endParaRPr lang="ko-KR" altLang="en-US" sz="2000"/>
          </a:p>
        </p:txBody>
      </p:sp>
      <p:sp>
        <p:nvSpPr>
          <p:cNvPr id="1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  <p:sp>
        <p:nvSpPr>
          <p:cNvPr id="1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제4장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자유형 18"/>
              <p:cNvSpPr/>
              <p:nvPr/>
            </p:nvSpPr>
            <p:spPr>
              <a:xfrm>
                <a:off x="1217611" y="1558924"/>
                <a:ext cx="9896475" cy="25527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800">
                          <a:latin typeface="Cambria Math"/>
                          <a:sym typeface="Cambria Math"/>
                        </a:rPr>
                        <m:t>기업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𝑖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가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담합에서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벗어나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이윤을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극대화한다고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가정</m:t>
                      </m:r>
                    </m:oMath>
                  </m:oMathPara>
                </a14:m>
                <a:endParaRPr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800">
                          <a:latin typeface="Cambria Math"/>
                          <a:sym typeface="Cambria Math"/>
                        </a:rPr>
                        <m:t>기업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𝑗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는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이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사실을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모르고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기존의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담합적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수량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유지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,  </m:t>
                      </m:r>
                      <m:sSup>
                        <m:sSup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p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</m:e>
                        <m:sup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𝑗</m:t>
                          </m:r>
                        </m:sup>
                      </m:sSup>
                      <m:r>
                        <a:rPr sz="1800" i="1">
                          <a:latin typeface="Cambria Math"/>
                          <a:sym typeface="Cambria Math"/>
                        </a:rPr>
                        <m:t>=(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𝑎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−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𝑐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) /4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𝑏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</m:oMath>
                  </m:oMathPara>
                </a14:m>
                <a:endParaRPr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800">
                          <a:latin typeface="Cambria Math"/>
                          <a:sym typeface="Cambria Math"/>
                        </a:rPr>
                        <m:t>기업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𝑖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는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다음과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같은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문제를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품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: 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𝑚𝑎𝑥</m:t>
                          </m:r>
                        </m:e>
                        <m:sub>
                          <m:sSub>
                            <m:sSubPr>
                              <m:ctrlPr>
                                <a:rPr sz="1800" i="1">
                                  <a:latin typeface="Cambria Math" panose="02040503050406030204" pitchFamily="18" charset="0"/>
                                  <a:sym typeface="Cambria Math"/>
                                </a:rPr>
                              </m:ctrlPr>
                            </m:sSubPr>
                            <m:e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𝑞</m:t>
                              </m:r>
                            </m:e>
                            <m:sub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𝜋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𝑖</m:t>
                          </m:r>
                        </m:sub>
                      </m:sSub>
                      <m:r>
                        <a:rPr sz="1800">
                          <a:latin typeface="Cambria Math"/>
                          <a:sym typeface="Cambria Math"/>
                        </a:rPr>
                        <m:t>=(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𝑎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−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𝑏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(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𝑖</m:t>
                          </m:r>
                        </m:sub>
                      </m:sSub>
                      <m:r>
                        <a:rPr sz="1800">
                          <a:latin typeface="Cambria Math"/>
                          <a:sym typeface="Cambria Math"/>
                        </a:rPr>
                        <m:t>+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𝑖</m:t>
                          </m:r>
                        </m:sub>
                      </m:sSub>
                      <m:r>
                        <a:rPr sz="1800">
                          <a:latin typeface="Cambria Math"/>
                          <a:sym typeface="Cambria Math"/>
                        </a:rPr>
                        <m:t>)−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𝑐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)∙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이윤극대화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수량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sSubSup>
                        <m:sSubSup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Sup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𝑖</m:t>
                          </m:r>
                        </m:sub>
                        <m:sup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𝐷</m:t>
                          </m:r>
                        </m:sup>
                      </m:sSubSup>
                      <m:r>
                        <a:rPr sz="1800">
                          <a:latin typeface="Cambria Math"/>
                          <a:sym typeface="Cambria Math"/>
                        </a:rPr>
                        <m:t>=3(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𝑎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−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𝑐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)/ 8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𝑏</m:t>
                      </m:r>
                    </m:oMath>
                  </m:oMathPara>
                </a14:m>
                <a:endParaRPr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800">
                          <a:latin typeface="Cambria Math"/>
                          <a:sym typeface="Cambria Math"/>
                        </a:rPr>
                        <m:t>배신자의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일회성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이윤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: </m:t>
                      </m:r>
                      <m:sSup>
                        <m:sSup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p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𝜋</m:t>
                          </m:r>
                        </m:e>
                        <m:sup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𝐷</m:t>
                          </m:r>
                        </m:sup>
                      </m:sSup>
                      <m:r>
                        <a:rPr sz="1800">
                          <a:latin typeface="Cambria Math"/>
                          <a:sym typeface="Cambria Math"/>
                        </a:rPr>
                        <m:t>=(</m:t>
                      </m:r>
                      <m:sSup>
                        <m:sSup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p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𝑃</m:t>
                          </m:r>
                        </m:e>
                        <m:sup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𝐷</m:t>
                          </m:r>
                        </m:sup>
                      </m:sSup>
                      <m:r>
                        <a:rPr sz="1800">
                          <a:latin typeface="Cambria Math"/>
                          <a:sym typeface="Cambria Math"/>
                        </a:rPr>
                        <m:t>−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𝑐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)∙</m:t>
                      </m:r>
                      <m:sSubSup>
                        <m:sSubSup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Sup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𝑖</m:t>
                          </m:r>
                        </m:sub>
                        <m:sup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𝐷</m:t>
                          </m:r>
                        </m:sup>
                      </m:sSubSup>
                      <m:r>
                        <a:rPr sz="1800">
                          <a:latin typeface="Cambria Math"/>
                          <a:sym typeface="Cambria Math"/>
                        </a:rPr>
                        <m:t>=(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𝑎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−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𝑏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(</m:t>
                      </m:r>
                      <m:f>
                        <m:f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fPr>
                        <m:num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3(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𝑎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−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𝑐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)</m:t>
                          </m:r>
                        </m:num>
                        <m:den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8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𝑏</m:t>
                          </m:r>
                        </m:den>
                      </m:f>
                      <m:r>
                        <a:rPr sz="1800">
                          <a:latin typeface="Cambria Math"/>
                          <a:sym typeface="Cambria Math"/>
                        </a:rPr>
                        <m:t>+</m:t>
                      </m:r>
                      <m:f>
                        <m:f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fPr>
                        <m:num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𝑎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−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𝑐</m:t>
                          </m:r>
                        </m:num>
                        <m:den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4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𝑏</m:t>
                          </m:r>
                        </m:den>
                      </m:f>
                      <m:r>
                        <a:rPr sz="1800">
                          <a:latin typeface="Cambria Math"/>
                          <a:sym typeface="Cambria Math"/>
                        </a:rPr>
                        <m:t>)−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𝑐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)∙</m:t>
                      </m:r>
                      <m:f>
                        <m:f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fPr>
                        <m:num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3(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𝑎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−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𝑐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)</m:t>
                          </m:r>
                        </m:num>
                        <m:den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8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𝑏</m:t>
                          </m:r>
                        </m:den>
                      </m:f>
                      <m:r>
                        <a:rPr sz="1800">
                          <a:latin typeface="Cambria Math"/>
                          <a:sym typeface="Cambria Math"/>
                        </a:rPr>
                        <m:t>=</m:t>
                      </m:r>
                      <m:f>
                        <m:f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sz="1800" i="1">
                                  <a:latin typeface="Cambria Math" panose="02040503050406030204" pitchFamily="18" charset="0"/>
                                  <a:sym typeface="Cambria Math"/>
                                </a:rPr>
                              </m:ctrlPr>
                            </m:sSupPr>
                            <m:e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9(</m:t>
                              </m:r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𝑎</m:t>
                              </m:r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−</m:t>
                              </m:r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𝑐</m:t>
                              </m:r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64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𝑏</m:t>
                          </m:r>
                        </m:den>
                      </m:f>
                    </m:oMath>
                  </m:oMathPara>
                </a14:m>
                <a:endParaRPr/>
              </a:p>
              <a:p>
                <a:pPr algn="l"/>
                <a:endParaRPr/>
              </a:p>
            </p:txBody>
          </p:sp>
        </mc:Choice>
        <mc:Fallback xmlns:dsp="http://schemas.microsoft.com/office/drawing/2008/diagram" xmlns:dgm="http://schemas.openxmlformats.org/drawingml/2006/diagram" xmlns:c="http://schemas.openxmlformats.org/drawingml/2006/chart" xmlns="">
          <p:sp>
            <p:nvSpPr>
              <p:cNvPr id="19" name=""/>
              <p:cNvSpPr txBox="1"/>
              <p:nvPr/>
            </p:nvSpPr>
            <p:spPr>
              <a:xfrm>
                <a:off x="1217611" y="1558924"/>
                <a:ext cx="9896475" cy="25527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</p:sp>
        </mc:Fallback>
      </mc:AlternateContent>
    </p:spTree>
    <p:extLst>
      <p:ext uri="{BB962C8B-B14F-4D97-AF65-F5344CB8AC3E}">
        <p14:creationId xmlns:p14="http://schemas.microsoft.com/office/powerpoint/2010/main" val="2820242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5.</a:t>
            </a:r>
            <a:r>
              <a:rPr lang="ko-KR" altLang="en-US" sz="3200"/>
              <a:t> 반복게임과 에너지 시장에서의  담합적 행동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146628"/>
            <a:ext cx="10972798" cy="4979534"/>
          </a:xfrm>
        </p:spPr>
        <p:txBody>
          <a:bodyPr/>
          <a:lstStyle/>
          <a:p>
            <a:pPr marL="342900" lvl="0" indent="-342900">
              <a:defRPr/>
            </a:pPr>
            <a:r>
              <a:rPr lang="ko-KR" altLang="en-US" sz="2000"/>
              <a:t>반복게임의 현재가치 비교</a:t>
            </a:r>
          </a:p>
          <a:p>
            <a:pPr marL="400050" lvl="1" indent="0">
              <a:buNone/>
              <a:defRPr/>
            </a:pPr>
            <a:endParaRPr lang="ko-KR" altLang="en-US" sz="2000"/>
          </a:p>
          <a:p>
            <a:pPr marL="742950" lvl="1" indent="-342900">
              <a:buChar char="•"/>
              <a:defRPr/>
            </a:pPr>
            <a:endParaRPr lang="ko-KR" altLang="en-US" sz="2000"/>
          </a:p>
          <a:p>
            <a:pPr marL="742950" lvl="1" indent="-342900">
              <a:buChar char="•"/>
              <a:defRPr/>
            </a:pPr>
            <a:endParaRPr lang="ko-KR" altLang="en-US" sz="2000"/>
          </a:p>
          <a:p>
            <a:pPr marL="742950" lvl="1" indent="-342900">
              <a:buChar char="•"/>
              <a:defRPr/>
            </a:pPr>
            <a:endParaRPr lang="ko-KR" altLang="en-US" sz="2000"/>
          </a:p>
          <a:p>
            <a:pPr marL="742950" lvl="1" indent="-342900">
              <a:buChar char="•"/>
              <a:defRPr/>
            </a:pPr>
            <a:endParaRPr lang="ko-KR" altLang="en-US" sz="2000"/>
          </a:p>
          <a:p>
            <a:pPr marL="742950" lvl="1" indent="-342900">
              <a:buChar char="•"/>
              <a:defRPr/>
            </a:pPr>
            <a:endParaRPr lang="ko-KR" altLang="en-US" sz="2000"/>
          </a:p>
          <a:p>
            <a:pPr marL="742950" lvl="1" indent="-342900">
              <a:buChar char="•"/>
              <a:defRPr/>
            </a:pPr>
            <a:endParaRPr lang="ko-KR" altLang="en-US" sz="2000"/>
          </a:p>
          <a:p>
            <a:pPr marL="742950" lvl="1" indent="-342900">
              <a:buChar char="•"/>
              <a:defRPr/>
            </a:pPr>
            <a:endParaRPr lang="ko-KR" altLang="en-US" sz="2000"/>
          </a:p>
          <a:p>
            <a:pPr marL="742950" lvl="1" indent="-342900">
              <a:buChar char="•"/>
              <a:defRPr/>
            </a:pPr>
            <a:endParaRPr lang="ko-KR" altLang="en-US" sz="2000"/>
          </a:p>
          <a:p>
            <a:pPr marL="342900" lvl="0" indent="-342900">
              <a:defRPr/>
            </a:pPr>
            <a:endParaRPr lang="ko-KR" altLang="en-US" sz="2000"/>
          </a:p>
          <a:p>
            <a:pPr marL="342900" lvl="0" indent="-342900">
              <a:defRPr/>
            </a:pPr>
            <a:endParaRPr lang="ko-KR" altLang="en-US" sz="2000"/>
          </a:p>
          <a:p>
            <a:pPr marL="342900" lvl="0" indent="-342900">
              <a:defRPr/>
            </a:pPr>
            <a:endParaRPr lang="ko-KR" altLang="en-US" sz="2000"/>
          </a:p>
          <a:p>
            <a:pPr marL="342900" lvl="0" indent="-342900">
              <a:defRPr/>
            </a:pPr>
            <a:endParaRPr lang="ko-KR" altLang="en-US" sz="2000"/>
          </a:p>
          <a:p>
            <a:pPr marL="342900" lvl="0" indent="-342900">
              <a:defRPr/>
            </a:pPr>
            <a:endParaRPr lang="ko-KR" altLang="en-US" sz="2000"/>
          </a:p>
          <a:p>
            <a:pPr marL="342900" lvl="0" indent="-342900">
              <a:defRPr/>
            </a:pPr>
            <a:endParaRPr lang="ko-KR" altLang="en-US" sz="2000"/>
          </a:p>
          <a:p>
            <a:pPr marL="342900" lvl="0" indent="-342900">
              <a:defRPr/>
            </a:pPr>
            <a:endParaRPr lang="ko-KR" altLang="en-US" sz="2000"/>
          </a:p>
          <a:p>
            <a:pPr marL="342900" lvl="0" indent="-342900">
              <a:defRPr/>
            </a:pPr>
            <a:endParaRPr lang="ko-KR" altLang="en-US" sz="2000"/>
          </a:p>
        </p:txBody>
      </p:sp>
      <p:sp>
        <p:nvSpPr>
          <p:cNvPr id="1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  <p:sp>
        <p:nvSpPr>
          <p:cNvPr id="1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제4장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자유형 18"/>
              <p:cNvSpPr/>
              <p:nvPr/>
            </p:nvSpPr>
            <p:spPr>
              <a:xfrm>
                <a:off x="1217611" y="1558924"/>
                <a:ext cx="9296400" cy="425767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800" i="0">
                          <a:latin typeface="Cambria Math"/>
                          <a:sym typeface="Cambria Math"/>
                        </a:rPr>
                        <m:t>담합유지의</m:t>
                      </m:r>
                      <m:r>
                        <a:rPr sz="1800" i="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 i="0">
                          <a:latin typeface="Cambria Math"/>
                          <a:sym typeface="Cambria Math"/>
                        </a:rPr>
                        <m:t>현재가치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:</m:t>
                      </m:r>
                    </m:oMath>
                  </m:oMathPara>
                </a14:m>
                <a:endParaRPr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800" i="1">
                          <a:latin typeface="Cambria Math"/>
                          <a:sym typeface="Cambria Math"/>
                        </a:rPr>
                        <m:t>                                            </m:t>
                      </m:r>
                      <m:sSup>
                        <m:sSup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p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𝑉</m:t>
                          </m:r>
                        </m:e>
                        <m:sup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𝑐</m:t>
                          </m:r>
                        </m:sup>
                      </m:sSup>
                      <m:r>
                        <a:rPr sz="1800" i="1">
                          <a:latin typeface="Cambria Math"/>
                          <a:sym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naryPr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𝑡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=0</m:t>
                          </m:r>
                        </m:sub>
                        <m:sup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sz="1800" i="1">
                                  <a:latin typeface="Cambria Math" panose="02040503050406030204" pitchFamily="18" charset="0"/>
                                  <a:sym typeface="Cambria Math"/>
                                </a:rPr>
                              </m:ctrlPr>
                            </m:sSupPr>
                            <m:e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𝛿</m:t>
                              </m:r>
                            </m:e>
                            <m:sup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  <m:sSup>
                        <m:sSup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p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𝜋</m:t>
                          </m:r>
                        </m:e>
                        <m:sup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𝑐</m:t>
                          </m:r>
                        </m:sup>
                      </m:sSup>
                      <m:r>
                        <a:rPr sz="1800" i="1">
                          <a:latin typeface="Cambria Math"/>
                          <a:sym typeface="Cambria Math"/>
                        </a:rPr>
                        <m:t>=</m:t>
                      </m:r>
                      <m:f>
                        <m:f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sz="1800" i="1">
                                  <a:latin typeface="Cambria Math" panose="02040503050406030204" pitchFamily="18" charset="0"/>
                                  <a:sym typeface="Cambria Math"/>
                                </a:rPr>
                              </m:ctrlPr>
                            </m:sSupPr>
                            <m:e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𝜋</m:t>
                              </m:r>
                            </m:e>
                            <m:sup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𝑐</m:t>
                              </m:r>
                            </m:sup>
                          </m:sSup>
                        </m:num>
                        <m:den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1−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𝛿</m:t>
                          </m:r>
                        </m:den>
                      </m:f>
                      <m:r>
                        <a:rPr sz="1800" i="1">
                          <a:latin typeface="Cambria Math"/>
                          <a:sym typeface="Cambria Math"/>
                        </a:rPr>
                        <m:t>=</m:t>
                      </m:r>
                      <m:f>
                        <m:f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sz="1800" i="1">
                                  <a:latin typeface="Cambria Math" panose="02040503050406030204" pitchFamily="18" charset="0"/>
                                  <a:sym typeface="Cambria Math"/>
                                </a:rPr>
                              </m:ctrlPr>
                            </m:sSupPr>
                            <m:e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(</m:t>
                              </m:r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𝑎</m:t>
                              </m:r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−</m:t>
                              </m:r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𝑐</m:t>
                              </m:r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8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𝑏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(1−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𝛿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)</m:t>
                          </m:r>
                        </m:den>
                      </m:f>
                      <m:r>
                        <a:rPr sz="1800" i="1">
                          <a:latin typeface="Cambria Math"/>
                          <a:sym typeface="Cambria Math"/>
                        </a:rPr>
                        <m:t>                     (4.9)</m:t>
                      </m:r>
                    </m:oMath>
                  </m:oMathPara>
                </a14:m>
                <a:endParaRPr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800" i="0" u="none">
                          <a:latin typeface="Cambria Math"/>
                          <a:sym typeface="Cambria Math"/>
                        </a:rPr>
                        <m:t>담합으로부터</m:t>
                      </m:r>
                      <m:r>
                        <a:rPr sz="1800" i="0" u="none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 i="0" u="none">
                          <a:latin typeface="Cambria Math"/>
                          <a:sym typeface="Cambria Math"/>
                        </a:rPr>
                        <m:t>벗어난</m:t>
                      </m:r>
                      <m:r>
                        <a:rPr sz="1800" i="0" u="none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 i="0" u="none">
                          <a:latin typeface="Cambria Math"/>
                          <a:sym typeface="Cambria Math"/>
                        </a:rPr>
                        <m:t>뒤</m:t>
                      </m:r>
                      <m:r>
                        <a:rPr sz="1800" i="0" u="none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 i="0" u="none">
                          <a:latin typeface="Cambria Math"/>
                          <a:sym typeface="Cambria Math"/>
                        </a:rPr>
                        <m:t>쿠르노</m:t>
                      </m:r>
                      <m:r>
                        <a:rPr sz="1800" i="0" u="none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 i="0" u="none">
                          <a:latin typeface="Cambria Math"/>
                          <a:sym typeface="Cambria Math"/>
                        </a:rPr>
                        <m:t>경쟁으로</m:t>
                      </m:r>
                      <m:r>
                        <a:rPr sz="1800" i="0" u="none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 i="0" u="none">
                          <a:latin typeface="Cambria Math"/>
                          <a:sym typeface="Cambria Math"/>
                        </a:rPr>
                        <m:t>복귀하였을</m:t>
                      </m:r>
                      <m:r>
                        <a:rPr sz="1800" i="0" u="none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 i="0">
                          <a:latin typeface="Cambria Math"/>
                          <a:sym typeface="Cambria Math"/>
                        </a:rPr>
                        <m:t>경우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:</m:t>
                      </m:r>
                    </m:oMath>
                  </m:oMathPara>
                </a14:m>
                <a:endParaRPr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800" i="1">
                          <a:latin typeface="Cambria Math"/>
                          <a:sym typeface="Cambria Math"/>
                        </a:rPr>
                        <m:t>                                              </m:t>
                      </m:r>
                      <m:sSup>
                        <m:sSup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p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𝑉</m:t>
                          </m:r>
                        </m:e>
                        <m:sup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𝐷</m:t>
                          </m:r>
                        </m:sup>
                      </m:sSup>
                      <m:r>
                        <a:rPr sz="1800" i="1">
                          <a:latin typeface="Cambria Math"/>
                          <a:sym typeface="Cambria Math"/>
                        </a:rPr>
                        <m:t>=</m:t>
                      </m:r>
                      <m:sSup>
                        <m:sSup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p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𝜋</m:t>
                          </m:r>
                        </m:e>
                        <m:sup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𝐷</m:t>
                          </m:r>
                        </m:sup>
                      </m:sSup>
                      <m:r>
                        <a:rPr sz="1800" i="1">
                          <a:latin typeface="Cambria Math"/>
                          <a:sym typeface="Cambria Math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naryPr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𝑡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=1</m:t>
                          </m:r>
                        </m:sub>
                        <m:sup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sz="1800" i="1">
                                  <a:latin typeface="Cambria Math" panose="02040503050406030204" pitchFamily="18" charset="0"/>
                                  <a:sym typeface="Cambria Math"/>
                                </a:rPr>
                              </m:ctrlPr>
                            </m:sSupPr>
                            <m:e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𝛿</m:t>
                              </m:r>
                            </m:e>
                            <m:sup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𝑡</m:t>
                              </m:r>
                            </m:sup>
                          </m:sSup>
                          <m:sSup>
                            <m:sSupPr>
                              <m:ctrlPr>
                                <a:rPr sz="1800" i="1">
                                  <a:latin typeface="Cambria Math" panose="02040503050406030204" pitchFamily="18" charset="0"/>
                                  <a:sym typeface="Cambria Math"/>
                                </a:rPr>
                              </m:ctrlPr>
                            </m:sSupPr>
                            <m:e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𝜋</m:t>
                              </m:r>
                            </m:e>
                            <m:sup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𝑁</m:t>
                              </m:r>
                            </m:sup>
                          </m:sSup>
                        </m:e>
                      </m:nary>
                      <m:r>
                        <a:rPr sz="1800" i="1">
                          <a:latin typeface="Cambria Math"/>
                          <a:sym typeface="Cambria Math"/>
                        </a:rPr>
                        <m:t>=</m:t>
                      </m:r>
                      <m:f>
                        <m:f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fPr>
                        <m:num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9</m:t>
                          </m:r>
                          <m:sSup>
                            <m:sSupPr>
                              <m:ctrlPr>
                                <a:rPr sz="1800" i="1">
                                  <a:latin typeface="Cambria Math" panose="02040503050406030204" pitchFamily="18" charset="0"/>
                                  <a:sym typeface="Cambria Math"/>
                                </a:rPr>
                              </m:ctrlPr>
                            </m:sSupPr>
                            <m:e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(</m:t>
                              </m:r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𝑎</m:t>
                              </m:r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−</m:t>
                              </m:r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𝑐</m:t>
                              </m:r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64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𝑏</m:t>
                          </m:r>
                        </m:den>
                      </m:f>
                      <m:r>
                        <a:rPr sz="1800" i="1">
                          <a:latin typeface="Cambria Math"/>
                          <a:sym typeface="Cambria Math"/>
                        </a:rPr>
                        <m:t> +</m:t>
                      </m:r>
                      <m:f>
                        <m:f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sz="1800" i="1">
                                  <a:latin typeface="Cambria Math" panose="02040503050406030204" pitchFamily="18" charset="0"/>
                                  <a:sym typeface="Cambria Math"/>
                                </a:rPr>
                              </m:ctrlPr>
                            </m:sSupPr>
                            <m:e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(</m:t>
                              </m:r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𝑎</m:t>
                              </m:r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−</m:t>
                              </m:r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𝑐</m:t>
                              </m:r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𝛿</m:t>
                          </m:r>
                        </m:num>
                        <m:den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9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𝑏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(1−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𝛿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)</m:t>
                          </m:r>
                        </m:den>
                      </m:f>
                      <m:r>
                        <a:rPr sz="1800" i="1">
                          <a:latin typeface="Cambria Math"/>
                          <a:sym typeface="Cambria Math"/>
                        </a:rPr>
                        <m:t>  (4.10)</m:t>
                      </m:r>
                    </m:oMath>
                  </m:oMathPara>
                </a14:m>
                <a:endParaRPr/>
              </a:p>
              <a:p>
                <a:pPr algn="l"/>
                <a:endParaRPr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800" i="1">
                          <a:latin typeface="Cambria Math"/>
                          <a:sym typeface="Cambria Math"/>
                        </a:rPr>
                        <m:t>𝛿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&gt;0.53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보다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큰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경우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미래의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이익을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충분히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고려하는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기업은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담합을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유지하려는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유인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존재</m:t>
                      </m:r>
                    </m:oMath>
                  </m:oMathPara>
                </a14:m>
                <a:endParaRPr/>
              </a:p>
              <a:p>
                <a:pPr algn="l"/>
                <a:endParaRPr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800" i="1">
                          <a:latin typeface="Cambria Math"/>
                          <a:sym typeface="Cambria Math"/>
                        </a:rPr>
                        <m:t>                                                                  1≥</m:t>
                      </m:r>
                      <m:f>
                        <m:f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fPr>
                        <m:num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9(1−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𝛿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)</m:t>
                          </m:r>
                        </m:num>
                        <m:den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8</m:t>
                          </m:r>
                        </m:den>
                      </m:f>
                      <m:r>
                        <a:rPr sz="1800" i="1">
                          <a:latin typeface="Cambria Math"/>
                          <a:sym typeface="Cambria Math"/>
                        </a:rPr>
                        <m:t>+</m:t>
                      </m:r>
                      <m:f>
                        <m:f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fPr>
                        <m:num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8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𝑏</m:t>
                          </m:r>
                        </m:num>
                        <m:den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:dsp="http://schemas.microsoft.com/office/drawing/2008/diagram" xmlns:dgm="http://schemas.openxmlformats.org/drawingml/2006/diagram" xmlns:c="http://schemas.openxmlformats.org/drawingml/2006/chart" xmlns="">
          <p:sp>
            <p:nvSpPr>
              <p:cNvPr id="19" name=""/>
              <p:cNvSpPr txBox="1"/>
              <p:nvPr/>
            </p:nvSpPr>
            <p:spPr>
              <a:xfrm>
                <a:off x="1217611" y="1558924"/>
                <a:ext cx="9296400" cy="42576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</p:sp>
        </mc:Fallback>
      </mc:AlternateContent>
    </p:spTree>
    <p:extLst>
      <p:ext uri="{BB962C8B-B14F-4D97-AF65-F5344CB8AC3E}">
        <p14:creationId xmlns:p14="http://schemas.microsoft.com/office/powerpoint/2010/main" val="17558999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5.</a:t>
            </a:r>
            <a:r>
              <a:rPr lang="ko-KR" altLang="en-US" sz="3200"/>
              <a:t> 반복게임과 에너지 시장에서의  담합적 행동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146628"/>
            <a:ext cx="10972798" cy="4979534"/>
          </a:xfrm>
        </p:spPr>
        <p:txBody>
          <a:bodyPr/>
          <a:lstStyle/>
          <a:p>
            <a:pPr marL="342900" lvl="0" indent="-342900">
              <a:defRPr/>
            </a:pPr>
            <a:r>
              <a:rPr lang="ko-KR" altLang="en-US" sz="2000"/>
              <a:t>담합이 유지되는 조건</a:t>
            </a:r>
          </a:p>
          <a:p>
            <a:pPr marL="742950" lvl="1" indent="-342900">
              <a:buChar char="•"/>
              <a:defRPr/>
            </a:pPr>
            <a:r>
              <a:rPr lang="ko-KR" altLang="en-US" sz="2000"/>
              <a:t>첫째</a:t>
            </a:r>
            <a:r>
              <a:rPr lang="en-US" altLang="ko-KR" sz="2000"/>
              <a:t>,</a:t>
            </a:r>
            <a:r>
              <a:rPr lang="ko-KR" altLang="en-US" sz="2000"/>
              <a:t> 높은 할인율이 유지되어아 함</a:t>
            </a:r>
          </a:p>
          <a:p>
            <a:pPr marL="742950" lvl="1" indent="-342900">
              <a:buChar char="•"/>
              <a:defRPr/>
            </a:pPr>
            <a:r>
              <a:rPr lang="ko-KR" altLang="en-US" sz="2000"/>
              <a:t>둘째</a:t>
            </a:r>
            <a:r>
              <a:rPr lang="en-US" altLang="ko-KR" sz="2000"/>
              <a:t>,</a:t>
            </a:r>
            <a:r>
              <a:rPr lang="ko-KR" altLang="en-US" sz="2000"/>
              <a:t> 입찰가격이나 생산량 등을 명확히 관찰할 수 있는 상황</a:t>
            </a:r>
          </a:p>
          <a:p>
            <a:pPr marL="742950" lvl="1" indent="-342900">
              <a:buChar char="•"/>
              <a:defRPr/>
            </a:pPr>
            <a:r>
              <a:rPr lang="ko-KR" altLang="en-US" sz="2000"/>
              <a:t>담합의 이익이 충분히 큰 경우</a:t>
            </a:r>
          </a:p>
          <a:p>
            <a:pPr marL="742950" lvl="1" indent="-342900">
              <a:buChar char="•"/>
              <a:defRPr/>
            </a:pPr>
            <a:r>
              <a:rPr lang="ko-KR" altLang="en-US" sz="2000"/>
              <a:t>시장의 안정성</a:t>
            </a:r>
          </a:p>
          <a:p>
            <a:pPr marL="1143000" lvl="2" indent="-342900">
              <a:buChar char="•"/>
              <a:defRPr/>
            </a:pPr>
            <a:r>
              <a:rPr lang="ko-KR" altLang="en-US" sz="2000"/>
              <a:t>수요의 변동성이 크거나 시장 진입</a:t>
            </a:r>
            <a:r>
              <a:rPr lang="en-US" altLang="ko-KR" sz="2000"/>
              <a:t>·</a:t>
            </a:r>
            <a:r>
              <a:rPr lang="ko-KR" altLang="en-US" sz="2000"/>
              <a:t>퇴출이 잦은 경우 담합을 유지하기 힘듦</a:t>
            </a:r>
          </a:p>
          <a:p>
            <a:pPr marL="742950" lvl="1" indent="-342900">
              <a:buChar char="•"/>
              <a:defRPr/>
            </a:pPr>
            <a:endParaRPr lang="ko-KR" altLang="en-US" sz="2000"/>
          </a:p>
          <a:p>
            <a:pPr marL="742950" lvl="1" indent="-342900">
              <a:buChar char="•"/>
              <a:defRPr/>
            </a:pPr>
            <a:endParaRPr lang="ko-KR" altLang="en-US" sz="2000"/>
          </a:p>
          <a:p>
            <a:pPr marL="400050" lvl="1" indent="0">
              <a:buNone/>
              <a:defRPr/>
            </a:pPr>
            <a:endParaRPr lang="ko-KR" altLang="en-US" sz="2000"/>
          </a:p>
          <a:p>
            <a:pPr marL="742950" lvl="1" indent="-342900">
              <a:buChar char="•"/>
              <a:defRPr/>
            </a:pPr>
            <a:endParaRPr lang="ko-KR" altLang="en-US" sz="2000"/>
          </a:p>
          <a:p>
            <a:pPr marL="742950" lvl="1" indent="-342900">
              <a:buChar char="•"/>
              <a:defRPr/>
            </a:pPr>
            <a:endParaRPr lang="ko-KR" altLang="en-US" sz="2000"/>
          </a:p>
          <a:p>
            <a:pPr marL="742950" lvl="1" indent="-342900">
              <a:buChar char="•"/>
              <a:defRPr/>
            </a:pPr>
            <a:endParaRPr lang="ko-KR" altLang="en-US" sz="2000"/>
          </a:p>
          <a:p>
            <a:pPr marL="742950" lvl="1" indent="-342900">
              <a:buChar char="•"/>
              <a:defRPr/>
            </a:pPr>
            <a:endParaRPr lang="ko-KR" altLang="en-US" sz="2000"/>
          </a:p>
          <a:p>
            <a:pPr marL="742950" lvl="1" indent="-342900">
              <a:buChar char="•"/>
              <a:defRPr/>
            </a:pPr>
            <a:endParaRPr lang="ko-KR" altLang="en-US" sz="2000"/>
          </a:p>
          <a:p>
            <a:pPr marL="742950" lvl="1" indent="-342900">
              <a:buChar char="•"/>
              <a:defRPr/>
            </a:pPr>
            <a:endParaRPr lang="ko-KR" altLang="en-US" sz="2000"/>
          </a:p>
          <a:p>
            <a:pPr marL="742950" lvl="1" indent="-342900">
              <a:buChar char="•"/>
              <a:defRPr/>
            </a:pPr>
            <a:endParaRPr lang="ko-KR" altLang="en-US" sz="2000"/>
          </a:p>
          <a:p>
            <a:pPr marL="742950" lvl="1" indent="-342900">
              <a:buChar char="•"/>
              <a:defRPr/>
            </a:pPr>
            <a:endParaRPr lang="ko-KR" altLang="en-US" sz="2000"/>
          </a:p>
          <a:p>
            <a:pPr marL="342900" lvl="0" indent="-342900">
              <a:defRPr/>
            </a:pPr>
            <a:endParaRPr lang="ko-KR" altLang="en-US" sz="2000"/>
          </a:p>
          <a:p>
            <a:pPr marL="342900" lvl="0" indent="-342900">
              <a:defRPr/>
            </a:pPr>
            <a:endParaRPr lang="ko-KR" altLang="en-US" sz="2000"/>
          </a:p>
          <a:p>
            <a:pPr marL="342900" lvl="0" indent="-342900">
              <a:defRPr/>
            </a:pPr>
            <a:endParaRPr lang="ko-KR" altLang="en-US" sz="2000"/>
          </a:p>
          <a:p>
            <a:pPr marL="342900" lvl="0" indent="-342900">
              <a:defRPr/>
            </a:pPr>
            <a:endParaRPr lang="ko-KR" altLang="en-US" sz="2000"/>
          </a:p>
          <a:p>
            <a:pPr marL="342900" lvl="0" indent="-342900">
              <a:defRPr/>
            </a:pPr>
            <a:endParaRPr lang="ko-KR" altLang="en-US" sz="2000"/>
          </a:p>
          <a:p>
            <a:pPr marL="342900" lvl="0" indent="-342900">
              <a:defRPr/>
            </a:pPr>
            <a:endParaRPr lang="ko-KR" altLang="en-US" sz="2000"/>
          </a:p>
          <a:p>
            <a:pPr marL="342900" lvl="0" indent="-342900">
              <a:defRPr/>
            </a:pPr>
            <a:endParaRPr lang="ko-KR" altLang="en-US" sz="2000"/>
          </a:p>
          <a:p>
            <a:pPr marL="342900" lvl="0" indent="-342900">
              <a:defRPr/>
            </a:pPr>
            <a:endParaRPr lang="ko-KR" altLang="en-US" sz="2000"/>
          </a:p>
        </p:txBody>
      </p:sp>
      <p:sp>
        <p:nvSpPr>
          <p:cNvPr id="1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  <p:sp>
        <p:nvSpPr>
          <p:cNvPr id="1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제4장</a:t>
            </a:r>
          </a:p>
        </p:txBody>
      </p:sp>
    </p:spTree>
    <p:extLst>
      <p:ext uri="{BB962C8B-B14F-4D97-AF65-F5344CB8AC3E}">
        <p14:creationId xmlns:p14="http://schemas.microsoft.com/office/powerpoint/2010/main" val="2531476869"/>
      </p:ext>
    </p:extLst>
  </p:cSld>
  <p:clrMapOvr>
    <a:masterClrMapping/>
  </p:clrMapOvr>
</p:sld>
</file>

<file path=ppt/theme/theme1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1380</Words>
  <Application>Microsoft Office PowerPoint</Application>
  <PresentationFormat>와이드스크린</PresentationFormat>
  <Paragraphs>271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4" baseType="lpstr">
      <vt:lpstr>나눔스퀘어 네오 OTF Heavy</vt:lpstr>
      <vt:lpstr>맑은 고딕</vt:lpstr>
      <vt:lpstr>Arial</vt:lpstr>
      <vt:lpstr>Calibri</vt:lpstr>
      <vt:lpstr>Cambria Math</vt:lpstr>
      <vt:lpstr>한컴오피스</vt:lpstr>
      <vt:lpstr>PowerPoint 프레젠테이션</vt:lpstr>
      <vt:lpstr>제4장 시장구조와 에너지 시장</vt:lpstr>
      <vt:lpstr>1. 서론</vt:lpstr>
      <vt:lpstr>2. 에너지 시장에서의 과점 구조와 행태</vt:lpstr>
      <vt:lpstr>3. 과점 시장 모형</vt:lpstr>
      <vt:lpstr>3. 과점 시장 모형</vt:lpstr>
      <vt:lpstr>3. 과점 시장 모형</vt:lpstr>
      <vt:lpstr>3. 과점 시장 모형</vt:lpstr>
      <vt:lpstr>3. 과점 시장 모형</vt:lpstr>
      <vt:lpstr>4. 독점적 경쟁과 에너지 제품의 차별화 전략</vt:lpstr>
      <vt:lpstr>4. 독점적 경쟁과 에너지 제품의 차별화 전략</vt:lpstr>
      <vt:lpstr>4. 독점적 경쟁과 에너지 제품의 차별화 전략</vt:lpstr>
      <vt:lpstr>5. 반복게임과 에너지 시장에서의  담합적 행동</vt:lpstr>
      <vt:lpstr>5. 반복게임과 에너지 시장에서의  담합적 행동</vt:lpstr>
      <vt:lpstr>5. 반복게임과 에너지 시장에서의  담합적 행동</vt:lpstr>
      <vt:lpstr>5. 반복게임과 에너지 시장에서의  담합적 행동</vt:lpstr>
      <vt:lpstr>5. 반복게임과 에너지 시장에서의  담합적 행동</vt:lpstr>
      <vt:lpstr>5. 반복게임과 에너지 시장에서의  담합적 행동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제3장 에너지 시장의 수요와 공급</dc:title>
  <dc:creator>admin</dc:creator>
  <cp:lastModifiedBy>장 규식</cp:lastModifiedBy>
  <cp:revision>125</cp:revision>
  <dcterms:created xsi:type="dcterms:W3CDTF">2026-01-09T02:29:36Z</dcterms:created>
  <dcterms:modified xsi:type="dcterms:W3CDTF">2026-02-25T21:46:05Z</dcterms:modified>
  <cp:version>13.0.0.2760</cp:version>
</cp:coreProperties>
</file>