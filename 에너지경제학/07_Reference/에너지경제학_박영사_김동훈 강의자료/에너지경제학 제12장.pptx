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98" r:id="rId3"/>
    <p:sldId id="297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microsoft.com/office/2016/11/relationships/changesInfo" Target="changesInfos/changesInfo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nghun kim" userId="ea4930dfa3cfe607" providerId="LiveId" clId="{D32FC1C2-F30A-412D-BAEB-4561049219E0}"/>
    <pc:docChg chg="modSld">
      <pc:chgData name="donghun kim" userId="ea4930dfa3cfe607" providerId="LiveId" clId="{D32FC1C2-F30A-412D-BAEB-4561049219E0}" dt="2026-02-25T03:55:26.036" v="14" actId="6549"/>
      <pc:docMkLst>
        <pc:docMk/>
      </pc:docMkLst>
      <pc:sldChg chg="modSp mod">
        <pc:chgData name="donghun kim" userId="ea4930dfa3cfe607" providerId="LiveId" clId="{D32FC1C2-F30A-412D-BAEB-4561049219E0}" dt="2026-02-25T03:55:26.036" v="14" actId="6549"/>
        <pc:sldMkLst>
          <pc:docMk/>
          <pc:sldMk cId="0" sldId="257"/>
        </pc:sldMkLst>
        <pc:spChg chg="mod">
          <ac:chgData name="donghun kim" userId="ea4930dfa3cfe607" providerId="LiveId" clId="{D32FC1C2-F30A-412D-BAEB-4561049219E0}" dt="2026-02-25T03:55:26.036" v="14" actId="6549"/>
          <ac:spMkLst>
            <pc:docMk/>
            <pc:sldMk cId="0" sldId="257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6B7C5-4339-458D-8E45-B6CCD2B352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27E623-BD08-40CD-8DE7-B337D39ED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F7012-14D4-4E4F-A19A-5D6DFAEDE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2A6E6-93F5-4AAB-ABD4-AFDE4AF6B9A7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38DB9-0163-4A52-A2A7-7AB5538E7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CF0F3-C24C-4DAB-9B87-E84B4D8EC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1C34B-1945-4E7D-B576-A30165C58E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931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9FBDC-DDCE-4F0F-9895-076C7E711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464B4-8FF1-4488-AF82-5B890AE96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B8E2D-EC5E-4FE2-883C-33F41AA53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2A6E6-93F5-4AAB-ABD4-AFDE4AF6B9A7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2C5DB-5752-4819-B403-DE544BE7D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906CB-D0C3-4019-AE31-D633A0F80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1C34B-1945-4E7D-B576-A30165C58E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7740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81FCC-4F64-4843-8C39-FD37BAF14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4EC9AC-40F4-4E22-9FC3-35BF90378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4907B-AE51-4D4D-B028-683348C52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2A6E6-93F5-4AAB-ABD4-AFDE4AF6B9A7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07676-0550-4F72-A882-8BF93B06C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B2F2F-E324-42F8-995A-FAE3C4B84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1C34B-1945-4E7D-B576-A30165C58E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9806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435AC-0769-4E21-875F-1A9A3C7AE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8E149-3CED-481D-82BE-1097EC4768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231EDC-81B3-48CD-892D-9EF21C796D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1B84C-FAC8-4A23-805C-D642980C8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2A6E6-93F5-4AAB-ABD4-AFDE4AF6B9A7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61659D-EAA3-4575-8FE1-C7028FB21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15B887-2D33-48D2-B09A-8C552DD1F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1C34B-1945-4E7D-B576-A30165C58E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701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5F4CA-6083-4D77-A8AF-EE69A347D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B7976-5C6B-4833-9A97-1488056B6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295C50-ACF8-40EB-959A-B527C3113F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51858F-E5DF-4024-B7EC-9B0706001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416704-E4DC-4E99-81C6-A6648C3C45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C5EA75-7593-400C-BCF1-3E55C67D1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2A6E6-93F5-4AAB-ABD4-AFDE4AF6B9A7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48D16D-88F8-44AD-B2ED-E6CC072DF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7B2535-AEBC-48A6-B25C-7B10BF86C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1C34B-1945-4E7D-B576-A30165C58E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000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0D845-6626-4C62-A5B1-14A4AA9D2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17FEB3-767C-4F83-A87D-E2E3F9873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2A6E6-93F5-4AAB-ABD4-AFDE4AF6B9A7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D6FB74-07B2-4ADE-91FE-ECCE98C5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115CA0-EFF8-4C8A-AA03-8F745538D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1C34B-1945-4E7D-B576-A30165C58E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721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7105FA-6EEE-436A-AA60-8AD90B237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2A6E6-93F5-4AAB-ABD4-AFDE4AF6B9A7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5E8196-4B9E-4B7F-AF8B-BBB0FBF35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305DE2-89C2-44DA-ADD6-57ADB911A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1C34B-1945-4E7D-B576-A30165C58E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4320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B0AF6-4390-476B-A4B6-04815474A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C5A6A-E715-490E-97D3-1BDCE4C46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4B34EE-387C-4D23-997D-B53D16A1F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BBCF2B-CFDF-4FFD-843C-4D8102E53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2A6E6-93F5-4AAB-ABD4-AFDE4AF6B9A7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F8D32B-E7BB-423C-A81D-BC19FDD64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1DE491-5F76-42FD-9E73-A89A6808A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1C34B-1945-4E7D-B576-A30165C58E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774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F40A8-C836-4710-80A7-3F781F44C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3490B5-70FF-4872-9B12-29E4D703E3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3ED72A-994A-4DFE-82E0-E9F746D0CA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D57F76-07E8-4B7D-9BB0-2B33FC6B6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2A6E6-93F5-4AAB-ABD4-AFDE4AF6B9A7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F91AF7-27DF-4856-A397-60097BBB8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3FE31-9207-4123-BCE9-44B3E163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1C34B-1945-4E7D-B576-A30165C58E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42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3C36C-E15B-40FA-8F7A-3EF44E858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9040F4-D62E-4223-BDDF-8925EA410F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7D3A1-E420-4B5D-A9E3-2126B9CB5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2A6E6-93F5-4AAB-ABD4-AFDE4AF6B9A7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CFA73-76FF-46A3-AB68-52F823030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E42B1-0088-471D-95C5-966584C5A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1C34B-1945-4E7D-B576-A30165C58E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9178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388D0C-7B35-42D0-A86F-D0026482F7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DEC116-B428-4449-B2DB-F95B20FF3F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435F6-B357-46A9-811E-FE2E0D31F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2A6E6-93F5-4AAB-ABD4-AFDE4AF6B9A7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93109-7616-495B-BD83-2293D5E40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D8C87-E29E-4F0C-BC3E-49EDD7145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1C34B-1945-4E7D-B576-A30165C58E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4493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4049561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849875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0891630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2862168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832807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4327373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1463134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5155541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4653886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05211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05551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7E670B-2027-4EF1-BCC3-CB2C8DA8F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49D67C-5221-4D30-A587-78D0B89D8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D9A02-311E-4C7B-97A2-5CD096E7FC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72A6E6-93F5-4AAB-ABD4-AFDE4AF6B9A7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279D6-8F9A-4CF0-BA06-D6BC6FD789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E16A6-3AF3-42F0-A756-3AA60CBF8B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11C34B-1945-4E7D-B576-A30165C58E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0311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543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B53282-541D-28A7-760C-8526A655EEFC}"/>
              </a:ext>
            </a:extLst>
          </p:cNvPr>
          <p:cNvSpPr txBox="1">
            <a:spLocks/>
          </p:cNvSpPr>
          <p:nvPr/>
        </p:nvSpPr>
        <p:spPr>
          <a:xfrm>
            <a:off x="1066800" y="1839049"/>
            <a:ext cx="10058400" cy="356616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본 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PPT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는 </a:t>
            </a:r>
            <a:r>
              <a:rPr lang="ko-KR" altLang="en-US" sz="3000" dirty="0">
                <a:solidFill>
                  <a:srgbClr val="FF00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강의 보조용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으로만 제공되는 것으로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, 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이를 복제 및 배포하거나 이를 편집하여 무단 이용 및 인쇄물로 제작하는 행위를 허용하지 않으므로 위배 시 저작권법에 따라 민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.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형사상의 책임이 따름을 알려 드립니다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.</a:t>
            </a:r>
            <a:endParaRPr lang="ko-KR" altLang="en-US" sz="3000" dirty="0"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2303F57-B9CB-CB49-B472-2A139CEA1F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93" r="10909" b="8674"/>
          <a:stretch/>
        </p:blipFill>
        <p:spPr>
          <a:xfrm>
            <a:off x="5437305" y="490953"/>
            <a:ext cx="1245793" cy="109850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0FAFE3E-F050-80D5-57E7-BD9D5E0ED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674" y="5386798"/>
            <a:ext cx="2443054" cy="595360"/>
          </a:xfrm>
          <a:prstGeom prst="rect">
            <a:avLst/>
          </a:prstGeom>
        </p:spPr>
      </p:pic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8CAF42D9-585E-DAAD-D631-3E519463A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4180" y="6448211"/>
            <a:ext cx="5938164" cy="365125"/>
          </a:xfrm>
        </p:spPr>
        <p:txBody>
          <a:bodyPr/>
          <a:lstStyle/>
          <a:p>
            <a:r>
              <a:rPr lang="ko-KR" altLang="en-US" dirty="0"/>
              <a:t>본 </a:t>
            </a:r>
            <a:r>
              <a:rPr lang="en-US" altLang="ko-KR" dirty="0"/>
              <a:t>PPT</a:t>
            </a:r>
            <a:r>
              <a:rPr lang="ko-KR" altLang="en-US" dirty="0"/>
              <a:t>를 복제 및 배포하는 행위를 일절 금합니다</a:t>
            </a:r>
            <a:r>
              <a:rPr lang="en-US" altLang="ko-KR" dirty="0"/>
              <a:t>. </a:t>
            </a:r>
            <a:r>
              <a:rPr lang="ko-KR" altLang="en-US" dirty="0"/>
              <a:t>위배 시</a:t>
            </a:r>
            <a:r>
              <a:rPr lang="en-US" altLang="ko-KR" dirty="0"/>
              <a:t>, </a:t>
            </a:r>
            <a:r>
              <a:rPr lang="ko-KR" altLang="en-US" dirty="0"/>
              <a:t>민</a:t>
            </a:r>
            <a:r>
              <a:rPr lang="en-US" altLang="ko-KR" dirty="0"/>
              <a:t>·</a:t>
            </a:r>
            <a:r>
              <a:rPr lang="ko-KR" altLang="en-US" dirty="0"/>
              <a:t>형사상의 책임이 따름을 알려드립니다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44068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3A930249-8242-4E2B-AF17-C01826488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5BDD999-C5E1-4B3E-A710-768673819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7388" y="181576"/>
            <a:ext cx="11823637" cy="6501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B13547-F249-AE3C-FA58-A5CA2E883E2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2278" r="-1" b="-1"/>
          <a:stretch>
            <a:fillRect/>
          </a:stretch>
        </p:blipFill>
        <p:spPr>
          <a:xfrm>
            <a:off x="187388" y="182880"/>
            <a:ext cx="11824481" cy="6499784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98181" y="1122363"/>
            <a:ext cx="9795637" cy="2217158"/>
          </a:xfrm>
        </p:spPr>
        <p:txBody>
          <a:bodyPr>
            <a:normAutofit/>
          </a:bodyPr>
          <a:lstStyle/>
          <a:p>
            <a:pPr algn="l"/>
            <a:r>
              <a:rPr lang="ko-KR" altLang="en-US" sz="5200" dirty="0">
                <a:solidFill>
                  <a:srgbClr val="FFFFFF"/>
                </a:solidFill>
                <a:ea typeface="맑은 고딕"/>
              </a:rPr>
              <a:t>제1</a:t>
            </a:r>
            <a:r>
              <a:rPr lang="en-US" altLang="ko-KR" sz="5200" dirty="0">
                <a:solidFill>
                  <a:srgbClr val="FFFFFF"/>
                </a:solidFill>
                <a:ea typeface="맑은 고딕"/>
              </a:rPr>
              <a:t>2</a:t>
            </a:r>
            <a:r>
              <a:rPr lang="ko-KR" altLang="en-US" sz="5200" dirty="0">
                <a:solidFill>
                  <a:srgbClr val="FFFFFF"/>
                </a:solidFill>
                <a:ea typeface="맑은 고딕"/>
              </a:rPr>
              <a:t>장 전력시장의 탈규제와 구조개편  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98181" y="3526021"/>
            <a:ext cx="9795637" cy="2042260"/>
          </a:xfrm>
        </p:spPr>
        <p:txBody>
          <a:bodyPr>
            <a:normAutofit/>
          </a:bodyPr>
          <a:lstStyle/>
          <a:p>
            <a:pPr algn="l"/>
            <a:endParaRPr lang="ko-KR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학습목표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 err="1"/>
              <a:t>전통적</a:t>
            </a:r>
            <a:r>
              <a:rPr sz="2000" dirty="0"/>
              <a:t> </a:t>
            </a:r>
            <a:r>
              <a:rPr sz="2000" dirty="0" err="1"/>
              <a:t>수직통합</a:t>
            </a:r>
            <a:r>
              <a:rPr sz="2000" dirty="0"/>
              <a:t> </a:t>
            </a:r>
            <a:r>
              <a:rPr sz="2000" dirty="0" err="1"/>
              <a:t>규제독점</a:t>
            </a:r>
            <a:r>
              <a:rPr sz="2000" dirty="0"/>
              <a:t> </a:t>
            </a:r>
            <a:r>
              <a:rPr sz="2000" dirty="0" err="1"/>
              <a:t>구조가</a:t>
            </a:r>
            <a:r>
              <a:rPr sz="2000" dirty="0"/>
              <a:t> </a:t>
            </a:r>
            <a:r>
              <a:rPr sz="2000" dirty="0" err="1"/>
              <a:t>형성된</a:t>
            </a:r>
            <a:r>
              <a:rPr sz="2000" dirty="0"/>
              <a:t> </a:t>
            </a:r>
            <a:r>
              <a:rPr sz="2000" dirty="0" err="1"/>
              <a:t>경제·기술적</a:t>
            </a:r>
            <a:r>
              <a:rPr sz="2000" dirty="0"/>
              <a:t> </a:t>
            </a:r>
            <a:r>
              <a:rPr sz="2000" dirty="0" err="1"/>
              <a:t>이유를</a:t>
            </a:r>
            <a:r>
              <a:rPr sz="2000" dirty="0"/>
              <a:t> </a:t>
            </a:r>
            <a:r>
              <a:rPr sz="2000" dirty="0" err="1"/>
              <a:t>설명</a:t>
            </a:r>
            <a:endParaRPr sz="2000" dirty="0"/>
          </a:p>
          <a:p>
            <a:r>
              <a:rPr sz="2000" dirty="0" err="1"/>
              <a:t>전력산업</a:t>
            </a:r>
            <a:r>
              <a:rPr sz="2000" dirty="0"/>
              <a:t> </a:t>
            </a:r>
            <a:r>
              <a:rPr sz="2000" dirty="0" err="1"/>
              <a:t>탈규제의</a:t>
            </a:r>
            <a:r>
              <a:rPr sz="2000" dirty="0"/>
              <a:t> </a:t>
            </a:r>
            <a:r>
              <a:rPr sz="2000" dirty="0" err="1"/>
              <a:t>경제적</a:t>
            </a:r>
            <a:r>
              <a:rPr sz="2000" dirty="0"/>
              <a:t> </a:t>
            </a:r>
            <a:r>
              <a:rPr sz="2000" dirty="0" err="1"/>
              <a:t>논거</a:t>
            </a:r>
            <a:r>
              <a:rPr sz="2000" dirty="0"/>
              <a:t>(</a:t>
            </a:r>
            <a:r>
              <a:rPr sz="2000" dirty="0" err="1"/>
              <a:t>효율성</a:t>
            </a:r>
            <a:r>
              <a:rPr sz="2000" dirty="0"/>
              <a:t>, </a:t>
            </a:r>
            <a:r>
              <a:rPr sz="2000" dirty="0" err="1"/>
              <a:t>진입</a:t>
            </a:r>
            <a:r>
              <a:rPr sz="2000" dirty="0"/>
              <a:t>, </a:t>
            </a:r>
            <a:r>
              <a:rPr sz="2000" dirty="0" err="1"/>
              <a:t>가격신호</a:t>
            </a:r>
            <a:r>
              <a:rPr sz="2000" dirty="0"/>
              <a:t>, </a:t>
            </a:r>
            <a:r>
              <a:rPr sz="2000" dirty="0" err="1"/>
              <a:t>규제실패</a:t>
            </a:r>
            <a:r>
              <a:rPr sz="2000" dirty="0"/>
              <a:t>, </a:t>
            </a:r>
            <a:r>
              <a:rPr sz="2000" dirty="0" err="1"/>
              <a:t>국제정합성</a:t>
            </a:r>
            <a:r>
              <a:rPr sz="2000" dirty="0"/>
              <a:t>)를 </a:t>
            </a:r>
            <a:r>
              <a:rPr sz="2000" dirty="0" err="1"/>
              <a:t>정리</a:t>
            </a:r>
            <a:endParaRPr sz="2000" dirty="0"/>
          </a:p>
          <a:p>
            <a:r>
              <a:rPr sz="2000" dirty="0" err="1"/>
              <a:t>구조개편의</a:t>
            </a:r>
            <a:r>
              <a:rPr sz="2000" dirty="0"/>
              <a:t> </a:t>
            </a:r>
            <a:r>
              <a:rPr sz="2000" dirty="0" err="1"/>
              <a:t>구성요소</a:t>
            </a:r>
            <a:r>
              <a:rPr sz="2000" dirty="0"/>
              <a:t>(</a:t>
            </a:r>
            <a:r>
              <a:rPr sz="2000" dirty="0" err="1"/>
              <a:t>언번들링</a:t>
            </a:r>
            <a:r>
              <a:rPr sz="2000" dirty="0"/>
              <a:t>, </a:t>
            </a:r>
            <a:r>
              <a:rPr sz="2000" dirty="0" err="1"/>
              <a:t>도매</a:t>
            </a:r>
            <a:r>
              <a:rPr sz="2000" dirty="0"/>
              <a:t>/</a:t>
            </a:r>
            <a:r>
              <a:rPr sz="2000" dirty="0" err="1"/>
              <a:t>소매</a:t>
            </a:r>
            <a:r>
              <a:rPr sz="2000" dirty="0"/>
              <a:t> </a:t>
            </a:r>
            <a:r>
              <a:rPr sz="2000" dirty="0" err="1"/>
              <a:t>경쟁</a:t>
            </a:r>
            <a:r>
              <a:rPr sz="2000" dirty="0"/>
              <a:t>, ISO/RTO, </a:t>
            </a:r>
            <a:r>
              <a:rPr sz="2000" dirty="0" err="1"/>
              <a:t>정산체계</a:t>
            </a:r>
            <a:r>
              <a:rPr sz="2000" dirty="0"/>
              <a:t>)를 </a:t>
            </a:r>
            <a:r>
              <a:rPr sz="2000" dirty="0" err="1"/>
              <a:t>이해</a:t>
            </a:r>
            <a:endParaRPr sz="2000" dirty="0"/>
          </a:p>
          <a:p>
            <a:r>
              <a:rPr sz="2000" dirty="0" err="1"/>
              <a:t>주요</a:t>
            </a:r>
            <a:r>
              <a:rPr sz="2000" dirty="0"/>
              <a:t> </a:t>
            </a:r>
            <a:r>
              <a:rPr sz="2000" dirty="0" err="1"/>
              <a:t>국가</a:t>
            </a:r>
            <a:r>
              <a:rPr sz="2000" dirty="0"/>
              <a:t>(</a:t>
            </a:r>
            <a:r>
              <a:rPr sz="2000" dirty="0" err="1"/>
              <a:t>영국·미국·EU·한국</a:t>
            </a:r>
            <a:r>
              <a:rPr sz="2000" dirty="0"/>
              <a:t>) </a:t>
            </a:r>
            <a:r>
              <a:rPr sz="2000" dirty="0" err="1"/>
              <a:t>사례를</a:t>
            </a:r>
            <a:r>
              <a:rPr sz="2000" dirty="0"/>
              <a:t> </a:t>
            </a:r>
            <a:r>
              <a:rPr sz="2000" dirty="0" err="1"/>
              <a:t>비교하고</a:t>
            </a:r>
            <a:r>
              <a:rPr sz="2000" dirty="0"/>
              <a:t> </a:t>
            </a:r>
            <a:r>
              <a:rPr sz="2000" dirty="0" err="1"/>
              <a:t>성과·한계를</a:t>
            </a:r>
            <a:r>
              <a:rPr sz="2000" dirty="0"/>
              <a:t> </a:t>
            </a:r>
            <a:r>
              <a:rPr sz="2000" dirty="0" err="1"/>
              <a:t>평가</a:t>
            </a:r>
            <a:endParaRPr sz="2000" dirty="0"/>
          </a:p>
          <a:p>
            <a:r>
              <a:rPr sz="2000" dirty="0" err="1"/>
              <a:t>재생에너지</a:t>
            </a:r>
            <a:r>
              <a:rPr sz="2000" dirty="0"/>
              <a:t> </a:t>
            </a:r>
            <a:r>
              <a:rPr sz="2000" dirty="0" err="1"/>
              <a:t>확산</a:t>
            </a:r>
            <a:r>
              <a:rPr sz="2000" dirty="0"/>
              <a:t> </a:t>
            </a:r>
            <a:r>
              <a:rPr sz="2000" dirty="0" err="1"/>
              <a:t>하에서</a:t>
            </a:r>
            <a:r>
              <a:rPr sz="2000" dirty="0"/>
              <a:t> </a:t>
            </a:r>
            <a:r>
              <a:rPr sz="2000" dirty="0" err="1"/>
              <a:t>시장설계가</a:t>
            </a:r>
            <a:r>
              <a:rPr sz="2000" dirty="0"/>
              <a:t> 왜/</a:t>
            </a:r>
            <a:r>
              <a:rPr sz="2000" dirty="0" err="1"/>
              <a:t>어떻게</a:t>
            </a:r>
            <a:r>
              <a:rPr sz="2000" dirty="0"/>
              <a:t> </a:t>
            </a:r>
            <a:r>
              <a:rPr sz="2000" dirty="0" err="1"/>
              <a:t>진화해야</a:t>
            </a:r>
            <a:r>
              <a:rPr sz="2000" dirty="0"/>
              <a:t> </a:t>
            </a:r>
            <a:r>
              <a:rPr sz="2000" dirty="0" err="1"/>
              <a:t>하는지</a:t>
            </a:r>
            <a:r>
              <a:rPr sz="2000" dirty="0"/>
              <a:t> </a:t>
            </a:r>
            <a:r>
              <a:rPr sz="2000" dirty="0" err="1"/>
              <a:t>논의</a:t>
            </a:r>
            <a:endParaRPr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3CD3C2-1CC0-4A67-88BF-01C1E346D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12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86C10A-BA0F-4A94-B65A-76430C5F5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l">
              <a:defRPr/>
            </a:pPr>
            <a:r>
              <a:rPr sz="3100"/>
              <a:t>12.1 전통적 전력산업 구조: 수직통합 규제독점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발전–송전–배전–소매판매가 단일 기업(공기업/독점사업자)에 의해 통합 운영</a:t>
            </a:r>
          </a:p>
          <a:p>
            <a:r>
              <a:rPr sz="2000"/>
              <a:t>규제기관이 요금·투자·서비스 의무를 통제(예: rate-of-return regulation)</a:t>
            </a:r>
          </a:p>
          <a:p>
            <a:r>
              <a:rPr sz="2000"/>
              <a:t>장점: 공급 안정성, 장기 투자 유인, 요금의 예측가능성 확보</a:t>
            </a:r>
          </a:p>
          <a:p>
            <a:r>
              <a:rPr sz="2000"/>
              <a:t>한계: 비용절감 유인 약화, 조직의 경직성, 기술 변화 대응력 부족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13007-9154-420C-BAD8-21D2DDB4B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12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9B0794-E044-4497-B48C-63208AB61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 algn="l">
              <a:defRPr/>
            </a:pPr>
            <a:r>
              <a:rPr lang="ko-KR" altLang="en-US" sz="3400"/>
              <a:t>12.1 전력의 경제·기술적 특성과 자연독점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고정비 비중이 큰 설비산업(송·배전망, 대형 발전설비) → 규모의 경제</a:t>
            </a:r>
          </a:p>
          <a:p>
            <a:r>
              <a:rPr sz="2000"/>
              <a:t>전력의 비축 곤란·실시간 수급균형 필요 → 운영/정산의 복잡성</a:t>
            </a:r>
          </a:p>
          <a:p>
            <a:r>
              <a:rPr sz="2000"/>
              <a:t>송전망의 네트워크 외부성 → 중복망 구축은 사회적 비용 증가</a:t>
            </a:r>
          </a:p>
          <a:p>
            <a:r>
              <a:rPr sz="2000"/>
              <a:t>따라서 전통적으로 ‘통합+규제’가 효율적이라는 인식이 강했음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2564FE-E900-4760-B3C7-AFA67C022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12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D15865-9CC9-41CF-85C8-28EB8A5C4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l">
              <a:defRPr/>
            </a:pPr>
            <a:r>
              <a:rPr lang="ko-KR" altLang="en-US" sz="3400"/>
              <a:t>12.1 구조개편의 배경(1): 기술적 진보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가스터빈·복합화력(CCGT) 상용화 → 설비 소형화·모듈화·투자회수기간 단축</a:t>
            </a:r>
          </a:p>
          <a:p>
            <a:r>
              <a:rPr sz="2000"/>
              <a:t>발전 부문에서 신규 사업자 진입 가능성 확대</a:t>
            </a:r>
          </a:p>
          <a:p>
            <a:r>
              <a:rPr sz="2000"/>
              <a:t>ICT 발전 → 실시간 계량, 거래·정산 시스템 고도화</a:t>
            </a:r>
          </a:p>
          <a:p>
            <a:r>
              <a:rPr sz="2000"/>
              <a:t>소매 경쟁/수요반응(demand response) 기반 확대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C0CB10-8F48-443A-91D5-771D78B05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12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BD7945-BE26-4BA2-95C0-2D6D2A1E3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 algn="l">
              <a:defRPr/>
            </a:pPr>
            <a:r>
              <a:rPr lang="ko-KR" altLang="en-US" sz="3200"/>
              <a:t>12.1 구조개편의 배경(2): 경제학적 이론 변화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요율기반 규제는 비용 절감 유인 약화 → X-비효율 누적 가능(Leibenstein)</a:t>
            </a:r>
          </a:p>
          <a:p>
            <a:r>
              <a:rPr sz="2000"/>
              <a:t>인센티브 규제, 경쟁 도입을 통한 효율성 제고 논리 확산</a:t>
            </a:r>
          </a:p>
          <a:p>
            <a:r>
              <a:rPr sz="2000"/>
              <a:t>1970~80년대 인프라 산업 전반의 규제완화 경험(항공·통신·철도 등)과 연결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9D8497-8B63-465C-BB2D-C4538FF71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12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51C820-793A-4A80-BDBD-64E0CF0CA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 algn="l">
              <a:defRPr/>
            </a:pPr>
            <a:r>
              <a:rPr lang="ko-KR" altLang="en-US" sz="3400"/>
              <a:t>12.1 구조개편의 배경(3): 정책·제도적 변화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영국(1990) 구조개편: 기능별 분리 + 경쟁도입 + 민영화(선도 사례)</a:t>
            </a:r>
          </a:p>
          <a:p>
            <a:r>
              <a:rPr sz="2000"/>
              <a:t>미국: ISO/RTO 기반 도매시장 확대(PJM, CAISO 등)·분권적 개편</a:t>
            </a:r>
          </a:p>
          <a:p>
            <a:r>
              <a:rPr sz="2000"/>
              <a:t>EU: 전력지침을 통한 단계적 시장개방·역내 통합</a:t>
            </a:r>
          </a:p>
          <a:p>
            <a:r>
              <a:rPr sz="2000"/>
              <a:t>세계적 확산 → 전력산업을 ‘시장 설계’의 대상으로 재정의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7958D9-4137-45E7-9AE2-0BB706EC2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12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EE255-3C12-4F2E-AE78-673A930FC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3400"/>
              <a:t>12.1 구조개편의 의의와 전제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의의(1) 경제적 효율성: 경쟁을 통해 비용 절감, 과잉설비/운영 비효율 축소</a:t>
            </a:r>
          </a:p>
          <a:p>
            <a:r>
              <a:rPr sz="2000"/>
              <a:t>의의(2) 유연성: 연료가격·수요변동·재생 변동성 등 환경 변화에 민첩 대응</a:t>
            </a:r>
          </a:p>
          <a:p>
            <a:r>
              <a:rPr sz="2000"/>
              <a:t>전제: 기능별 분리, 중립적 계통운영, 투명한 정산·감시 체계가 함께 필요</a:t>
            </a:r>
          </a:p>
          <a:p>
            <a:r>
              <a:rPr sz="2000"/>
              <a:t>구조개편은 ‘목적’이 아니라 지속가능·효율적 전력산업을 위한 ‘수단’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9CF087-F231-45D7-8D7F-4D8117251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12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54BC2E-4AD3-4B95-94AA-233379E6A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l">
              <a:defRPr/>
            </a:pPr>
            <a:r>
              <a:rPr lang="ko-KR" altLang="en-US" sz="3700"/>
              <a:t>12.2 탈규제의 경제적 논거: 큰 그림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핵심 질문: ‘어디에 경쟁을 넣고, 어디는 규제로 남길 것인가?’</a:t>
            </a:r>
          </a:p>
          <a:p>
            <a:r>
              <a:rPr sz="2000"/>
              <a:t>주요 논거: (1) 효율성/X-비효율 제거 (2) 진입·혁신 (3) 가격신호</a:t>
            </a:r>
          </a:p>
          <a:p>
            <a:r>
              <a:rPr sz="2000"/>
              <a:t>(4) 규제실패 완화 (5) 국제 제도 정합성</a:t>
            </a:r>
          </a:p>
          <a:p>
            <a:r>
              <a:rPr sz="2000"/>
              <a:t>단, 전력은 특수한 재화 → 시장설계·감시 없이는 부작용 가능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22D96A-B5DE-4F57-9DC3-09A959FB9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12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9C68BE-74E5-4195-8FEF-623917C4A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l">
              <a:defRPr/>
            </a:pPr>
            <a:r>
              <a:rPr lang="ko-KR" altLang="en-US" sz="3800"/>
              <a:t>12.2.1 효율성 향상과 X-비효율 제거(1)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요율기반 규제는 ‘비용을 인정받는’ 구조 → 비용절감 유인이 약해질 수 있음</a:t>
            </a:r>
          </a:p>
          <a:p>
            <a:r>
              <a:rPr sz="2000"/>
              <a:t>경쟁이 없으면 내부 감시·긴장 완화 → X-비효율 발생(생산가능곡선 내부)</a:t>
            </a:r>
          </a:p>
          <a:p>
            <a:r>
              <a:rPr sz="2000"/>
              <a:t>탈규제로 경쟁 압력이 생기면 생존을 위해 비용절감·운영개선이 필수</a:t>
            </a:r>
          </a:p>
          <a:p>
            <a:r>
              <a:rPr sz="2000"/>
              <a:t>따라서 발전 부문은 경쟁 도입의 1차 대상이 됨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459482-F5C1-4917-A858-9BE59371A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12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1FA3AC-6EC7-4803-8309-39D67EC4F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l">
              <a:defRPr/>
            </a:pPr>
            <a:r>
              <a:rPr lang="ko-KR" altLang="en-US" sz="3700"/>
              <a:t>12.2.1 효율성 향상과 X-비효율 제거(2)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기술적 효율성: 동일 투입으로 더 많은 전력 생산(운전·정비·연료효율)</a:t>
            </a:r>
          </a:p>
          <a:p>
            <a:r>
              <a:rPr sz="2000"/>
              <a:t>배분 효율성: 한계비용이 낮은 발전기가 우선 가동되도록 유도(경제급전)</a:t>
            </a:r>
          </a:p>
          <a:p>
            <a:r>
              <a:rPr sz="2000"/>
              <a:t>경쟁은 과잉 인력·비효율적 운전·연료 낭비를 ‘도태 요인’으로 만듦</a:t>
            </a:r>
          </a:p>
          <a:p>
            <a:r>
              <a:rPr sz="2000"/>
              <a:t>다양한 규제산업에서 탈규제 후 생산성 증가·비용 절감이 관찰됨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72D19-791E-4447-AA4E-9686D546E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12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5F9AD2-A78B-4993-9ABC-2DAF190CD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 algn="l">
              <a:defRPr/>
            </a:pPr>
            <a:r>
              <a:rPr lang="ko-KR" altLang="en-US" sz="3500"/>
              <a:t>12.2.2 진입장벽 완화와 기술혁신 촉진(1)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전통적 전력산업: 대규모 설비·장기 회수기간 → 최소효율규모(MES) 큼</a:t>
            </a:r>
          </a:p>
          <a:p>
            <a:r>
              <a:rPr sz="2000"/>
              <a:t>기술 변화(CCGT, 분산형 설비 등)로 초기투자·건설기간이 줄어 진입장벽 완화</a:t>
            </a:r>
          </a:p>
          <a:p>
            <a:r>
              <a:rPr sz="2000"/>
              <a:t>다양한 규모의 사업자 참여 → 발전 부문 경쟁 기반 강화</a:t>
            </a:r>
          </a:p>
          <a:p>
            <a:r>
              <a:rPr sz="2000"/>
              <a:t>재생에너지·분산자원 확산은 진입 다양성을 더 확대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25BEDE-B2AC-4F76-8D0C-4FA3FFFB5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12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FE2A12-36DD-43F8-BE4D-B49212B21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 algn="l">
              <a:defRPr/>
            </a:pPr>
            <a:r>
              <a:rPr lang="ko-KR" altLang="en-US" sz="3400"/>
              <a:t>12.2.2 진입장벽 완화와 기술혁신 촉진(2)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규제독점에서는 경로의존성과 보수성으로 신기술 도입이 지연될 수 있음</a:t>
            </a:r>
          </a:p>
          <a:p>
            <a:r>
              <a:rPr sz="2000"/>
              <a:t>경쟁시장에서는 비용절감·효율·서비스 차별화가 성과로 직결 → 혁신 유인</a:t>
            </a:r>
          </a:p>
          <a:p>
            <a:r>
              <a:rPr sz="2000"/>
              <a:t>신기술: 고효율 가스터빈, 운영 최적화, 계량·IT 기반 서비스 등</a:t>
            </a:r>
          </a:p>
          <a:p>
            <a:r>
              <a:rPr sz="2000"/>
              <a:t>탈규제는 ‘구조개편’뿐 아니라 기술 선택 다양화의 제도적 기반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155B3-DD44-4935-AA64-2AE754CA5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12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E31EE6-4FA8-4337-A6B6-2A303576D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 algn="l">
              <a:defRPr/>
            </a:pPr>
            <a:r>
              <a:rPr lang="ko-KR" altLang="en-US" sz="3200"/>
              <a:t>12.2.3 가격 신호 왜곡과 소비자 선택권 제약(1)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규제체제에서 요금은 정치·형평·물가 안정 목표에 의해 결정되는 경우가 많음</a:t>
            </a:r>
          </a:p>
          <a:p>
            <a:r>
              <a:rPr sz="2000"/>
              <a:t>요금이 실제 공급비용/수급 여건을 반영하지 못하면 가격신호 기능이 약화</a:t>
            </a:r>
          </a:p>
          <a:p>
            <a:r>
              <a:rPr sz="2000"/>
              <a:t>공급자: 효율·혁신·적기투자 유인 약화, 비효율적 설비 선택 가능</a:t>
            </a:r>
          </a:p>
          <a:p>
            <a:r>
              <a:rPr sz="2000"/>
              <a:t>수요자: 시간대·계절별 비용 차이를 인식 못해 낭비·피크 집중 발생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83D9A1-EE7B-4651-815C-DCC5DF39A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12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E39FB-C8E1-4454-925D-2C9C24140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 algn="l">
              <a:defRPr/>
            </a:pPr>
            <a:r>
              <a:rPr lang="ko-KR" altLang="en-US" sz="3200"/>
              <a:t>12.2.3 가격 신호 왜곡과 소비자 선택권 제약(2)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단일요금 구조에서는 수요반응(DR) 유인이 사라짐 → 계통 부담·비용 상승</a:t>
            </a:r>
          </a:p>
          <a:p>
            <a:r>
              <a:rPr sz="2000"/>
              <a:t>소매 독점에서는 소비자가 공급자/요금제/부가서비스를 선택할 수 없음</a:t>
            </a:r>
          </a:p>
          <a:p>
            <a:r>
              <a:rPr sz="2000"/>
              <a:t>시장 기반 체계는 수급에 따라 가격이 탄력적으로 변동 → 효율적 소비 유도</a:t>
            </a:r>
          </a:p>
          <a:p>
            <a:r>
              <a:rPr sz="2000"/>
              <a:t>다만 정보비대칭·거래비용이 큰 가정용 소비자 보호장치가 필요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04CF15-25C6-4445-9F63-6836E4439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12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F9F7B9-84CD-4BE8-A314-D1749FF4A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 algn="l">
              <a:defRPr/>
            </a:pPr>
            <a:r>
              <a:rPr lang="ko-KR" altLang="en-US" sz="3300"/>
              <a:t>12.2.4 규제 실패와 정치경제적 유연성 확보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규제는 공공성·안정성을 담보하지만 현실에서는 규제 실패 가능</a:t>
            </a:r>
          </a:p>
          <a:p>
            <a:r>
              <a:rPr sz="2000"/>
              <a:t>원인: 정치적 압력, 관료적 비효율, 정보 비대칭, 이해집단 포획 등</a:t>
            </a:r>
          </a:p>
          <a:p>
            <a:r>
              <a:rPr sz="2000"/>
              <a:t>결과: 과잉투자·요금 왜곡·특정 집단 이익 편중</a:t>
            </a:r>
          </a:p>
          <a:p>
            <a:r>
              <a:rPr sz="2000"/>
              <a:t>경쟁 가능 부문은 시장조정 메커니즘을 활용하되, 독점 부문 규제는 지속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208ED-4FFE-46F2-ABED-B39239E24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12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C0B2D3-8FAC-4DC1-93F5-14E6D94C9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 algn="l">
              <a:defRPr/>
            </a:pPr>
            <a:r>
              <a:rPr lang="ko-KR" altLang="en-US" sz="3300"/>
              <a:t>12.2.5 국제사회의 개방 압력과 제도 정합성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세계화 속에서 전력산업도 국제 규범과의 정합성 요구가 확대</a:t>
            </a:r>
          </a:p>
          <a:p>
            <a:r>
              <a:rPr sz="2000"/>
              <a:t>World Bank/IMF/OECD: 개도국 구조조정 조건으로 에너지 부문 개방·민영화 요구</a:t>
            </a:r>
          </a:p>
          <a:p>
            <a:r>
              <a:rPr sz="2000"/>
              <a:t>EU: 전력시장 단일화 지침을 통해 단계적 개방을 규범화</a:t>
            </a:r>
          </a:p>
          <a:p>
            <a:r>
              <a:rPr sz="2000"/>
              <a:t>전력은 무역·투자·환경정책과 연계 → 제도 간 정합성이 경쟁력 요인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56C1C0-0ED5-4746-88B2-07AAEEE0C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12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DE7B94-F96D-40BC-A4A2-B1DBA5D7F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 algn="l">
              <a:defRPr/>
            </a:pPr>
            <a:r>
              <a:rPr lang="ko-KR" altLang="en-US" sz="3100"/>
              <a:t>12.3 구조개편(Restructuring)의 구성요소: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핵심: 기능별 분리 + 경쟁 가능한 영역 개방 + 독점 영역의 중립적 규제</a:t>
            </a:r>
          </a:p>
          <a:p>
            <a:r>
              <a:rPr sz="2000"/>
              <a:t>발전·소매: 경쟁 도입(도매시장/소매시장 설계)</a:t>
            </a:r>
          </a:p>
          <a:p>
            <a:r>
              <a:rPr sz="2000"/>
              <a:t>송전·배전: 자연독점 → 공정한 제3자 접근과 투자 유인 위한 규제</a:t>
            </a:r>
          </a:p>
          <a:p>
            <a:r>
              <a:rPr sz="2000"/>
              <a:t>중앙 시장운영자/계통운영자(ISO/RTO)와 정산 시스템이 필수 인프라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3D7272-1A16-4C18-BB21-7BD24DFA4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12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D161AC-E1DB-4273-A9D9-ECDC6E65C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 algn="l">
              <a:defRPr/>
            </a:pPr>
            <a:r>
              <a:rPr lang="ko-KR" altLang="en-US" sz="3300"/>
              <a:t>12.3.1 기능별 분리(Unbundling): 수준과 방식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회계적 분리: 비용·수익·자산을 기능별로 별도 계정화(투명성 강화)</a:t>
            </a:r>
          </a:p>
          <a:p>
            <a:r>
              <a:rPr sz="2000"/>
              <a:t>운영적 분리: 인사·의사결정·운영시스템 독립(차별 가능성 축소)</a:t>
            </a:r>
          </a:p>
          <a:p>
            <a:r>
              <a:rPr sz="2000"/>
              <a:t>법적 분리: 기능별 별도 법인으로 분리(감시·책임 명확화)</a:t>
            </a:r>
          </a:p>
          <a:p>
            <a:r>
              <a:rPr sz="2000"/>
              <a:t>소유권 분리: 네트워크 자산 소유를 경쟁부문과 완전 분리(가장 강력)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81E981-A9CC-471F-BE42-A46A1F0D9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12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BC95E0-96BD-4AB6-8606-5DEAD253A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3700"/>
              <a:t>12.3.1 기능별 분리의 정책 목표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정보 투명성: 부문별 비용 구조·성과를 독립적으로 평가 가능</a:t>
            </a:r>
          </a:p>
          <a:p>
            <a:r>
              <a:rPr sz="2000"/>
              <a:t>이해상충 방지: 망사업자의 차별적 접속·교차보조·정보독점 억제</a:t>
            </a:r>
          </a:p>
          <a:p>
            <a:r>
              <a:rPr sz="2000"/>
              <a:t>신규 진입 촉진: 공정한 망접근과 표준화된 접속규칙 제공</a:t>
            </a:r>
          </a:p>
          <a:p>
            <a:r>
              <a:rPr sz="2000"/>
              <a:t>분리 수준 선택은 시장규모·제도역량·정치경제 여건에 따라 달라짐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24903E-E101-4F0D-A787-4F2CA7D5E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12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C6DCD-C5A5-464E-B1F8-DF4EFC173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 algn="l">
              <a:defRPr/>
            </a:pPr>
            <a:r>
              <a:rPr lang="ko-KR" altLang="en-US" sz="3400"/>
              <a:t>12.3.2 경쟁도입(발전): 도매시장 기본 구조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발전 경쟁은 보통 ‘도매시장’에서 구현</a:t>
            </a:r>
          </a:p>
          <a:p>
            <a:r>
              <a:rPr sz="2000"/>
              <a:t>입찰 기반 풀(pool): 시간대별 가격·수량 입찰 → 시장청산가격(MCP) 도출</a:t>
            </a:r>
          </a:p>
          <a:p>
            <a:r>
              <a:rPr sz="2000"/>
              <a:t>양방향 계약(bilateral): 발전–소매/대수요자 간 계약으로 가격·물량 사전 합의</a:t>
            </a:r>
          </a:p>
          <a:p>
            <a:r>
              <a:rPr sz="2000"/>
              <a:t>현실에서는 두 방식이 혼합 운영(현물+계약)되는 경우가 많음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CD4FEB-5103-43BA-BD98-BF7E07C9E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12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8BC5E9-F61B-4D29-A864-2CB393540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3200"/>
              <a:t>12.3.2 입찰 기반 풀과 경제급전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발전사업자들이 시간 단위로 공급곡선(입찰)을 제출</a:t>
            </a:r>
          </a:p>
          <a:p>
            <a:r>
              <a:rPr sz="2000"/>
              <a:t>시장/계통운영자는 기술제약·송전제약을 고려해 경제급전(least-cost dispatch)</a:t>
            </a:r>
          </a:p>
          <a:p>
            <a:r>
              <a:rPr sz="2000"/>
              <a:t>한계 발전기의 가격이 시장청산가격(MCP)로 정산되는 구조가 일반적</a:t>
            </a:r>
          </a:p>
          <a:p>
            <a:r>
              <a:rPr sz="2000"/>
              <a:t>목표: 단기 효율성과 투명한 가격신호(투자·연료전환의 기준 제공)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18956B-969D-41D1-996C-A204BDE05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12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38DBB8-4BDF-4870-A99A-9CD5EB550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l">
              <a:defRPr/>
            </a:pPr>
            <a:r>
              <a:rPr lang="ko-KR" altLang="en-US" sz="3700"/>
              <a:t>12.3.2 경쟁도입(소매): 선택권과 한계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소매사업자: 도매시장에서 구매한 전력을 최종수요자에게 판매</a:t>
            </a:r>
          </a:p>
          <a:p>
            <a:r>
              <a:rPr sz="2000"/>
              <a:t>차별화: 요금제(시간대별/정액), 서비스 품질, 친환경 옵션(REC 등)</a:t>
            </a:r>
          </a:p>
          <a:p>
            <a:r>
              <a:rPr sz="2000"/>
              <a:t>대형 소비자는 경쟁 혜택을 누리기 쉬우나, 가정용은 정보비대칭·거래비용 존재</a:t>
            </a:r>
          </a:p>
          <a:p>
            <a:r>
              <a:rPr sz="2000"/>
              <a:t>보완책: 기본공급자, 보호요금제, 계약 변경 유예·취약계층 지원 등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940794-D624-494F-8E46-CFD77E46A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12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85D24-1852-4D68-BAAC-29DDB7705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l">
              <a:defRPr/>
            </a:pPr>
            <a:r>
              <a:rPr lang="ko-KR" altLang="en-US" sz="3700"/>
              <a:t>12.3.3 송전·배전: 자연독점과 규제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망은 고정비·규모의 경제·네트워크 외부성 → 중복투자는 비효율</a:t>
            </a:r>
          </a:p>
          <a:p>
            <a:r>
              <a:rPr sz="2000"/>
              <a:t>따라서 경쟁보다는 ‘규제 하 독점’이 일반적</a:t>
            </a:r>
          </a:p>
          <a:p>
            <a:r>
              <a:rPr sz="2000"/>
              <a:t>문제: 수직통합이 남아 있으면 차별적 접속·지연, 교차보조, 정보 비대칭 가능</a:t>
            </a:r>
          </a:p>
          <a:p>
            <a:r>
              <a:rPr sz="2000"/>
              <a:t>해결: 망 운영의 중립성 확보(운영권 분리, ISO/RTO, 강한 접근규칙)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1D1926-7213-4DE9-BFEB-F16AD3A99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12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54A10-F4C1-41E1-A5D5-8DDD7F33A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 algn="l">
              <a:defRPr/>
            </a:pPr>
            <a:r>
              <a:rPr lang="ko-KR" altLang="en-US" sz="3600"/>
              <a:t>12.3.3 ISO/RTO: 중립적 계통·시장 운영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ISO: 송전망 소유와 운영을 분리 → 중립기관이 접속·혼잡관리·급전 수행</a:t>
            </a:r>
          </a:p>
          <a:p>
            <a:r>
              <a:rPr sz="2000"/>
              <a:t>RTO: 더 큰 권역 + 시장설계·정산 기능까지 포함(미국의 PJM, CAISO 등)</a:t>
            </a:r>
          </a:p>
          <a:p>
            <a:r>
              <a:rPr sz="2000"/>
              <a:t>역할: 실시간 균형, 혼잡관리, 계통접속 승인, 시장감시 기반 제공</a:t>
            </a:r>
          </a:p>
          <a:p>
            <a:r>
              <a:rPr sz="2000"/>
              <a:t>효과: 공정한 경쟁여건, 효율적 혼잡관리, 투명한 접속조건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EDB0E1-DC26-4E73-AB2B-6DF578857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12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6F94D3-E360-4AAA-87FC-49D2AC773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 algn="l">
              <a:defRPr/>
            </a:pPr>
            <a:r>
              <a:rPr lang="ko-KR" altLang="en-US" sz="3400"/>
              <a:t>12.3.3 배전의 역할 변화: DSO와 분산자원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분산형 자원(DER)·스마트그리드 확산 → 배전망 운영이 ‘플랫폼’ 기능으로 확장</a:t>
            </a:r>
          </a:p>
          <a:p>
            <a:r>
              <a:rPr sz="2000"/>
              <a:t>DSO(Distribution System Operator): 접속·계량·유연성 자원 관리 역할 강화</a:t>
            </a:r>
          </a:p>
          <a:p>
            <a:r>
              <a:rPr sz="2000"/>
              <a:t>향후 과제: 배전망에서의 공정접근, 데이터 거버넌스, 투자유인 설계</a:t>
            </a:r>
          </a:p>
          <a:p>
            <a:r>
              <a:rPr sz="2000"/>
              <a:t>부분적 시장기능 도입 가능성은 있으나, 규제의 중요성은 여전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5C400B-0CD4-449A-87A2-A8A17D26B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12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41B8EB-948B-4F2E-BD56-C71838F24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l">
              <a:defRPr/>
            </a:pPr>
            <a:r>
              <a:rPr lang="ko-KR" altLang="en-US" sz="3900"/>
              <a:t>12.3.4 시장운영자와 정산 시스템(1)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시장운영자: 입찰 집계 → 시장청산가격 산정 → 정산(수익/비용 배분) 수행</a:t>
            </a:r>
          </a:p>
          <a:p>
            <a:r>
              <a:rPr sz="2000"/>
              <a:t>계통운영: 실시간 수급조정, 예비력·보조서비스 조달, 주파수/전압 관리</a:t>
            </a:r>
          </a:p>
          <a:p>
            <a:r>
              <a:rPr sz="2000"/>
              <a:t>전일시장(DAM)과 실시간시장(RTM)을 분리 운영하는 이중정산(two-settlement)이 보편</a:t>
            </a:r>
          </a:p>
          <a:p>
            <a:r>
              <a:rPr sz="2000"/>
              <a:t>목표: 가격 안정성과 조정 유연성의 동시 확보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5D7BD5-B903-449C-AD7C-49C462E8D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12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D1E3DA-813A-4917-AE22-3C49A3A3F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 algn="l">
              <a:defRPr/>
            </a:pPr>
            <a:r>
              <a:rPr lang="ko-KR" altLang="en-US" sz="2800"/>
              <a:t>12.3.4 가격체계: 단일가격 vs 지역별 한계가격(LMP)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단일가격제: 시장 전역 동일 가격 → 단순하지만 송전 제약을 반영하기 어려움</a:t>
            </a:r>
          </a:p>
          <a:p>
            <a:r>
              <a:rPr sz="2000"/>
              <a:t>LMP: 노드/지역별로 혼잡·손실·제약을 가격에 반영(PJM, CAISO 등)</a:t>
            </a:r>
          </a:p>
          <a:p>
            <a:r>
              <a:rPr sz="2000"/>
              <a:t>효과: 혼잡비용 내재화, 효율적 입지 유도, 송전투자 판단에 정보 제공</a:t>
            </a:r>
          </a:p>
          <a:p>
            <a:r>
              <a:rPr sz="2000"/>
              <a:t>전제: 정교한 계통모형, 데이터 투명성, 감시체계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C616F1-A117-452D-9141-EB5FA740D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12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EC56EB-D964-4D13-B057-94FD077BC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3900"/>
              <a:t>12.3.5 제도 설계의 핵심 쟁점(1)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진입·퇴출: 기술요건·접속규칙·최종공급자 등 질서 있는 전환 장치 필요</a:t>
            </a:r>
          </a:p>
          <a:p>
            <a:r>
              <a:rPr sz="2000"/>
              <a:t>시장지배력: 수요 비탄력·실시간 제약 → 가격조작 위험(입찰상한, HHI, 모니터링)</a:t>
            </a:r>
          </a:p>
          <a:p>
            <a:r>
              <a:rPr sz="2000"/>
              <a:t>소비자 보호: 요금 변동성·정보비대칭 → 보호요금제·취약계층 지원 필요</a:t>
            </a:r>
          </a:p>
          <a:p>
            <a:r>
              <a:rPr sz="2000"/>
              <a:t>정보 공개: 가격·혼잡·정산 규칙의 투명성이 신뢰의 기반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E90F03-861D-4B2C-A147-EBA370E22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12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FCE7C1-D7F8-4A9A-A007-5928BACD2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 algn="l">
              <a:defRPr/>
            </a:pPr>
            <a:r>
              <a:rPr lang="ko-KR" altLang="en-US" sz="3000"/>
              <a:t>12.3.5 제도 설계의 핵심 쟁점(2): 장기 투자 유인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단기 현물가격만으로는 장기 설비투자(기저·유연성·망)에 충분한 유인 제공이 어려울 수 있음</a:t>
            </a:r>
          </a:p>
          <a:p>
            <a:r>
              <a:rPr sz="2000"/>
              <a:t>보완 수단: 용량시장/용량지불, 장기 PPA, CfD(차액계약), 정책기반 보조</a:t>
            </a:r>
          </a:p>
          <a:p>
            <a:r>
              <a:rPr sz="2000"/>
              <a:t>목표: 시장 기반 효율성과 투자 안정성(예측가능성) 간의 균형</a:t>
            </a:r>
          </a:p>
          <a:p>
            <a:r>
              <a:rPr sz="2000"/>
              <a:t>주의: 과잉보상·왜곡을 피하려면 규칙의 정합성과 경쟁적 입찰 설계가 중요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1C1A01-2EB9-4F20-AE74-7A51AD15F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12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9546D-F199-4F4A-8D1E-3E977E118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 algn="l">
              <a:defRPr/>
            </a:pPr>
            <a:r>
              <a:rPr lang="ko-KR" altLang="en-US" sz="3700"/>
              <a:t>12.4 국가 사례 비교: 무엇을 볼 것인가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개혁 속도(급진/점진), 민영화 범위, 분리 수준(법적/소유권)</a:t>
            </a:r>
          </a:p>
          <a:p>
            <a:r>
              <a:rPr sz="2000"/>
              <a:t>도매시장 설계(풀 vs 계약, DAM/RTM, LMP 여부)</a:t>
            </a:r>
          </a:p>
          <a:p>
            <a:r>
              <a:rPr sz="2000"/>
              <a:t>소매시장 개방 수준과 소비자 보호장치</a:t>
            </a:r>
          </a:p>
          <a:p>
            <a:r>
              <a:rPr sz="2000"/>
              <a:t>장기 투자 유인(용량시장·PPA·정책)과 재생에너지 연계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C4F5B4-3883-4371-A917-28CABA7FC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12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C2376F-717D-44D5-9FA1-CA689E38C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4000"/>
              <a:t>12.4.1 영국: 구조개편 선도모델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1990년 CEGB 해체: 발전·송전·배전·소매 기능 분리 + 민영화</a:t>
            </a:r>
          </a:p>
          <a:p>
            <a:r>
              <a:rPr sz="2000"/>
              <a:t>송전: National Grid가 중립적 운영자로 역할 수행</a:t>
            </a:r>
          </a:p>
          <a:p>
            <a:r>
              <a:rPr sz="2000"/>
              <a:t>초기: 중앙집중형 POOL 도매시장(입찰 기반) 운영</a:t>
            </a:r>
          </a:p>
          <a:p>
            <a:r>
              <a:rPr sz="2000"/>
              <a:t>2001년 NETA(계약 기반) → 2005년 BETTA로 확대(영국 단일시장)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5EA737-4EF6-4FB4-BB2D-AC339064A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12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C69E42-8CEA-483D-8CA8-6E1C2F01A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4000"/>
              <a:t>12.4.1 영국: 성과와 한계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성과: 요금 하락, 설비 이용률 개선, 생산성 증가(초기 효과)</a:t>
            </a:r>
          </a:p>
          <a:p>
            <a:r>
              <a:rPr sz="2000"/>
              <a:t>문제: 전략적 입찰·시장력 행사, 가격 변동성, 소매시장 집중화</a:t>
            </a:r>
          </a:p>
          <a:p>
            <a:r>
              <a:rPr sz="2000"/>
              <a:t>장기투자 불확실성 → 예비력/유연성 부족 논란</a:t>
            </a:r>
          </a:p>
          <a:p>
            <a:r>
              <a:rPr sz="2000"/>
              <a:t>정책(재생 확대)과 시장 규칙의 비정합성 문제가 부각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4352FE-D5EE-4D5B-9FF2-BDCFC908A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12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880536-6A8C-44AB-A738-A2007A983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4000"/>
              <a:t>12.4.2 미국: 분권적·점진적 개편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주(State) 단위로 개편 수준이 상이(개방 지역과 수직통합 유지 지역 공존)</a:t>
            </a:r>
          </a:p>
          <a:p>
            <a:r>
              <a:rPr sz="2000"/>
              <a:t>RTO/ISO 기반 시장: PJM, NYISO, CAISO, MISO 등</a:t>
            </a:r>
          </a:p>
          <a:p>
            <a:r>
              <a:rPr sz="2000"/>
              <a:t>복합시장: 전일/실시간, 보조서비스, (일부) 용량시장</a:t>
            </a:r>
          </a:p>
          <a:p>
            <a:r>
              <a:rPr sz="2000"/>
              <a:t>LMP 도입으로 혼잡·손실을 가격신호로 내재화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D0236B-B44A-48CB-970A-8672B55AA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12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82AE8A-F263-4FC7-A388-C16DEE69F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l">
              <a:defRPr/>
            </a:pPr>
            <a:r>
              <a:rPr lang="ko-KR" altLang="en-US" sz="3500"/>
              <a:t>12.4.2 미국: 캘리포니아 위기와 교훈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2000~2001년 위기: 도매 자유화 + 소매요금 상한의 비대칭 설계</a:t>
            </a:r>
          </a:p>
          <a:p>
            <a:r>
              <a:rPr sz="2000"/>
              <a:t>공급 부족·시장력 행사·전략적 거래로 가격 폭등 및 정전 발생</a:t>
            </a:r>
          </a:p>
          <a:p>
            <a:r>
              <a:rPr sz="2000"/>
              <a:t>이후: 시장감시 강화, 입찰 제한, 제도 보완(용량/예비력 등)</a:t>
            </a:r>
          </a:p>
          <a:p>
            <a:r>
              <a:rPr sz="2000"/>
              <a:t>교훈: 시장설계 정합성·감시체계 없이는 경쟁이 위기로 전환될 수 있음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B6A9E8-5097-4F9F-BE56-EF17C25F4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12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4B7AEE-0E90-40F1-A4B9-2EE210551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l">
              <a:defRPr/>
            </a:pPr>
            <a:r>
              <a:rPr lang="ko-KR" altLang="en-US" sz="3700"/>
              <a:t>12.4.3 EU: 법제화·단계적 시장 통합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전력지침(1996/2003/2009)으로 단계적 개방과 기능분리·제3자 접근 강화</a:t>
            </a:r>
          </a:p>
          <a:p>
            <a:r>
              <a:rPr sz="2000"/>
              <a:t>규제기관 협력: ACER 설립, 송전운영자 협력: ENTSO-E</a:t>
            </a:r>
          </a:p>
          <a:p>
            <a:r>
              <a:rPr sz="2000"/>
              <a:t>전력거래소 연계(Market Coupling)로 역내 도매시장 통합 추진</a:t>
            </a:r>
          </a:p>
          <a:p>
            <a:r>
              <a:rPr sz="2000"/>
              <a:t>2019 Clean Energy Package: 재생 확대·소비자 권리·유연성 제고를 통합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FB1002-3FE0-4B80-B5AC-F9A8ACE53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12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802D10-64EE-49C0-9D85-2559266F3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4000"/>
              <a:t>12.4.4 한국: 제한적 구조개편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2001년 전력시장 개설(KPX)과 함께 구조개편 추진</a:t>
            </a:r>
          </a:p>
          <a:p>
            <a:r>
              <a:rPr sz="2000"/>
              <a:t>발전 부문: KEPCO 발전 기능을 6개 자회사로 분리(경쟁적 도매시장 참여)</a:t>
            </a:r>
          </a:p>
          <a:p>
            <a:r>
              <a:rPr sz="2000"/>
              <a:t>송전·배전·소매는 KEPCO가 통합 운영 → 소매시장 개방은 미진</a:t>
            </a:r>
          </a:p>
          <a:p>
            <a:r>
              <a:rPr sz="2000"/>
              <a:t>과제: 실시간/지역 가격신호, 보조서비스·유연성 시장, 장기 투자 유인 설계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81790F-07D0-42E1-958D-7A96EF087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12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00B8A7-E1AA-470C-828B-43D2C07DB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4000"/>
              <a:t>12.5 성과와 한계: 종합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성과: 운영 효율성 개선, 시장기반 가격결정 정착, 자원배분의 동태적 조정</a:t>
            </a:r>
          </a:p>
          <a:p>
            <a:r>
              <a:rPr sz="2000"/>
              <a:t>투자/기술 다양화: IPP 진입, CCGT·재생·분산형 자원 확대</a:t>
            </a:r>
          </a:p>
          <a:p>
            <a:r>
              <a:rPr sz="2000"/>
              <a:t>한계: 가격 변동성·시장 불안정(캘리포니아), 장기투자 부족 위험</a:t>
            </a:r>
          </a:p>
          <a:p>
            <a:r>
              <a:rPr sz="2000"/>
              <a:t>시장지배력·조작 가능성 → 감시체계와 규제의 ‘재설계’가 핵심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D1B478-ABC9-4AD4-BACC-450180E84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12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1A8DA2-3BC4-4FD9-8BA2-4148DA4CA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 algn="l">
              <a:defRPr/>
            </a:pPr>
            <a:r>
              <a:rPr lang="ko-KR" altLang="en-US" sz="3300"/>
              <a:t>12.6 재생에너지 확산과 구조개편의 재정립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간헐성 증가 → 실시간 균형 비용 상승, 가격신호 왜곡(초저가/역가격 가능)</a:t>
            </a:r>
          </a:p>
          <a:p>
            <a:r>
              <a:rPr sz="2000"/>
              <a:t>정책 목표(탄소중립)와 시장규칙 간 긴장 → 보조금·용량제·CfD 등 혼합</a:t>
            </a:r>
          </a:p>
          <a:p>
            <a:r>
              <a:rPr sz="2000"/>
              <a:t>분산형 자원 확대 → 배전망/소매 영역에서 데이터·플랫폼 거버넌스 중요</a:t>
            </a:r>
          </a:p>
          <a:p>
            <a:r>
              <a:rPr sz="2000"/>
              <a:t>시장설계의 진화: 유연성(예비력·DR·ESS)과 적응성 중심의 혼합형 모델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8893AE-F71A-43FF-BA3C-8C4689EDE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12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A1D606-31FF-422C-A062-B75C24DDE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4000"/>
              <a:t>12.7 결론: 경쟁과 규제의 균형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경쟁 도입은 효율성·유연성을 높일 수 있으나, 전력의 특수성 때문에 규제가 필수</a:t>
            </a:r>
          </a:p>
          <a:p>
            <a:r>
              <a:rPr sz="2000"/>
              <a:t>핵심은 ‘경쟁 가능한 영역’과 ‘규제해야 할 영역’의 경계 설정 및 정합적 설계</a:t>
            </a:r>
          </a:p>
          <a:p>
            <a:r>
              <a:rPr sz="2000"/>
              <a:t>감시체계·소비자 보호·장기 투자 유인(유연성 포함)이 지속가능성을 좌우</a:t>
            </a:r>
          </a:p>
          <a:p>
            <a:r>
              <a:rPr sz="2000"/>
              <a:t>토론: 한국 전력시장에서 다음 개혁 우선순위는 무엇인가?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8DBB2C-0B97-45B9-B90C-2F60307AD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12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463186-488F-4ED5-9ECC-78972FF5C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9525">
          <a:solidFill>
            <a:srgbClr val="E1E1E1"/>
          </a:solidFill>
        </a:ln>
        <a:effectLst>
          <a:outerShdw blurRad="50800" dist="38100" dir="2700000" algn="tl" rotWithShape="0">
            <a:schemeClr val="bg1">
              <a:lumMod val="85000"/>
              <a:alpha val="50000"/>
            </a:schemeClr>
          </a:outerShdw>
        </a:effectLst>
      </a:spPr>
      <a:bodyPr anchor="ctr"/>
      <a:lstStyle>
        <a:defPPr marL="0" marR="0" lvl="0" indent="0" algn="ctr" defTabSz="914400" rtl="0" eaLnBrk="1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lang="en-US" sz="1800" b="0" i="0" u="none" strike="noStrike" kern="1200" cap="none" spc="0" normalizeH="0" baseline="0">
            <a:solidFill>
              <a:prstClr val="white"/>
            </a:solidFill>
            <a:effectLst/>
            <a:uLnTx/>
            <a:uFillTx/>
            <a:latin typeface="Calibri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2595</Words>
  <Application>Microsoft Office PowerPoint</Application>
  <PresentationFormat>와이드스크린</PresentationFormat>
  <Paragraphs>276</Paragraphs>
  <Slides>41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41</vt:i4>
      </vt:variant>
    </vt:vector>
  </HeadingPairs>
  <TitlesOfParts>
    <vt:vector size="46" baseType="lpstr">
      <vt:lpstr>나눔스퀘어 네오 OTF Heavy</vt:lpstr>
      <vt:lpstr>맑은 고딕</vt:lpstr>
      <vt:lpstr>Arial</vt:lpstr>
      <vt:lpstr>Office Theme</vt:lpstr>
      <vt:lpstr>Office 테마</vt:lpstr>
      <vt:lpstr>PowerPoint 프레젠테이션</vt:lpstr>
      <vt:lpstr>제12장 전력시장의 탈규제와 구조개편  </vt:lpstr>
      <vt:lpstr>학습목표</vt:lpstr>
      <vt:lpstr>12.1 전통적 전력산업 구조: 수직통합 규제독점</vt:lpstr>
      <vt:lpstr>12.1 전력의 경제·기술적 특성과 자연독점</vt:lpstr>
      <vt:lpstr>12.1 구조개편의 배경(1): 기술적 진보</vt:lpstr>
      <vt:lpstr>12.1 구조개편의 배경(2): 경제학적 이론 변화</vt:lpstr>
      <vt:lpstr>12.1 구조개편의 배경(3): 정책·제도적 변화</vt:lpstr>
      <vt:lpstr>12.1 구조개편의 의의와 전제</vt:lpstr>
      <vt:lpstr>12.2 탈규제의 경제적 논거: 큰 그림</vt:lpstr>
      <vt:lpstr>12.2.1 효율성 향상과 X-비효율 제거(1)</vt:lpstr>
      <vt:lpstr>12.2.1 효율성 향상과 X-비효율 제거(2)</vt:lpstr>
      <vt:lpstr>12.2.2 진입장벽 완화와 기술혁신 촉진(1)</vt:lpstr>
      <vt:lpstr>12.2.2 진입장벽 완화와 기술혁신 촉진(2)</vt:lpstr>
      <vt:lpstr>12.2.3 가격 신호 왜곡과 소비자 선택권 제약(1)</vt:lpstr>
      <vt:lpstr>12.2.3 가격 신호 왜곡과 소비자 선택권 제약(2)</vt:lpstr>
      <vt:lpstr>12.2.4 규제 실패와 정치경제적 유연성 확보</vt:lpstr>
      <vt:lpstr>12.2.5 국제사회의 개방 압력과 제도 정합성</vt:lpstr>
      <vt:lpstr>12.3 구조개편(Restructuring)의 구성요소: 개요</vt:lpstr>
      <vt:lpstr>12.3.1 기능별 분리(Unbundling): 수준과 방식</vt:lpstr>
      <vt:lpstr>12.3.1 기능별 분리의 정책 목표</vt:lpstr>
      <vt:lpstr>12.3.2 경쟁도입(발전): 도매시장 기본 구조</vt:lpstr>
      <vt:lpstr>12.3.2 입찰 기반 풀과 경제급전</vt:lpstr>
      <vt:lpstr>12.3.2 경쟁도입(소매): 선택권과 한계</vt:lpstr>
      <vt:lpstr>12.3.3 송전·배전: 자연독점과 규제</vt:lpstr>
      <vt:lpstr>12.3.3 ISO/RTO: 중립적 계통·시장 운영</vt:lpstr>
      <vt:lpstr>12.3.3 배전의 역할 변화: DSO와 분산자원</vt:lpstr>
      <vt:lpstr>12.3.4 시장운영자와 정산 시스템(1)</vt:lpstr>
      <vt:lpstr>12.3.4 가격체계: 단일가격 vs 지역별 한계가격(LMP)</vt:lpstr>
      <vt:lpstr>12.3.5 제도 설계의 핵심 쟁점(1)</vt:lpstr>
      <vt:lpstr>12.3.5 제도 설계의 핵심 쟁점(2): 장기 투자 유인</vt:lpstr>
      <vt:lpstr>12.4 국가 사례 비교: 무엇을 볼 것인가</vt:lpstr>
      <vt:lpstr>12.4.1 영국: 구조개편 선도모델</vt:lpstr>
      <vt:lpstr>12.4.1 영국: 성과와 한계</vt:lpstr>
      <vt:lpstr>12.4.2 미국: 분권적·점진적 개편</vt:lpstr>
      <vt:lpstr>12.4.2 미국: 캘리포니아 위기와 교훈</vt:lpstr>
      <vt:lpstr>12.4.3 EU: 법제화·단계적 시장 통합</vt:lpstr>
      <vt:lpstr>12.4.4 한국: 제한적 구조개편</vt:lpstr>
      <vt:lpstr>12.5 성과와 한계: 종합</vt:lpstr>
      <vt:lpstr>12.6 재생에너지 확산과 구조개편의 재정립</vt:lpstr>
      <vt:lpstr>12.7 결론: 경쟁과 규제의 균형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제12장 전력시장의 탈규제와 구조개편  </dc:title>
  <dc:creator>donghun kim</dc:creator>
  <cp:lastModifiedBy>장 규식</cp:lastModifiedBy>
  <cp:revision>3</cp:revision>
  <dcterms:created xsi:type="dcterms:W3CDTF">2026-02-24T10:28:48Z</dcterms:created>
  <dcterms:modified xsi:type="dcterms:W3CDTF">2026-02-25T21:44:53Z</dcterms:modified>
</cp:coreProperties>
</file>