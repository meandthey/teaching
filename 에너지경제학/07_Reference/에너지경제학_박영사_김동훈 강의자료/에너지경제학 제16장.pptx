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97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F94B-F969-4D10-9746-B64ED8172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87622-FEFD-478C-A5C6-FBEA6DB76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BE7F1-8018-4443-823D-03CAB97F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C8A35-BBA7-4F67-9477-5D6C77655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DCE46-4E38-4ED6-A5DC-2A169558F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10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9D06-04D5-4A44-845F-1DA9B8269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3A3AB-84FE-4CB4-8577-85A752C72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04056-4649-4498-9A15-46AB366C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33C56-B496-499A-8703-A87C5D4AC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05C8A-15D0-4764-8528-69ECA5460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89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68F1-7745-4368-977B-128D48A3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34068-4B3F-4EBC-BABB-B29A88F16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4D55-450A-4AEB-91A2-D04C9B70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1A116-5410-41DC-B7A9-069E8A625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A89F0-1A8C-4AE1-9B91-9B9378340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25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4617-EB41-4962-8413-CB303C853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6D955-9B1F-4C66-AACB-53473C5DC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0F650-A072-4842-9078-79DD51653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56A4F-312B-4043-B23C-3FD6FBC6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31141-1FBE-4FAB-BC4E-4CAC72D1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DB530-386B-497F-A178-4741C8DF0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78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F353-D006-412B-804C-F983A8C47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F19F7-2423-48FA-B608-948799F45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CF7F7-BC87-42F8-A413-1375C99BE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08964-A766-4AE6-9A20-4B8959D71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E0D00-8E90-4A59-BD82-AEF0DC66AF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D02DE-7CBB-41CB-B2E2-9449D1BF6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6233B-C352-49EC-A2D7-5EDA06A8C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59D823-6EB4-4A7E-98D0-B0686F67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815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754D-13D2-4C3C-8F46-5251CEB5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A9976C-9FB8-48D1-8941-C03F4527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7A98F-1ACD-4A04-AEF4-FB0660B4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EC3D4-8DB6-49CE-BB91-6A7BE129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4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BABD1-5771-4816-9829-EEC9D7C6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E6EEB-CD8D-49F1-BBFC-1C6D58B9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CEBAB-A147-4696-88EC-EE4C406A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74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43976-28BF-4D3B-B195-4773DD5FA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2B6A8-DF73-4842-8B72-8B98AF52F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4B87E-6A1F-4D0E-BCDA-54E69FCB8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4FE66-21E4-4A0C-B575-5F6A646AC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2D97D-778C-4250-970B-E184EE94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497F0-93B0-44C7-8391-84456C994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61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687F-E382-49C4-99BD-6095E3F2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68F14-D4CD-49CC-A629-E2187177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989D9-D054-418F-BDA2-9B8D1245C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AE40D-90C0-421E-A231-97BBAED7F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9B8FD-C2E1-48BF-BE9F-0357D21E2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582B2-D1F7-4736-A03E-4B4F7ED5C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69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3AB7-C761-4DBA-8286-3DCA7F500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7BFDF-2980-4110-9688-ED78E1C3A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BE794-8A05-488B-81E5-8B317D6D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79199-A9B2-4DC6-BB84-95CE1143C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16B68-103B-444F-8A39-FFAF4F0F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50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0A6923-31FB-4088-B8F8-B404AADCC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C87E3-BBDD-45EB-BA4C-2657EE668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82CCE-A974-4F38-B8A2-5A12D245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08D29-BABF-484E-85F2-E446E995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EFF5F-500B-4E53-911C-C33427F6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37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F6659-1291-40BB-8226-66682409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E21DC-EC0D-47BD-99CB-BA7868D81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56B82-871E-461A-906C-F41B60543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5233D-BC03-4BCB-B58C-0339B4E71BD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0E803-E98A-4FF9-B4AA-A741BB0F9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4CBC0-CFC9-4C57-98E0-AB95164B8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FF456-95CD-47CB-9D6C-74083E8FB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87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5" y="181576"/>
            <a:ext cx="11830050" cy="631820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 dirty="0">
                <a:solidFill>
                  <a:srgbClr val="FFFFFF"/>
                </a:solidFill>
                <a:ea typeface="맑은 고딕"/>
              </a:rPr>
              <a:t>16</a:t>
            </a: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장  에너지와 지속가능성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0C6A38-4290-41DD-B95C-4155372FD4AF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제14장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rPr dirty="0" err="1"/>
              <a:t>지속가능한</a:t>
            </a:r>
            <a:r>
              <a:rPr dirty="0"/>
              <a:t> </a:t>
            </a:r>
            <a:r>
              <a:rPr dirty="0" err="1"/>
              <a:t>발전의</a:t>
            </a:r>
            <a:r>
              <a:rPr dirty="0"/>
              <a:t> </a:t>
            </a:r>
            <a:r>
              <a:rPr dirty="0" err="1"/>
              <a:t>정의와</a:t>
            </a:r>
            <a:r>
              <a:rPr dirty="0"/>
              <a:t> ‘3대 축(</a:t>
            </a:r>
            <a:r>
              <a:rPr dirty="0" err="1"/>
              <a:t>환경·경제·사회</a:t>
            </a:r>
            <a:r>
              <a:rPr dirty="0"/>
              <a:t>)’을 </a:t>
            </a:r>
            <a:r>
              <a:rPr dirty="0" err="1"/>
              <a:t>설명</a:t>
            </a:r>
            <a:endParaRPr dirty="0"/>
          </a:p>
          <a:p>
            <a:pPr>
              <a:spcAft>
                <a:spcPts val="400"/>
              </a:spcAft>
              <a:defRPr sz="22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지속가능성의</a:t>
            </a:r>
            <a:r>
              <a:rPr dirty="0"/>
              <a:t> </a:t>
            </a:r>
            <a:r>
              <a:rPr dirty="0" err="1"/>
              <a:t>이론</a:t>
            </a:r>
            <a:r>
              <a:rPr dirty="0"/>
              <a:t>(</a:t>
            </a:r>
            <a:r>
              <a:rPr dirty="0" err="1"/>
              <a:t>약한</a:t>
            </a:r>
            <a:r>
              <a:rPr dirty="0"/>
              <a:t>/</a:t>
            </a:r>
            <a:r>
              <a:rPr dirty="0" err="1"/>
              <a:t>강한</a:t>
            </a:r>
            <a:r>
              <a:rPr dirty="0"/>
              <a:t> </a:t>
            </a:r>
            <a:r>
              <a:rPr dirty="0" err="1"/>
              <a:t>지속가능성</a:t>
            </a:r>
            <a:r>
              <a:rPr dirty="0"/>
              <a:t>)과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함의를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  <a:p>
            <a:pPr>
              <a:spcAft>
                <a:spcPts val="400"/>
              </a:spcAft>
              <a:defRPr sz="2200"/>
            </a:pPr>
            <a:r>
              <a:rPr dirty="0"/>
              <a:t>총에너지·1인당 </a:t>
            </a:r>
            <a:r>
              <a:rPr dirty="0" err="1"/>
              <a:t>소비</a:t>
            </a:r>
            <a:r>
              <a:rPr dirty="0"/>
              <a:t>, </a:t>
            </a:r>
            <a:r>
              <a:rPr dirty="0" err="1"/>
              <a:t>탈탄소화</a:t>
            </a:r>
            <a:r>
              <a:rPr dirty="0"/>
              <a:t> </a:t>
            </a:r>
            <a:r>
              <a:rPr dirty="0" err="1"/>
              <a:t>지수</a:t>
            </a:r>
            <a:r>
              <a:rPr dirty="0"/>
              <a:t>, SDG7 등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지표를</a:t>
            </a:r>
            <a:r>
              <a:rPr dirty="0"/>
              <a:t> </a:t>
            </a:r>
            <a:r>
              <a:rPr dirty="0" err="1"/>
              <a:t>해석</a:t>
            </a:r>
            <a:endParaRPr dirty="0"/>
          </a:p>
          <a:p>
            <a:pPr>
              <a:spcAft>
                <a:spcPts val="400"/>
              </a:spcAft>
              <a:defRPr sz="2200"/>
            </a:pPr>
            <a:r>
              <a:rPr dirty="0" err="1"/>
              <a:t>지속가능한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기술·경제·제도·회복력</a:t>
            </a:r>
            <a:r>
              <a:rPr dirty="0"/>
              <a:t> </a:t>
            </a:r>
            <a:r>
              <a:rPr dirty="0" err="1"/>
              <a:t>요소를</a:t>
            </a:r>
            <a:r>
              <a:rPr dirty="0"/>
              <a:t> </a:t>
            </a:r>
            <a:r>
              <a:rPr dirty="0" err="1"/>
              <a:t>통합적으로</a:t>
            </a:r>
            <a:r>
              <a:rPr dirty="0"/>
              <a:t> </a:t>
            </a:r>
            <a:r>
              <a:rPr dirty="0" err="1"/>
              <a:t>정리</a:t>
            </a:r>
            <a:endParaRPr dirty="0"/>
          </a:p>
          <a:p>
            <a:pPr>
              <a:spcAft>
                <a:spcPts val="400"/>
              </a:spcAft>
              <a:defRPr sz="22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접근성·에너지</a:t>
            </a:r>
            <a:r>
              <a:rPr dirty="0"/>
              <a:t> </a:t>
            </a:r>
            <a:r>
              <a:rPr dirty="0" err="1"/>
              <a:t>빈곤·수용성·국제협력</a:t>
            </a:r>
            <a:r>
              <a:rPr dirty="0"/>
              <a:t> 및 SDGs/ESG </a:t>
            </a:r>
            <a:r>
              <a:rPr dirty="0" err="1"/>
              <a:t>연계를</a:t>
            </a:r>
            <a:r>
              <a:rPr dirty="0"/>
              <a:t> </a:t>
            </a:r>
            <a:r>
              <a:rPr dirty="0" err="1"/>
              <a:t>이해</a:t>
            </a:r>
            <a:endParaRPr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800"/>
              <a:t>16.1 서론: 왜 ‘에너지+지속가능성’인가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지속가능한 발전: 현재 세대의 필요를 충족하면서 미래 세대의 가능성을 훼손하지 않는 발전(WCED, 1987)</a:t>
            </a:r>
          </a:p>
          <a:p>
            <a:pPr>
              <a:spcAft>
                <a:spcPts val="400"/>
              </a:spcAft>
              <a:defRPr sz="2200"/>
            </a:pPr>
            <a:r>
              <a:t>에너지는 산업·수송·주거 등 거의 모든 분야의 기반 인프라이자 삶의 질과 직결</a:t>
            </a:r>
          </a:p>
          <a:p>
            <a:pPr>
              <a:spcAft>
                <a:spcPts val="400"/>
              </a:spcAft>
              <a:defRPr sz="2200"/>
            </a:pPr>
            <a:r>
              <a:t>화석연료 의존은 온실가스·대기오염·자원고갈 등 외부효과를 유발</a:t>
            </a:r>
          </a:p>
          <a:p>
            <a:pPr>
              <a:spcAft>
                <a:spcPts val="400"/>
              </a:spcAft>
              <a:defRPr sz="2200"/>
            </a:pPr>
            <a:r>
              <a:t>따라서 에너지 시스템 전환은 기후위기 대응뿐 아니라 장기 경제안보·사회통합의 조건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700"/>
              <a:t>16.1 ‘문제’이자 ‘해법’으로서의 에너지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문제: 배출·오염·생태계 훼손, 수입의존·가격변동성, 에너지 빈곤 등</a:t>
            </a:r>
          </a:p>
          <a:p>
            <a:pPr>
              <a:spcAft>
                <a:spcPts val="400"/>
              </a:spcAft>
              <a:defRPr sz="2200"/>
            </a:pPr>
            <a:r>
              <a:t>해법: 재생에너지·효율·전기화·디지털화로 환경부담을 줄이면서 경제/복지 개선 가능</a:t>
            </a:r>
          </a:p>
          <a:p>
            <a:pPr>
              <a:spcAft>
                <a:spcPts val="400"/>
              </a:spcAft>
              <a:defRPr sz="2200"/>
            </a:pPr>
            <a:r>
              <a:t>지속가능한 에너지 전환은 기술만이 아니라 제도·정책·사회참여의 통합적 접근이 필요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16.2 지속가능성의 개념과 역사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지속가능한 발전 개념은 산업화 부작용(환경·자원·빈곤)을 통합 해결하기 위한 패러다임으로 등장</a:t>
            </a:r>
          </a:p>
          <a:p>
            <a:pPr>
              <a:spcAft>
                <a:spcPts val="400"/>
              </a:spcAft>
              <a:defRPr sz="2200"/>
            </a:pPr>
            <a:r>
              <a:t>1987년 브룬트란트 보고서(Our Common Future)에서 정의가 공식화(WCED, 1987)</a:t>
            </a:r>
          </a:p>
          <a:p>
            <a:pPr>
              <a:spcAft>
                <a:spcPts val="400"/>
              </a:spcAft>
              <a:defRPr sz="2200"/>
            </a:pPr>
            <a:r>
              <a:t>1992 리우회의 ‘아젠다21’ 등으로 실행 방향이 구체화, SDGs(UN, 2015)로 정책틀 확장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300"/>
              <a:t>16.2.1 지속가능한 발전 정의의 핵심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세대 간 정의: 미래 세대의 선택 자유를 보장해야 함</a:t>
            </a:r>
          </a:p>
          <a:p>
            <a:pPr>
              <a:spcAft>
                <a:spcPts val="400"/>
              </a:spcAft>
              <a:defRPr sz="2200"/>
            </a:pPr>
            <a:r>
              <a:t>생태계 유지 가능성: 환경의 수용능력(한계)을 전제로 발전을 설계</a:t>
            </a:r>
          </a:p>
          <a:p>
            <a:pPr>
              <a:spcAft>
                <a:spcPts val="400"/>
              </a:spcAft>
              <a:defRPr sz="2200"/>
            </a:pPr>
            <a:r>
              <a:t>빈곤층의 기본 욕구를 우선시 → ‘사회적 형평성’이 정의에 포함</a:t>
            </a:r>
          </a:p>
          <a:p>
            <a:pPr>
              <a:spcAft>
                <a:spcPts val="400"/>
              </a:spcAft>
              <a:defRPr sz="2200"/>
            </a:pPr>
            <a:r>
              <a:t>성장만이 아니라 ‘경제·사회·환경’ 균형을 지향하는 종합 비전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700"/>
              <a:t>16.2.2 지속가능성의 3대 축(삼각형)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환경: 생태계 회복력·생물다양성·자원 재생가능성(탄소감축, 순환경제 등)</a:t>
            </a:r>
          </a:p>
          <a:p>
            <a:pPr>
              <a:spcAft>
                <a:spcPts val="400"/>
              </a:spcAft>
              <a:defRPr sz="2200"/>
            </a:pPr>
            <a:r>
              <a:t>경제: 장기 생산성·자원 효율·고용 안정·재정 건전성(외부비용 내재화, 녹색투자)</a:t>
            </a:r>
          </a:p>
          <a:p>
            <a:pPr>
              <a:spcAft>
                <a:spcPts val="400"/>
              </a:spcAft>
              <a:defRPr sz="2200"/>
            </a:pPr>
            <a:r>
              <a:t>사회: 공정성·포용성·기회균등(빈곤/불평등 완화, 정의로운 전환)</a:t>
            </a:r>
          </a:p>
          <a:p>
            <a:pPr>
              <a:spcAft>
                <a:spcPts val="400"/>
              </a:spcAft>
              <a:defRPr sz="2200"/>
            </a:pPr>
            <a:r>
              <a:t>세 축은 상호작용 → 한 축만 강조하면 전체 지속가능성 훼손 가능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900"/>
              <a:t>16.2.3 에너지와 지속가능성(환경)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화석연료 중심 소비는 전 세계 온실가스 배출의 큰 비중을 차지(IPCC, 2022)</a:t>
            </a:r>
          </a:p>
          <a:p>
            <a:pPr>
              <a:spcAft>
                <a:spcPts val="400"/>
              </a:spcAft>
              <a:defRPr sz="2200"/>
            </a:pPr>
            <a:r>
              <a:t>채굴·시추·정제·발전 과정은 생태계 훼손, 수질/대기오염 등을 유발</a:t>
            </a:r>
          </a:p>
          <a:p>
            <a:pPr>
              <a:spcAft>
                <a:spcPts val="400"/>
              </a:spcAft>
              <a:defRPr sz="2200"/>
            </a:pPr>
            <a:r>
              <a:t>재생에너지·효율 기술은 환경 부담을 줄이고 자원의 재생가능성을 높이는 대안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16.2.3 에너지와 지속가능성(경제)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에너지는 생산·수송·무역의 기반 → 경제 성장과 직결</a:t>
            </a:r>
          </a:p>
          <a:p>
            <a:pPr>
              <a:spcAft>
                <a:spcPts val="400"/>
              </a:spcAft>
              <a:defRPr sz="2200"/>
            </a:pPr>
            <a:r>
              <a:t>가격 변동성·수입 의존·자원 분포 불균형은 거시경제 불안정 초래</a:t>
            </a:r>
          </a:p>
          <a:p>
            <a:pPr>
              <a:spcAft>
                <a:spcPts val="400"/>
              </a:spcAft>
              <a:defRPr sz="2200"/>
            </a:pPr>
            <a:r>
              <a:t>재생 확산·효율 개선은 장기 비용 절감, 에너지 안보 강화, 신산업·고용 창출에 기여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/>
              <a:t>16.2.3 에너지와 지속가능성(사회)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현대적 에너지 접근은 의료·교육·물·정보통신 등 사회 인프라의 전제</a:t>
            </a:r>
          </a:p>
          <a:p>
            <a:pPr>
              <a:spcAft>
                <a:spcPts val="400"/>
              </a:spcAft>
              <a:defRPr sz="2200"/>
            </a:pPr>
            <a:r>
              <a:t>여전히 약 7억 명이 전력 접근이 없고, 20억 명 이상이 청정 조리 연료 없이 생활(IEA, 2022)</a:t>
            </a:r>
          </a:p>
          <a:p>
            <a:pPr>
              <a:spcAft>
                <a:spcPts val="400"/>
              </a:spcAft>
              <a:defRPr sz="2200"/>
            </a:pPr>
            <a:r>
              <a:t>에너지 빈곤은 기술 부족이 아니라 구조적 불평등과 연결 → 에너지 정의가 핵심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700"/>
              <a:t>16.3 이론: 약한 vs 강한 지속가능성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약한 지속가능성: 자연자본과 인공/인적 자본의 ‘대체 가능성’ → 총자본 유지가 핵심</a:t>
            </a:r>
          </a:p>
          <a:p>
            <a:pPr>
              <a:spcAft>
                <a:spcPts val="400"/>
              </a:spcAft>
              <a:defRPr sz="2200"/>
            </a:pPr>
            <a:r>
              <a:t>강한 지속가능성: 임계 자연자본은 ‘비대체적’ → 생태계 임계점 보호가 핵심</a:t>
            </a:r>
          </a:p>
          <a:p>
            <a:pPr>
              <a:spcAft>
                <a:spcPts val="400"/>
              </a:spcAft>
              <a:defRPr sz="2200"/>
            </a:pPr>
            <a:r>
              <a:t>논쟁: 기술·시장 중심 접근의 장점 vs 생태적 한계·비가역성의 엄중함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약한 지속가능성(Weak): 정책 함의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자원 고갈은 기술혁신·인프라·교육 등 자본 축적으로 보완 가능(Solow)</a:t>
            </a:r>
          </a:p>
          <a:p>
            <a:pPr>
              <a:spcAft>
                <a:spcPts val="400"/>
              </a:spcAft>
              <a:defRPr sz="2200"/>
            </a:pPr>
            <a:r>
              <a:t>시장 기반 수단 선호: 탄소세·배출권·보조금 등 경제적 유인</a:t>
            </a:r>
          </a:p>
          <a:p>
            <a:pPr>
              <a:spcAft>
                <a:spcPts val="400"/>
              </a:spcAft>
              <a:defRPr sz="2200"/>
            </a:pPr>
            <a:r>
              <a:t>장점: 유연성·비용 효율성, 산업/투자와 결합 용이</a:t>
            </a:r>
          </a:p>
          <a:p>
            <a:pPr>
              <a:spcAft>
                <a:spcPts val="400"/>
              </a:spcAft>
              <a:defRPr sz="2200"/>
            </a:pPr>
            <a:r>
              <a:t>한계: ‘모든 자연자원 대체 가능’ 전제의 현실성 부족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800"/>
              <a:t>강한 지속가능성(Strong): 정책 함의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기후 안정·생물다양성·청정 대기/수질은 임계 자연자본 → 훼손 시 회복 어려움</a:t>
            </a:r>
          </a:p>
          <a:p>
            <a:pPr>
              <a:spcAft>
                <a:spcPts val="400"/>
              </a:spcAft>
              <a:defRPr sz="2200"/>
            </a:pPr>
            <a:r>
              <a:t>정책 방향: 생태적 한계 내 설계(절대적 소비 감축, 분산형 구조, 윤리·형평 포함)</a:t>
            </a:r>
          </a:p>
          <a:p>
            <a:pPr>
              <a:spcAft>
                <a:spcPts val="400"/>
              </a:spcAft>
              <a:defRPr sz="2200"/>
            </a:pPr>
            <a:r>
              <a:t>장점: 임계점/비가역성 고려, 장기 생태위험을 정면으로 다룸</a:t>
            </a:r>
          </a:p>
          <a:p>
            <a:pPr>
              <a:spcAft>
                <a:spcPts val="400"/>
              </a:spcAft>
              <a:defRPr sz="2200"/>
            </a:pPr>
            <a:r>
              <a:t>한계: 경제성·정치적 수용성, 단기 이행 비용 부담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 dirty="0"/>
              <a:t>16.</a:t>
            </a:r>
            <a:r>
              <a:rPr lang="en-US" altLang="ko-KR" sz="4000" dirty="0"/>
              <a:t>4</a:t>
            </a:r>
            <a:r>
              <a:rPr lang="ko-KR" altLang="en-US" sz="4000" dirty="0"/>
              <a:t> 지속가능성 지표(개요)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지표는 ‘양(얼마나 소비)’과 ‘질(얼마나 깨끗/효율)’을 함께 평가</a:t>
            </a:r>
          </a:p>
          <a:p>
            <a:pPr>
              <a:spcAft>
                <a:spcPts val="400"/>
              </a:spcAft>
              <a:defRPr sz="2200"/>
            </a:pPr>
            <a:r>
              <a:t>기본: 총에너지 소비, 1인당 소비, 에너지 집약도</a:t>
            </a:r>
          </a:p>
          <a:p>
            <a:pPr>
              <a:spcAft>
                <a:spcPts val="400"/>
              </a:spcAft>
              <a:defRPr sz="2200"/>
            </a:pPr>
            <a:r>
              <a:t>전환: 탈탄소화 지수(탄소집약도), 재생에너지 비중</a:t>
            </a:r>
          </a:p>
          <a:p>
            <a:pPr>
              <a:spcAft>
                <a:spcPts val="400"/>
              </a:spcAft>
              <a:defRPr sz="2200"/>
            </a:pPr>
            <a:r>
              <a:t>포용: 전력 접근률, 청정 조리연료 접근, 에너지빈곤</a:t>
            </a:r>
          </a:p>
          <a:p>
            <a:pPr>
              <a:spcAft>
                <a:spcPts val="400"/>
              </a:spcAft>
              <a:defRPr sz="2200"/>
            </a:pPr>
            <a:r>
              <a:t>종합: SDG7/SEforALL 등 다차원 지표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700" dirty="0"/>
              <a:t>16.</a:t>
            </a:r>
            <a:r>
              <a:rPr lang="en-US" altLang="ko-KR" sz="3700" dirty="0"/>
              <a:t>4</a:t>
            </a:r>
            <a:r>
              <a:rPr lang="ko-KR" altLang="en-US" sz="3700" dirty="0"/>
              <a:t>.1 총에너지 소비: 해석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경제 규모·산업구조·인구·기후 조건을 반영</a:t>
            </a:r>
          </a:p>
          <a:p>
            <a:pPr>
              <a:spcAft>
                <a:spcPts val="400"/>
              </a:spcAft>
              <a:defRPr sz="2200"/>
            </a:pPr>
            <a:r>
              <a:t>단순 ‘많다/적다’가 아니라 소비 구조와 효율을 함께 해석</a:t>
            </a:r>
          </a:p>
          <a:p>
            <a:pPr>
              <a:spcAft>
                <a:spcPts val="400"/>
              </a:spcAft>
              <a:defRPr sz="2200"/>
            </a:pPr>
            <a:r>
              <a:t>디커플링(에너지 소비 증가 없이 성장)과 집약도 개선이 핵심 목표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200" dirty="0"/>
              <a:t>16.</a:t>
            </a:r>
            <a:r>
              <a:rPr lang="en-US" altLang="ko-KR" sz="3200" dirty="0"/>
              <a:t>4</a:t>
            </a:r>
            <a:r>
              <a:rPr lang="ko-KR" altLang="en-US" sz="3200" dirty="0"/>
              <a:t>.1 1인당 에너지 소비: 형평성과 생활수준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생활 수준·소비 패턴·주거/교통 양식과 직결</a:t>
            </a:r>
          </a:p>
          <a:p>
            <a:pPr>
              <a:spcAft>
                <a:spcPts val="400"/>
              </a:spcAft>
              <a:defRPr sz="2200"/>
            </a:pPr>
            <a:r>
              <a:t>접근성 부족이 낮은 소비로 나타나는 경우가 있어 ‘빈곤’과 연결</a:t>
            </a:r>
          </a:p>
          <a:p>
            <a:pPr>
              <a:spcAft>
                <a:spcPts val="400"/>
              </a:spcAft>
              <a:defRPr sz="2200"/>
            </a:pPr>
            <a:r>
              <a:t>높은 소비가 곧 비지속가능은 아님: 탄소집약도·효율이 함께 중요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 dirty="0"/>
              <a:t>16.</a:t>
            </a:r>
            <a:r>
              <a:rPr lang="en-US" altLang="ko-KR" sz="4000" dirty="0"/>
              <a:t>4</a:t>
            </a:r>
            <a:r>
              <a:rPr lang="ko-KR" altLang="en-US" sz="4000" dirty="0"/>
              <a:t>.2 탈탄소화 지수(탄소집약도)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rPr dirty="0" err="1"/>
              <a:t>정의</a:t>
            </a:r>
            <a:r>
              <a:rPr dirty="0"/>
              <a:t>: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소비당</a:t>
            </a:r>
            <a:r>
              <a:rPr dirty="0"/>
              <a:t> CO₂ </a:t>
            </a:r>
            <a:r>
              <a:rPr dirty="0" err="1"/>
              <a:t>배출</a:t>
            </a:r>
            <a:r>
              <a:rPr dirty="0"/>
              <a:t>(ton CO₂ / toe </a:t>
            </a:r>
            <a:r>
              <a:rPr dirty="0" err="1"/>
              <a:t>또는</a:t>
            </a:r>
            <a:r>
              <a:rPr dirty="0"/>
              <a:t> /TJ)</a:t>
            </a:r>
          </a:p>
          <a:p>
            <a:pPr>
              <a:spcAft>
                <a:spcPts val="400"/>
              </a:spcAft>
              <a:defRPr sz="2200"/>
            </a:pPr>
            <a:r>
              <a:rPr dirty="0"/>
              <a:t>Kaya </a:t>
            </a:r>
            <a:r>
              <a:rPr dirty="0" err="1"/>
              <a:t>정체식의</a:t>
            </a:r>
            <a:r>
              <a:rPr dirty="0"/>
              <a:t> C/E </a:t>
            </a:r>
            <a:r>
              <a:rPr dirty="0" err="1"/>
              <a:t>항과</a:t>
            </a:r>
            <a:r>
              <a:rPr dirty="0"/>
              <a:t> </a:t>
            </a:r>
            <a:r>
              <a:rPr dirty="0" err="1"/>
              <a:t>연결</a:t>
            </a:r>
            <a:r>
              <a:rPr dirty="0"/>
              <a:t> → </a:t>
            </a:r>
            <a:r>
              <a:rPr dirty="0" err="1"/>
              <a:t>믹스</a:t>
            </a:r>
            <a:r>
              <a:rPr dirty="0"/>
              <a:t> </a:t>
            </a:r>
            <a:r>
              <a:rPr dirty="0" err="1"/>
              <a:t>전환·효율</a:t>
            </a:r>
            <a:r>
              <a:rPr dirty="0"/>
              <a:t> </a:t>
            </a:r>
            <a:r>
              <a:rPr dirty="0" err="1"/>
              <a:t>향상이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경로</a:t>
            </a:r>
            <a:endParaRPr dirty="0"/>
          </a:p>
          <a:p>
            <a:pPr>
              <a:spcAft>
                <a:spcPts val="400"/>
              </a:spcAft>
              <a:defRPr sz="2200"/>
            </a:pPr>
            <a:r>
              <a:rPr dirty="0" err="1"/>
              <a:t>부문별로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속도</a:t>
            </a:r>
            <a:r>
              <a:rPr dirty="0"/>
              <a:t> </a:t>
            </a:r>
            <a:r>
              <a:rPr dirty="0" err="1"/>
              <a:t>격차</a:t>
            </a:r>
            <a:r>
              <a:rPr dirty="0"/>
              <a:t> </a:t>
            </a:r>
            <a:r>
              <a:rPr dirty="0" err="1"/>
              <a:t>존재</a:t>
            </a:r>
            <a:r>
              <a:rPr dirty="0"/>
              <a:t> → </a:t>
            </a:r>
            <a:r>
              <a:rPr dirty="0" err="1"/>
              <a:t>우선개입</a:t>
            </a:r>
            <a:r>
              <a:rPr dirty="0"/>
              <a:t> </a:t>
            </a:r>
            <a:r>
              <a:rPr dirty="0" err="1"/>
              <a:t>분야</a:t>
            </a:r>
            <a:r>
              <a:rPr dirty="0"/>
              <a:t> </a:t>
            </a:r>
            <a:r>
              <a:rPr dirty="0" err="1"/>
              <a:t>식별에</a:t>
            </a:r>
            <a:r>
              <a:rPr dirty="0"/>
              <a:t> </a:t>
            </a:r>
            <a:r>
              <a:rPr dirty="0" err="1"/>
              <a:t>유용</a:t>
            </a:r>
            <a:endParaRPr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500" dirty="0"/>
              <a:t>16.</a:t>
            </a:r>
            <a:r>
              <a:rPr lang="en-US" altLang="ko-KR" sz="3500" dirty="0"/>
              <a:t>4</a:t>
            </a:r>
            <a:r>
              <a:rPr lang="ko-KR" altLang="en-US" sz="3500" dirty="0"/>
              <a:t>.2 부문별 탈탄소화: 전력 vs 산업·수송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전력: 재생/원전 확대와 석탄 감축으로 개선이 빠른 편</a:t>
            </a:r>
          </a:p>
          <a:p>
            <a:pPr>
              <a:spcAft>
                <a:spcPts val="400"/>
              </a:spcAft>
              <a:defRPr sz="2200"/>
            </a:pPr>
            <a:r>
              <a:t>산업: 공정배출·고온열 수요로 기술적 제약이 커 전환이 느릴 수 있음</a:t>
            </a:r>
          </a:p>
          <a:p>
            <a:pPr>
              <a:spcAft>
                <a:spcPts val="400"/>
              </a:spcAft>
              <a:defRPr sz="2200"/>
            </a:pPr>
            <a:r>
              <a:t>수송: 전기차 확산은 빠르지만 인프라/원료/행동 변화가 병행되어야 함</a:t>
            </a:r>
          </a:p>
          <a:p>
            <a:pPr>
              <a:spcAft>
                <a:spcPts val="400"/>
              </a:spcAft>
              <a:defRPr sz="2200"/>
            </a:pPr>
            <a:r>
              <a:t>정책: 부문별 한계·속도 차이를 전제로 차등화된 정책 패키지 필요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 dirty="0"/>
              <a:t>16.</a:t>
            </a:r>
            <a:r>
              <a:rPr lang="en-US" altLang="ko-KR" sz="4100" dirty="0"/>
              <a:t>4</a:t>
            </a:r>
            <a:r>
              <a:rPr lang="ko-KR" altLang="en-US" sz="4100" dirty="0"/>
              <a:t>.4 SDG7/SEforALL 지표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rPr dirty="0"/>
              <a:t>SDG7: </a:t>
            </a:r>
            <a:r>
              <a:rPr dirty="0" err="1"/>
              <a:t>모두를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저렴·신뢰·지속가능한</a:t>
            </a:r>
            <a:r>
              <a:rPr dirty="0"/>
              <a:t> </a:t>
            </a:r>
            <a:r>
              <a:rPr dirty="0" err="1"/>
              <a:t>현대적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(UN, 2015)</a:t>
            </a:r>
          </a:p>
          <a:p>
            <a:pPr>
              <a:spcAft>
                <a:spcPts val="400"/>
              </a:spcAft>
              <a:defRPr sz="2200"/>
            </a:pPr>
            <a:r>
              <a:rPr dirty="0" err="1"/>
              <a:t>핵심</a:t>
            </a:r>
            <a:r>
              <a:rPr dirty="0"/>
              <a:t>: </a:t>
            </a:r>
            <a:r>
              <a:rPr dirty="0" err="1"/>
              <a:t>전력</a:t>
            </a:r>
            <a:r>
              <a:rPr dirty="0"/>
              <a:t> </a:t>
            </a:r>
            <a:r>
              <a:rPr dirty="0" err="1"/>
              <a:t>접근률</a:t>
            </a:r>
            <a:r>
              <a:rPr dirty="0"/>
              <a:t>, </a:t>
            </a:r>
            <a:r>
              <a:rPr dirty="0" err="1"/>
              <a:t>청정조리연료</a:t>
            </a:r>
            <a:r>
              <a:rPr dirty="0"/>
              <a:t> </a:t>
            </a:r>
            <a:r>
              <a:rPr dirty="0" err="1"/>
              <a:t>접근</a:t>
            </a:r>
            <a:r>
              <a:rPr dirty="0"/>
              <a:t>, </a:t>
            </a:r>
            <a:r>
              <a:rPr dirty="0" err="1"/>
              <a:t>재생</a:t>
            </a:r>
            <a:r>
              <a:rPr dirty="0"/>
              <a:t> </a:t>
            </a:r>
            <a:r>
              <a:rPr dirty="0" err="1"/>
              <a:t>비중</a:t>
            </a:r>
            <a:r>
              <a:rPr dirty="0"/>
              <a:t>,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집약도</a:t>
            </a:r>
            <a:endParaRPr dirty="0"/>
          </a:p>
          <a:p>
            <a:pPr>
              <a:spcAft>
                <a:spcPts val="400"/>
              </a:spcAft>
              <a:defRPr sz="2200"/>
            </a:pPr>
            <a:r>
              <a:rPr dirty="0" err="1"/>
              <a:t>의의</a:t>
            </a:r>
            <a:r>
              <a:rPr dirty="0"/>
              <a:t>: </a:t>
            </a:r>
            <a:r>
              <a:rPr dirty="0" err="1"/>
              <a:t>물리적</a:t>
            </a:r>
            <a:r>
              <a:rPr dirty="0"/>
              <a:t> </a:t>
            </a:r>
            <a:r>
              <a:rPr dirty="0" err="1"/>
              <a:t>확대뿐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형평성·포용성·정합성까지</a:t>
            </a:r>
            <a:r>
              <a:rPr dirty="0"/>
              <a:t> </a:t>
            </a:r>
            <a:r>
              <a:rPr dirty="0" err="1"/>
              <a:t>평가</a:t>
            </a:r>
            <a:endParaRPr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400" dirty="0"/>
              <a:t>16.</a:t>
            </a:r>
            <a:r>
              <a:rPr lang="en-US" altLang="ko-KR" sz="3400" dirty="0"/>
              <a:t>5.1</a:t>
            </a:r>
            <a:r>
              <a:rPr lang="ko-KR" altLang="en-US" sz="3400" dirty="0"/>
              <a:t> 지속가능한 에너지 시스템 설계: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분산형·탈탄소·디지털·참여 기반으로의 구조 전환</a:t>
            </a:r>
          </a:p>
          <a:p>
            <a:pPr>
              <a:spcAft>
                <a:spcPts val="400"/>
              </a:spcAft>
              <a:defRPr sz="2200"/>
            </a:pPr>
            <a:r>
              <a:t>요건: 환경성 + 경제성(비용효율/투자) + 사회적 형평 + 회복력(resilience)</a:t>
            </a:r>
          </a:p>
          <a:p>
            <a:pPr>
              <a:spcAft>
                <a:spcPts val="400"/>
              </a:spcAft>
              <a:defRPr sz="2200"/>
            </a:pPr>
            <a:r>
              <a:t>기술뿐 아니라 제도·수용성까지 포함하는 ‘사회기술 시스템’ 접근 필요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500" dirty="0"/>
              <a:t>16.</a:t>
            </a:r>
            <a:r>
              <a:rPr lang="en-US" altLang="ko-KR" sz="3500" dirty="0"/>
              <a:t>5</a:t>
            </a:r>
            <a:r>
              <a:rPr lang="ko-KR" altLang="en-US" sz="3500" dirty="0"/>
              <a:t>.2 기술 요소 ① 재생에너지 중심 전력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태양광·풍력 등은 배출이 낮고 비용 하락으로 경쟁력 강화</a:t>
            </a:r>
          </a:p>
          <a:p>
            <a:pPr>
              <a:spcAft>
                <a:spcPts val="400"/>
              </a:spcAft>
              <a:defRPr sz="2200"/>
            </a:pPr>
            <a:r>
              <a:t>간헐성/입지/망투자가 과제 → 저장·유연성·시장설계와 결합 필요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200" dirty="0"/>
              <a:t>16.</a:t>
            </a:r>
            <a:r>
              <a:rPr lang="en-US" altLang="ko-KR" sz="3200" dirty="0"/>
              <a:t>5</a:t>
            </a:r>
            <a:r>
              <a:rPr lang="ko-KR" altLang="en-US" sz="3200" dirty="0"/>
              <a:t>.2 기술 요소 ② 저장·유연성(ESS, DR, V2G)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저장과 수요반응은 시간 불일치를 완화해 안정성을 유지</a:t>
            </a:r>
          </a:p>
          <a:p>
            <a:pPr>
              <a:spcAft>
                <a:spcPts val="400"/>
              </a:spcAft>
              <a:defRPr sz="2200"/>
            </a:pPr>
            <a:r>
              <a:t>V2G/DR은 수요 측이 계통 조정에 참여하도록 해 분산형 구조를 강화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700" dirty="0"/>
              <a:t>16.</a:t>
            </a:r>
            <a:r>
              <a:rPr lang="en-US" altLang="ko-KR" sz="3700" dirty="0"/>
              <a:t>5</a:t>
            </a:r>
            <a:r>
              <a:rPr lang="ko-KR" altLang="en-US" sz="3700" dirty="0"/>
              <a:t>.2 기술 요소 ③ 수소·탄소중립 연료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전기화가 어려운 부문(철강·화학·해운·항공)의 핵심 대안</a:t>
            </a:r>
          </a:p>
          <a:p>
            <a:pPr>
              <a:spcAft>
                <a:spcPts val="400"/>
              </a:spcAft>
              <a:defRPr sz="2200"/>
            </a:pPr>
            <a:r>
              <a:t>비용·인프라·인증(탄소함량)·수요 창출이 핵심 과제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 dirty="0"/>
              <a:t>16.</a:t>
            </a:r>
            <a:r>
              <a:rPr lang="en-US" altLang="ko-KR" sz="4100" dirty="0"/>
              <a:t>5</a:t>
            </a:r>
            <a:r>
              <a:rPr lang="ko-KR" altLang="en-US" sz="4100" dirty="0"/>
              <a:t>.2 기술 요소 ④ CCUS/DAC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공정배출 등 잔여배출 영역의 보완 대책</a:t>
            </a:r>
          </a:p>
          <a:p>
            <a:pPr>
              <a:spcAft>
                <a:spcPts val="400"/>
              </a:spcAft>
              <a:defRPr sz="2200"/>
            </a:pPr>
            <a:r>
              <a:t>비용·저장부지·MRV/책임체계·수용성 문제로 정책 지원이 병행되어야 함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700" dirty="0"/>
              <a:t>16.</a:t>
            </a:r>
            <a:r>
              <a:rPr lang="en-US" altLang="ko-KR" sz="3700" dirty="0"/>
              <a:t>5</a:t>
            </a:r>
            <a:r>
              <a:rPr lang="ko-KR" altLang="en-US" sz="3700" dirty="0"/>
              <a:t>.2 기술 요소 ⑤ 스마트그리드·디지털화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실시간 데이터 기반 최적화로 효율·복원력 제고</a:t>
            </a:r>
          </a:p>
          <a:p>
            <a:pPr>
              <a:spcAft>
                <a:spcPts val="400"/>
              </a:spcAft>
              <a:defRPr sz="2200"/>
            </a:pPr>
            <a:r>
              <a:t>사이버 취약성 증가 → 보안/복구 프로토콜 내재화 필수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500" dirty="0"/>
              <a:t>16.</a:t>
            </a:r>
            <a:r>
              <a:rPr lang="en-US" altLang="ko-KR" sz="3500" dirty="0"/>
              <a:t>5</a:t>
            </a:r>
            <a:r>
              <a:rPr lang="ko-KR" altLang="en-US" sz="3500" dirty="0"/>
              <a:t>.3 경제 요소 ① 비용효율성과 내부화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감축비용</a:t>
            </a:r>
            <a:r>
              <a:rPr dirty="0"/>
              <a:t>/LCOE </a:t>
            </a:r>
            <a:r>
              <a:rPr dirty="0" err="1"/>
              <a:t>등으로</a:t>
            </a:r>
            <a:r>
              <a:rPr dirty="0"/>
              <a:t> </a:t>
            </a:r>
            <a:r>
              <a:rPr dirty="0" err="1"/>
              <a:t>비용효율적</a:t>
            </a:r>
            <a:r>
              <a:rPr dirty="0"/>
              <a:t>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선택</a:t>
            </a:r>
            <a:endParaRPr dirty="0"/>
          </a:p>
          <a:p>
            <a:pPr>
              <a:spcAft>
                <a:spcPts val="400"/>
              </a:spcAft>
              <a:defRPr sz="2200"/>
            </a:pPr>
            <a:r>
              <a:rPr dirty="0" err="1"/>
              <a:t>외부비용</a:t>
            </a:r>
            <a:r>
              <a:rPr dirty="0"/>
              <a:t> </a:t>
            </a:r>
            <a:r>
              <a:rPr dirty="0" err="1"/>
              <a:t>내부화</a:t>
            </a:r>
            <a:r>
              <a:rPr dirty="0"/>
              <a:t>(</a:t>
            </a:r>
            <a:r>
              <a:rPr dirty="0" err="1"/>
              <a:t>탄소세</a:t>
            </a:r>
            <a:r>
              <a:rPr dirty="0"/>
              <a:t>/ETS 등) </a:t>
            </a:r>
            <a:r>
              <a:rPr dirty="0" err="1"/>
              <a:t>없이는</a:t>
            </a:r>
            <a:r>
              <a:rPr dirty="0"/>
              <a:t>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왜곡</a:t>
            </a:r>
            <a:r>
              <a:rPr dirty="0"/>
              <a:t> →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지연</a:t>
            </a:r>
            <a:endParaRPr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500" dirty="0"/>
              <a:t>16.</a:t>
            </a:r>
            <a:r>
              <a:rPr lang="en-US" altLang="ko-KR" sz="3500" dirty="0"/>
              <a:t>5</a:t>
            </a:r>
            <a:r>
              <a:rPr lang="ko-KR" altLang="en-US" sz="3500" dirty="0"/>
              <a:t>.3 장기 평가틀: 사회후생과 불확실성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비용이</a:t>
            </a:r>
            <a:r>
              <a:rPr dirty="0"/>
              <a:t> </a:t>
            </a:r>
            <a:r>
              <a:rPr dirty="0" err="1"/>
              <a:t>높아도</a:t>
            </a:r>
            <a:r>
              <a:rPr dirty="0"/>
              <a:t> </a:t>
            </a:r>
            <a:r>
              <a:rPr dirty="0" err="1"/>
              <a:t>건강·오염</a:t>
            </a:r>
            <a:r>
              <a:rPr dirty="0"/>
              <a:t> </a:t>
            </a:r>
            <a:r>
              <a:rPr dirty="0" err="1"/>
              <a:t>피해가</a:t>
            </a:r>
            <a:r>
              <a:rPr dirty="0"/>
              <a:t> </a:t>
            </a:r>
            <a:r>
              <a:rPr dirty="0" err="1"/>
              <a:t>적고</a:t>
            </a:r>
            <a:r>
              <a:rPr dirty="0"/>
              <a:t> </a:t>
            </a:r>
            <a:r>
              <a:rPr dirty="0" err="1"/>
              <a:t>유지비가</a:t>
            </a:r>
            <a:r>
              <a:rPr dirty="0"/>
              <a:t> </a:t>
            </a:r>
            <a:r>
              <a:rPr dirty="0" err="1"/>
              <a:t>낮으면</a:t>
            </a:r>
            <a:r>
              <a:rPr dirty="0"/>
              <a:t> </a:t>
            </a:r>
            <a:r>
              <a:rPr dirty="0" err="1"/>
              <a:t>사회적</a:t>
            </a:r>
            <a:r>
              <a:rPr dirty="0"/>
              <a:t> </a:t>
            </a:r>
            <a:r>
              <a:rPr dirty="0" err="1"/>
              <a:t>순편익이</a:t>
            </a:r>
            <a:r>
              <a:rPr dirty="0"/>
              <a:t> 클 수 </a:t>
            </a:r>
            <a:r>
              <a:rPr dirty="0" err="1"/>
              <a:t>있음</a:t>
            </a:r>
            <a:endParaRPr dirty="0"/>
          </a:p>
          <a:p>
            <a:pPr>
              <a:spcAft>
                <a:spcPts val="400"/>
              </a:spcAft>
              <a:defRPr sz="2200"/>
            </a:pPr>
            <a:r>
              <a:rPr dirty="0" err="1"/>
              <a:t>사회적</a:t>
            </a:r>
            <a:r>
              <a:rPr dirty="0"/>
              <a:t> </a:t>
            </a:r>
            <a:r>
              <a:rPr dirty="0" err="1"/>
              <a:t>할인율</a:t>
            </a:r>
            <a:r>
              <a:rPr dirty="0"/>
              <a:t>, </a:t>
            </a:r>
            <a:r>
              <a:rPr dirty="0" err="1"/>
              <a:t>옵션가치</a:t>
            </a:r>
            <a:r>
              <a:rPr dirty="0"/>
              <a:t>(</a:t>
            </a:r>
            <a:r>
              <a:rPr dirty="0" err="1"/>
              <a:t>미래</a:t>
            </a:r>
            <a:r>
              <a:rPr dirty="0"/>
              <a:t> </a:t>
            </a:r>
            <a:r>
              <a:rPr dirty="0" err="1"/>
              <a:t>선택권</a:t>
            </a:r>
            <a:r>
              <a:rPr dirty="0"/>
              <a:t>), </a:t>
            </a:r>
            <a:r>
              <a:rPr dirty="0" err="1"/>
              <a:t>불확실성</a:t>
            </a:r>
            <a:r>
              <a:rPr dirty="0"/>
              <a:t> 하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관점이</a:t>
            </a:r>
            <a:r>
              <a:rPr dirty="0"/>
              <a:t> </a:t>
            </a:r>
            <a:r>
              <a:rPr dirty="0" err="1"/>
              <a:t>중요</a:t>
            </a:r>
            <a:endParaRPr dirty="0"/>
          </a:p>
          <a:p>
            <a:pPr>
              <a:spcAft>
                <a:spcPts val="400"/>
              </a:spcAft>
              <a:defRPr sz="2200"/>
            </a:pPr>
            <a:r>
              <a:rPr dirty="0" err="1"/>
              <a:t>정책은</a:t>
            </a:r>
            <a:r>
              <a:rPr dirty="0"/>
              <a:t>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비용만이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장기</a:t>
            </a:r>
            <a:r>
              <a:rPr dirty="0"/>
              <a:t> </a:t>
            </a:r>
            <a:r>
              <a:rPr dirty="0" err="1"/>
              <a:t>편익</a:t>
            </a:r>
            <a:r>
              <a:rPr dirty="0"/>
              <a:t>(</a:t>
            </a:r>
            <a:r>
              <a:rPr dirty="0" err="1"/>
              <a:t>건강·생태·안보·혁신</a:t>
            </a:r>
            <a:r>
              <a:rPr dirty="0"/>
              <a:t>)을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평가</a:t>
            </a:r>
            <a:endParaRPr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900" dirty="0"/>
              <a:t>16.</a:t>
            </a:r>
            <a:r>
              <a:rPr lang="en-US" altLang="ko-KR" sz="3900" dirty="0"/>
              <a:t>5</a:t>
            </a:r>
            <a:r>
              <a:rPr lang="ko-KR" altLang="en-US" sz="3900" dirty="0"/>
              <a:t>.3 경제 요소 ② 투자유인과 금융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rPr dirty="0" err="1"/>
              <a:t>전환은</a:t>
            </a:r>
            <a:r>
              <a:rPr dirty="0"/>
              <a:t> </a:t>
            </a:r>
            <a:r>
              <a:rPr dirty="0" err="1"/>
              <a:t>대규모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 → </a:t>
            </a:r>
            <a:r>
              <a:rPr dirty="0" err="1"/>
              <a:t>예측가능한</a:t>
            </a:r>
            <a:r>
              <a:rPr dirty="0"/>
              <a:t> </a:t>
            </a:r>
            <a:r>
              <a:rPr dirty="0" err="1"/>
              <a:t>수익모델이</a:t>
            </a:r>
            <a:r>
              <a:rPr dirty="0"/>
              <a:t> </a:t>
            </a:r>
            <a:r>
              <a:rPr dirty="0" err="1"/>
              <a:t>민간</a:t>
            </a:r>
            <a:r>
              <a:rPr dirty="0"/>
              <a:t> </a:t>
            </a:r>
            <a:r>
              <a:rPr dirty="0" err="1"/>
              <a:t>참여의</a:t>
            </a:r>
            <a:r>
              <a:rPr dirty="0"/>
              <a:t> </a:t>
            </a:r>
            <a:r>
              <a:rPr dirty="0" err="1"/>
              <a:t>조건</a:t>
            </a:r>
            <a:endParaRPr dirty="0"/>
          </a:p>
          <a:p>
            <a:pPr>
              <a:spcAft>
                <a:spcPts val="400"/>
              </a:spcAft>
              <a:defRPr sz="2200"/>
            </a:pPr>
            <a:r>
              <a:rPr dirty="0" err="1"/>
              <a:t>녹색채권·보증·FIT</a:t>
            </a:r>
            <a:r>
              <a:rPr dirty="0"/>
              <a:t>/RPS </a:t>
            </a:r>
            <a:r>
              <a:rPr dirty="0" err="1"/>
              <a:t>등으로</a:t>
            </a:r>
            <a:r>
              <a:rPr dirty="0"/>
              <a:t> </a:t>
            </a:r>
            <a:r>
              <a:rPr dirty="0" err="1"/>
              <a:t>리스크를</a:t>
            </a:r>
            <a:r>
              <a:rPr dirty="0"/>
              <a:t> </a:t>
            </a:r>
            <a:r>
              <a:rPr dirty="0" err="1"/>
              <a:t>낮추고</a:t>
            </a:r>
            <a:r>
              <a:rPr dirty="0"/>
              <a:t> </a:t>
            </a:r>
            <a:r>
              <a:rPr dirty="0" err="1"/>
              <a:t>자본을</a:t>
            </a:r>
            <a:r>
              <a:rPr dirty="0"/>
              <a:t> </a:t>
            </a:r>
            <a:r>
              <a:rPr dirty="0" err="1"/>
              <a:t>유인</a:t>
            </a:r>
            <a:endParaRPr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800" dirty="0"/>
              <a:t>16.</a:t>
            </a:r>
            <a:r>
              <a:rPr lang="en-US" altLang="ko-KR" sz="3800" dirty="0"/>
              <a:t>5</a:t>
            </a:r>
            <a:r>
              <a:rPr lang="ko-KR" altLang="en-US" sz="3800" dirty="0"/>
              <a:t>.4 제도 요소: 정책 혼합과 정합성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가격 기반(탄소세/ETS) + 양적 규제(RPS/코드/기준) + 투자/혁신 정책의 결합</a:t>
            </a:r>
          </a:p>
          <a:p>
            <a:pPr>
              <a:spcAft>
                <a:spcPts val="400"/>
              </a:spcAft>
              <a:defRPr sz="2200"/>
            </a:pPr>
            <a:r>
              <a:t>형평성·참여 보장 없이는 수용성과 정당성이 약화</a:t>
            </a:r>
          </a:p>
          <a:p>
            <a:pPr>
              <a:spcAft>
                <a:spcPts val="400"/>
              </a:spcAft>
              <a:defRPr sz="2200"/>
            </a:pPr>
            <a:r>
              <a:t>에너지·환경·산업·복지·재정 정책 간 목표 일관성이 투자유인을 좌우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000" dirty="0"/>
              <a:t>16.</a:t>
            </a:r>
            <a:r>
              <a:rPr lang="en-US" altLang="ko-KR" sz="3000" dirty="0"/>
              <a:t>5</a:t>
            </a:r>
            <a:r>
              <a:rPr lang="ko-KR" altLang="en-US" sz="3000" dirty="0"/>
              <a:t>.4 정책 혼합 사례: FIT→입찰, RPS, 기준·코드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기술 초기: 수익 불확실성을 낮추는 지원(FIT 등)으로 시장 형성</a:t>
            </a:r>
          </a:p>
          <a:p>
            <a:pPr>
              <a:spcAft>
                <a:spcPts val="400"/>
              </a:spcAft>
              <a:defRPr sz="2200"/>
            </a:pPr>
            <a:r>
              <a:t>성숙 단계: 경쟁입찰로 비용을 낮추고 시장 유연성을 강화</a:t>
            </a:r>
          </a:p>
          <a:p>
            <a:pPr>
              <a:spcAft>
                <a:spcPts val="400"/>
              </a:spcAft>
              <a:defRPr sz="2200"/>
            </a:pPr>
            <a:r>
              <a:t>효율 기준(제품/건물 코드)과 탄소가격은 상호 보완적으로 결합 가능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500" dirty="0"/>
              <a:t>16.</a:t>
            </a:r>
            <a:r>
              <a:rPr lang="en-US" altLang="ko-KR" sz="3500" dirty="0"/>
              <a:t>5</a:t>
            </a:r>
            <a:r>
              <a:rPr lang="ko-KR" altLang="en-US" sz="3500" dirty="0"/>
              <a:t>.5 회복력과 적응성: 기후·사이버 대비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극한기상은 출력 저하·냉각수 부족·송전 고장 등으로 정전을 유발할 수 있음</a:t>
            </a:r>
          </a:p>
          <a:p>
            <a:pPr>
              <a:spcAft>
                <a:spcPts val="400"/>
              </a:spcAft>
              <a:defRPr sz="2200"/>
            </a:pPr>
            <a:r>
              <a:t>물리(인프라 강화) + 운영(DER·마이크로그리드) + 제도(리스크 기반 계획) 통합</a:t>
            </a:r>
          </a:p>
          <a:p>
            <a:pPr>
              <a:spcAft>
                <a:spcPts val="400"/>
              </a:spcAft>
              <a:defRPr sz="2200"/>
            </a:pPr>
            <a:r>
              <a:t>스마트그리드 확산은 사이버 위험도 확대 → 다중 보안계층·복구 프로토콜 필요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200" dirty="0"/>
              <a:t>16.</a:t>
            </a:r>
            <a:r>
              <a:rPr lang="en-US" altLang="ko-KR" sz="4200" dirty="0"/>
              <a:t>6</a:t>
            </a:r>
            <a:r>
              <a:rPr lang="ko-KR" altLang="en-US" sz="4200" dirty="0"/>
              <a:t> 에너지 접근성과 형평성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접근성은 ‘안정적·저렴·청정·지속가능’한 서비스 이용 권리로 확장</a:t>
            </a:r>
          </a:p>
          <a:p>
            <a:pPr>
              <a:spcAft>
                <a:spcPts val="400"/>
              </a:spcAft>
              <a:defRPr sz="2200"/>
            </a:pPr>
            <a:r>
              <a:t>에너지빈곤: 소득 대비 에너지비용 과다 또는 적정 난방·냉방 불가 상태</a:t>
            </a:r>
          </a:p>
          <a:p>
            <a:pPr>
              <a:spcAft>
                <a:spcPts val="400"/>
              </a:spcAft>
              <a:defRPr sz="2200"/>
            </a:pPr>
            <a:r>
              <a:t>정책: 타깃 보조금, 바우처, 사회요금제, 분산형 전원/청정조리기기 보급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600" dirty="0"/>
              <a:t>16.</a:t>
            </a:r>
            <a:r>
              <a:rPr lang="en-US" altLang="ko-KR" sz="3600" dirty="0"/>
              <a:t>6</a:t>
            </a:r>
            <a:r>
              <a:rPr lang="ko-KR" altLang="en-US" sz="3600" dirty="0"/>
              <a:t> 정책 설계의 분배정의: 역진성 대응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탄소세·요금개편은 평균적으로 효율적일 수 있으나 저소득층에 더 큰 부담(역진성) 가능</a:t>
            </a:r>
          </a:p>
          <a:p>
            <a:pPr>
              <a:spcAft>
                <a:spcPts val="400"/>
              </a:spcAft>
              <a:defRPr sz="2200"/>
            </a:pPr>
            <a:r>
              <a:t>대응: 현금환급(탄소배당), 에너지바우처, 주거 효율개선 지원, 사회요금제</a:t>
            </a:r>
          </a:p>
          <a:p>
            <a:pPr>
              <a:spcAft>
                <a:spcPts val="400"/>
              </a:spcAft>
              <a:defRPr sz="2200"/>
            </a:pPr>
            <a:r>
              <a:t>핵심: 효율성 + 형평성 동시 달성이 정책의 지속가능성을 좌우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800" dirty="0"/>
              <a:t>16.</a:t>
            </a:r>
            <a:r>
              <a:rPr lang="en-US" altLang="ko-KR" sz="3800" dirty="0"/>
              <a:t>7</a:t>
            </a:r>
            <a:r>
              <a:rPr lang="ko-KR" altLang="en-US" sz="3800" dirty="0"/>
              <a:t> 사회적 수용성: 시장·정책·지역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시장 수용성: 기술이 자발적으로 채택되는 정도</a:t>
            </a:r>
          </a:p>
          <a:p>
            <a:pPr>
              <a:spcAft>
                <a:spcPts val="400"/>
              </a:spcAft>
              <a:defRPr sz="2200"/>
            </a:pPr>
            <a:r>
              <a:t>정책 수용성: 정부 정책에 대한 신뢰·지지</a:t>
            </a:r>
          </a:p>
          <a:p>
            <a:pPr>
              <a:spcAft>
                <a:spcPts val="400"/>
              </a:spcAft>
              <a:defRPr sz="2200"/>
            </a:pPr>
            <a:r>
              <a:t>지역 수용성: 입지 갈등(송전선·풍력·태양광 등)이 인프라 실현을 좌우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500"/>
              <a:t>지역 수용성 갈등: NIMBY/BANANA와 해법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반대는 정보 비대칭, 절차 불투명, 보상 불균형 등 복합 결과인 경우가 많음</a:t>
            </a:r>
          </a:p>
          <a:p>
            <a:pPr>
              <a:spcAft>
                <a:spcPts val="400"/>
              </a:spcAft>
              <a:defRPr sz="2200"/>
            </a:pPr>
            <a:r>
              <a:t>해법: 조기 정보 제공, 숙의·의견수렴, 이익공유, 공동소유 구조, 절차적 정당성 확보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800" dirty="0"/>
              <a:t>16.</a:t>
            </a:r>
            <a:r>
              <a:rPr lang="en-US" altLang="ko-KR" sz="3800" dirty="0"/>
              <a:t>8</a:t>
            </a:r>
            <a:r>
              <a:rPr lang="ko-KR" altLang="en-US" sz="3800" dirty="0"/>
              <a:t> 국제협력: 기술·재정·시장 통합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기후·기술 격차·에너지빈곤은 국경을 초월 → 국제협력과 거버넌스가 필수</a:t>
            </a:r>
          </a:p>
          <a:p>
            <a:pPr>
              <a:spcAft>
                <a:spcPts val="400"/>
              </a:spcAft>
              <a:defRPr sz="2200"/>
            </a:pPr>
            <a:r>
              <a:t>기술이전/역량강화 + 재정지원(보증/융자/블렌디드) + 인프라/시장 연계가 핵심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100" dirty="0"/>
              <a:t>16.</a:t>
            </a:r>
            <a:r>
              <a:rPr lang="en-US" altLang="ko-KR" sz="4100" dirty="0"/>
              <a:t>9</a:t>
            </a:r>
            <a:r>
              <a:rPr lang="ko-KR" altLang="en-US" sz="4100" dirty="0"/>
              <a:t> SDGs·녹색성장·ESG 연계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SDG7은 접근성·재생 확대·효율 향상을 핵심 목표로 제시</a:t>
            </a:r>
          </a:p>
          <a:p>
            <a:pPr>
              <a:spcAft>
                <a:spcPts val="400"/>
              </a:spcAft>
              <a:defRPr sz="2200"/>
            </a:pPr>
            <a:r>
              <a:t>녹색성장: 전환을 성장·일자리 전략과 결합</a:t>
            </a:r>
          </a:p>
          <a:p>
            <a:pPr>
              <a:spcAft>
                <a:spcPts val="400"/>
              </a:spcAft>
              <a:defRPr sz="2200"/>
            </a:pPr>
            <a:r>
              <a:t>ESG: 배출·에너지전환이 투자/리스크 관리의 핵심 평가 기준으로 제도화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300"/>
              <a:t>정리: 지속가능한 에너지 전환의 통합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2200"/>
            </a:pPr>
            <a:r>
              <a:t>기술 + 경제 + 제도(정합성/거버넌스) 결합</a:t>
            </a:r>
          </a:p>
          <a:p>
            <a:pPr>
              <a:spcAft>
                <a:spcPts val="400"/>
              </a:spcAft>
              <a:defRPr sz="2200"/>
            </a:pPr>
            <a:r>
              <a:t>형평성(접근/빈곤/정의로운 전환)과 수용성(절차적 정당성)이 성패를 좌우</a:t>
            </a:r>
          </a:p>
          <a:p>
            <a:pPr>
              <a:spcAft>
                <a:spcPts val="400"/>
              </a:spcAft>
              <a:defRPr sz="2200"/>
            </a:pPr>
            <a:r>
              <a:t>국제협력은 기술·재정·시장 통합을 통해 실행력을 강화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제16장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2085</Words>
  <Application>Microsoft Office PowerPoint</Application>
  <PresentationFormat>와이드스크린</PresentationFormat>
  <Paragraphs>228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4" baseType="lpstr">
      <vt:lpstr>나눔스퀘어 네오 OTF Heavy</vt:lpstr>
      <vt:lpstr>맑은 고딕</vt:lpstr>
      <vt:lpstr>Arial</vt:lpstr>
      <vt:lpstr>Calibri</vt:lpstr>
      <vt:lpstr>Office Theme</vt:lpstr>
      <vt:lpstr>PowerPoint 프레젠테이션</vt:lpstr>
      <vt:lpstr>제16장  에너지와 지속가능성</vt:lpstr>
      <vt:lpstr>학습목표</vt:lpstr>
      <vt:lpstr>16.1 서론: 왜 ‘에너지+지속가능성’인가</vt:lpstr>
      <vt:lpstr>16.1 ‘문제’이자 ‘해법’으로서의 에너지</vt:lpstr>
      <vt:lpstr>16.2 지속가능성의 개념과 역사</vt:lpstr>
      <vt:lpstr>16.2.1 지속가능한 발전 정의의 핵심 포인트</vt:lpstr>
      <vt:lpstr>16.2.2 지속가능성의 3대 축(삼각형)</vt:lpstr>
      <vt:lpstr>16.2.3 에너지와 지속가능성(환경)</vt:lpstr>
      <vt:lpstr>16.2.3 에너지와 지속가능성(경제)</vt:lpstr>
      <vt:lpstr>16.2.3 에너지와 지속가능성(사회)</vt:lpstr>
      <vt:lpstr>16.3 이론: 약한 vs 강한 지속가능성</vt:lpstr>
      <vt:lpstr>약한 지속가능성(Weak): 정책 함의</vt:lpstr>
      <vt:lpstr>강한 지속가능성(Strong): 정책 함의</vt:lpstr>
      <vt:lpstr>16.4 지속가능성 지표(개요)</vt:lpstr>
      <vt:lpstr>16.4.1 총에너지 소비: 해석 포인트</vt:lpstr>
      <vt:lpstr>16.4.1 1인당 에너지 소비: 형평성과 생활수준</vt:lpstr>
      <vt:lpstr>16.4.2 탈탄소화 지수(탄소집약도)</vt:lpstr>
      <vt:lpstr>16.4.2 부문별 탈탄소화: 전력 vs 산업·수송</vt:lpstr>
      <vt:lpstr>16.4.4 SDG7/SEforALL 지표</vt:lpstr>
      <vt:lpstr>16.5.1 지속가능한 에너지 시스템 설계: 개요</vt:lpstr>
      <vt:lpstr>16.5.2 기술 요소 ① 재생에너지 중심 전력</vt:lpstr>
      <vt:lpstr>16.5.2 기술 요소 ② 저장·유연성(ESS, DR, V2G)</vt:lpstr>
      <vt:lpstr>16.5.2 기술 요소 ③ 수소·탄소중립 연료</vt:lpstr>
      <vt:lpstr>16.5.2 기술 요소 ④ CCUS/DAC</vt:lpstr>
      <vt:lpstr>16.5.2 기술 요소 ⑤ 스마트그리드·디지털화</vt:lpstr>
      <vt:lpstr>16.5.3 경제 요소 ① 비용효율성과 내부화</vt:lpstr>
      <vt:lpstr>16.5.3 장기 평가틀: 사회후생과 불확실성</vt:lpstr>
      <vt:lpstr>16.5.3 경제 요소 ② 투자유인과 금융</vt:lpstr>
      <vt:lpstr>16.5.4 제도 요소: 정책 혼합과 정합성</vt:lpstr>
      <vt:lpstr>16.5.4 정책 혼합 사례: FIT→입찰, RPS, 기준·코드</vt:lpstr>
      <vt:lpstr>16.5.5 회복력과 적응성: 기후·사이버 대비</vt:lpstr>
      <vt:lpstr>16.6 에너지 접근성과 형평성</vt:lpstr>
      <vt:lpstr>16.6 정책 설계의 분배정의: 역진성 대응</vt:lpstr>
      <vt:lpstr>16.7 사회적 수용성: 시장·정책·지역</vt:lpstr>
      <vt:lpstr>지역 수용성 갈등: NIMBY/BANANA와 해법</vt:lpstr>
      <vt:lpstr>16.8 국제협력: 기술·재정·시장 통합</vt:lpstr>
      <vt:lpstr>16.9 SDGs·녹색성장·ESG 연계</vt:lpstr>
      <vt:lpstr>정리: 지속가능한 에너지 전환의 통합 설계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donghun kim</dc:creator>
  <cp:lastModifiedBy>장 규식</cp:lastModifiedBy>
  <cp:revision>7</cp:revision>
  <dcterms:created xsi:type="dcterms:W3CDTF">2026-02-24T13:05:04Z</dcterms:created>
  <dcterms:modified xsi:type="dcterms:W3CDTF">2026-02-25T21:45:05Z</dcterms:modified>
</cp:coreProperties>
</file>