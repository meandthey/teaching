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84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9" r:id="rId12"/>
    <p:sldId id="270" r:id="rId13"/>
    <p:sldId id="272" r:id="rId14"/>
    <p:sldId id="271" r:id="rId15"/>
    <p:sldId id="273" r:id="rId16"/>
    <p:sldId id="275" r:id="rId17"/>
    <p:sldId id="274" r:id="rId18"/>
    <p:sldId id="276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2579"/>
    <p:restoredTop sz="90000"/>
  </p:normalViewPr>
  <p:slideViewPr>
    <p:cSldViewPr snapToGrid="0" snapToObjects="1">
      <p:cViewPr varScale="1">
        <p:scale>
          <a:sx n="99" d="100"/>
          <a:sy n="99" d="100"/>
        </p:scale>
        <p:origin x="1170" y="8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54C7DCF6-3D44-4C4E-9E80-6541324384C9}"/>
    <pc:docChg chg="undo custSel delSld modSld">
      <pc:chgData name="donghun kim" userId="ea4930dfa3cfe607" providerId="LiveId" clId="{54C7DCF6-3D44-4C4E-9E80-6541324384C9}" dt="2026-02-23T04:32:14.045" v="176" actId="14100"/>
      <pc:docMkLst>
        <pc:docMk/>
      </pc:docMkLst>
      <pc:sldChg chg="modSp mod">
        <pc:chgData name="donghun kim" userId="ea4930dfa3cfe607" providerId="LiveId" clId="{54C7DCF6-3D44-4C4E-9E80-6541324384C9}" dt="2026-02-23T04:32:14.045" v="176" actId="14100"/>
        <pc:sldMkLst>
          <pc:docMk/>
          <pc:sldMk cId="594673986" sldId="257"/>
        </pc:sldMkLst>
        <pc:picChg chg="mod">
          <ac:chgData name="donghun kim" userId="ea4930dfa3cfe607" providerId="LiveId" clId="{54C7DCF6-3D44-4C4E-9E80-6541324384C9}" dt="2026-02-23T04:32:14.045" v="176" actId="14100"/>
          <ac:picMkLst>
            <pc:docMk/>
            <pc:sldMk cId="594673986" sldId="257"/>
            <ac:picMk id="5" creationId="{00000000-0000-0000-0000-000000000000}"/>
          </ac:picMkLst>
        </pc:picChg>
      </pc:sldChg>
      <pc:sldChg chg="modSp mod">
        <pc:chgData name="donghun kim" userId="ea4930dfa3cfe607" providerId="LiveId" clId="{54C7DCF6-3D44-4C4E-9E80-6541324384C9}" dt="2026-02-23T02:28:24.209" v="9" actId="6549"/>
        <pc:sldMkLst>
          <pc:docMk/>
          <pc:sldMk cId="577451710" sldId="258"/>
        </pc:sldMkLst>
        <pc:spChg chg="mod">
          <ac:chgData name="donghun kim" userId="ea4930dfa3cfe607" providerId="LiveId" clId="{54C7DCF6-3D44-4C4E-9E80-6541324384C9}" dt="2026-02-23T02:28:24.209" v="9" actId="6549"/>
          <ac:spMkLst>
            <pc:docMk/>
            <pc:sldMk cId="577451710" sldId="258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29:31.085" v="33" actId="20577"/>
        <pc:sldMkLst>
          <pc:docMk/>
          <pc:sldMk cId="325588760" sldId="259"/>
        </pc:sldMkLst>
        <pc:spChg chg="mod">
          <ac:chgData name="donghun kim" userId="ea4930dfa3cfe607" providerId="LiveId" clId="{54C7DCF6-3D44-4C4E-9E80-6541324384C9}" dt="2026-02-23T02:28:39.940" v="14" actId="6549"/>
          <ac:spMkLst>
            <pc:docMk/>
            <pc:sldMk cId="325588760" sldId="259"/>
            <ac:spMk id="2" creationId="{00000000-0000-0000-0000-000000000000}"/>
          </ac:spMkLst>
        </pc:spChg>
        <pc:spChg chg="mod">
          <ac:chgData name="donghun kim" userId="ea4930dfa3cfe607" providerId="LiveId" clId="{54C7DCF6-3D44-4C4E-9E80-6541324384C9}" dt="2026-02-23T02:29:31.085" v="33" actId="20577"/>
          <ac:spMkLst>
            <pc:docMk/>
            <pc:sldMk cId="325588760" sldId="259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29:57.848" v="37" actId="20577"/>
        <pc:sldMkLst>
          <pc:docMk/>
          <pc:sldMk cId="3051861737" sldId="260"/>
        </pc:sldMkLst>
        <pc:spChg chg="mod">
          <ac:chgData name="donghun kim" userId="ea4930dfa3cfe607" providerId="LiveId" clId="{54C7DCF6-3D44-4C4E-9E80-6541324384C9}" dt="2026-02-23T02:29:57.848" v="37" actId="20577"/>
          <ac:spMkLst>
            <pc:docMk/>
            <pc:sldMk cId="3051861737" sldId="260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1:17.926" v="62" actId="14100"/>
        <pc:sldMkLst>
          <pc:docMk/>
          <pc:sldMk cId="1638790236" sldId="261"/>
        </pc:sldMkLst>
        <pc:spChg chg="mod">
          <ac:chgData name="donghun kim" userId="ea4930dfa3cfe607" providerId="LiveId" clId="{54C7DCF6-3D44-4C4E-9E80-6541324384C9}" dt="2026-02-23T02:30:56.866" v="61" actId="14100"/>
          <ac:spMkLst>
            <pc:docMk/>
            <pc:sldMk cId="1638790236" sldId="261"/>
            <ac:spMk id="10" creationId="{00000000-0000-0000-0000-000000000000}"/>
          </ac:spMkLst>
        </pc:spChg>
        <pc:spChg chg="mod">
          <ac:chgData name="donghun kim" userId="ea4930dfa3cfe607" providerId="LiveId" clId="{54C7DCF6-3D44-4C4E-9E80-6541324384C9}" dt="2026-02-23T02:31:17.926" v="62" actId="14100"/>
          <ac:spMkLst>
            <pc:docMk/>
            <pc:sldMk cId="1638790236" sldId="261"/>
            <ac:spMk id="12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2:20.087" v="82" actId="6549"/>
        <pc:sldMkLst>
          <pc:docMk/>
          <pc:sldMk cId="1725017286" sldId="262"/>
        </pc:sldMkLst>
        <pc:spChg chg="mod">
          <ac:chgData name="donghun kim" userId="ea4930dfa3cfe607" providerId="LiveId" clId="{54C7DCF6-3D44-4C4E-9E80-6541324384C9}" dt="2026-02-23T02:32:20.087" v="82" actId="6549"/>
          <ac:spMkLst>
            <pc:docMk/>
            <pc:sldMk cId="1725017286" sldId="262"/>
            <ac:spMk id="3" creationId="{00000000-0000-0000-0000-000000000000}"/>
          </ac:spMkLst>
        </pc:spChg>
      </pc:sldChg>
      <pc:sldChg chg="modSp del mod">
        <pc:chgData name="donghun kim" userId="ea4930dfa3cfe607" providerId="LiveId" clId="{54C7DCF6-3D44-4C4E-9E80-6541324384C9}" dt="2026-02-23T02:33:41.607" v="85" actId="47"/>
        <pc:sldMkLst>
          <pc:docMk/>
          <pc:sldMk cId="3891585378" sldId="263"/>
        </pc:sldMkLst>
        <pc:spChg chg="mod">
          <ac:chgData name="donghun kim" userId="ea4930dfa3cfe607" providerId="LiveId" clId="{54C7DCF6-3D44-4C4E-9E80-6541324384C9}" dt="2026-02-23T02:33:20.662" v="83" actId="14100"/>
          <ac:spMkLst>
            <pc:docMk/>
            <pc:sldMk cId="3891585378" sldId="263"/>
            <ac:spMk id="11" creationId="{00000000-0000-0000-0000-000000000000}"/>
          </ac:spMkLst>
        </pc:spChg>
        <pc:spChg chg="mod">
          <ac:chgData name="donghun kim" userId="ea4930dfa3cfe607" providerId="LiveId" clId="{54C7DCF6-3D44-4C4E-9E80-6541324384C9}" dt="2026-02-23T02:33:28.017" v="84" actId="14100"/>
          <ac:spMkLst>
            <pc:docMk/>
            <pc:sldMk cId="3891585378" sldId="263"/>
            <ac:spMk id="12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4:46.030" v="91" actId="14100"/>
        <pc:sldMkLst>
          <pc:docMk/>
          <pc:sldMk cId="2274004847" sldId="267"/>
        </pc:sldMkLst>
        <pc:spChg chg="mod">
          <ac:chgData name="donghun kim" userId="ea4930dfa3cfe607" providerId="LiveId" clId="{54C7DCF6-3D44-4C4E-9E80-6541324384C9}" dt="2026-02-23T02:34:15.216" v="86" actId="6549"/>
          <ac:spMkLst>
            <pc:docMk/>
            <pc:sldMk cId="2274004847" sldId="267"/>
            <ac:spMk id="3" creationId="{00000000-0000-0000-0000-000000000000}"/>
          </ac:spMkLst>
        </pc:spChg>
        <pc:spChg chg="mod">
          <ac:chgData name="donghun kim" userId="ea4930dfa3cfe607" providerId="LiveId" clId="{54C7DCF6-3D44-4C4E-9E80-6541324384C9}" dt="2026-02-23T02:34:30.176" v="90" actId="1076"/>
          <ac:spMkLst>
            <pc:docMk/>
            <pc:sldMk cId="2274004847" sldId="267"/>
            <ac:spMk id="15" creationId="{00000000-0000-0000-0000-000000000000}"/>
          </ac:spMkLst>
        </pc:spChg>
        <pc:spChg chg="mod">
          <ac:chgData name="donghun kim" userId="ea4930dfa3cfe607" providerId="LiveId" clId="{54C7DCF6-3D44-4C4E-9E80-6541324384C9}" dt="2026-02-23T02:34:46.030" v="91" actId="14100"/>
          <ac:spMkLst>
            <pc:docMk/>
            <pc:sldMk cId="2274004847" sldId="267"/>
            <ac:spMk id="16" creationId="{00000000-0000-0000-0000-000000000000}"/>
          </ac:spMkLst>
        </pc:spChg>
      </pc:sldChg>
      <pc:sldChg chg="modSp del mod">
        <pc:chgData name="donghun kim" userId="ea4930dfa3cfe607" providerId="LiveId" clId="{54C7DCF6-3D44-4C4E-9E80-6541324384C9}" dt="2026-02-23T02:35:58.403" v="98" actId="47"/>
        <pc:sldMkLst>
          <pc:docMk/>
          <pc:sldMk cId="2827886838" sldId="268"/>
        </pc:sldMkLst>
        <pc:spChg chg="mod">
          <ac:chgData name="donghun kim" userId="ea4930dfa3cfe607" providerId="LiveId" clId="{54C7DCF6-3D44-4C4E-9E80-6541324384C9}" dt="2026-02-23T02:35:25.486" v="97" actId="6549"/>
          <ac:spMkLst>
            <pc:docMk/>
            <pc:sldMk cId="2827886838" sldId="268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6:15.174" v="120" actId="6549"/>
        <pc:sldMkLst>
          <pc:docMk/>
          <pc:sldMk cId="835321015" sldId="269"/>
        </pc:sldMkLst>
        <pc:spChg chg="mod">
          <ac:chgData name="donghun kim" userId="ea4930dfa3cfe607" providerId="LiveId" clId="{54C7DCF6-3D44-4C4E-9E80-6541324384C9}" dt="2026-02-23T02:36:15.174" v="120" actId="6549"/>
          <ac:spMkLst>
            <pc:docMk/>
            <pc:sldMk cId="835321015" sldId="269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6:39.171" v="125" actId="6549"/>
        <pc:sldMkLst>
          <pc:docMk/>
          <pc:sldMk cId="2537531866" sldId="270"/>
        </pc:sldMkLst>
        <pc:spChg chg="mod">
          <ac:chgData name="donghun kim" userId="ea4930dfa3cfe607" providerId="LiveId" clId="{54C7DCF6-3D44-4C4E-9E80-6541324384C9}" dt="2026-02-23T02:36:39.171" v="125" actId="6549"/>
          <ac:spMkLst>
            <pc:docMk/>
            <pc:sldMk cId="2537531866" sldId="270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40:25.444" v="139" actId="6549"/>
        <pc:sldMkLst>
          <pc:docMk/>
          <pc:sldMk cId="4039326072" sldId="271"/>
        </pc:sldMkLst>
        <pc:spChg chg="mod">
          <ac:chgData name="donghun kim" userId="ea4930dfa3cfe607" providerId="LiveId" clId="{54C7DCF6-3D44-4C4E-9E80-6541324384C9}" dt="2026-02-23T02:40:25.444" v="139" actId="6549"/>
          <ac:spMkLst>
            <pc:docMk/>
            <pc:sldMk cId="4039326072" sldId="271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37:31.065" v="130" actId="6549"/>
        <pc:sldMkLst>
          <pc:docMk/>
          <pc:sldMk cId="2679161526" sldId="272"/>
        </pc:sldMkLst>
        <pc:spChg chg="mod">
          <ac:chgData name="donghun kim" userId="ea4930dfa3cfe607" providerId="LiveId" clId="{54C7DCF6-3D44-4C4E-9E80-6541324384C9}" dt="2026-02-23T02:37:31.065" v="130" actId="6549"/>
          <ac:spMkLst>
            <pc:docMk/>
            <pc:sldMk cId="2679161526" sldId="272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40:49.316" v="141" actId="20577"/>
        <pc:sldMkLst>
          <pc:docMk/>
          <pc:sldMk cId="654314807" sldId="273"/>
        </pc:sldMkLst>
        <pc:spChg chg="mod">
          <ac:chgData name="donghun kim" userId="ea4930dfa3cfe607" providerId="LiveId" clId="{54C7DCF6-3D44-4C4E-9E80-6541324384C9}" dt="2026-02-23T02:40:49.316" v="141" actId="20577"/>
          <ac:spMkLst>
            <pc:docMk/>
            <pc:sldMk cId="654314807" sldId="273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41:27.223" v="145" actId="6549"/>
        <pc:sldMkLst>
          <pc:docMk/>
          <pc:sldMk cId="4083234165" sldId="274"/>
        </pc:sldMkLst>
        <pc:spChg chg="mod">
          <ac:chgData name="donghun kim" userId="ea4930dfa3cfe607" providerId="LiveId" clId="{54C7DCF6-3D44-4C4E-9E80-6541324384C9}" dt="2026-02-23T02:41:27.223" v="145" actId="6549"/>
          <ac:spMkLst>
            <pc:docMk/>
            <pc:sldMk cId="4083234165" sldId="274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42:40.607" v="153" actId="6549"/>
        <pc:sldMkLst>
          <pc:docMk/>
          <pc:sldMk cId="2988730001" sldId="276"/>
        </pc:sldMkLst>
        <pc:spChg chg="mod">
          <ac:chgData name="donghun kim" userId="ea4930dfa3cfe607" providerId="LiveId" clId="{54C7DCF6-3D44-4C4E-9E80-6541324384C9}" dt="2026-02-23T02:42:40.607" v="153" actId="6549"/>
          <ac:spMkLst>
            <pc:docMk/>
            <pc:sldMk cId="2988730001" sldId="276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44:27.175" v="160" actId="6549"/>
        <pc:sldMkLst>
          <pc:docMk/>
          <pc:sldMk cId="1033857369" sldId="279"/>
        </pc:sldMkLst>
        <pc:spChg chg="mod">
          <ac:chgData name="donghun kim" userId="ea4930dfa3cfe607" providerId="LiveId" clId="{54C7DCF6-3D44-4C4E-9E80-6541324384C9}" dt="2026-02-23T02:44:27.175" v="160" actId="6549"/>
          <ac:spMkLst>
            <pc:docMk/>
            <pc:sldMk cId="1033857369" sldId="279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50:04.471" v="166" actId="6549"/>
        <pc:sldMkLst>
          <pc:docMk/>
          <pc:sldMk cId="1170675184" sldId="280"/>
        </pc:sldMkLst>
        <pc:spChg chg="mod">
          <ac:chgData name="donghun kim" userId="ea4930dfa3cfe607" providerId="LiveId" clId="{54C7DCF6-3D44-4C4E-9E80-6541324384C9}" dt="2026-02-23T02:50:04.471" v="166" actId="6549"/>
          <ac:spMkLst>
            <pc:docMk/>
            <pc:sldMk cId="1170675184" sldId="280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50:38.202" v="168" actId="20577"/>
        <pc:sldMkLst>
          <pc:docMk/>
          <pc:sldMk cId="1824201721" sldId="281"/>
        </pc:sldMkLst>
        <pc:spChg chg="mod">
          <ac:chgData name="donghun kim" userId="ea4930dfa3cfe607" providerId="LiveId" clId="{54C7DCF6-3D44-4C4E-9E80-6541324384C9}" dt="2026-02-23T02:50:38.202" v="168" actId="20577"/>
          <ac:spMkLst>
            <pc:docMk/>
            <pc:sldMk cId="1824201721" sldId="281"/>
            <ac:spMk id="3" creationId="{00000000-0000-0000-0000-000000000000}"/>
          </ac:spMkLst>
        </pc:spChg>
      </pc:sldChg>
      <pc:sldChg chg="modSp mod">
        <pc:chgData name="donghun kim" userId="ea4930dfa3cfe607" providerId="LiveId" clId="{54C7DCF6-3D44-4C4E-9E80-6541324384C9}" dt="2026-02-23T02:51:15.563" v="172" actId="6549"/>
        <pc:sldMkLst>
          <pc:docMk/>
          <pc:sldMk cId="4077213089" sldId="283"/>
        </pc:sldMkLst>
        <pc:spChg chg="mod">
          <ac:chgData name="donghun kim" userId="ea4930dfa3cfe607" providerId="LiveId" clId="{54C7DCF6-3D44-4C4E-9E80-6541324384C9}" dt="2026-02-23T02:51:15.563" v="172" actId="6549"/>
          <ac:spMkLst>
            <pc:docMk/>
            <pc:sldMk cId="4077213089" sldId="28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203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9709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81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669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69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1A3D5110-9FE0-496F-B26A-071D02F2DE37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7387" y="175336"/>
            <a:ext cx="11817225" cy="650732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3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에너지 자원의 시간에 걸친 동적 배분 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2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2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5946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1.</a:t>
            </a:r>
            <a:r>
              <a:rPr lang="ko-KR" altLang="en-US" sz="32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417638"/>
            <a:ext cx="10972798" cy="4708525"/>
          </a:xfrm>
        </p:spPr>
        <p:txBody>
          <a:bodyPr/>
          <a:lstStyle/>
          <a:p>
            <a:pPr lvl="0">
              <a:defRPr/>
            </a:pPr>
            <a:r>
              <a:rPr lang="ko-KR" altLang="en-US" sz="2200" dirty="0"/>
              <a:t>대부분의 에너지 자원은 유한한 자원으로 시간이 지나면서 점차 고갈</a:t>
            </a:r>
          </a:p>
          <a:p>
            <a:pPr lvl="0">
              <a:defRPr/>
            </a:pPr>
            <a:r>
              <a:rPr lang="ko-KR" altLang="en-US" sz="2200" dirty="0"/>
              <a:t>화석연료와 같은 비재생 가능 에너지원은 한정된 매장량을 가지고 있어</a:t>
            </a:r>
            <a:r>
              <a:rPr lang="en-US" altLang="ko-KR" sz="2200" dirty="0"/>
              <a:t>,</a:t>
            </a:r>
            <a:r>
              <a:rPr lang="ko-KR" altLang="en-US" sz="2200" dirty="0"/>
              <a:t> 이를 어떻게 효율적으로 배분하고 활용할 것인지가 중요한 과제임</a:t>
            </a: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57745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 dirty="0"/>
              <a:t>2.</a:t>
            </a:r>
            <a:r>
              <a:rPr lang="ko-KR" altLang="en-US" sz="3400" dirty="0"/>
              <a:t> 고갈성 에너지 자원의 공급과 동태분석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200" dirty="0"/>
              <a:t>에너지 자원은  크게 재생가능 에너지와 고갈성 에너지로 구분</a:t>
            </a:r>
          </a:p>
          <a:p>
            <a:pPr lvl="0">
              <a:defRPr/>
            </a:pPr>
            <a:r>
              <a:rPr lang="ko-KR" altLang="en-US" sz="2200" dirty="0"/>
              <a:t>비고갈성 재생에너지는 현재의 이용이 미래의 이용 가능성에 영향을 미치지 않으므로  자원의 효율적 이용을 분석하는데 정태적 모형을 적용할 수 있음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태양광</a:t>
            </a:r>
            <a:r>
              <a:rPr lang="en-US" altLang="ko-KR" sz="2200" dirty="0"/>
              <a:t>,</a:t>
            </a:r>
            <a:r>
              <a:rPr lang="ko-KR" altLang="en-US" sz="2200" dirty="0"/>
              <a:t> 풍력</a:t>
            </a:r>
          </a:p>
          <a:p>
            <a:pPr marL="371310" lvl="0" indent="-314160">
              <a:buChar char="•"/>
              <a:defRPr/>
            </a:pPr>
            <a:r>
              <a:rPr lang="ko-KR" altLang="en-US" sz="2200" dirty="0"/>
              <a:t>반면</a:t>
            </a:r>
            <a:r>
              <a:rPr lang="en-US" altLang="ko-KR" sz="2200" dirty="0"/>
              <a:t>,</a:t>
            </a:r>
            <a:r>
              <a:rPr lang="ko-KR" altLang="en-US" sz="2200" dirty="0"/>
              <a:t> 바이오매스와 같은</a:t>
            </a:r>
            <a:r>
              <a:rPr lang="en-US" altLang="ko-KR" sz="2200" dirty="0"/>
              <a:t> </a:t>
            </a:r>
            <a:r>
              <a:rPr lang="ko-KR" altLang="en-US" sz="2200" dirty="0"/>
              <a:t>고갈성 재생에너지는 동태적 모형을 통해 시간에 따른 자원 축적과 이용을 함께 고려</a:t>
            </a:r>
          </a:p>
          <a:p>
            <a:pPr marL="771360" lvl="1" indent="-314160">
              <a:buChar char="•"/>
              <a:defRPr/>
            </a:pPr>
            <a:r>
              <a:rPr lang="ko-KR" altLang="en-US" sz="2200" dirty="0"/>
              <a:t>동태적 분석은 시간에 걸친 자원의 효율적 이용 경로를 도출하는 분석 방식으로 고갈성 자원의 경제학에서 핵심적인 분석틀임</a:t>
            </a:r>
          </a:p>
          <a:p>
            <a:pPr marL="371310" lvl="0" indent="-314160">
              <a:buChar char="•"/>
              <a:defRPr/>
            </a:pPr>
            <a:endParaRPr lang="ko-KR" altLang="en-US" sz="2200" dirty="0"/>
          </a:p>
          <a:p>
            <a:pPr marL="371310" lvl="0" indent="-314160">
              <a:buChar char="•"/>
              <a:defRPr/>
            </a:pPr>
            <a:r>
              <a:rPr lang="ko-KR" altLang="en-US" sz="2200" dirty="0"/>
              <a:t>본 장은 화석연료와 같은 비재생 고갈성 자원을 중심으로 논의</a:t>
            </a:r>
          </a:p>
          <a:p>
            <a:pPr lvl="0">
              <a:defRPr/>
            </a:pPr>
            <a:endParaRPr lang="ko-KR" altLang="en-US" sz="220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32558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400"/>
              <a:t>3.</a:t>
            </a:r>
            <a:r>
              <a:rPr lang="ko-KR" altLang="en-US" sz="3400"/>
              <a:t> 호텔링</a:t>
            </a:r>
            <a:r>
              <a:rPr lang="en-US" altLang="ko-KR" sz="3400"/>
              <a:t>(Hotelling)</a:t>
            </a:r>
            <a:r>
              <a:rPr lang="ko-KR" altLang="en-US" sz="3400"/>
              <a:t>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 dirty="0"/>
              <a:t>에너지 자원이 유한하고 </a:t>
            </a:r>
            <a:r>
              <a:rPr lang="en-US" altLang="ko-KR" sz="2000" dirty="0"/>
              <a:t>T</a:t>
            </a:r>
            <a:r>
              <a:rPr lang="ko-KR" altLang="en-US" sz="2000" dirty="0"/>
              <a:t> 기간에 걸쳐 전부 채굴된다고 가정</a:t>
            </a:r>
          </a:p>
          <a:p>
            <a:pPr lvl="0">
              <a:defRPr/>
            </a:pPr>
            <a:r>
              <a:rPr lang="en-US" altLang="ko-KR" sz="2000" dirty="0"/>
              <a:t>q(t): t </a:t>
            </a:r>
            <a:r>
              <a:rPr lang="ko-KR" altLang="en-US" sz="2000" dirty="0"/>
              <a:t>기의 채굴량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S(t): t </a:t>
            </a:r>
            <a:r>
              <a:rPr lang="ko-KR" altLang="en-US" sz="2000" dirty="0"/>
              <a:t>기 자원의 잔존량</a:t>
            </a:r>
            <a:r>
              <a:rPr lang="en-US" altLang="ko-KR" sz="2000" dirty="0"/>
              <a:t>, C(q(t)): t</a:t>
            </a:r>
            <a:r>
              <a:rPr lang="ko-KR" altLang="en-US" sz="2000" dirty="0"/>
              <a:t>기 채굴비용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p(t): t </a:t>
            </a:r>
            <a:r>
              <a:rPr lang="ko-KR" altLang="en-US" sz="2000" dirty="0"/>
              <a:t>기 자원 가격</a:t>
            </a:r>
          </a:p>
          <a:p>
            <a:pPr lvl="0">
              <a:defRPr/>
            </a:pPr>
            <a:r>
              <a:rPr lang="ko-KR" altLang="en-US" sz="2000" dirty="0"/>
              <a:t>완전경쟁하에서 이윤 극대화를 위한 목적함수</a:t>
            </a:r>
            <a:r>
              <a:rPr lang="en-US" altLang="ko-KR" sz="2000" dirty="0"/>
              <a:t>:</a:t>
            </a:r>
            <a:endParaRPr lang="en-US" altLang="ko-KR" sz="2200" dirty="0"/>
          </a:p>
          <a:p>
            <a:pPr lvl="0">
              <a:defRPr/>
            </a:pPr>
            <a:endParaRPr lang="en-US" altLang="ko-KR" sz="2200" dirty="0"/>
          </a:p>
          <a:p>
            <a:pPr lvl="0">
              <a:defRPr/>
            </a:pPr>
            <a:endParaRPr lang="en-US" altLang="ko-KR" sz="2200" dirty="0"/>
          </a:p>
          <a:p>
            <a:pPr lvl="0">
              <a:defRPr/>
            </a:pPr>
            <a:endParaRPr lang="en-US" altLang="ko-KR" sz="2200" dirty="0"/>
          </a:p>
          <a:p>
            <a:pPr marL="0" lvl="0" indent="0">
              <a:buNone/>
              <a:defRPr/>
            </a:pPr>
            <a:r>
              <a:rPr lang="ko-KR" altLang="en-US" sz="2200" dirty="0"/>
              <a:t> </a:t>
            </a:r>
          </a:p>
          <a:p>
            <a:pPr lvl="0">
              <a:defRPr/>
            </a:pPr>
            <a:endParaRPr lang="en-US" altLang="ko-KR" sz="2000" dirty="0"/>
          </a:p>
          <a:p>
            <a:pPr lvl="0">
              <a:defRPr/>
            </a:pPr>
            <a:r>
              <a:rPr lang="en-US" altLang="ko-KR" sz="2000" dirty="0"/>
              <a:t>q(t)</a:t>
            </a:r>
            <a:r>
              <a:rPr lang="ko-KR" altLang="en-US" sz="2000" dirty="0"/>
              <a:t>에 대한 최적 </a:t>
            </a:r>
            <a:endParaRPr lang="en-US" altLang="ko-KR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자유형 5"/>
              <p:cNvSpPr/>
              <p:nvPr/>
            </p:nvSpPr>
            <p:spPr>
              <a:xfrm>
                <a:off x="3566658" y="2349840"/>
                <a:ext cx="4219575" cy="10191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𝑀𝑎𝑥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naryPr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=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0</m:t>
                          </m:r>
                        </m:sub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𝑇</m:t>
                          </m:r>
                        </m:sup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[</m:t>
                          </m:r>
                          <m:f>
                            <m:f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fPr>
                            <m:num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1</m:t>
                                  </m:r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+</m:t>
                                  </m:r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𝑟</m:t>
                                  </m:r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sz="1800" i="1">
                                      <a:latin typeface="Cambria Math"/>
                                      <a:sym typeface="Cambria Math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 xmlns="" xmlns:c="http://schemas.openxmlformats.org/drawingml/2006/chart" xmlns:dgm="http://schemas.openxmlformats.org/drawingml/2006/diagram" xmlns:dsp="http://schemas.microsoft.com/office/drawing/2008/diagram">
          <p:sp>
            <p:nvSpPr>
              <p:cNvPr id="6" name=""/>
              <p:cNvSpPr txBox="1"/>
              <p:nvPr/>
            </p:nvSpPr>
            <p:spPr>
              <a:xfrm>
                <a:off x="3566658" y="2349840"/>
                <a:ext cx="4219575" cy="10191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자유형 6"/>
              <p:cNvSpPr/>
              <p:nvPr/>
            </p:nvSpPr>
            <p:spPr>
              <a:xfrm>
                <a:off x="3109912" y="3180103"/>
                <a:ext cx="7069068" cy="6858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800" smtClean="0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lang="ar-AE" sz="1800" smtClean="0">
                          <a:latin typeface="Cambria Math"/>
                          <a:sym typeface="Cambria Math"/>
                        </a:rPr>
                        <m:t>.</m:t>
                      </m:r>
                      <m:r>
                        <a:rPr lang="ar-AE" sz="1800" smtClean="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lang="ar-AE" sz="1800" smtClean="0">
                          <a:latin typeface="Cambria Math"/>
                          <a:sym typeface="Cambria Math"/>
                        </a:rPr>
                        <m:t>  </m:t>
                      </m:r>
                      <m:r>
                        <a:rPr lang="ar-AE" sz="1800" smtClean="0">
                          <a:latin typeface="Cambria Math"/>
                          <a:sym typeface="Cambria Math"/>
                        </a:rPr>
                        <m:t>𝑆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ar-AE" sz="1800">
                              <a:latin typeface="Cambria Math"/>
                              <a:sym typeface="Cambria Math"/>
                            </a:rPr>
                            <m:t>0</m:t>
                          </m:r>
                        </m:e>
                      </m:d>
                      <m:r>
                        <a:rPr lang="ar-AE" sz="1800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0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𝑆</m:t>
                      </m:r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e>
                      </m:d>
                      <m:r>
                        <a:rPr lang="ar-AE" sz="1800" i="1">
                          <a:latin typeface="Cambria Math"/>
                          <a:sym typeface="Cambria Math"/>
                        </a:rPr>
                        <m:t>=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𝑇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sym typeface="Cambria Math"/>
                            </a:rPr>
                            <m:t> </m:t>
                          </m:r>
                        </m:sub>
                      </m:sSub>
                      <m:r>
                        <a:rPr lang="ar-AE" sz="1800" i="1">
                          <a:latin typeface="Cambria Math"/>
                          <a:sym typeface="Cambria Math"/>
                        </a:rPr>
                        <m:t>,     </m:t>
                      </m:r>
                      <m:f>
                        <m:fPr>
                          <m:ctrlPr>
                            <a:rPr lang="ar-AE"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𝑠𝑆</m:t>
                          </m:r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num>
                        <m:den>
                          <m:r>
                            <a:rPr lang="ar-AE" sz="1800" i="1">
                              <a:latin typeface="Cambria Math"/>
                              <a:sym typeface="Cambria Math"/>
                            </a:rPr>
                            <m:t>𝑑𝑡</m:t>
                          </m:r>
                        </m:den>
                      </m:f>
                      <m:r>
                        <a:rPr lang="ar-AE"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𝑆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+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1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𝑆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)=−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𝑞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lang="ar-AE" sz="1800" i="1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lang="ar-AE" sz="1800">
                          <a:latin typeface="Cambria Math"/>
                          <a:sym typeface="Cambria Math"/>
                        </a:rPr>
                        <m:t> 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7" name="자유형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912" y="3180103"/>
                <a:ext cx="7069068" cy="6858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자유형 8"/>
              <p:cNvSpPr/>
              <p:nvPr/>
            </p:nvSpPr>
            <p:spPr>
              <a:xfrm>
                <a:off x="4300992" y="4528003"/>
                <a:ext cx="2541935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))</m:t>
                          </m:r>
                        </m:num>
                        <m:den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1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+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𝑟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𝜆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자유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992" y="4528003"/>
                <a:ext cx="2541935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305186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/>
          <a:lstStyle/>
          <a:p>
            <a:pPr lvl="0">
              <a:defRPr/>
            </a:pPr>
            <a:r>
              <a:rPr lang="ko-KR" altLang="en-US" sz="2000" dirty="0"/>
              <a:t>한계수익 균등의 원리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채굴과 판매로 부터의 한계순수익의 현재가치가  시간에 걸쳐 동일해야 자원개발로부터 이윤의 현재가치가 극대화됨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자원을 현재에 사용함으로써 미래에 사용하지 못하는 데서 발생하는 자원의 기회비용</a:t>
            </a:r>
          </a:p>
          <a:p>
            <a:pPr lvl="1">
              <a:buChar char="•"/>
              <a:defRPr/>
            </a:pPr>
            <a:endParaRPr lang="en-US" altLang="ko-KR" sz="2000" dirty="0"/>
          </a:p>
          <a:p>
            <a:pPr lvl="1">
              <a:buChar char="•"/>
              <a:defRPr/>
            </a:pPr>
            <a:r>
              <a:rPr lang="ko-KR" altLang="en-US" sz="2000" dirty="0"/>
              <a:t>자원개발로 부터의 한계순수익은 매기간 이자율만큼 증가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자유형 8"/>
              <p:cNvSpPr/>
              <p:nvPr/>
            </p:nvSpPr>
            <p:spPr>
              <a:xfrm>
                <a:off x="2838225" y="1670502"/>
                <a:ext cx="6838338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(0)−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(0)= 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(1)−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′(1(1)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1+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</m:t>
                          </m:r>
                        </m:den>
                      </m:f>
                      <m:r>
                        <a:rPr sz="1800" i="1">
                          <a:latin typeface="Cambria Math"/>
                          <a:sym typeface="Cambria Math"/>
                        </a:rPr>
                        <m:t>=....=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))</m:t>
                          </m:r>
                        </m:num>
                        <m:den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(1+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𝑟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=......=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𝜆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9" name="자유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225" y="1670502"/>
                <a:ext cx="6838338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자유형 9"/>
              <p:cNvSpPr/>
              <p:nvPr/>
            </p:nvSpPr>
            <p:spPr>
              <a:xfrm>
                <a:off x="1995261" y="3429000"/>
                <a:ext cx="7681302" cy="8858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800" smtClean="0">
                          <a:latin typeface="Cambria Math"/>
                          <a:sym typeface="Cambria Math"/>
                        </a:rPr>
                        <m:t>𝜆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한계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순수익의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현재가치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자원저장량의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잠재가격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h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𝑎𝑑𝑜𝑤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𝑝𝑟𝑖𝑐𝑒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  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자원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sym typeface="Cambria Math"/>
                        </a:rPr>
                        <m:t>의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사용자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비용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𝑢𝑠𝑒𝑟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),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희소성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지대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𝑠𝑐𝑎𝑟𝑐𝑖𝑡𝑦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𝑟𝑒𝑛𝑡</m:t>
                      </m:r>
                      <m:r>
                        <a:rPr lang="en-US" altLang="ko-KR" sz="1800">
                          <a:latin typeface="Cambria Math"/>
                          <a:sym typeface="Cambria Math"/>
                        </a:rPr>
                        <m:t>)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로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해석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가능</m:t>
                      </m:r>
                      <m:r>
                        <a:rPr lang="ko-KR" altLang="en-US" sz="1800">
                          <a:latin typeface="Cambria Math"/>
                          <a:sym typeface="Cambria Math"/>
                        </a:rPr>
                        <m:t>   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자유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261" y="3429000"/>
                <a:ext cx="7681302" cy="8858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 11"/>
              <p:cNvSpPr/>
              <p:nvPr/>
            </p:nvSpPr>
            <p:spPr>
              <a:xfrm>
                <a:off x="3489553" y="5496831"/>
                <a:ext cx="4277823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−1)−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−1)=  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)−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))</m:t>
                          </m:r>
                        </m:num>
                        <m:den>
                          <m:sSup>
                            <m:sSup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p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(1+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𝑟</m:t>
                              </m:r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)</m:t>
                              </m:r>
                            </m:e>
                            <m:sup/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자유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553" y="5496831"/>
                <a:ext cx="4277823" cy="704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1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163879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 dirty="0"/>
              <a:t>채굴로 부터의 한계편익은 채굴의 총 기회비용과 일치</a:t>
            </a:r>
          </a:p>
          <a:p>
            <a:pPr lvl="0">
              <a:defRPr/>
            </a:pPr>
            <a:endParaRPr lang="ko-KR" altLang="en-US" sz="2000" dirty="0"/>
          </a:p>
          <a:p>
            <a:pPr lvl="0"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이 기회  비용은 통상적인 생산비용과 미래 자원 저장량 감소에 따른 미래 손실의 현재가치와 같음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완전경쟁하에서도 가격이 한계비용과 일치하지 않음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자원이 고갈되는 특성을 가진 경우 가격은 단순히 한계비용과 같아지는 것이 아니라 현재 자원을 판매함으써 미래에 팔 기회를 잃는데 따른 기회비용을 반영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만약 채굴의 한계비용이 </a:t>
            </a:r>
            <a:r>
              <a:rPr lang="en-US" altLang="ko-KR" sz="2000" dirty="0"/>
              <a:t>0</a:t>
            </a:r>
            <a:r>
              <a:rPr lang="ko-KR" altLang="en-US" sz="2000" dirty="0"/>
              <a:t>이면  자원 가격의 시간에 걸친 상승률은 이자율과 같음을 나타냄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할인율</a:t>
            </a:r>
            <a:r>
              <a:rPr lang="en-US" altLang="ko-KR" sz="2000" dirty="0"/>
              <a:t>(</a:t>
            </a:r>
            <a:r>
              <a:rPr lang="ko-KR" altLang="en-US" sz="2000" dirty="0"/>
              <a:t>이자율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/>
              <a:t>r) </a:t>
            </a:r>
            <a:r>
              <a:rPr lang="ko-KR" altLang="en-US" sz="2000" dirty="0"/>
              <a:t>이 높을 수록 채굴속도는 증가하고 낮을수록 채굴속도는 감소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할인율이 높을수록 미래 한계순수익의 현재가치 감소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 10"/>
              <p:cNvSpPr/>
              <p:nvPr/>
            </p:nvSpPr>
            <p:spPr>
              <a:xfrm>
                <a:off x="3364367" y="1619247"/>
                <a:ext cx="3187158" cy="381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′(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𝑞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))+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(1+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𝜆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1" name="자유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4367" y="1619247"/>
                <a:ext cx="3187158" cy="381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자유형 11"/>
              <p:cNvSpPr/>
              <p:nvPr/>
            </p:nvSpPr>
            <p:spPr>
              <a:xfrm>
                <a:off x="3814082" y="4429125"/>
                <a:ext cx="2355606" cy="381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(0)</m:t>
                      </m:r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(1+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𝑟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)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2" name="자유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82" y="4429125"/>
                <a:ext cx="2355606" cy="381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1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1725017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/>
              <a:t>호텔링 모형에 따르면 자원의 가격은 시간이 지남에 따라 한계 채굴 비용과 비소성 지대를 반영하여 지속적으로 상승할 것으로 예상</a:t>
            </a:r>
          </a:p>
          <a:p>
            <a:pPr lvl="1">
              <a:buChar char="•"/>
              <a:defRPr/>
            </a:pPr>
            <a:r>
              <a:rPr lang="ko-KR" altLang="en-US" sz="2000"/>
              <a:t>원유</a:t>
            </a:r>
            <a:r>
              <a:rPr lang="en-US" altLang="ko-KR" sz="2000"/>
              <a:t>,</a:t>
            </a:r>
            <a:r>
              <a:rPr lang="ko-KR" altLang="en-US" sz="2000"/>
              <a:t> 천연가스</a:t>
            </a:r>
            <a:r>
              <a:rPr lang="en-US" altLang="ko-KR" sz="2000"/>
              <a:t>,</a:t>
            </a:r>
            <a:r>
              <a:rPr lang="ko-KR" altLang="en-US" sz="2000"/>
              <a:t> 석탄 등 비재생 자원은 가격은 일정한 상승경로를 따르기 보다는 수요와 공급충격</a:t>
            </a:r>
            <a:r>
              <a:rPr lang="en-US" altLang="ko-KR" sz="2000"/>
              <a:t>,</a:t>
            </a:r>
            <a:r>
              <a:rPr lang="ko-KR" altLang="en-US" sz="2000"/>
              <a:t> 기술 변화</a:t>
            </a:r>
            <a:r>
              <a:rPr lang="en-US" altLang="ko-KR" sz="2000"/>
              <a:t>,</a:t>
            </a:r>
            <a:r>
              <a:rPr lang="ko-KR" altLang="en-US" sz="2000"/>
              <a:t> 지정학적 요인 등에 따라 변동성이 큼</a:t>
            </a:r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25539" y="3103245"/>
            <a:ext cx="9023423" cy="3133199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2739570" y="2572883"/>
            <a:ext cx="7037434" cy="360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3-1]</a:t>
            </a:r>
            <a:r>
              <a:rPr lang="ko-KR" altLang="en-US"/>
              <a:t> 원유가격의 역사적 변동</a:t>
            </a:r>
            <a:r>
              <a:rPr lang="en-US" altLang="ko-KR"/>
              <a:t>(</a:t>
            </a:r>
            <a:r>
              <a:rPr lang="ko-KR" altLang="en-US"/>
              <a:t>달러</a:t>
            </a:r>
            <a:r>
              <a:rPr lang="en-US" altLang="ko-KR"/>
              <a:t>/</a:t>
            </a:r>
            <a:r>
              <a:rPr lang="ko-KR" altLang="en-US"/>
              <a:t>배럴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2023</a:t>
            </a:r>
            <a:r>
              <a:rPr lang="ko-KR" altLang="en-US"/>
              <a:t>년 실질가격 기준</a:t>
            </a:r>
            <a:r>
              <a:rPr lang="en-US" altLang="ko-KR"/>
              <a:t>)</a:t>
            </a:r>
          </a:p>
        </p:txBody>
      </p:sp>
      <p:sp>
        <p:nvSpPr>
          <p:cNvPr id="1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1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3738574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3.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>
            <a:normAutofit/>
          </a:bodyPr>
          <a:lstStyle/>
          <a:p>
            <a:pPr lvl="0"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  <a:p>
            <a:pPr lvl="1">
              <a:buChar char="•"/>
              <a:defRPr/>
            </a:pPr>
            <a:endParaRPr lang="ko-KR" altLang="en-US" sz="20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2019046"/>
            <a:ext cx="6446193" cy="374762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96728" y="2395346"/>
            <a:ext cx="5827900" cy="3167216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225514" y="1657867"/>
            <a:ext cx="6381026" cy="3611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3-2]</a:t>
            </a:r>
            <a:r>
              <a:rPr lang="ko-KR" altLang="en-US"/>
              <a:t> 천연가스 가격의 변동</a:t>
            </a:r>
            <a:r>
              <a:rPr lang="en-US" altLang="ko-KR"/>
              <a:t>(</a:t>
            </a:r>
            <a:r>
              <a:rPr lang="ko-KR" altLang="en-US"/>
              <a:t>달러</a:t>
            </a:r>
            <a:r>
              <a:rPr lang="en-US" altLang="ko-KR"/>
              <a:t>/</a:t>
            </a:r>
            <a:r>
              <a:rPr lang="ko-KR" altLang="en-US"/>
              <a:t>백만</a:t>
            </a:r>
            <a:r>
              <a:rPr lang="en-US" altLang="ko-KR"/>
              <a:t>Btu, </a:t>
            </a:r>
            <a:r>
              <a:rPr lang="ko-KR" altLang="en-US"/>
              <a:t>헨리허브 기준</a:t>
            </a:r>
            <a:r>
              <a:rPr lang="en-US" altLang="ko-KR"/>
              <a:t>)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426358" y="1838457"/>
            <a:ext cx="246107" cy="3599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9" name="가로 글상자 18"/>
          <p:cNvSpPr txBox="1"/>
          <p:nvPr/>
        </p:nvSpPr>
        <p:spPr>
          <a:xfrm>
            <a:off x="7105196" y="1654512"/>
            <a:ext cx="3835219" cy="363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3-3]</a:t>
            </a:r>
            <a:r>
              <a:rPr lang="ko-KR" altLang="en-US"/>
              <a:t> 석탄 가격의 변동</a:t>
            </a:r>
            <a:r>
              <a:rPr lang="en-US" altLang="ko-KR"/>
              <a:t>(</a:t>
            </a:r>
            <a:r>
              <a:rPr lang="ko-KR" altLang="en-US"/>
              <a:t>달러</a:t>
            </a:r>
            <a:r>
              <a:rPr lang="en-US" altLang="ko-KR"/>
              <a:t>/</a:t>
            </a:r>
            <a:r>
              <a:rPr lang="ko-KR" altLang="en-US"/>
              <a:t>톤</a:t>
            </a:r>
            <a:r>
              <a:rPr lang="en-US" altLang="ko-KR"/>
              <a:t>)</a:t>
            </a:r>
          </a:p>
        </p:txBody>
      </p:sp>
      <p:sp>
        <p:nvSpPr>
          <p:cNvPr id="20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2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322710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 fontScale="85000" lnSpcReduction="20000"/>
          </a:bodyPr>
          <a:lstStyle/>
          <a:p>
            <a:pPr lvl="0">
              <a:defRPr/>
            </a:pPr>
            <a:r>
              <a:rPr lang="ko-KR" altLang="en-US" sz="2200" dirty="0"/>
              <a:t>채굴의 저량</a:t>
            </a:r>
            <a:r>
              <a:rPr lang="en-US" altLang="ko-KR" sz="2200" dirty="0"/>
              <a:t>(stock)</a:t>
            </a:r>
            <a:r>
              <a:rPr lang="ko-KR" altLang="en-US" sz="2200" dirty="0"/>
              <a:t> 효과</a:t>
            </a:r>
          </a:p>
          <a:p>
            <a:pPr lvl="1">
              <a:buChar char="•"/>
              <a:defRPr/>
            </a:pPr>
            <a:r>
              <a:rPr lang="ko-KR" altLang="en-US" sz="2000" dirty="0"/>
              <a:t>호텔링 모형은 자원이 균질하며 단위당 채굴비용이 일정하다고 가정</a:t>
            </a:r>
          </a:p>
          <a:p>
            <a:pPr lvl="2">
              <a:buChar char="•"/>
              <a:defRPr/>
            </a:pPr>
            <a:r>
              <a:rPr lang="ko-KR" altLang="en-US" sz="2000" dirty="0"/>
              <a:t>현실의 자원은 품질</a:t>
            </a:r>
            <a:r>
              <a:rPr lang="en-US" altLang="ko-KR" sz="2000" dirty="0"/>
              <a:t>,</a:t>
            </a:r>
            <a:r>
              <a:rPr lang="ko-KR" altLang="en-US" sz="2000" dirty="0"/>
              <a:t> 접근성</a:t>
            </a:r>
            <a:r>
              <a:rPr lang="en-US" altLang="ko-KR" sz="2000" dirty="0"/>
              <a:t>,</a:t>
            </a:r>
            <a:r>
              <a:rPr lang="ko-KR" altLang="en-US" sz="2000" dirty="0"/>
              <a:t> 채굴 조건 등에서 이질적이며 이러한 특성은 자원 고갈시  비용구조에 영향을 미침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만약</a:t>
            </a:r>
            <a:r>
              <a:rPr lang="en-US" altLang="ko-KR" sz="2000" dirty="0"/>
              <a:t>,</a:t>
            </a:r>
            <a:r>
              <a:rPr lang="ko-KR" altLang="en-US" sz="2000" dirty="0"/>
              <a:t> 자원의 채굴비용이 아직 고갈되지 않은 </a:t>
            </a:r>
            <a:r>
              <a:rPr lang="en-US" altLang="ko-KR" sz="2000" dirty="0"/>
              <a:t> </a:t>
            </a:r>
            <a:r>
              <a:rPr lang="ko-KR" altLang="en-US" sz="2000" dirty="0"/>
              <a:t>잔존 매장량에 의하여 영향을 받는다고 가정</a:t>
            </a:r>
            <a:endParaRPr lang="en-US" altLang="ko-KR" sz="2000" dirty="0"/>
          </a:p>
          <a:p>
            <a:pPr lvl="0"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2">
              <a:buChar char="•"/>
              <a:defRPr/>
            </a:pPr>
            <a:r>
              <a:rPr lang="ko-KR" altLang="en-US" sz="2000" dirty="0"/>
              <a:t>잔존 자원량이 줄어들수록 채굴비용 증가</a:t>
            </a:r>
          </a:p>
          <a:p>
            <a:pPr lvl="2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r>
              <a:rPr lang="ko-KR" altLang="en-US" sz="2000" dirty="0"/>
              <a:t>잔존 매장량이 채굴비용을 낮추면 한계순수기이 할인율에 비례해서 상승하지 않음</a:t>
            </a:r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buChar char="•"/>
              <a:defRPr/>
            </a:pPr>
            <a:endParaRPr lang="ko-KR" altLang="en-US" sz="2000" dirty="0"/>
          </a:p>
          <a:p>
            <a:pPr lvl="1">
              <a:lnSpc>
                <a:spcPts val="2400"/>
              </a:lnSpc>
              <a:spcBef>
                <a:spcPts val="456"/>
              </a:spcBef>
              <a:buChar char="•"/>
              <a:defRPr/>
            </a:pPr>
            <a:endParaRPr lang="ko-KR" altLang="en-US" sz="2000" dirty="0">
              <a:solidFill>
                <a:schemeClr val="tx1"/>
              </a:solidFill>
            </a:endParaRPr>
          </a:p>
          <a:p>
            <a:pPr lvl="1">
              <a:lnSpc>
                <a:spcPts val="2400"/>
              </a:lnSpc>
              <a:spcBef>
                <a:spcPts val="456"/>
              </a:spcBef>
              <a:buChar char="•"/>
              <a:defRPr/>
            </a:pPr>
            <a:r>
              <a:rPr lang="ko-KR" altLang="en-US" sz="2000" dirty="0">
                <a:solidFill>
                  <a:schemeClr val="tx1"/>
                </a:solidFill>
              </a:rPr>
              <a:t>자원보존량이 감소하면 점차 더 비효율적인 곳에서 자원을 개발해야 하므로 단순한 호텔링 모형보다 더 복잡한 현실적 가격경로와 공급 행태를 나타낼 수 있음</a:t>
            </a:r>
          </a:p>
          <a:p>
            <a:pPr lvl="1">
              <a:lnSpc>
                <a:spcPts val="2400"/>
              </a:lnSpc>
              <a:spcBef>
                <a:spcPts val="456"/>
              </a:spcBef>
              <a:buChar char="•"/>
              <a:defRPr/>
            </a:pPr>
            <a:endParaRPr kumimoji="0" lang="ko-KR" altLang="en-US" sz="2000" b="0" i="0" u="none" strike="noStrike" kern="1200" cap="none" spc="0" normalizeH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자유형 14"/>
              <p:cNvSpPr/>
              <p:nvPr/>
            </p:nvSpPr>
            <p:spPr>
              <a:xfrm>
                <a:off x="4510174" y="2698610"/>
                <a:ext cx="3257201" cy="7239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𝑞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),   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𝜕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𝐶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𝜕</m:t>
                          </m:r>
                          <m:sSub>
                            <m:sSubPr>
                              <m:ctrlPr>
                                <a:rPr sz="18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sz="1800" i="1">
                                  <a:latin typeface="Cambria Math"/>
                                  <a:sym typeface="Cambria Math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  <m:r>
                        <a:rPr sz="1800">
                          <a:latin typeface="Cambria Math"/>
                          <a:sym typeface="Cambria Math"/>
                        </a:rPr>
                        <m:t>&lt; 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5" name="자유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174" y="2698610"/>
                <a:ext cx="3257201" cy="7239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자유형 15"/>
              <p:cNvSpPr/>
              <p:nvPr/>
            </p:nvSpPr>
            <p:spPr>
              <a:xfrm>
                <a:off x="3205162" y="4381953"/>
                <a:ext cx="6119707" cy="3619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𝑞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))=(1+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𝑟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)[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𝑝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−1)−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𝑞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−1)]+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𝐶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′(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𝑆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𝑡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))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자유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162" y="4381953"/>
                <a:ext cx="6119707" cy="3619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>
                <a:blip r:embed="rId3"/>
                <a:stretch>
                  <a:fillRect b="-1864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274004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자원 탐사와 개발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>
                <a:solidFill>
                  <a:schemeClr val="tx1"/>
                </a:solidFill>
              </a:rPr>
              <a:t>호텔링 모형은 자원이 고정된 양으로 주어지며</a:t>
            </a:r>
            <a:r>
              <a:rPr lang="en-US" altLang="ko-KR" sz="2000" dirty="0">
                <a:solidFill>
                  <a:schemeClr val="tx1"/>
                </a:solidFill>
              </a:rPr>
              <a:t>,</a:t>
            </a:r>
            <a:r>
              <a:rPr lang="ko-KR" altLang="en-US" sz="2000" dirty="0">
                <a:solidFill>
                  <a:schemeClr val="tx1"/>
                </a:solidFill>
              </a:rPr>
              <a:t> 새로운 매장량의 발견은 불가능 하다고 전제함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>
              <a:solidFill>
                <a:schemeClr val="tx1"/>
              </a:solidFill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>
                <a:solidFill>
                  <a:schemeClr val="tx1"/>
                </a:solidFill>
              </a:rPr>
              <a:t>현실에서는 기술 발전과 투자 유인을 바탕으로 탐사와  개발을 통해 자원의 유효 공급량이 내생적으로 변화 할 수 있으며 에너지 가격에 중대한 영향을 미침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kumimoji="0" lang="ko-KR" altLang="en-US" sz="20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새로운 매장량이 발견되면 전체 공급 가능량이 증가하고 이는 자원의 희소성을 완회시켜 가격 상승 압력을 낮추는 역할을 함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kumimoji="0" lang="ko-KR" altLang="en-US" sz="20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기술진보는 탐사의 성공 확률을 높이고</a:t>
            </a:r>
            <a:r>
              <a:rPr kumimoji="0" lang="en-US" altLang="ko-KR" sz="2000" b="0" i="0" u="none" strike="noStrike" kern="1200" cap="none" spc="0" normalizeH="0" dirty="0">
                <a:latin typeface="+mn-lt"/>
                <a:ea typeface="+mn-ea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 더 많은 자원을 경제적으로 회수할 수 있게 함으로써 에너지 가격의 상승을 억제하는 요인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수평시추 및 수압파쇄</a:t>
            </a:r>
            <a:endParaRPr kumimoji="0" lang="ko-KR" altLang="en-US" sz="22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kumimoji="0" lang="ko-KR" altLang="en-US" sz="22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83532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자원 탐사와 개발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자원의 개발 속도가 빨라질수록 단기 공급이 증가하여 가격 안정 또는 하락에 기여</a:t>
            </a:r>
            <a:r>
              <a:rPr kumimoji="0" lang="en-US" altLang="ko-KR" sz="2000" b="0" i="0" u="none" strike="noStrike" kern="1200" cap="none" spc="0" normalizeH="0" dirty="0">
                <a:latin typeface="+mn-lt"/>
                <a:ea typeface="+mn-ea"/>
                <a:cs typeface="+mn-cs"/>
              </a:rPr>
              <a:t>.</a:t>
            </a: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 개발이 지연되면 단기 공급에  제약이 발생해 가격 상승 요인으로 작용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kumimoji="0" lang="ko-KR" altLang="en-US" sz="20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자원 탐사의 경제적 적정 수준은 탐사의 한계편익과 한계비용에 의해 결정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탐사비용은 현재의 순이익을 감소시키지만 미래에 더 저렴한 조건의 유정을 발견하여 장기적으로 수익을 높일 수 있는 가능성 제공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탐사의 한계 편익은 현재의 채굴 비용보다 낮은 채굴비용으로 이용 가능한 유정을 확보하는데 있음</a:t>
            </a:r>
            <a:r>
              <a:rPr kumimoji="0" lang="en-US" altLang="ko-KR" sz="2000" b="0" i="0" u="none" strike="noStrike" kern="1200" cap="none" spc="0" normalizeH="0" dirty="0">
                <a:latin typeface="+mn-lt"/>
                <a:ea typeface="+mn-ea"/>
                <a:cs typeface="+mn-cs"/>
              </a:rPr>
              <a:t>.</a:t>
            </a: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 반면</a:t>
            </a:r>
            <a:r>
              <a:rPr kumimoji="0" lang="en-US" altLang="ko-KR" sz="2000" b="0" i="0" u="none" strike="noStrike" kern="1200" cap="none" spc="0" normalizeH="0" dirty="0">
                <a:latin typeface="+mn-lt"/>
                <a:ea typeface="+mn-ea"/>
                <a:cs typeface="+mn-cs"/>
              </a:rPr>
              <a:t>,</a:t>
            </a:r>
            <a:r>
              <a:rPr kumimoji="0" lang="ko-KR" altLang="en-US" sz="2000" b="0" i="0" u="none" strike="noStrike" kern="1200" cap="none" spc="0" normalizeH="0" dirty="0">
                <a:latin typeface="+mn-lt"/>
                <a:ea typeface="+mn-ea"/>
                <a:cs typeface="+mn-cs"/>
              </a:rPr>
              <a:t> 탐사는 미래 탐사 기회를 줄이는 기회비용도 발생시킴</a:t>
            </a:r>
            <a:endParaRPr kumimoji="0" lang="ko-KR" altLang="en-US" sz="22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kumimoji="0" lang="ko-KR" altLang="en-US" sz="2200" b="0" i="0" u="none" strike="noStrike" kern="1200" cap="none" spc="0" normalizeH="0" dirty="0">
              <a:latin typeface="+mn-lt"/>
              <a:ea typeface="+mn-ea"/>
              <a:cs typeface="+mn-cs"/>
            </a:endParaRP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537531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자원 탐사와 개발</a:t>
            </a:r>
          </a:p>
          <a:p>
            <a:pPr marL="771360" lvl="1" indent="-314160">
              <a:buFont typeface="Arial"/>
              <a:buChar char="•"/>
              <a:defRPr/>
            </a:pPr>
            <a:r>
              <a:rPr lang="ko-KR" altLang="en-US" sz="2000" dirty="0"/>
              <a:t>자원의 채굴</a:t>
            </a:r>
            <a:r>
              <a:rPr lang="en-US" altLang="ko-KR" sz="2000" dirty="0"/>
              <a:t>,</a:t>
            </a:r>
            <a:r>
              <a:rPr lang="ko-KR" altLang="en-US" sz="2000" dirty="0"/>
              <a:t> 탐사</a:t>
            </a:r>
            <a:r>
              <a:rPr lang="en-US" altLang="ko-KR" sz="2000" dirty="0"/>
              <a:t>,</a:t>
            </a:r>
            <a:r>
              <a:rPr lang="ko-KR" altLang="en-US" sz="2000" dirty="0"/>
              <a:t> 개발에 따르는 모든 기회비용을 고려한다면</a:t>
            </a:r>
            <a:r>
              <a:rPr lang="en-US" altLang="ko-KR" sz="2000" dirty="0"/>
              <a:t>,</a:t>
            </a:r>
            <a:r>
              <a:rPr lang="ko-KR" altLang="en-US" sz="2000" dirty="0"/>
              <a:t> 고갈성 자원의 가격은 현재의 한계 채굴비용</a:t>
            </a:r>
            <a:r>
              <a:rPr lang="en-US" altLang="ko-KR" sz="2000" dirty="0"/>
              <a:t>,</a:t>
            </a:r>
            <a:r>
              <a:rPr lang="ko-KR" altLang="en-US" sz="2000" dirty="0"/>
              <a:t> 새로운 매장지를 찾는데 드는 한계 탐사비용 그리고 개발속도와 장기 공급 전망 변화에 따른 기회비용들의 상호 작용으로 결정</a:t>
            </a:r>
          </a:p>
          <a:p>
            <a:pPr marL="771360" lvl="1" indent="-314160">
              <a:buFont typeface="Arial"/>
              <a:buChar char="•"/>
              <a:defRPr/>
            </a:pPr>
            <a:endParaRPr lang="ko-KR" altLang="en-US" sz="2000" dirty="0"/>
          </a:p>
          <a:p>
            <a:pPr marL="1171410" lvl="2" indent="-314160">
              <a:buFont typeface="Arial"/>
              <a:buChar char="•"/>
              <a:defRPr/>
            </a:pPr>
            <a:r>
              <a:rPr lang="ko-KR" altLang="en-US" sz="2000" dirty="0"/>
              <a:t>자원가격이 호텔링 모형에서 예측되는 단조로운 가격 상승 경로를 따를 필요가 없음</a:t>
            </a: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679161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자본투자와 이자율 변동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호텔링 모형은 자원의 채굴이 자본 집약적이라는 점을 충분히 반영하지 못함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화석연료 산업은 초기 대규모 자본 투자 필요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자본 비용은 채굴의 진입 장벽으로 작용하며</a:t>
            </a:r>
            <a:r>
              <a:rPr lang="en-US" altLang="ko-KR" sz="2000" dirty="0"/>
              <a:t>,</a:t>
            </a:r>
            <a:r>
              <a:rPr lang="ko-KR" altLang="en-US" sz="2000" dirty="0"/>
              <a:t> 채굴이 지연될 수 있음</a:t>
            </a:r>
            <a:r>
              <a:rPr lang="en-US" altLang="ko-KR" sz="2000" dirty="0"/>
              <a:t>.</a:t>
            </a:r>
            <a:r>
              <a:rPr lang="ko-KR" altLang="en-US" sz="2000" dirty="0"/>
              <a:t> 이 경우 단기적인 자원 공급은 제한되며 가격은 상승 압력을 받게 됨</a:t>
            </a:r>
            <a:endParaRPr lang="en-US" altLang="ko-KR" sz="2000" dirty="0"/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en-US" altLang="ko-KR" sz="2000" dirty="0"/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이자율 상승은 미래의 자원 가치를 할인시켜 현재 채굴을 유도하고</a:t>
            </a:r>
            <a:r>
              <a:rPr lang="en-US" altLang="ko-KR" sz="2000" dirty="0"/>
              <a:t>,</a:t>
            </a:r>
            <a:r>
              <a:rPr lang="ko-KR" altLang="en-US" sz="2000" dirty="0"/>
              <a:t> 자원 고갈을 가속화 시킬 수 있음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그러나 자원 채굴에 대규모의 자본 투자가 필요하다면 이자율 상승은 자본 비용을 증가시켜 투자 유인을 약화시키고 초기 채굴을 억제함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이자율 상승이 자본비용에 비치는 영향이 자원의 기회비용 변화보다 클 경우 채굴량은 오히려 감소할 수 있</a:t>
            </a:r>
            <a:r>
              <a:rPr lang="ko-KR" altLang="en-US" sz="2200" dirty="0"/>
              <a:t>음</a:t>
            </a: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4039326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 dirty="0"/>
              <a:t>시장불완전성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독점적 시장 구조에서는 기업이 생산량을 제한하고 가격을 인위적으로 높이는 전략을 통해 이윤을 극대화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이 경우 독점 기업은 현재의 채굴을 의도적으로 지연시켜 미래에 더 높은 가격으로 판매할 수 있는 기회를 확보하며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이는 자원의 고갈 속도를 높이는 방향으로 작용</a:t>
            </a:r>
            <a:endParaRPr lang="en-US" altLang="ko-KR" sz="2000" dirty="0"/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독점 기업은 경쟁기업에 비해 높은 가격</a:t>
            </a:r>
            <a:r>
              <a:rPr lang="en-US" altLang="ko-KR" sz="2000" dirty="0"/>
              <a:t>,</a:t>
            </a:r>
            <a:r>
              <a:rPr lang="ko-KR" altLang="en-US" sz="2000" dirty="0"/>
              <a:t> 느린 채굴</a:t>
            </a:r>
            <a:r>
              <a:rPr lang="en-US" altLang="ko-KR" sz="2000" dirty="0"/>
              <a:t>,</a:t>
            </a:r>
            <a:r>
              <a:rPr lang="ko-KR" altLang="en-US" sz="2000" dirty="0"/>
              <a:t> 완만한 가격 상승 경로를 형성</a:t>
            </a:r>
          </a:p>
          <a:p>
            <a:pPr marL="1628610" lvl="3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정태적 자원배분 관점에서는 독점적 구조가 비효율적이나 자원보존의 관점에서는 더 보전적인 행태를 보임</a:t>
            </a:r>
          </a:p>
          <a:p>
            <a:pPr marL="1628610" lvl="3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 dirty="0"/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654314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시장불완전성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20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69825" y="2226390"/>
            <a:ext cx="7571993" cy="3530111"/>
          </a:xfrm>
          <a:prstGeom prst="rect">
            <a:avLst/>
          </a:prstGeom>
        </p:spPr>
      </p:pic>
      <p:sp>
        <p:nvSpPr>
          <p:cNvPr id="1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1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2648858" y="1767794"/>
            <a:ext cx="4853032" cy="3639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3-4]</a:t>
            </a:r>
            <a:r>
              <a:rPr lang="ko-KR" altLang="en-US"/>
              <a:t> 시장 구조와 고갈성 자원의 채굴경로</a:t>
            </a:r>
          </a:p>
        </p:txBody>
      </p:sp>
    </p:spTree>
    <p:extLst>
      <p:ext uri="{BB962C8B-B14F-4D97-AF65-F5344CB8AC3E}">
        <p14:creationId xmlns:p14="http://schemas.microsoft.com/office/powerpoint/2010/main" val="112259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시장불완전성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정부의 시장 개입</a:t>
            </a:r>
            <a:r>
              <a:rPr lang="en-US" altLang="ko-KR" sz="2000" dirty="0"/>
              <a:t>,</a:t>
            </a:r>
            <a:r>
              <a:rPr lang="ko-KR" altLang="en-US" sz="2000" dirty="0"/>
              <a:t> 특히 과세 정책은 고갈성 자원의 채굴경로뿐만아니라 자원탐사와 개발 투자에 영향을 미침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단위 채굴세가 부과되었을 때 그 세금의 현재가치가 시간이 지남에 따라 감소한다면</a:t>
            </a:r>
            <a:r>
              <a:rPr lang="en-US" altLang="ko-KR" sz="2000" dirty="0"/>
              <a:t>,</a:t>
            </a:r>
            <a:r>
              <a:rPr lang="ko-KR" altLang="en-US" sz="2000" dirty="0"/>
              <a:t> 기업은 현재보다 미래로 채굴을 유예할 유인이 존재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채굴세는 또한 자원의 기대수익율에 영향을 미쳐 새로운 매장지 탐사</a:t>
            </a:r>
            <a:r>
              <a:rPr lang="en-US" altLang="ko-KR" sz="2000" dirty="0"/>
              <a:t>,</a:t>
            </a:r>
            <a:r>
              <a:rPr lang="ko-KR" altLang="en-US" sz="2000" dirty="0"/>
              <a:t> 개발 프로젝트 투자</a:t>
            </a:r>
            <a:r>
              <a:rPr lang="en-US" altLang="ko-KR" sz="2000" dirty="0"/>
              <a:t>,</a:t>
            </a:r>
            <a:r>
              <a:rPr lang="ko-KR" altLang="en-US" sz="2000" dirty="0"/>
              <a:t> 채굴설비의 확충에 영향을 미쳐 장기적인 자원 공급능력과 가격 경로를 변화시킴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즉</a:t>
            </a:r>
            <a:r>
              <a:rPr lang="en-US" altLang="ko-KR" sz="2000" dirty="0"/>
              <a:t>,</a:t>
            </a:r>
            <a:r>
              <a:rPr lang="ko-KR" altLang="en-US" sz="2000" dirty="0"/>
              <a:t> 정부의 시장개입은 자원배분의 시간적 경로를 수정하여 시장 기반 자원의 이용 경로와 비교하여 상이한 채굴 경로를 초래</a:t>
            </a: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4083234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시장불완전성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환경적 외부효과는 유량</a:t>
            </a:r>
            <a:r>
              <a:rPr lang="en-US" altLang="ko-KR" sz="2000" dirty="0"/>
              <a:t>(flow)</a:t>
            </a:r>
            <a:r>
              <a:rPr lang="ko-KR" altLang="en-US" sz="2000" dirty="0"/>
              <a:t>효과와 저량</a:t>
            </a:r>
            <a:r>
              <a:rPr lang="en-US" altLang="ko-KR" sz="2000" dirty="0"/>
              <a:t>(stock)</a:t>
            </a:r>
            <a:r>
              <a:rPr lang="ko-KR" altLang="en-US" sz="2000" dirty="0"/>
              <a:t>효과로 구분할 수 있음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유량효과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외부효과는 기간에 따라 변하는 한계 외부피해</a:t>
            </a:r>
            <a:r>
              <a:rPr lang="en-US" altLang="ko-KR" sz="2000" dirty="0"/>
              <a:t>(marginal external damage)</a:t>
            </a:r>
            <a:r>
              <a:rPr lang="ko-KR" altLang="en-US" sz="2000" dirty="0"/>
              <a:t>의 경로에 따라 자원채굴 경로에 영향을 미침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한계 외부피해가 시간이 지남에 따라 증가한다면 미래에 채굴할 경우 더 큰 환경비용이 발생하므로 자원을 앞당겨 채굴하려는 유인이 강함</a:t>
            </a:r>
            <a:r>
              <a:rPr lang="en-US" altLang="ko-KR" sz="2000" dirty="0"/>
              <a:t>(</a:t>
            </a:r>
            <a:r>
              <a:rPr lang="ko-KR" altLang="en-US" sz="2000" dirty="0"/>
              <a:t>외부효과가 내부화 된다는 가정하에</a:t>
            </a:r>
            <a:r>
              <a:rPr lang="en-US" altLang="ko-KR" sz="2000" dirty="0"/>
              <a:t>)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저량효과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저량 외부효과는 자원의 누적 사용량이 환경에 미치는 지속적 피해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자원의 지속적 사용은 환경이 복원력</a:t>
            </a:r>
            <a:r>
              <a:rPr lang="en-US" altLang="ko-KR" sz="2000" dirty="0"/>
              <a:t>,</a:t>
            </a:r>
            <a:r>
              <a:rPr lang="ko-KR" altLang="en-US" sz="2000" dirty="0"/>
              <a:t> 저하</a:t>
            </a:r>
            <a:r>
              <a:rPr lang="en-US" altLang="ko-KR" sz="2000" dirty="0"/>
              <a:t>,</a:t>
            </a:r>
            <a:r>
              <a:rPr lang="ko-KR" altLang="en-US" sz="2000" dirty="0"/>
              <a:t> 오염의 축적</a:t>
            </a:r>
            <a:r>
              <a:rPr lang="en-US" altLang="ko-KR" sz="2000" dirty="0"/>
              <a:t>,</a:t>
            </a:r>
            <a:r>
              <a:rPr lang="ko-KR" altLang="en-US" sz="2000" dirty="0"/>
              <a:t> 지속성의 악화를 유발하며 누적효과는 사회적으로 점증하는 비용으로 해석됨</a:t>
            </a:r>
            <a:r>
              <a:rPr lang="en-US" altLang="ko-KR" sz="2000" dirty="0"/>
              <a:t>(</a:t>
            </a:r>
            <a:r>
              <a:rPr lang="ko-KR" altLang="en-US" sz="2000" dirty="0"/>
              <a:t>자원의 한계비용 상승</a:t>
            </a:r>
            <a:r>
              <a:rPr lang="en-US" altLang="ko-KR" sz="2000" dirty="0"/>
              <a:t>)</a:t>
            </a:r>
          </a:p>
          <a:p>
            <a:pPr marL="1628610" lvl="3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사회적 최적 경로에서는 채굴 속도가 느려지고 총 채굴량이 줄어드는 결과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988730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/>
              <a:t>불확실성과 고갈  자원의 공급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불확실성은 자원의 시간적 배분과 가격 경로를 왜곡시키고</a:t>
            </a:r>
            <a:r>
              <a:rPr lang="en-US" altLang="ko-KR" sz="2000"/>
              <a:t>,</a:t>
            </a:r>
            <a:r>
              <a:rPr lang="ko-KR" altLang="en-US" sz="2000"/>
              <a:t> 다양한 형태의 전략적 행태를 유발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미래 수요에 대한 예측 가능성이 낮아질 경우</a:t>
            </a:r>
            <a:r>
              <a:rPr lang="en-US" altLang="ko-KR" sz="2000"/>
              <a:t>,</a:t>
            </a:r>
            <a:r>
              <a:rPr lang="ko-KR" altLang="en-US" sz="2000"/>
              <a:t> 기업은 불확실성 회피를 위해 자원을 조기에 채굴할려는 유인을 가질 수 있음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ko-KR" altLang="en-US" sz="2000"/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불확실성이 클수록 기업은 보다 보수적인 자원관리 전략을 채택하게 되며</a:t>
            </a:r>
            <a:r>
              <a:rPr lang="en-US" altLang="ko-KR" sz="2000"/>
              <a:t>,</a:t>
            </a:r>
            <a:r>
              <a:rPr lang="ko-KR" altLang="en-US" sz="2000"/>
              <a:t> 이는 자원의 고갈 속도를 늦추는 결과를 초래</a:t>
            </a:r>
          </a:p>
          <a:p>
            <a:pPr marL="1628610" lvl="3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불확실성이 자원 가격의 상승 가능성에 대한 기대를 불러일으킬 경우</a:t>
            </a:r>
            <a:r>
              <a:rPr lang="en-US" altLang="ko-KR" sz="2000"/>
              <a:t>,</a:t>
            </a:r>
            <a:r>
              <a:rPr lang="ko-KR" altLang="en-US" sz="2000"/>
              <a:t> 단기 이익을 추구하려는 동기로 채굴이 가속화 될 수 있음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불확실성은 자원 탐사 및 개발 투자에도 부정적인 영향을 미침</a:t>
            </a:r>
          </a:p>
          <a:p>
            <a:pPr marL="1628610" lvl="3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/>
              <a:t>탐사활동에 대한 수익의 분산이 커질수록 자본 회수 불확실성이 커지며</a:t>
            </a:r>
            <a:r>
              <a:rPr lang="en-US" altLang="ko-KR" sz="2000"/>
              <a:t>,</a:t>
            </a:r>
            <a:r>
              <a:rPr lang="ko-KR" altLang="en-US" sz="2000"/>
              <a:t> 이는 장기적으로 새로운 매장량 발견 확률을 감소시켜 전체 자원 공급 능력을 제한함</a:t>
            </a: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145172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4.</a:t>
            </a:r>
            <a:r>
              <a:rPr lang="ko-KR" altLang="en-US" sz="3200"/>
              <a:t> 호텔링</a:t>
            </a:r>
            <a:r>
              <a:rPr lang="en-US" altLang="ko-KR" sz="3200"/>
              <a:t>(Hotelling)</a:t>
            </a:r>
            <a:r>
              <a:rPr lang="ko-KR" altLang="en-US" sz="3200"/>
              <a:t>모형의 확장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146628"/>
            <a:ext cx="10972798" cy="49795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200" dirty="0"/>
              <a:t>불확실성과 고갈  자원의 공급</a:t>
            </a:r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불확실성은 시장의 수요</a:t>
            </a:r>
            <a:r>
              <a:rPr lang="en-US" altLang="ko-KR" sz="2000" dirty="0"/>
              <a:t>·</a:t>
            </a:r>
            <a:r>
              <a:rPr lang="ko-KR" altLang="en-US" sz="2000" dirty="0"/>
              <a:t>공급 예측을 어렵게 만들어  자원 가격의 변동성을 증가시킴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이는 투기적 거래를 확대시키며 가격의 급등락을 유발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장기적으로 탐사와 개발 투자가 위축되어 공급 제약이 발생할  경우</a:t>
            </a:r>
            <a:r>
              <a:rPr lang="en-US" altLang="ko-KR" sz="2000" dirty="0"/>
              <a:t>,</a:t>
            </a:r>
            <a:r>
              <a:rPr lang="ko-KR" altLang="en-US" sz="2000" dirty="0"/>
              <a:t> 가격 상승 압력이 증가</a:t>
            </a:r>
            <a:endParaRPr lang="en-US" altLang="ko-KR" sz="2000" dirty="0"/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endParaRPr lang="en-US" altLang="ko-KR" sz="2000" dirty="0"/>
          </a:p>
          <a:p>
            <a:pPr marL="771360" lvl="1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불확실성은 자원채굴의 시기</a:t>
            </a:r>
            <a:r>
              <a:rPr lang="en-US" altLang="ko-KR" sz="2000" dirty="0"/>
              <a:t>,</a:t>
            </a:r>
            <a:r>
              <a:rPr lang="ko-KR" altLang="en-US" sz="2000" dirty="0"/>
              <a:t> 속도</a:t>
            </a:r>
            <a:r>
              <a:rPr lang="en-US" altLang="ko-KR" sz="2000" dirty="0"/>
              <a:t>,</a:t>
            </a:r>
            <a:r>
              <a:rPr lang="ko-KR" altLang="en-US" sz="2000" dirty="0"/>
              <a:t> 기술선택</a:t>
            </a:r>
            <a:r>
              <a:rPr lang="en-US" altLang="ko-KR" sz="2000" dirty="0"/>
              <a:t>,</a:t>
            </a:r>
            <a:r>
              <a:rPr lang="ko-KR" altLang="en-US" sz="2000" dirty="0"/>
              <a:t> 시장 구조</a:t>
            </a:r>
            <a:r>
              <a:rPr lang="en-US" altLang="ko-KR" sz="2000" dirty="0"/>
              <a:t>,</a:t>
            </a:r>
            <a:r>
              <a:rPr lang="ko-KR" altLang="en-US" sz="2000" dirty="0"/>
              <a:t> 가격 안정성 등 거의 모든 측면에서 복합적이고 상충적인 영향을 미침</a:t>
            </a:r>
          </a:p>
          <a:p>
            <a:pPr marL="1171410" lvl="2" indent="-314160">
              <a:lnSpc>
                <a:spcPts val="2642"/>
              </a:lnSpc>
              <a:spcBef>
                <a:spcPts val="528"/>
              </a:spcBef>
              <a:buFont typeface="Arial"/>
              <a:buChar char="•"/>
              <a:defRPr/>
            </a:pPr>
            <a:r>
              <a:rPr lang="ko-KR" altLang="en-US" sz="2000" dirty="0"/>
              <a:t>자원의 최적 공급 경로는 확률론적 기대와 전략적 판단을 종합적으로 반영하는 동태적 구조로 이해되어야 함</a:t>
            </a:r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103385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</a:t>
            </a:r>
            <a:r>
              <a:rPr lang="en-US" altLang="ko-KR" sz="3000"/>
              <a:t>.</a:t>
            </a:r>
            <a:r>
              <a:rPr lang="ko-KR" altLang="en-US" sz="3000"/>
              <a:t> 사회적 할인율과 지속가능성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28057"/>
            <a:ext cx="10972798" cy="4798106"/>
          </a:xfrm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 lvl="0">
              <a:defRPr/>
            </a:pPr>
            <a:r>
              <a:rPr lang="ko-KR" altLang="en-US" sz="2000" dirty="0"/>
              <a:t>호텔링 모형에서의 경쟁적 결과는</a:t>
            </a:r>
            <a:r>
              <a:rPr lang="en-US" altLang="ko-KR" sz="2000" dirty="0"/>
              <a:t>,</a:t>
            </a:r>
            <a:r>
              <a:rPr lang="ko-KR" altLang="en-US" sz="2000" dirty="0"/>
              <a:t> 자원의 잠재가격</a:t>
            </a:r>
            <a:r>
              <a:rPr lang="en-US" altLang="ko-KR" sz="2000" dirty="0"/>
              <a:t>(</a:t>
            </a:r>
            <a:r>
              <a:rPr lang="ko-KR" altLang="en-US" sz="2000" dirty="0"/>
              <a:t>한계 순이익</a:t>
            </a:r>
            <a:r>
              <a:rPr lang="en-US" altLang="ko-KR" sz="2000" dirty="0"/>
              <a:t>)</a:t>
            </a:r>
            <a:r>
              <a:rPr lang="ko-KR" altLang="en-US" sz="2000" dirty="0"/>
              <a:t>이 사회적 할인율에 맞춰 일정한 비율로 증가할 때 효율적임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이자율이 사회적으로 최적일 경우에만 자원의 채굴 경로가 사회적으로 바람직 함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현실에서 기업이 사용하는 할인율은 보통 자본 비용을 반영하기 때문에 사회적 할인율 보다 높은 경우가 많음</a:t>
            </a:r>
          </a:p>
          <a:p>
            <a:pPr lvl="1">
              <a:buFont typeface="Arial"/>
              <a:buChar char="•"/>
              <a:defRPr/>
            </a:pPr>
            <a:endParaRPr lang="ko-KR" altLang="en-US" sz="2000" dirty="0"/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민간 부문의 할인율이 사회적 할인율보다 높을 경우</a:t>
            </a:r>
            <a:r>
              <a:rPr lang="en-US" altLang="ko-KR" sz="2000" dirty="0"/>
              <a:t>,</a:t>
            </a:r>
            <a:r>
              <a:rPr lang="ko-KR" altLang="en-US" sz="2000" dirty="0"/>
              <a:t> 자원이 미래 가치는 과소평가되고 자원의 조기 채굴과 과잉 소비 발생</a:t>
            </a:r>
          </a:p>
          <a:p>
            <a:pPr lvl="1">
              <a:buFont typeface="Arial"/>
              <a:buChar char="•"/>
              <a:defRPr/>
            </a:pPr>
            <a:endParaRPr lang="ko-KR" altLang="en-US" sz="2000" dirty="0"/>
          </a:p>
          <a:p>
            <a:pPr lvl="0">
              <a:buFont typeface="Arial"/>
              <a:buChar char="•"/>
              <a:defRPr/>
            </a:pPr>
            <a:r>
              <a:rPr lang="ko-KR" altLang="en-US" sz="2000" dirty="0"/>
              <a:t>경쟁 시장 체제는 일반적으로 강한 지속가능성</a:t>
            </a:r>
            <a:r>
              <a:rPr lang="en-US" altLang="ko-KR" sz="2000" dirty="0"/>
              <a:t>(strong sustainability)</a:t>
            </a:r>
            <a:r>
              <a:rPr lang="ko-KR" altLang="en-US" sz="2000" dirty="0"/>
              <a:t>의 기준을 충족시키기 어려움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강한 지속가능성은 현재 세대가 특정 자원의 물리적 보존을 유지하면서 미래 세대에 동일한 자산을 물려줘야 한다는 입장임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이러한 기준에서는 미래를 할인하는 것 자체가 정당화될 수 없으며 본질적으로 </a:t>
            </a:r>
            <a:r>
              <a:rPr lang="en-US" altLang="ko-KR" sz="2000" dirty="0"/>
              <a:t>0%</a:t>
            </a:r>
            <a:r>
              <a:rPr lang="ko-KR" altLang="en-US" sz="2000" dirty="0"/>
              <a:t>의 할인율을 묵시적으로 요구</a:t>
            </a:r>
          </a:p>
          <a:p>
            <a:pPr lvl="0">
              <a:defRPr/>
            </a:pPr>
            <a:endParaRPr lang="ko-KR" altLang="en-US" sz="20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1170675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5</a:t>
            </a:r>
            <a:r>
              <a:rPr lang="en-US" altLang="ko-KR" sz="3000"/>
              <a:t>.</a:t>
            </a:r>
            <a:r>
              <a:rPr lang="ko-KR" altLang="en-US" sz="3000"/>
              <a:t> 사회적 할인율과 지속가능성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28057"/>
            <a:ext cx="10972798" cy="4798106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약한 지속가능성은 자연 자본이 인적</a:t>
            </a:r>
            <a:r>
              <a:rPr lang="en-US" altLang="ko-KR" sz="2000" dirty="0"/>
              <a:t>·</a:t>
            </a:r>
            <a:r>
              <a:rPr lang="ko-KR" altLang="en-US" sz="2000" dirty="0"/>
              <a:t>물적 자본으로 대체가능하다는 전제를 기반으로 하며</a:t>
            </a:r>
            <a:r>
              <a:rPr lang="en-US" altLang="ko-KR" sz="2000" dirty="0"/>
              <a:t>,</a:t>
            </a:r>
            <a:r>
              <a:rPr lang="ko-KR" altLang="en-US" sz="2000" dirty="0"/>
              <a:t> 이를 통해 전체 자본의 총량만 유지되면 지속가능성이 유지된다고 봄</a:t>
            </a:r>
          </a:p>
          <a:p>
            <a:pPr lvl="1">
              <a:buFont typeface="Arial"/>
              <a:buChar char="•"/>
              <a:defRPr/>
            </a:pPr>
            <a:endParaRPr lang="ko-KR" altLang="en-US" sz="2000" dirty="0"/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현재 세대가 석유를 더 많이 소비하면 미래에 사용할 석유는 줄어들겠지만</a:t>
            </a:r>
            <a:r>
              <a:rPr lang="en-US" altLang="ko-KR" sz="2000" dirty="0"/>
              <a:t>,</a:t>
            </a:r>
            <a:r>
              <a:rPr lang="ko-KR" altLang="en-US" sz="2000" dirty="0"/>
              <a:t> 바이오연료와 같은 대체 기술이 상용화되면 미래 세대는 동일한 수준의 석유 등가 에너지를 사용할 수 있게 됨</a:t>
            </a:r>
          </a:p>
          <a:p>
            <a:pPr lvl="2">
              <a:buFont typeface="Arial"/>
              <a:buChar char="•"/>
              <a:defRPr/>
            </a:pPr>
            <a:endParaRPr lang="ko-KR" altLang="en-US" sz="2000" dirty="0"/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이 경우 에너지 서비스의 지속가능성이 유지됨</a:t>
            </a:r>
          </a:p>
          <a:p>
            <a:pPr lvl="2">
              <a:buFont typeface="Arial"/>
              <a:buChar char="•"/>
              <a:defRPr/>
            </a:pPr>
            <a:endParaRPr lang="ko-KR" altLang="en-US" sz="2000" dirty="0"/>
          </a:p>
          <a:p>
            <a:pPr lvl="2">
              <a:buFont typeface="Arial"/>
              <a:buChar char="•"/>
              <a:defRPr/>
            </a:pPr>
            <a:endParaRPr lang="ko-KR" altLang="en-US" sz="2000" dirty="0"/>
          </a:p>
          <a:p>
            <a:pPr marL="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1824201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</a:t>
            </a:r>
            <a:r>
              <a:rPr lang="en-US" altLang="ko-KR" sz="3000"/>
              <a:t>.</a:t>
            </a:r>
            <a:r>
              <a:rPr lang="ko-KR" altLang="en-US" sz="3000"/>
              <a:t>  에너지 자원의 동적 배분과 지속가능성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28057"/>
            <a:ext cx="10972798" cy="4798106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Font typeface="Arial"/>
              <a:buChar char="•"/>
              <a:defRPr/>
            </a:pPr>
            <a:r>
              <a:rPr lang="ko-KR" altLang="en-US" sz="2000"/>
              <a:t>지속가능한 자원 배분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/>
              <a:t>경제적 접근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가격 메카니즘을 통한 희소성의 반영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시장의 왜곡된 가겨을 교정하기 위한 정책 개입</a:t>
            </a:r>
          </a:p>
          <a:p>
            <a:pPr lvl="3">
              <a:buFont typeface="Arial"/>
              <a:buChar char="•"/>
              <a:defRPr/>
            </a:pPr>
            <a:r>
              <a:rPr lang="ko-KR" altLang="en-US" sz="2000"/>
              <a:t>환경세</a:t>
            </a:r>
            <a:r>
              <a:rPr lang="en-US" altLang="ko-KR" sz="2000"/>
              <a:t>,</a:t>
            </a:r>
            <a:r>
              <a:rPr lang="ko-KR" altLang="en-US" sz="2000"/>
              <a:t> 배출권거래제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적정한 사회적 할인율의 설정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자본 축적과 대체 가능성의 개념을 반영한 정책 설계</a:t>
            </a:r>
          </a:p>
          <a:p>
            <a:pPr lvl="3">
              <a:buFont typeface="Arial"/>
              <a:buChar char="•"/>
              <a:defRPr/>
            </a:pPr>
            <a:r>
              <a:rPr lang="ko-KR" altLang="en-US" sz="2000"/>
              <a:t>약한 지속가능성</a:t>
            </a:r>
          </a:p>
          <a:p>
            <a:pPr lvl="1">
              <a:buFont typeface="Arial"/>
              <a:buChar char="•"/>
              <a:defRPr/>
            </a:pPr>
            <a:endParaRPr lang="ko-KR" altLang="en-US" sz="2000"/>
          </a:p>
          <a:p>
            <a:pPr lvl="1">
              <a:buFont typeface="Arial"/>
              <a:buChar char="•"/>
              <a:defRPr/>
            </a:pPr>
            <a:r>
              <a:rPr lang="ko-KR" altLang="en-US" sz="2000"/>
              <a:t>기술적 적근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자원 이용의 효율성 향상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/>
              <a:t>대체 자원 기술의 개발</a:t>
            </a:r>
          </a:p>
          <a:p>
            <a:pPr marL="0" lvl="0" indent="0">
              <a:buNone/>
              <a:defRPr/>
            </a:pPr>
            <a:endParaRPr lang="ko-KR" altLang="en-US" sz="200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2659942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>
              <a:defRPr/>
            </a:pPr>
            <a:r>
              <a:rPr lang="en-US" altLang="ko-KR" sz="3200"/>
              <a:t>6</a:t>
            </a:r>
            <a:r>
              <a:rPr lang="en-US" altLang="ko-KR" sz="3000"/>
              <a:t>.</a:t>
            </a:r>
            <a:r>
              <a:rPr lang="ko-KR" altLang="en-US" sz="3000"/>
              <a:t>  에너지 자원의 동적 배분과 지속가능성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599" y="1328057"/>
            <a:ext cx="10972798" cy="4798106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buFont typeface="Arial"/>
              <a:buChar char="•"/>
              <a:defRPr/>
            </a:pPr>
            <a:r>
              <a:rPr lang="ko-KR" altLang="en-US" sz="2000" dirty="0"/>
              <a:t>지속가능한 자원 배분</a:t>
            </a:r>
          </a:p>
          <a:p>
            <a:pPr lvl="1">
              <a:buFont typeface="Arial"/>
              <a:buChar char="•"/>
              <a:defRPr/>
            </a:pPr>
            <a:r>
              <a:rPr lang="ko-KR" altLang="en-US" sz="2000" dirty="0"/>
              <a:t>정책적 접근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시장실패</a:t>
            </a:r>
            <a:r>
              <a:rPr lang="en-US" altLang="ko-KR" sz="2000" dirty="0"/>
              <a:t>,</a:t>
            </a:r>
            <a:r>
              <a:rPr lang="ko-KR" altLang="en-US" sz="2000" dirty="0"/>
              <a:t> 외부효과</a:t>
            </a:r>
            <a:r>
              <a:rPr lang="en-US" altLang="ko-KR" sz="2000" dirty="0"/>
              <a:t>,</a:t>
            </a:r>
            <a:r>
              <a:rPr lang="ko-KR" altLang="en-US" sz="2000" dirty="0"/>
              <a:t> 정보 비대칭</a:t>
            </a:r>
            <a:r>
              <a:rPr lang="en-US" altLang="ko-KR" sz="2000" dirty="0"/>
              <a:t>,</a:t>
            </a:r>
            <a:r>
              <a:rPr lang="ko-KR" altLang="en-US" sz="2000" dirty="0"/>
              <a:t> 세대 간 형평성</a:t>
            </a:r>
            <a:r>
              <a:rPr lang="en-US" altLang="ko-KR" sz="2000" dirty="0"/>
              <a:t>,</a:t>
            </a:r>
            <a:r>
              <a:rPr lang="ko-KR" altLang="en-US" sz="2000" dirty="0"/>
              <a:t> 자원 배분의 불평 등 교정을 위한 공공부문의 개입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자원 소비 또는 오염 행위의 외부비용을 가격에 반영하기 위한 탄소세</a:t>
            </a:r>
            <a:r>
              <a:rPr lang="en-US" altLang="ko-KR" sz="2000" dirty="0"/>
              <a:t>,</a:t>
            </a:r>
            <a:r>
              <a:rPr lang="ko-KR" altLang="en-US" sz="2000" dirty="0"/>
              <a:t> 배출권거래제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재생에너지</a:t>
            </a:r>
            <a:r>
              <a:rPr lang="en-US" altLang="ko-KR" sz="2000" dirty="0"/>
              <a:t>,</a:t>
            </a:r>
            <a:r>
              <a:rPr lang="ko-KR" altLang="en-US" sz="2000" dirty="0"/>
              <a:t> 고효율 설비</a:t>
            </a:r>
            <a:r>
              <a:rPr lang="en-US" altLang="ko-KR" sz="2000" dirty="0"/>
              <a:t>,</a:t>
            </a:r>
            <a:r>
              <a:rPr lang="ko-KR" altLang="en-US" sz="2000"/>
              <a:t> 친환경 기술에 대한 투자 보조금과 세제 감면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자원 추출 또는 오염 배출에 대한 양적 제한이나 기술 기준 설정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민간이 진입하기 어려운 분야에서의 공공투자 및 인프라 정책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소비자와 기업의 자발적 행동 변화를 유도하고 사회적 규범 학습 효과를 제고하기 위한 정보 제공 및 행동 유도 정책</a:t>
            </a:r>
          </a:p>
          <a:p>
            <a:pPr lvl="2">
              <a:buFont typeface="Arial"/>
              <a:buChar char="•"/>
              <a:defRPr/>
            </a:pPr>
            <a:r>
              <a:rPr lang="ko-KR" altLang="en-US" sz="2000" dirty="0"/>
              <a:t>자원 배분 및 기후 변화 대응을 위한 국제 협력과 글로벌 거버너스</a:t>
            </a:r>
          </a:p>
          <a:p>
            <a:pPr lvl="2">
              <a:buFont typeface="Arial"/>
              <a:buChar char="•"/>
              <a:defRPr/>
            </a:pPr>
            <a:endParaRPr lang="ko-KR" altLang="en-US" sz="2000" dirty="0"/>
          </a:p>
          <a:p>
            <a:pPr marL="0" lvl="0" indent="0">
              <a:buNone/>
              <a:defRPr/>
            </a:pPr>
            <a:endParaRPr lang="ko-KR" altLang="en-US" sz="2000" dirty="0"/>
          </a:p>
        </p:txBody>
      </p:sp>
      <p:sp>
        <p:nvSpPr>
          <p:cNvPr id="1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1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제3장</a:t>
            </a:r>
          </a:p>
        </p:txBody>
      </p:sp>
    </p:spTree>
    <p:extLst>
      <p:ext uri="{BB962C8B-B14F-4D97-AF65-F5344CB8AC3E}">
        <p14:creationId xmlns:p14="http://schemas.microsoft.com/office/powerpoint/2010/main" val="4077213089"/>
      </p:ext>
    </p:extLst>
  </p:cSld>
  <p:clrMapOvr>
    <a:masterClrMapping/>
  </p:clrMapOvr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1984</Words>
  <Application>Microsoft Office PowerPoint</Application>
  <PresentationFormat>와이드스크린</PresentationFormat>
  <Paragraphs>254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나눔스퀘어 네오 OTF Heavy</vt:lpstr>
      <vt:lpstr>맑은 고딕</vt:lpstr>
      <vt:lpstr>Arial</vt:lpstr>
      <vt:lpstr>Calibri</vt:lpstr>
      <vt:lpstr>Cambria Math</vt:lpstr>
      <vt:lpstr>한컴오피스</vt:lpstr>
      <vt:lpstr>PowerPoint 프레젠테이션</vt:lpstr>
      <vt:lpstr>제3장 에너지 자원의 시간에 걸친 동적 배분 </vt:lpstr>
      <vt:lpstr>1. 서론</vt:lpstr>
      <vt:lpstr>2. 고갈성 에너지 자원의 공급과 동태분석</vt:lpstr>
      <vt:lpstr>3. 호텔링(Hotelling)모형</vt:lpstr>
      <vt:lpstr>3. 호텔링(Hotelling)모형</vt:lpstr>
      <vt:lpstr>3. 호텔링(Hotelling)모형</vt:lpstr>
      <vt:lpstr>3. 호텔링(Hotelling)모형</vt:lpstr>
      <vt:lpstr>3. 호텔링(Hotelling)모형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4. 호텔링(Hotelling)모형의 확장</vt:lpstr>
      <vt:lpstr>5. 사회적 할인율과 지속가능성</vt:lpstr>
      <vt:lpstr>5. 사회적 할인율과 지속가능성</vt:lpstr>
      <vt:lpstr>6.  에너지 자원의 동적 배분과 지속가능성</vt:lpstr>
      <vt:lpstr>6.  에너지 자원의 동적 배분과 지속가능성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제3장 에너지 시장의 수요와 공급</dc:title>
  <dc:creator>admin</dc:creator>
  <cp:lastModifiedBy>장 규식</cp:lastModifiedBy>
  <cp:revision>84</cp:revision>
  <dcterms:created xsi:type="dcterms:W3CDTF">2026-01-09T02:29:36Z</dcterms:created>
  <dcterms:modified xsi:type="dcterms:W3CDTF">2026-02-25T21:44:19Z</dcterms:modified>
  <cp:version>13.0.0.2760</cp:version>
</cp:coreProperties>
</file>