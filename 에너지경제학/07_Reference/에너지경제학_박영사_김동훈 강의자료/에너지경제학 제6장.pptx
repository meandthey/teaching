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7" r:id="rId2"/>
    <p:sldId id="258" r:id="rId3"/>
    <p:sldId id="337" r:id="rId4"/>
    <p:sldId id="338" r:id="rId5"/>
    <p:sldId id="339" r:id="rId6"/>
    <p:sldId id="340" r:id="rId7"/>
    <p:sldId id="341" r:id="rId8"/>
    <p:sldId id="284" r:id="rId9"/>
    <p:sldId id="342" r:id="rId10"/>
    <p:sldId id="343" r:id="rId11"/>
    <p:sldId id="344" r:id="rId12"/>
    <p:sldId id="345" r:id="rId13"/>
    <p:sldId id="350" r:id="rId14"/>
    <p:sldId id="349" r:id="rId15"/>
    <p:sldId id="351" r:id="rId16"/>
    <p:sldId id="354" r:id="rId17"/>
    <p:sldId id="353" r:id="rId18"/>
    <p:sldId id="355" r:id="rId19"/>
    <p:sldId id="347" r:id="rId20"/>
    <p:sldId id="357" r:id="rId21"/>
    <p:sldId id="358" r:id="rId22"/>
    <p:sldId id="360" r:id="rId23"/>
    <p:sldId id="359" r:id="rId24"/>
    <p:sldId id="361" r:id="rId25"/>
    <p:sldId id="362" r:id="rId26"/>
    <p:sldId id="363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80" r:id="rId37"/>
    <p:sldId id="381" r:id="rId38"/>
    <p:sldId id="374" r:id="rId39"/>
    <p:sldId id="379" r:id="rId40"/>
    <p:sldId id="375" r:id="rId41"/>
    <p:sldId id="376" r:id="rId42"/>
    <p:sldId id="377" r:id="rId43"/>
    <p:sldId id="378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3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76" d="100"/>
          <a:sy n="76" d="100"/>
        </p:scale>
        <p:origin x="1056" y="58"/>
      </p:cViewPr>
      <p:guideLst>
        <p:guide orient="horz" pos="2152"/>
        <p:guide pos="3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45178B10-8D1D-491B-B9B7-4038A81CD24B}"/>
    <pc:docChg chg="modSld">
      <pc:chgData name="donghun kim" userId="ea4930dfa3cfe607" providerId="LiveId" clId="{45178B10-8D1D-491B-B9B7-4038A81CD24B}" dt="2026-02-25T03:48:58.656" v="0" actId="255"/>
      <pc:docMkLst>
        <pc:docMk/>
      </pc:docMkLst>
      <pc:sldChg chg="modSp mod">
        <pc:chgData name="donghun kim" userId="ea4930dfa3cfe607" providerId="LiveId" clId="{45178B10-8D1D-491B-B9B7-4038A81CD24B}" dt="2026-02-25T03:48:58.656" v="0" actId="255"/>
        <pc:sldMkLst>
          <pc:docMk/>
          <pc:sldMk cId="517763501" sldId="349"/>
        </pc:sldMkLst>
        <pc:spChg chg="mod">
          <ac:chgData name="donghun kim" userId="ea4930dfa3cfe607" providerId="LiveId" clId="{45178B10-8D1D-491B-B9B7-4038A81CD24B}" dt="2026-02-25T03:48:58.656" v="0" actId="255"/>
          <ac:spMkLst>
            <pc:docMk/>
            <pc:sldMk cId="517763501" sldId="34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4" y="175336"/>
            <a:ext cx="11823638" cy="649978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6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천연가스 시장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  <p:sp>
        <p:nvSpPr>
          <p:cNvPr id="3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/>
          <a:lstStyle/>
          <a:p>
            <a:pPr lvl="0">
              <a:defRPr/>
            </a:pPr>
            <a:r>
              <a:rPr lang="ko-KR" altLang="en-US" sz="2200" dirty="0"/>
              <a:t>천연가스는 주로 메탄</a:t>
            </a:r>
            <a:r>
              <a:rPr lang="en-US" altLang="ko-KR" sz="2200" dirty="0"/>
              <a:t>(CH4)</a:t>
            </a:r>
            <a:r>
              <a:rPr lang="ko-KR" altLang="en-US" sz="2200" dirty="0"/>
              <a:t>으로 구성되어 있으며</a:t>
            </a:r>
            <a:r>
              <a:rPr lang="en-US" altLang="ko-KR" sz="2200" dirty="0"/>
              <a:t>, </a:t>
            </a:r>
            <a:r>
              <a:rPr lang="ko-KR" altLang="en-US" sz="2200" dirty="0"/>
              <a:t>화석연료 중 가장 청정한 연료로 평가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기후변화 대응과 에너지 전환 과정에서 교량 연료</a:t>
            </a:r>
            <a:r>
              <a:rPr lang="en-US" altLang="ko-KR" sz="2000" dirty="0"/>
              <a:t>(Bridge fuel)</a:t>
            </a:r>
            <a:r>
              <a:rPr lang="ko-KR" altLang="en-US" sz="2000" dirty="0"/>
              <a:t>로서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재생에너지의 간헐성을 보완하는 발전원으로 활용 가능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1821</a:t>
            </a:r>
            <a:r>
              <a:rPr lang="ko-KR" altLang="en-US" sz="2000" dirty="0"/>
              <a:t>년 미국 뉴욕주 프레도니아에서 세계최초의</a:t>
            </a:r>
            <a:r>
              <a:rPr lang="en-US" altLang="ko-KR" sz="2000" dirty="0"/>
              <a:t> </a:t>
            </a:r>
            <a:r>
              <a:rPr lang="ko-KR" altLang="en-US" sz="2000" dirty="0"/>
              <a:t>천연가스 우물 시추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1850</a:t>
            </a:r>
            <a:r>
              <a:rPr lang="ko-KR" altLang="en-US" sz="2000" dirty="0"/>
              <a:t>년대 중반부터 도시의 가로등 점등이나 가정의 난방용으로 사용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1859</a:t>
            </a:r>
            <a:r>
              <a:rPr lang="ko-KR" altLang="en-US" sz="2000" dirty="0"/>
              <a:t>년 펜실베이나 타이터스빌에서 이루어진 최초의 석유 시추는 석유뿐만 아니라 천연가스 산업 발전에도 기폭제 역할을 함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1920</a:t>
            </a:r>
            <a:r>
              <a:rPr lang="ko-KR" altLang="en-US" sz="2000" dirty="0"/>
              <a:t>년대부터 장거리 천연가스 파이프라인이 건설되기 시작했고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1927</a:t>
            </a:r>
            <a:r>
              <a:rPr lang="ko-KR" altLang="en-US" sz="2000" dirty="0"/>
              <a:t>년 인디애나주와 시카고를 잇는 미국 최초의 장거리 파이프라인이 가동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1950</a:t>
            </a:r>
            <a:r>
              <a:rPr lang="ko-KR" altLang="en-US" sz="2000" dirty="0"/>
              <a:t>년</a:t>
            </a:r>
            <a:r>
              <a:rPr lang="en-US" altLang="ko-KR" sz="2000" dirty="0"/>
              <a:t>~1960</a:t>
            </a:r>
            <a:r>
              <a:rPr lang="ko-KR" altLang="en-US" sz="2000" dirty="0"/>
              <a:t>년대는 천연가스 산업의 황금기</a:t>
            </a:r>
            <a:r>
              <a:rPr lang="en-US" altLang="ko-KR" sz="2000" dirty="0"/>
              <a:t>,</a:t>
            </a:r>
            <a:r>
              <a:rPr lang="ko-KR" altLang="en-US" sz="2000" dirty="0"/>
              <a:t> 가정용과 산업용 에너지원으로서 천연가스의 수요가 대폭발</a:t>
            </a:r>
          </a:p>
          <a:p>
            <a:pPr lvl="1">
              <a:buChar char="•"/>
              <a:defRPr/>
            </a:pPr>
            <a:r>
              <a:rPr lang="en-US" altLang="ko-KR" sz="2000" dirty="0"/>
              <a:t>1980</a:t>
            </a:r>
            <a:r>
              <a:rPr lang="ko-KR" altLang="en-US" sz="2000" dirty="0"/>
              <a:t>년대와 </a:t>
            </a:r>
            <a:r>
              <a:rPr lang="en-US" altLang="ko-KR" sz="2000" dirty="0"/>
              <a:t>1990</a:t>
            </a:r>
            <a:r>
              <a:rPr lang="ko-KR" altLang="en-US" sz="2000" dirty="0"/>
              <a:t>년대는 천연가스의 국제 무역이 본격화된 시기로</a:t>
            </a:r>
            <a:r>
              <a:rPr lang="en-US" altLang="ko-KR" sz="2000" dirty="0"/>
              <a:t>,</a:t>
            </a:r>
            <a:r>
              <a:rPr lang="ko-KR" altLang="en-US" sz="2000" dirty="0"/>
              <a:t> 액화천연가스</a:t>
            </a:r>
            <a:r>
              <a:rPr lang="en-US" altLang="ko-KR" sz="2000" dirty="0"/>
              <a:t>(</a:t>
            </a:r>
            <a:r>
              <a:rPr lang="en-US" altLang="ko-KR" sz="2000" dirty="0" err="1"/>
              <a:t>LNG:Liquefied</a:t>
            </a:r>
            <a:r>
              <a:rPr lang="en-US" altLang="ko-KR" sz="2000" dirty="0"/>
              <a:t> Natural Gas)</a:t>
            </a:r>
            <a:r>
              <a:rPr lang="ko-KR" altLang="en-US" sz="2000" dirty="0"/>
              <a:t> 기술의 발달이 중요한 전환점을 제공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/>
          <a:lstStyle/>
          <a:p>
            <a:pPr lvl="1">
              <a:buChar char="•"/>
              <a:defRPr/>
            </a:pPr>
            <a:r>
              <a:rPr lang="en-US" altLang="ko-KR" sz="2000" dirty="0"/>
              <a:t>21</a:t>
            </a:r>
            <a:r>
              <a:rPr lang="ko-KR" altLang="en-US" sz="2000" dirty="0"/>
              <a:t>세기 들어 셰일가스 </a:t>
            </a:r>
            <a:r>
              <a:rPr lang="en-US" altLang="ko-KR" sz="2000" dirty="0"/>
              <a:t> </a:t>
            </a:r>
            <a:r>
              <a:rPr lang="ko-KR" altLang="en-US" sz="2000" dirty="0"/>
              <a:t>혁명은 천연가스 공급구조에 지대한 변화를 초래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수압파쇄법과 수평시추 기술의 결합은 경제성이 낮았던 비전통적 자원의 가스 생산을 가능케 하였으며 미국은 세계 최대의 천연가스 생산국으로 부상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향후 천연가스 산업은 기술혁신과 환경적 고려를 통해 탈탄소 에너지체제 구축에 중요한 위치를 차지할 것으로 예상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528077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천연가스의 특징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열효율이 높음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천연가스를 사용하는 복합화력발전소의 열효율은 </a:t>
            </a:r>
            <a:r>
              <a:rPr lang="en-US" altLang="ko-KR" sz="2000" dirty="0"/>
              <a:t>60%</a:t>
            </a:r>
            <a:r>
              <a:rPr lang="ko-KR" altLang="en-US" sz="2000" dirty="0"/>
              <a:t>로 석탄화력의 평균효율인 </a:t>
            </a:r>
            <a:r>
              <a:rPr lang="en-US" altLang="ko-KR" sz="2000" dirty="0"/>
              <a:t>35~45%</a:t>
            </a:r>
            <a:r>
              <a:rPr lang="ko-KR" altLang="en-US" sz="2000" dirty="0"/>
              <a:t>를 크게 상회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친환경성</a:t>
            </a:r>
          </a:p>
          <a:p>
            <a:pPr lvl="2"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천연가스 연소시 이산화탄소</a:t>
            </a:r>
            <a:r>
              <a:rPr lang="en-US" altLang="ko-KR" sz="2000" dirty="0"/>
              <a:t>(CO</a:t>
            </a:r>
            <a:r>
              <a:rPr lang="en-US" altLang="ko-KR" sz="2000" baseline="-24000" dirty="0">
                <a:solidFill>
                  <a:schemeClr val="tx1"/>
                </a:solidFill>
              </a:rPr>
              <a:t>2</a:t>
            </a:r>
            <a:r>
              <a:rPr lang="en-US" altLang="ko-KR" sz="2000" dirty="0"/>
              <a:t>) </a:t>
            </a:r>
            <a:r>
              <a:rPr lang="ko-KR" altLang="en-US" sz="2000" dirty="0"/>
              <a:t>배출량은</a:t>
            </a:r>
            <a:r>
              <a:rPr lang="en-US" altLang="ko-KR" sz="2000" dirty="0"/>
              <a:t> </a:t>
            </a:r>
            <a:r>
              <a:rPr lang="ko-KR" altLang="en-US" sz="2000" dirty="0"/>
              <a:t>석탄대비 약 </a:t>
            </a:r>
            <a:r>
              <a:rPr lang="en-US" altLang="ko-KR" sz="2000" dirty="0"/>
              <a:t>50%,</a:t>
            </a:r>
            <a:r>
              <a:rPr lang="ko-KR" altLang="en-US" sz="2000" dirty="0"/>
              <a:t> 석유 대비 약 </a:t>
            </a:r>
            <a:r>
              <a:rPr lang="en-US" altLang="ko-KR" sz="2000" dirty="0"/>
              <a:t>25%</a:t>
            </a:r>
            <a:r>
              <a:rPr lang="ko-KR" altLang="en-US" sz="2000" dirty="0"/>
              <a:t> 낮음</a:t>
            </a:r>
          </a:p>
          <a:p>
            <a:pPr lvl="2"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황산화물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SOx</a:t>
            </a:r>
            <a:r>
              <a:rPr lang="en-US" altLang="ko-KR" sz="2000" dirty="0"/>
              <a:t>), </a:t>
            </a:r>
            <a:r>
              <a:rPr lang="ko-KR" altLang="en-US" sz="2000" dirty="0"/>
              <a:t>질소산화물</a:t>
            </a:r>
            <a:r>
              <a:rPr lang="en-US" altLang="ko-KR" sz="2000" dirty="0"/>
              <a:t>(NOx), </a:t>
            </a:r>
            <a:r>
              <a:rPr lang="ko-KR" altLang="en-US" sz="2000" dirty="0"/>
              <a:t>미세먼지</a:t>
            </a:r>
            <a:r>
              <a:rPr lang="en-US" altLang="ko-KR" sz="2000" dirty="0"/>
              <a:t>(PM)</a:t>
            </a:r>
            <a:r>
              <a:rPr lang="ko-KR" altLang="en-US" sz="2000" dirty="0"/>
              <a:t>등의 유배물질 배출도 낮음</a:t>
            </a:r>
          </a:p>
          <a:p>
            <a:pPr lvl="0">
              <a:spcBef>
                <a:spcPts val="480"/>
              </a:spcBef>
              <a:buChar char="•"/>
              <a:defRPr/>
            </a:pPr>
            <a:endParaRPr lang="ko-KR" altLang="en-US" sz="2000" dirty="0"/>
          </a:p>
          <a:p>
            <a:pPr lvl="1"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물리적 강점</a:t>
            </a:r>
          </a:p>
          <a:p>
            <a:pPr lvl="2">
              <a:spcBef>
                <a:spcPts val="480"/>
              </a:spcBef>
              <a:buChar char="•"/>
              <a:defRPr/>
            </a:pPr>
            <a:r>
              <a:rPr lang="ko-KR" altLang="en-US" sz="2000" dirty="0"/>
              <a:t>기체상태의 천연가스를 섭씨</a:t>
            </a:r>
            <a:r>
              <a:rPr lang="en-US" altLang="ko-KR" sz="2000" dirty="0"/>
              <a:t>-162</a:t>
            </a:r>
            <a:r>
              <a:rPr lang="ko-KR" altLang="en-US" sz="2000" dirty="0"/>
              <a:t>도까지 냉각하면 액화천연가스</a:t>
            </a:r>
            <a:r>
              <a:rPr lang="en-US" altLang="ko-KR" sz="2000" dirty="0"/>
              <a:t>(LNG)</a:t>
            </a:r>
            <a:r>
              <a:rPr lang="ko-KR" altLang="en-US" sz="2000" dirty="0"/>
              <a:t>로 전환되며 부피는 </a:t>
            </a:r>
            <a:r>
              <a:rPr lang="en-US" altLang="ko-KR" sz="2000" dirty="0"/>
              <a:t>1/600</a:t>
            </a:r>
            <a:r>
              <a:rPr lang="ko-KR" altLang="en-US" sz="2000" dirty="0"/>
              <a:t>수준으로 감소</a:t>
            </a:r>
            <a:r>
              <a:rPr lang="en-US" altLang="ko-KR" sz="2000" dirty="0"/>
              <a:t>.</a:t>
            </a:r>
            <a:r>
              <a:rPr lang="ko-KR" altLang="en-US" sz="2000" dirty="0"/>
              <a:t> 이는 천연가스를 장거리</a:t>
            </a:r>
            <a:r>
              <a:rPr lang="en-US" altLang="ko-KR" sz="2000" dirty="0"/>
              <a:t>,</a:t>
            </a:r>
            <a:r>
              <a:rPr lang="ko-KR" altLang="en-US" sz="2000" dirty="0"/>
              <a:t> 대륙 간 수송에 적합한 형태로 만들어 줌</a:t>
            </a:r>
            <a:endParaRPr lang="en-US" altLang="ko-KR" sz="2000" dirty="0"/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44211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2.</a:t>
            </a:r>
            <a:r>
              <a:rPr lang="ko-KR" altLang="en-US" sz="3200" dirty="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천연가스의 특징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안정성 측면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천연가스는 공기보다 가볍기 때문에 누출 시 개방된 공간에서는 빠르게 확산되어 연소 및 폭발의 위험이 낮아지는 반면</a:t>
            </a:r>
            <a:r>
              <a:rPr lang="en-US" altLang="ko-KR" sz="2000" dirty="0"/>
              <a:t>,</a:t>
            </a:r>
            <a:r>
              <a:rPr lang="ko-KR" altLang="en-US" sz="2000" dirty="0"/>
              <a:t> 밀폐된 공간에서는 가스가 축적되어 폭발 위험이 증가</a:t>
            </a:r>
            <a:endParaRPr lang="en-US" altLang="ko-KR" sz="2000" dirty="0"/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r>
              <a:rPr lang="ko-KR" altLang="en-US" sz="2000" dirty="0"/>
              <a:t>천연가스는 무색무취의 성질을 지니며</a:t>
            </a:r>
            <a:r>
              <a:rPr lang="en-US" altLang="ko-KR" sz="2000" dirty="0"/>
              <a:t>,</a:t>
            </a:r>
            <a:r>
              <a:rPr lang="ko-KR" altLang="en-US" sz="2000" dirty="0"/>
              <a:t> 대부분의 국가는 가스 누출을 감지할 수 있는 부취제를 첨가하여 안정성 확보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지리적 측면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석유보다 천연가스는 상대적으로 더 넓게 매장되어 있어 공급 다변화에 유리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lvl="3">
              <a:buChar char="•"/>
              <a:defRPr/>
            </a:pPr>
            <a:r>
              <a:rPr lang="ko-KR" altLang="en-US" sz="1600" dirty="0"/>
              <a:t>지리적 분산성은 특정 지역의 정치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불안전성이 전체 공급망에 미치는 영향을 완화하고 국제 천연시장의 구조적 안정성 확보에 기여</a:t>
            </a:r>
          </a:p>
          <a:p>
            <a:pPr lvl="2">
              <a:buChar char="•"/>
              <a:defRPr/>
            </a:pPr>
            <a:endParaRPr lang="en-US" altLang="ko-KR" sz="2000" dirty="0"/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5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520985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천연가스의 분류</a:t>
            </a:r>
          </a:p>
          <a:p>
            <a:pPr lvl="0">
              <a:buChar char="•"/>
              <a:defRPr/>
            </a:pPr>
            <a:r>
              <a:rPr lang="ko-KR" altLang="en-US" sz="2000" dirty="0"/>
              <a:t>메탄순도와 탄화수소 성분 포함여부에 따른 분류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드라이 가스</a:t>
            </a:r>
            <a:r>
              <a:rPr lang="en-US" altLang="ko-KR" sz="2000" dirty="0"/>
              <a:t>(dry gas)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메탄 비중이 약 </a:t>
            </a:r>
            <a:r>
              <a:rPr lang="en-US" altLang="ko-KR" sz="2000" dirty="0"/>
              <a:t>90%</a:t>
            </a:r>
            <a:r>
              <a:rPr lang="ko-KR" altLang="en-US" sz="2000" dirty="0"/>
              <a:t> 이상으로</a:t>
            </a:r>
            <a:r>
              <a:rPr lang="en-US" altLang="ko-KR" sz="2000" dirty="0"/>
              <a:t>,</a:t>
            </a:r>
            <a:r>
              <a:rPr lang="ko-KR" altLang="en-US" sz="2000" dirty="0"/>
              <a:t> 기타 탄화수소 성분</a:t>
            </a:r>
            <a:r>
              <a:rPr lang="en-US" altLang="ko-KR" sz="2000" dirty="0"/>
              <a:t>(</a:t>
            </a:r>
            <a:r>
              <a:rPr lang="ko-KR" altLang="en-US" sz="2000" dirty="0"/>
              <a:t>에탄</a:t>
            </a:r>
            <a:r>
              <a:rPr lang="en-US" altLang="ko-KR" sz="2000" dirty="0"/>
              <a:t>,</a:t>
            </a:r>
            <a:r>
              <a:rPr lang="ko-KR" altLang="en-US" sz="2000" dirty="0"/>
              <a:t> 프로판</a:t>
            </a:r>
            <a:r>
              <a:rPr lang="en-US" altLang="ko-KR" sz="2000" dirty="0"/>
              <a:t>,</a:t>
            </a:r>
            <a:r>
              <a:rPr lang="ko-KR" altLang="en-US" sz="2000" dirty="0"/>
              <a:t> 부탄 등</a:t>
            </a:r>
            <a:r>
              <a:rPr lang="en-US" altLang="ko-KR" sz="2000" dirty="0"/>
              <a:t>)</a:t>
            </a:r>
            <a:r>
              <a:rPr lang="ko-KR" altLang="en-US" sz="2000" dirty="0"/>
              <a:t>이 거의 포함되어 있지 않아 정제가 단순하며</a:t>
            </a:r>
            <a:r>
              <a:rPr lang="en-US" altLang="ko-KR" sz="2000" dirty="0"/>
              <a:t>,</a:t>
            </a:r>
            <a:r>
              <a:rPr lang="ko-KR" altLang="en-US" sz="2000" dirty="0"/>
              <a:t> 연료용으로 곧바로 사용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도시가스</a:t>
            </a:r>
            <a:r>
              <a:rPr lang="en-US" altLang="ko-KR" sz="2000" dirty="0"/>
              <a:t>,</a:t>
            </a:r>
            <a:r>
              <a:rPr lang="ko-KR" altLang="en-US" sz="2000" dirty="0"/>
              <a:t> 발전용 연료 등 직접 연소형 시장에 적합</a:t>
            </a:r>
            <a:r>
              <a:rPr lang="en-US" altLang="ko-KR" sz="2000" dirty="0"/>
              <a:t>,</a:t>
            </a:r>
            <a:r>
              <a:rPr lang="ko-KR" altLang="en-US" sz="2000" dirty="0"/>
              <a:t> 파이프라인을 통한 장거리 수송에 효율적</a:t>
            </a:r>
            <a:endParaRPr lang="en-US" altLang="ko-KR" sz="2000" dirty="0"/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웻가스</a:t>
            </a:r>
            <a:r>
              <a:rPr lang="en-US" altLang="ko-KR" sz="2000" dirty="0"/>
              <a:t>(</a:t>
            </a:r>
            <a:r>
              <a:rPr lang="en-US" altLang="ko-KR" sz="2000" dirty="0" err="1"/>
              <a:t>weg</a:t>
            </a:r>
            <a:r>
              <a:rPr lang="en-US" altLang="ko-KR" sz="2000" dirty="0"/>
              <a:t> gas)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에탄</a:t>
            </a:r>
            <a:r>
              <a:rPr lang="en-US" altLang="ko-KR" sz="2000" dirty="0"/>
              <a:t>,</a:t>
            </a:r>
            <a:r>
              <a:rPr lang="ko-KR" altLang="en-US" sz="2000" dirty="0"/>
              <a:t> 프로판</a:t>
            </a:r>
            <a:r>
              <a:rPr lang="en-US" altLang="ko-KR" sz="2000" dirty="0"/>
              <a:t>,</a:t>
            </a:r>
            <a:r>
              <a:rPr lang="ko-KR" altLang="en-US" sz="2000" dirty="0"/>
              <a:t> 부탄 등 중간 탄화수소가 다량 포함되어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 성분들을 추출해 부가가치가 높은 액화석유가스</a:t>
            </a:r>
            <a:r>
              <a:rPr lang="en-US" altLang="ko-KR" sz="2000" dirty="0"/>
              <a:t>(LPG)</a:t>
            </a:r>
            <a:r>
              <a:rPr lang="ko-KR" altLang="en-US" sz="2000" dirty="0"/>
              <a:t>나 석유화학 원료</a:t>
            </a:r>
            <a:r>
              <a:rPr lang="en-US" altLang="ko-KR" sz="2000" dirty="0"/>
              <a:t>(NGLs)</a:t>
            </a:r>
            <a:r>
              <a:rPr lang="ko-KR" altLang="en-US" sz="2000" dirty="0"/>
              <a:t>로</a:t>
            </a:r>
            <a:r>
              <a:rPr lang="en-US" altLang="ko-KR" sz="2000" dirty="0"/>
              <a:t> </a:t>
            </a:r>
            <a:r>
              <a:rPr lang="ko-KR" altLang="en-US" sz="2000" dirty="0"/>
              <a:t>활용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가스 처리 공정을 거쳐야 하며</a:t>
            </a:r>
            <a:r>
              <a:rPr lang="en-US" altLang="ko-KR" sz="2000" dirty="0"/>
              <a:t>,</a:t>
            </a:r>
            <a:r>
              <a:rPr lang="ko-KR" altLang="en-US" sz="2000" dirty="0"/>
              <a:t> 냉각</a:t>
            </a:r>
            <a:r>
              <a:rPr lang="en-US" altLang="ko-KR" sz="2000" dirty="0"/>
              <a:t>·</a:t>
            </a:r>
            <a:r>
              <a:rPr lang="ko-KR" altLang="en-US" sz="2000" dirty="0"/>
              <a:t>압축</a:t>
            </a:r>
            <a:r>
              <a:rPr lang="en-US" altLang="ko-KR" sz="2000" dirty="0"/>
              <a:t>·</a:t>
            </a:r>
            <a:r>
              <a:rPr lang="ko-KR" altLang="en-US" sz="2000" dirty="0"/>
              <a:t>탈탄소화 설비 등 고가의 인프라가 요구되므로</a:t>
            </a:r>
            <a:r>
              <a:rPr lang="en-US" altLang="ko-KR" sz="2000" dirty="0"/>
              <a:t>,</a:t>
            </a:r>
            <a:r>
              <a:rPr lang="ko-KR" altLang="en-US" sz="2000" dirty="0"/>
              <a:t> 초기 투자비용과 운송비용이 상대적 큼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endParaRPr lang="en-US" altLang="ko-KR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877512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buChar char="•"/>
              <a:defRPr/>
            </a:pPr>
            <a:r>
              <a:rPr lang="ko-KR" altLang="en-US" sz="2000" dirty="0"/>
              <a:t>천연가스의 분류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매장 형태에 따른 분류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어소시에이티드 가스</a:t>
            </a:r>
            <a:r>
              <a:rPr lang="en-US" altLang="ko-KR" sz="2000" dirty="0"/>
              <a:t>(associated gas)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석유와 함께 동일한 지층에 공존하며</a:t>
            </a:r>
            <a:r>
              <a:rPr lang="en-US" altLang="ko-KR" sz="2000" dirty="0"/>
              <a:t>,</a:t>
            </a:r>
            <a:r>
              <a:rPr lang="ko-KR" altLang="en-US" sz="2000" dirty="0"/>
              <a:t> 원유 생산 과정에서 부산물로 발생하는 가스를 의미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과거에는 기술과 경제성 등의 이유로 대부분 연소</a:t>
            </a:r>
            <a:r>
              <a:rPr lang="en-US" altLang="ko-KR" sz="2000" dirty="0"/>
              <a:t>(</a:t>
            </a:r>
            <a:r>
              <a:rPr lang="ko-KR" altLang="en-US" sz="2000" dirty="0"/>
              <a:t>플레어링</a:t>
            </a:r>
            <a:r>
              <a:rPr lang="en-US" altLang="ko-KR" sz="2000" dirty="0"/>
              <a:t>)</a:t>
            </a:r>
            <a:r>
              <a:rPr lang="ko-KR" altLang="en-US" sz="2000" dirty="0"/>
              <a:t>되거나 지하에 재주입되었으나</a:t>
            </a:r>
            <a:r>
              <a:rPr lang="en-US" altLang="ko-KR" sz="2000" dirty="0"/>
              <a:t>,</a:t>
            </a:r>
            <a:r>
              <a:rPr lang="ko-KR" altLang="en-US" sz="2000" dirty="0"/>
              <a:t> 최근에는 회수 및 이용이 증가</a:t>
            </a:r>
          </a:p>
          <a:p>
            <a:pPr lvl="2">
              <a:buChar char="•"/>
              <a:defRPr/>
            </a:pPr>
            <a:endParaRPr lang="en-US" altLang="ko-KR" sz="2000" dirty="0"/>
          </a:p>
          <a:p>
            <a:pPr lvl="1">
              <a:buChar char="•"/>
              <a:defRPr/>
            </a:pPr>
            <a:r>
              <a:rPr lang="ko-KR" altLang="en-US" sz="2000" dirty="0"/>
              <a:t>넌어소시에이티드 가스</a:t>
            </a:r>
            <a:r>
              <a:rPr lang="en-US" altLang="ko-KR" sz="2000" dirty="0"/>
              <a:t>(non-associated gas)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독립적인 가스전에서 생산되며 가스를 주요 자원으로 상정한 개발 프로젝트에서 생산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상대적으로 품질이 균일하고</a:t>
            </a:r>
            <a:r>
              <a:rPr lang="en-US" altLang="ko-KR" sz="2000" dirty="0"/>
              <a:t>,</a:t>
            </a:r>
            <a:r>
              <a:rPr lang="ko-KR" altLang="en-US" sz="2000" dirty="0"/>
              <a:t> 생산 계획 및 가격 책정이 독립적으로 가능하기 때문에 </a:t>
            </a:r>
            <a:r>
              <a:rPr lang="en-US" altLang="ko-KR" sz="2000" dirty="0"/>
              <a:t>LNG </a:t>
            </a:r>
            <a:r>
              <a:rPr lang="ko-KR" altLang="en-US" sz="2000" dirty="0"/>
              <a:t>수출</a:t>
            </a:r>
            <a:r>
              <a:rPr lang="en-US" altLang="ko-KR" sz="2000" dirty="0"/>
              <a:t>,</a:t>
            </a:r>
            <a:r>
              <a:rPr lang="ko-KR" altLang="en-US" sz="2000" dirty="0"/>
              <a:t> 도시가스 공급 등 고부가가치 시장을 겨냥한 전략적 활용이 용이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endParaRPr lang="en-US" altLang="ko-KR" sz="20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26374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 dirty="0"/>
              <a:t>2.</a:t>
            </a:r>
            <a:r>
              <a:rPr lang="ko-KR" altLang="en-US" sz="3200" dirty="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공급사슬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탐사 및 생산</a:t>
            </a:r>
            <a:r>
              <a:rPr lang="en-US" altLang="ko-KR" sz="2000" dirty="0"/>
              <a:t>(exploration and production)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지리학적 모델링</a:t>
            </a:r>
            <a:r>
              <a:rPr lang="en-US" altLang="ko-KR" sz="2000" dirty="0"/>
              <a:t>,</a:t>
            </a:r>
            <a:r>
              <a:rPr lang="ko-KR" altLang="en-US" sz="2000" dirty="0"/>
              <a:t> 지진파 탐사</a:t>
            </a:r>
            <a:r>
              <a:rPr lang="en-US" altLang="ko-KR" sz="2000" dirty="0"/>
              <a:t>(seismic survey), </a:t>
            </a:r>
            <a:r>
              <a:rPr lang="ko-KR" altLang="en-US" sz="2000" dirty="0"/>
              <a:t>중력 및 자기탐사</a:t>
            </a:r>
            <a:r>
              <a:rPr lang="en-US" altLang="ko-KR" sz="2000" dirty="0"/>
              <a:t>(gravity and magnetic methods) </a:t>
            </a:r>
            <a:r>
              <a:rPr lang="ko-KR" altLang="en-US" sz="2000" dirty="0"/>
              <a:t>등의 기술을 활용해 지하에 매장된 천연가스 자원을 탐색함</a:t>
            </a:r>
            <a:endParaRPr lang="en-US" altLang="ko-KR" sz="2000" dirty="0"/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자본집약적이며 지질학적 불확실성이 높아 고위험</a:t>
            </a:r>
            <a:r>
              <a:rPr lang="en-US" altLang="ko-KR" sz="2000" dirty="0"/>
              <a:t>,</a:t>
            </a:r>
            <a:r>
              <a:rPr lang="ko-KR" altLang="en-US" sz="2000" dirty="0"/>
              <a:t> 고수익 성격을 지니며</a:t>
            </a:r>
            <a:r>
              <a:rPr lang="en-US" altLang="ko-KR" sz="2000" dirty="0"/>
              <a:t>,</a:t>
            </a:r>
            <a:r>
              <a:rPr lang="ko-KR" altLang="en-US" sz="2000" dirty="0"/>
              <a:t> 자원개발 가능성을 평가하기 위한 탐사 확률 분석</a:t>
            </a:r>
            <a:r>
              <a:rPr lang="en-US" altLang="ko-KR" sz="2000" dirty="0"/>
              <a:t>,</a:t>
            </a:r>
            <a:r>
              <a:rPr lang="ko-KR" altLang="en-US" sz="2000" dirty="0"/>
              <a:t> 내부수익률</a:t>
            </a:r>
            <a:r>
              <a:rPr lang="en-US" altLang="ko-KR" sz="2000" dirty="0"/>
              <a:t>(IRR)</a:t>
            </a:r>
            <a:r>
              <a:rPr lang="ko-KR" altLang="en-US" sz="2000" dirty="0"/>
              <a:t> 시뮬레이션</a:t>
            </a:r>
            <a:r>
              <a:rPr lang="en-US" altLang="ko-KR" sz="2000" dirty="0"/>
              <a:t>,</a:t>
            </a:r>
            <a:r>
              <a:rPr lang="ko-KR" altLang="en-US" sz="2000" dirty="0"/>
              <a:t> 손익분기 가격 분석 등이 병행됨</a:t>
            </a:r>
          </a:p>
          <a:p>
            <a:pPr marL="1171410" lvl="2" indent="-314160">
              <a:buChar char="•"/>
              <a:defRPr/>
            </a:pPr>
            <a:endParaRPr lang="en-US" altLang="ko-KR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시추</a:t>
            </a:r>
            <a:r>
              <a:rPr lang="en-US" altLang="ko-KR" sz="2000" dirty="0"/>
              <a:t>(drilling) </a:t>
            </a:r>
            <a:r>
              <a:rPr lang="ko-KR" altLang="en-US" sz="2000" dirty="0"/>
              <a:t>기술의 발달은 특히 비전통 천연가스 자원 개발의 전환점을 마련</a:t>
            </a:r>
          </a:p>
          <a:p>
            <a:pPr marL="1628610" lvl="3" indent="-314160">
              <a:buChar char="•"/>
              <a:defRPr/>
            </a:pPr>
            <a:r>
              <a:rPr lang="ko-KR" altLang="en-US" dirty="0"/>
              <a:t>수평시추</a:t>
            </a:r>
            <a:r>
              <a:rPr lang="en-US" altLang="ko-KR" dirty="0"/>
              <a:t>(horizontal drilling)</a:t>
            </a:r>
            <a:r>
              <a:rPr lang="ko-KR" altLang="en-US" dirty="0"/>
              <a:t>와 수압파쇄</a:t>
            </a:r>
            <a:r>
              <a:rPr lang="en-US" altLang="ko-KR" dirty="0"/>
              <a:t>(hydraulic fracturing) </a:t>
            </a:r>
            <a:r>
              <a:rPr lang="ko-KR" altLang="en-US" dirty="0"/>
              <a:t>기술은 전통적 수직시추로는 회수할 수 없었던 셰일가스</a:t>
            </a:r>
            <a:r>
              <a:rPr lang="en-US" altLang="ko-KR" dirty="0"/>
              <a:t>(Shale gas)</a:t>
            </a:r>
            <a:r>
              <a:rPr lang="ko-KR" altLang="en-US" dirty="0"/>
              <a:t>나 타이트가스</a:t>
            </a:r>
            <a:r>
              <a:rPr lang="en-US" altLang="ko-KR" dirty="0"/>
              <a:t>(tight gas)</a:t>
            </a:r>
            <a:r>
              <a:rPr lang="ko-KR" altLang="en-US" dirty="0"/>
              <a:t>자원의 상업적 생산을 가능하게 함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8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98599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공급사슬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가공 및 처리</a:t>
            </a:r>
            <a:r>
              <a:rPr lang="en-US" altLang="ko-KR" sz="2000" dirty="0"/>
              <a:t>(processing)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생산된 원가스</a:t>
            </a:r>
            <a:r>
              <a:rPr lang="en-US" altLang="ko-KR" sz="2000" dirty="0"/>
              <a:t>(raw gas)</a:t>
            </a:r>
            <a:r>
              <a:rPr lang="ko-KR" altLang="en-US" sz="2000" dirty="0"/>
              <a:t>에서</a:t>
            </a:r>
            <a:r>
              <a:rPr lang="en-US" altLang="ko-KR" sz="2000" dirty="0"/>
              <a:t> </a:t>
            </a:r>
            <a:r>
              <a:rPr lang="ko-KR" altLang="en-US" sz="2000" dirty="0"/>
              <a:t>이산화탄소</a:t>
            </a:r>
            <a:r>
              <a:rPr lang="en-US" altLang="ko-KR" sz="2000" dirty="0"/>
              <a:t>,</a:t>
            </a:r>
            <a:r>
              <a:rPr lang="ko-KR" altLang="en-US" sz="2000" dirty="0"/>
              <a:t> 황화수소</a:t>
            </a:r>
            <a:r>
              <a:rPr lang="en-US" altLang="ko-KR" sz="2000" dirty="0"/>
              <a:t>,</a:t>
            </a:r>
            <a:r>
              <a:rPr lang="ko-KR" altLang="en-US" sz="2000" dirty="0"/>
              <a:t> 질소</a:t>
            </a:r>
            <a:r>
              <a:rPr lang="en-US" altLang="ko-KR" sz="2000" dirty="0"/>
              <a:t>,</a:t>
            </a:r>
            <a:r>
              <a:rPr lang="ko-KR" altLang="en-US" sz="2000" dirty="0"/>
              <a:t> 액화석유가스</a:t>
            </a:r>
            <a:r>
              <a:rPr lang="en-US" altLang="ko-KR" sz="2000" dirty="0"/>
              <a:t>,</a:t>
            </a:r>
            <a:r>
              <a:rPr lang="ko-KR" altLang="en-US" sz="2000" dirty="0"/>
              <a:t> 천연가스 액체류 등 불순물을 제거하여 스위트 가스</a:t>
            </a:r>
            <a:r>
              <a:rPr lang="en-US" altLang="ko-KR" sz="2000" dirty="0"/>
              <a:t>(sweet gas)</a:t>
            </a:r>
            <a:r>
              <a:rPr lang="ko-KR" altLang="en-US" sz="2000" dirty="0"/>
              <a:t>로 전환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수송 단계</a:t>
            </a:r>
            <a:r>
              <a:rPr lang="en-US" altLang="ko-KR" sz="2000" dirty="0"/>
              <a:t>(transportation) 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정제된 가스는 수송 단계로 넘어가며</a:t>
            </a:r>
            <a:r>
              <a:rPr lang="en-US" altLang="ko-KR" sz="2000" dirty="0"/>
              <a:t>,</a:t>
            </a:r>
            <a:r>
              <a:rPr lang="ko-KR" altLang="en-US" sz="2000" dirty="0"/>
              <a:t> 가장 일반적인 방식은 파이프라인</a:t>
            </a:r>
            <a:r>
              <a:rPr lang="en-US" altLang="ko-KR" sz="2000" dirty="0"/>
              <a:t>(pipeline)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통한 육상 수송임</a:t>
            </a:r>
            <a:endParaRPr lang="en-US" altLang="ko-KR" sz="2000" dirty="0"/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대륙 간 수송이 어려운 경우에는 천연가스를  섭씨</a:t>
            </a:r>
            <a:r>
              <a:rPr lang="en-US" altLang="ko-KR" sz="2000" dirty="0"/>
              <a:t>-162</a:t>
            </a:r>
            <a:r>
              <a:rPr lang="ko-KR" altLang="en-US" sz="2000" dirty="0"/>
              <a:t>도로 냉각시켜 액화</a:t>
            </a:r>
            <a:r>
              <a:rPr lang="en-US" altLang="ko-KR" sz="2000" dirty="0"/>
              <a:t>(LNG)</a:t>
            </a:r>
            <a:r>
              <a:rPr lang="ko-KR" altLang="en-US" sz="2000" dirty="0"/>
              <a:t>형태로  만들어 특수 선박</a:t>
            </a:r>
            <a:r>
              <a:rPr lang="en-US" altLang="ko-KR" sz="2000" dirty="0"/>
              <a:t>(LNG Carrier)</a:t>
            </a:r>
            <a:r>
              <a:rPr lang="ko-KR" altLang="en-US" sz="2000" dirty="0"/>
              <a:t>을 이용해  해상 수송하고</a:t>
            </a:r>
            <a:r>
              <a:rPr lang="en-US" altLang="ko-KR" sz="2000" dirty="0"/>
              <a:t>,</a:t>
            </a:r>
            <a:r>
              <a:rPr lang="ko-KR" altLang="en-US" sz="2000" dirty="0"/>
              <a:t> 도착지에서는 재기화</a:t>
            </a:r>
            <a:r>
              <a:rPr lang="en-US" altLang="ko-KR" sz="2000" dirty="0"/>
              <a:t>(regasification)</a:t>
            </a:r>
            <a:r>
              <a:rPr lang="ko-KR" altLang="en-US" sz="2000" dirty="0"/>
              <a:t>을 통해 기체 상태로 전환하여 지역 파이프라인망으로 공급 </a:t>
            </a:r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9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595510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천연가스의 특징과 분류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공급사슬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저장</a:t>
            </a:r>
            <a:r>
              <a:rPr lang="en-US" altLang="ko-KR" sz="2000" dirty="0"/>
              <a:t>(storage)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천연가스는 공급과 수요의 시간차가 존재하기 때문에 저장</a:t>
            </a:r>
            <a:r>
              <a:rPr lang="en-US" altLang="ko-KR" sz="2000" dirty="0"/>
              <a:t>(storage)</a:t>
            </a:r>
            <a:r>
              <a:rPr lang="ko-KR" altLang="en-US" sz="2000" dirty="0"/>
              <a:t>설비가 필수적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저장소는 일반적으로 지하 염동굴</a:t>
            </a:r>
            <a:r>
              <a:rPr lang="en-US" altLang="ko-KR" sz="2000" dirty="0"/>
              <a:t>(salt cavern), </a:t>
            </a:r>
            <a:r>
              <a:rPr lang="ko-KR" altLang="en-US" sz="2000" dirty="0"/>
              <a:t>고갈된 가스전</a:t>
            </a:r>
            <a:r>
              <a:rPr lang="en-US" altLang="ko-KR" sz="2000" dirty="0"/>
              <a:t>,</a:t>
            </a:r>
            <a:r>
              <a:rPr lang="ko-KR" altLang="en-US" sz="2000" dirty="0"/>
              <a:t> 수조형 탱크로 구분되며</a:t>
            </a:r>
            <a:r>
              <a:rPr lang="en-US" altLang="ko-KR" sz="2000" dirty="0"/>
              <a:t>,</a:t>
            </a:r>
            <a:r>
              <a:rPr lang="ko-KR" altLang="en-US" sz="2000" dirty="0"/>
              <a:t> 계절 수요 변동이 큰 북반구 지역에서는 겨울철 난방 수요급등에 대비한 계절조절</a:t>
            </a:r>
            <a:r>
              <a:rPr lang="en-US" altLang="ko-KR" sz="2000" dirty="0"/>
              <a:t>(seasonal balancing) </a:t>
            </a:r>
            <a:r>
              <a:rPr lang="ko-KR" altLang="en-US" sz="2000" dirty="0"/>
              <a:t>수단으로 필수적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분배</a:t>
            </a:r>
            <a:r>
              <a:rPr lang="en-US" altLang="ko-KR" sz="2000" dirty="0"/>
              <a:t>(distribution)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고압 송수관에서 저압의 지역 공급망으로 천연가스를 전달하는 과정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가정용</a:t>
            </a:r>
            <a:r>
              <a:rPr lang="en-US" altLang="ko-KR" sz="2000" dirty="0"/>
              <a:t>,</a:t>
            </a:r>
            <a:r>
              <a:rPr lang="ko-KR" altLang="en-US" sz="2000" dirty="0"/>
              <a:t> 상업용</a:t>
            </a:r>
            <a:r>
              <a:rPr lang="en-US" altLang="ko-KR" sz="2000" dirty="0"/>
              <a:t>,</a:t>
            </a:r>
            <a:r>
              <a:rPr lang="ko-KR" altLang="en-US" sz="2000" dirty="0"/>
              <a:t> 산업용 수요자의 안정성과 편의성을 고려하여 압력조절</a:t>
            </a:r>
            <a:r>
              <a:rPr lang="en-US" altLang="ko-KR" sz="2000" dirty="0"/>
              <a:t>,</a:t>
            </a:r>
            <a:r>
              <a:rPr lang="ko-KR" altLang="en-US" sz="2000" dirty="0"/>
              <a:t> 계량기 설치</a:t>
            </a:r>
            <a:r>
              <a:rPr lang="en-US" altLang="ko-KR" sz="2000" dirty="0"/>
              <a:t>,</a:t>
            </a:r>
            <a:r>
              <a:rPr lang="ko-KR" altLang="en-US" sz="2000" dirty="0"/>
              <a:t> 품질 보증 등의 절차 수반</a:t>
            </a:r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39524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매장량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전 세계 천연가스 매장량은 </a:t>
            </a:r>
            <a:r>
              <a:rPr lang="en-US" altLang="ko-KR" sz="2000" dirty="0"/>
              <a:t>2020</a:t>
            </a:r>
            <a:r>
              <a:rPr lang="ko-KR" altLang="en-US" sz="2000" dirty="0"/>
              <a:t>년 </a:t>
            </a:r>
            <a:r>
              <a:rPr lang="en-US" altLang="ko-KR" sz="2000" dirty="0"/>
              <a:t>188.1</a:t>
            </a:r>
            <a:r>
              <a:rPr lang="ko-KR" altLang="en-US" sz="2000" dirty="0"/>
              <a:t>조 입방미터로 </a:t>
            </a:r>
            <a:r>
              <a:rPr lang="en-US" altLang="ko-KR" sz="2000" dirty="0"/>
              <a:t>2000</a:t>
            </a:r>
            <a:r>
              <a:rPr lang="ko-KR" altLang="en-US" sz="2000" dirty="0"/>
              <a:t>년에 비하여 </a:t>
            </a:r>
            <a:r>
              <a:rPr lang="en-US" altLang="ko-KR" sz="2000" dirty="0"/>
              <a:t>50</a:t>
            </a:r>
            <a:r>
              <a:rPr lang="ko-KR" altLang="en-US" sz="2000" dirty="0"/>
              <a:t>조 입방미터 증가함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비전통 가스전의 개발</a:t>
            </a:r>
            <a:r>
              <a:rPr lang="en-US" altLang="ko-KR" sz="2000" dirty="0"/>
              <a:t>,</a:t>
            </a:r>
            <a:r>
              <a:rPr lang="ko-KR" altLang="en-US" sz="2000" dirty="0"/>
              <a:t> 시추기술의 발전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신규 매장지의 발견 등에 기인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지역별로는 중동지역이 전체의 </a:t>
            </a:r>
            <a:r>
              <a:rPr lang="en-US" altLang="ko-KR" sz="2000" dirty="0"/>
              <a:t>40.3%,</a:t>
            </a:r>
            <a:r>
              <a:rPr lang="ko-KR" altLang="en-US" sz="2000" dirty="0"/>
              <a:t> 러시아 및 </a:t>
            </a:r>
            <a:r>
              <a:rPr lang="en-US" altLang="ko-KR" sz="2000" dirty="0"/>
              <a:t>CIS</a:t>
            </a:r>
            <a:r>
              <a:rPr lang="ko-KR" altLang="en-US" sz="2000" dirty="0"/>
              <a:t>국가들의 비중이 </a:t>
            </a:r>
            <a:r>
              <a:rPr lang="en-US" altLang="ko-KR" sz="2000" dirty="0"/>
              <a:t>30.1%,</a:t>
            </a:r>
            <a:r>
              <a:rPr lang="ko-KR" altLang="en-US" sz="2000" dirty="0"/>
              <a:t> 아시아</a:t>
            </a:r>
            <a:r>
              <a:rPr lang="en-US" altLang="ko-KR" sz="2000" dirty="0"/>
              <a:t>·</a:t>
            </a:r>
            <a:r>
              <a:rPr lang="ko-KR" altLang="en-US" sz="2000" dirty="0"/>
              <a:t>태평양지역은 </a:t>
            </a:r>
            <a:r>
              <a:rPr lang="en-US" altLang="ko-KR" sz="2000" dirty="0"/>
              <a:t>8.8%,</a:t>
            </a:r>
            <a:r>
              <a:rPr lang="ko-KR" altLang="en-US" sz="2000" dirty="0"/>
              <a:t> 북미는 </a:t>
            </a:r>
            <a:r>
              <a:rPr lang="en-US" altLang="ko-KR" sz="2000" dirty="0"/>
              <a:t>8.1%,</a:t>
            </a:r>
            <a:r>
              <a:rPr lang="ko-KR" altLang="en-US" sz="2000" dirty="0"/>
              <a:t> 아프리카는 </a:t>
            </a:r>
            <a:r>
              <a:rPr lang="en-US" altLang="ko-KR" sz="2000" dirty="0"/>
              <a:t>6.9%</a:t>
            </a:r>
            <a:r>
              <a:rPr lang="ko-KR" altLang="en-US" sz="2000" dirty="0"/>
              <a:t>를 차지하고 있음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국가별로는 러시아가 </a:t>
            </a:r>
            <a:r>
              <a:rPr lang="en-US" altLang="ko-KR" sz="2000" dirty="0"/>
              <a:t>19.9%</a:t>
            </a:r>
            <a:r>
              <a:rPr lang="ko-KR" altLang="en-US" sz="2000" dirty="0"/>
              <a:t>로 가장 큰 비중을 차지하고 있고 이란</a:t>
            </a:r>
            <a:r>
              <a:rPr lang="en-US" altLang="ko-KR" sz="2000" dirty="0"/>
              <a:t>(17.1%),</a:t>
            </a:r>
            <a:r>
              <a:rPr lang="ko-KR" altLang="en-US" sz="2000" dirty="0"/>
              <a:t> 카타르</a:t>
            </a:r>
            <a:r>
              <a:rPr lang="en-US" altLang="ko-KR" sz="2000" dirty="0"/>
              <a:t>(13.1%)</a:t>
            </a:r>
            <a:r>
              <a:rPr lang="ko-KR" altLang="en-US" sz="2000" dirty="0"/>
              <a:t>등이  두각을 나타내고 있음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11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85295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매장량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전 세계 천연가스 매장량은 </a:t>
            </a:r>
            <a:r>
              <a:rPr lang="en-US" altLang="ko-KR" sz="2000" dirty="0"/>
              <a:t>2020</a:t>
            </a:r>
            <a:r>
              <a:rPr lang="ko-KR" altLang="en-US" sz="2000" dirty="0"/>
              <a:t>년 </a:t>
            </a:r>
            <a:r>
              <a:rPr lang="en-US" altLang="ko-KR" sz="2000" dirty="0"/>
              <a:t>188.1</a:t>
            </a:r>
            <a:r>
              <a:rPr lang="ko-KR" altLang="en-US" sz="2000" dirty="0"/>
              <a:t>조 입방미터로 </a:t>
            </a:r>
            <a:r>
              <a:rPr lang="en-US" altLang="ko-KR" sz="2000" dirty="0"/>
              <a:t>2000</a:t>
            </a:r>
            <a:r>
              <a:rPr lang="ko-KR" altLang="en-US" sz="2000" dirty="0"/>
              <a:t>년에 비하여 </a:t>
            </a:r>
            <a:r>
              <a:rPr lang="en-US" altLang="ko-KR" sz="2000" dirty="0"/>
              <a:t>50</a:t>
            </a:r>
            <a:r>
              <a:rPr lang="ko-KR" altLang="en-US" sz="2000" dirty="0"/>
              <a:t>조 입방미터 증가함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비전통 가스전의 개발</a:t>
            </a:r>
            <a:r>
              <a:rPr lang="en-US" altLang="ko-KR" sz="2000" dirty="0"/>
              <a:t>,</a:t>
            </a:r>
            <a:r>
              <a:rPr lang="ko-KR" altLang="en-US" sz="2000" dirty="0"/>
              <a:t> 시추기술의 발전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신규 매장지의 발견 등게 기인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지역별로는 중동지역이 전체의 </a:t>
            </a:r>
            <a:r>
              <a:rPr lang="en-US" altLang="ko-KR" sz="2000" dirty="0"/>
              <a:t>40.3%,</a:t>
            </a:r>
            <a:r>
              <a:rPr lang="ko-KR" altLang="en-US" sz="2000" dirty="0"/>
              <a:t> 러시아 및 </a:t>
            </a:r>
            <a:r>
              <a:rPr lang="en-US" altLang="ko-KR" sz="2000" dirty="0"/>
              <a:t>CIS</a:t>
            </a:r>
            <a:r>
              <a:rPr lang="ko-KR" altLang="en-US" sz="2000" dirty="0"/>
              <a:t>국가들의 비중이 </a:t>
            </a:r>
            <a:r>
              <a:rPr lang="en-US" altLang="ko-KR" sz="2000" dirty="0"/>
              <a:t>30.1%,</a:t>
            </a:r>
            <a:r>
              <a:rPr lang="ko-KR" altLang="en-US" sz="2000" dirty="0"/>
              <a:t> 아시아</a:t>
            </a:r>
            <a:r>
              <a:rPr lang="en-US" altLang="ko-KR" sz="2000" dirty="0"/>
              <a:t>·</a:t>
            </a:r>
            <a:r>
              <a:rPr lang="ko-KR" altLang="en-US" sz="2000" dirty="0"/>
              <a:t>태평양지역은 </a:t>
            </a:r>
            <a:r>
              <a:rPr lang="en-US" altLang="ko-KR" sz="2000" dirty="0"/>
              <a:t>8.8%,</a:t>
            </a:r>
            <a:r>
              <a:rPr lang="ko-KR" altLang="en-US" sz="2000" dirty="0"/>
              <a:t> 북미는 </a:t>
            </a:r>
            <a:r>
              <a:rPr lang="en-US" altLang="ko-KR" sz="2000" dirty="0"/>
              <a:t>8.1%,</a:t>
            </a:r>
            <a:r>
              <a:rPr lang="ko-KR" altLang="en-US" sz="2000" dirty="0"/>
              <a:t> 아프리카는 </a:t>
            </a:r>
            <a:r>
              <a:rPr lang="en-US" altLang="ko-KR" sz="2000" dirty="0"/>
              <a:t>6.9%</a:t>
            </a:r>
            <a:r>
              <a:rPr lang="ko-KR" altLang="en-US" sz="2000" dirty="0"/>
              <a:t>를 차지하고 있음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국가별로는 러시아가 </a:t>
            </a:r>
            <a:r>
              <a:rPr lang="en-US" altLang="ko-KR" sz="2000" dirty="0"/>
              <a:t>19.9%</a:t>
            </a:r>
            <a:r>
              <a:rPr lang="ko-KR" altLang="en-US" sz="2000" dirty="0"/>
              <a:t>로 가장 큰 비중을 차지하고 있고 이란</a:t>
            </a:r>
            <a:r>
              <a:rPr lang="en-US" altLang="ko-KR" sz="2000" dirty="0"/>
              <a:t>(17.1%),</a:t>
            </a:r>
            <a:r>
              <a:rPr lang="ko-KR" altLang="en-US" sz="2000" dirty="0"/>
              <a:t> 카타르</a:t>
            </a:r>
            <a:r>
              <a:rPr lang="en-US" altLang="ko-KR" sz="2000" dirty="0"/>
              <a:t>(13.1%)</a:t>
            </a:r>
            <a:r>
              <a:rPr lang="ko-KR" altLang="en-US" sz="2000" dirty="0"/>
              <a:t>등이  두각을 나타내고 있음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12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620848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en-US" altLang="ko-KR" sz="2200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1510392" y="855663"/>
          <a:ext cx="8243651" cy="544491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945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8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2000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2010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2020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매장량</a:t>
                      </a:r>
                      <a:r>
                        <a:rPr lang="EN-US"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/</a:t>
                      </a:r>
                      <a:r>
                        <a:rPr sz="10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생산량 비율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7.3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(5.3%)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10.5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(5.8%)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15.2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(8.1%)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</a:t>
                      </a: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6.8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(4.9%)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8.1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(4.5%)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7.9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(4.2%)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5.4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(3.9%)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4.7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(2.6%)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3.2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(1.7%)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38.6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(27.8%)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51.3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(28.5%)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56.6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(30.1%)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70.5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83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58.3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(42.2%)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77.8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(43.2%)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75.8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(40.3%)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110.4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11.9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(8.6%)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14.0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12.9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(6.9%)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55.7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626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9.8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(7.1%)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13.5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(7.5%)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16.6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138.0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(100.0%)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179.9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(100.0%)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188.1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(100.0%)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48.8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13.6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(9.9%)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17.6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(9.8%)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20.3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(10.8%)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124.4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(90.1%)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162.4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(90.3%)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167.8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(89.2%)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70.6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EU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(1.8%)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(0.9%)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0.4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(0.2%)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가로 글상자 10"/>
          <p:cNvSpPr txBox="1"/>
          <p:nvPr/>
        </p:nvSpPr>
        <p:spPr>
          <a:xfrm>
            <a:off x="1628320" y="463775"/>
            <a:ext cx="4549594" cy="3629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6-1]</a:t>
            </a:r>
            <a:r>
              <a:rPr lang="ko-KR" altLang="en-US"/>
              <a:t> 천연가스 매장량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조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13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21368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천연가스의  생산과 공급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전 세계 천연가스 생산량 </a:t>
            </a:r>
            <a:r>
              <a:rPr lang="en-US" altLang="ko-KR" sz="2000" dirty="0"/>
              <a:t>4,059.2(10</a:t>
            </a:r>
            <a:r>
              <a:rPr lang="ko-KR" altLang="en-US" sz="2000" dirty="0"/>
              <a:t>억 입방미터</a:t>
            </a:r>
            <a:r>
              <a:rPr lang="en-US" altLang="ko-KR" sz="2000" dirty="0"/>
              <a:t>)</a:t>
            </a:r>
            <a:r>
              <a:rPr lang="ko-KR" altLang="en-US" sz="2000" dirty="0"/>
              <a:t>였으며 </a:t>
            </a:r>
            <a:r>
              <a:rPr lang="en-US" altLang="ko-KR" sz="2000" dirty="0"/>
              <a:t>2013~2023</a:t>
            </a:r>
            <a:r>
              <a:rPr lang="ko-KR" altLang="en-US" sz="2000" dirty="0"/>
              <a:t>년 기간 동안 연평균 </a:t>
            </a:r>
            <a:r>
              <a:rPr lang="en-US" altLang="ko-KR" sz="2000" dirty="0"/>
              <a:t>1.9%</a:t>
            </a:r>
            <a:r>
              <a:rPr lang="ko-KR" altLang="en-US" sz="2000" dirty="0"/>
              <a:t>의 증가율은 나타냄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기준 지역별로는 북미 지역  </a:t>
            </a:r>
            <a:r>
              <a:rPr lang="en-US" altLang="ko-KR" sz="2000" dirty="0"/>
              <a:t>31.1%,</a:t>
            </a:r>
            <a:r>
              <a:rPr lang="ko-KR" altLang="en-US" sz="2000" dirty="0"/>
              <a:t>  </a:t>
            </a:r>
            <a:r>
              <a:rPr lang="en-US" altLang="ko-KR" sz="2000" dirty="0"/>
              <a:t>CIS</a:t>
            </a:r>
            <a:r>
              <a:rPr lang="ko-KR" altLang="en-US" sz="2000" dirty="0"/>
              <a:t> 국가들 </a:t>
            </a:r>
            <a:r>
              <a:rPr lang="en-US" altLang="ko-KR" sz="2000" dirty="0"/>
              <a:t>19.1%,</a:t>
            </a:r>
            <a:r>
              <a:rPr lang="ko-KR" altLang="en-US" sz="2000" dirty="0"/>
              <a:t> 중동 </a:t>
            </a:r>
            <a:r>
              <a:rPr lang="en-US" altLang="ko-KR" sz="2000" dirty="0"/>
              <a:t>17.6%,</a:t>
            </a:r>
            <a:r>
              <a:rPr lang="ko-KR" altLang="en-US" sz="2000" dirty="0"/>
              <a:t> 아시아</a:t>
            </a:r>
            <a:r>
              <a:rPr lang="en-US" altLang="ko-KR" sz="2000" dirty="0"/>
              <a:t>·</a:t>
            </a:r>
            <a:r>
              <a:rPr lang="ko-KR" altLang="en-US" sz="2000" dirty="0"/>
              <a:t>태평양 지역 </a:t>
            </a:r>
            <a:r>
              <a:rPr lang="en-US" altLang="ko-KR" sz="2000" dirty="0"/>
              <a:t>17.0%</a:t>
            </a: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국가별로는 미국 </a:t>
            </a:r>
            <a:r>
              <a:rPr lang="en-US" altLang="ko-KR" sz="2000" dirty="0"/>
              <a:t>25.5%,</a:t>
            </a:r>
            <a:r>
              <a:rPr lang="ko-KR" altLang="en-US" sz="2000" dirty="0"/>
              <a:t> 러시아 </a:t>
            </a:r>
            <a:r>
              <a:rPr lang="en-US" altLang="ko-KR" sz="2000" dirty="0"/>
              <a:t>14.4%,</a:t>
            </a:r>
            <a:r>
              <a:rPr lang="ko-KR" altLang="en-US" sz="2000" dirty="0"/>
              <a:t> 이란 </a:t>
            </a:r>
            <a:r>
              <a:rPr lang="en-US" altLang="ko-KR" sz="2000" dirty="0"/>
              <a:t>6.2%,</a:t>
            </a:r>
            <a:r>
              <a:rPr lang="ko-KR" altLang="en-US" sz="2000" dirty="0"/>
              <a:t> 카타르 </a:t>
            </a:r>
            <a:r>
              <a:rPr lang="en-US" altLang="ko-KR" sz="2000" dirty="0"/>
              <a:t>4.5%</a:t>
            </a:r>
            <a:r>
              <a:rPr lang="ko-KR" altLang="en-US" sz="2000" dirty="0"/>
              <a:t> 순임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51776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457200" lvl="1" indent="0">
              <a:buNone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en-US" altLang="ko-KR" sz="22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565411"/>
            <a:ext cx="9000743" cy="4564117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923142" y="1203325"/>
            <a:ext cx="4953726" cy="3620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6-1]</a:t>
            </a:r>
            <a:r>
              <a:rPr lang="ko-KR" altLang="en-US"/>
              <a:t> 지역별 천연가스 생산</a:t>
            </a:r>
            <a:r>
              <a:rPr lang="en-US" altLang="ko-KR"/>
              <a:t>(10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15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647507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 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732190" y="846138"/>
          <a:ext cx="8427806" cy="552490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5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9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8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47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생산량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년 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1261.1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3.9%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31.1%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1035.3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162.0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-0.7%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4.0%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204.3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-3.1%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5.0%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노르웨이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116.6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773.6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-0.1%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19.1%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586.4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712.7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17.6%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이란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카타르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181.0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사우디아리비아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114.1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253.6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6.2%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알제리아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101.5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691.8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3.0%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17.0%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호주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234.3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4059.2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547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1632.5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740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2426.8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59.8%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가로 글상자 5"/>
          <p:cNvSpPr txBox="1"/>
          <p:nvPr/>
        </p:nvSpPr>
        <p:spPr>
          <a:xfrm>
            <a:off x="1732185" y="384401"/>
            <a:ext cx="7598504" cy="3661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6-2]</a:t>
            </a:r>
            <a:r>
              <a:rPr lang="ko-KR" altLang="en-US"/>
              <a:t> </a:t>
            </a:r>
            <a:r>
              <a:rPr lang="en-US" altLang="ko-KR"/>
              <a:t>2023</a:t>
            </a:r>
            <a:r>
              <a:rPr lang="ko-KR" altLang="en-US"/>
              <a:t>년 지역별 </a:t>
            </a:r>
            <a:r>
              <a:rPr lang="en-US" altLang="ko-KR"/>
              <a:t>&amp;</a:t>
            </a:r>
            <a:r>
              <a:rPr lang="ko-KR" altLang="en-US"/>
              <a:t> 국가별 천연가스 생산량과 비중</a:t>
            </a:r>
            <a:r>
              <a:rPr lang="en-US" altLang="ko-KR"/>
              <a:t>(10</a:t>
            </a:r>
            <a:r>
              <a:rPr lang="ko-KR" altLang="en-US"/>
              <a:t>억 입방미터</a:t>
            </a:r>
            <a:r>
              <a:rPr lang="en-US" altLang="ko-KR"/>
              <a:t>,%)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84721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소비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북미와 유럽은 천연가스 인프라가 조기에 구축되어 다양한 최종수요 부문에 걸쳐 소비가 확산되어 왔으며</a:t>
            </a:r>
            <a:r>
              <a:rPr lang="en-US" altLang="ko-KR" sz="2000" dirty="0"/>
              <a:t>,</a:t>
            </a:r>
            <a:r>
              <a:rPr lang="ko-KR" altLang="en-US" sz="2000" dirty="0"/>
              <a:t> 특히 유럽은 강화된 환경 규제와 탈탄소화 정책 기조 하에서 천연가스를 전환 연료로 적극 활용</a:t>
            </a: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중국</a:t>
            </a:r>
            <a:r>
              <a:rPr lang="en-US" altLang="ko-KR" sz="2000" dirty="0"/>
              <a:t>,</a:t>
            </a:r>
            <a:r>
              <a:rPr lang="ko-KR" altLang="en-US" sz="2000" dirty="0"/>
              <a:t> 인도</a:t>
            </a:r>
            <a:r>
              <a:rPr lang="en-US" altLang="ko-KR" sz="2000" dirty="0"/>
              <a:t>,</a:t>
            </a:r>
            <a:r>
              <a:rPr lang="ko-KR" altLang="en-US" sz="2000" dirty="0"/>
              <a:t> 동남아시아 등 신흥경제권에서는 급속한 도시화</a:t>
            </a:r>
            <a:r>
              <a:rPr lang="en-US" altLang="ko-KR" sz="2000" dirty="0"/>
              <a:t>,</a:t>
            </a:r>
            <a:r>
              <a:rPr lang="ko-KR" altLang="en-US" sz="2000" dirty="0"/>
              <a:t> 산업화</a:t>
            </a:r>
            <a:r>
              <a:rPr lang="en-US" altLang="ko-KR" sz="2000" dirty="0"/>
              <a:t>,</a:t>
            </a:r>
            <a:r>
              <a:rPr lang="ko-KR" altLang="en-US" sz="2000" dirty="0"/>
              <a:t>  그리고 대기질 개선을 위한 환경정책에 힘입어 천연가스 수요가 급증하고 있음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지역별 천연가스 소비는 </a:t>
            </a:r>
            <a:r>
              <a:rPr lang="en-US" altLang="ko-KR" sz="2000" dirty="0"/>
              <a:t>2013-2023</a:t>
            </a:r>
            <a:r>
              <a:rPr lang="ko-KR" altLang="en-US" sz="2000" dirty="0"/>
              <a:t>년 기간에 북미와 아시아태평양 지역을 중심으로 증가하는 추세를 보이고 있음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17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297174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en-US" altLang="ko-KR" sz="22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760346"/>
            <a:ext cx="9000743" cy="4369181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707697" y="1417638"/>
            <a:ext cx="4203518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6-2]</a:t>
            </a:r>
            <a:r>
              <a:rPr lang="ko-KR" altLang="en-US"/>
              <a:t> 천연가스 소비</a:t>
            </a:r>
            <a:r>
              <a:rPr lang="en-US" altLang="ko-KR"/>
              <a:t>(10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18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649024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193353" y="636270"/>
          <a:ext cx="9182089" cy="570436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6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8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25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2013-23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2023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1104.8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2.2%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27.5%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120.7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멕시코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97.6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886.5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10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남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·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중앙아메리카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161.7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-0.3%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4.0%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463.4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-1.8%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11.6%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10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596.0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14.9%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453.4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577.7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3.2%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14.4%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이란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245.6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10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사우디아라비아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114.1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171.2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3.9%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4.3%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3101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935.4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3.2%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23.3%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404.8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92.4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-2.9%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60.1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4010.2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1757.0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43.8%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69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</a:t>
                      </a:r>
                    </a:p>
                  </a:txBody>
                  <a:tcPr anchor="b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2253.2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56.2%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" name="가로 글상자 8"/>
          <p:cNvSpPr txBox="1"/>
          <p:nvPr/>
        </p:nvSpPr>
        <p:spPr>
          <a:xfrm>
            <a:off x="1193353" y="274638"/>
            <a:ext cx="7203887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6-3]</a:t>
            </a:r>
            <a:r>
              <a:rPr lang="ko-KR" altLang="en-US"/>
              <a:t> 지역별 국가별 천연가스 소비와 국가별 비중</a:t>
            </a:r>
            <a:r>
              <a:rPr lang="en-US" altLang="ko-KR"/>
              <a:t>(10</a:t>
            </a:r>
            <a:r>
              <a:rPr lang="ko-KR" altLang="en-US"/>
              <a:t>억 입방미터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%)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19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960424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소비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전</a:t>
            </a:r>
            <a:r>
              <a:rPr lang="en-US" altLang="ko-KR" sz="2000" dirty="0"/>
              <a:t> </a:t>
            </a:r>
            <a:r>
              <a:rPr lang="ko-KR" altLang="en-US" sz="2000" dirty="0"/>
              <a:t>세계 천연가스 소비는 </a:t>
            </a:r>
            <a:r>
              <a:rPr lang="en-US" altLang="ko-KR" sz="2000" dirty="0"/>
              <a:t>4010.2(10</a:t>
            </a:r>
            <a:r>
              <a:rPr lang="ko-KR" altLang="en-US" sz="2000" dirty="0"/>
              <a:t>억 입방미터</a:t>
            </a:r>
            <a:r>
              <a:rPr lang="en-US" altLang="ko-KR" sz="2000" dirty="0"/>
              <a:t>)</a:t>
            </a:r>
            <a:r>
              <a:rPr lang="ko-KR" altLang="en-US" sz="2000" dirty="0"/>
              <a:t> 였으며 </a:t>
            </a:r>
            <a:r>
              <a:rPr lang="en-US" altLang="ko-KR" sz="2000" dirty="0"/>
              <a:t>2013-2023</a:t>
            </a:r>
            <a:r>
              <a:rPr lang="ko-KR" altLang="en-US" sz="2000" dirty="0"/>
              <a:t>년 기간 동안 연간 </a:t>
            </a:r>
            <a:r>
              <a:rPr lang="en-US" altLang="ko-KR" sz="2000" dirty="0"/>
              <a:t>1.7%</a:t>
            </a:r>
            <a:r>
              <a:rPr lang="ko-KR" altLang="en-US" sz="2000" dirty="0"/>
              <a:t>의 성장률을 나타냄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지역별로는 북미 </a:t>
            </a:r>
            <a:r>
              <a:rPr lang="en-US" altLang="ko-KR" sz="2000" dirty="0"/>
              <a:t>27.5%,</a:t>
            </a:r>
            <a:r>
              <a:rPr lang="ko-KR" altLang="en-US" sz="2000" dirty="0"/>
              <a:t> 아시아태평양 </a:t>
            </a:r>
            <a:r>
              <a:rPr lang="en-US" altLang="ko-KR" sz="2000" dirty="0"/>
              <a:t>23.3%,</a:t>
            </a:r>
            <a:r>
              <a:rPr lang="ko-KR" altLang="en-US" sz="2000" dirty="0"/>
              <a:t> </a:t>
            </a:r>
            <a:r>
              <a:rPr lang="en-US" altLang="ko-KR" sz="2000" dirty="0"/>
              <a:t>CIS</a:t>
            </a:r>
            <a:r>
              <a:rPr lang="ko-KR" altLang="en-US" sz="2000" dirty="0"/>
              <a:t>국가들 </a:t>
            </a:r>
            <a:r>
              <a:rPr lang="en-US" altLang="ko-KR" sz="2000" dirty="0"/>
              <a:t>14.9%,</a:t>
            </a:r>
            <a:r>
              <a:rPr lang="ko-KR" altLang="en-US" sz="2000" dirty="0"/>
              <a:t> 중동 </a:t>
            </a:r>
            <a:r>
              <a:rPr lang="en-US" altLang="ko-KR" sz="2000" dirty="0"/>
              <a:t>14.4%</a:t>
            </a:r>
            <a:r>
              <a:rPr lang="ko-KR" altLang="en-US" sz="2000" dirty="0"/>
              <a:t> 순이었음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국가별 소비는 미국</a:t>
            </a:r>
            <a:r>
              <a:rPr lang="en-US" altLang="ko-KR" sz="2000" dirty="0"/>
              <a:t>(22.1%),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(11.3%),</a:t>
            </a:r>
            <a:r>
              <a:rPr lang="ko-KR" altLang="en-US" sz="2000" dirty="0"/>
              <a:t> 중국</a:t>
            </a:r>
            <a:r>
              <a:rPr lang="en-US" altLang="ko-KR" sz="2000" dirty="0"/>
              <a:t>(10.1%),</a:t>
            </a:r>
            <a:r>
              <a:rPr lang="ko-KR" altLang="en-US" sz="2000" dirty="0"/>
              <a:t> 이란 </a:t>
            </a:r>
            <a:r>
              <a:rPr lang="en-US" altLang="ko-KR" sz="2000" dirty="0"/>
              <a:t>(6.1%)</a:t>
            </a:r>
            <a:r>
              <a:rPr lang="ko-KR" altLang="en-US" sz="2000" dirty="0"/>
              <a:t> 순임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891845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수입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LNG </a:t>
            </a:r>
            <a:r>
              <a:rPr lang="ko-KR" altLang="en-US" sz="2000" dirty="0"/>
              <a:t>수입은 지역 간 엔너지 수급 불균형을 조정하는데 핵심적인 기능을 수행하고 있음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천연가스 자원이 풍부한 북미</a:t>
            </a:r>
            <a:r>
              <a:rPr lang="en-US" altLang="ko-KR" sz="2000" dirty="0"/>
              <a:t>,</a:t>
            </a:r>
            <a:r>
              <a:rPr lang="ko-KR" altLang="en-US" sz="2000" dirty="0"/>
              <a:t> 중동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 등의 지역에서 생산된 가스가</a:t>
            </a:r>
            <a:r>
              <a:rPr lang="en-US" altLang="ko-KR" sz="2000" dirty="0"/>
              <a:t>,</a:t>
            </a:r>
            <a:r>
              <a:rPr lang="ko-KR" altLang="en-US" sz="2000" dirty="0"/>
              <a:t> 수요가 집중된 동아시아</a:t>
            </a:r>
            <a:r>
              <a:rPr lang="en-US" altLang="ko-KR" sz="2000" dirty="0"/>
              <a:t>,</a:t>
            </a:r>
            <a:r>
              <a:rPr lang="ko-KR" altLang="en-US" sz="2000" dirty="0"/>
              <a:t> 유럽</a:t>
            </a:r>
            <a:r>
              <a:rPr lang="en-US" altLang="ko-KR" sz="2000" dirty="0"/>
              <a:t>,</a:t>
            </a:r>
            <a:r>
              <a:rPr lang="ko-KR" altLang="en-US" sz="2000" dirty="0"/>
              <a:t> 남아시아 지역으로 이전됨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점차 석유 시장과 유사한 통합성과 유연성을 갖춘 글로벌 상품으로 진화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천연가스 주요 수입국은 중국</a:t>
            </a:r>
            <a:r>
              <a:rPr lang="en-US" altLang="ko-KR" sz="2000" dirty="0"/>
              <a:t>,</a:t>
            </a:r>
            <a:r>
              <a:rPr lang="ko-KR" altLang="en-US" sz="2000" dirty="0"/>
              <a:t> 인도</a:t>
            </a:r>
            <a:r>
              <a:rPr lang="en-US" altLang="ko-KR" sz="2000" dirty="0"/>
              <a:t>,</a:t>
            </a:r>
            <a:r>
              <a:rPr lang="ko-KR" altLang="en-US" sz="2000" dirty="0"/>
              <a:t> 일본 </a:t>
            </a:r>
            <a:r>
              <a:rPr lang="en-US" altLang="ko-KR" sz="2000" dirty="0"/>
              <a:t>,</a:t>
            </a:r>
            <a:r>
              <a:rPr lang="ko-KR" altLang="en-US" sz="2000" dirty="0"/>
              <a:t> 한국</a:t>
            </a:r>
            <a:r>
              <a:rPr lang="en-US" altLang="ko-KR" sz="2000" dirty="0"/>
              <a:t>,</a:t>
            </a:r>
            <a:r>
              <a:rPr lang="ko-KR" altLang="en-US" sz="2000" dirty="0"/>
              <a:t> 프랑스 및 대만 등임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en-US" altLang="ko-KR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21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560036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천연가스의  수입</a:t>
            </a:r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en-US" altLang="ko-KR" sz="22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177506"/>
            <a:ext cx="9000743" cy="3682274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595625" y="1903866"/>
            <a:ext cx="7477890" cy="361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6-3]</a:t>
            </a:r>
            <a:r>
              <a:rPr lang="ko-KR" altLang="en-US"/>
              <a:t> 주요 천연가스</a:t>
            </a:r>
            <a:r>
              <a:rPr lang="en-US" altLang="ko-KR"/>
              <a:t>(LNG) </a:t>
            </a:r>
            <a:r>
              <a:rPr lang="ko-KR" altLang="en-US"/>
              <a:t>수입국가들의 수입량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22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70007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수출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글로벌 </a:t>
            </a:r>
            <a:r>
              <a:rPr lang="en-US" altLang="ko-KR" sz="2000" dirty="0"/>
              <a:t>LNG </a:t>
            </a:r>
            <a:r>
              <a:rPr lang="ko-KR" altLang="en-US" sz="2000" dirty="0"/>
              <a:t>수출은 과거 몇몇 중동 및 동남아시아 국가에 집중되었으나</a:t>
            </a:r>
            <a:r>
              <a:rPr lang="en-US" altLang="ko-KR" sz="2000" dirty="0"/>
              <a:t>,</a:t>
            </a:r>
            <a:r>
              <a:rPr lang="ko-KR" altLang="en-US" sz="2000" dirty="0"/>
              <a:t> 최근 수십 년간 기술 혁신과 투자 확대를 통해 공급국가의 지리적 다양성이 확대됨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이러한 변화는 시장의 유연성을 높이고</a:t>
            </a:r>
            <a:r>
              <a:rPr lang="en-US" altLang="ko-KR" sz="2000" dirty="0"/>
              <a:t>,</a:t>
            </a:r>
            <a:r>
              <a:rPr lang="ko-KR" altLang="en-US" sz="2000" dirty="0"/>
              <a:t> 특정 지역에 대한 의존도를 완화시킴으로써 글로벌 에너지 공급망의 지정학적 위험을 분산시키는데 중요한 역할을 함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현재 미국</a:t>
            </a:r>
            <a:r>
              <a:rPr lang="en-US" altLang="ko-KR" sz="2000" dirty="0"/>
              <a:t>(20.8%),</a:t>
            </a:r>
            <a:r>
              <a:rPr lang="ko-KR" altLang="en-US" sz="2000" dirty="0"/>
              <a:t> 카타르</a:t>
            </a:r>
            <a:r>
              <a:rPr lang="en-US" altLang="ko-KR" sz="2000" dirty="0"/>
              <a:t>(19.7%),</a:t>
            </a:r>
            <a:r>
              <a:rPr lang="ko-KR" altLang="en-US" sz="2000" dirty="0"/>
              <a:t> 호주</a:t>
            </a:r>
            <a:r>
              <a:rPr lang="en-US" altLang="ko-KR" sz="2000" dirty="0"/>
              <a:t>(19.6%),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(7.8%)</a:t>
            </a:r>
            <a:r>
              <a:rPr lang="ko-KR" altLang="en-US" sz="2000" dirty="0"/>
              <a:t>가 전 세계 수출물량의 </a:t>
            </a:r>
            <a:r>
              <a:rPr lang="en-US" altLang="ko-KR" sz="2000" dirty="0"/>
              <a:t>68%</a:t>
            </a:r>
            <a:r>
              <a:rPr lang="ko-KR" altLang="en-US" sz="2000" dirty="0"/>
              <a:t>를 차지하고 있음</a:t>
            </a: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23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949409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천연가스의  수출</a:t>
            </a:r>
          </a:p>
          <a:p>
            <a:pPr marL="771360" lvl="1" indent="-314160">
              <a:buChar char="•"/>
              <a:defRPr/>
            </a:pPr>
            <a:endParaRPr lang="en-US" altLang="ko-KR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ko-KR" altLang="en-US" sz="220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16253" y="1923751"/>
            <a:ext cx="9000743" cy="4202412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2013858" y="1801812"/>
            <a:ext cx="6954881" cy="3584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6-4]</a:t>
            </a:r>
            <a:r>
              <a:rPr lang="ko-KR" altLang="en-US"/>
              <a:t> 주요 천연가스 수출</a:t>
            </a:r>
            <a:r>
              <a:rPr lang="en-US" altLang="ko-KR"/>
              <a:t>(LNG) </a:t>
            </a:r>
            <a:r>
              <a:rPr lang="ko-KR" altLang="en-US"/>
              <a:t>국가들의 수출량</a:t>
            </a:r>
            <a:r>
              <a:rPr lang="en-US" altLang="ko-KR"/>
              <a:t>(10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24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423314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천연가스의  수출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미국의 주요 </a:t>
            </a:r>
            <a:r>
              <a:rPr lang="en-US" altLang="ko-KR" sz="2000" dirty="0"/>
              <a:t>LNG </a:t>
            </a:r>
            <a:r>
              <a:rPr lang="ko-KR" altLang="en-US" sz="2000" dirty="0"/>
              <a:t>수출국은 프랑스</a:t>
            </a:r>
            <a:r>
              <a:rPr lang="en-US" altLang="ko-KR" sz="2000" dirty="0"/>
              <a:t>,</a:t>
            </a:r>
            <a:r>
              <a:rPr lang="ko-KR" altLang="en-US" sz="2000" dirty="0"/>
              <a:t> 영국</a:t>
            </a:r>
            <a:r>
              <a:rPr lang="en-US" altLang="ko-KR" sz="2000" dirty="0"/>
              <a:t>,</a:t>
            </a:r>
            <a:r>
              <a:rPr lang="ko-KR" altLang="en-US" sz="2000" dirty="0"/>
              <a:t> 이태리</a:t>
            </a:r>
            <a:r>
              <a:rPr lang="en-US" altLang="ko-KR" sz="2000" dirty="0"/>
              <a:t>,</a:t>
            </a:r>
            <a:r>
              <a:rPr lang="ko-KR" altLang="en-US" sz="2000" dirty="0"/>
              <a:t> 스페인을 중심으로 한 유럽이 </a:t>
            </a:r>
            <a:r>
              <a:rPr lang="en-US" altLang="ko-KR" sz="2000" dirty="0"/>
              <a:t>67%</a:t>
            </a:r>
            <a:r>
              <a:rPr lang="ko-KR" altLang="en-US" sz="2000" dirty="0"/>
              <a:t>를 차지하고 일본</a:t>
            </a:r>
            <a:r>
              <a:rPr lang="en-US" altLang="ko-KR" sz="2000" dirty="0"/>
              <a:t>,</a:t>
            </a:r>
            <a:r>
              <a:rPr lang="ko-KR" altLang="en-US" sz="2000" dirty="0"/>
              <a:t> 중국</a:t>
            </a:r>
            <a:r>
              <a:rPr lang="en-US" altLang="ko-KR" sz="2000" dirty="0"/>
              <a:t>,</a:t>
            </a:r>
            <a:r>
              <a:rPr lang="ko-KR" altLang="en-US" sz="2000" dirty="0"/>
              <a:t> 한국을 포함한 아시아 지역으로의 수출이 </a:t>
            </a:r>
            <a:r>
              <a:rPr lang="en-US" altLang="ko-KR" sz="2000" dirty="0"/>
              <a:t>26%</a:t>
            </a:r>
            <a:r>
              <a:rPr lang="ko-KR" altLang="en-US" sz="2000" dirty="0"/>
              <a:t>를 차지함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908019"/>
            <a:ext cx="9000743" cy="3218144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595628" y="2572884"/>
            <a:ext cx="5734812" cy="3589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6-5]</a:t>
            </a:r>
            <a:r>
              <a:rPr lang="ko-KR" altLang="en-US"/>
              <a:t> 미국이 주요 </a:t>
            </a:r>
            <a:r>
              <a:rPr lang="en-US" altLang="ko-KR"/>
              <a:t>LNG </a:t>
            </a:r>
            <a:r>
              <a:rPr lang="ko-KR" altLang="en-US"/>
              <a:t>수출국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25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43442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천연가스의  수출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러시아의 경우</a:t>
            </a:r>
            <a:r>
              <a:rPr lang="en-US" altLang="ko-KR" sz="2000" dirty="0"/>
              <a:t>,</a:t>
            </a:r>
            <a:r>
              <a:rPr lang="ko-KR" altLang="en-US" sz="2000" dirty="0"/>
              <a:t> 중국과 일본을 중심으로 아시아태평양 지역에 전체의 </a:t>
            </a:r>
            <a:r>
              <a:rPr lang="en-US" altLang="ko-KR" sz="2000" dirty="0"/>
              <a:t>54.1%</a:t>
            </a:r>
            <a:r>
              <a:rPr lang="ko-KR" altLang="en-US" sz="2000" dirty="0"/>
              <a:t>를 수출하고 있으며 유럽의 비중은 스페인과 프랑스를 포함해서 </a:t>
            </a:r>
            <a:r>
              <a:rPr lang="en-US" altLang="ko-KR" sz="2000" dirty="0"/>
              <a:t>45.5%</a:t>
            </a:r>
            <a:r>
              <a:rPr lang="ko-KR" altLang="en-US" sz="2000" dirty="0"/>
              <a:t>를 차지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3009446"/>
            <a:ext cx="9000743" cy="2962456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595625" y="2708955"/>
            <a:ext cx="5963414" cy="3657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6-6]</a:t>
            </a:r>
            <a:r>
              <a:rPr lang="ko-KR" altLang="en-US" dirty="0"/>
              <a:t> 러시아의 주요 </a:t>
            </a:r>
            <a:r>
              <a:rPr lang="en-US" altLang="ko-KR" dirty="0"/>
              <a:t>LNG </a:t>
            </a:r>
            <a:r>
              <a:rPr lang="ko-KR" altLang="en-US" dirty="0"/>
              <a:t>수출국</a:t>
            </a:r>
            <a:r>
              <a:rPr lang="en-US" altLang="ko-KR" dirty="0"/>
              <a:t>(</a:t>
            </a:r>
            <a:r>
              <a:rPr lang="ko-KR" altLang="en-US" dirty="0"/>
              <a:t>단위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</a:t>
            </a:r>
            <a:r>
              <a:rPr lang="ko-KR" altLang="en-US" dirty="0"/>
              <a:t>억 입방미터</a:t>
            </a:r>
            <a:r>
              <a:rPr lang="en-US" altLang="ko-KR" dirty="0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26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619170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천연가스의  수출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카타르의 경우 중국</a:t>
            </a:r>
            <a:r>
              <a:rPr lang="en-US" altLang="ko-KR" sz="2000" dirty="0"/>
              <a:t>,</a:t>
            </a:r>
            <a:r>
              <a:rPr lang="ko-KR" altLang="en-US" sz="2000" dirty="0"/>
              <a:t> 인도</a:t>
            </a:r>
            <a:r>
              <a:rPr lang="en-US" altLang="ko-KR" sz="2000" dirty="0"/>
              <a:t>,</a:t>
            </a:r>
            <a:r>
              <a:rPr lang="ko-KR" altLang="en-US" sz="2000" dirty="0"/>
              <a:t> 한국을 포함한 아시아 지역으로의 수출이 전체 수출물량의  </a:t>
            </a:r>
            <a:r>
              <a:rPr lang="en-US" altLang="ko-KR" sz="2000" dirty="0"/>
              <a:t>75%</a:t>
            </a:r>
            <a:r>
              <a:rPr lang="ko-KR" altLang="en-US" sz="2000" dirty="0"/>
              <a:t>를 차지하고 이태리</a:t>
            </a:r>
            <a:r>
              <a:rPr lang="en-US" altLang="ko-KR" sz="2000" dirty="0"/>
              <a:t>,</a:t>
            </a:r>
            <a:r>
              <a:rPr lang="ko-KR" altLang="en-US" sz="2000" dirty="0"/>
              <a:t> 밸기에를 포함한 유럽 지역에 </a:t>
            </a:r>
            <a:r>
              <a:rPr lang="en-US" altLang="ko-KR" sz="2000" dirty="0"/>
              <a:t>19.2%</a:t>
            </a:r>
            <a:r>
              <a:rPr lang="ko-KR" altLang="en-US" sz="2000" dirty="0"/>
              <a:t>를 수출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978259"/>
            <a:ext cx="9000743" cy="2761125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821089" y="2606902"/>
            <a:ext cx="6014176" cy="362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6-7]</a:t>
            </a:r>
            <a:r>
              <a:rPr lang="ko-KR" altLang="en-US"/>
              <a:t> 카타르의 주요 </a:t>
            </a:r>
            <a:r>
              <a:rPr lang="en-US" altLang="ko-KR"/>
              <a:t>LNG  </a:t>
            </a:r>
            <a:r>
              <a:rPr lang="ko-KR" altLang="en-US"/>
              <a:t>수출국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억</a:t>
            </a:r>
            <a:r>
              <a:rPr lang="en-US" altLang="ko-KR"/>
              <a:t> </a:t>
            </a:r>
            <a:r>
              <a:rPr lang="ko-KR" altLang="en-US"/>
              <a:t>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27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110367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천연가스의  수출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호주는 거의 수출 전량이 아시아 지역으로 향하고 있으며 호주로부터 수입이 가장 많은 국가는 일본</a:t>
            </a:r>
            <a:r>
              <a:rPr lang="en-US" altLang="ko-KR" sz="2000" dirty="0"/>
              <a:t>,</a:t>
            </a:r>
            <a:r>
              <a:rPr lang="ko-KR" altLang="en-US" sz="2000" dirty="0"/>
              <a:t> 중국</a:t>
            </a:r>
            <a:r>
              <a:rPr lang="en-US" altLang="ko-KR" sz="2000" dirty="0"/>
              <a:t>,</a:t>
            </a:r>
            <a:r>
              <a:rPr lang="ko-KR" altLang="en-US" sz="2000" dirty="0"/>
              <a:t> 그리고 한국 순임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55448" y="2786687"/>
            <a:ext cx="9000743" cy="3014037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367516" y="2470830"/>
            <a:ext cx="5734324" cy="3657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6-8]</a:t>
            </a:r>
            <a:r>
              <a:rPr lang="ko-KR" altLang="en-US"/>
              <a:t> 호주의 주요 </a:t>
            </a:r>
            <a:r>
              <a:rPr lang="en-US" altLang="ko-KR"/>
              <a:t>LNG </a:t>
            </a:r>
            <a:r>
              <a:rPr lang="ko-KR" altLang="en-US"/>
              <a:t>수출국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28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422007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천연가스의  수출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글로벌 파이프라인 천연가스</a:t>
            </a:r>
            <a:r>
              <a:rPr lang="en-US" altLang="ko-KR" sz="2000" dirty="0"/>
              <a:t>(PNG) </a:t>
            </a:r>
            <a:r>
              <a:rPr lang="ko-KR" altLang="en-US" sz="2000" dirty="0"/>
              <a:t>수출은 지리적 인접성과 장기적 상호 의존성을 기반으로 형성된 에너지 공급 형태로</a:t>
            </a:r>
            <a:r>
              <a:rPr lang="en-US" altLang="ko-KR" sz="2000" dirty="0"/>
              <a:t>,</a:t>
            </a:r>
            <a:r>
              <a:rPr lang="ko-KR" altLang="en-US" sz="2000" dirty="0"/>
              <a:t> 액화천연가스</a:t>
            </a:r>
            <a:r>
              <a:rPr lang="en-US" altLang="ko-KR" sz="2000" dirty="0"/>
              <a:t>(LNG)</a:t>
            </a:r>
            <a:r>
              <a:rPr lang="ko-KR" altLang="en-US" sz="2000" dirty="0"/>
              <a:t>와 달리 고정된 수송 경로와 지정학적 민감성이 특징임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기술적</a:t>
            </a:r>
            <a:r>
              <a:rPr lang="en-US" altLang="ko-KR" sz="2000" dirty="0"/>
              <a:t>·</a:t>
            </a:r>
            <a:r>
              <a:rPr lang="ko-KR" altLang="en-US" sz="2000" dirty="0"/>
              <a:t>경제적 특성상 </a:t>
            </a:r>
            <a:r>
              <a:rPr lang="en-US" altLang="ko-KR" sz="2000" dirty="0"/>
              <a:t>PNG</a:t>
            </a:r>
            <a:r>
              <a:rPr lang="ko-KR" altLang="en-US" sz="2000" dirty="0"/>
              <a:t> 수출은 특정 생산국이 특정 수입국에 장기적으로 가스를 공급하는 고정적 이원 거래구조를 형성하는 경향이 있음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PNG </a:t>
            </a:r>
            <a:r>
              <a:rPr lang="ko-KR" altLang="en-US" sz="2000" dirty="0"/>
              <a:t>수출은 인프라 건설에 장시간이 소요되고</a:t>
            </a:r>
            <a:r>
              <a:rPr lang="en-US" altLang="ko-KR" sz="2000" dirty="0"/>
              <a:t>,</a:t>
            </a:r>
            <a:r>
              <a:rPr lang="ko-KR" altLang="en-US" sz="2000" dirty="0"/>
              <a:t> 정치적</a:t>
            </a:r>
            <a:r>
              <a:rPr lang="en-US" altLang="ko-KR" sz="2000" dirty="0"/>
              <a:t>·</a:t>
            </a:r>
            <a:r>
              <a:rPr lang="ko-KR" altLang="en-US" sz="2000" dirty="0"/>
              <a:t>환경적 인허가 요건이 까다롭기 때문에 확장성과 유연성 측면에서 </a:t>
            </a:r>
            <a:r>
              <a:rPr lang="en-US" altLang="ko-KR" sz="2000" dirty="0"/>
              <a:t>LNG</a:t>
            </a:r>
            <a:r>
              <a:rPr lang="ko-KR" altLang="en-US" sz="2000" dirty="0"/>
              <a:t>에 비해 제약이 큼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기준 </a:t>
            </a:r>
            <a:r>
              <a:rPr lang="en-US" altLang="ko-KR" sz="2000" dirty="0"/>
              <a:t>PNG </a:t>
            </a:r>
            <a:r>
              <a:rPr lang="ko-KR" altLang="en-US" sz="2000" dirty="0"/>
              <a:t>수출량은 약 </a:t>
            </a:r>
            <a:r>
              <a:rPr lang="en-US" altLang="ko-KR" sz="2000" dirty="0"/>
              <a:t>6,770</a:t>
            </a:r>
            <a:r>
              <a:rPr lang="ko-KR" altLang="en-US" sz="2000" dirty="0"/>
              <a:t>억 입방미터로 </a:t>
            </a:r>
            <a:r>
              <a:rPr lang="en-US" altLang="ko-KR" sz="2000" dirty="0"/>
              <a:t>LNG </a:t>
            </a:r>
            <a:r>
              <a:rPr lang="ko-KR" altLang="en-US" sz="2000" dirty="0"/>
              <a:t>수출량인 </a:t>
            </a:r>
            <a:r>
              <a:rPr lang="en-US" altLang="ko-KR" sz="2000" dirty="0"/>
              <a:t>5,492</a:t>
            </a:r>
            <a:r>
              <a:rPr lang="ko-KR" altLang="en-US" sz="2000" dirty="0"/>
              <a:t> 입방미터를 상회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노르웨이</a:t>
            </a:r>
            <a:r>
              <a:rPr lang="en-US" altLang="ko-KR" sz="2000" dirty="0"/>
              <a:t>,</a:t>
            </a:r>
            <a:r>
              <a:rPr lang="ko-KR" altLang="en-US" sz="2000" dirty="0"/>
              <a:t> 러시아</a:t>
            </a:r>
            <a:r>
              <a:rPr lang="en-US" altLang="ko-KR" sz="2000" dirty="0"/>
              <a:t>,</a:t>
            </a:r>
            <a:r>
              <a:rPr lang="ko-KR" altLang="en-US" sz="2000" dirty="0"/>
              <a:t> 미국</a:t>
            </a:r>
            <a:r>
              <a:rPr lang="en-US" altLang="ko-KR" sz="2000" dirty="0"/>
              <a:t>,</a:t>
            </a:r>
            <a:r>
              <a:rPr lang="ko-KR" altLang="en-US" sz="2000" dirty="0"/>
              <a:t> 캐나다 등이 주요 </a:t>
            </a:r>
            <a:r>
              <a:rPr lang="en-US" altLang="ko-KR" sz="2000" dirty="0"/>
              <a:t>PNG </a:t>
            </a:r>
            <a:r>
              <a:rPr lang="ko-KR" altLang="en-US" sz="2000" dirty="0"/>
              <a:t> 수출국임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29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821184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천연가스 시장의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/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천연가스의  수출</a:t>
            </a:r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ko-KR" altLang="en-US" sz="220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2455472"/>
            <a:ext cx="9000743" cy="3634250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1595627" y="1824490"/>
            <a:ext cx="4677538" cy="3643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6-9]</a:t>
            </a:r>
            <a:r>
              <a:rPr lang="ko-KR" altLang="en-US"/>
              <a:t> 주요국의 </a:t>
            </a:r>
            <a:r>
              <a:rPr lang="en-US" altLang="ko-KR"/>
              <a:t>PNG </a:t>
            </a:r>
            <a:r>
              <a:rPr lang="ko-KR" altLang="en-US"/>
              <a:t>수출</a:t>
            </a:r>
            <a:r>
              <a:rPr lang="en-US" altLang="ko-KR"/>
              <a:t>(10</a:t>
            </a:r>
            <a:r>
              <a:rPr lang="ko-KR" altLang="en-US"/>
              <a:t>억 입방미터</a:t>
            </a:r>
            <a:r>
              <a:rPr lang="en-US" altLang="ko-KR"/>
              <a:t>)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30</a:t>
            </a:fld>
            <a:endParaRPr lang="ko-KR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700907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천연가스 시장의  구조와 시장지배력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 시장은 본질적으로 탐사</a:t>
            </a:r>
            <a:r>
              <a:rPr lang="en-US" altLang="ko-KR" sz="2000" dirty="0"/>
              <a:t>,</a:t>
            </a:r>
            <a:r>
              <a:rPr lang="ko-KR" altLang="en-US" sz="2000" dirty="0"/>
              <a:t> 생산</a:t>
            </a:r>
            <a:r>
              <a:rPr lang="en-US" altLang="ko-KR" sz="2000" dirty="0"/>
              <a:t>,</a:t>
            </a:r>
            <a:r>
              <a:rPr lang="ko-KR" altLang="en-US" sz="2000" dirty="0"/>
              <a:t> 수송</a:t>
            </a:r>
            <a:r>
              <a:rPr lang="en-US" altLang="ko-KR" sz="2000" dirty="0"/>
              <a:t>,</a:t>
            </a:r>
            <a:r>
              <a:rPr lang="ko-KR" altLang="en-US" sz="2000" dirty="0"/>
              <a:t> 가공</a:t>
            </a:r>
            <a:r>
              <a:rPr lang="en-US" altLang="ko-KR" sz="2000" dirty="0"/>
              <a:t>,</a:t>
            </a:r>
            <a:r>
              <a:rPr lang="ko-KR" altLang="en-US" sz="2000" dirty="0"/>
              <a:t> 분배 등 여러 단계에서 높은 자본집약성과 자산특수성을 특징으로 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인해 각 단계별로 독점적 또는 과점적 시장구조가 형성되는 특징이 있음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천연가스의 수송 및 가공 단계에서는 파이프라인 인프라가 매주 자본집약적이기 때문에 신규 공급자의 진입이 어렵고</a:t>
            </a:r>
            <a:r>
              <a:rPr lang="en-US" altLang="ko-KR" sz="2000" dirty="0"/>
              <a:t>,</a:t>
            </a:r>
            <a:r>
              <a:rPr lang="ko-KR" altLang="en-US" sz="2000" dirty="0"/>
              <a:t> 자연스럽게 독점적 구고자 형성될 가능성이 큼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최종 분배 단계에서는 지역 유틸러티 회사들이 특정 지역에서 가스를 독점적으로 공급하는 경우가 흔하며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가격 결정 과정에 공급자의 영향력을 강화하고 시장 경쟁을 저해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또한 천연가스 공급자들은 생산</a:t>
            </a:r>
            <a:r>
              <a:rPr lang="en-US" altLang="ko-KR" sz="2000" dirty="0"/>
              <a:t>,</a:t>
            </a:r>
            <a:r>
              <a:rPr lang="ko-KR" altLang="en-US" sz="2000" dirty="0"/>
              <a:t> 운송</a:t>
            </a:r>
            <a:r>
              <a:rPr lang="en-US" altLang="ko-KR" sz="2000" dirty="0"/>
              <a:t>,</a:t>
            </a:r>
            <a:r>
              <a:rPr lang="ko-KR" altLang="en-US" sz="2000" dirty="0"/>
              <a:t> 가공</a:t>
            </a:r>
            <a:r>
              <a:rPr lang="en-US" altLang="ko-KR" sz="2000" dirty="0"/>
              <a:t>,</a:t>
            </a:r>
            <a:r>
              <a:rPr lang="ko-KR" altLang="en-US" sz="2000" dirty="0"/>
              <a:t> 유통 과정을 수직적으로 통합하여 시장지배력을 강화하기도 함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31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280251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천연가스 시장의  구조와 시장지배력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 공급과정에서의 시장지배력을 완화하기 위해 정부와 규제기관은 파이프라인에 대한 제</a:t>
            </a:r>
            <a:r>
              <a:rPr lang="en-US" altLang="ko-KR" sz="2000" dirty="0"/>
              <a:t>3</a:t>
            </a:r>
            <a:r>
              <a:rPr lang="ko-KR" altLang="en-US" sz="2000" dirty="0"/>
              <a:t>자 접근</a:t>
            </a:r>
            <a:r>
              <a:rPr lang="en-US" altLang="ko-KR" sz="2000" dirty="0"/>
              <a:t>(Third-Party Access)</a:t>
            </a:r>
            <a:r>
              <a:rPr lang="ko-KR" altLang="en-US" sz="2000" dirty="0"/>
              <a:t> 보장</a:t>
            </a:r>
            <a:r>
              <a:rPr lang="en-US" altLang="ko-KR" sz="2000" dirty="0"/>
              <a:t>,</a:t>
            </a:r>
            <a:r>
              <a:rPr lang="ko-KR" altLang="en-US" sz="2000" dirty="0"/>
              <a:t> 가격 규제</a:t>
            </a:r>
            <a:r>
              <a:rPr lang="en-US" altLang="ko-KR" sz="2000" dirty="0"/>
              <a:t>,</a:t>
            </a:r>
            <a:r>
              <a:rPr lang="ko-KR" altLang="en-US" sz="2000" dirty="0"/>
              <a:t> 경쟁 촉진 정책 등을 도입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 시장에서는 장기계약이 공급자들의 시장지배력 행사에 중요한 수단으로 작용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장기계약은 공급자와 수요자 간 안정성을 제공하지만</a:t>
            </a:r>
            <a:r>
              <a:rPr lang="en-US" altLang="ko-KR" sz="2000" dirty="0"/>
              <a:t>,</a:t>
            </a:r>
            <a:r>
              <a:rPr lang="ko-KR" altLang="en-US" sz="2000" dirty="0"/>
              <a:t> 구매자의 에너지원 전환 가능성을 제약하여 경쟁을 제한할 수 있음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32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481477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천연가스 시장의 탈규제와 구조개편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탈규제</a:t>
            </a:r>
            <a:r>
              <a:rPr lang="en-US" altLang="ko-KR" sz="2000" dirty="0"/>
              <a:t>(deregulation)</a:t>
            </a:r>
            <a:r>
              <a:rPr lang="ko-KR" altLang="en-US" sz="2000" dirty="0"/>
              <a:t>는 가격</a:t>
            </a:r>
            <a:r>
              <a:rPr lang="en-US" altLang="ko-KR" sz="2000" dirty="0"/>
              <a:t>,</a:t>
            </a:r>
            <a:r>
              <a:rPr lang="ko-KR" altLang="en-US" sz="2000" dirty="0"/>
              <a:t> 시장진입</a:t>
            </a:r>
            <a:r>
              <a:rPr lang="en-US" altLang="ko-KR" sz="2000" dirty="0"/>
              <a:t>,</a:t>
            </a:r>
            <a:r>
              <a:rPr lang="ko-KR" altLang="en-US" sz="2000" dirty="0"/>
              <a:t> 운영과 같은 부문에서 정부의 직접적인 통제를 완화하거나 제거하는 것을 의미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구조개편</a:t>
            </a:r>
            <a:r>
              <a:rPr lang="en-US" altLang="ko-KR" sz="2000" dirty="0"/>
              <a:t>(restructuring)</a:t>
            </a:r>
            <a:r>
              <a:rPr lang="ko-KR" altLang="en-US" sz="2000" dirty="0"/>
              <a:t>은 기존의 수직적으로 통합된 기업을 기능별로 분리</a:t>
            </a:r>
            <a:r>
              <a:rPr lang="en-US" altLang="ko-KR" sz="2000" dirty="0"/>
              <a:t>(unbundling)</a:t>
            </a:r>
            <a:r>
              <a:rPr lang="ko-KR" altLang="en-US" sz="2000" dirty="0"/>
              <a:t>하여</a:t>
            </a:r>
            <a:r>
              <a:rPr lang="en-US" altLang="ko-KR" sz="2000" dirty="0"/>
              <a:t>,</a:t>
            </a:r>
            <a:r>
              <a:rPr lang="ko-KR" altLang="en-US" sz="2000" dirty="0"/>
              <a:t> 경쟁이 가능한 부문과 자연독점적 성격을 가진 부문을 구분하는 과정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에너지 산업에서는 생산과 판매 부문에 경쟁을 도입하고</a:t>
            </a:r>
            <a:r>
              <a:rPr lang="en-US" altLang="ko-KR" sz="2000" dirty="0"/>
              <a:t>,</a:t>
            </a:r>
            <a:r>
              <a:rPr lang="ko-KR" altLang="en-US" sz="2000" dirty="0"/>
              <a:t> 송전이나 파이프라인 수송 부문은 공공적 규제를 유지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영국은 가장 먼저 천연가스 시장 자유화를 도입한 국가로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1980</a:t>
            </a:r>
            <a:r>
              <a:rPr lang="ko-KR" altLang="en-US" sz="2000" dirty="0"/>
              <a:t>년대 민영화를 시작으로 </a:t>
            </a:r>
            <a:r>
              <a:rPr lang="en-US" altLang="ko-KR" sz="2000" dirty="0"/>
              <a:t>1998</a:t>
            </a:r>
            <a:r>
              <a:rPr lang="ko-KR" altLang="en-US" sz="2000" dirty="0"/>
              <a:t>년에는 완전한 소매 경쟁 시장을 구축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이 과정에서 제</a:t>
            </a:r>
            <a:r>
              <a:rPr lang="en-US" altLang="ko-KR" sz="2000" dirty="0"/>
              <a:t>3</a:t>
            </a:r>
            <a:r>
              <a:rPr lang="ko-KR" altLang="en-US" sz="2000" dirty="0"/>
              <a:t>자 파이프라인 접근</a:t>
            </a:r>
            <a:r>
              <a:rPr lang="en-US" altLang="ko-KR" sz="2000" dirty="0"/>
              <a:t>(third-party access), </a:t>
            </a:r>
            <a:r>
              <a:rPr lang="ko-KR" altLang="en-US" sz="2000" dirty="0"/>
              <a:t>시장</a:t>
            </a:r>
            <a:r>
              <a:rPr lang="en-US" altLang="ko-KR" sz="2000" dirty="0"/>
              <a:t> </a:t>
            </a:r>
            <a:r>
              <a:rPr lang="ko-KR" altLang="en-US" sz="2000" dirty="0"/>
              <a:t>기반 가격 체계</a:t>
            </a:r>
            <a:r>
              <a:rPr lang="en-US" altLang="ko-KR" sz="2000" dirty="0"/>
              <a:t>,</a:t>
            </a:r>
            <a:r>
              <a:rPr lang="ko-KR" altLang="en-US" sz="2000" dirty="0"/>
              <a:t> 자연 독점 부문의 규제기관 감독 등의 제도들이 단계적 도입</a:t>
            </a:r>
          </a:p>
          <a:p>
            <a:pPr marL="371310" lvl="0" indent="-314160">
              <a:buChar char="•"/>
              <a:defRPr/>
            </a:pPr>
            <a:endParaRPr lang="ko-KR" altLang="en-US" sz="2200" dirty="0"/>
          </a:p>
          <a:p>
            <a:pPr marL="371310" lvl="0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33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799202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천연가스 시장의 탈규제와 구조개편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유럽연합은 </a:t>
            </a:r>
            <a:r>
              <a:rPr lang="en-US" altLang="ko-KR" sz="2000" dirty="0"/>
              <a:t>1990</a:t>
            </a:r>
            <a:r>
              <a:rPr lang="ko-KR" altLang="en-US" sz="2000" dirty="0"/>
              <a:t>년 말부터 </a:t>
            </a:r>
            <a:r>
              <a:rPr lang="en-US" altLang="ko-KR" sz="2000" dirty="0"/>
              <a:t>‘</a:t>
            </a:r>
            <a:r>
              <a:rPr lang="ko-KR" altLang="en-US" sz="2000" dirty="0"/>
              <a:t>가스 지침</a:t>
            </a:r>
            <a:r>
              <a:rPr lang="en-US" altLang="ko-KR" sz="2000" dirty="0"/>
              <a:t>(Directive)’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 통해 회원국들의 시장 개방을 유도</a:t>
            </a:r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1998</a:t>
            </a:r>
            <a:r>
              <a:rPr lang="ko-KR" altLang="en-US" sz="2000" dirty="0"/>
              <a:t>년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20023</a:t>
            </a:r>
            <a:r>
              <a:rPr lang="ko-KR" altLang="en-US" sz="2000" dirty="0"/>
              <a:t>년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2009</a:t>
            </a:r>
            <a:r>
              <a:rPr lang="ko-KR" altLang="en-US" sz="2000" dirty="0"/>
              <a:t>년의 세 차례 지침은 제</a:t>
            </a:r>
            <a:r>
              <a:rPr lang="en-US" altLang="ko-KR" sz="2000" dirty="0"/>
              <a:t>3</a:t>
            </a:r>
            <a:r>
              <a:rPr lang="ko-KR" altLang="en-US" sz="2000" dirty="0"/>
              <a:t>자 접근 보장</a:t>
            </a:r>
            <a:r>
              <a:rPr lang="en-US" altLang="ko-KR" sz="2000" dirty="0"/>
              <a:t>,</a:t>
            </a:r>
            <a:r>
              <a:rPr lang="ko-KR" altLang="en-US" sz="2000" dirty="0"/>
              <a:t> 송</a:t>
            </a:r>
            <a:r>
              <a:rPr lang="en-US" altLang="ko-KR" sz="2000" dirty="0"/>
              <a:t>·</a:t>
            </a:r>
            <a:r>
              <a:rPr lang="ko-KR" altLang="en-US" sz="2000" dirty="0"/>
              <a:t>배전과 판매 기능의 법적 분리</a:t>
            </a:r>
            <a:r>
              <a:rPr lang="en-US" altLang="ko-KR" sz="2000" dirty="0"/>
              <a:t>,</a:t>
            </a:r>
            <a:r>
              <a:rPr lang="ko-KR" altLang="en-US" sz="2000" dirty="0"/>
              <a:t> 독립 규제기관 설치 등을 요구하였고</a:t>
            </a:r>
            <a:r>
              <a:rPr lang="en-US" altLang="ko-KR" sz="2000" dirty="0"/>
              <a:t>,</a:t>
            </a:r>
            <a:r>
              <a:rPr lang="ko-KR" altLang="en-US" sz="2000" dirty="0"/>
              <a:t> 다수의 국가가 </a:t>
            </a:r>
            <a:r>
              <a:rPr lang="en-US" altLang="ko-KR" sz="2000" dirty="0"/>
              <a:t>2004</a:t>
            </a:r>
            <a:r>
              <a:rPr lang="ko-KR" altLang="en-US" sz="2000" dirty="0"/>
              <a:t>년까지 전면 개방을 완료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미국은 연방 에너지 위원회</a:t>
            </a:r>
            <a:r>
              <a:rPr lang="en-US" altLang="ko-KR" sz="2000" dirty="0"/>
              <a:t>(FERC)</a:t>
            </a:r>
            <a:r>
              <a:rPr lang="ko-KR" altLang="en-US" sz="2000" dirty="0"/>
              <a:t>는 </a:t>
            </a:r>
            <a:r>
              <a:rPr lang="en-US" altLang="ko-KR" sz="2000" dirty="0"/>
              <a:t>1980</a:t>
            </a:r>
            <a:r>
              <a:rPr lang="ko-KR" altLang="en-US" sz="2000" dirty="0"/>
              <a:t>년 부터 탈규제를 본격 추진 </a:t>
            </a: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FERC</a:t>
            </a:r>
            <a:r>
              <a:rPr lang="ko-KR" altLang="en-US" sz="2000" dirty="0"/>
              <a:t> 명령 </a:t>
            </a:r>
            <a:r>
              <a:rPr lang="en-US" altLang="ko-KR" sz="2000" dirty="0"/>
              <a:t>436(1985</a:t>
            </a:r>
            <a:r>
              <a:rPr lang="ko-KR" altLang="en-US" sz="2000" dirty="0"/>
              <a:t>년</a:t>
            </a:r>
            <a:r>
              <a:rPr lang="en-US" altLang="ko-KR" sz="2000" dirty="0"/>
              <a:t>)</a:t>
            </a:r>
            <a:r>
              <a:rPr lang="ko-KR" altLang="en-US" sz="2000" dirty="0"/>
              <a:t>과</a:t>
            </a:r>
            <a:r>
              <a:rPr lang="en-US" altLang="ko-KR" sz="2000" dirty="0"/>
              <a:t> 636(1992</a:t>
            </a:r>
            <a:r>
              <a:rPr lang="ko-KR" altLang="en-US" sz="2000" dirty="0"/>
              <a:t>년</a:t>
            </a:r>
            <a:r>
              <a:rPr lang="en-US" altLang="ko-KR" sz="2000" dirty="0"/>
              <a:t>)</a:t>
            </a:r>
            <a:r>
              <a:rPr lang="ko-KR" altLang="en-US" sz="2000" dirty="0"/>
              <a:t>은</a:t>
            </a:r>
            <a:r>
              <a:rPr lang="en-US" altLang="ko-KR" sz="2000" dirty="0"/>
              <a:t> </a:t>
            </a:r>
            <a:r>
              <a:rPr lang="ko-KR" altLang="en-US" sz="2000" dirty="0"/>
              <a:t>파이프라인 사업자에게 제</a:t>
            </a:r>
            <a:r>
              <a:rPr lang="en-US" altLang="ko-KR" sz="2000" dirty="0"/>
              <a:t>3</a:t>
            </a:r>
            <a:r>
              <a:rPr lang="ko-KR" altLang="en-US" sz="2000" dirty="0"/>
              <a:t>자 접근을 의무화하고</a:t>
            </a:r>
            <a:r>
              <a:rPr lang="en-US" altLang="ko-KR" sz="2000" dirty="0"/>
              <a:t>,</a:t>
            </a:r>
            <a:r>
              <a:rPr lang="ko-KR" altLang="en-US" sz="2000" dirty="0"/>
              <a:t> 소비자가 직접 생산자와 계약을 체결할 수 있도록 허용함으로써 경쟁적 도매시장 형성</a:t>
            </a:r>
          </a:p>
          <a:p>
            <a:pPr marL="371310" lvl="0" indent="-314160">
              <a:buChar char="•"/>
              <a:defRPr/>
            </a:pPr>
            <a:endParaRPr lang="ko-KR" altLang="en-US" sz="2000" dirty="0"/>
          </a:p>
          <a:p>
            <a:pPr marL="371310" lvl="0" indent="-314160">
              <a:buChar char="•"/>
              <a:defRPr/>
            </a:pPr>
            <a:r>
              <a:rPr lang="ko-KR" altLang="en-US" sz="2000" dirty="0"/>
              <a:t>일본은 </a:t>
            </a:r>
            <a:r>
              <a:rPr lang="en-US" altLang="ko-KR" sz="2000" dirty="0"/>
              <a:t>1990</a:t>
            </a:r>
            <a:r>
              <a:rPr lang="ko-KR" altLang="en-US" sz="2000" dirty="0"/>
              <a:t>년대 후반부터 점진적인 천연가스 시장 자유화를 추진해왔으며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2020</a:t>
            </a:r>
            <a:r>
              <a:rPr lang="ko-KR" altLang="en-US" sz="2000" dirty="0"/>
              <a:t>년에는 소매 부문까지 완전 자유화를 달성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457200" lvl="1" indent="0">
              <a:buNone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34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120967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천연가스 가격의 결정 요인들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천연가스 가격은 전 세계적으로 균일한 가격이 형성되는 원유가격과 달리 지역의 수요와 공급</a:t>
            </a:r>
            <a:r>
              <a:rPr lang="en-US" altLang="ko-KR" sz="2000" dirty="0"/>
              <a:t>,</a:t>
            </a:r>
            <a:r>
              <a:rPr lang="ko-KR" altLang="en-US" sz="2000" dirty="0"/>
              <a:t> 수송비용과 시장 구조 등에 영향을 받음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탐사</a:t>
            </a:r>
            <a:r>
              <a:rPr lang="en-US" altLang="ko-KR" sz="2000" dirty="0"/>
              <a:t>,</a:t>
            </a:r>
            <a:r>
              <a:rPr lang="ko-KR" altLang="en-US" sz="2000" dirty="0"/>
              <a:t> 시추</a:t>
            </a:r>
            <a:r>
              <a:rPr lang="en-US" altLang="ko-KR" sz="2000" dirty="0"/>
              <a:t>,</a:t>
            </a:r>
            <a:r>
              <a:rPr lang="ko-KR" altLang="en-US" sz="2000" dirty="0"/>
              <a:t> 채굴 비용 등의 생산 비용 또한 시장가격에 중요한 역할을 하며 심해시추기술이나 수압파쇄 기법 등 고비용의 생산 방삭을 사용하는 경우 다른 지역에 비하여 시장 가격이 높게 분포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천연가스의 운송 비용 또한 최종 시장가격에 영향을 미치는데 </a:t>
            </a:r>
            <a:r>
              <a:rPr lang="en-US" altLang="ko-KR" sz="2000" dirty="0"/>
              <a:t>LNG</a:t>
            </a:r>
            <a:r>
              <a:rPr lang="ko-KR" altLang="en-US" sz="2000" dirty="0"/>
              <a:t>의 경우 장거리 운송은 액화</a:t>
            </a:r>
            <a:r>
              <a:rPr lang="en-US" altLang="ko-KR" sz="2000" dirty="0"/>
              <a:t>,</a:t>
            </a:r>
            <a:r>
              <a:rPr lang="ko-KR" altLang="en-US" sz="2000" dirty="0"/>
              <a:t> 선적 및 재기화 비용으로 인해 비용상승의 요인으로 작용</a:t>
            </a:r>
          </a:p>
          <a:p>
            <a:pPr marL="1171410" lvl="2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35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401107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 가격의 결정  메카니즘</a:t>
            </a:r>
          </a:p>
          <a:p>
            <a:pPr marL="771360" lvl="1" indent="-314160">
              <a:buChar char="•"/>
              <a:defRPr/>
            </a:pPr>
            <a:r>
              <a:rPr lang="ko-KR" altLang="en-US" sz="2000"/>
              <a:t>석유 가격 연동 방식</a:t>
            </a:r>
            <a:r>
              <a:rPr lang="en-US" altLang="ko-KR" sz="2000"/>
              <a:t>(</a:t>
            </a:r>
            <a:r>
              <a:rPr lang="en-US" altLang="ko-KR" sz="2000" dirty="0"/>
              <a:t>oil-indexed pricing)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석유 가격 연동 방식은 천연가스의 가격을 유가에 연동함으로써 장기적인 안정성을 제공하지만</a:t>
            </a:r>
            <a:r>
              <a:rPr lang="en-US" altLang="ko-KR" sz="2000" dirty="0"/>
              <a:t>,</a:t>
            </a:r>
            <a:r>
              <a:rPr lang="ko-KR" altLang="en-US" sz="2000" dirty="0"/>
              <a:t> 시장의 수급 상황이나 천연가스 고유의 수요 공급 특성을 반영하는 데에는 한계가 있음</a:t>
            </a:r>
          </a:p>
          <a:p>
            <a:pPr marL="857250" lvl="2" indent="0">
              <a:buNone/>
              <a:defRPr/>
            </a:pPr>
            <a:endParaRPr lang="ko-KR" altLang="en-US" sz="2200" dirty="0"/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 12"/>
              <p:cNvSpPr/>
              <p:nvPr/>
            </p:nvSpPr>
            <p:spPr>
              <a:xfrm>
                <a:off x="1860323" y="2207419"/>
                <a:ext cx="7496174" cy="1724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𝑔𝑎𝑠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𝛼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𝑜𝑖𝑙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𝛽</m:t>
                      </m:r>
                    </m:oMath>
                  </m:oMathPara>
                </a14:m>
                <a:endParaRPr/>
              </a:p>
              <a:p>
                <a:pPr algn="l"/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𝑔𝑎𝑠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천연가스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: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𝑜𝑖𝑙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석유가격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제품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𝛼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에너지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등가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계수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𝛽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조정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상수</m:t>
                      </m:r>
                    </m:oMath>
                  </m:oMathPara>
                </a14:m>
                <a:endParaRPr/>
              </a:p>
              <a:p>
                <a:pPr algn="l"/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3" name=""/>
              <p:cNvSpPr txBox="1"/>
              <p:nvPr/>
            </p:nvSpPr>
            <p:spPr>
              <a:xfrm>
                <a:off x="1860323" y="2207419"/>
                <a:ext cx="7496174" cy="17240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310824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천연가스 가격의 결정  메카니즘</a:t>
            </a:r>
          </a:p>
          <a:p>
            <a:pPr marL="771360" lvl="1" indent="-314160">
              <a:buChar char="•"/>
              <a:defRPr/>
            </a:pPr>
            <a:r>
              <a:rPr lang="ko-KR" altLang="en-US" sz="2000"/>
              <a:t>순환수 가격방식</a:t>
            </a:r>
            <a:r>
              <a:rPr lang="en-US" altLang="ko-KR" sz="2000"/>
              <a:t>(netback pricing)</a:t>
            </a:r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ko-KR" altLang="en-US" sz="2000"/>
          </a:p>
          <a:p>
            <a:pPr marL="771360" lvl="1" indent="-314160">
              <a:buChar char="•"/>
              <a:defRPr/>
            </a:pPr>
            <a:r>
              <a:rPr lang="ko-KR" altLang="en-US" sz="2000"/>
              <a:t>순환수 가격방식은 수요지에서의 천연가스 판매 가격을 기준으로</a:t>
            </a:r>
            <a:r>
              <a:rPr lang="en-US" altLang="ko-KR" sz="2000"/>
              <a:t>,</a:t>
            </a:r>
            <a:r>
              <a:rPr lang="ko-KR" altLang="en-US" sz="2000"/>
              <a:t> 생산지 가격을 역산하는 방식으로 결정</a:t>
            </a:r>
          </a:p>
          <a:p>
            <a:pPr marL="771360" lvl="1" indent="-314160">
              <a:buChar char="•"/>
              <a:defRPr/>
            </a:pPr>
            <a:r>
              <a:rPr lang="ko-KR" altLang="en-US" sz="2000"/>
              <a:t>가격 결정이 수요지의 시장 가격에 따라 유연하게 조정되므로</a:t>
            </a:r>
            <a:r>
              <a:rPr lang="en-US" altLang="ko-KR" sz="2000"/>
              <a:t>,</a:t>
            </a:r>
            <a:r>
              <a:rPr lang="ko-KR" altLang="en-US" sz="2000"/>
              <a:t> 시장 기반의 경쟁적 거래에 유리</a:t>
            </a:r>
          </a:p>
          <a:p>
            <a:pPr marL="857250" lvl="2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ko-KR" altLang="en-US"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 12"/>
              <p:cNvSpPr/>
              <p:nvPr/>
            </p:nvSpPr>
            <p:spPr>
              <a:xfrm>
                <a:off x="1860323" y="2207419"/>
                <a:ext cx="8058150" cy="14573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𝑛𝑒𝑡𝑏𝑎𝑐𝑘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𝑑𝑒𝑙𝑖𝑣𝑒𝑟𝑒𝑑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𝑙𝑖𝑞𝑢𝑒𝑓𝑎𝑐𝑡𝑖𝑜𝑛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𝑡𝑟𝑎𝑛𝑠𝑝𝑜𝑟𝑡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−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𝑟𝑒𝑔𝑎𝑠𝑖𝑓𝑖𝑐𝑎𝑡𝑖𝑜𝑛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𝑛𝑒𝑡𝑏𝑎𝑐𝑘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생산지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순환수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: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𝑑𝑒𝑙𝑖𝑣𝑒𝑟𝑒𝑑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수요지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도착가격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𝑙𝑖𝑞𝑢𝑒𝑓𝑎𝑐𝑡𝑖𝑜𝑛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액화비용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𝑡𝑟𝑎𝑛𝑠𝑝𝑜𝑟𝑡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운송비용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𝑟𝑒𝑔𝑎𝑠𝑖𝑓𝑖𝑐𝑎𝑡𝑖𝑜𝑛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재기화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비용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3" name=""/>
              <p:cNvSpPr txBox="1"/>
              <p:nvPr/>
            </p:nvSpPr>
            <p:spPr>
              <a:xfrm>
                <a:off x="1860323" y="2207419"/>
                <a:ext cx="8058150" cy="1457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897206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천연가스 가격의 결정  메카니즘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혼합가격방식</a:t>
            </a:r>
            <a:r>
              <a:rPr lang="en-US" altLang="ko-KR" sz="2000" dirty="0"/>
              <a:t>(hybrid pricing)</a:t>
            </a:r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endParaRPr lang="en-US" altLang="ko-KR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혼합방식 모델은 장기계약의 안정성과 시장 가격 반영의 유연성을 동시에 확보할 수 있는 방법으로 평가됨</a:t>
            </a:r>
          </a:p>
          <a:p>
            <a:pPr marL="857250" lvl="2" indent="0">
              <a:buNone/>
              <a:defRPr/>
            </a:pPr>
            <a:endParaRPr lang="ko-KR" altLang="en-US" sz="2200" dirty="0"/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 12"/>
              <p:cNvSpPr/>
              <p:nvPr/>
            </p:nvSpPr>
            <p:spPr>
              <a:xfrm>
                <a:off x="1860323" y="2207419"/>
                <a:ext cx="7972425" cy="14573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h𝑦𝑏𝑟𝑖𝑑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𝑜𝑖𝑙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𝑖𝑛𝑑𝑒𝑥𝑒𝑑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h𝑢𝑏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h𝑦𝑏𝑟𝑖𝑑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가중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평균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𝑜𝑖𝑙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𝑑𝑒𝑙𝑖𝑣𝑒𝑟𝑒𝑑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석유연동가격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h𝑢𝑏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현물시장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기준가겨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가중치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3" name=""/>
              <p:cNvSpPr txBox="1"/>
              <p:nvPr/>
            </p:nvSpPr>
            <p:spPr>
              <a:xfrm>
                <a:off x="1860323" y="2207419"/>
                <a:ext cx="7972425" cy="1457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38</a:t>
            </a:fld>
            <a:endParaRPr lang="ko-KR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87909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/>
              <a:t>천연가스 가격의 결정  메카니즘</a:t>
            </a:r>
          </a:p>
          <a:p>
            <a:pPr marL="771360" lvl="1" indent="-314160">
              <a:buChar char="•"/>
              <a:defRPr/>
            </a:pPr>
            <a:r>
              <a:rPr lang="ko-KR" altLang="en-US" sz="2000"/>
              <a:t>혼합가격방식</a:t>
            </a:r>
            <a:r>
              <a:rPr lang="en-US" altLang="ko-KR" sz="2000"/>
              <a:t>(hybrid pricing)</a:t>
            </a:r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endParaRPr lang="en-US" altLang="ko-KR" sz="2000"/>
          </a:p>
          <a:p>
            <a:pPr marL="771360" lvl="1" indent="-314160">
              <a:buChar char="•"/>
              <a:defRPr/>
            </a:pPr>
            <a:r>
              <a:rPr lang="ko-KR" altLang="en-US" sz="2000"/>
              <a:t>혼합방식 모델은 장기계약의 안정성과 시장 가격 반영의 유연성을 동시에 확보할 수 있는 방법으로 평가됨</a:t>
            </a:r>
          </a:p>
          <a:p>
            <a:pPr marL="857250" lvl="2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ko-KR" altLang="en-US"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 12"/>
              <p:cNvSpPr/>
              <p:nvPr/>
            </p:nvSpPr>
            <p:spPr>
              <a:xfrm>
                <a:off x="1860323" y="2207419"/>
                <a:ext cx="7972425" cy="14573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h𝑦𝑏𝑟𝑖𝑑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𝑜𝑖𝑙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𝑖𝑛𝑑𝑒𝑥𝑒𝑑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+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∙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h𝑢𝑏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h𝑦𝑏𝑟𝑖𝑑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가중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평균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𝑜𝑖𝑙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𝑑𝑒𝑙𝑖𝑣𝑒𝑟𝑒𝑑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석유연동가격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𝑃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h𝑢𝑏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현물시장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기준가겨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𝜔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2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가중치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3" name=""/>
              <p:cNvSpPr txBox="1"/>
              <p:nvPr/>
            </p:nvSpPr>
            <p:spPr>
              <a:xfrm>
                <a:off x="1860323" y="2207419"/>
                <a:ext cx="7972425" cy="1457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1232591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200" dirty="0"/>
              <a:t>지역적 가격변동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천연가스는 전 세계적인 단일 가격 형성이 되지 않고 지역적으로 가격 차이가 발생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북미의 경우</a:t>
            </a:r>
            <a:r>
              <a:rPr lang="en-US" altLang="ko-KR" sz="2000" dirty="0"/>
              <a:t>,</a:t>
            </a:r>
            <a:r>
              <a:rPr lang="ko-KR" altLang="en-US" sz="2000" dirty="0"/>
              <a:t> 천연가스 가격은 헨리허브 가격이 벤치마크 역할을 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미국은 세일가스붐으로 다른 지역에비하여 낮은 가격을 유지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유럽은 영국의 </a:t>
            </a:r>
            <a:r>
              <a:rPr lang="en-US" altLang="ko-KR" sz="2000" dirty="0"/>
              <a:t>NBP(National Balancing Point)</a:t>
            </a:r>
            <a:r>
              <a:rPr lang="ko-KR" altLang="en-US" sz="2000" dirty="0"/>
              <a:t>와 네델란드의 </a:t>
            </a:r>
            <a:r>
              <a:rPr lang="en-US" altLang="ko-KR" sz="2000" dirty="0"/>
              <a:t>TTF(Title Transfer Facilities)</a:t>
            </a:r>
            <a:r>
              <a:rPr lang="ko-KR" altLang="en-US" sz="2000" dirty="0"/>
              <a:t>를 중심으로 가격이 형성됨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유럽의 천연가스 가격은 수입비용과 시장구조를 반영하여 미국에 비하여 높게 형성됨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아시아 천연가스 가격은 주로 전통적으로 원유가격에 연동된 장기계약에 의하여 결정되는 경우가 많음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주로 </a:t>
            </a:r>
            <a:r>
              <a:rPr lang="en-US" altLang="ko-KR" sz="2000" dirty="0"/>
              <a:t>LNG</a:t>
            </a:r>
            <a:r>
              <a:rPr lang="ko-KR" altLang="en-US" sz="2000" dirty="0"/>
              <a:t> 수입에 대한 의존과 장거리 운송으로 지역적으로 시장가격이 가장 높게 형성됨</a:t>
            </a:r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6720511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en-US" altLang="ko-KR" sz="2200"/>
          </a:p>
          <a:p>
            <a:pPr marL="771360" lvl="1" indent="-314160">
              <a:buChar char="•"/>
              <a:defRPr/>
            </a:pPr>
            <a:endParaRPr lang="en-US" altLang="ko-KR" sz="2200"/>
          </a:p>
          <a:p>
            <a:pPr marL="771360" lvl="1" indent="-314160">
              <a:buChar char="•"/>
              <a:defRPr/>
            </a:pPr>
            <a:endParaRPr lang="en-US" altLang="ko-KR" sz="2200"/>
          </a:p>
          <a:p>
            <a:pPr marL="857250" lvl="2" indent="0">
              <a:buNone/>
              <a:defRPr/>
            </a:pPr>
            <a:endParaRPr lang="ko-KR" altLang="en-US" sz="2200"/>
          </a:p>
          <a:p>
            <a:pPr marL="1171410" lvl="2" indent="-314160">
              <a:buChar char="•"/>
              <a:defRPr/>
            </a:pPr>
            <a:endParaRPr lang="ko-KR" altLang="en-US" sz="2200"/>
          </a:p>
          <a:p>
            <a:pPr marL="771360" lvl="1" indent="-314160">
              <a:buChar char="•"/>
              <a:defRPr/>
            </a:pPr>
            <a:endParaRPr lang="ko-KR" altLang="en-US" sz="2200"/>
          </a:p>
          <a:p>
            <a:pPr marL="857250" lvl="2" indent="0">
              <a:buNone/>
              <a:defRPr/>
            </a:pPr>
            <a:endParaRPr lang="ko-KR" altLang="en-US" sz="220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1587727"/>
            <a:ext cx="9000743" cy="4541801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1650456" y="1180465"/>
            <a:ext cx="4445544" cy="360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</a:t>
            </a:r>
            <a:r>
              <a:rPr lang="en-US" altLang="ko-KR"/>
              <a:t> 6-10]</a:t>
            </a:r>
            <a:r>
              <a:rPr lang="ko-KR" altLang="en-US"/>
              <a:t> 천연가스 가격</a:t>
            </a:r>
            <a:r>
              <a:rPr lang="en-US" altLang="ko-KR"/>
              <a:t>(US</a:t>
            </a:r>
            <a:r>
              <a:rPr lang="ko-KR" altLang="en-US"/>
              <a:t>달러</a:t>
            </a:r>
            <a:r>
              <a:rPr lang="en-US" altLang="ko-KR"/>
              <a:t>/</a:t>
            </a:r>
            <a:r>
              <a:rPr lang="ko-KR" altLang="en-US"/>
              <a:t>백만</a:t>
            </a:r>
            <a:r>
              <a:rPr lang="en-US" altLang="ko-KR"/>
              <a:t>Btu)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41</a:t>
            </a:fld>
            <a:endParaRPr lang="ko-KR" altLang="en-US"/>
          </a:p>
        </p:txBody>
      </p:sp>
      <p:sp>
        <p:nvSpPr>
          <p:cNvPr id="1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638182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천연가스 시장의 가격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/>
          </a:bodyPr>
          <a:lstStyle/>
          <a:p>
            <a:pPr marL="371310" lvl="0" indent="-314160">
              <a:buChar char="•"/>
              <a:defRPr/>
            </a:pPr>
            <a:r>
              <a:rPr lang="ko-KR" altLang="en-US" sz="2000" dirty="0"/>
              <a:t>장기계약과 현물시장</a:t>
            </a:r>
          </a:p>
          <a:p>
            <a:pPr marL="771360" lvl="1" indent="-314160">
              <a:buChar char="•"/>
              <a:defRPr/>
            </a:pPr>
            <a:r>
              <a:rPr lang="ko-KR" altLang="en-US" sz="2000" dirty="0"/>
              <a:t>천연가스 시장에서 거래 계약은 전통적으로 장기계약</a:t>
            </a:r>
            <a:r>
              <a:rPr lang="en-US" altLang="ko-KR" sz="2000" dirty="0"/>
              <a:t>(long-term contract)</a:t>
            </a:r>
            <a:r>
              <a:rPr lang="ko-KR" altLang="en-US" sz="2000" dirty="0"/>
              <a:t>에 기반해 발전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공급안정성과 투자회수의 핵심 수단</a:t>
            </a:r>
          </a:p>
          <a:p>
            <a:pPr marL="1171410" lvl="2" indent="-314160">
              <a:buChar char="•"/>
              <a:defRPr/>
            </a:pPr>
            <a:r>
              <a:rPr lang="en-US" altLang="ko-KR" sz="2000" dirty="0"/>
              <a:t>10</a:t>
            </a:r>
            <a:r>
              <a:rPr lang="ko-KR" altLang="en-US" sz="2000" dirty="0"/>
              <a:t>년에서 </a:t>
            </a:r>
            <a:r>
              <a:rPr lang="en-US" altLang="ko-KR" sz="2000" dirty="0"/>
              <a:t>25</a:t>
            </a:r>
            <a:r>
              <a:rPr lang="ko-KR" altLang="en-US" sz="2000" dirty="0"/>
              <a:t>년 이상의 기간동안 천연가스를 공급하는 구조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보통 유가 연동 방식</a:t>
            </a:r>
            <a:r>
              <a:rPr lang="en-US" altLang="ko-KR" sz="2000" dirty="0"/>
              <a:t>(oil indexed pricing)</a:t>
            </a:r>
            <a:r>
              <a:rPr lang="ko-KR" altLang="en-US" sz="2000" dirty="0"/>
              <a:t>을 통해 가격이 결정되며 수요자는 </a:t>
            </a:r>
            <a:r>
              <a:rPr lang="en-US" altLang="ko-KR" sz="2000" dirty="0"/>
              <a:t>‘</a:t>
            </a:r>
            <a:r>
              <a:rPr lang="ko-KR" altLang="en-US" sz="2000" dirty="0"/>
              <a:t>수령 또는 지불 조항</a:t>
            </a:r>
            <a:r>
              <a:rPr lang="en-US" altLang="ko-KR" sz="2000" dirty="0"/>
              <a:t>(take or pay clause)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수용</a:t>
            </a:r>
          </a:p>
          <a:p>
            <a:pPr marL="771360" lvl="1" indent="-314160">
              <a:buChar char="•"/>
              <a:defRPr/>
            </a:pPr>
            <a:endParaRPr lang="ko-KR" altLang="en-US" sz="2000" dirty="0"/>
          </a:p>
          <a:p>
            <a:pPr marL="771360" lvl="1" indent="-314160">
              <a:buChar char="•"/>
              <a:defRPr/>
            </a:pPr>
            <a:r>
              <a:rPr lang="en-US" altLang="ko-KR" sz="2000" dirty="0"/>
              <a:t>2000</a:t>
            </a:r>
            <a:r>
              <a:rPr lang="ko-KR" altLang="en-US" sz="2000" dirty="0"/>
              <a:t>년대 이후 천연가스 시장</a:t>
            </a:r>
            <a:r>
              <a:rPr lang="en-US" altLang="ko-KR" sz="2000" dirty="0"/>
              <a:t>,</a:t>
            </a:r>
            <a:r>
              <a:rPr lang="ko-KR" altLang="en-US" sz="2000" dirty="0"/>
              <a:t> 특히 </a:t>
            </a:r>
            <a:r>
              <a:rPr lang="en-US" altLang="ko-KR" sz="2000" dirty="0"/>
              <a:t>LNG</a:t>
            </a:r>
            <a:r>
              <a:rPr lang="ko-KR" altLang="en-US" sz="2000" dirty="0"/>
              <a:t> 시장의 유연화와 글로벌화가 진전되면서 단기계약</a:t>
            </a:r>
            <a:r>
              <a:rPr lang="en-US" altLang="ko-KR" sz="2000" dirty="0"/>
              <a:t>(short-term contracts)</a:t>
            </a:r>
            <a:r>
              <a:rPr lang="ko-KR" altLang="en-US" sz="2000" dirty="0"/>
              <a:t>과 현물거래</a:t>
            </a:r>
            <a:r>
              <a:rPr lang="en-US" altLang="ko-KR" sz="2000" dirty="0"/>
              <a:t>(spot trading)</a:t>
            </a:r>
            <a:r>
              <a:rPr lang="ko-KR" altLang="en-US" sz="2000" dirty="0"/>
              <a:t>의 비중이 점차 증가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단기계약은 </a:t>
            </a:r>
            <a:r>
              <a:rPr lang="en-US" altLang="ko-KR" sz="2000" dirty="0"/>
              <a:t>1</a:t>
            </a:r>
            <a:r>
              <a:rPr lang="ko-KR" altLang="en-US" sz="2000" dirty="0"/>
              <a:t>개월에서 수년 이내의 기간으로 이루어지며</a:t>
            </a:r>
            <a:r>
              <a:rPr lang="en-US" altLang="ko-KR" sz="2000" dirty="0"/>
              <a:t>,</a:t>
            </a:r>
            <a:r>
              <a:rPr lang="ko-KR" altLang="en-US" sz="2000" dirty="0"/>
              <a:t> 현물가격 또는 허브 가격에 연동되어 거래됨</a:t>
            </a:r>
          </a:p>
          <a:p>
            <a:pPr marL="1171410" lvl="2" indent="-314160">
              <a:buChar char="•"/>
              <a:defRPr/>
            </a:pPr>
            <a:r>
              <a:rPr lang="ko-KR" altLang="en-US" sz="2000" dirty="0"/>
              <a:t>단기적인 수급 조정 수단으로서 유용하며</a:t>
            </a:r>
            <a:r>
              <a:rPr lang="en-US" altLang="ko-KR" sz="2000" dirty="0"/>
              <a:t>,</a:t>
            </a:r>
            <a:r>
              <a:rPr lang="ko-KR" altLang="en-US" sz="2000" dirty="0"/>
              <a:t> 수요 변동이나 긴급 상황에 신속하게 대응할 수 있는 유연성을 제공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42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241290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에너지 전환과 천연가스의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03325"/>
            <a:ext cx="10972798" cy="4922838"/>
          </a:xfrm>
        </p:spPr>
        <p:txBody>
          <a:bodyPr>
            <a:normAutofit fontScale="92500"/>
          </a:bodyPr>
          <a:lstStyle/>
          <a:p>
            <a:pPr marL="371310" lvl="0" indent="-314160">
              <a:buChar char="•"/>
              <a:defRPr/>
            </a:pPr>
            <a:r>
              <a:rPr lang="en-US" altLang="ko-KR" sz="2200" dirty="0"/>
              <a:t>21</a:t>
            </a:r>
            <a:r>
              <a:rPr lang="ko-KR" altLang="en-US" sz="2200" dirty="0"/>
              <a:t>세기 들어 에너지 전환과정에서 천연가스는 석탄 및 석유에 비해 상대적으로 탄소배출이 적고</a:t>
            </a:r>
            <a:r>
              <a:rPr lang="en-US" altLang="ko-KR" sz="2200" dirty="0"/>
              <a:t>,</a:t>
            </a:r>
            <a:r>
              <a:rPr lang="ko-KR" altLang="en-US" sz="2200" dirty="0"/>
              <a:t> 발전효율이 높은 연료라는 점에서 전환연료</a:t>
            </a:r>
            <a:r>
              <a:rPr lang="en-US" altLang="ko-KR" sz="2200" dirty="0"/>
              <a:t>(transition fuel)</a:t>
            </a:r>
            <a:r>
              <a:rPr lang="ko-KR" altLang="en-US" sz="2200" dirty="0"/>
              <a:t>로서의 전략적 위상을 점유하고 있음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특히 전력부문에서 재생에너지의 간헐성 및 불확실성을 보완하는 조절 전원으로서의 기능을 수행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에너지 안보와 탄소 감축이라는 복수 목표를 동시에 고려한 현실적 이행수단으로 기능</a:t>
            </a:r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371310" lvl="0" indent="-314160">
              <a:buChar char="•"/>
              <a:defRPr/>
            </a:pPr>
            <a:r>
              <a:rPr lang="ko-KR" altLang="en-US" sz="2200" dirty="0"/>
              <a:t>그러나 탈탄소가 전방위적으로 추진되는 중장기 전환기에는 천연가스 역시 기존의 고탄소에너지에서 벗어나 청정가스 체계로의 구조적 변화가 필요 함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장기적으로 수소 전환 인프라의 확충</a:t>
            </a:r>
            <a:r>
              <a:rPr lang="en-US" altLang="ko-KR" sz="2200" dirty="0"/>
              <a:t>,</a:t>
            </a:r>
            <a:r>
              <a:rPr lang="ko-KR" altLang="en-US" sz="2200" dirty="0"/>
              <a:t> </a:t>
            </a:r>
            <a:r>
              <a:rPr lang="en-US" altLang="ko-KR" sz="2200" dirty="0"/>
              <a:t>CCS(carbon capture and storage) </a:t>
            </a:r>
            <a:r>
              <a:rPr lang="ko-KR" altLang="en-US" sz="2200" dirty="0"/>
              <a:t>기반의 청정연료 기술 확보 여부가 천연가스 발전의 존속 가능성을 결정짓는 핵심 변수가 될 예정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단기적 전력시장 수요에 대응하는 유연성과 장기적 지속가능성 확보 사이에서 전략적 균형을</a:t>
            </a:r>
            <a:r>
              <a:rPr lang="en-US" altLang="ko-KR" sz="2200" dirty="0"/>
              <a:t> </a:t>
            </a:r>
            <a:r>
              <a:rPr lang="ko-KR" altLang="en-US" sz="2200" dirty="0"/>
              <a:t>도모하는 것이 향후 천연가스 산업의 진로를 좌우할 것임</a:t>
            </a:r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771360" lvl="1" indent="-314160">
              <a:buChar char="•"/>
              <a:defRPr/>
            </a:pPr>
            <a:endParaRPr lang="en-US" altLang="ko-KR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  <a:p>
            <a:pPr marL="1171410" lvl="2" indent="-314160">
              <a:buChar char="•"/>
              <a:defRPr/>
            </a:pPr>
            <a:endParaRPr lang="ko-KR" altLang="en-US" sz="2200" dirty="0"/>
          </a:p>
          <a:p>
            <a:pPr marL="771360" lvl="1" indent="-314160">
              <a:buChar char="•"/>
              <a:defRPr/>
            </a:pPr>
            <a:endParaRPr lang="ko-KR" altLang="en-US" sz="2200" dirty="0"/>
          </a:p>
          <a:p>
            <a:pPr marL="857250" lvl="2" indent="0">
              <a:buNone/>
              <a:defRPr/>
            </a:pPr>
            <a:endParaRPr lang="ko-KR" altLang="en-US" sz="2200" dirty="0"/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43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2441513414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3567</Words>
  <Application>Microsoft Office PowerPoint</Application>
  <PresentationFormat>Widescreen</PresentationFormat>
  <Paragraphs>712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함초롬바탕</vt:lpstr>
      <vt:lpstr>Arial</vt:lpstr>
      <vt:lpstr>Calibri</vt:lpstr>
      <vt:lpstr>Cambria Math</vt:lpstr>
      <vt:lpstr>한컴오피스</vt:lpstr>
      <vt:lpstr>제6장 천연가스 시장</vt:lpstr>
      <vt:lpstr>1. 서론</vt:lpstr>
      <vt:lpstr>1. 서론</vt:lpstr>
      <vt:lpstr>2. 천연가스의 특징과 분류</vt:lpstr>
      <vt:lpstr>2. 천연가스의 특징과 분류</vt:lpstr>
      <vt:lpstr>2. 천연가스의 특징과 분류</vt:lpstr>
      <vt:lpstr>2. 천연가스의 특징과 분류</vt:lpstr>
      <vt:lpstr>2. 천연가스의 특징과 분류</vt:lpstr>
      <vt:lpstr>2. 천연가스의 특징과 분류</vt:lpstr>
      <vt:lpstr>2. 천연가스의 특징과 분류</vt:lpstr>
      <vt:lpstr>3. 천연가스 시장의 현황</vt:lpstr>
      <vt:lpstr>3. 천연가스 시장의 현황</vt:lpstr>
      <vt:lpstr> </vt:lpstr>
      <vt:lpstr>3. 천연가스 시장의 현황</vt:lpstr>
      <vt:lpstr>3. 천연가스 시장의 현황</vt:lpstr>
      <vt:lpstr>  </vt:lpstr>
      <vt:lpstr>3. 천연가스 시장의 현황</vt:lpstr>
      <vt:lpstr>3. 천연가스 시장의 현황</vt:lpstr>
      <vt:lpstr>PowerPoint Presentation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3. 천연가스 시장의 현황</vt:lpstr>
      <vt:lpstr>4. 천연가스 시장의  구조와 시장지배력</vt:lpstr>
      <vt:lpstr>4. 천연가스 시장의  구조와 시장지배력</vt:lpstr>
      <vt:lpstr>5. 천연가스 시장의 탈규제와 구조개편</vt:lpstr>
      <vt:lpstr>5. 천연가스 시장의 탈규제와 구조개편</vt:lpstr>
      <vt:lpstr>6. 천연가스 시장의 가격 결정</vt:lpstr>
      <vt:lpstr>6. 천연가스 시장의 가격 결정</vt:lpstr>
      <vt:lpstr>6. 천연가스 시장의 가격 결정</vt:lpstr>
      <vt:lpstr>6. 천연가스 시장의 가격 결정</vt:lpstr>
      <vt:lpstr>6. 천연가스 시장의 가격 결정</vt:lpstr>
      <vt:lpstr>6. 천연가스 시장의 가격 결정</vt:lpstr>
      <vt:lpstr>6. 천연가스 시장의 가격 결정</vt:lpstr>
      <vt:lpstr>6. 천연가스 시장의 가격 결정</vt:lpstr>
      <vt:lpstr>7. 에너지 전환과 천연가스의 미래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donghun kim</cp:lastModifiedBy>
  <cp:revision>370</cp:revision>
  <dcterms:created xsi:type="dcterms:W3CDTF">2026-01-09T02:29:36Z</dcterms:created>
  <dcterms:modified xsi:type="dcterms:W3CDTF">2026-02-25T03:49:01Z</dcterms:modified>
  <cp:version>13.0.0.2760</cp:version>
</cp:coreProperties>
</file>