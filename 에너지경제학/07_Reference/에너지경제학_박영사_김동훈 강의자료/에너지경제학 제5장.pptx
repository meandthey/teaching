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78" r:id="rId2"/>
    <p:sldId id="257" r:id="rId3"/>
    <p:sldId id="258" r:id="rId4"/>
    <p:sldId id="284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9" r:id="rId35"/>
    <p:sldId id="328" r:id="rId36"/>
    <p:sldId id="330" r:id="rId37"/>
    <p:sldId id="331" r:id="rId38"/>
    <p:sldId id="332" r:id="rId39"/>
    <p:sldId id="333" r:id="rId40"/>
    <p:sldId id="334" r:id="rId41"/>
    <p:sldId id="335" r:id="rId42"/>
    <p:sldId id="336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9" d="100"/>
          <a:sy n="99" d="100"/>
        </p:scale>
        <p:origin x="1170" y="84"/>
      </p:cViewPr>
      <p:guideLst>
        <p:guide orient="horz" pos="2156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28ABE203-5288-4F8B-9AFD-EF440FDD0DAF}"/>
    <pc:docChg chg="custSel modSld">
      <pc:chgData name="donghun kim" userId="ea4930dfa3cfe607" providerId="LiveId" clId="{28ABE203-5288-4F8B-9AFD-EF440FDD0DAF}" dt="2026-02-25T03:48:06.193" v="241" actId="255"/>
      <pc:docMkLst>
        <pc:docMk/>
      </pc:docMkLst>
      <pc:sldChg chg="modSp mod">
        <pc:chgData name="donghun kim" userId="ea4930dfa3cfe607" providerId="LiveId" clId="{28ABE203-5288-4F8B-9AFD-EF440FDD0DAF}" dt="2026-02-23T04:33:12.041" v="184" actId="14100"/>
        <pc:sldMkLst>
          <pc:docMk/>
          <pc:sldMk cId="594673986" sldId="257"/>
        </pc:sldMkLst>
        <pc:picChg chg="mod">
          <ac:chgData name="donghun kim" userId="ea4930dfa3cfe607" providerId="LiveId" clId="{28ABE203-5288-4F8B-9AFD-EF440FDD0DAF}" dt="2026-02-23T04:33:12.041" v="184" actId="14100"/>
          <ac:picMkLst>
            <pc:docMk/>
            <pc:sldMk cId="594673986" sldId="257"/>
            <ac:picMk id="5" creationId="{00000000-0000-0000-0000-000000000000}"/>
          </ac:picMkLst>
        </pc:picChg>
      </pc:sldChg>
      <pc:sldChg chg="modSp mod">
        <pc:chgData name="donghun kim" userId="ea4930dfa3cfe607" providerId="LiveId" clId="{28ABE203-5288-4F8B-9AFD-EF440FDD0DAF}" dt="2026-02-23T03:04:48.054" v="9" actId="6549"/>
        <pc:sldMkLst>
          <pc:docMk/>
          <pc:sldMk cId="577451710" sldId="258"/>
        </pc:sldMkLst>
        <pc:spChg chg="mod">
          <ac:chgData name="donghun kim" userId="ea4930dfa3cfe607" providerId="LiveId" clId="{28ABE203-5288-4F8B-9AFD-EF440FDD0DAF}" dt="2026-02-23T03:04:48.054" v="9" actId="6549"/>
          <ac:spMkLst>
            <pc:docMk/>
            <pc:sldMk cId="577451710" sldId="258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05:10.489" v="14" actId="6549"/>
        <pc:sldMkLst>
          <pc:docMk/>
          <pc:sldMk cId="985994888" sldId="284"/>
        </pc:sldMkLst>
        <pc:spChg chg="mod">
          <ac:chgData name="donghun kim" userId="ea4930dfa3cfe607" providerId="LiveId" clId="{28ABE203-5288-4F8B-9AFD-EF440FDD0DAF}" dt="2026-02-23T03:05:10.489" v="14" actId="6549"/>
          <ac:spMkLst>
            <pc:docMk/>
            <pc:sldMk cId="985994888" sldId="284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07:36.352" v="18" actId="20577"/>
        <pc:sldMkLst>
          <pc:docMk/>
          <pc:sldMk cId="1964863542" sldId="298"/>
        </pc:sldMkLst>
        <pc:spChg chg="mod">
          <ac:chgData name="donghun kim" userId="ea4930dfa3cfe607" providerId="LiveId" clId="{28ABE203-5288-4F8B-9AFD-EF440FDD0DAF}" dt="2026-02-23T03:07:36.352" v="18" actId="20577"/>
          <ac:spMkLst>
            <pc:docMk/>
            <pc:sldMk cId="1964863542" sldId="298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11:50.023" v="38" actId="6549"/>
        <pc:sldMkLst>
          <pc:docMk/>
          <pc:sldMk cId="1351317440" sldId="299"/>
        </pc:sldMkLst>
        <pc:spChg chg="mod">
          <ac:chgData name="donghun kim" userId="ea4930dfa3cfe607" providerId="LiveId" clId="{28ABE203-5288-4F8B-9AFD-EF440FDD0DAF}" dt="2026-02-23T03:11:50.023" v="38" actId="6549"/>
          <ac:spMkLst>
            <pc:docMk/>
            <pc:sldMk cId="1351317440" sldId="299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14:13.703" v="66" actId="6549"/>
        <pc:sldMkLst>
          <pc:docMk/>
          <pc:sldMk cId="3833630728" sldId="300"/>
        </pc:sldMkLst>
        <pc:spChg chg="mod">
          <ac:chgData name="donghun kim" userId="ea4930dfa3cfe607" providerId="LiveId" clId="{28ABE203-5288-4F8B-9AFD-EF440FDD0DAF}" dt="2026-02-23T03:14:13.703" v="66" actId="6549"/>
          <ac:spMkLst>
            <pc:docMk/>
            <pc:sldMk cId="3833630728" sldId="300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16:26.868" v="67" actId="20577"/>
        <pc:sldMkLst>
          <pc:docMk/>
          <pc:sldMk cId="755800773" sldId="301"/>
        </pc:sldMkLst>
        <pc:spChg chg="mod">
          <ac:chgData name="donghun kim" userId="ea4930dfa3cfe607" providerId="LiveId" clId="{28ABE203-5288-4F8B-9AFD-EF440FDD0DAF}" dt="2026-02-23T03:16:26.868" v="67" actId="20577"/>
          <ac:spMkLst>
            <pc:docMk/>
            <pc:sldMk cId="755800773" sldId="301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18:31.932" v="103" actId="20577"/>
        <pc:sldMkLst>
          <pc:docMk/>
          <pc:sldMk cId="930465775" sldId="302"/>
        </pc:sldMkLst>
        <pc:spChg chg="mod">
          <ac:chgData name="donghun kim" userId="ea4930dfa3cfe607" providerId="LiveId" clId="{28ABE203-5288-4F8B-9AFD-EF440FDD0DAF}" dt="2026-02-23T03:18:31.932" v="103" actId="20577"/>
          <ac:spMkLst>
            <pc:docMk/>
            <pc:sldMk cId="930465775" sldId="302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19:16.609" v="112" actId="6549"/>
        <pc:sldMkLst>
          <pc:docMk/>
          <pc:sldMk cId="1561094265" sldId="303"/>
        </pc:sldMkLst>
        <pc:spChg chg="mod">
          <ac:chgData name="donghun kim" userId="ea4930dfa3cfe607" providerId="LiveId" clId="{28ABE203-5288-4F8B-9AFD-EF440FDD0DAF}" dt="2026-02-23T03:19:16.609" v="112" actId="6549"/>
          <ac:spMkLst>
            <pc:docMk/>
            <pc:sldMk cId="1561094265" sldId="303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6:07.130" v="233" actId="27636"/>
        <pc:sldMkLst>
          <pc:docMk/>
          <pc:sldMk cId="1286226650" sldId="304"/>
        </pc:sldMkLst>
        <pc:spChg chg="mod">
          <ac:chgData name="donghun kim" userId="ea4930dfa3cfe607" providerId="LiveId" clId="{28ABE203-5288-4F8B-9AFD-EF440FDD0DAF}" dt="2026-02-25T03:46:07.130" v="233" actId="27636"/>
          <ac:spMkLst>
            <pc:docMk/>
            <pc:sldMk cId="1286226650" sldId="304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24:03.459" v="137" actId="20577"/>
        <pc:sldMkLst>
          <pc:docMk/>
          <pc:sldMk cId="2984819803" sldId="305"/>
        </pc:sldMkLst>
        <pc:spChg chg="mod">
          <ac:chgData name="donghun kim" userId="ea4930dfa3cfe607" providerId="LiveId" clId="{28ABE203-5288-4F8B-9AFD-EF440FDD0DAF}" dt="2026-02-23T03:24:03.459" v="137" actId="20577"/>
          <ac:spMkLst>
            <pc:docMk/>
            <pc:sldMk cId="2984819803" sldId="305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6:23.790" v="234" actId="255"/>
        <pc:sldMkLst>
          <pc:docMk/>
          <pc:sldMk cId="3181068108" sldId="306"/>
        </pc:sldMkLst>
        <pc:spChg chg="mod">
          <ac:chgData name="donghun kim" userId="ea4930dfa3cfe607" providerId="LiveId" clId="{28ABE203-5288-4F8B-9AFD-EF440FDD0DAF}" dt="2026-02-25T03:46:23.790" v="234" actId="255"/>
          <ac:spMkLst>
            <pc:docMk/>
            <pc:sldMk cId="3181068108" sldId="306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6:41.618" v="236" actId="27636"/>
        <pc:sldMkLst>
          <pc:docMk/>
          <pc:sldMk cId="454020763" sldId="308"/>
        </pc:sldMkLst>
        <pc:spChg chg="mod">
          <ac:chgData name="donghun kim" userId="ea4930dfa3cfe607" providerId="LiveId" clId="{28ABE203-5288-4F8B-9AFD-EF440FDD0DAF}" dt="2026-02-25T03:46:41.618" v="236" actId="27636"/>
          <ac:spMkLst>
            <pc:docMk/>
            <pc:sldMk cId="454020763" sldId="308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3:29:47.954" v="141" actId="20577"/>
        <pc:sldMkLst>
          <pc:docMk/>
          <pc:sldMk cId="864528636" sldId="310"/>
        </pc:sldMkLst>
        <pc:spChg chg="mod">
          <ac:chgData name="donghun kim" userId="ea4930dfa3cfe607" providerId="LiveId" clId="{28ABE203-5288-4F8B-9AFD-EF440FDD0DAF}" dt="2026-02-23T03:29:47.954" v="141" actId="20577"/>
          <ac:spMkLst>
            <pc:docMk/>
            <pc:sldMk cId="864528636" sldId="310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7:02.648" v="237" actId="255"/>
        <pc:sldMkLst>
          <pc:docMk/>
          <pc:sldMk cId="3455309209" sldId="312"/>
        </pc:sldMkLst>
        <pc:spChg chg="mod">
          <ac:chgData name="donghun kim" userId="ea4930dfa3cfe607" providerId="LiveId" clId="{28ABE203-5288-4F8B-9AFD-EF440FDD0DAF}" dt="2026-02-25T03:47:02.648" v="237" actId="255"/>
          <ac:spMkLst>
            <pc:docMk/>
            <pc:sldMk cId="3455309209" sldId="312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7:21.202" v="238" actId="255"/>
        <pc:sldMkLst>
          <pc:docMk/>
          <pc:sldMk cId="2292564834" sldId="316"/>
        </pc:sldMkLst>
        <pc:spChg chg="mod">
          <ac:chgData name="donghun kim" userId="ea4930dfa3cfe607" providerId="LiveId" clId="{28ABE203-5288-4F8B-9AFD-EF440FDD0DAF}" dt="2026-02-25T03:47:21.202" v="238" actId="255"/>
          <ac:spMkLst>
            <pc:docMk/>
            <pc:sldMk cId="2292564834" sldId="316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7:33.276" v="239" actId="255"/>
        <pc:sldMkLst>
          <pc:docMk/>
          <pc:sldMk cId="2756357303" sldId="318"/>
        </pc:sldMkLst>
        <pc:spChg chg="mod">
          <ac:chgData name="donghun kim" userId="ea4930dfa3cfe607" providerId="LiveId" clId="{28ABE203-5288-4F8B-9AFD-EF440FDD0DAF}" dt="2026-02-25T03:47:33.276" v="239" actId="255"/>
          <ac:spMkLst>
            <pc:docMk/>
            <pc:sldMk cId="2756357303" sldId="318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7:48.417" v="240" actId="255"/>
        <pc:sldMkLst>
          <pc:docMk/>
          <pc:sldMk cId="1343283306" sldId="321"/>
        </pc:sldMkLst>
        <pc:spChg chg="mod">
          <ac:chgData name="donghun kim" userId="ea4930dfa3cfe607" providerId="LiveId" clId="{28ABE203-5288-4F8B-9AFD-EF440FDD0DAF}" dt="2026-02-25T03:47:48.417" v="240" actId="255"/>
          <ac:spMkLst>
            <pc:docMk/>
            <pc:sldMk cId="1343283306" sldId="321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5T03:48:06.193" v="241" actId="255"/>
        <pc:sldMkLst>
          <pc:docMk/>
          <pc:sldMk cId="2584972470" sldId="325"/>
        </pc:sldMkLst>
        <pc:spChg chg="mod">
          <ac:chgData name="donghun kim" userId="ea4930dfa3cfe607" providerId="LiveId" clId="{28ABE203-5288-4F8B-9AFD-EF440FDD0DAF}" dt="2026-02-25T03:48:06.193" v="241" actId="255"/>
          <ac:spMkLst>
            <pc:docMk/>
            <pc:sldMk cId="2584972470" sldId="325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02:37.597" v="185" actId="255"/>
        <pc:sldMkLst>
          <pc:docMk/>
          <pc:sldMk cId="896916291" sldId="326"/>
        </pc:sldMkLst>
        <pc:spChg chg="mod">
          <ac:chgData name="donghun kim" userId="ea4930dfa3cfe607" providerId="LiveId" clId="{28ABE203-5288-4F8B-9AFD-EF440FDD0DAF}" dt="2026-02-23T05:02:37.597" v="185" actId="255"/>
          <ac:spMkLst>
            <pc:docMk/>
            <pc:sldMk cId="896916291" sldId="326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03:25.064" v="186" actId="255"/>
        <pc:sldMkLst>
          <pc:docMk/>
          <pc:sldMk cId="3897043927" sldId="328"/>
        </pc:sldMkLst>
        <pc:spChg chg="mod">
          <ac:chgData name="donghun kim" userId="ea4930dfa3cfe607" providerId="LiveId" clId="{28ABE203-5288-4F8B-9AFD-EF440FDD0DAF}" dt="2026-02-23T05:03:25.064" v="186" actId="255"/>
          <ac:spMkLst>
            <pc:docMk/>
            <pc:sldMk cId="3897043927" sldId="328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07:59.177" v="193" actId="6549"/>
        <pc:sldMkLst>
          <pc:docMk/>
          <pc:sldMk cId="1390886504" sldId="330"/>
        </pc:sldMkLst>
        <pc:spChg chg="mod">
          <ac:chgData name="donghun kim" userId="ea4930dfa3cfe607" providerId="LiveId" clId="{28ABE203-5288-4F8B-9AFD-EF440FDD0DAF}" dt="2026-02-23T05:07:59.177" v="193" actId="6549"/>
          <ac:spMkLst>
            <pc:docMk/>
            <pc:sldMk cId="1390886504" sldId="330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09:47.993" v="206" actId="20577"/>
        <pc:sldMkLst>
          <pc:docMk/>
          <pc:sldMk cId="1505746366" sldId="332"/>
        </pc:sldMkLst>
        <pc:spChg chg="mod">
          <ac:chgData name="donghun kim" userId="ea4930dfa3cfe607" providerId="LiveId" clId="{28ABE203-5288-4F8B-9AFD-EF440FDD0DAF}" dt="2026-02-23T05:09:47.993" v="206" actId="20577"/>
          <ac:spMkLst>
            <pc:docMk/>
            <pc:sldMk cId="1505746366" sldId="332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10:25.711" v="214" actId="6549"/>
        <pc:sldMkLst>
          <pc:docMk/>
          <pc:sldMk cId="4231695897" sldId="334"/>
        </pc:sldMkLst>
        <pc:spChg chg="mod">
          <ac:chgData name="donghun kim" userId="ea4930dfa3cfe607" providerId="LiveId" clId="{28ABE203-5288-4F8B-9AFD-EF440FDD0DAF}" dt="2026-02-23T05:10:25.711" v="214" actId="6549"/>
          <ac:spMkLst>
            <pc:docMk/>
            <pc:sldMk cId="4231695897" sldId="334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10:42.379" v="215" actId="255"/>
        <pc:sldMkLst>
          <pc:docMk/>
          <pc:sldMk cId="1285438522" sldId="335"/>
        </pc:sldMkLst>
        <pc:spChg chg="mod">
          <ac:chgData name="donghun kim" userId="ea4930dfa3cfe607" providerId="LiveId" clId="{28ABE203-5288-4F8B-9AFD-EF440FDD0DAF}" dt="2026-02-23T05:10:42.379" v="215" actId="255"/>
          <ac:spMkLst>
            <pc:docMk/>
            <pc:sldMk cId="1285438522" sldId="335"/>
            <ac:spMk id="3" creationId="{00000000-0000-0000-0000-000000000000}"/>
          </ac:spMkLst>
        </pc:spChg>
      </pc:sldChg>
      <pc:sldChg chg="modSp mod">
        <pc:chgData name="donghun kim" userId="ea4930dfa3cfe607" providerId="LiveId" clId="{28ABE203-5288-4F8B-9AFD-EF440FDD0DAF}" dt="2026-02-23T05:12:12.407" v="231" actId="6549"/>
        <pc:sldMkLst>
          <pc:docMk/>
          <pc:sldMk cId="3709360809" sldId="336"/>
        </pc:sldMkLst>
        <pc:spChg chg="mod">
          <ac:chgData name="donghun kim" userId="ea4930dfa3cfe607" providerId="LiveId" clId="{28ABE203-5288-4F8B-9AFD-EF440FDD0DAF}" dt="2026-02-23T05:12:12.407" v="231" actId="6549"/>
          <ac:spMkLst>
            <pc:docMk/>
            <pc:sldMk cId="3709360809" sldId="33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75336"/>
            <a:ext cx="11830050" cy="632444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5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석유 시장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3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8"/>
            <a:ext cx="10972798" cy="4708525"/>
          </a:xfrm>
        </p:spPr>
        <p:txBody>
          <a:bodyPr/>
          <a:lstStyle/>
          <a:p>
            <a:pPr lvl="0">
              <a:defRPr/>
            </a:pPr>
            <a:r>
              <a:rPr lang="ko-KR" altLang="en-US" sz="2200" dirty="0"/>
              <a:t>석유 시장의 특징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석유는 전 지구적으로 매장되어 있으나 지역적으로 불균등하게 분포되어 있어 자원 보유국과 수입국 간 상호의존성을 초래</a:t>
            </a:r>
            <a:endParaRPr lang="ko-KR" altLang="en-US" sz="22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 공급은 </a:t>
            </a:r>
            <a:r>
              <a:rPr lang="en-US" altLang="ko-KR" sz="2000" dirty="0"/>
              <a:t>OPEC</a:t>
            </a:r>
            <a:r>
              <a:rPr lang="ko-KR" altLang="en-US" sz="2000" dirty="0"/>
              <a:t>과</a:t>
            </a:r>
            <a:r>
              <a:rPr lang="en-US" altLang="ko-KR" sz="2000" dirty="0"/>
              <a:t> </a:t>
            </a:r>
            <a:r>
              <a:rPr lang="ko-KR" altLang="en-US" sz="2000" dirty="0"/>
              <a:t> 같은 산유국 협의체의 전략적 결정에 의하여 결정되는 과점적 구조를 보임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석유시장은 공급 충격</a:t>
            </a:r>
            <a:r>
              <a:rPr lang="en-US" altLang="ko-KR" sz="2000" dirty="0"/>
              <a:t>,</a:t>
            </a:r>
            <a:r>
              <a:rPr lang="ko-KR" altLang="en-US" sz="2000" dirty="0"/>
              <a:t> 지정학적 리스크</a:t>
            </a:r>
            <a:r>
              <a:rPr lang="en-US" altLang="ko-KR" sz="2000" dirty="0"/>
              <a:t>,</a:t>
            </a:r>
            <a:r>
              <a:rPr lang="ko-KR" altLang="en-US" sz="2000" dirty="0"/>
              <a:t> 투기적 자본 유입 등 다양한 외생 변수에 의해 가격변동성이 크며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세계 경제에 중대한 파급효과를 미침 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전환기에 놓인 석유산업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기술혁신과 비축시설 확대</a:t>
            </a:r>
            <a:r>
              <a:rPr lang="en-US" altLang="ko-KR" sz="2000" dirty="0"/>
              <a:t>,</a:t>
            </a:r>
            <a:r>
              <a:rPr lang="ko-KR" altLang="en-US" sz="2000" dirty="0"/>
              <a:t> 새로운 매장량의 발견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지구온난화와 기후변화에 대한 우려로 저탄소 에너지로의 전환 요구 증가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석유의 발견</a:t>
            </a:r>
          </a:p>
          <a:p>
            <a:pPr marL="771360" lvl="1" indent="-314160">
              <a:buChar char="•"/>
              <a:defRPr/>
            </a:pPr>
            <a:r>
              <a:rPr lang="en-US" altLang="ko-KR" sz="2200" dirty="0"/>
              <a:t>1859</a:t>
            </a:r>
            <a:r>
              <a:rPr lang="ko-KR" altLang="en-US" sz="2200" dirty="0"/>
              <a:t>년 미국 펜실베이나주 타이터스빌</a:t>
            </a:r>
            <a:r>
              <a:rPr lang="en-US" altLang="ko-KR" sz="2200" dirty="0"/>
              <a:t>(Titusville)</a:t>
            </a:r>
            <a:r>
              <a:rPr lang="ko-KR" altLang="en-US" sz="2200" dirty="0"/>
              <a:t>에서 에드윈 드레이크</a:t>
            </a:r>
            <a:r>
              <a:rPr lang="en-US" altLang="ko-KR" sz="2200" dirty="0"/>
              <a:t>(Edwin Drake)</a:t>
            </a:r>
            <a:r>
              <a:rPr lang="ko-KR" altLang="en-US" sz="2200" dirty="0"/>
              <a:t>가 최초로 유정 시추에 성공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드레이크의 성공</a:t>
            </a:r>
            <a:r>
              <a:rPr lang="en-US" altLang="ko-KR" sz="2200" dirty="0"/>
              <a:t>(Drake’s Success)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상업적 석유 채굴의 가능성 입증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전 세계적인 석유 탐사와 개발에 대한 관심 증가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드레이크 유정은 현대 석유산업의 상징적 출발점으로 간주됨</a:t>
            </a:r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371310" lvl="0" indent="-314160">
              <a:buChar char="•"/>
              <a:defRPr/>
            </a:pPr>
            <a:r>
              <a:rPr lang="ko-KR" altLang="en-US" sz="2200" dirty="0"/>
              <a:t>석유 러쉬</a:t>
            </a:r>
            <a:r>
              <a:rPr lang="en-US" altLang="ko-KR" sz="2200" dirty="0"/>
              <a:t>(Oil Rush) </a:t>
            </a:r>
            <a:r>
              <a:rPr lang="ko-KR" altLang="en-US" sz="2200" dirty="0"/>
              <a:t>기간</a:t>
            </a:r>
          </a:p>
          <a:p>
            <a:pPr marL="771360" lvl="1" indent="-314160">
              <a:buChar char="•"/>
              <a:defRPr/>
            </a:pPr>
            <a:r>
              <a:rPr lang="en-US" altLang="ko-KR" sz="2200" dirty="0"/>
              <a:t>19</a:t>
            </a:r>
            <a:r>
              <a:rPr lang="ko-KR" altLang="en-US" sz="2200" dirty="0"/>
              <a:t>세기 후반부터 </a:t>
            </a:r>
            <a:r>
              <a:rPr lang="en-US" altLang="ko-KR" sz="2200" dirty="0"/>
              <a:t>20</a:t>
            </a:r>
            <a:r>
              <a:rPr lang="ko-KR" altLang="en-US" sz="2200" dirty="0"/>
              <a:t>세기 초반</a:t>
            </a:r>
            <a:r>
              <a:rPr lang="en-US" altLang="ko-KR" sz="2200" dirty="0"/>
              <a:t>,</a:t>
            </a:r>
            <a:r>
              <a:rPr lang="ko-KR" altLang="en-US" sz="2200" dirty="0"/>
              <a:t> 미국을 중심으로 한 대규모 유전 탐사 붐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석유는 석탄을 대체하면서 철강</a:t>
            </a:r>
            <a:r>
              <a:rPr lang="en-US" altLang="ko-KR" sz="2200" dirty="0"/>
              <a:t>,</a:t>
            </a:r>
            <a:r>
              <a:rPr lang="ko-KR" altLang="en-US" sz="2200" dirty="0"/>
              <a:t> 운송</a:t>
            </a:r>
            <a:r>
              <a:rPr lang="en-US" altLang="ko-KR" sz="2200" dirty="0"/>
              <a:t>,</a:t>
            </a:r>
            <a:r>
              <a:rPr lang="ko-KR" altLang="en-US" sz="2200" dirty="0"/>
              <a:t> 기계산업에서 필수적인 연료로 자리잡기 시작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985994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석유 러쉬</a:t>
            </a:r>
            <a:r>
              <a:rPr lang="en-US" altLang="ko-KR" sz="2200"/>
              <a:t>(Oil Rush) </a:t>
            </a:r>
            <a:r>
              <a:rPr lang="ko-KR" altLang="en-US" sz="2200"/>
              <a:t>기간</a:t>
            </a:r>
          </a:p>
          <a:p>
            <a:pPr marL="771360" lvl="1" indent="-314160">
              <a:buChar char="•"/>
              <a:defRPr/>
            </a:pPr>
            <a:r>
              <a:rPr lang="en-US" altLang="ko-KR" sz="2200"/>
              <a:t>1901</a:t>
            </a:r>
            <a:r>
              <a:rPr lang="ko-KR" altLang="en-US" sz="2200"/>
              <a:t>년 텍사스 스핀들탑</a:t>
            </a:r>
            <a:r>
              <a:rPr lang="en-US" altLang="ko-KR" sz="2200"/>
              <a:t>(spindeltop)</a:t>
            </a:r>
            <a:r>
              <a:rPr lang="ko-KR" altLang="en-US" sz="2200"/>
              <a:t> 유전의 대규모 발견은 이러한 흐름의 전환점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와일드캐터</a:t>
            </a:r>
            <a:r>
              <a:rPr lang="en-US" altLang="ko-KR" sz="2200"/>
              <a:t>(wildcatter)</a:t>
            </a:r>
            <a:r>
              <a:rPr lang="ko-KR" altLang="en-US" sz="2200"/>
              <a:t>라 불리는 민간 탐사 자들의 활동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기술적으로 드릴링</a:t>
            </a:r>
            <a:r>
              <a:rPr lang="en-US" altLang="ko-KR" sz="2200"/>
              <a:t>,</a:t>
            </a:r>
            <a:r>
              <a:rPr lang="ko-KR" altLang="en-US" sz="2200"/>
              <a:t> 정제</a:t>
            </a:r>
            <a:r>
              <a:rPr lang="en-US" altLang="ko-KR" sz="2200"/>
              <a:t>,</a:t>
            </a:r>
            <a:r>
              <a:rPr lang="ko-KR" altLang="en-US" sz="2200"/>
              <a:t> 저장 및 운송 기술의 비약적 발전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러시아 제국의 바쿠</a:t>
            </a:r>
            <a:r>
              <a:rPr lang="en-US" altLang="ko-KR" sz="2200"/>
              <a:t>(Baku)</a:t>
            </a:r>
            <a:r>
              <a:rPr lang="ko-KR" altLang="en-US" sz="2200"/>
              <a:t>에서도 대규모 유전이 개발되면서 세계 최대 석유 생산지 중 하나로 부상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제</a:t>
            </a:r>
            <a:r>
              <a:rPr lang="en-US" altLang="ko-KR" sz="2200"/>
              <a:t>1</a:t>
            </a:r>
            <a:r>
              <a:rPr lang="ko-KR" altLang="en-US" sz="2200"/>
              <a:t>차 세계대전에서는 전쟁 수행에 필수적인 군수 연료로서 석유의 가치 입증</a:t>
            </a:r>
          </a:p>
          <a:p>
            <a:pPr marL="771360" lvl="1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01969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 lnSpcReduction="10000"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스탠다드 오일의 지배 기간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</a:t>
            </a:r>
            <a:r>
              <a:rPr lang="ko-KR" altLang="en-US" sz="2000" dirty="0"/>
              <a:t>세기 말 록펠러</a:t>
            </a:r>
            <a:r>
              <a:rPr lang="en-US" altLang="ko-KR" sz="2000" dirty="0"/>
              <a:t>(John D. Rockefeller)</a:t>
            </a:r>
            <a:r>
              <a:rPr lang="ko-KR" altLang="en-US" sz="2000" dirty="0"/>
              <a:t>에 의하여 설립된 스탠다드 오일 컴파니는 석유 정제 부문에서 출발하여 미국 석유산업 전반을 아우르는 역사상 가장 영향력 있는 민간 독점기업으로 성장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정제</a:t>
            </a:r>
            <a:r>
              <a:rPr lang="en-US" altLang="ko-KR" sz="2000" dirty="0"/>
              <a:t>,</a:t>
            </a:r>
            <a:r>
              <a:rPr lang="ko-KR" altLang="en-US" sz="2000" dirty="0"/>
              <a:t> 운송</a:t>
            </a:r>
            <a:r>
              <a:rPr lang="en-US" altLang="ko-KR" sz="2000" dirty="0"/>
              <a:t>,</a:t>
            </a:r>
            <a:r>
              <a:rPr lang="ko-KR" altLang="en-US" sz="2000" dirty="0"/>
              <a:t> 저장</a:t>
            </a:r>
            <a:r>
              <a:rPr lang="en-US" altLang="ko-KR" sz="2000" dirty="0"/>
              <a:t>,</a:t>
            </a:r>
            <a:r>
              <a:rPr lang="ko-KR" altLang="en-US" sz="2000" dirty="0"/>
              <a:t> 유통</a:t>
            </a:r>
            <a:r>
              <a:rPr lang="en-US" altLang="ko-KR" sz="2000" dirty="0"/>
              <a:t>,</a:t>
            </a:r>
            <a:r>
              <a:rPr lang="ko-KR" altLang="en-US" sz="2000" dirty="0"/>
              <a:t> 소매에 이르는 전 과정의 수직 통합</a:t>
            </a:r>
            <a:r>
              <a:rPr lang="en-US" altLang="ko-KR" sz="2000" dirty="0"/>
              <a:t>(vertical integration)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통하여 원가를 절감하고 시장에서의 경쟁 우위를 확보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1870</a:t>
            </a:r>
            <a:r>
              <a:rPr lang="ko-KR" altLang="en-US" sz="2000" dirty="0"/>
              <a:t>년대 미국 정유산업의 </a:t>
            </a:r>
            <a:r>
              <a:rPr lang="en-US" altLang="ko-KR" sz="2000" dirty="0"/>
              <a:t>95%</a:t>
            </a:r>
            <a:r>
              <a:rPr lang="ko-KR" altLang="en-US" sz="2000" dirty="0"/>
              <a:t>를 지배하였으며 이 과정에서 수백 개의 소규모 정유업체를 인수하거나 시장에서 퇴출시킴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철도회사와의 비빌 리베이트 계약을 통한 운송비 인하</a:t>
            </a:r>
            <a:r>
              <a:rPr lang="en-US" altLang="ko-KR" sz="2000" dirty="0"/>
              <a:t>,</a:t>
            </a:r>
            <a:r>
              <a:rPr lang="ko-KR" altLang="en-US" sz="2000" dirty="0"/>
              <a:t> 지역별 가격 차별화</a:t>
            </a:r>
            <a:r>
              <a:rPr lang="en-US" altLang="ko-KR" sz="2000" dirty="0"/>
              <a:t>,</a:t>
            </a:r>
            <a:r>
              <a:rPr lang="ko-KR" altLang="en-US" sz="2000" dirty="0"/>
              <a:t> 공급 제한</a:t>
            </a:r>
            <a:r>
              <a:rPr lang="en-US" altLang="ko-KR" sz="2000" dirty="0"/>
              <a:t>,</a:t>
            </a:r>
            <a:r>
              <a:rPr lang="ko-KR" altLang="en-US" sz="2000" dirty="0"/>
              <a:t> 전략적 인수합병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미국 정부는 셔먼 반독점법</a:t>
            </a:r>
            <a:r>
              <a:rPr lang="en-US" altLang="ko-KR" sz="2000" dirty="0"/>
              <a:t>(Sherman Antitrust Act)</a:t>
            </a:r>
            <a:r>
              <a:rPr lang="ko-KR" altLang="en-US" sz="2000" dirty="0"/>
              <a:t>에 의하여 스탠다드 오일을 </a:t>
            </a:r>
            <a:r>
              <a:rPr lang="en-US" altLang="ko-KR" sz="2000" dirty="0"/>
              <a:t>34</a:t>
            </a:r>
            <a:r>
              <a:rPr lang="ko-KR" altLang="en-US" sz="2000" dirty="0"/>
              <a:t>개의 독립적 기업으로 분할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특히</a:t>
            </a:r>
            <a:r>
              <a:rPr lang="en-US" altLang="ko-KR" sz="2000" dirty="0"/>
              <a:t>,</a:t>
            </a:r>
            <a:r>
              <a:rPr lang="ko-KR" altLang="en-US" sz="2000" dirty="0"/>
              <a:t> 약탈적 가격</a:t>
            </a:r>
            <a:r>
              <a:rPr lang="en-US" altLang="ko-KR" sz="2000" dirty="0"/>
              <a:t>(predatory pricing)</a:t>
            </a:r>
            <a:r>
              <a:rPr lang="ko-KR" altLang="en-US" sz="2000" dirty="0"/>
              <a:t>이 문제가 됨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964863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스탠다드 오일의 지배 기간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존맥기</a:t>
            </a:r>
            <a:r>
              <a:rPr lang="en-US" altLang="ko-KR" sz="2000" dirty="0"/>
              <a:t>(John </a:t>
            </a:r>
            <a:r>
              <a:rPr lang="en-US" altLang="ko-KR" sz="2000" dirty="0" err="1"/>
              <a:t>S.McGee</a:t>
            </a:r>
            <a:r>
              <a:rPr lang="en-US" altLang="ko-KR" sz="2000" dirty="0"/>
              <a:t>)</a:t>
            </a:r>
            <a:r>
              <a:rPr lang="ko-KR" altLang="en-US" sz="2000" dirty="0"/>
              <a:t>는 스탠다는 오일이 약탈적 가격을 사용했다는 증거가 부족하며 사용했더라도 경제적으로 비합리적인 전략이라 지적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스탠다드 오일의 성공은 조직적 효율성과 내부 경영 혁신에 기초한 것으로 해석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이러한 주장은 이후 반독점 정책이 구조적 독점 여부보다 실제 소비자 피해와 비효율성 여</a:t>
            </a:r>
            <a:r>
              <a:rPr lang="en-US" altLang="ko-KR" sz="2000" dirty="0"/>
              <a:t>q</a:t>
            </a:r>
            <a:r>
              <a:rPr lang="ko-KR" altLang="en-US" sz="2000" dirty="0"/>
              <a:t>부에 초점을 맞추는 방향으로  진화하는데 영향을 미침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분할된 기업들은 엑슨</a:t>
            </a:r>
            <a:r>
              <a:rPr lang="en-US" altLang="ko-KR" sz="2000" dirty="0"/>
              <a:t>(Exxon), </a:t>
            </a:r>
            <a:r>
              <a:rPr lang="ko-KR" altLang="en-US" sz="2000" dirty="0"/>
              <a:t>모빌</a:t>
            </a:r>
            <a:r>
              <a:rPr lang="en-US" altLang="ko-KR" sz="2000" dirty="0"/>
              <a:t>(Mobil), </a:t>
            </a:r>
            <a:r>
              <a:rPr lang="ko-KR" altLang="en-US" sz="2000" dirty="0"/>
              <a:t>세브론</a:t>
            </a:r>
            <a:r>
              <a:rPr lang="en-US" altLang="ko-KR" sz="2000" dirty="0"/>
              <a:t>(Chevron), </a:t>
            </a:r>
            <a:r>
              <a:rPr lang="ko-KR" altLang="en-US" sz="2000" dirty="0"/>
              <a:t>아모코</a:t>
            </a:r>
            <a:r>
              <a:rPr lang="en-US" altLang="ko-KR" sz="2000" dirty="0"/>
              <a:t>(Amoco), </a:t>
            </a:r>
            <a:r>
              <a:rPr lang="ko-KR" altLang="en-US" sz="2000" dirty="0"/>
              <a:t>소히오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Sohio</a:t>
            </a:r>
            <a:r>
              <a:rPr lang="en-US" altLang="ko-KR" sz="2000" dirty="0"/>
              <a:t>) </a:t>
            </a:r>
            <a:r>
              <a:rPr lang="ko-KR" altLang="en-US" sz="2000" dirty="0"/>
              <a:t>등 석유 메지저의 전신으로 발전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 스탠다드 오일의 분할은 현재 자본주의 경제에서 시장의 자유와 공정 경쟁이라는 원칙이 강력한 산업조직에도 적용될 수 있음을 입증한 역사적 사건</a:t>
            </a:r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35131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 lnSpcReduction="10000"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석유산업의 국제화와 </a:t>
            </a:r>
            <a:r>
              <a:rPr lang="en-US" altLang="ko-KR" sz="2200" dirty="0"/>
              <a:t>7</a:t>
            </a:r>
            <a:r>
              <a:rPr lang="ko-KR" altLang="en-US" sz="2200" dirty="0"/>
              <a:t>공주의 상승기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</a:t>
            </a:r>
            <a:r>
              <a:rPr lang="ko-KR" altLang="en-US" sz="2000" dirty="0"/>
              <a:t>세기 초반부터 중반까지 석유산업은 미국을 넘어 본격적으로 국제적 차원으로 확산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석유는 석탄을 대체하며 연료로서의 기능을 넘어</a:t>
            </a:r>
            <a:r>
              <a:rPr lang="en-US" altLang="ko-KR" sz="2000" dirty="0"/>
              <a:t>,</a:t>
            </a:r>
            <a:r>
              <a:rPr lang="ko-KR" altLang="en-US" sz="2000" dirty="0"/>
              <a:t> 군사</a:t>
            </a:r>
            <a:r>
              <a:rPr lang="en-US" altLang="ko-KR" sz="2000" dirty="0"/>
              <a:t>,</a:t>
            </a:r>
            <a:r>
              <a:rPr lang="ko-KR" altLang="en-US" sz="2000" dirty="0"/>
              <a:t> 외교</a:t>
            </a:r>
            <a:r>
              <a:rPr lang="en-US" altLang="ko-KR" sz="2000" dirty="0"/>
              <a:t>,</a:t>
            </a:r>
            <a:r>
              <a:rPr lang="ko-KR" altLang="en-US" sz="2000" dirty="0"/>
              <a:t> 산업 정책의 핵심수단으로 자리잡음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내연기관의 발전과 포드자동차의 대량 생산 체제는 자동차 보급을 확대시켰고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따라 휘발유에 대한 수요가 폭발적으로 증가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영국은 앵글로</a:t>
            </a:r>
            <a:r>
              <a:rPr lang="en-US" altLang="ko-KR" sz="2000" dirty="0"/>
              <a:t>-</a:t>
            </a:r>
            <a:r>
              <a:rPr lang="ko-KR" altLang="en-US" sz="2000" dirty="0"/>
              <a:t>페르시아 석유회사</a:t>
            </a:r>
            <a:r>
              <a:rPr lang="en-US" altLang="ko-KR" sz="2000" dirty="0"/>
              <a:t>(Anglo-Persia Oil Company)</a:t>
            </a:r>
            <a:r>
              <a:rPr lang="ko-KR" altLang="en-US" sz="2000" dirty="0"/>
              <a:t>의 지분을 인수하였고 훗날 </a:t>
            </a:r>
            <a:r>
              <a:rPr lang="en-US" altLang="ko-KR" sz="2000" dirty="0"/>
              <a:t>BP(British-Petroleum)</a:t>
            </a:r>
            <a:r>
              <a:rPr lang="ko-KR" altLang="en-US" sz="2000" dirty="0"/>
              <a:t>으로 개명</a:t>
            </a:r>
            <a:r>
              <a:rPr lang="en-US" altLang="ko-KR" sz="2000" dirty="0"/>
              <a:t>,</a:t>
            </a:r>
            <a:r>
              <a:rPr lang="ko-KR" altLang="en-US" sz="2000" dirty="0"/>
              <a:t> 세계</a:t>
            </a:r>
            <a:r>
              <a:rPr lang="en-US" altLang="ko-KR" sz="2000" dirty="0"/>
              <a:t> </a:t>
            </a:r>
            <a:r>
              <a:rPr lang="ko-KR" altLang="en-US" sz="2000" dirty="0"/>
              <a:t>석유시장의 핵심 주체로 성장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이 시기를 전후하여 중동은 세계 석유산업의 전략적 중심지로 부상하였고 전 세계 석유 공급의 핵심 거점으로 자리잡음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엑손</a:t>
            </a:r>
            <a:r>
              <a:rPr lang="en-US" altLang="ko-KR" sz="2000" dirty="0"/>
              <a:t>(Exxon), </a:t>
            </a:r>
            <a:r>
              <a:rPr lang="ko-KR" altLang="en-US" sz="2000" dirty="0"/>
              <a:t>모빌</a:t>
            </a:r>
            <a:r>
              <a:rPr lang="en-US" altLang="ko-KR" sz="2000" dirty="0"/>
              <a:t>(Mobile), </a:t>
            </a:r>
            <a:r>
              <a:rPr lang="ko-KR" altLang="en-US" sz="2000" dirty="0"/>
              <a:t>세브론</a:t>
            </a:r>
            <a:r>
              <a:rPr lang="en-US" altLang="ko-KR" sz="2000" dirty="0"/>
              <a:t>(Chevron), </a:t>
            </a:r>
            <a:r>
              <a:rPr lang="ko-KR" altLang="en-US" sz="2000" dirty="0"/>
              <a:t>로얄더치셸</a:t>
            </a:r>
            <a:r>
              <a:rPr lang="en-US" altLang="ko-KR" sz="2000" dirty="0"/>
              <a:t>(Royal Dutch Shell), BP, </a:t>
            </a:r>
            <a:r>
              <a:rPr lang="ko-KR" altLang="en-US" sz="2000" dirty="0"/>
              <a:t>걸프오일</a:t>
            </a:r>
            <a:r>
              <a:rPr lang="en-US" altLang="ko-KR" sz="2000" dirty="0"/>
              <a:t>(Gulf Oil), </a:t>
            </a:r>
            <a:r>
              <a:rPr lang="ko-KR" altLang="en-US" sz="2000" dirty="0"/>
              <a:t>텍사코</a:t>
            </a:r>
            <a:r>
              <a:rPr lang="en-US" altLang="ko-KR" sz="2000" dirty="0"/>
              <a:t>(Texaco) </a:t>
            </a:r>
            <a:r>
              <a:rPr lang="ko-KR" altLang="en-US" sz="2000" dirty="0"/>
              <a:t>의</a:t>
            </a:r>
            <a:r>
              <a:rPr lang="en-US" altLang="ko-KR" sz="2000" dirty="0"/>
              <a:t> </a:t>
            </a:r>
            <a:r>
              <a:rPr lang="ko-KR" altLang="en-US" sz="2000" dirty="0"/>
              <a:t> </a:t>
            </a:r>
            <a:r>
              <a:rPr lang="en-US" altLang="ko-KR" sz="2000" dirty="0"/>
              <a:t>7</a:t>
            </a:r>
            <a:r>
              <a:rPr lang="ko-KR" altLang="en-US" sz="2000" dirty="0"/>
              <a:t>공주들이 주도적인 역할을 함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1940</a:t>
            </a:r>
            <a:r>
              <a:rPr lang="ko-KR" altLang="en-US" sz="2000" dirty="0"/>
              <a:t>년부터 </a:t>
            </a:r>
            <a:r>
              <a:rPr lang="en-US" altLang="ko-KR" sz="2000" dirty="0"/>
              <a:t>1970</a:t>
            </a:r>
            <a:r>
              <a:rPr lang="ko-KR" altLang="en-US" sz="2000" dirty="0"/>
              <a:t>년대 초반까지 전 세계 석유 탐사</a:t>
            </a:r>
            <a:r>
              <a:rPr lang="en-US" altLang="ko-KR" sz="2000" dirty="0"/>
              <a:t>,</a:t>
            </a:r>
            <a:r>
              <a:rPr lang="ko-KR" altLang="en-US" sz="2000" dirty="0"/>
              <a:t> 생산</a:t>
            </a:r>
            <a:r>
              <a:rPr lang="en-US" altLang="ko-KR" sz="2000" dirty="0"/>
              <a:t>,</a:t>
            </a:r>
            <a:r>
              <a:rPr lang="ko-KR" altLang="en-US" sz="2000" dirty="0"/>
              <a:t> 정제</a:t>
            </a:r>
            <a:r>
              <a:rPr lang="en-US" altLang="ko-KR" sz="2000" dirty="0"/>
              <a:t>,</a:t>
            </a:r>
            <a:r>
              <a:rPr lang="ko-KR" altLang="en-US" sz="2000" dirty="0"/>
              <a:t> 유통 전 과정에 걸쳐 석유시장 주도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83363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en-US" altLang="ko-KR" sz="2200" dirty="0"/>
              <a:t>OPEC </a:t>
            </a:r>
            <a:r>
              <a:rPr lang="ko-KR" altLang="en-US" sz="2200" dirty="0"/>
              <a:t>기간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석유수출기구</a:t>
            </a:r>
            <a:r>
              <a:rPr lang="en-US" altLang="ko-KR" sz="2000" dirty="0"/>
              <a:t>(OPEC: Organization of the Petroleum Exporting Countries)</a:t>
            </a:r>
            <a:r>
              <a:rPr lang="ko-KR" altLang="en-US" sz="2000" dirty="0"/>
              <a:t>는 </a:t>
            </a:r>
            <a:r>
              <a:rPr lang="en-US" altLang="ko-KR" sz="2000" dirty="0"/>
              <a:t>1960</a:t>
            </a:r>
            <a:r>
              <a:rPr lang="ko-KR" altLang="en-US" sz="2000" dirty="0"/>
              <a:t>년 이란</a:t>
            </a:r>
            <a:r>
              <a:rPr lang="en-US" altLang="ko-KR" sz="2000" dirty="0"/>
              <a:t>,</a:t>
            </a:r>
            <a:r>
              <a:rPr lang="ko-KR" altLang="en-US" sz="2000" dirty="0"/>
              <a:t> 이라크</a:t>
            </a:r>
            <a:r>
              <a:rPr lang="en-US" altLang="ko-KR" sz="2000" dirty="0"/>
              <a:t>,</a:t>
            </a:r>
            <a:r>
              <a:rPr lang="ko-KR" altLang="en-US" sz="2000" dirty="0"/>
              <a:t> 쿠웨이트</a:t>
            </a:r>
            <a:r>
              <a:rPr lang="en-US" altLang="ko-KR" sz="2000" dirty="0"/>
              <a:t>,</a:t>
            </a:r>
            <a:r>
              <a:rPr lang="ko-KR" altLang="en-US" sz="2000" dirty="0"/>
              <a:t> 사우디아라비아</a:t>
            </a:r>
            <a:r>
              <a:rPr lang="en-US" altLang="ko-KR" sz="2000" dirty="0"/>
              <a:t>,</a:t>
            </a:r>
            <a:r>
              <a:rPr lang="ko-KR" altLang="en-US" sz="2000" dirty="0"/>
              <a:t> 베네수엘라 등 주요 석유 수출국 </a:t>
            </a:r>
            <a:r>
              <a:rPr lang="en-US" altLang="ko-KR" sz="2000" dirty="0"/>
              <a:t>5</a:t>
            </a:r>
            <a:r>
              <a:rPr lang="ko-KR" altLang="en-US" sz="2000" dirty="0"/>
              <a:t>개국에 의하여 설립됨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국제 석유시장을 지배하던 서구의 대형 석유 기업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‘7</a:t>
            </a:r>
            <a:r>
              <a:rPr lang="ko-KR" altLang="en-US" sz="2000" dirty="0"/>
              <a:t>공주</a:t>
            </a:r>
            <a:r>
              <a:rPr lang="en-US" altLang="ko-KR" sz="2000" dirty="0"/>
              <a:t>’</a:t>
            </a:r>
            <a:r>
              <a:rPr lang="ko-KR" altLang="en-US" sz="2000" dirty="0"/>
              <a:t>의 가격 결정권과 공급 통제에 대한 대응 차원에서 추진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개발도상국의 자원에 대한 주권을 회복하고 석유 수출을 통해 안정적인 재정수입 확보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석유산업은 자본집약적 산업으로 규모의 경제를 실현하기 위해 기업들은 생산설비를 최대한 활용할려는 경향이 강했으며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시장의 구조적 공급과잉과 가격 하락을 반복적으로 초래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은 회원국 간의 협조를 통해 생산량을 조절하고 가격을 안정화하는 방식으로 국제 석유시장에서 생산국 간 협상의 역할을 강화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755800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en-US" altLang="ko-KR" sz="2200" dirty="0"/>
              <a:t>OPEC </a:t>
            </a:r>
            <a:r>
              <a:rPr lang="ko-KR" altLang="en-US" sz="2200" dirty="0"/>
              <a:t>기간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1973</a:t>
            </a:r>
            <a:r>
              <a:rPr lang="ko-KR" altLang="en-US" sz="2000" dirty="0"/>
              <a:t>년 욤키푸르 전쟁 이후 </a:t>
            </a:r>
            <a:r>
              <a:rPr lang="en-US" altLang="ko-KR" sz="2000" dirty="0"/>
              <a:t>OPEC</a:t>
            </a:r>
            <a:r>
              <a:rPr lang="ko-KR" altLang="en-US" sz="2000" dirty="0"/>
              <a:t>내의 아랍회원국들</a:t>
            </a:r>
            <a:r>
              <a:rPr lang="en-US" altLang="ko-KR" sz="2000" dirty="0"/>
              <a:t>(OAPEC: Arab member of OPEC)</a:t>
            </a:r>
            <a:r>
              <a:rPr lang="ko-KR" altLang="en-US" sz="2000" dirty="0"/>
              <a:t>은 이스라엘을 지지한 미국과 네델란드 등 서방 국가에 대해 석유 금수 조치 및 생산 축소 단행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이로 인해 석유 가격은 배럴당 </a:t>
            </a:r>
            <a:r>
              <a:rPr lang="en-US" altLang="ko-KR" sz="2000" dirty="0"/>
              <a:t>3</a:t>
            </a:r>
            <a:r>
              <a:rPr lang="ko-KR" altLang="en-US" sz="2000" dirty="0"/>
              <a:t>달러에서 </a:t>
            </a:r>
            <a:r>
              <a:rPr lang="en-US" altLang="ko-KR" sz="2000" dirty="0"/>
              <a:t>12</a:t>
            </a:r>
            <a:r>
              <a:rPr lang="ko-KR" altLang="en-US" sz="2000" dirty="0"/>
              <a:t>달러로 급등하면서 제 </a:t>
            </a:r>
            <a:r>
              <a:rPr lang="en-US" altLang="ko-KR" sz="2000" dirty="0"/>
              <a:t>1</a:t>
            </a:r>
            <a:r>
              <a:rPr lang="ko-KR" altLang="en-US" sz="2000" dirty="0"/>
              <a:t>차 석유파동</a:t>
            </a:r>
            <a:r>
              <a:rPr lang="en-US" altLang="ko-KR" sz="2000" dirty="0"/>
              <a:t>(Oil Shock)</a:t>
            </a:r>
            <a:r>
              <a:rPr lang="ko-KR" altLang="en-US" sz="2000" dirty="0"/>
              <a:t>발생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1979</a:t>
            </a:r>
            <a:r>
              <a:rPr lang="ko-KR" altLang="en-US" sz="2000" dirty="0"/>
              <a:t>년 이란 혁명과 이란</a:t>
            </a:r>
            <a:r>
              <a:rPr lang="en-US" altLang="ko-KR" sz="2000" dirty="0"/>
              <a:t>-</a:t>
            </a:r>
            <a:r>
              <a:rPr lang="ko-KR" altLang="en-US" sz="2000" dirty="0"/>
              <a:t>이라크 전행의 발발은 다시 한번 국제 석유 공급에 충격을 주었으며  가격이 </a:t>
            </a:r>
            <a:r>
              <a:rPr lang="en-US" altLang="ko-KR" sz="2000" dirty="0"/>
              <a:t>1979</a:t>
            </a:r>
            <a:r>
              <a:rPr lang="ko-KR" altLang="en-US" sz="2000" dirty="0"/>
              <a:t>년 배럴당 </a:t>
            </a:r>
            <a:r>
              <a:rPr lang="en-US" altLang="ko-KR" sz="2000" dirty="0"/>
              <a:t>24</a:t>
            </a:r>
            <a:r>
              <a:rPr lang="ko-KR" altLang="en-US" sz="2000" dirty="0"/>
              <a:t>달러에서 </a:t>
            </a:r>
            <a:r>
              <a:rPr lang="en-US" altLang="ko-KR" sz="2000" dirty="0"/>
              <a:t>1981</a:t>
            </a:r>
            <a:r>
              <a:rPr lang="ko-KR" altLang="en-US" sz="2000" dirty="0"/>
              <a:t>년 </a:t>
            </a:r>
            <a:r>
              <a:rPr lang="en-US" altLang="ko-KR" sz="2000" dirty="0"/>
              <a:t>36</a:t>
            </a:r>
            <a:r>
              <a:rPr lang="ko-KR" altLang="en-US" sz="2000" dirty="0"/>
              <a:t>달러까지 상승</a:t>
            </a:r>
            <a:r>
              <a:rPr lang="en-US" altLang="ko-KR" sz="2000" dirty="0"/>
              <a:t>-</a:t>
            </a:r>
            <a:r>
              <a:rPr lang="ko-KR" altLang="en-US" sz="2000" dirty="0"/>
              <a:t>제</a:t>
            </a:r>
            <a:r>
              <a:rPr lang="en-US" altLang="ko-KR" sz="2000" dirty="0"/>
              <a:t>2</a:t>
            </a:r>
            <a:r>
              <a:rPr lang="ko-KR" altLang="en-US" sz="2000" dirty="0"/>
              <a:t>차 석유파동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1980</a:t>
            </a:r>
            <a:r>
              <a:rPr lang="ko-KR" altLang="en-US" sz="2000" dirty="0"/>
              <a:t>년대 초부터는 북해</a:t>
            </a:r>
            <a:r>
              <a:rPr lang="en-US" altLang="ko-KR" sz="2000" dirty="0"/>
              <a:t>,</a:t>
            </a:r>
            <a:r>
              <a:rPr lang="ko-KR" altLang="en-US" sz="2000" dirty="0"/>
              <a:t> 멕시코</a:t>
            </a:r>
            <a:r>
              <a:rPr lang="en-US" altLang="ko-KR" sz="2000" dirty="0"/>
              <a:t>,</a:t>
            </a:r>
            <a:r>
              <a:rPr lang="ko-KR" altLang="en-US" sz="2000" dirty="0"/>
              <a:t> 중국 등 비</a:t>
            </a:r>
            <a:r>
              <a:rPr lang="en-US" altLang="ko-KR" sz="2000" dirty="0"/>
              <a:t>OPEC</a:t>
            </a:r>
            <a:r>
              <a:rPr lang="ko-KR" altLang="en-US" sz="2000" dirty="0"/>
              <a:t> 국가들의 생산 확대가 두드러졌으며</a:t>
            </a:r>
            <a:r>
              <a:rPr lang="en-US" altLang="ko-KR" sz="2000" dirty="0"/>
              <a:t>,</a:t>
            </a:r>
            <a:r>
              <a:rPr lang="ko-KR" altLang="en-US" sz="2000" dirty="0"/>
              <a:t> 선진국 소비자들은 에너지 절약과 연료 다변화에 나섬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은 생산을 확대하여 시장점유율을 확대하려 하였으나 국제유가가 폭락하는 결과를 초래</a:t>
            </a:r>
            <a:r>
              <a:rPr lang="en-US" altLang="ko-KR" sz="2000" dirty="0"/>
              <a:t>-</a:t>
            </a:r>
            <a:r>
              <a:rPr lang="ko-KR" altLang="en-US" sz="2000" dirty="0"/>
              <a:t>제</a:t>
            </a:r>
            <a:r>
              <a:rPr lang="en-US" altLang="ko-KR" sz="2000" dirty="0"/>
              <a:t>3</a:t>
            </a:r>
            <a:r>
              <a:rPr lang="ko-KR" altLang="en-US" sz="2000" dirty="0"/>
              <a:t>차 석유충격 또는 역충격</a:t>
            </a:r>
            <a:r>
              <a:rPr lang="en-US" altLang="ko-KR" sz="2000" dirty="0"/>
              <a:t>(Counter-shock)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930465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en-US" altLang="ko-KR" sz="2200" dirty="0"/>
              <a:t>OPEC </a:t>
            </a:r>
            <a:r>
              <a:rPr lang="ko-KR" altLang="en-US" sz="2200" dirty="0"/>
              <a:t>기간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1990</a:t>
            </a:r>
            <a:r>
              <a:rPr lang="ko-KR" altLang="en-US" sz="2000" dirty="0"/>
              <a:t>년대에는 구조적인 초과공급과 수요 둔화로 인해 저유가 시대가 지속 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세계적으로 자유시장주의와 규제 완화가 확산되면서 석유 산업에 대한 투자 배력도 감소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1990</a:t>
            </a:r>
            <a:r>
              <a:rPr lang="ko-KR" altLang="en-US" sz="2000" dirty="0"/>
              <a:t>년 이라크의 쿠웨이트 침공에도 불구하고 사우디아라비아의 생산확대로 국제 석유시장은 안정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1997</a:t>
            </a:r>
            <a:r>
              <a:rPr lang="ko-KR" altLang="en-US" sz="2000" dirty="0"/>
              <a:t>년 아시아 금융위기로 아시아 지역의 수요가 감소하여 국제 유가는 배렬당 </a:t>
            </a:r>
            <a:r>
              <a:rPr lang="en-US" altLang="ko-KR" sz="2000" dirty="0"/>
              <a:t>10</a:t>
            </a:r>
            <a:r>
              <a:rPr lang="ko-KR" altLang="en-US" sz="2000" dirty="0"/>
              <a:t>달러까지 하락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의 역사는 자원 주권과 생산자 협조를 통한 시장안정이라는 이상과</a:t>
            </a:r>
            <a:r>
              <a:rPr lang="en-US" altLang="ko-KR" sz="2000" dirty="0"/>
              <a:t>,</a:t>
            </a:r>
            <a:r>
              <a:rPr lang="ko-KR" altLang="en-US" sz="2000" dirty="0"/>
              <a:t> 회원국 간 이해 상충</a:t>
            </a:r>
            <a:r>
              <a:rPr lang="en-US" altLang="ko-KR" sz="2000" dirty="0"/>
              <a:t>,</a:t>
            </a:r>
            <a:r>
              <a:rPr lang="ko-KR" altLang="en-US" sz="2000" dirty="0"/>
              <a:t> 시장 다극화</a:t>
            </a:r>
            <a:r>
              <a:rPr lang="en-US" altLang="ko-KR" sz="2000" dirty="0"/>
              <a:t>,</a:t>
            </a:r>
            <a:r>
              <a:rPr lang="ko-KR" altLang="en-US" sz="2000" dirty="0"/>
              <a:t> 글로벌 수급 변화라는 현실 간 긴장의 연속이었음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56109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en-US" altLang="ko-KR" sz="2200" dirty="0"/>
              <a:t>2000</a:t>
            </a:r>
            <a:r>
              <a:rPr lang="ko-KR" altLang="en-US" sz="2200" dirty="0"/>
              <a:t>년대 이후 기간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2000</a:t>
            </a:r>
            <a:r>
              <a:rPr lang="ko-KR" altLang="en-US" sz="2000" dirty="0"/>
              <a:t>년대 초반부터 중반까지</a:t>
            </a:r>
            <a:r>
              <a:rPr lang="en-US" altLang="ko-KR" sz="2000" dirty="0"/>
              <a:t>,</a:t>
            </a:r>
            <a:r>
              <a:rPr lang="ko-KR" altLang="en-US" sz="2000" dirty="0"/>
              <a:t> 세계 경제의 성장과 함께 석유 수요가 급증하면서 석유 가격이 급격히 상승</a:t>
            </a:r>
            <a:r>
              <a:rPr lang="en-US" altLang="ko-KR" sz="2000" dirty="0"/>
              <a:t>,</a:t>
            </a:r>
            <a:r>
              <a:rPr lang="ko-KR" altLang="en-US" sz="2000" dirty="0"/>
              <a:t> 배럴달 </a:t>
            </a:r>
            <a:r>
              <a:rPr lang="en-US" altLang="ko-KR" sz="2000" dirty="0"/>
              <a:t>100</a:t>
            </a:r>
            <a:r>
              <a:rPr lang="ko-KR" altLang="en-US" sz="2000" dirty="0"/>
              <a:t>달러 상회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중국과 인도의 급격한 산업화는 석유 수요의 주요 증가 요인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많은 국가들이 신재생에너지</a:t>
            </a:r>
            <a:r>
              <a:rPr lang="en-US" altLang="ko-KR" sz="2000" dirty="0"/>
              <a:t>,</a:t>
            </a:r>
            <a:r>
              <a:rPr lang="ko-KR" altLang="en-US" sz="2000" dirty="0"/>
              <a:t> 전기차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효율성 향상을 통해 석유 의존도를 줄이고 에너지 다변화 추구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셰일 오일의 채굴 기술인 수평시추와 수압파쇄의 발전은 이전에는 비경제적이던 셰일층에서 다량의 석유를 추출가능하게 하였음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미국은 셰일 오일 생산의 확대로 에너지 자립도를 향상시켰으며 석유 수입의존도를 낮춤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미국의 공급 확대는 글로벌 공급 과잉과 가격 하락을 유발</a:t>
            </a:r>
            <a:r>
              <a:rPr lang="en-US" altLang="ko-KR" sz="2000" dirty="0"/>
              <a:t>(2016</a:t>
            </a:r>
            <a:r>
              <a:rPr lang="ko-KR" altLang="en-US" sz="2000" dirty="0"/>
              <a:t>년 배럴당 </a:t>
            </a:r>
            <a:r>
              <a:rPr lang="en-US" altLang="ko-KR" sz="2000" dirty="0"/>
              <a:t>100</a:t>
            </a:r>
            <a:r>
              <a:rPr lang="ko-KR" altLang="en-US" sz="2000" dirty="0"/>
              <a:t>달러에서 </a:t>
            </a:r>
            <a:r>
              <a:rPr lang="en-US" altLang="ko-KR" sz="2000" dirty="0"/>
              <a:t>30</a:t>
            </a:r>
            <a:r>
              <a:rPr lang="ko-KR" altLang="en-US" sz="2000" dirty="0"/>
              <a:t>달러로 하락</a:t>
            </a:r>
            <a:r>
              <a:rPr lang="en-US" altLang="ko-KR" sz="2000" dirty="0"/>
              <a:t>)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28622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석유산업의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marL="371310" lvl="0" indent="-314160">
              <a:buChar char="•"/>
              <a:defRPr/>
            </a:pPr>
            <a:r>
              <a:rPr lang="en-US" altLang="ko-KR" sz="2200" dirty="0"/>
              <a:t>2000</a:t>
            </a:r>
            <a:r>
              <a:rPr lang="ko-KR" altLang="en-US" sz="2200" dirty="0"/>
              <a:t>년대 이후 기간</a:t>
            </a:r>
          </a:p>
          <a:p>
            <a:pPr marL="771360" lvl="1" indent="-314160">
              <a:lnSpc>
                <a:spcPts val="2400"/>
              </a:lnSpc>
              <a:spcBef>
                <a:spcPts val="528"/>
              </a:spcBef>
              <a:buChar char="•"/>
              <a:defRPr/>
            </a:pPr>
            <a:r>
              <a:rPr lang="ko-KR" altLang="ko-KR" sz="2200" dirty="0">
                <a:solidFill>
                  <a:schemeClr val="tx1"/>
                </a:solidFill>
              </a:rPr>
              <a:t>OPEC</a:t>
            </a:r>
            <a:r>
              <a:rPr lang="ko-KR" altLang="en-US" sz="2200" dirty="0">
                <a:solidFill>
                  <a:schemeClr val="tx1"/>
                </a:solidFill>
              </a:rPr>
              <a:t>은 가격 방어를 위해 생산량을 조절하였으나</a:t>
            </a:r>
            <a:r>
              <a:rPr lang="ko-KR" altLang="ko-KR" sz="2200" dirty="0">
                <a:solidFill>
                  <a:schemeClr val="tx1"/>
                </a:solidFill>
              </a:rPr>
              <a:t>,</a:t>
            </a:r>
            <a:r>
              <a:rPr lang="ko-KR" altLang="en-US" sz="2200" dirty="0">
                <a:solidFill>
                  <a:schemeClr val="tx1"/>
                </a:solidFill>
              </a:rPr>
              <a:t>  </a:t>
            </a:r>
            <a:r>
              <a:rPr lang="ko-KR" altLang="ko-KR" sz="2200" dirty="0">
                <a:solidFill>
                  <a:schemeClr val="tx1"/>
                </a:solidFill>
              </a:rPr>
              <a:t>2014</a:t>
            </a:r>
            <a:r>
              <a:rPr lang="ko-KR" altLang="en-US" sz="2200" dirty="0">
                <a:solidFill>
                  <a:schemeClr val="tx1"/>
                </a:solidFill>
              </a:rPr>
              <a:t>년 이후에는 미국의 셰일 생산자들을 시장에서 축출하기 위해서 생산을 유지하거나 늘리는 전략을 선택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미국의 셰일 기업들은 기술혁신과 비용 절감으로 이러한 전략을 견뎌내었고 </a:t>
            </a:r>
            <a:r>
              <a:rPr lang="en-US" altLang="ko-KR" sz="2200" dirty="0"/>
              <a:t>OPEC</a:t>
            </a:r>
            <a:r>
              <a:rPr lang="ko-KR" altLang="en-US" sz="2200" dirty="0"/>
              <a:t>은 비</a:t>
            </a:r>
            <a:r>
              <a:rPr lang="en-US" altLang="ko-KR" sz="2200" dirty="0"/>
              <a:t>OPEC</a:t>
            </a:r>
            <a:r>
              <a:rPr lang="ko-KR" altLang="en-US" sz="2200" dirty="0"/>
              <a:t>들과의 협력</a:t>
            </a:r>
            <a:r>
              <a:rPr lang="en-US" altLang="ko-KR" sz="2200" dirty="0"/>
              <a:t>(OPEC+)</a:t>
            </a:r>
            <a:r>
              <a:rPr lang="ko-KR" altLang="en-US" sz="2200" dirty="0"/>
              <a:t>을</a:t>
            </a:r>
            <a:r>
              <a:rPr lang="en-US" altLang="ko-KR" sz="2200" dirty="0"/>
              <a:t> </a:t>
            </a:r>
            <a:r>
              <a:rPr lang="ko-KR" altLang="en-US" sz="2200" dirty="0"/>
              <a:t>통해 감산 협약에 도달</a:t>
            </a:r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r>
              <a:rPr lang="en-US" altLang="ko-KR" sz="2200" dirty="0"/>
              <a:t>2017</a:t>
            </a:r>
            <a:r>
              <a:rPr lang="ko-KR" altLang="en-US" sz="2200" dirty="0"/>
              <a:t>년 이후에는 </a:t>
            </a:r>
            <a:r>
              <a:rPr lang="en-US" altLang="ko-KR" sz="2200" dirty="0"/>
              <a:t>OPEC</a:t>
            </a:r>
            <a:r>
              <a:rPr lang="ko-KR" altLang="en-US" sz="2200" dirty="0"/>
              <a:t>과 비</a:t>
            </a:r>
            <a:r>
              <a:rPr lang="en-US" altLang="ko-KR" sz="2200" dirty="0"/>
              <a:t>OPEC</a:t>
            </a:r>
            <a:r>
              <a:rPr lang="ko-KR" altLang="en-US" sz="2200" dirty="0"/>
              <a:t> 국가들의 협력을 통해 공급이 조절되었고 유가는 점진적으로 회복세를 보임</a:t>
            </a:r>
          </a:p>
          <a:p>
            <a:pPr marL="371310" lvl="0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r>
              <a:rPr lang="en-US" altLang="ko-KR" sz="2200" dirty="0"/>
              <a:t>2020</a:t>
            </a:r>
            <a:r>
              <a:rPr lang="ko-KR" altLang="en-US" sz="2200" dirty="0"/>
              <a:t>년 초 </a:t>
            </a:r>
            <a:r>
              <a:rPr lang="en-US" altLang="ko-KR" sz="2200" dirty="0"/>
              <a:t>COVID-19</a:t>
            </a:r>
            <a:r>
              <a:rPr lang="ko-KR" altLang="en-US" sz="2200" dirty="0"/>
              <a:t> 팬데믹으로 세계 경제가 위축되면서 석유 수요도 일일 약 </a:t>
            </a:r>
            <a:r>
              <a:rPr lang="en-US" altLang="ko-KR" sz="2200" dirty="0"/>
              <a:t>30%</a:t>
            </a:r>
            <a:r>
              <a:rPr lang="ko-KR" altLang="en-US" sz="2200" dirty="0"/>
              <a:t> 감소</a:t>
            </a:r>
          </a:p>
          <a:p>
            <a:pPr marL="1171410" lvl="2" indent="-314160">
              <a:buChar char="•"/>
              <a:defRPr/>
            </a:pPr>
            <a:r>
              <a:rPr lang="en-US" altLang="ko-KR" sz="2200" dirty="0"/>
              <a:t>2020</a:t>
            </a:r>
            <a:r>
              <a:rPr lang="ko-KR" altLang="en-US" sz="2200" dirty="0"/>
              <a:t>년 </a:t>
            </a:r>
            <a:r>
              <a:rPr lang="en-US" altLang="ko-KR" sz="2200" dirty="0"/>
              <a:t>4</a:t>
            </a:r>
            <a:r>
              <a:rPr lang="ko-KR" altLang="en-US" sz="2200" dirty="0"/>
              <a:t>월에는 유가가 일시적으로 마이너스 기록</a:t>
            </a:r>
          </a:p>
          <a:p>
            <a:pPr marL="771360" lvl="1" indent="-314160">
              <a:buChar char="•"/>
              <a:defRPr/>
            </a:pPr>
            <a:r>
              <a:rPr lang="en-US" altLang="ko-KR" sz="2200" dirty="0"/>
              <a:t>2021</a:t>
            </a:r>
            <a:r>
              <a:rPr lang="ko-KR" altLang="en-US" sz="2200" dirty="0"/>
              <a:t>년과 </a:t>
            </a:r>
            <a:r>
              <a:rPr lang="en-US" altLang="ko-KR" sz="2200" dirty="0"/>
              <a:t>2022</a:t>
            </a:r>
            <a:r>
              <a:rPr lang="ko-KR" altLang="en-US" sz="2200" dirty="0"/>
              <a:t>년에는 백신 접종 확대와 경제 활동 재개로 석유 수요가 회복되었고 유가는 다시 상승세로 전환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 dirty="0"/>
              <a:t>전기차 확산</a:t>
            </a:r>
            <a:r>
              <a:rPr lang="en-US" altLang="ko-KR" sz="2200" dirty="0"/>
              <a:t>,</a:t>
            </a:r>
            <a:r>
              <a:rPr lang="ko-KR" altLang="en-US" sz="2200" dirty="0"/>
              <a:t> 재생에너지 투자 증가 및 에너지 전환이 가속화되면서 중장기적으로 석유 수요의 정점에 대한 논의 확산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2984819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석유의 수직적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석유 산업의 가치사슬은 일반적으로 상류</a:t>
            </a:r>
            <a:r>
              <a:rPr lang="en-US" altLang="ko-KR" sz="2000" dirty="0"/>
              <a:t>(Upstream), </a:t>
            </a:r>
            <a:r>
              <a:rPr lang="ko-KR" altLang="en-US" sz="2000" dirty="0"/>
              <a:t>중류</a:t>
            </a:r>
            <a:r>
              <a:rPr lang="en-US" altLang="ko-KR" sz="2000" dirty="0"/>
              <a:t>(Midstream), </a:t>
            </a:r>
            <a:r>
              <a:rPr lang="ko-KR" altLang="en-US" sz="2000" dirty="0"/>
              <a:t>하류</a:t>
            </a:r>
            <a:r>
              <a:rPr lang="en-US" altLang="ko-KR" sz="2000" dirty="0"/>
              <a:t>(Downstream)</a:t>
            </a:r>
            <a:r>
              <a:rPr lang="ko-KR" altLang="en-US" sz="2000" dirty="0"/>
              <a:t>으로 구분</a:t>
            </a: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</a:t>
            </a:r>
            <a:r>
              <a:rPr lang="ko-KR" altLang="en-US" sz="2000" dirty="0"/>
              <a:t>세기 중반 이후 글로벌 메이저들은 각 부문을 수직적으로 통합함으로써 원유 가격 변동성</a:t>
            </a:r>
            <a:r>
              <a:rPr lang="en-US" altLang="ko-KR" sz="2000" dirty="0"/>
              <a:t>,</a:t>
            </a:r>
            <a:r>
              <a:rPr lang="ko-KR" altLang="en-US" sz="2000" dirty="0"/>
              <a:t> 지정학적 충격</a:t>
            </a:r>
            <a:r>
              <a:rPr lang="en-US" altLang="ko-KR" sz="2000" dirty="0"/>
              <a:t>,</a:t>
            </a:r>
            <a:r>
              <a:rPr lang="ko-KR" altLang="en-US" sz="2000" dirty="0"/>
              <a:t> 수요 변화 등 외부 리스크를 내부화하려는 경영 전략을 구사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상류</a:t>
            </a:r>
            <a:r>
              <a:rPr lang="en-US" altLang="ko-KR" sz="2000" dirty="0"/>
              <a:t>(Upstream)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 자원의 탐사 및 개발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지질학적 조사</a:t>
            </a:r>
            <a:r>
              <a:rPr lang="en-US" altLang="ko-KR" sz="2000" dirty="0"/>
              <a:t>,</a:t>
            </a:r>
            <a:r>
              <a:rPr lang="ko-KR" altLang="en-US" sz="2000" dirty="0"/>
              <a:t> 시추</a:t>
            </a:r>
            <a:r>
              <a:rPr lang="en-US" altLang="ko-KR" sz="2000" dirty="0"/>
              <a:t>,</a:t>
            </a:r>
            <a:r>
              <a:rPr lang="ko-KR" altLang="en-US" sz="2000" dirty="0"/>
              <a:t> 유정 건설 등 고난이도의 기술과 자본이 요구됨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고위험</a:t>
            </a:r>
            <a:r>
              <a:rPr lang="en-US" altLang="ko-KR" sz="2000" dirty="0"/>
              <a:t>·</a:t>
            </a:r>
            <a:r>
              <a:rPr lang="ko-KR" altLang="en-US" sz="2000" dirty="0"/>
              <a:t>고수익 산업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유가가 상승할수록 탐사 및 생산 활동이 활발</a:t>
            </a:r>
          </a:p>
          <a:p>
            <a:pPr marL="371310" lvl="0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181068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석유의 수직적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중류</a:t>
            </a:r>
            <a:r>
              <a:rPr lang="en-US" altLang="ko-KR" sz="2200"/>
              <a:t>(Midstream)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상류에서 생산된 원유와 가스를 정유시설 또는 수출 항만으로 수송하고 저장하는 기능을 담당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주요 운송수단</a:t>
            </a:r>
            <a:r>
              <a:rPr lang="en-US" altLang="ko-KR" sz="2200"/>
              <a:t>:</a:t>
            </a:r>
            <a:r>
              <a:rPr lang="ko-KR" altLang="en-US" sz="2200"/>
              <a:t> 파이프라인</a:t>
            </a:r>
            <a:r>
              <a:rPr lang="en-US" altLang="ko-KR" sz="2200"/>
              <a:t>(Pipeline), </a:t>
            </a:r>
            <a:r>
              <a:rPr lang="ko-KR" altLang="en-US" sz="2200"/>
              <a:t>유조선</a:t>
            </a:r>
            <a:r>
              <a:rPr lang="en-US" altLang="ko-KR" sz="2200"/>
              <a:t>(tanker), </a:t>
            </a:r>
            <a:r>
              <a:rPr lang="ko-KR" altLang="en-US" sz="2200"/>
              <a:t>철도</a:t>
            </a:r>
            <a:r>
              <a:rPr lang="en-US" altLang="ko-KR" sz="2200"/>
              <a:t>,</a:t>
            </a:r>
            <a:r>
              <a:rPr lang="ko-KR" altLang="en-US" sz="2200"/>
              <a:t> 트럭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수송 경로의 지정학적 민감성</a:t>
            </a:r>
            <a:r>
              <a:rPr lang="en-US" altLang="ko-KR" sz="2200"/>
              <a:t>:</a:t>
            </a:r>
            <a:r>
              <a:rPr lang="ko-KR" altLang="en-US" sz="2200"/>
              <a:t> 호르무즈 해협</a:t>
            </a:r>
            <a:r>
              <a:rPr lang="en-US" altLang="ko-KR" sz="2200"/>
              <a:t>,</a:t>
            </a:r>
            <a:r>
              <a:rPr lang="ko-KR" altLang="en-US" sz="2200"/>
              <a:t> 말라카 해협</a:t>
            </a:r>
            <a:r>
              <a:rPr lang="en-US" altLang="ko-KR" sz="2200"/>
              <a:t>,</a:t>
            </a:r>
            <a:r>
              <a:rPr lang="ko-KR" altLang="en-US" sz="2200"/>
              <a:t> 수에즈 운하 등의 초크 포인트</a:t>
            </a:r>
          </a:p>
          <a:p>
            <a:pPr marL="371310" lvl="0" indent="-314160">
              <a:buChar char="•"/>
              <a:defRPr/>
            </a:pPr>
            <a:endParaRPr lang="ko-KR" altLang="en-US" sz="2200"/>
          </a:p>
          <a:p>
            <a:pPr marL="371310" lvl="0" indent="-314160">
              <a:buChar char="•"/>
              <a:defRPr/>
            </a:pPr>
            <a:r>
              <a:rPr lang="ko-KR" altLang="en-US" sz="2200"/>
              <a:t>하류</a:t>
            </a:r>
            <a:r>
              <a:rPr lang="en-US" altLang="ko-KR" sz="2200"/>
              <a:t>(Downstream)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원유를 정제하여 휘발유</a:t>
            </a:r>
            <a:r>
              <a:rPr lang="en-US" altLang="ko-KR" sz="2200"/>
              <a:t>,</a:t>
            </a:r>
            <a:r>
              <a:rPr lang="ko-KR" altLang="en-US" sz="2200"/>
              <a:t> 디젤</a:t>
            </a:r>
            <a:r>
              <a:rPr lang="en-US" altLang="ko-KR" sz="2200"/>
              <a:t>,</a:t>
            </a:r>
            <a:r>
              <a:rPr lang="ko-KR" altLang="en-US" sz="2200"/>
              <a:t> 항공유</a:t>
            </a:r>
            <a:r>
              <a:rPr lang="en-US" altLang="ko-KR" sz="2200"/>
              <a:t>,</a:t>
            </a:r>
            <a:r>
              <a:rPr lang="ko-KR" altLang="en-US" sz="2200"/>
              <a:t> 나프타</a:t>
            </a:r>
            <a:r>
              <a:rPr lang="en-US" altLang="ko-KR" sz="2200"/>
              <a:t>,</a:t>
            </a:r>
            <a:r>
              <a:rPr lang="ko-KR" altLang="en-US" sz="2200"/>
              <a:t> 아스팔트 등 다양한 석유제품으로 전환하고</a:t>
            </a:r>
            <a:r>
              <a:rPr lang="en-US" altLang="ko-KR" sz="2200"/>
              <a:t>,</a:t>
            </a:r>
            <a:r>
              <a:rPr lang="ko-KR" altLang="en-US" sz="2200"/>
              <a:t> 이를</a:t>
            </a:r>
            <a:r>
              <a:rPr lang="en-US" altLang="ko-KR" sz="2200"/>
              <a:t>,</a:t>
            </a:r>
            <a:r>
              <a:rPr lang="ko-KR" altLang="en-US" sz="2200"/>
              <a:t> 산업</a:t>
            </a:r>
            <a:r>
              <a:rPr lang="en-US" altLang="ko-KR" sz="2200"/>
              <a:t>,</a:t>
            </a:r>
            <a:r>
              <a:rPr lang="ko-KR" altLang="en-US" sz="2200"/>
              <a:t> 운송</a:t>
            </a:r>
            <a:r>
              <a:rPr lang="en-US" altLang="ko-KR" sz="2200"/>
              <a:t>,</a:t>
            </a:r>
            <a:r>
              <a:rPr lang="ko-KR" altLang="en-US" sz="2200"/>
              <a:t> 가정</a:t>
            </a:r>
            <a:r>
              <a:rPr lang="en-US" altLang="ko-KR" sz="2200"/>
              <a:t>,</a:t>
            </a:r>
            <a:r>
              <a:rPr lang="ko-KR" altLang="en-US" sz="2200"/>
              <a:t> 발전 등 최종수요처에 공급하는 과정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소비자 시장과 직접 연결되어 있어 수요의 계절성</a:t>
            </a:r>
            <a:r>
              <a:rPr lang="en-US" altLang="ko-KR" sz="2200"/>
              <a:t>,</a:t>
            </a:r>
            <a:r>
              <a:rPr lang="ko-KR" altLang="en-US" sz="2200"/>
              <a:t> 가격탄력성</a:t>
            </a:r>
            <a:r>
              <a:rPr lang="en-US" altLang="ko-KR" sz="2200"/>
              <a:t>,</a:t>
            </a:r>
            <a:r>
              <a:rPr lang="ko-KR" altLang="en-US" sz="2200"/>
              <a:t> 세금 정책</a:t>
            </a:r>
            <a:r>
              <a:rPr lang="en-US" altLang="ko-KR" sz="2200"/>
              <a:t>,</a:t>
            </a:r>
            <a:r>
              <a:rPr lang="ko-KR" altLang="en-US" sz="2200"/>
              <a:t> 환경규제 등에 민감하게 반응</a:t>
            </a:r>
          </a:p>
          <a:p>
            <a:pPr marL="771360" lvl="1" indent="-314160">
              <a:buChar char="•"/>
              <a:defRPr/>
            </a:pPr>
            <a:r>
              <a:rPr lang="ko-KR" altLang="en-US" sz="2200"/>
              <a:t>탈탄소 압력과 </a:t>
            </a:r>
            <a:r>
              <a:rPr lang="en-US" altLang="ko-KR" sz="2200"/>
              <a:t>ESG(</a:t>
            </a:r>
            <a:r>
              <a:rPr lang="ko-KR" altLang="en-US" sz="2200"/>
              <a:t>환경</a:t>
            </a:r>
            <a:r>
              <a:rPr lang="en-US" altLang="ko-KR" sz="2200"/>
              <a:t>·</a:t>
            </a:r>
            <a:r>
              <a:rPr lang="ko-KR" altLang="en-US" sz="2200"/>
              <a:t>사회</a:t>
            </a:r>
            <a:r>
              <a:rPr lang="en-US" altLang="ko-KR" sz="2200"/>
              <a:t>·</a:t>
            </a:r>
            <a:r>
              <a:rPr lang="ko-KR" altLang="en-US" sz="2200"/>
              <a:t>지배구조</a:t>
            </a:r>
            <a:r>
              <a:rPr lang="en-US" altLang="ko-KR" sz="2200"/>
              <a:t>)</a:t>
            </a:r>
            <a:r>
              <a:rPr lang="ko-KR" altLang="en-US" sz="2200"/>
              <a:t> 요구에 노출</a:t>
            </a:r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en-US" altLang="ko-KR" sz="2200"/>
          </a:p>
          <a:p>
            <a:pPr marL="57150" lvl="0" indent="0">
              <a:buNone/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665484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석유의 수직적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중류</a:t>
            </a:r>
            <a:r>
              <a:rPr lang="en-US" altLang="ko-KR" sz="2000" dirty="0"/>
              <a:t>(Midstream)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상류에서 생산된 원유와 가스를 정유시설 또는 수출 항만으로 수송하고 저장하는 기능을 담당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주요 운송수단</a:t>
            </a:r>
            <a:r>
              <a:rPr lang="en-US" altLang="ko-KR" sz="2000" dirty="0"/>
              <a:t>:</a:t>
            </a:r>
            <a:r>
              <a:rPr lang="ko-KR" altLang="en-US" sz="2000" dirty="0"/>
              <a:t> 파이프라인</a:t>
            </a:r>
            <a:r>
              <a:rPr lang="en-US" altLang="ko-KR" sz="2000" dirty="0"/>
              <a:t>(Pipeline), </a:t>
            </a:r>
            <a:r>
              <a:rPr lang="ko-KR" altLang="en-US" sz="2000" dirty="0"/>
              <a:t>유조선</a:t>
            </a:r>
            <a:r>
              <a:rPr lang="en-US" altLang="ko-KR" sz="2000" dirty="0"/>
              <a:t>(tanker), </a:t>
            </a:r>
            <a:r>
              <a:rPr lang="ko-KR" altLang="en-US" sz="2000" dirty="0"/>
              <a:t>철도</a:t>
            </a:r>
            <a:r>
              <a:rPr lang="en-US" altLang="ko-KR" sz="2000" dirty="0"/>
              <a:t>,</a:t>
            </a:r>
            <a:r>
              <a:rPr lang="ko-KR" altLang="en-US" sz="2000" dirty="0"/>
              <a:t> 트럭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수송 경로의 지정학적 민감성</a:t>
            </a:r>
            <a:r>
              <a:rPr lang="en-US" altLang="ko-KR" sz="2000" dirty="0"/>
              <a:t>:</a:t>
            </a:r>
            <a:r>
              <a:rPr lang="ko-KR" altLang="en-US" sz="2000" dirty="0"/>
              <a:t> 호르무즈 해협</a:t>
            </a:r>
            <a:r>
              <a:rPr lang="en-US" altLang="ko-KR" sz="2000" dirty="0"/>
              <a:t>,</a:t>
            </a:r>
            <a:r>
              <a:rPr lang="ko-KR" altLang="en-US" sz="2000" dirty="0"/>
              <a:t> 말라카 해협</a:t>
            </a:r>
            <a:r>
              <a:rPr lang="en-US" altLang="ko-KR" sz="2000" dirty="0"/>
              <a:t>,</a:t>
            </a:r>
            <a:r>
              <a:rPr lang="ko-KR" altLang="en-US" sz="2000" dirty="0"/>
              <a:t> 수에즈 운하 등의 초크 포인트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하류</a:t>
            </a:r>
            <a:r>
              <a:rPr lang="en-US" altLang="ko-KR" sz="2000" dirty="0"/>
              <a:t>(Downstream)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원유를 정제하여 휘발유</a:t>
            </a:r>
            <a:r>
              <a:rPr lang="en-US" altLang="ko-KR" sz="2000" dirty="0"/>
              <a:t>,</a:t>
            </a:r>
            <a:r>
              <a:rPr lang="ko-KR" altLang="en-US" sz="2000" dirty="0"/>
              <a:t> 디젤</a:t>
            </a:r>
            <a:r>
              <a:rPr lang="en-US" altLang="ko-KR" sz="2000" dirty="0"/>
              <a:t>,</a:t>
            </a:r>
            <a:r>
              <a:rPr lang="ko-KR" altLang="en-US" sz="2000" dirty="0"/>
              <a:t> 항공유</a:t>
            </a:r>
            <a:r>
              <a:rPr lang="en-US" altLang="ko-KR" sz="2000" dirty="0"/>
              <a:t>,</a:t>
            </a:r>
            <a:r>
              <a:rPr lang="ko-KR" altLang="en-US" sz="2000" dirty="0"/>
              <a:t> 나프타</a:t>
            </a:r>
            <a:r>
              <a:rPr lang="en-US" altLang="ko-KR" sz="2000" dirty="0"/>
              <a:t>,</a:t>
            </a:r>
            <a:r>
              <a:rPr lang="ko-KR" altLang="en-US" sz="2000" dirty="0"/>
              <a:t> 아스팔트 등 다양한 석유제품으로 전환하고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이를</a:t>
            </a:r>
            <a:r>
              <a:rPr lang="en-US" altLang="ko-KR" sz="2000" dirty="0"/>
              <a:t>,</a:t>
            </a:r>
            <a:r>
              <a:rPr lang="ko-KR" altLang="en-US" sz="2000" dirty="0"/>
              <a:t> 산업</a:t>
            </a:r>
            <a:r>
              <a:rPr lang="en-US" altLang="ko-KR" sz="2000" dirty="0"/>
              <a:t>,</a:t>
            </a:r>
            <a:r>
              <a:rPr lang="ko-KR" altLang="en-US" sz="2000" dirty="0"/>
              <a:t> 운송</a:t>
            </a:r>
            <a:r>
              <a:rPr lang="en-US" altLang="ko-KR" sz="2000" dirty="0"/>
              <a:t>,</a:t>
            </a:r>
            <a:r>
              <a:rPr lang="ko-KR" altLang="en-US" sz="2000" dirty="0"/>
              <a:t> 가정</a:t>
            </a:r>
            <a:r>
              <a:rPr lang="en-US" altLang="ko-KR" sz="2000" dirty="0"/>
              <a:t>,</a:t>
            </a:r>
            <a:r>
              <a:rPr lang="ko-KR" altLang="en-US" sz="2000" dirty="0"/>
              <a:t> 발전 등 최종수요처에 공급하는 과정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소비자 시장과 직접 연결되어 있어 수요의 계절성</a:t>
            </a:r>
            <a:r>
              <a:rPr lang="en-US" altLang="ko-KR" sz="2000" dirty="0"/>
              <a:t>,</a:t>
            </a:r>
            <a:r>
              <a:rPr lang="ko-KR" altLang="en-US" sz="2000" dirty="0"/>
              <a:t> 가격탄력성</a:t>
            </a:r>
            <a:r>
              <a:rPr lang="en-US" altLang="ko-KR" sz="2000" dirty="0"/>
              <a:t>,</a:t>
            </a:r>
            <a:r>
              <a:rPr lang="ko-KR" altLang="en-US" sz="2000" dirty="0"/>
              <a:t> 세금 정책</a:t>
            </a:r>
            <a:r>
              <a:rPr lang="en-US" altLang="ko-KR" sz="2000" dirty="0"/>
              <a:t>,</a:t>
            </a:r>
            <a:r>
              <a:rPr lang="ko-KR" altLang="en-US" sz="2000" dirty="0"/>
              <a:t> 환경규제 등에 민감하게 반응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탈탄소 압력과 </a:t>
            </a:r>
            <a:r>
              <a:rPr lang="en-US" altLang="ko-KR" sz="2000" dirty="0"/>
              <a:t>ESG(</a:t>
            </a:r>
            <a:r>
              <a:rPr lang="ko-KR" altLang="en-US" sz="2000" dirty="0"/>
              <a:t>환경</a:t>
            </a:r>
            <a:r>
              <a:rPr lang="en-US" altLang="ko-KR" sz="2000" dirty="0"/>
              <a:t>·</a:t>
            </a:r>
            <a:r>
              <a:rPr lang="ko-KR" altLang="en-US" sz="2000" dirty="0"/>
              <a:t>사회</a:t>
            </a:r>
            <a:r>
              <a:rPr lang="en-US" altLang="ko-KR" sz="2000" dirty="0"/>
              <a:t>·</a:t>
            </a:r>
            <a:r>
              <a:rPr lang="ko-KR" altLang="en-US" sz="2000" dirty="0"/>
              <a:t>지배구조</a:t>
            </a:r>
            <a:r>
              <a:rPr lang="en-US" altLang="ko-KR" sz="2000" dirty="0"/>
              <a:t>)</a:t>
            </a:r>
            <a:r>
              <a:rPr lang="ko-KR" altLang="en-US" sz="2000" dirty="0"/>
              <a:t> 요구에 노출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454020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 fontScale="92500" lnSpcReduction="20000"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200"/>
              <a:t>경질유</a:t>
            </a:r>
            <a:r>
              <a:rPr lang="en-US" altLang="ko-KR" sz="2200"/>
              <a:t>(light crude oil)</a:t>
            </a:r>
            <a:r>
              <a:rPr lang="ko-KR" altLang="en-US" sz="2200"/>
              <a:t>와 중질유</a:t>
            </a:r>
            <a:r>
              <a:rPr lang="en-US" altLang="ko-KR" sz="2200"/>
              <a:t>(heavy crude oil)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/>
              <a:t>경질류</a:t>
            </a:r>
          </a:p>
          <a:p>
            <a:pPr marL="1628610" lvl="3" indent="-314160">
              <a:buChar char="•"/>
              <a:defRPr/>
            </a:pPr>
            <a:r>
              <a:rPr lang="en-US" altLang="ko-KR" sz="2200"/>
              <a:t>API  </a:t>
            </a:r>
            <a:r>
              <a:rPr lang="ko-KR" altLang="en-US" sz="2200"/>
              <a:t>중력도가 높고 황 함량이 낮음</a:t>
            </a:r>
          </a:p>
          <a:p>
            <a:pPr marL="1628610" lvl="3" indent="-314160">
              <a:buChar char="•"/>
              <a:defRPr/>
            </a:pPr>
            <a:r>
              <a:rPr lang="ko-KR" altLang="en-US" sz="2200"/>
              <a:t>원유가 가볍고 단맛이 나며</a:t>
            </a:r>
            <a:r>
              <a:rPr lang="en-US" altLang="ko-KR" sz="2200"/>
              <a:t>,</a:t>
            </a:r>
            <a:r>
              <a:rPr lang="ko-KR" altLang="en-US" sz="2200"/>
              <a:t> 정제시 고가의 연료와 제품을 더 많이 생산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/>
              <a:t>중질류</a:t>
            </a:r>
          </a:p>
          <a:p>
            <a:pPr marL="1628610" lvl="3" indent="-314160">
              <a:buChar char="•"/>
              <a:defRPr/>
            </a:pPr>
            <a:r>
              <a:rPr lang="en-US" altLang="ko-KR" sz="2200"/>
              <a:t>API </a:t>
            </a:r>
            <a:r>
              <a:rPr lang="ko-KR" altLang="en-US" sz="2200"/>
              <a:t>중력도가 낮고 황 함량이 높음</a:t>
            </a:r>
          </a:p>
          <a:p>
            <a:pPr marL="1628610" lvl="3" indent="-314160">
              <a:buChar char="•"/>
              <a:defRPr/>
            </a:pPr>
            <a:r>
              <a:rPr lang="ko-KR" altLang="en-US" sz="2200"/>
              <a:t>원유가 무거워 정제 과정이 더 복잡하며</a:t>
            </a:r>
            <a:r>
              <a:rPr lang="en-US" altLang="ko-KR" sz="2200"/>
              <a:t>,</a:t>
            </a:r>
            <a:r>
              <a:rPr lang="ko-KR" altLang="en-US" sz="2200"/>
              <a:t> 보통 더 많은 잔사와 아스팔트 생성</a:t>
            </a:r>
          </a:p>
          <a:p>
            <a:pPr marL="1628610" lvl="3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r>
              <a:rPr lang="ko-KR" altLang="en-US" sz="2200"/>
              <a:t>단맛의 원유</a:t>
            </a:r>
            <a:r>
              <a:rPr lang="en-US" altLang="ko-KR" sz="2200"/>
              <a:t>(Sweet crude)</a:t>
            </a:r>
            <a:r>
              <a:rPr lang="ko-KR" altLang="en-US" sz="2200"/>
              <a:t>와 쓴맛의 원유</a:t>
            </a:r>
            <a:r>
              <a:rPr lang="en-US" altLang="ko-KR" sz="2200"/>
              <a:t>(Sour crude)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/>
              <a:t>단맛의 원유</a:t>
            </a:r>
          </a:p>
          <a:p>
            <a:pPr marL="1628610" lvl="3" indent="-314160">
              <a:buChar char="•"/>
              <a:defRPr/>
            </a:pPr>
            <a:r>
              <a:rPr lang="ko-KR" altLang="en-US" sz="2200"/>
              <a:t>황 함량이 낮아 환경적 규제를 만족시키기 쉽고 정제 비용도 낮음</a:t>
            </a:r>
          </a:p>
          <a:p>
            <a:pPr marL="2085810" lvl="4" indent="-314160">
              <a:buChar char="•"/>
              <a:defRPr/>
            </a:pPr>
            <a:r>
              <a:rPr lang="ko-KR" altLang="en-US" sz="2200"/>
              <a:t>서부텍사스중질유</a:t>
            </a:r>
            <a:r>
              <a:rPr lang="en-US" altLang="ko-KR" sz="2200"/>
              <a:t>,</a:t>
            </a:r>
            <a:r>
              <a:rPr lang="ko-KR" altLang="en-US" sz="2200"/>
              <a:t> 북해의 브렌트 원유</a:t>
            </a:r>
          </a:p>
          <a:p>
            <a:pPr marL="1171410" lvl="2" indent="-314160">
              <a:buChar char="•"/>
              <a:defRPr/>
            </a:pPr>
            <a:r>
              <a:rPr lang="ko-KR" altLang="en-US" sz="2200"/>
              <a:t>쓴맛의 원유</a:t>
            </a:r>
          </a:p>
          <a:p>
            <a:pPr marL="1628610" lvl="3" indent="-314160">
              <a:buChar char="•"/>
              <a:defRPr/>
            </a:pPr>
            <a:r>
              <a:rPr lang="ko-KR" altLang="en-US" sz="2200"/>
              <a:t>황 함량이 많아 정제시 고 비용</a:t>
            </a:r>
            <a:r>
              <a:rPr lang="en-US" altLang="ko-KR" sz="2200"/>
              <a:t>, </a:t>
            </a:r>
            <a:r>
              <a:rPr lang="ko-KR" altLang="en-US" sz="2200"/>
              <a:t>황산화물 배출이 많아 환경 규제 이슈</a:t>
            </a:r>
          </a:p>
          <a:p>
            <a:pPr marL="2085810" lvl="4" indent="-314160">
              <a:buChar char="•"/>
              <a:defRPr/>
            </a:pPr>
            <a:r>
              <a:rPr lang="ko-KR" altLang="en-US" sz="2200"/>
              <a:t>중동 두바이유</a:t>
            </a:r>
            <a:r>
              <a:rPr lang="en-US" altLang="ko-KR" sz="2200"/>
              <a:t>,</a:t>
            </a:r>
            <a:r>
              <a:rPr lang="ko-KR" altLang="en-US" sz="2200"/>
              <a:t> 멕시코 마야 중질유</a:t>
            </a: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413539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000" dirty="0"/>
              <a:t>현물시장</a:t>
            </a:r>
            <a:r>
              <a:rPr lang="en-US" altLang="ko-KR" sz="2000" dirty="0"/>
              <a:t>(spot market)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석유가 즉시 또는 매우 짧은 기간 내에 거래되고 인도됨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시장가격은 현재의 수요와 공급에 의하여 실시간으로 변동됨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현물거래는 긴급한 공급 필요</a:t>
            </a:r>
            <a:r>
              <a:rPr lang="en-US" altLang="ko-KR" sz="2000" dirty="0"/>
              <a:t>,</a:t>
            </a:r>
            <a:r>
              <a:rPr lang="ko-KR" altLang="en-US" sz="2000" dirty="0"/>
              <a:t> 재고 보충</a:t>
            </a:r>
            <a:r>
              <a:rPr lang="en-US" altLang="ko-KR" sz="2000" dirty="0"/>
              <a:t>,</a:t>
            </a:r>
            <a:r>
              <a:rPr lang="ko-KR" altLang="en-US" sz="2000" dirty="0"/>
              <a:t> 직접적인 소비자 요구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런던의 브렌트</a:t>
            </a:r>
            <a:r>
              <a:rPr lang="en-US" altLang="ko-KR" sz="2000" dirty="0"/>
              <a:t>,</a:t>
            </a:r>
            <a:r>
              <a:rPr lang="ko-KR" altLang="en-US" sz="2000" dirty="0"/>
              <a:t> 뉴욕의 서부 텍사스 중질유</a:t>
            </a:r>
            <a:r>
              <a:rPr lang="en-US" altLang="ko-KR" sz="2000" dirty="0"/>
              <a:t>(WTI)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선물시장</a:t>
            </a:r>
            <a:r>
              <a:rPr lang="en-US" altLang="ko-KR" sz="2000" dirty="0"/>
              <a:t>(future market)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정해진 미래의 날짜에 석유를 인도할 것을 약속하면서 그에 대한 계약을 체결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선물계약은 표준화된 계약이며 거래소에서 거래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이 시장의 주요 기능은 가격 변동 위험을 헤지하는 것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스왑시장</a:t>
            </a:r>
            <a:r>
              <a:rPr lang="en-US" altLang="ko-KR" sz="2000" dirty="0"/>
              <a:t>(swap market)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파생 금융 상품의 일종</a:t>
            </a:r>
            <a:r>
              <a:rPr lang="en-US" altLang="ko-KR" sz="2000" dirty="0"/>
              <a:t>,</a:t>
            </a:r>
            <a:r>
              <a:rPr lang="ko-KR" altLang="en-US" sz="2000" dirty="0"/>
              <a:t> 두 당사자가 미래에 발생할 현금 흐름을 교환하는 계약</a:t>
            </a:r>
            <a:endParaRPr lang="en-US" altLang="ko-KR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가격 변동을 관리하는 데 사용</a:t>
            </a:r>
            <a:endParaRPr lang="en-US" altLang="ko-KR" sz="20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86452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000"/>
              <a:t>옵션시장</a:t>
            </a:r>
            <a:r>
              <a:rPr lang="en-US" altLang="ko-KR" sz="2000"/>
              <a:t>(spot market)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/>
              <a:t>석유의 구매 또는 판매를 미래 정해진 가격으로 미래의 특정 시점에 행사할 수 있는 권리를 거래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/>
              <a:t>계약을 이행할 의무는 없으며 권리만 가지고 있음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/>
              <a:t>시장 참여자에게 가격 변동으로부터 자신을 보호하면서 시장 기회를 활용할 수 있게 해줌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942182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000" dirty="0"/>
              <a:t>석유매장량</a:t>
            </a:r>
            <a:endParaRPr lang="en-US" altLang="ko-KR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전 세계</a:t>
            </a:r>
            <a:r>
              <a:rPr lang="en-US" altLang="ko-KR" sz="2000" dirty="0"/>
              <a:t> </a:t>
            </a:r>
            <a:r>
              <a:rPr lang="ko-KR" altLang="en-US" sz="2000" dirty="0"/>
              <a:t>석유 매장량은 </a:t>
            </a:r>
            <a:r>
              <a:rPr lang="en-US" altLang="ko-KR" sz="2000" dirty="0"/>
              <a:t>2000</a:t>
            </a:r>
            <a:r>
              <a:rPr lang="ko-KR" altLang="en-US" sz="2000" dirty="0"/>
              <a:t>년 </a:t>
            </a:r>
            <a:r>
              <a:rPr lang="en-US" altLang="ko-KR" sz="2000" dirty="0"/>
              <a:t>1,300.9</a:t>
            </a:r>
            <a:r>
              <a:rPr lang="ko-KR" altLang="en-US" sz="2000" dirty="0"/>
              <a:t>조 배럴에서 </a:t>
            </a:r>
            <a:r>
              <a:rPr lang="en-US" altLang="ko-KR" sz="2000" dirty="0"/>
              <a:t>2023</a:t>
            </a:r>
            <a:r>
              <a:rPr lang="ko-KR" altLang="en-US" sz="2000" dirty="0"/>
              <a:t>년 </a:t>
            </a:r>
            <a:r>
              <a:rPr lang="en-US" altLang="ko-KR" sz="2000" dirty="0"/>
              <a:t>1,732.4</a:t>
            </a:r>
            <a:r>
              <a:rPr lang="ko-KR" altLang="en-US" sz="2000" dirty="0"/>
              <a:t>조 배럴로 증가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지역적으로는 중동과 중</a:t>
            </a:r>
            <a:r>
              <a:rPr lang="en-US" altLang="ko-KR" sz="2000" dirty="0"/>
              <a:t>·</a:t>
            </a:r>
            <a:r>
              <a:rPr lang="ko-KR" altLang="en-US" sz="2000" dirty="0"/>
              <a:t>남미 지역에서 매장량이 크게 중가하였음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의  매장량 비중은 </a:t>
            </a:r>
            <a:r>
              <a:rPr lang="en-US" altLang="ko-KR" sz="2000" dirty="0"/>
              <a:t>2010</a:t>
            </a:r>
            <a:r>
              <a:rPr lang="ko-KR" altLang="en-US" sz="2000" dirty="0"/>
              <a:t>년 </a:t>
            </a:r>
            <a:r>
              <a:rPr lang="en-US" altLang="ko-KR" sz="2000" dirty="0"/>
              <a:t>64%</a:t>
            </a:r>
            <a:r>
              <a:rPr lang="ko-KR" altLang="en-US" sz="2000" dirty="0"/>
              <a:t>에서 </a:t>
            </a:r>
            <a:r>
              <a:rPr lang="en-US" altLang="ko-KR" sz="2000" dirty="0"/>
              <a:t>2020</a:t>
            </a:r>
            <a:r>
              <a:rPr lang="ko-KR" altLang="en-US" sz="2000" dirty="0"/>
              <a:t>년 </a:t>
            </a:r>
            <a:r>
              <a:rPr lang="en-US" altLang="ko-KR" sz="2000" dirty="0"/>
              <a:t>70.1%</a:t>
            </a:r>
            <a:r>
              <a:rPr lang="ko-KR" altLang="en-US" sz="2000" dirty="0"/>
              <a:t>로 증가하였음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국가별로는 베네수엘라</a:t>
            </a:r>
            <a:r>
              <a:rPr lang="en-US" altLang="ko-KR" sz="2000" dirty="0"/>
              <a:t>(17.5%),</a:t>
            </a:r>
            <a:r>
              <a:rPr lang="ko-KR" altLang="en-US" sz="2000" dirty="0"/>
              <a:t> 사우디아라비아</a:t>
            </a:r>
            <a:r>
              <a:rPr lang="en-US" altLang="ko-KR" sz="2000" dirty="0"/>
              <a:t>(17.2%),</a:t>
            </a:r>
            <a:r>
              <a:rPr lang="ko-KR" altLang="en-US" sz="2000" dirty="0"/>
              <a:t> 캐나다</a:t>
            </a:r>
            <a:r>
              <a:rPr lang="en-US" altLang="ko-KR" sz="2000" dirty="0"/>
              <a:t>(9.7%),</a:t>
            </a:r>
            <a:r>
              <a:rPr lang="ko-KR" altLang="en-US" sz="2000" dirty="0"/>
              <a:t> 이란</a:t>
            </a:r>
            <a:r>
              <a:rPr lang="en-US" altLang="ko-KR" sz="2000" dirty="0"/>
              <a:t>(9.1%),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(6.2%),</a:t>
            </a:r>
            <a:r>
              <a:rPr lang="ko-KR" altLang="en-US" sz="2000" dirty="0"/>
              <a:t> 쿠웨이트</a:t>
            </a:r>
            <a:r>
              <a:rPr lang="en-US" altLang="ko-KR" sz="2000" dirty="0"/>
              <a:t>(5.9%),</a:t>
            </a:r>
            <a:r>
              <a:rPr lang="ko-KR" altLang="en-US" sz="2000" dirty="0"/>
              <a:t> 미국</a:t>
            </a:r>
            <a:r>
              <a:rPr lang="en-US" altLang="ko-KR" sz="2000" dirty="0"/>
              <a:t>(4.0%)</a:t>
            </a:r>
            <a:endParaRPr lang="ko-KR" altLang="en-US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중동 지역의 매장량 비중은 감소하였지만 여전히 다른 지역에 비해 높은 수준을 유지하고 있어</a:t>
            </a:r>
            <a:r>
              <a:rPr lang="en-US" altLang="ko-KR" sz="2000" dirty="0"/>
              <a:t>,</a:t>
            </a:r>
            <a:r>
              <a:rPr lang="ko-KR" altLang="en-US" sz="2000" dirty="0"/>
              <a:t> 석유 공급 안보 측면에서 중동의존도를 높이는 요인임 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45530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1171410" lvl="2" indent="-314160">
              <a:buChar char="•"/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1090839" y="638538"/>
          <a:ext cx="9436032" cy="57504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948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952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2000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2010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2020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매장량</a:t>
                      </a: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 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생산량</a:t>
                      </a: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) 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236.5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(18.2%)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220.3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(13.5%)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242.9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(14.0%)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28.2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</a:t>
                      </a: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96.0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(7.4%)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320.1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(19.6%)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323.4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(18.7%)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151.3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21.0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(1.6%)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13.6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(0.8%)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13.6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(0.8%)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120.1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(9.2%)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144.2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(8.8%)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146.2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(8.4%)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696.7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(53.6%)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765.9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(46.8%)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835.9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(46.3%)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92.9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(7.1%)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124.9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(7.6%)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125.1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(7.2%)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49.8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37.7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(2.9%)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47.8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(2.9%)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45.2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(2.6%)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세계 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1,300.9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(100.0%)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1636.9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(100.0%)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1,732.4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(100.0%)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53.5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262.7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(20.2%)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238.5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(14.6%)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260.0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(15.0%)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38862" cmpd="dbl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1038.2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(79.8%)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1398.3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(85.4%)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1472.4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(85.0%)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66.9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OPEC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833.0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(64.0%)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1137.7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(69.5%)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1214.7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(70.1%)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108.3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OPEC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468.0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(26.0%)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499.1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(30.5%)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517.7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(29.9%)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6" name="가로 글상자 15"/>
          <p:cNvSpPr txBox="1"/>
          <p:nvPr/>
        </p:nvSpPr>
        <p:spPr>
          <a:xfrm>
            <a:off x="966108" y="274638"/>
            <a:ext cx="3594825" cy="363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5-1]</a:t>
            </a:r>
            <a:r>
              <a:rPr lang="ko-KR" altLang="en-US"/>
              <a:t> 석유매장량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:1</a:t>
            </a:r>
            <a:r>
              <a:rPr lang="ko-KR" altLang="en-US"/>
              <a:t>조배럴</a:t>
            </a:r>
            <a:r>
              <a:rPr lang="en-US" altLang="ko-KR"/>
              <a:t>)</a:t>
            </a:r>
          </a:p>
        </p:txBody>
      </p:sp>
      <p:sp>
        <p:nvSpPr>
          <p:cNvPr id="17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5698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200"/>
              <a:t>석유 생산</a:t>
            </a:r>
          </a:p>
          <a:p>
            <a:pPr marL="1171410" lvl="2" indent="-314160">
              <a:buChar char="•"/>
              <a:defRPr/>
            </a:pPr>
            <a:endParaRPr lang="en-US" altLang="ko-KR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04913" y="1821434"/>
            <a:ext cx="9000743" cy="4304729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2098901" y="1417638"/>
            <a:ext cx="3065735" cy="36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5-1]</a:t>
            </a:r>
            <a:r>
              <a:rPr lang="ko-KR" altLang="en-US"/>
              <a:t> 석유 생산</a:t>
            </a:r>
            <a:r>
              <a:rPr lang="en-US" altLang="ko-KR"/>
              <a:t>(</a:t>
            </a:r>
            <a:r>
              <a:rPr lang="ko-KR" altLang="en-US"/>
              <a:t>백만 톤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4732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000" dirty="0"/>
              <a:t>석유 생산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세계 석유 생산은 </a:t>
            </a:r>
            <a:r>
              <a:rPr lang="en-US" altLang="ko-KR" sz="2000" dirty="0"/>
              <a:t>2013</a:t>
            </a:r>
            <a:r>
              <a:rPr lang="ko-KR" altLang="en-US" sz="2000" dirty="0"/>
              <a:t>년 </a:t>
            </a:r>
            <a:r>
              <a:rPr lang="en-US" altLang="ko-KR" sz="2000" dirty="0"/>
              <a:t>4,126</a:t>
            </a:r>
            <a:r>
              <a:rPr lang="ko-KR" altLang="en-US" sz="2000" dirty="0"/>
              <a:t> 백만 톤에서 </a:t>
            </a:r>
            <a:r>
              <a:rPr lang="en-US" altLang="ko-KR" sz="2000" dirty="0"/>
              <a:t>2023</a:t>
            </a:r>
            <a:r>
              <a:rPr lang="ko-KR" altLang="en-US" sz="2000" dirty="0"/>
              <a:t>년 </a:t>
            </a:r>
            <a:r>
              <a:rPr lang="en-US" altLang="ko-KR" sz="2000" dirty="0"/>
              <a:t>4,514.1</a:t>
            </a:r>
            <a:r>
              <a:rPr lang="ko-KR" altLang="en-US" sz="2000" dirty="0"/>
              <a:t> 백만 톤으로 증가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연평균 증가율은 </a:t>
            </a:r>
            <a:r>
              <a:rPr lang="en-US" altLang="ko-KR" sz="2000" dirty="0"/>
              <a:t>0.9%</a:t>
            </a:r>
            <a:r>
              <a:rPr lang="ko-KR" altLang="en-US" sz="2000" dirty="0"/>
              <a:t>이며 </a:t>
            </a:r>
            <a:r>
              <a:rPr lang="en-US" altLang="ko-KR" sz="2000" dirty="0"/>
              <a:t>OPEC</a:t>
            </a:r>
            <a:r>
              <a:rPr lang="ko-KR" altLang="en-US" sz="2000" dirty="0"/>
              <a:t> 지역은 </a:t>
            </a:r>
            <a:r>
              <a:rPr lang="en-US" altLang="ko-KR" sz="2000" dirty="0"/>
              <a:t>-0.4%,</a:t>
            </a:r>
            <a:r>
              <a:rPr lang="ko-KR" altLang="en-US" sz="2000" dirty="0"/>
              <a:t> 비</a:t>
            </a:r>
            <a:r>
              <a:rPr lang="en-US" altLang="ko-KR" sz="2000" dirty="0"/>
              <a:t>OPEC</a:t>
            </a:r>
            <a:r>
              <a:rPr lang="ko-KR" altLang="en-US" sz="2000" dirty="0"/>
              <a:t>지역은 </a:t>
            </a:r>
            <a:r>
              <a:rPr lang="en-US" altLang="ko-KR" sz="2000" dirty="0"/>
              <a:t>1.7%</a:t>
            </a:r>
            <a:r>
              <a:rPr lang="ko-KR" altLang="en-US" sz="2000" dirty="0"/>
              <a:t>의 증가율을 기록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기준 중동</a:t>
            </a:r>
            <a:r>
              <a:rPr lang="en-US" altLang="ko-KR" sz="2000" dirty="0"/>
              <a:t>(31.3%)</a:t>
            </a:r>
            <a:r>
              <a:rPr lang="ko-KR" altLang="en-US" sz="2000" dirty="0"/>
              <a:t>과 북미</a:t>
            </a:r>
            <a:r>
              <a:rPr lang="en-US" altLang="ko-KR" sz="2000" dirty="0"/>
              <a:t>(26.8%)</a:t>
            </a:r>
            <a:r>
              <a:rPr lang="ko-KR" altLang="en-US" sz="2000" dirty="0"/>
              <a:t>가 가장 큰 비중을 차지함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의 비중은 </a:t>
            </a:r>
            <a:r>
              <a:rPr lang="en-US" altLang="ko-KR" sz="2000" dirty="0"/>
              <a:t>35.4%,</a:t>
            </a:r>
            <a:r>
              <a:rPr lang="ko-KR" altLang="en-US" sz="2000" dirty="0"/>
              <a:t> 비</a:t>
            </a:r>
            <a:r>
              <a:rPr lang="en-US" altLang="ko-KR" sz="2000" dirty="0"/>
              <a:t>OPEC</a:t>
            </a:r>
            <a:r>
              <a:rPr lang="ko-KR" altLang="en-US" sz="2000" dirty="0"/>
              <a:t>의 비중은 </a:t>
            </a:r>
            <a:r>
              <a:rPr lang="en-US" altLang="ko-KR" sz="2000" dirty="0"/>
              <a:t>64.6%</a:t>
            </a:r>
            <a:r>
              <a:rPr lang="ko-KR" altLang="en-US" sz="2000" dirty="0"/>
              <a:t>를 차지하고 있음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국가별 석유 생산 비중은 미국</a:t>
            </a:r>
            <a:r>
              <a:rPr lang="en-US" altLang="ko-KR" sz="2000" dirty="0"/>
              <a:t>(18.3%),</a:t>
            </a:r>
            <a:r>
              <a:rPr lang="ko-KR" altLang="en-US" sz="2000" dirty="0"/>
              <a:t> 러시아 </a:t>
            </a:r>
            <a:r>
              <a:rPr lang="en-US" altLang="ko-KR" sz="2000" dirty="0"/>
              <a:t>(12.0%),</a:t>
            </a:r>
            <a:r>
              <a:rPr lang="ko-KR" altLang="en-US" sz="2000" dirty="0"/>
              <a:t> 사우디아라비아</a:t>
            </a:r>
            <a:r>
              <a:rPr lang="en-US" altLang="ko-KR" sz="2000" dirty="0"/>
              <a:t>(11.8%),</a:t>
            </a:r>
            <a:r>
              <a:rPr lang="ko-KR" altLang="en-US" sz="2000" dirty="0"/>
              <a:t> 캐나다</a:t>
            </a:r>
            <a:r>
              <a:rPr lang="en-US" altLang="ko-KR" sz="2000" dirty="0"/>
              <a:t>(6.2%),</a:t>
            </a:r>
            <a:r>
              <a:rPr lang="ko-KR" altLang="en-US" sz="2000" dirty="0"/>
              <a:t> 이란</a:t>
            </a:r>
            <a:r>
              <a:rPr lang="en-US" altLang="ko-KR" sz="2000" dirty="0"/>
              <a:t>(4.7%),</a:t>
            </a:r>
            <a:r>
              <a:rPr lang="ko-KR" altLang="en-US" sz="2000" dirty="0"/>
              <a:t> 이라크</a:t>
            </a:r>
            <a:r>
              <a:rPr lang="en-US" altLang="ko-KR" sz="2000" dirty="0"/>
              <a:t>(4.7%)</a:t>
            </a:r>
            <a:r>
              <a:rPr lang="ko-KR" altLang="en-US" sz="2000" dirty="0"/>
              <a:t> 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2292564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541565" y="749753"/>
          <a:ext cx="10621718" cy="549699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3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5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837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생산량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백만 톤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2013-2023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평균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세계 전체 생산에서 차지하는 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1207.5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827.1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277.9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378.1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152.1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675.2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541.7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1413.9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이란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214.3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이라크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213.0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사우디아라비아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531.7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341.5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345.7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세계 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4514,1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1411.2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3102.5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68.7%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OPEC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1597.8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35.4%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OPEC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2916.3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609599" y="276269"/>
            <a:ext cx="6387467" cy="363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5-2]</a:t>
            </a:r>
            <a:r>
              <a:rPr lang="ko-KR" altLang="en-US"/>
              <a:t> 석유 생산 증가율과 세계 전체 생산에서 차지하는 비중</a:t>
            </a:r>
          </a:p>
        </p:txBody>
      </p:sp>
    </p:spTree>
    <p:extLst>
      <p:ext uri="{BB962C8B-B14F-4D97-AF65-F5344CB8AC3E}">
        <p14:creationId xmlns:p14="http://schemas.microsoft.com/office/powerpoint/2010/main" val="3798401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buChar char="•"/>
              <a:defRPr/>
            </a:pPr>
            <a:r>
              <a:rPr lang="ko-KR" altLang="en-US" sz="2000" dirty="0"/>
              <a:t>석유 소비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북미지역</a:t>
            </a:r>
            <a:r>
              <a:rPr lang="en-US" altLang="ko-KR" sz="2000" dirty="0"/>
              <a:t>: </a:t>
            </a:r>
            <a:r>
              <a:rPr lang="ko-KR" altLang="en-US" sz="2000" dirty="0"/>
              <a:t>세계 최대 석유 소비 지역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유럽연합</a:t>
            </a:r>
            <a:r>
              <a:rPr lang="en-US" altLang="ko-KR" sz="2000" dirty="0"/>
              <a:t>:</a:t>
            </a:r>
            <a:r>
              <a:rPr lang="ko-KR" altLang="en-US" sz="2000" dirty="0"/>
              <a:t> 기후변화 대응 정책 추진</a:t>
            </a:r>
            <a:r>
              <a:rPr lang="en-US" altLang="ko-KR" sz="2000" dirty="0"/>
              <a:t>,</a:t>
            </a:r>
            <a:r>
              <a:rPr lang="ko-KR" altLang="en-US" sz="2000" dirty="0"/>
              <a:t> 석유 수요 감소 주도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중국</a:t>
            </a:r>
            <a:r>
              <a:rPr lang="en-US" altLang="ko-KR" sz="2000" dirty="0"/>
              <a:t>:</a:t>
            </a:r>
            <a:r>
              <a:rPr lang="ko-KR" altLang="en-US" sz="2000" dirty="0"/>
              <a:t> 지난 </a:t>
            </a:r>
            <a:r>
              <a:rPr lang="en-US" altLang="ko-KR" sz="2000" dirty="0"/>
              <a:t>20</a:t>
            </a:r>
            <a:r>
              <a:rPr lang="ko-KR" altLang="en-US" sz="2000" dirty="0"/>
              <a:t>여 년간 세계</a:t>
            </a:r>
            <a:r>
              <a:rPr lang="en-US" altLang="ko-KR" sz="2000" dirty="0"/>
              <a:t> </a:t>
            </a:r>
            <a:r>
              <a:rPr lang="ko-KR" altLang="en-US" sz="2000" dirty="0"/>
              <a:t>석유 수요 증가의 중심지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중동지역</a:t>
            </a:r>
            <a:r>
              <a:rPr lang="en-US" altLang="ko-KR" sz="2000" dirty="0"/>
              <a:t>:</a:t>
            </a:r>
            <a:r>
              <a:rPr lang="ko-KR" altLang="en-US" sz="2000" dirty="0"/>
              <a:t> 석유 수출국이지만</a:t>
            </a:r>
            <a:r>
              <a:rPr lang="en-US" altLang="ko-KR" sz="2000" dirty="0"/>
              <a:t>,</a:t>
            </a:r>
            <a:r>
              <a:rPr lang="ko-KR" altLang="en-US" sz="2000" dirty="0"/>
              <a:t> 자국 내 석유 소비도 지속적으로 증가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아프리카 및 중남미</a:t>
            </a:r>
            <a:r>
              <a:rPr lang="en-US" altLang="ko-KR" sz="2000" dirty="0"/>
              <a:t>:</a:t>
            </a:r>
            <a:r>
              <a:rPr lang="ko-KR" altLang="en-US" sz="2000" dirty="0"/>
              <a:t> 현재 석유 소비 수준은 낮지만</a:t>
            </a:r>
            <a:r>
              <a:rPr lang="en-US" altLang="ko-KR" sz="2000" dirty="0"/>
              <a:t>,</a:t>
            </a:r>
            <a:r>
              <a:rPr lang="ko-KR" altLang="en-US" sz="2000" dirty="0"/>
              <a:t> 인구 증가와 경제 성장 잠재력으로 인해 미래 수요 확대 기대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전통적으로 </a:t>
            </a:r>
            <a:r>
              <a:rPr lang="en-US" altLang="ko-KR" sz="2000" dirty="0"/>
              <a:t>OECD</a:t>
            </a:r>
            <a:r>
              <a:rPr lang="ko-KR" altLang="en-US" sz="2000" dirty="0"/>
              <a:t>국가들이 석유 수요를 주도했지만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2013</a:t>
            </a:r>
            <a:r>
              <a:rPr lang="ko-KR" altLang="en-US" sz="2000" dirty="0"/>
              <a:t>년 이후 비</a:t>
            </a:r>
            <a:r>
              <a:rPr lang="en-US" altLang="ko-KR" sz="2000" dirty="0"/>
              <a:t>OECD</a:t>
            </a:r>
            <a:r>
              <a:rPr lang="ko-KR" altLang="en-US" sz="2000" dirty="0"/>
              <a:t> 국가들</a:t>
            </a:r>
            <a:r>
              <a:rPr lang="en-US" altLang="ko-KR" sz="2000" dirty="0"/>
              <a:t>(55.4%)</a:t>
            </a:r>
            <a:r>
              <a:rPr lang="ko-KR" altLang="en-US" sz="2000" dirty="0"/>
              <a:t>의 수요가 </a:t>
            </a:r>
            <a:r>
              <a:rPr lang="en-US" altLang="ko-KR" sz="2000" dirty="0"/>
              <a:t>OECD(44.6%)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초과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국가별로는 미국 </a:t>
            </a:r>
            <a:r>
              <a:rPr lang="en-US" altLang="ko-KR" sz="2000" dirty="0"/>
              <a:t>18.9%,</a:t>
            </a:r>
            <a:r>
              <a:rPr lang="ko-KR" altLang="en-US" sz="2000" dirty="0"/>
              <a:t> 중국 </a:t>
            </a:r>
            <a:r>
              <a:rPr lang="en-US" altLang="ko-KR" sz="2000" dirty="0"/>
              <a:t>16.5%,</a:t>
            </a:r>
            <a:r>
              <a:rPr lang="ko-KR" altLang="en-US" sz="2000" dirty="0"/>
              <a:t> 인도 </a:t>
            </a:r>
            <a:r>
              <a:rPr lang="en-US" altLang="ko-KR" sz="2000" dirty="0"/>
              <a:t>5.4%,</a:t>
            </a:r>
            <a:r>
              <a:rPr lang="ko-KR" altLang="en-US" sz="2000" dirty="0"/>
              <a:t> 사우디아라비아 </a:t>
            </a:r>
            <a:r>
              <a:rPr lang="en-US" altLang="ko-KR" sz="2000" dirty="0"/>
              <a:t>4.0%,</a:t>
            </a:r>
            <a:r>
              <a:rPr lang="ko-KR" altLang="en-US" sz="2000" dirty="0"/>
              <a:t> 러시아 </a:t>
            </a:r>
            <a:r>
              <a:rPr lang="en-US" altLang="ko-KR" sz="2000" dirty="0"/>
              <a:t>3.6%,</a:t>
            </a:r>
            <a:r>
              <a:rPr lang="ko-KR" altLang="en-US" sz="2000" dirty="0"/>
              <a:t> 일본 </a:t>
            </a:r>
            <a:r>
              <a:rPr lang="en-US" altLang="ko-KR" sz="2000" dirty="0"/>
              <a:t>3.4%,</a:t>
            </a:r>
            <a:r>
              <a:rPr lang="ko-KR" altLang="en-US" sz="2000" dirty="0"/>
              <a:t> 한국 </a:t>
            </a:r>
            <a:r>
              <a:rPr lang="en-US" altLang="ko-KR" sz="2000" dirty="0"/>
              <a:t>2.8%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2756357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457200" lvl="1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55450" y="1503934"/>
            <a:ext cx="9000743" cy="4852416"/>
          </a:xfrm>
          <a:prstGeom prst="rect">
            <a:avLst/>
          </a:prstGeom>
        </p:spPr>
      </p:pic>
      <p:sp>
        <p:nvSpPr>
          <p:cNvPr id="18" name="가로 글상자 17"/>
          <p:cNvSpPr txBox="1"/>
          <p:nvPr/>
        </p:nvSpPr>
        <p:spPr>
          <a:xfrm>
            <a:off x="1588634" y="1234848"/>
            <a:ext cx="4141606" cy="36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5-2]</a:t>
            </a:r>
            <a:r>
              <a:rPr lang="ko-KR" altLang="en-US"/>
              <a:t> 석유 소비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:1,000</a:t>
            </a:r>
            <a:r>
              <a:rPr lang="ko-KR" altLang="en-US"/>
              <a:t>배럴</a:t>
            </a:r>
            <a:r>
              <a:rPr lang="en-US" altLang="ko-KR"/>
              <a:t>/</a:t>
            </a:r>
            <a:r>
              <a:rPr lang="ko-KR" altLang="en-US"/>
              <a:t>일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8188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457200" lvl="1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441223" y="496298"/>
            <a:ext cx="5910534" cy="35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5-3]</a:t>
            </a:r>
            <a:r>
              <a:rPr lang="ko-KR" altLang="en-US"/>
              <a:t> 지역 및 국가별 석유 소비 비중과 연평균 증가율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1113519" y="923774"/>
          <a:ext cx="10570482" cy="54093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67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7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1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814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석유 소비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(1,000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배럴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2013-2023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평균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세계 비중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23,296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18,984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6,445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13,904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4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4,636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3,635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9,646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81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사우디아라비아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4,052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4,233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814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38,061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16,577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5,446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3,366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2,797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세계 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100,221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44,731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5006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55,489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55.4%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22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석유의 생산과 소비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000" dirty="0"/>
              <a:t>석유 수출입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석유는 생산과 소비의 지리적 불균형이 핵심 특징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세계 최대 수출국은 사우디아라비아로 하루 약 </a:t>
            </a:r>
            <a:r>
              <a:rPr lang="en-US" altLang="ko-KR" sz="2000" dirty="0"/>
              <a:t>720</a:t>
            </a:r>
            <a:r>
              <a:rPr lang="ko-KR" altLang="en-US" sz="2000" dirty="0"/>
              <a:t>만 배럴을 수출하며 주요 시장은 아시아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중국은 최대 원유 수입국이며 하루 평균 약 </a:t>
            </a:r>
            <a:r>
              <a:rPr lang="en-US" altLang="ko-KR" sz="2000" dirty="0"/>
              <a:t>1,110</a:t>
            </a:r>
            <a:r>
              <a:rPr lang="ko-KR" altLang="en-US" sz="2000" dirty="0"/>
              <a:t>만 배럴 수입</a:t>
            </a:r>
            <a:r>
              <a:rPr lang="en-US" altLang="ko-KR" sz="2000" dirty="0"/>
              <a:t>, </a:t>
            </a:r>
            <a:r>
              <a:rPr lang="ko-KR" altLang="en-US" sz="2000" dirty="0"/>
              <a:t>다음으로 인도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EU, </a:t>
            </a:r>
            <a:r>
              <a:rPr lang="ko-KR" altLang="en-US" sz="2000" dirty="0"/>
              <a:t>일본</a:t>
            </a:r>
            <a:r>
              <a:rPr lang="en-US" altLang="ko-KR" sz="2000" dirty="0"/>
              <a:t>,</a:t>
            </a:r>
            <a:r>
              <a:rPr lang="ko-KR" altLang="en-US" sz="2000" dirty="0"/>
              <a:t> 한국 순임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원유와 석유제품의 수출입이 구분됨</a:t>
            </a:r>
            <a:r>
              <a:rPr lang="en-US" altLang="ko-KR" sz="2000" dirty="0"/>
              <a:t>.</a:t>
            </a:r>
            <a:r>
              <a:rPr lang="ko-KR" altLang="en-US" sz="2000" dirty="0"/>
              <a:t> 싱가폴</a:t>
            </a:r>
            <a:r>
              <a:rPr lang="en-US" altLang="ko-KR" sz="2000" dirty="0"/>
              <a:t>,</a:t>
            </a:r>
            <a:r>
              <a:rPr lang="ko-KR" altLang="en-US" sz="2000" dirty="0"/>
              <a:t> 네델란드</a:t>
            </a:r>
            <a:r>
              <a:rPr lang="en-US" altLang="ko-KR" sz="2000" dirty="0"/>
              <a:t>,</a:t>
            </a:r>
            <a:r>
              <a:rPr lang="ko-KR" altLang="en-US" sz="2000" dirty="0"/>
              <a:t> 한국 등은 원유를 수입해 정제 후 재수출하는 허브 역할을 함</a:t>
            </a:r>
            <a:r>
              <a:rPr lang="en-US" altLang="ko-KR" sz="2000" dirty="0"/>
              <a:t>.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미국은 셰일 혁명을 통해 </a:t>
            </a:r>
            <a:r>
              <a:rPr lang="en-US" altLang="ko-KR" sz="2000" dirty="0"/>
              <a:t>2010</a:t>
            </a:r>
            <a:r>
              <a:rPr lang="ko-KR" altLang="en-US" sz="2000" dirty="0"/>
              <a:t>년 이후 순수출국으로 전환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유럽은 러시아</a:t>
            </a:r>
            <a:r>
              <a:rPr lang="en-US" altLang="ko-KR" sz="2000" dirty="0"/>
              <a:t>-</a:t>
            </a:r>
            <a:r>
              <a:rPr lang="ko-KR" altLang="en-US" sz="2000" dirty="0"/>
              <a:t>우크라이나 전쟁 이후 러시아산</a:t>
            </a:r>
            <a:r>
              <a:rPr lang="en-US" altLang="ko-KR" sz="2000" dirty="0"/>
              <a:t> </a:t>
            </a:r>
            <a:r>
              <a:rPr lang="ko-KR" altLang="en-US" sz="2000" dirty="0"/>
              <a:t>원유 수입을 줄이고 미국</a:t>
            </a:r>
            <a:r>
              <a:rPr lang="en-US" altLang="ko-KR" sz="2000" dirty="0"/>
              <a:t>,</a:t>
            </a:r>
            <a:r>
              <a:rPr lang="ko-KR" altLang="en-US" sz="2000" dirty="0"/>
              <a:t> 중동</a:t>
            </a:r>
            <a:r>
              <a:rPr lang="en-US" altLang="ko-KR" sz="2000" dirty="0"/>
              <a:t>,</a:t>
            </a:r>
            <a:r>
              <a:rPr lang="ko-KR" altLang="en-US" sz="2000" dirty="0"/>
              <a:t> 서아프리카 등지로 부터 수입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에너지 전환으로 선진국은 석유 수요 감소로 수입량 감소</a:t>
            </a:r>
            <a:r>
              <a:rPr lang="en-US" altLang="ko-KR" sz="2000" dirty="0"/>
              <a:t>.</a:t>
            </a:r>
            <a:r>
              <a:rPr lang="ko-KR" altLang="en-US" sz="2000" dirty="0"/>
              <a:t> 반면</a:t>
            </a:r>
            <a:r>
              <a:rPr lang="en-US" altLang="ko-KR" sz="2000" dirty="0"/>
              <a:t>,</a:t>
            </a:r>
            <a:r>
              <a:rPr lang="ko-KR" altLang="en-US" sz="2000" dirty="0"/>
              <a:t> 인도와 아세안 국가들은 수요 증가로 석유 수입 의존도 확대</a:t>
            </a:r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343283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457200" lvl="1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588634" y="1234848"/>
            <a:ext cx="4141606" cy="36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5-3]</a:t>
            </a:r>
            <a:r>
              <a:rPr lang="ko-KR" altLang="en-US"/>
              <a:t> 석유 소비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:1,000</a:t>
            </a:r>
            <a:r>
              <a:rPr lang="ko-KR" altLang="en-US"/>
              <a:t>배럴</a:t>
            </a:r>
            <a:r>
              <a:rPr lang="en-US" altLang="ko-KR"/>
              <a:t>/</a:t>
            </a:r>
            <a:r>
              <a:rPr lang="ko-KR" altLang="en-US"/>
              <a:t>일</a:t>
            </a:r>
            <a:r>
              <a:rPr lang="en-US" altLang="ko-KR"/>
              <a:t>)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680971"/>
            <a:ext cx="9000743" cy="444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57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457200" lvl="1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588634" y="1234848"/>
            <a:ext cx="4141606" cy="36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5-4]</a:t>
            </a:r>
            <a:r>
              <a:rPr lang="ko-KR" altLang="en-US"/>
              <a:t> 석유 수출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:1,000</a:t>
            </a:r>
            <a:r>
              <a:rPr lang="ko-KR" altLang="en-US"/>
              <a:t>배럴</a:t>
            </a:r>
            <a:r>
              <a:rPr lang="en-US" altLang="ko-KR"/>
              <a:t>/</a:t>
            </a:r>
            <a:r>
              <a:rPr lang="ko-KR" altLang="en-US"/>
              <a:t>일</a:t>
            </a:r>
            <a:r>
              <a:rPr lang="en-US" altLang="ko-KR"/>
              <a:t>)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6108" y="1598295"/>
            <a:ext cx="8939784" cy="45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75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석유 가격의 변동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59253" y="1531049"/>
            <a:ext cx="9000743" cy="4711890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1159251" y="1246187"/>
            <a:ext cx="4018539" cy="3616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5-5]</a:t>
            </a:r>
            <a:r>
              <a:rPr lang="ko-KR" altLang="en-US"/>
              <a:t> 원유가격의</a:t>
            </a:r>
            <a:r>
              <a:rPr lang="en-US" altLang="ko-KR"/>
              <a:t> </a:t>
            </a:r>
            <a:r>
              <a:rPr lang="ko-KR" altLang="en-US"/>
              <a:t>변동</a:t>
            </a:r>
            <a:r>
              <a:rPr lang="en-US" altLang="ko-KR"/>
              <a:t>(</a:t>
            </a:r>
            <a:r>
              <a:rPr lang="ko-KR" altLang="en-US"/>
              <a:t>달러</a:t>
            </a:r>
            <a:r>
              <a:rPr lang="en-US" altLang="ko-KR"/>
              <a:t>/</a:t>
            </a:r>
            <a:r>
              <a:rPr lang="ko-KR" altLang="en-US"/>
              <a:t>배럴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4678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석유 가격의 변동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en-US" altLang="ko-KR" sz="2000" dirty="0"/>
              <a:t>1972</a:t>
            </a:r>
            <a:r>
              <a:rPr lang="ko-KR" altLang="en-US" sz="2000" dirty="0"/>
              <a:t>년 이후 원유 가격은 국제정치</a:t>
            </a:r>
            <a:r>
              <a:rPr lang="en-US" altLang="ko-KR" sz="2000" dirty="0"/>
              <a:t>,</a:t>
            </a:r>
            <a:r>
              <a:rPr lang="ko-KR" altLang="en-US" sz="2000" dirty="0"/>
              <a:t> 경제 상황</a:t>
            </a:r>
            <a:r>
              <a:rPr lang="en-US" altLang="ko-KR" sz="2000" dirty="0"/>
              <a:t>,</a:t>
            </a:r>
            <a:r>
              <a:rPr lang="ko-KR" altLang="en-US" sz="2000" dirty="0"/>
              <a:t> 기술발전에 따라 큰 변동을 겪음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1973</a:t>
            </a:r>
            <a:r>
              <a:rPr lang="ko-KR" altLang="en-US" sz="2000" dirty="0"/>
              <a:t>년 제</a:t>
            </a:r>
            <a:r>
              <a:rPr lang="en-US" altLang="ko-KR" sz="2000" dirty="0"/>
              <a:t>1</a:t>
            </a:r>
            <a:r>
              <a:rPr lang="ko-KR" altLang="en-US" sz="2000" dirty="0"/>
              <a:t>차 석유 파동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1979</a:t>
            </a:r>
            <a:r>
              <a:rPr lang="ko-KR" altLang="en-US" sz="2000" dirty="0"/>
              <a:t>년 제</a:t>
            </a:r>
            <a:r>
              <a:rPr lang="en-US" altLang="ko-KR" sz="2000" dirty="0"/>
              <a:t>2</a:t>
            </a:r>
            <a:r>
              <a:rPr lang="ko-KR" altLang="en-US" sz="2000" dirty="0"/>
              <a:t>차 석유 파동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1985~1986</a:t>
            </a:r>
            <a:r>
              <a:rPr lang="ko-KR" altLang="en-US" sz="2000" dirty="0"/>
              <a:t>년 </a:t>
            </a:r>
            <a:r>
              <a:rPr lang="en-US" altLang="ko-KR" sz="2000" dirty="0"/>
              <a:t>OPEC </a:t>
            </a:r>
            <a:r>
              <a:rPr lang="ko-KR" altLang="en-US" sz="2000" dirty="0"/>
              <a:t>쿼터제 무력화</a:t>
            </a:r>
            <a:r>
              <a:rPr lang="en-US" altLang="ko-KR" sz="2000" dirty="0"/>
              <a:t>,</a:t>
            </a:r>
            <a:r>
              <a:rPr lang="ko-KR" altLang="en-US" sz="2000" dirty="0"/>
              <a:t> 사우디아리비아의 공급 확대 전략 전환</a:t>
            </a:r>
            <a:r>
              <a:rPr lang="en-US" altLang="ko-KR" sz="2000" dirty="0"/>
              <a:t>,</a:t>
            </a:r>
            <a:r>
              <a:rPr lang="ko-KR" altLang="en-US" sz="2000" dirty="0"/>
              <a:t> 비</a:t>
            </a:r>
            <a:r>
              <a:rPr lang="en-US" altLang="ko-KR" sz="2000" dirty="0"/>
              <a:t>OPEC </a:t>
            </a:r>
            <a:r>
              <a:rPr lang="ko-KR" altLang="en-US" sz="2000" dirty="0"/>
              <a:t>국가들의 생산 증가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1990</a:t>
            </a:r>
            <a:r>
              <a:rPr lang="ko-KR" altLang="en-US" sz="2000" dirty="0"/>
              <a:t>년 걸프 전쟁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1997</a:t>
            </a:r>
            <a:r>
              <a:rPr lang="ko-KR" altLang="en-US" sz="2000" dirty="0"/>
              <a:t>년 아시아 금융위기로 석유 수요 감소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2010</a:t>
            </a:r>
            <a:r>
              <a:rPr lang="ko-KR" altLang="en-US" sz="2000" dirty="0"/>
              <a:t>년 아랍의 봄</a:t>
            </a:r>
            <a:r>
              <a:rPr lang="en-US" altLang="ko-KR" sz="2000" dirty="0"/>
              <a:t>,</a:t>
            </a:r>
            <a:r>
              <a:rPr lang="ko-KR" altLang="en-US" sz="2000" dirty="0"/>
              <a:t> 리비아 내전</a:t>
            </a:r>
            <a:r>
              <a:rPr lang="en-US" altLang="ko-KR" sz="2000" dirty="0"/>
              <a:t>,</a:t>
            </a:r>
            <a:r>
              <a:rPr lang="ko-KR" altLang="en-US" sz="2000" dirty="0"/>
              <a:t> 이란 제재 등의 지정학적 긴장에 따른 공급차질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2014</a:t>
            </a:r>
            <a:r>
              <a:rPr lang="ko-KR" altLang="en-US" sz="2000" dirty="0"/>
              <a:t>년 이후 미국의 셰일오일 생산 급증으로 공급 확대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2016</a:t>
            </a:r>
            <a:r>
              <a:rPr lang="ko-KR" altLang="en-US" sz="2000" dirty="0"/>
              <a:t>년 </a:t>
            </a:r>
            <a:r>
              <a:rPr lang="en-US" altLang="ko-KR" sz="2000" dirty="0"/>
              <a:t>OPEC</a:t>
            </a:r>
            <a:r>
              <a:rPr lang="ko-KR" altLang="en-US" sz="2000" dirty="0"/>
              <a:t>은</a:t>
            </a:r>
            <a:r>
              <a:rPr lang="en-US" altLang="ko-KR" sz="2000" dirty="0"/>
              <a:t> </a:t>
            </a:r>
            <a:r>
              <a:rPr lang="ko-KR" altLang="en-US" sz="2000" dirty="0"/>
              <a:t>비</a:t>
            </a:r>
            <a:r>
              <a:rPr lang="en-US" altLang="ko-KR" sz="2000" dirty="0"/>
              <a:t>OPEC</a:t>
            </a:r>
            <a:r>
              <a:rPr lang="ko-KR" altLang="en-US" sz="2000" dirty="0"/>
              <a:t>국과 함께 감산 합의</a:t>
            </a:r>
            <a:r>
              <a:rPr lang="en-US" altLang="ko-KR" sz="2000" dirty="0"/>
              <a:t>(OPEC+)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2020</a:t>
            </a:r>
            <a:r>
              <a:rPr lang="ko-KR" altLang="en-US" sz="2000" dirty="0"/>
              <a:t>년 </a:t>
            </a:r>
            <a:r>
              <a:rPr lang="en-US" altLang="ko-KR" sz="2000" dirty="0"/>
              <a:t>COVID-19 </a:t>
            </a:r>
            <a:r>
              <a:rPr lang="ko-KR" altLang="en-US" sz="2000" dirty="0"/>
              <a:t>팬데믹에 따른 수요 충격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en-US" altLang="ko-KR" sz="2000" dirty="0"/>
              <a:t>2022</a:t>
            </a:r>
            <a:r>
              <a:rPr lang="ko-KR" altLang="en-US" sz="2000" dirty="0"/>
              <a:t>년 러시아</a:t>
            </a:r>
            <a:r>
              <a:rPr lang="en-US" altLang="ko-KR" sz="2000" dirty="0"/>
              <a:t>-</a:t>
            </a:r>
            <a:r>
              <a:rPr lang="ko-KR" altLang="en-US" sz="2000" dirty="0"/>
              <a:t>우크라이나 전쟁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2584972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 dirty="0"/>
              <a:t>카르텔 모델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카르텔은 다수의 기업이 가격을 고정하거나 생산량 할당 등을 통해서 생산량 제약을 위해서 담합적 행위를 하며</a:t>
            </a:r>
            <a:r>
              <a:rPr lang="en-US" altLang="ko-KR" sz="2000" dirty="0"/>
              <a:t>,</a:t>
            </a:r>
            <a:r>
              <a:rPr lang="ko-KR" altLang="en-US" sz="2000" dirty="0"/>
              <a:t> 집단으로서 독점기업과 같이 행동하여 집단 이윤을 극대화하는 것을 목표로 함</a:t>
            </a:r>
          </a:p>
          <a:p>
            <a:pPr marL="1171410" lvl="2" indent="-314160">
              <a:buFont typeface="Arial"/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이 실질적으로 카르텔과 같이 행동하였는지에 대해서는 논란의 여지가 많음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카르텔 구성원 간의 합의가 없을 경우 시장수요와 공급곡선이 일치하는 점에서 균형이 이루어지고 경쟁가격은 </a:t>
            </a:r>
            <a:r>
              <a:rPr lang="en-US" altLang="ko-KR" sz="2000" dirty="0"/>
              <a:t>Pc </a:t>
            </a:r>
            <a:r>
              <a:rPr lang="ko-KR" altLang="en-US" sz="2000" dirty="0"/>
              <a:t>이고 생산량은 </a:t>
            </a:r>
            <a:r>
              <a:rPr lang="en-US" altLang="ko-KR" sz="2000" dirty="0"/>
              <a:t>Qc</a:t>
            </a:r>
            <a:r>
              <a:rPr lang="ko-KR" altLang="en-US" sz="2000" dirty="0"/>
              <a:t>에서 유지됨</a:t>
            </a:r>
            <a:r>
              <a:rPr lang="en-US" altLang="ko-KR" sz="2000" dirty="0"/>
              <a:t>.</a:t>
            </a:r>
            <a:r>
              <a:rPr lang="ko-KR" altLang="en-US" sz="2000" dirty="0"/>
              <a:t> 개별 기업은 </a:t>
            </a:r>
            <a:r>
              <a:rPr lang="en-US" altLang="ko-KR" sz="2000" dirty="0"/>
              <a:t>qc</a:t>
            </a:r>
            <a:r>
              <a:rPr lang="ko-KR" altLang="en-US" sz="2000" dirty="0"/>
              <a:t>만큼</a:t>
            </a:r>
            <a:r>
              <a:rPr lang="en-US" altLang="ko-KR" sz="2000" dirty="0"/>
              <a:t> </a:t>
            </a:r>
            <a:r>
              <a:rPr lang="ko-KR" altLang="en-US" sz="2000" dirty="0"/>
              <a:t>생산하게 됨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카르텔 회원들이 독점기업과 같이 행동할 경우 한계수입과 한계비용이 일치하는 </a:t>
            </a:r>
            <a:r>
              <a:rPr lang="en-US" altLang="ko-KR" sz="2000" dirty="0"/>
              <a:t>Q*</a:t>
            </a:r>
            <a:r>
              <a:rPr lang="ko-KR" altLang="en-US" sz="2000" dirty="0"/>
              <a:t>를 생산하고 </a:t>
            </a:r>
            <a:r>
              <a:rPr lang="en-US" altLang="ko-KR" sz="2000" dirty="0"/>
              <a:t>P*</a:t>
            </a:r>
            <a:r>
              <a:rPr lang="ko-KR" altLang="en-US" sz="2000" dirty="0"/>
              <a:t>가 독점가격이 됨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n</a:t>
            </a:r>
            <a:r>
              <a:rPr lang="ko-KR" altLang="en-US" sz="2000" dirty="0"/>
              <a:t>개의 카르텔 회원들에게 생산량이 배분될 경우 개별 생산량은 </a:t>
            </a:r>
            <a:r>
              <a:rPr lang="en-US" altLang="ko-KR" sz="2000" dirty="0"/>
              <a:t>q*=Q*/n</a:t>
            </a:r>
            <a:r>
              <a:rPr lang="ko-KR" altLang="en-US" sz="2000" dirty="0"/>
              <a:t>이 됨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896916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658293"/>
            <a:ext cx="9000743" cy="4471235"/>
          </a:xfrm>
          <a:prstGeom prst="rect">
            <a:avLst/>
          </a:prstGeom>
        </p:spPr>
      </p:pic>
      <p:sp>
        <p:nvSpPr>
          <p:cNvPr id="22" name="가로 글상자 21"/>
          <p:cNvSpPr txBox="1"/>
          <p:nvPr/>
        </p:nvSpPr>
        <p:spPr>
          <a:xfrm>
            <a:off x="1595628" y="1348241"/>
            <a:ext cx="2467737" cy="364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5-6]</a:t>
            </a:r>
            <a:r>
              <a:rPr lang="ko-KR" altLang="en-US"/>
              <a:t>  카르텔 모형</a:t>
            </a:r>
          </a:p>
        </p:txBody>
      </p:sp>
    </p:spTree>
    <p:extLst>
      <p:ext uri="{BB962C8B-B14F-4D97-AF65-F5344CB8AC3E}">
        <p14:creationId xmlns:p14="http://schemas.microsoft.com/office/powerpoint/2010/main" val="998543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 dirty="0"/>
              <a:t>카르텔 모델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카르텔 균형에서는 가격이 </a:t>
            </a:r>
            <a:r>
              <a:rPr lang="en-US" altLang="ko-KR" sz="2000" dirty="0"/>
              <a:t>P*</a:t>
            </a:r>
            <a:r>
              <a:rPr lang="ko-KR" altLang="en-US" sz="2000" dirty="0"/>
              <a:t>로 고정되어 있으므로 개별 기업 입장에서는 </a:t>
            </a:r>
            <a:r>
              <a:rPr lang="en-US" altLang="ko-KR" sz="2000" dirty="0"/>
              <a:t>P*</a:t>
            </a:r>
            <a:r>
              <a:rPr lang="ko-KR" altLang="en-US" sz="2000" dirty="0"/>
              <a:t>가 한계수입이 됨</a:t>
            </a:r>
            <a:r>
              <a:rPr lang="en-US" altLang="ko-KR" sz="2000" dirty="0"/>
              <a:t>.</a:t>
            </a:r>
            <a:r>
              <a:rPr lang="ko-KR" altLang="en-US" sz="2000" dirty="0"/>
              <a:t>  이 경우 한계수입과 한계비용이 일치하도록 생산량을 </a:t>
            </a:r>
            <a:r>
              <a:rPr lang="en-US" altLang="ko-KR" sz="2000" dirty="0"/>
              <a:t>q**</a:t>
            </a:r>
            <a:r>
              <a:rPr lang="ko-KR" altLang="en-US" sz="2000" dirty="0"/>
              <a:t>까지 증가시키면 개별 기업의 이윤 극대화가 되므로 </a:t>
            </a:r>
            <a:r>
              <a:rPr lang="en-US" altLang="ko-KR" sz="2000" dirty="0"/>
              <a:t>cheating</a:t>
            </a:r>
            <a:r>
              <a:rPr lang="ko-KR" altLang="en-US" sz="2000" dirty="0"/>
              <a:t>의 인센티브 존재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한 기업이 생산량을 늘리면 다른 기업들도 보복적으로 따라하기 때문에 결국 시장 공급이 증가하여 경쟁적 균형 가격으로 시장가격이 하락</a:t>
            </a:r>
            <a:r>
              <a:rPr lang="en-US" altLang="ko-KR" sz="2000" dirty="0"/>
              <a:t>,</a:t>
            </a:r>
            <a:r>
              <a:rPr lang="ko-KR" altLang="en-US" sz="2000" dirty="0"/>
              <a:t> 카르텔이 유지되기 힘든 이유</a:t>
            </a:r>
          </a:p>
          <a:p>
            <a:pPr marL="457200" lvl="1" indent="0">
              <a:buFont typeface="Arial"/>
              <a:buNone/>
              <a:defRPr/>
            </a:pPr>
            <a:endParaRPr lang="ko-KR" altLang="en-US" sz="22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897043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 dirty="0"/>
              <a:t>선도기업 모형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카르텔은 구성원의 배반에 취약하며 카르텔을 통해서 시장지배력을 행사하기 위해서는 추가적인 장치가 필요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선도기업모형은 카르텔 내 선도기업의 역할을 통해서 시장지배력을 유지할 수 있음을 보여줌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선도기업은 시장에서 가격을 결정하고</a:t>
            </a:r>
            <a:r>
              <a:rPr lang="en-US" altLang="ko-KR" sz="2000" dirty="0"/>
              <a:t>,</a:t>
            </a:r>
            <a:r>
              <a:rPr lang="ko-KR" altLang="en-US" sz="2000" dirty="0"/>
              <a:t> 나머지 기업들은 이 가격을 수용하고 자신들의 수량을 조정하는 가격 수용자의 역할을 함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선도기업은 시장수요 </a:t>
            </a:r>
            <a:r>
              <a:rPr lang="en-US" altLang="ko-KR" sz="2000" dirty="0"/>
              <a:t>D</a:t>
            </a:r>
            <a:r>
              <a:rPr lang="en-US" altLang="ko-KR" sz="2000" baseline="-24000" dirty="0">
                <a:solidFill>
                  <a:schemeClr val="tx1"/>
                </a:solidFill>
              </a:rPr>
              <a:t>T</a:t>
            </a:r>
            <a:r>
              <a:rPr lang="ko-KR" altLang="en-US" sz="2000" dirty="0"/>
              <a:t>에 대한 정보를 가지고 있으며 자신을 제외한 다른 카르텔 구성원들의 공급고선이 </a:t>
            </a:r>
            <a:r>
              <a:rPr lang="en-US" altLang="ko-KR" sz="2000" dirty="0"/>
              <a:t>S</a:t>
            </a:r>
            <a:r>
              <a:rPr lang="en-US" altLang="ko-KR" sz="2000" baseline="-24000" dirty="0">
                <a:solidFill>
                  <a:schemeClr val="tx1"/>
                </a:solidFill>
              </a:rPr>
              <a:t>0</a:t>
            </a:r>
            <a:r>
              <a:rPr lang="ko-KR" altLang="en-US" sz="2000" dirty="0"/>
              <a:t>가 주어진 것으로 인지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 err="1"/>
              <a:t>MC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ko-KR" altLang="en-US" sz="2000" dirty="0"/>
              <a:t>는 선도기업의 한계비용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선도기업의 잔여수요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D</a:t>
            </a:r>
            <a:r>
              <a:rPr lang="en-US" altLang="ko-KR" sz="2000" baseline="-24000" dirty="0">
                <a:solidFill>
                  <a:schemeClr val="tx1"/>
                </a:solidFill>
              </a:rPr>
              <a:t>L</a:t>
            </a:r>
            <a:r>
              <a:rPr lang="en-US" altLang="ko-KR" sz="2000" dirty="0"/>
              <a:t>=D</a:t>
            </a:r>
            <a:r>
              <a:rPr lang="en-US" altLang="ko-KR" sz="2000" baseline="-24000" dirty="0">
                <a:solidFill>
                  <a:schemeClr val="tx1"/>
                </a:solidFill>
              </a:rPr>
              <a:t>T</a:t>
            </a:r>
            <a:r>
              <a:rPr lang="en-US" altLang="ko-KR" sz="2000" dirty="0"/>
              <a:t>-S</a:t>
            </a:r>
            <a:r>
              <a:rPr lang="en-US" altLang="ko-KR" sz="2000" baseline="-24000" dirty="0">
                <a:solidFill>
                  <a:schemeClr val="tx1"/>
                </a:solidFill>
              </a:rPr>
              <a:t>0</a:t>
            </a:r>
            <a:endParaRPr lang="en-US" altLang="ko-KR" sz="2000" dirty="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선도기업은 한계수입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MR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en-US" altLang="ko-KR" sz="2000" dirty="0"/>
              <a:t>)</a:t>
            </a:r>
            <a:r>
              <a:rPr lang="ko-KR" altLang="en-US" sz="2000" dirty="0"/>
              <a:t>과 한계비용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MC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en-US" altLang="ko-KR" sz="2000" dirty="0"/>
              <a:t>)</a:t>
            </a:r>
            <a:r>
              <a:rPr lang="ko-KR" altLang="en-US" sz="2000" dirty="0"/>
              <a:t>이 일치하도록 </a:t>
            </a:r>
            <a:r>
              <a:rPr lang="en-US" altLang="ko-KR" sz="2000" dirty="0" err="1"/>
              <a:t>Q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ko-KR" altLang="en-US" sz="2000" dirty="0"/>
              <a:t>의 생산량을 결정하며 가격은 </a:t>
            </a:r>
            <a:r>
              <a:rPr lang="en-US" altLang="ko-KR" sz="2000" dirty="0"/>
              <a:t>P</a:t>
            </a:r>
            <a:r>
              <a:rPr lang="en-US" altLang="ko-KR" sz="2000" baseline="-24000" dirty="0">
                <a:solidFill>
                  <a:schemeClr val="tx1"/>
                </a:solidFill>
              </a:rPr>
              <a:t>d</a:t>
            </a:r>
            <a:r>
              <a:rPr lang="ko-KR" altLang="en-US" sz="2000" dirty="0"/>
              <a:t>가 됨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다른 카르텔 회원들은 선도기업이 정한 가격을 주어진 것으로 받아들이고 나머지 시장수요인 </a:t>
            </a:r>
            <a:r>
              <a:rPr lang="en-US" altLang="ko-KR" sz="2000" dirty="0"/>
              <a:t>Q*-</a:t>
            </a:r>
            <a:r>
              <a:rPr lang="en-US" altLang="ko-KR" sz="2000" dirty="0" err="1"/>
              <a:t>Q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ko-KR" altLang="en-US" sz="2000" dirty="0"/>
              <a:t> 공급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 dirty="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390886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/>
              <a:t>선도기업 모형</a:t>
            </a:r>
          </a:p>
          <a:p>
            <a:pPr marL="771360" lvl="1" indent="-314160">
              <a:buFont typeface="Arial"/>
              <a:buChar char="•"/>
              <a:defRPr/>
            </a:pPr>
            <a:endParaRPr lang="en-US" altLang="ko-KR" sz="220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en-US" altLang="ko-KR" sz="220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97683" y="2187874"/>
            <a:ext cx="9000743" cy="3938288"/>
          </a:xfrm>
          <a:prstGeom prst="rect">
            <a:avLst/>
          </a:prstGeom>
        </p:spPr>
      </p:pic>
      <p:sp>
        <p:nvSpPr>
          <p:cNvPr id="22" name="가로 글상자 21"/>
          <p:cNvSpPr txBox="1"/>
          <p:nvPr/>
        </p:nvSpPr>
        <p:spPr>
          <a:xfrm>
            <a:off x="2268991" y="1733777"/>
            <a:ext cx="2642099" cy="3598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5-7]</a:t>
            </a:r>
            <a:r>
              <a:rPr lang="ko-KR" altLang="en-US"/>
              <a:t> 선도기업 모형</a:t>
            </a:r>
          </a:p>
        </p:txBody>
      </p:sp>
    </p:spTree>
    <p:extLst>
      <p:ext uri="{BB962C8B-B14F-4D97-AF65-F5344CB8AC3E}">
        <p14:creationId xmlns:p14="http://schemas.microsoft.com/office/powerpoint/2010/main" val="1940570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 dirty="0"/>
              <a:t>진입저지 모형</a:t>
            </a:r>
            <a:r>
              <a:rPr lang="en-US" altLang="ko-KR" sz="2200" dirty="0"/>
              <a:t>(limit pricing model)</a:t>
            </a:r>
            <a:endParaRPr lang="ko-KR" altLang="en-US" sz="2200" dirty="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진입저지 모형은 시장에서 지배적인 기업이 잠재적인 경쟁자의 시장 진입을 저지하게 위해 가격을 인위적으로 낮게 설정하는 전략을 설명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진입저지 모형은 카르텔 회원이 아닌 생산자의 경쟁으로부터 카르텔이 어떻게 전략적으로 반응하는 가를 잘 나타냄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최근 셰일오일 등 비전통적인 석유 생산의 증대 효과를 잘 보여줌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이 석유시장에서 선도기업으로 행동한다고 가정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en-US" altLang="ko-KR" sz="2000" dirty="0"/>
              <a:t>S</a:t>
            </a:r>
            <a:r>
              <a:rPr lang="en-US" altLang="ko-KR" sz="2000" baseline="-24000" dirty="0">
                <a:solidFill>
                  <a:schemeClr val="tx1"/>
                </a:solidFill>
              </a:rPr>
              <a:t>f</a:t>
            </a:r>
            <a:r>
              <a:rPr lang="ko-KR" altLang="en-US" sz="2000" dirty="0"/>
              <a:t>는 비</a:t>
            </a:r>
            <a:r>
              <a:rPr lang="en-US" altLang="ko-KR" sz="2000" dirty="0"/>
              <a:t>OPEC </a:t>
            </a:r>
            <a:r>
              <a:rPr lang="ko-KR" altLang="en-US" sz="2000" dirty="0"/>
              <a:t>생산자의 공급곡선이고 </a:t>
            </a:r>
            <a:r>
              <a:rPr lang="en-US" altLang="ko-KR" sz="2000" dirty="0" err="1"/>
              <a:t>MC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ko-KR" altLang="en-US" sz="2000" dirty="0"/>
              <a:t>는 </a:t>
            </a:r>
            <a:r>
              <a:rPr lang="en-US" altLang="ko-KR" sz="2000" dirty="0"/>
              <a:t>OPEC</a:t>
            </a:r>
            <a:r>
              <a:rPr lang="ko-KR" altLang="en-US" sz="2000" dirty="0"/>
              <a:t>의 공급곡선이라 가정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가격이 </a:t>
            </a:r>
            <a:r>
              <a:rPr lang="en-US" altLang="ko-KR" sz="2000" dirty="0"/>
              <a:t>P</a:t>
            </a:r>
            <a:r>
              <a:rPr lang="en-US" altLang="ko-KR" sz="2000" baseline="-24000" dirty="0">
                <a:solidFill>
                  <a:schemeClr val="tx1"/>
                </a:solidFill>
              </a:rPr>
              <a:t>1</a:t>
            </a:r>
            <a:r>
              <a:rPr lang="ko-KR" altLang="en-US" sz="2000" dirty="0"/>
              <a:t>이하인 경우 선도기업의 잔여수요 곡선과 시장수요곡선은 일치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선도기업으로서 </a:t>
            </a:r>
            <a:r>
              <a:rPr lang="en-US" altLang="ko-KR" sz="2000" dirty="0"/>
              <a:t>OPEC</a:t>
            </a:r>
            <a:r>
              <a:rPr lang="ko-KR" altLang="en-US" sz="2000" dirty="0"/>
              <a:t>의 잔여수요는 전체 시장수요에서 비</a:t>
            </a:r>
            <a:r>
              <a:rPr lang="en-US" altLang="ko-KR" sz="2000" dirty="0"/>
              <a:t>OPEC</a:t>
            </a:r>
            <a:r>
              <a:rPr lang="ko-KR" altLang="en-US" sz="2000" dirty="0"/>
              <a:t>의 공급곡선을 제하여 도출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은 한계수입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MR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en-US" altLang="ko-KR" sz="2000" dirty="0"/>
              <a:t>)</a:t>
            </a:r>
            <a:r>
              <a:rPr lang="ko-KR" altLang="en-US" sz="2000" dirty="0"/>
              <a:t>과 한계비용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MC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en-US" altLang="ko-KR" sz="2000" dirty="0"/>
              <a:t>)</a:t>
            </a:r>
            <a:r>
              <a:rPr lang="ko-KR" altLang="en-US" sz="2000" dirty="0"/>
              <a:t>이 일치하도록 </a:t>
            </a:r>
            <a:r>
              <a:rPr lang="en-US" altLang="ko-KR" sz="2000" dirty="0" err="1"/>
              <a:t>Q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d</a:t>
            </a:r>
            <a:r>
              <a:rPr lang="ko-KR" altLang="en-US" sz="2000" dirty="0"/>
              <a:t>에서 생산량을 결정하고 가격은 </a:t>
            </a:r>
            <a:r>
              <a:rPr lang="en-US" altLang="ko-KR" sz="2000" dirty="0"/>
              <a:t>P</a:t>
            </a:r>
            <a:r>
              <a:rPr lang="en-US" altLang="ko-KR" sz="2000" baseline="-24000" dirty="0">
                <a:solidFill>
                  <a:schemeClr val="tx1"/>
                </a:solidFill>
              </a:rPr>
              <a:t>3</a:t>
            </a:r>
            <a:r>
              <a:rPr lang="ko-KR" altLang="en-US" sz="2000" dirty="0"/>
              <a:t>에서</a:t>
            </a:r>
            <a:r>
              <a:rPr lang="en-US" altLang="ko-KR" sz="2000" dirty="0"/>
              <a:t> </a:t>
            </a:r>
            <a:r>
              <a:rPr lang="ko-KR" altLang="en-US" sz="2000" dirty="0"/>
              <a:t>결정</a:t>
            </a:r>
            <a:r>
              <a:rPr lang="en-US" altLang="ko-KR" sz="2000" dirty="0"/>
              <a:t>,</a:t>
            </a:r>
            <a:r>
              <a:rPr lang="ko-KR" altLang="en-US" sz="2000" dirty="0"/>
              <a:t> 비</a:t>
            </a:r>
            <a:r>
              <a:rPr lang="en-US" altLang="ko-KR" sz="2000" dirty="0"/>
              <a:t>OPEC</a:t>
            </a:r>
            <a:r>
              <a:rPr lang="ko-KR" altLang="en-US" sz="2000" dirty="0"/>
              <a:t> 생산자는 </a:t>
            </a:r>
            <a:r>
              <a:rPr lang="en-US" altLang="ko-KR" sz="2000" dirty="0"/>
              <a:t>Q</a:t>
            </a:r>
            <a:r>
              <a:rPr lang="en-US" altLang="ko-KR" sz="2000" baseline="-24000" dirty="0">
                <a:solidFill>
                  <a:schemeClr val="tx1"/>
                </a:solidFill>
              </a:rPr>
              <a:t>3</a:t>
            </a:r>
            <a:r>
              <a:rPr lang="en-US" altLang="ko-KR" sz="2000" dirty="0"/>
              <a:t>-Q</a:t>
            </a:r>
            <a:r>
              <a:rPr lang="en-US" altLang="ko-KR" sz="2000" baseline="-24000" dirty="0">
                <a:solidFill>
                  <a:schemeClr val="tx1"/>
                </a:solidFill>
              </a:rPr>
              <a:t>d</a:t>
            </a:r>
            <a:r>
              <a:rPr lang="en-US" altLang="ko-KR" sz="2000" dirty="0"/>
              <a:t>=</a:t>
            </a:r>
            <a:r>
              <a:rPr lang="en-US" altLang="ko-KR" sz="2000" dirty="0" err="1"/>
              <a:t>Q</a:t>
            </a:r>
            <a:r>
              <a:rPr lang="en-US" altLang="ko-KR" sz="2000" baseline="-24000" dirty="0" err="1">
                <a:solidFill>
                  <a:schemeClr val="tx1"/>
                </a:solidFill>
              </a:rPr>
              <a:t>f</a:t>
            </a:r>
            <a:r>
              <a:rPr lang="ko-KR" altLang="en-US" sz="2000" dirty="0"/>
              <a:t>만큼 공급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505746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/>
              <a:t>진입저지 모형</a:t>
            </a:r>
            <a:r>
              <a:rPr lang="en-US" altLang="ko-KR" sz="2200"/>
              <a:t>(limit pricing model)</a:t>
            </a:r>
            <a:endParaRPr lang="ko-KR" altLang="en-US" sz="220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1293813" y="1711098"/>
            <a:ext cx="2645727" cy="36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5-8]</a:t>
            </a:r>
            <a:r>
              <a:rPr lang="ko-KR" altLang="en-US"/>
              <a:t> 진입저지 모형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93814" y="2235994"/>
            <a:ext cx="9302558" cy="38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46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석유 시장의 행태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buFont typeface="Arial"/>
              <a:buChar char="•"/>
              <a:defRPr/>
            </a:pPr>
            <a:r>
              <a:rPr lang="ko-KR" altLang="en-US" sz="2200" dirty="0"/>
              <a:t>진입저지 모형</a:t>
            </a:r>
            <a:r>
              <a:rPr lang="en-US" altLang="ko-KR" sz="2200" dirty="0"/>
              <a:t>(limit pricing model)</a:t>
            </a:r>
            <a:endParaRPr lang="ko-KR" altLang="en-US" sz="2200" dirty="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만약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OPEC</a:t>
            </a:r>
            <a:r>
              <a:rPr lang="ko-KR" altLang="en-US" sz="2000" dirty="0"/>
              <a:t>이 새로운 생산자의 시장진입을 저지하기 위해서 진입저지가격을 설정한다고 가정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en-US" altLang="ko-KR" sz="2000" dirty="0"/>
              <a:t>OPEC</a:t>
            </a:r>
            <a:r>
              <a:rPr lang="ko-KR" altLang="en-US" sz="2000" dirty="0"/>
              <a:t>은 비용 측면에서 비</a:t>
            </a:r>
            <a:r>
              <a:rPr lang="en-US" altLang="ko-KR" sz="2000" dirty="0"/>
              <a:t>OPEC</a:t>
            </a:r>
            <a:r>
              <a:rPr lang="ko-KR" altLang="en-US" sz="2000" dirty="0"/>
              <a:t> 생산자보다 우위에 있기 때문에 가격인하를 통해서 진입한 생산자를 몰아내거나</a:t>
            </a:r>
            <a:r>
              <a:rPr lang="en-US" altLang="ko-KR" sz="2000" dirty="0"/>
              <a:t>(predatory pricing) </a:t>
            </a:r>
            <a:r>
              <a:rPr lang="ko-KR" altLang="en-US" sz="2000" dirty="0"/>
              <a:t>새로운 생산자의 시장진입을 저지하는 전략</a:t>
            </a:r>
            <a:r>
              <a:rPr lang="en-US" altLang="ko-KR" sz="2000" dirty="0"/>
              <a:t>(limit pricing)</a:t>
            </a:r>
            <a:r>
              <a:rPr lang="ko-KR" altLang="en-US" sz="2000" dirty="0"/>
              <a:t>을 구사할</a:t>
            </a:r>
            <a:r>
              <a:rPr lang="en-US" altLang="ko-KR" sz="2000" dirty="0"/>
              <a:t> </a:t>
            </a:r>
            <a:r>
              <a:rPr lang="ko-KR" altLang="en-US" sz="2000" dirty="0"/>
              <a:t>수 있음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만약 </a:t>
            </a:r>
            <a:r>
              <a:rPr lang="en-US" altLang="ko-KR" sz="2000" dirty="0"/>
              <a:t>OPEC</a:t>
            </a:r>
            <a:r>
              <a:rPr lang="ko-KR" altLang="en-US" sz="2000" dirty="0"/>
              <a:t>이 가격을 </a:t>
            </a:r>
            <a:r>
              <a:rPr lang="en-US" altLang="ko-KR" sz="2000" dirty="0"/>
              <a:t>P</a:t>
            </a:r>
            <a:r>
              <a:rPr lang="en-US" altLang="ko-KR" sz="2000" baseline="-24000" dirty="0">
                <a:solidFill>
                  <a:schemeClr val="tx1"/>
                </a:solidFill>
              </a:rPr>
              <a:t>3</a:t>
            </a:r>
            <a:r>
              <a:rPr lang="ko-KR" altLang="en-US" sz="2000" dirty="0"/>
              <a:t>에서</a:t>
            </a:r>
            <a:r>
              <a:rPr lang="en-US" altLang="ko-KR" sz="2000" dirty="0"/>
              <a:t> P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ko-KR" altLang="en-US" sz="2000" dirty="0"/>
              <a:t>로 인하하는 경우 비</a:t>
            </a:r>
            <a:r>
              <a:rPr lang="en-US" altLang="ko-KR" sz="2000" dirty="0"/>
              <a:t>OPEC</a:t>
            </a:r>
            <a:r>
              <a:rPr lang="ko-KR" altLang="en-US" sz="2000" dirty="0"/>
              <a:t> 생산자의 생산량은 </a:t>
            </a:r>
            <a:r>
              <a:rPr lang="en-US" altLang="ko-KR" sz="2000" dirty="0"/>
              <a:t>OPEC</a:t>
            </a:r>
            <a:r>
              <a:rPr lang="ko-KR" altLang="en-US" sz="2000" dirty="0"/>
              <a:t> 생산량으로 대체됨</a:t>
            </a:r>
            <a:r>
              <a:rPr lang="en-US" altLang="ko-KR" sz="2000" dirty="0"/>
              <a:t>.</a:t>
            </a:r>
            <a:r>
              <a:rPr lang="ko-KR" altLang="en-US" sz="2000" dirty="0"/>
              <a:t>  이 가격에서 시장수요는 </a:t>
            </a:r>
            <a:r>
              <a:rPr lang="en-US" altLang="ko-KR" sz="2000" dirty="0"/>
              <a:t>Q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ko-KR" altLang="en-US" sz="2000" dirty="0"/>
              <a:t>로 확대되지만 비</a:t>
            </a:r>
            <a:r>
              <a:rPr lang="en-US" altLang="ko-KR" sz="2000" dirty="0"/>
              <a:t>OPEC</a:t>
            </a:r>
            <a:r>
              <a:rPr lang="ko-KR" altLang="en-US" sz="2000" dirty="0"/>
              <a:t>생산자의 공급은 </a:t>
            </a:r>
            <a:r>
              <a:rPr lang="en-US" altLang="ko-KR" sz="2000" dirty="0"/>
              <a:t>Q*</a:t>
            </a:r>
            <a:r>
              <a:rPr lang="ko-KR" altLang="en-US" sz="2000" dirty="0"/>
              <a:t>로 축소되고 </a:t>
            </a:r>
            <a:r>
              <a:rPr lang="en-US" altLang="ko-KR" sz="2000" dirty="0"/>
              <a:t>OPEC</a:t>
            </a:r>
            <a:r>
              <a:rPr lang="ko-KR" altLang="en-US" sz="2000" dirty="0"/>
              <a:t> 생산자의 공급은 </a:t>
            </a:r>
            <a:r>
              <a:rPr lang="en-US" altLang="ko-KR" sz="2000" dirty="0"/>
              <a:t>Q</a:t>
            </a:r>
            <a:r>
              <a:rPr lang="en-US" altLang="ko-KR" sz="2000" baseline="-24000" dirty="0">
                <a:solidFill>
                  <a:schemeClr val="tx1"/>
                </a:solidFill>
              </a:rPr>
              <a:t>1</a:t>
            </a:r>
            <a:r>
              <a:rPr lang="ko-KR" altLang="en-US" sz="2000" dirty="0"/>
              <a:t>으로</a:t>
            </a:r>
            <a:r>
              <a:rPr lang="en-US" altLang="ko-KR" sz="2000" dirty="0"/>
              <a:t> </a:t>
            </a:r>
            <a:r>
              <a:rPr lang="ko-KR" altLang="en-US" sz="2000" dirty="0"/>
              <a:t>확대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4231695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석유의 미래와 에너지 전환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71310" lvl="0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en-US" altLang="ko-KR" sz="2000" dirty="0"/>
              <a:t>21</a:t>
            </a:r>
            <a:r>
              <a:rPr lang="ko-KR" altLang="en-US" sz="2000" dirty="0"/>
              <a:t>세기에 접어든 석유 산업은 기후변화 대응과 지속가능한 성장이라는 요구에 직면하여 근본적인 전환의 압력을 받고 있음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석유 수요 구조의 점진적 변화</a:t>
            </a:r>
          </a:p>
          <a:p>
            <a:pPr marL="1171410" lvl="2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수송</a:t>
            </a:r>
            <a:r>
              <a:rPr lang="en-US" altLang="ko-KR" sz="2000" dirty="0"/>
              <a:t>,</a:t>
            </a:r>
            <a:r>
              <a:rPr lang="ko-KR" altLang="en-US" sz="2000" dirty="0"/>
              <a:t> 산업</a:t>
            </a:r>
            <a:r>
              <a:rPr lang="en-US" altLang="ko-KR" sz="2000" dirty="0"/>
              <a:t>,</a:t>
            </a:r>
            <a:r>
              <a:rPr lang="ko-KR" altLang="en-US" sz="2000" dirty="0"/>
              <a:t> 전력 부문 등 전통적인 석유 수요 부문에서 석유 의존도 감소</a:t>
            </a:r>
          </a:p>
          <a:p>
            <a:pPr marL="1171410" lvl="2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석유의  주요 용도가 연료에서 비연료</a:t>
            </a:r>
            <a:r>
              <a:rPr lang="en-US" altLang="ko-KR" sz="2000" dirty="0"/>
              <a:t>,</a:t>
            </a:r>
            <a:r>
              <a:rPr lang="ko-KR" altLang="en-US" sz="2000" dirty="0"/>
              <a:t> 특히 석유화학 원료로 이동하는 구조적 변화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국제사회의 기후정책</a:t>
            </a:r>
          </a:p>
          <a:p>
            <a:pPr marL="1171410" lvl="2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석유소비 감축은 기술 경제적 문제가 아니라 무역</a:t>
            </a:r>
            <a:r>
              <a:rPr lang="en-US" altLang="ko-KR" sz="2000" dirty="0"/>
              <a:t>,</a:t>
            </a:r>
            <a:r>
              <a:rPr lang="ko-KR" altLang="en-US" sz="2000" dirty="0"/>
              <a:t> 산업 정책</a:t>
            </a:r>
            <a:r>
              <a:rPr lang="en-US" altLang="ko-KR" sz="2000" dirty="0"/>
              <a:t>,</a:t>
            </a:r>
            <a:r>
              <a:rPr lang="ko-KR" altLang="en-US" sz="2000" dirty="0"/>
              <a:t> 외교 전략과 결합된 다차원적 사안으로 전환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/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국제 석유기업들은 단순한 석유회사에서 종합 에너지 기업으로 진화하고 있음</a:t>
            </a:r>
          </a:p>
          <a:p>
            <a:pPr marL="1171410" lvl="2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재생에너지</a:t>
            </a:r>
            <a:r>
              <a:rPr lang="en-US" altLang="ko-KR" sz="2000" dirty="0"/>
              <a:t>,</a:t>
            </a:r>
            <a:r>
              <a:rPr lang="ko-KR" altLang="en-US" sz="2000" dirty="0"/>
              <a:t> 수소경제</a:t>
            </a:r>
            <a:r>
              <a:rPr lang="en-US" altLang="ko-KR" sz="2000" dirty="0"/>
              <a:t>,</a:t>
            </a:r>
            <a:r>
              <a:rPr lang="ko-KR" altLang="en-US" sz="2000" dirty="0"/>
              <a:t> 전기차 충전 인프라</a:t>
            </a:r>
            <a:r>
              <a:rPr lang="en-US" altLang="ko-KR" sz="2000" dirty="0"/>
              <a:t>,</a:t>
            </a:r>
            <a:r>
              <a:rPr lang="ko-KR" altLang="en-US" sz="2000" dirty="0"/>
              <a:t> 탄소포집 및 저장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디지털화 분야로 사업 포트폴리오를 확대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1285438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석유의 미래와 에너지 전환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089932"/>
            <a:ext cx="10972798" cy="503623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석유 수요의 중장기적 전망은 불투명</a:t>
            </a:r>
          </a:p>
          <a:p>
            <a:pPr marL="1171410" lvl="2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선진국에서는 이미 석유 수요가 피크를 지나 감소 국면에 진입했거나 정점을 맞을 것으로 예상되나</a:t>
            </a:r>
            <a:r>
              <a:rPr lang="en-US" altLang="ko-KR" sz="2000" dirty="0"/>
              <a:t>,</a:t>
            </a:r>
            <a:r>
              <a:rPr lang="ko-KR" altLang="en-US" sz="2000" dirty="0"/>
              <a:t> 개발도상국에서는 경제성장과 도시화에 따라 석유 </a:t>
            </a:r>
            <a:r>
              <a:rPr lang="ko-KR" altLang="en-US" sz="2000"/>
              <a:t>수요가 수십년간 </a:t>
            </a:r>
            <a:r>
              <a:rPr lang="ko-KR" altLang="en-US" sz="2000" dirty="0"/>
              <a:t>지속적으로 증가할 것으로 전망됨</a:t>
            </a:r>
          </a:p>
          <a:p>
            <a:pPr marL="1628610" lvl="3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dirty="0"/>
              <a:t>석유 수요의 지리적 분절</a:t>
            </a:r>
            <a:r>
              <a:rPr lang="en-US" altLang="ko-KR" dirty="0"/>
              <a:t>(geographic divergence)</a:t>
            </a:r>
            <a:r>
              <a:rPr lang="ko-KR" altLang="en-US" dirty="0"/>
              <a:t>이 예상됨</a:t>
            </a:r>
          </a:p>
          <a:p>
            <a:pPr marL="1628610" lvl="3" indent="-314160">
              <a:spcBef>
                <a:spcPts val="528"/>
              </a:spcBef>
              <a:buFont typeface="Arial"/>
              <a:buChar char="•"/>
              <a:defRPr/>
            </a:pPr>
            <a:endParaRPr lang="ko-KR" altLang="en-US" dirty="0"/>
          </a:p>
          <a:p>
            <a:pPr marL="371310" lvl="0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석유의 미래는 단일한 궤적을 따르기보다는 다양한 경로의 불확실성 속에서 전개될 전망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수요와 공급의 상호작용</a:t>
            </a:r>
            <a:r>
              <a:rPr lang="en-US" altLang="ko-KR" sz="2000" dirty="0"/>
              <a:t>,</a:t>
            </a:r>
            <a:r>
              <a:rPr lang="ko-KR" altLang="en-US" sz="2000" dirty="0"/>
              <a:t> 국제 정책 환경</a:t>
            </a:r>
            <a:r>
              <a:rPr lang="en-US" altLang="ko-KR" sz="2000" dirty="0"/>
              <a:t>,</a:t>
            </a:r>
            <a:r>
              <a:rPr lang="ko-KR" altLang="en-US" sz="2000" dirty="0"/>
              <a:t> 기술 혁신의 속도</a:t>
            </a:r>
            <a:r>
              <a:rPr lang="en-US" altLang="ko-KR" sz="2000" dirty="0"/>
              <a:t>,</a:t>
            </a:r>
            <a:r>
              <a:rPr lang="ko-KR" altLang="en-US" sz="2000" dirty="0"/>
              <a:t> 지정학적 변수 등이 복합적으로 작용</a:t>
            </a:r>
          </a:p>
          <a:p>
            <a:pPr marL="771360" lvl="1" indent="-314160"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에너지 전환은 석유의 종말을 의미하는 것이 아니라</a:t>
            </a:r>
            <a:r>
              <a:rPr lang="en-US" altLang="ko-KR" sz="2000" dirty="0"/>
              <a:t>,</a:t>
            </a:r>
            <a:r>
              <a:rPr lang="ko-KR" altLang="en-US" sz="2000" dirty="0"/>
              <a:t> 석유가 어떤 방식으로 새로운 에너지 체제 속에 재위치</a:t>
            </a:r>
            <a:r>
              <a:rPr lang="en-US" altLang="ko-KR" sz="2000" dirty="0"/>
              <a:t>(reposition)</a:t>
            </a:r>
            <a:r>
              <a:rPr lang="ko-KR" altLang="en-US" sz="2000" dirty="0"/>
              <a:t>되는가를 묻는 과정임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제5장</a:t>
            </a:r>
          </a:p>
        </p:txBody>
      </p:sp>
    </p:spTree>
    <p:extLst>
      <p:ext uri="{BB962C8B-B14F-4D97-AF65-F5344CB8AC3E}">
        <p14:creationId xmlns:p14="http://schemas.microsoft.com/office/powerpoint/2010/main" val="3709360809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3877</Words>
  <Application>Microsoft Office PowerPoint</Application>
  <PresentationFormat>와이드스크린</PresentationFormat>
  <Paragraphs>632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8" baseType="lpstr">
      <vt:lpstr>나눔스퀘어 네오 OTF Heavy</vt:lpstr>
      <vt:lpstr>맑은 고딕</vt:lpstr>
      <vt:lpstr>함초롬바탕</vt:lpstr>
      <vt:lpstr>Arial</vt:lpstr>
      <vt:lpstr>Calibri</vt:lpstr>
      <vt:lpstr>한컴오피스</vt:lpstr>
      <vt:lpstr>PowerPoint 프레젠테이션</vt:lpstr>
      <vt:lpstr>제5장 석유 시장</vt:lpstr>
      <vt:lpstr>1. 서론</vt:lpstr>
      <vt:lpstr>2. 석유산업의 역사</vt:lpstr>
      <vt:lpstr>2. 석유산업의 역사</vt:lpstr>
      <vt:lpstr>2. 석유산업의 역사</vt:lpstr>
      <vt:lpstr>2. 석유산업의 역사</vt:lpstr>
      <vt:lpstr>2. 석유산업의 역사</vt:lpstr>
      <vt:lpstr>2. 석유산업의 역사</vt:lpstr>
      <vt:lpstr>2. 석유산업의 역사</vt:lpstr>
      <vt:lpstr>2. 석유산업의 역사</vt:lpstr>
      <vt:lpstr>2. 석유산업의 역사</vt:lpstr>
      <vt:lpstr>2. 석유산업의 역사</vt:lpstr>
      <vt:lpstr>3. 석유의 수직적 가치사슬</vt:lpstr>
      <vt:lpstr>3. 석유의 수직적 가치사슬</vt:lpstr>
      <vt:lpstr>3. 석유의 수직적 가치사슬</vt:lpstr>
      <vt:lpstr>4. 석유의 생산과 소비</vt:lpstr>
      <vt:lpstr>4. 석유의 생산과 소비</vt:lpstr>
      <vt:lpstr>4. 석유의 생산과 소비</vt:lpstr>
      <vt:lpstr>4. 석유의 생산과 소비</vt:lpstr>
      <vt:lpstr> </vt:lpstr>
      <vt:lpstr>4. 석유의 생산과 소비</vt:lpstr>
      <vt:lpstr>4. 석유의 생산과 소비</vt:lpstr>
      <vt:lpstr> </vt:lpstr>
      <vt:lpstr>4. 석유의 생산과 소비</vt:lpstr>
      <vt:lpstr>4. 석유의 생산과 소비</vt:lpstr>
      <vt:lpstr> </vt:lpstr>
      <vt:lpstr>4. 석유의 생산과 소비</vt:lpstr>
      <vt:lpstr>PowerPoint 프레젠테이션</vt:lpstr>
      <vt:lpstr> </vt:lpstr>
      <vt:lpstr>5. 석유 가격의 변동</vt:lpstr>
      <vt:lpstr>5. 석유 가격의 변동</vt:lpstr>
      <vt:lpstr>6. 석유 시장의 행태 분석</vt:lpstr>
      <vt:lpstr>6. 석유 시장의 행태 분석</vt:lpstr>
      <vt:lpstr>6. 석유 시장의 행태 분석</vt:lpstr>
      <vt:lpstr>6. 석유 시장의 행태 분석</vt:lpstr>
      <vt:lpstr>6. 석유 시장의 행태 분석</vt:lpstr>
      <vt:lpstr>6. 석유 시장의 행태 분석</vt:lpstr>
      <vt:lpstr>6. 석유 시장의 행태 분석</vt:lpstr>
      <vt:lpstr>6. 석유 시장의 행태 분석</vt:lpstr>
      <vt:lpstr>7. 석유의 미래와 에너지 전환</vt:lpstr>
      <vt:lpstr>7. 석유의 미래와 에너지 전환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장 규식</cp:lastModifiedBy>
  <cp:revision>267</cp:revision>
  <dcterms:created xsi:type="dcterms:W3CDTF">2026-01-09T02:29:36Z</dcterms:created>
  <dcterms:modified xsi:type="dcterms:W3CDTF">2026-02-25T21:45:55Z</dcterms:modified>
  <cp:version>13.0.0.2760</cp:version>
</cp:coreProperties>
</file>