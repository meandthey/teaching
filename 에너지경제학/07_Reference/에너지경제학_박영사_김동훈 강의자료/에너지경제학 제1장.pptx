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8" r:id="rId2"/>
    <p:sldId id="256" r:id="rId3"/>
    <p:sldId id="263" r:id="rId4"/>
    <p:sldId id="264" r:id="rId5"/>
    <p:sldId id="258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4" r:id="rId14"/>
    <p:sldId id="27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42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96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405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13547-F249-AE3C-FA58-A5CA2E883E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7388" y="182880"/>
            <a:ext cx="11824481" cy="649978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17158"/>
          </a:xfrm>
        </p:spPr>
        <p:txBody>
          <a:bodyPr>
            <a:normAutofit/>
          </a:bodyPr>
          <a:lstStyle/>
          <a:p>
            <a:pPr algn="l"/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제1장 에너지 경제학 서론 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algn="l"/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1.</a:t>
            </a:r>
            <a:r>
              <a:rPr lang="ko-KR" altLang="en-US" sz="3400"/>
              <a:t> 에너지의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527251"/>
            <a:ext cx="10894304" cy="464971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400">
                <a:ea typeface="맑은 고딕"/>
              </a:rPr>
              <a:t>과거: 에너지와 산업혁명</a:t>
            </a:r>
            <a:endParaRPr lang="ko-KR" altLang="en-US">
              <a:ea typeface="맑은 고딕"/>
            </a:endParaRP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석탄을 중심으로 한 증기기관은 산업 생산의 핵심동력</a:t>
            </a: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석유는 내연 기관 기술의 확산과 운송 부분의 핵심 에너지원으로 자리함</a:t>
            </a: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화석연료의 사용은 대기오염</a:t>
            </a:r>
            <a:r>
              <a:rPr lang="en-US" altLang="ko-KR" sz="2000">
                <a:ea typeface="맑은 고딕"/>
              </a:rPr>
              <a:t>,</a:t>
            </a:r>
            <a:r>
              <a:rPr lang="ko-KR" altLang="en-US" sz="2000">
                <a:ea typeface="맑은 고딕"/>
              </a:rPr>
              <a:t> 온실가스 배출</a:t>
            </a:r>
            <a:r>
              <a:rPr lang="en-US" altLang="ko-KR" sz="2000">
                <a:ea typeface="맑은 고딕"/>
              </a:rPr>
              <a:t>,</a:t>
            </a:r>
            <a:r>
              <a:rPr lang="ko-KR" altLang="en-US" sz="2000">
                <a:ea typeface="맑은 고딕"/>
              </a:rPr>
              <a:t> 기후변화 등의 문제를 초래</a:t>
            </a:r>
          </a:p>
          <a:p>
            <a:pPr lvl="1">
              <a:defRPr/>
            </a:pPr>
            <a:endParaRPr lang="ko-KR" altLang="en-US" sz="2000">
              <a:ea typeface="맑은 고딕"/>
            </a:endParaRPr>
          </a:p>
          <a:p>
            <a:pPr lvl="0">
              <a:defRPr/>
            </a:pPr>
            <a:r>
              <a:rPr lang="ko-KR" altLang="en-US" sz="2400">
                <a:ea typeface="맑은 고딕"/>
              </a:rPr>
              <a:t>현재: 현대사회에서의 에너지</a:t>
            </a:r>
            <a:endParaRPr lang="ko-KR" altLang="en-US">
              <a:ea typeface="맑은 고딕"/>
            </a:endParaRP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에너지 공급의 안정성은 경제 안정과 성장의 필수 요소로 작용</a:t>
            </a: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에너지 소비가 환경에 미치는 영향은 가장 중요한 이슈로 대두</a:t>
            </a:r>
          </a:p>
          <a:p>
            <a:pPr lvl="1">
              <a:defRPr/>
            </a:pPr>
            <a:r>
              <a:rPr lang="ko-KR" altLang="en-US" sz="2000">
                <a:ea typeface="맑은 고딕"/>
              </a:rPr>
              <a:t>경제성장과 환경적 지속가능성의 균형이 에너지 정책의 핵심</a:t>
            </a:r>
            <a:endParaRPr lang="ko-KR" altLang="en-US">
              <a:ea typeface="맑은 고딕"/>
            </a:endParaRP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38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1.</a:t>
            </a:r>
            <a:r>
              <a:rPr lang="ko-KR" altLang="en-US" sz="3400"/>
              <a:t> 에너지의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527251"/>
            <a:ext cx="10894304" cy="464971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400">
                <a:ea typeface="맑은 고딕"/>
              </a:rPr>
              <a:t>미래: 지속가능한 에너지와 기후변화의 대응</a:t>
            </a:r>
            <a:endParaRPr lang="ko-KR" altLang="en-US">
              <a:ea typeface="맑은 고딕"/>
            </a:endParaRPr>
          </a:p>
          <a:p>
            <a:pPr lvl="1">
              <a:defRPr/>
            </a:pPr>
            <a:r>
              <a:rPr lang="ko-KR" altLang="en-US" sz="2000"/>
              <a:t>점진적으로 화석연료에서 벗어나 재생가능한 에너지원 중심으로 이동</a:t>
            </a:r>
          </a:p>
          <a:p>
            <a:pPr lvl="1">
              <a:defRPr/>
            </a:pPr>
            <a:r>
              <a:rPr lang="ko-KR" altLang="en-US" sz="2000"/>
              <a:t>재생에너지의 간헐성을 보완하고 전력 그리드에 통합하는 문제</a:t>
            </a:r>
            <a:r>
              <a:rPr lang="en-US" altLang="ko-KR" sz="2000"/>
              <a:t>,</a:t>
            </a:r>
            <a:r>
              <a:rPr lang="ko-KR" altLang="en-US" sz="2000"/>
              <a:t> 청정에너지 혜택의 공정한 분배와 같은 사회적 형평성 이슈 동반</a:t>
            </a:r>
          </a:p>
          <a:p>
            <a:pPr lvl="1">
              <a:defRPr/>
            </a:pPr>
            <a:r>
              <a:rPr lang="ko-KR" altLang="en-US" sz="2000"/>
              <a:t>기술혁신이 에너지 시스템의 핵심 동인으로 작용할 것으로 예상</a:t>
            </a:r>
          </a:p>
          <a:p>
            <a:pPr lvl="2">
              <a:defRPr/>
            </a:pPr>
            <a:r>
              <a:rPr lang="ko-KR" altLang="en-US" sz="2000"/>
              <a:t>에너지 저장 장치</a:t>
            </a:r>
            <a:r>
              <a:rPr lang="en-US" altLang="ko-KR" sz="2000"/>
              <a:t>,</a:t>
            </a:r>
            <a:r>
              <a:rPr lang="ko-KR" altLang="en-US" sz="2000"/>
              <a:t> 스마트그리드</a:t>
            </a:r>
            <a:r>
              <a:rPr lang="en-US" altLang="ko-KR" sz="2000"/>
              <a:t>,</a:t>
            </a:r>
            <a:r>
              <a:rPr lang="ko-KR" altLang="en-US" sz="2000"/>
              <a:t> 고효율 기기와 건축물</a:t>
            </a:r>
          </a:p>
          <a:p>
            <a:pPr lvl="1">
              <a:defRPr/>
            </a:pPr>
            <a:r>
              <a:rPr lang="ko-KR" altLang="en-US" sz="2000"/>
              <a:t>에너지와 환경문제에 대한 국제협력과 정책 연대 필요성</a:t>
            </a:r>
          </a:p>
          <a:p>
            <a:pPr lvl="2">
              <a:defRPr/>
            </a:pPr>
            <a:r>
              <a:rPr lang="ko-KR" altLang="en-US" sz="2000"/>
              <a:t>파리협약</a:t>
            </a:r>
          </a:p>
          <a:p>
            <a:pPr lvl="1">
              <a:defRPr/>
            </a:pPr>
            <a:r>
              <a:rPr lang="ko-KR" altLang="en-US" sz="2000"/>
              <a:t>개도국에 대한 지원</a:t>
            </a:r>
            <a:r>
              <a:rPr lang="en-US" altLang="ko-KR" sz="2000"/>
              <a:t>,</a:t>
            </a:r>
            <a:r>
              <a:rPr lang="ko-KR" altLang="en-US" sz="2000"/>
              <a:t> 기술이전</a:t>
            </a:r>
            <a:r>
              <a:rPr lang="en-US" altLang="ko-KR" sz="2000"/>
              <a:t>,</a:t>
            </a:r>
            <a:r>
              <a:rPr lang="ko-KR" altLang="en-US" sz="2000"/>
              <a:t> 탄소가격 도입과 같은 제도 설계 필요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에너지와 경제의 상호 작용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/>
          <a:lstStyle/>
          <a:p>
            <a:pPr lvl="0">
              <a:defRPr/>
            </a:pPr>
            <a:r>
              <a:rPr lang="ko-KR" altLang="en-US" sz="2400"/>
              <a:t>에너지와 경제성장</a:t>
            </a:r>
            <a:endParaRPr lang="ko-KR" altLang="en-US"/>
          </a:p>
          <a:p>
            <a:pPr lvl="1">
              <a:defRPr/>
            </a:pPr>
            <a:r>
              <a:rPr lang="ko-KR" altLang="en-US" sz="2000"/>
              <a:t>산업화 초기에는 제조업</a:t>
            </a:r>
            <a:r>
              <a:rPr lang="en-US" altLang="ko-KR" sz="2000"/>
              <a:t>,</a:t>
            </a:r>
            <a:r>
              <a:rPr lang="ko-KR" altLang="en-US" sz="2000"/>
              <a:t> 운송 등에서의 에너지 소비가 증가함에 따라 전체적인 에너지 소비 및 화석연료 의존도 증가</a:t>
            </a:r>
          </a:p>
          <a:p>
            <a:pPr lvl="2">
              <a:defRPr/>
            </a:pPr>
            <a:r>
              <a:rPr lang="ko-KR" altLang="en-US"/>
              <a:t>에너지 집약도 증가</a:t>
            </a:r>
          </a:p>
          <a:p>
            <a:pPr lvl="1">
              <a:defRPr/>
            </a:pPr>
            <a:r>
              <a:rPr lang="ko-KR" altLang="en-US" sz="2000"/>
              <a:t>경제가 성숙함에 따라 서비스 산업의 비중이 높은 경제 구조로 전환이 되어 에너지 소비 감소</a:t>
            </a:r>
          </a:p>
          <a:p>
            <a:pPr lvl="2">
              <a:defRPr/>
            </a:pPr>
            <a:r>
              <a:rPr lang="ko-KR" altLang="en-US"/>
              <a:t>에너지 집약도가 낮은 고부가가치 산업의 출현</a:t>
            </a:r>
            <a:r>
              <a:rPr lang="en-US" altLang="ko-KR"/>
              <a:t>,</a:t>
            </a:r>
            <a:r>
              <a:rPr lang="ko-KR" altLang="en-US"/>
              <a:t> 에너비 소비와 경제 성장의 </a:t>
            </a:r>
            <a:r>
              <a:rPr lang="en-US" altLang="ko-KR"/>
              <a:t>decoupling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 sz="2400"/>
              <a:t>에너지 시장과 경제의  상호 작용</a:t>
            </a:r>
            <a:endParaRPr lang="ko-KR" altLang="en-US"/>
          </a:p>
          <a:p>
            <a:pPr lvl="1">
              <a:defRPr/>
            </a:pPr>
            <a:r>
              <a:rPr lang="ko-KR" altLang="en-US" sz="2000"/>
              <a:t>에너지 가격의 변동은 인플레이션</a:t>
            </a:r>
            <a:r>
              <a:rPr lang="en-US" altLang="ko-KR" sz="2000"/>
              <a:t>,</a:t>
            </a:r>
            <a:r>
              <a:rPr lang="ko-KR" altLang="en-US" sz="2000"/>
              <a:t> 실업</a:t>
            </a:r>
            <a:r>
              <a:rPr lang="en-US" altLang="ko-KR" sz="2000"/>
              <a:t>,</a:t>
            </a:r>
            <a:r>
              <a:rPr lang="ko-KR" altLang="en-US" sz="2000"/>
              <a:t> 경제 성장 등 글로벌 경제에 지대한 영향을 미침</a:t>
            </a:r>
          </a:p>
          <a:p>
            <a:pPr lvl="2">
              <a:defRPr/>
            </a:pPr>
            <a:r>
              <a:rPr lang="en-US" altLang="ko-KR" sz="2000"/>
              <a:t>1970</a:t>
            </a:r>
            <a:r>
              <a:rPr lang="ko-KR" altLang="en-US" sz="2000"/>
              <a:t>년대 오일 쇼크</a:t>
            </a:r>
          </a:p>
          <a:p>
            <a:pPr lvl="2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227042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에너지와 경제의 상호 작용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1">
              <a:defRPr/>
            </a:pPr>
            <a:r>
              <a:rPr lang="ko-KR" altLang="en-US" sz="2000"/>
              <a:t>정부 정책은 에너지 가격</a:t>
            </a:r>
            <a:r>
              <a:rPr lang="en-US" altLang="ko-KR" sz="2000"/>
              <a:t>,</a:t>
            </a:r>
            <a:r>
              <a:rPr lang="ko-KR" altLang="en-US" sz="2000"/>
              <a:t> 시장 행태</a:t>
            </a:r>
            <a:r>
              <a:rPr lang="en-US" altLang="ko-KR" sz="2000"/>
              <a:t>,</a:t>
            </a:r>
            <a:r>
              <a:rPr lang="ko-KR" altLang="en-US" sz="2000"/>
              <a:t> 그리고 자원 배분에 중대한 영향을 미침</a:t>
            </a:r>
          </a:p>
          <a:p>
            <a:pPr lvl="2">
              <a:defRPr/>
            </a:pPr>
            <a:r>
              <a:rPr lang="ko-KR" altLang="en-US"/>
              <a:t>에너지 보조금</a:t>
            </a:r>
            <a:r>
              <a:rPr lang="en-US" altLang="ko-KR"/>
              <a:t>,</a:t>
            </a:r>
            <a:r>
              <a:rPr lang="ko-KR" altLang="en-US"/>
              <a:t> 탄소세</a:t>
            </a:r>
            <a:r>
              <a:rPr lang="en-US" altLang="ko-KR"/>
              <a:t>,</a:t>
            </a:r>
            <a:r>
              <a:rPr lang="ko-KR" altLang="en-US"/>
              <a:t> 배출권거래제</a:t>
            </a:r>
          </a:p>
          <a:p>
            <a:pPr lvl="2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 sz="2400"/>
              <a:t>에너지와 환경의 상호 작용</a:t>
            </a:r>
          </a:p>
          <a:p>
            <a:pPr lvl="1">
              <a:defRPr/>
            </a:pPr>
            <a:r>
              <a:rPr lang="ko-KR" altLang="en-US" sz="2000"/>
              <a:t>화석연료와 같은 에너지 소비는 환경오염과 온실가스 배출</a:t>
            </a:r>
            <a:r>
              <a:rPr lang="en-US" altLang="ko-KR" sz="2000"/>
              <a:t>,</a:t>
            </a:r>
            <a:r>
              <a:rPr lang="ko-KR" altLang="en-US" sz="2000"/>
              <a:t> 기후변화의 주요 요인</a:t>
            </a:r>
          </a:p>
          <a:p>
            <a:pPr lvl="2">
              <a:lnSpc>
                <a:spcPct val="90000"/>
              </a:lnSpc>
              <a:defRPr/>
            </a:pPr>
            <a:r>
              <a:rPr lang="ko-KR" altLang="en-US"/>
              <a:t>이산화탄소</a:t>
            </a:r>
            <a:r>
              <a:rPr lang="en-US" altLang="ko-KR"/>
              <a:t>(CO</a:t>
            </a:r>
            <a:r>
              <a:rPr lang="en-US" altLang="ko-KR" baseline="-24000">
                <a:solidFill>
                  <a:schemeClr val="tx1"/>
                </a:solidFill>
              </a:rPr>
              <a:t>2</a:t>
            </a:r>
            <a:r>
              <a:rPr lang="en-US" altLang="ko-KR"/>
              <a:t>),</a:t>
            </a:r>
            <a:r>
              <a:rPr lang="ko-KR" altLang="en-US"/>
              <a:t> 메탄</a:t>
            </a:r>
            <a:r>
              <a:rPr lang="en-US" altLang="ko-KR"/>
              <a:t>(CH</a:t>
            </a:r>
            <a:r>
              <a:rPr lang="en-US" altLang="ko-KR" baseline="-24000">
                <a:solidFill>
                  <a:schemeClr val="tx1"/>
                </a:solidFill>
              </a:rPr>
              <a:t>4</a:t>
            </a:r>
            <a:r>
              <a:rPr lang="en-US" altLang="ko-KR"/>
              <a:t>),</a:t>
            </a:r>
            <a:r>
              <a:rPr lang="ko-KR" altLang="en-US"/>
              <a:t> 이산화질소</a:t>
            </a:r>
            <a:r>
              <a:rPr lang="en-US" altLang="ko-KR"/>
              <a:t>(NO</a:t>
            </a:r>
            <a:r>
              <a:rPr lang="en-US" altLang="ko-KR" baseline="-24000">
                <a:solidFill>
                  <a:schemeClr val="tx1"/>
                </a:solidFill>
              </a:rPr>
              <a:t>2</a:t>
            </a:r>
            <a:r>
              <a:rPr lang="en-US" altLang="ko-KR"/>
              <a:t>)</a:t>
            </a:r>
            <a:r>
              <a:rPr lang="ko-KR" altLang="en-US"/>
              <a:t>는 지구온난화에 기여</a:t>
            </a:r>
          </a:p>
          <a:p>
            <a:pPr lvl="2">
              <a:defRPr/>
            </a:pPr>
            <a:r>
              <a:rPr lang="ko-KR" altLang="en-US"/>
              <a:t>미세먼지</a:t>
            </a:r>
            <a:r>
              <a:rPr lang="en-US" altLang="ko-KR"/>
              <a:t>(PM2.5),</a:t>
            </a:r>
            <a:r>
              <a:rPr lang="ko-KR" altLang="en-US"/>
              <a:t> 황산화물</a:t>
            </a:r>
            <a:r>
              <a:rPr lang="en-US" altLang="ko-KR"/>
              <a:t>(SOx),</a:t>
            </a:r>
            <a:r>
              <a:rPr lang="ko-KR" altLang="en-US"/>
              <a:t> 질소산화물</a:t>
            </a:r>
            <a:r>
              <a:rPr lang="en-US" altLang="ko-KR"/>
              <a:t>(NOx)</a:t>
            </a:r>
            <a:r>
              <a:rPr lang="ko-KR" altLang="en-US"/>
              <a:t>은 대기의 질 악화</a:t>
            </a:r>
            <a:r>
              <a:rPr lang="en-US" altLang="ko-KR"/>
              <a:t>,</a:t>
            </a:r>
            <a:r>
              <a:rPr lang="ko-KR" altLang="en-US"/>
              <a:t> 건강 악화 초래</a:t>
            </a:r>
          </a:p>
          <a:p>
            <a:pPr lvl="2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 sz="2000"/>
              <a:t>지속가능한 발전을 위해서는 무탄소 에너지원의 사용을 확대하고 에너지 효율을 개선하는 것이 필요</a:t>
            </a:r>
          </a:p>
          <a:p>
            <a:pPr lvl="2">
              <a:defRPr/>
            </a:pPr>
            <a:r>
              <a:rPr lang="ko-KR" altLang="en-US" sz="2000"/>
              <a:t>재생에너지의 사용은 에너지 생산과 소비에 의한 환경 족적을 줄여나가는데 기여</a:t>
            </a:r>
          </a:p>
          <a:p>
            <a:pPr lvl="2">
              <a:defRPr/>
            </a:pPr>
            <a:r>
              <a:rPr lang="ko-KR" altLang="en-US" sz="2000"/>
              <a:t>에너지 효율성을 높이는 것은 경제성장을 유지하면서 환경피해를 최소화시키는 중요한 전략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185061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3.</a:t>
            </a:r>
            <a:r>
              <a:rPr lang="ko-KR" altLang="en-US" sz="3400"/>
              <a:t> 에너지 경제학의 정의 및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/>
              <a:t>에너지 경제학은 에너지의 생산</a:t>
            </a:r>
            <a:r>
              <a:rPr lang="en-US" altLang="ko-KR" sz="2000"/>
              <a:t>,</a:t>
            </a:r>
            <a:r>
              <a:rPr lang="ko-KR" altLang="en-US" sz="2000"/>
              <a:t> 분배 그리고 소비 등 에너지 자원의 경제적 측면의 문제들을 분석하는 분야임</a:t>
            </a:r>
          </a:p>
          <a:p>
            <a:pPr lvl="1">
              <a:defRPr/>
            </a:pPr>
            <a:r>
              <a:rPr lang="ko-KR" altLang="en-US" sz="2000"/>
              <a:t>에너지 경제학의 주요 목표는 에너지 자원의 효율적 이용과 시장에서의 배분</a:t>
            </a:r>
            <a:r>
              <a:rPr lang="en-US" altLang="ko-KR" sz="2000"/>
              <a:t>,</a:t>
            </a:r>
            <a:r>
              <a:rPr lang="ko-KR" altLang="en-US" sz="2000"/>
              <a:t> 에너지 정책의 영향</a:t>
            </a:r>
            <a:r>
              <a:rPr lang="en-US" altLang="ko-KR" sz="2000"/>
              <a:t>,</a:t>
            </a:r>
            <a:r>
              <a:rPr lang="ko-KR" altLang="en-US" sz="2000"/>
              <a:t> 에너지와 환경의 상호 작용을 분석</a:t>
            </a:r>
          </a:p>
          <a:p>
            <a:pPr lvl="1">
              <a:defRPr/>
            </a:pPr>
            <a:r>
              <a:rPr lang="ko-KR" altLang="en-US" sz="2000"/>
              <a:t>에너지 경제학의 분석 대상은 전력</a:t>
            </a:r>
            <a:r>
              <a:rPr lang="en-US" altLang="ko-KR" sz="2000"/>
              <a:t>,</a:t>
            </a:r>
            <a:r>
              <a:rPr lang="ko-KR" altLang="en-US" sz="2000"/>
              <a:t> 석유</a:t>
            </a:r>
            <a:r>
              <a:rPr lang="en-US" altLang="ko-KR" sz="2000"/>
              <a:t>,</a:t>
            </a:r>
            <a:r>
              <a:rPr lang="ko-KR" altLang="en-US" sz="2000"/>
              <a:t> 천연가스</a:t>
            </a:r>
            <a:r>
              <a:rPr lang="en-US" altLang="ko-KR" sz="2000"/>
              <a:t>,</a:t>
            </a:r>
            <a:r>
              <a:rPr lang="ko-KR" altLang="en-US" sz="2000"/>
              <a:t> 석탄</a:t>
            </a:r>
            <a:r>
              <a:rPr lang="en-US" altLang="ko-KR" sz="2000"/>
              <a:t>,</a:t>
            </a:r>
            <a:r>
              <a:rPr lang="ko-KR" altLang="en-US" sz="2000"/>
              <a:t> 재생에너지 등 주요 에너지원 포괄</a:t>
            </a:r>
            <a:r>
              <a:rPr lang="en-US" altLang="ko-KR" sz="2000"/>
              <a:t>.</a:t>
            </a:r>
            <a:r>
              <a:rPr lang="ko-KR" altLang="en-US" sz="2000"/>
              <a:t> 각 에너지원의 물리적 특성과 시장구조</a:t>
            </a:r>
            <a:r>
              <a:rPr lang="en-US" altLang="ko-KR" sz="2000"/>
              <a:t>,</a:t>
            </a:r>
            <a:r>
              <a:rPr lang="ko-KR" altLang="en-US" sz="2000"/>
              <a:t> 가격 결정 메카니즘</a:t>
            </a:r>
            <a:r>
              <a:rPr lang="en-US" altLang="ko-KR" sz="2000"/>
              <a:t>,</a:t>
            </a:r>
            <a:r>
              <a:rPr lang="ko-KR" altLang="en-US" sz="2000"/>
              <a:t> 정책 도구 등을 이해하는 것</a:t>
            </a:r>
          </a:p>
          <a:p>
            <a:pPr lvl="1">
              <a:defRPr/>
            </a:pPr>
            <a:r>
              <a:rPr lang="ko-KR" altLang="en-US" sz="2000"/>
              <a:t>에너지 경제학은 에너지가 경제성장</a:t>
            </a:r>
            <a:r>
              <a:rPr lang="en-US" altLang="ko-KR" sz="2000"/>
              <a:t>,</a:t>
            </a:r>
            <a:r>
              <a:rPr lang="ko-KR" altLang="en-US" sz="2000"/>
              <a:t> 환경보호</a:t>
            </a:r>
            <a:r>
              <a:rPr lang="en-US" altLang="ko-KR" sz="2000"/>
              <a:t>,</a:t>
            </a:r>
            <a:r>
              <a:rPr lang="ko-KR" altLang="en-US" sz="2000"/>
              <a:t> 그리고 사회적 후생에 미치는 영향을 분석하여 정책 제시</a:t>
            </a:r>
          </a:p>
          <a:p>
            <a:pPr lvl="1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 에너지 경제학은 다양한 범위를 분석대상으로 다루고 있음</a:t>
            </a:r>
          </a:p>
          <a:p>
            <a:pPr lvl="1">
              <a:defRPr/>
            </a:pPr>
            <a:r>
              <a:rPr lang="ko-KR" altLang="en-US" sz="2000"/>
              <a:t>에너지의 수요와 공급의 결정 요인과 에너지 시장의 성과</a:t>
            </a:r>
          </a:p>
          <a:p>
            <a:pPr lvl="1">
              <a:defRPr/>
            </a:pPr>
            <a:r>
              <a:rPr lang="ko-KR" altLang="en-US" sz="2000"/>
              <a:t>에너지 소비와 환경의 상호작용</a:t>
            </a:r>
          </a:p>
          <a:p>
            <a:pPr lvl="1">
              <a:defRPr/>
            </a:pPr>
            <a:r>
              <a:rPr lang="ko-KR" altLang="en-US" sz="2000"/>
              <a:t>에너지 정책과 규제 분야</a:t>
            </a:r>
          </a:p>
          <a:p>
            <a:pPr lvl="1">
              <a:defRPr/>
            </a:pPr>
            <a:r>
              <a:rPr lang="ko-KR" altLang="en-US" sz="2000"/>
              <a:t>국제협력과 에너지 안보</a:t>
            </a: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202323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경제학의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경제학은 실증분석과 규범분석의 분석틀을 동시에 제공</a:t>
            </a: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실증분석은 실제 에너지 시장의 현상</a:t>
            </a:r>
            <a:r>
              <a:rPr lang="en-US" altLang="ko-KR" sz="2000"/>
              <a:t>(what is), </a:t>
            </a:r>
            <a:r>
              <a:rPr lang="ko-KR" altLang="en-US" sz="2000"/>
              <a:t>즉</a:t>
            </a:r>
            <a:r>
              <a:rPr lang="en-US" altLang="ko-KR" sz="2000"/>
              <a:t> </a:t>
            </a:r>
            <a:r>
              <a:rPr lang="ko-KR" altLang="en-US" sz="2000"/>
              <a:t>에너지 사용의 결정 요인을 분석</a:t>
            </a:r>
          </a:p>
          <a:p>
            <a:pPr lvl="2">
              <a:defRPr/>
            </a:pPr>
            <a:r>
              <a:rPr lang="ko-KR" altLang="en-US" sz="2000"/>
              <a:t>석유 시장의 균형 가격과 수량의 결정</a:t>
            </a:r>
          </a:p>
          <a:p>
            <a:pPr lvl="1">
              <a:defRPr/>
            </a:pPr>
            <a:r>
              <a:rPr lang="ko-KR" altLang="en-US" sz="2000"/>
              <a:t>규범분석은 에너지 이용의 적정성</a:t>
            </a:r>
            <a:r>
              <a:rPr lang="en-US" altLang="ko-KR" sz="2000"/>
              <a:t>(what should be)</a:t>
            </a:r>
            <a:r>
              <a:rPr lang="ko-KR" altLang="en-US" sz="2000"/>
              <a:t>을</a:t>
            </a:r>
            <a:r>
              <a:rPr lang="en-US" altLang="ko-KR" sz="2000"/>
              <a:t> </a:t>
            </a:r>
            <a:r>
              <a:rPr lang="ko-KR" altLang="en-US" sz="2000"/>
              <a:t>분석</a:t>
            </a:r>
          </a:p>
          <a:p>
            <a:pPr lvl="2">
              <a:defRPr/>
            </a:pPr>
            <a:r>
              <a:rPr lang="ko-KR" altLang="en-US" sz="2000"/>
              <a:t>시장이 사회를 위해서 최선의 결과를 낳는가</a:t>
            </a:r>
            <a:r>
              <a:rPr lang="en-US" altLang="ko-KR" sz="2000"/>
              <a:t>?</a:t>
            </a:r>
          </a:p>
          <a:p>
            <a:pPr lvl="2">
              <a:defRPr/>
            </a:pPr>
            <a:r>
              <a:rPr lang="ko-KR" altLang="en-US" sz="2000"/>
              <a:t>시장실패와 정부실패</a:t>
            </a:r>
          </a:p>
          <a:p>
            <a:pPr lvl="2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정태분석과 동태분석</a:t>
            </a:r>
          </a:p>
          <a:p>
            <a:pPr lvl="1">
              <a:defRPr/>
            </a:pPr>
            <a:r>
              <a:rPr lang="ko-KR" altLang="en-US" sz="2000"/>
              <a:t>정태분석은 주어진 시점에서의 에너지 시장 효율성을 분석</a:t>
            </a:r>
          </a:p>
          <a:p>
            <a:pPr lvl="2">
              <a:defRPr/>
            </a:pPr>
            <a:r>
              <a:rPr lang="ko-KR" altLang="en-US" sz="2000"/>
              <a:t>외부효과와 시장 실패</a:t>
            </a:r>
          </a:p>
          <a:p>
            <a:pPr lvl="1">
              <a:defRPr/>
            </a:pPr>
            <a:r>
              <a:rPr lang="ko-KR" altLang="en-US" sz="2000"/>
              <a:t>통태분석은 시간에 걸친 자원배분의 문제를 분석</a:t>
            </a:r>
          </a:p>
          <a:p>
            <a:pPr lvl="2">
              <a:defRPr/>
            </a:pPr>
            <a:r>
              <a:rPr lang="ko-KR" altLang="en-US" sz="2000"/>
              <a:t>호텔링</a:t>
            </a:r>
            <a:r>
              <a:rPr lang="en-US" altLang="ko-KR" sz="2000"/>
              <a:t>(Hotelling) </a:t>
            </a:r>
            <a:r>
              <a:rPr lang="ko-KR" altLang="en-US" sz="2000"/>
              <a:t>모형</a:t>
            </a:r>
          </a:p>
          <a:p>
            <a:pPr lvl="1">
              <a:defRPr/>
            </a:pP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320317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경제학의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에너지 경제학은 효율성</a:t>
            </a:r>
            <a:r>
              <a:rPr lang="en-US" altLang="ko-KR" sz="2000"/>
              <a:t>,</a:t>
            </a:r>
            <a:r>
              <a:rPr lang="ko-KR" altLang="en-US" sz="2000"/>
              <a:t> 형평성의 분석 틀 제공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일반적으로 사회후생함수는 효율성과 형평성을 동시에 고려</a:t>
            </a:r>
          </a:p>
          <a:p>
            <a:pPr lvl="2">
              <a:defRPr/>
            </a:pPr>
            <a:r>
              <a:rPr lang="ko-KR" altLang="en-US" sz="2000"/>
              <a:t>개별 구성원들의 효용에 동일한 가중치를 고려한다면 사회후생 함수의 극대화는 개별 구성원들 효용의 합을 극대화하는 공리주의 원칙을 따르게 됨</a:t>
            </a:r>
          </a:p>
          <a:p>
            <a:pPr lvl="2">
              <a:defRPr/>
            </a:pPr>
            <a:endParaRPr lang="ko-KR" altLang="en-US" sz="2000"/>
          </a:p>
          <a:p>
            <a:pPr lvl="2">
              <a:defRPr/>
            </a:pPr>
            <a:r>
              <a:rPr lang="ko-KR" altLang="en-US" sz="2000"/>
              <a:t>형평성을 고려한다면 서로 다른 구성원들에게 다른 가중치를 부여</a:t>
            </a:r>
          </a:p>
          <a:p>
            <a:pPr lvl="3">
              <a:defRPr/>
            </a:pPr>
            <a:r>
              <a:rPr lang="en-US" altLang="ko-KR" sz="2000"/>
              <a:t>Rawls(1971)</a:t>
            </a:r>
            <a:r>
              <a:rPr lang="ko-KR" altLang="en-US" sz="2000"/>
              <a:t>의</a:t>
            </a:r>
            <a:r>
              <a:rPr lang="en-US" altLang="ko-KR" sz="2000"/>
              <a:t> </a:t>
            </a:r>
            <a:r>
              <a:rPr lang="ko-KR" altLang="en-US" sz="2000"/>
              <a:t>최소수혜자</a:t>
            </a:r>
            <a:r>
              <a:rPr lang="en-US" altLang="ko-KR" sz="2000"/>
              <a:t>(maximin)</a:t>
            </a:r>
            <a:r>
              <a:rPr lang="ko-KR" altLang="en-US" sz="2000"/>
              <a:t>원칙은 사회제도가 가장 불리한 처지에 있는 사람들의 여건을 개선하는 방향으로 설계되어 한다고 주장</a:t>
            </a:r>
          </a:p>
          <a:p>
            <a:pPr lvl="3">
              <a:defRPr/>
            </a:pPr>
            <a:endParaRPr lang="ko-KR" altLang="en-US" sz="2000"/>
          </a:p>
          <a:p>
            <a:pPr lvl="2">
              <a:defRPr/>
            </a:pPr>
            <a:r>
              <a:rPr lang="ko-KR" altLang="en-US" sz="2000"/>
              <a:t>사회목적 함수를 극대화하기 위한 방법에는 무수한 해가 존재</a:t>
            </a:r>
          </a:p>
          <a:p>
            <a:pPr lvl="3">
              <a:defRPr/>
            </a:pPr>
            <a:r>
              <a:rPr lang="ko-KR" altLang="en-US" sz="2000"/>
              <a:t>형평성을 고려하지 않는다면 비용</a:t>
            </a:r>
            <a:r>
              <a:rPr lang="en-US" altLang="ko-KR" sz="2000"/>
              <a:t>-</a:t>
            </a:r>
            <a:r>
              <a:rPr lang="ko-KR" altLang="en-US" sz="2000"/>
              <a:t>편익 분석에서와 같이 순편익을 극대화하도록 자원을 배분</a:t>
            </a:r>
          </a:p>
          <a:p>
            <a:pPr lvl="2">
              <a:defRPr/>
            </a:pPr>
            <a:endParaRPr lang="ko-KR" altLang="en-US" sz="2000"/>
          </a:p>
          <a:p>
            <a:pPr lvl="2">
              <a:defRPr/>
            </a:pP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90326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경제학의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lvl="0">
              <a:defRPr/>
            </a:pPr>
            <a:r>
              <a:rPr lang="ko-KR" altLang="en-US" sz="2000"/>
              <a:t>사회후생 분석의 기준들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파레토 개선</a:t>
            </a:r>
            <a:r>
              <a:rPr lang="en-US" altLang="ko-KR" sz="2000"/>
              <a:t>(Pareto Improvement)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자원배분이 최소한 특정 집단의 후생 감소 없이 다른 집단의 후생을 개선할 수 있다면 사회적으로 바람직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정치적</a:t>
            </a:r>
            <a:r>
              <a:rPr lang="en-US" altLang="ko-KR" sz="2000">
                <a:solidFill>
                  <a:schemeClr val="tx1"/>
                </a:solidFill>
              </a:rPr>
              <a:t>·</a:t>
            </a:r>
            <a:r>
              <a:rPr lang="ko-KR" altLang="en-US" sz="2000">
                <a:solidFill>
                  <a:schemeClr val="tx1"/>
                </a:solidFill>
              </a:rPr>
              <a:t>사회적으로 갈등을 줄이는데 도움을 주지만 반드시 공정성을 개선시킨다고는 할 수 없음</a:t>
            </a:r>
          </a:p>
          <a:p>
            <a:pPr lvl="3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특정 집단을 희생함으로써 사회 전체의 후생을 증대시킬 수 있는 정책을 펼 수 없음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힉스</a:t>
            </a:r>
            <a:r>
              <a:rPr lang="en-US" altLang="ko-KR" sz="2000"/>
              <a:t>-</a:t>
            </a:r>
            <a:r>
              <a:rPr lang="ko-KR" altLang="en-US" sz="2000"/>
              <a:t>칼도 조건</a:t>
            </a:r>
            <a:r>
              <a:rPr lang="en-US" altLang="ko-KR" sz="2000"/>
              <a:t>(Hicks-Kaldo condition)</a:t>
            </a:r>
          </a:p>
          <a:p>
            <a:pPr lvl="2">
              <a:defRPr/>
            </a:pPr>
            <a:r>
              <a:rPr lang="ko-KR" altLang="en-US" sz="2000"/>
              <a:t>어떤 경제적 변화가 승자들이 패자들에게 충분히 보상을 해줄 수 있을 정도로 크다면 그 변화는 바람직 함</a:t>
            </a:r>
          </a:p>
          <a:p>
            <a:pPr lvl="3">
              <a:defRPr/>
            </a:pPr>
            <a:r>
              <a:rPr lang="ko-KR" altLang="en-US" sz="2000"/>
              <a:t>보상이 실제도 이루어 지지 않더라도 이론적으로 가능하다면 바람직 </a:t>
            </a:r>
          </a:p>
          <a:p>
            <a:pPr lvl="2">
              <a:defRPr/>
            </a:pPr>
            <a:endParaRPr lang="ko-KR" altLang="en-US" sz="2000"/>
          </a:p>
          <a:p>
            <a:pPr lvl="2">
              <a:defRPr/>
            </a:pP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212274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경제학의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에너지 경제학은 효율성</a:t>
            </a:r>
            <a:r>
              <a:rPr lang="en-US" altLang="ko-KR" sz="2000"/>
              <a:t>,</a:t>
            </a:r>
            <a:r>
              <a:rPr lang="ko-KR" altLang="en-US" sz="2000"/>
              <a:t> 형평성 뿐만 아니라 지속가능성에 대한 분석 틀 제공</a:t>
            </a:r>
          </a:p>
          <a:p>
            <a:pPr lvl="1">
              <a:defRPr/>
            </a:pPr>
            <a:endParaRPr lang="ko-KR" altLang="en-US" sz="2000"/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지속가능성을 강한 지속가능성</a:t>
            </a:r>
            <a:r>
              <a:rPr lang="en-US" altLang="ko-KR" sz="2000">
                <a:solidFill>
                  <a:schemeClr val="tx1"/>
                </a:solidFill>
              </a:rPr>
              <a:t>(strong sustainability)</a:t>
            </a:r>
            <a:r>
              <a:rPr lang="ko-KR" altLang="en-US" sz="2000">
                <a:solidFill>
                  <a:schemeClr val="tx1"/>
                </a:solidFill>
              </a:rPr>
              <a:t>와 약한 지속가능성</a:t>
            </a:r>
            <a:r>
              <a:rPr lang="en-US" altLang="ko-KR" sz="2000">
                <a:solidFill>
                  <a:schemeClr val="tx1"/>
                </a:solidFill>
              </a:rPr>
              <a:t>(weak sustainability)</a:t>
            </a:r>
            <a:r>
              <a:rPr lang="ko-KR" altLang="en-US" sz="2000">
                <a:solidFill>
                  <a:schemeClr val="tx1"/>
                </a:solidFill>
              </a:rPr>
              <a:t>로 구분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강한 지속가능성은 생태서비스 등의 자연자원은 대체할 수 없으며 미래세대도 현제세대와 동일한 수준의 자연 자원 서비스를 누려야 한다고 주장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약한 지속가능성은 </a:t>
            </a:r>
            <a:r>
              <a:rPr lang="en-US" altLang="ko-KR" sz="2000">
                <a:solidFill>
                  <a:schemeClr val="tx1"/>
                </a:solidFill>
              </a:rPr>
              <a:t>Solow(1991)</a:t>
            </a:r>
            <a:r>
              <a:rPr lang="ko-KR" altLang="en-US" sz="2000">
                <a:solidFill>
                  <a:schemeClr val="tx1"/>
                </a:solidFill>
              </a:rPr>
              <a:t>등에 의하여 주장되는 견해로</a:t>
            </a:r>
            <a:r>
              <a:rPr lang="en-US" altLang="ko-KR" sz="2000">
                <a:solidFill>
                  <a:schemeClr val="tx1"/>
                </a:solidFill>
              </a:rPr>
              <a:t>,</a:t>
            </a:r>
            <a:r>
              <a:rPr lang="ko-KR" altLang="en-US" sz="2000">
                <a:solidFill>
                  <a:schemeClr val="tx1"/>
                </a:solidFill>
              </a:rPr>
              <a:t> 동일한 수준의 자원 서비스를 미래 세대에게 보장하기 보다 미래 세대가 현재 세대와 비교해서 최소한 동일한 수준의 후생을 누리는 능력을 보장해야 한다는 견해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3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277949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경제학의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에너지 지속가능성은 현재 세대와 미래 세대 간 형평성의 문제</a:t>
            </a:r>
          </a:p>
          <a:p>
            <a:pPr lvl="1">
              <a:defRPr/>
            </a:pPr>
            <a:endParaRPr lang="ko-KR" altLang="en-US" sz="2000"/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현재 세대가 친환경 에너지 정책을 적극적으로 추진하지 않으면 미래 세대가 더 큰 비용 지불</a:t>
            </a:r>
          </a:p>
          <a:p>
            <a:pPr marL="1143000"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화석연료 의존도를 줄이고 미래 세대도 지속적으로 에너지를 활용할 수 있도록 보장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온실가스 배출에 대한 비용을 현재 세대가 부담하도록 함으로써 미래 세대의 부담을 줄여줌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현재 세대가 에너지 소비 패턴을 바꾸고 친환경 기술에 투자하는 노력이 없다면 미래세대는 더 높은 비용 지불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3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360160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이 책의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lvl="0">
              <a:defRPr/>
            </a:pPr>
            <a:r>
              <a:rPr lang="ko-KR" altLang="en-US" sz="2000"/>
              <a:t>이 책은 총 네 개의 부분으루 구성</a:t>
            </a:r>
          </a:p>
          <a:p>
            <a:pPr lvl="1">
              <a:defRPr/>
            </a:pPr>
            <a:endParaRPr lang="ko-KR" altLang="en-US" sz="2000"/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제</a:t>
            </a:r>
            <a:r>
              <a:rPr lang="en-US" altLang="ko-KR" sz="2000">
                <a:solidFill>
                  <a:schemeClr val="tx1"/>
                </a:solidFill>
              </a:rPr>
              <a:t>1</a:t>
            </a:r>
            <a:r>
              <a:rPr lang="ko-KR" altLang="en-US" sz="2000">
                <a:solidFill>
                  <a:schemeClr val="tx1"/>
                </a:solidFill>
              </a:rPr>
              <a:t>부는 에너지 시장의 기초이론을 다룸</a:t>
            </a:r>
          </a:p>
          <a:p>
            <a:pPr marL="1143000"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에너지 시장의 수요와 공급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에너지 자원의 시간에 걸친 적정 배분 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시장구조와 에너지 시장</a:t>
            </a:r>
          </a:p>
          <a:p>
            <a:pPr lvl="2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</a:t>
            </a:r>
            <a:r>
              <a:rPr kumimoji="0" lang="en-US" altLang="ko-KR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부는 전통에너지와 재생에너지를 다룸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석유 시장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천연가스 시장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석탄 시장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원자력에너지</a:t>
            </a:r>
          </a:p>
          <a:p>
            <a:pPr lvl="2">
              <a:lnSpc>
                <a:spcPts val="2402"/>
              </a:lnSpc>
              <a:defRPr/>
            </a:pPr>
            <a:r>
              <a:rPr kumimoji="0" lang="ko-KR" altLang="en-US" sz="2000" b="0" i="0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재생에너지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3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172130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이 책의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이 책은 총 네개 부문으로 구성</a:t>
            </a:r>
          </a:p>
          <a:p>
            <a:pPr lvl="1">
              <a:defRPr/>
            </a:pPr>
            <a:endParaRPr lang="ko-KR" altLang="en-US" sz="2000"/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제</a:t>
            </a:r>
            <a:r>
              <a:rPr lang="en-US" altLang="ko-KR" sz="2000">
                <a:solidFill>
                  <a:schemeClr val="tx1"/>
                </a:solidFill>
              </a:rPr>
              <a:t>3</a:t>
            </a:r>
            <a:r>
              <a:rPr lang="ko-KR" altLang="en-US" sz="2000">
                <a:solidFill>
                  <a:schemeClr val="tx1"/>
                </a:solidFill>
              </a:rPr>
              <a:t>부는 전력시장을 다룸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전력 시장의 기초 이론</a:t>
            </a:r>
          </a:p>
          <a:p>
            <a:pPr marL="1143000"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전력시장의 규제</a:t>
            </a:r>
          </a:p>
          <a:p>
            <a:pPr marL="1143000"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전력시장의 탈규제와 구조개혁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제</a:t>
            </a:r>
            <a:r>
              <a:rPr lang="en-US" altLang="ko-KR" sz="2000">
                <a:solidFill>
                  <a:schemeClr val="tx1"/>
                </a:solidFill>
              </a:rPr>
              <a:t>4</a:t>
            </a:r>
            <a:r>
              <a:rPr lang="ko-KR" altLang="en-US" sz="2000">
                <a:solidFill>
                  <a:schemeClr val="tx1"/>
                </a:solidFill>
              </a:rPr>
              <a:t>부는 에너지 정책을 다름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에너지 효율성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에너지 안보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에너지와 기후변화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에너지와 지속가능성</a:t>
            </a:r>
          </a:p>
          <a:p>
            <a:pPr lvl="3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제1장</a:t>
            </a:r>
          </a:p>
        </p:txBody>
      </p:sp>
    </p:spTree>
    <p:extLst>
      <p:ext uri="{BB962C8B-B14F-4D97-AF65-F5344CB8AC3E}">
        <p14:creationId xmlns:p14="http://schemas.microsoft.com/office/powerpoint/2010/main" val="380098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rgbClr val="E1E1E1"/>
          </a:solidFill>
        </a:ln>
        <a:effectLst>
          <a:outerShdw blurRad="50800" dist="38100" dir="2700000" algn="tl" rotWithShape="0">
            <a:schemeClr val="bg1">
              <a:lumMod val="85000"/>
              <a:alpha val="50000"/>
            </a:schemeClr>
          </a:outerShdw>
        </a:effectLst>
      </a:spPr>
      <a:bodyPr anchor="ctr"/>
      <a:lstStyle>
        <a:defPPr marL="0" marR="0" lvl="0" indent="0" algn="ctr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lang="en-US" sz="1800" b="0" i="0" u="none" strike="noStrike" kern="1200" cap="none" spc="0" normalizeH="0" baseline="0">
            <a:solidFill>
              <a:prstClr val="white"/>
            </a:solidFill>
            <a:effectLst/>
            <a:uLnTx/>
            <a:uFillTx/>
            <a:latin typeface="Calibri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와이드스크린</PresentationFormat>
  <Paragraphs>176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나눔스퀘어 네오 OTF Heavy</vt:lpstr>
      <vt:lpstr>맑은 고딕</vt:lpstr>
      <vt:lpstr>Arial</vt:lpstr>
      <vt:lpstr>Calibri</vt:lpstr>
      <vt:lpstr>Office 테마</vt:lpstr>
      <vt:lpstr>PowerPoint 프레젠테이션</vt:lpstr>
      <vt:lpstr>제1장 에너지 경제학 서론 </vt:lpstr>
      <vt:lpstr>1. 에너지의 역사</vt:lpstr>
      <vt:lpstr>1. 에너지의 역사</vt:lpstr>
      <vt:lpstr>2. 에너지와 경제의 상호 작용</vt:lpstr>
      <vt:lpstr>2. 에너지와 경제의 상호 작용</vt:lpstr>
      <vt:lpstr>3. 에너지 경제학의 정의 및 범위</vt:lpstr>
      <vt:lpstr>4. 에너지 경제학의 방법</vt:lpstr>
      <vt:lpstr>4. 에너지 경제학의 방법</vt:lpstr>
      <vt:lpstr>4. 에너지 경제학의 방법</vt:lpstr>
      <vt:lpstr>4. 에너지 경제학의 방법</vt:lpstr>
      <vt:lpstr>4. 에너지 경제학의 방법</vt:lpstr>
      <vt:lpstr>5. 이 책의 구성</vt:lpstr>
      <vt:lpstr>5. 이 책의 구성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제1장 에너지 경제학 서론 </dc:title>
  <cp:lastModifiedBy>장 규식</cp:lastModifiedBy>
  <cp:revision>144</cp:revision>
  <dcterms:created xsi:type="dcterms:W3CDTF">2026-01-05T00:34:13Z</dcterms:created>
  <dcterms:modified xsi:type="dcterms:W3CDTF">2026-02-25T21:43:41Z</dcterms:modified>
  <cp:version/>
</cp:coreProperties>
</file>