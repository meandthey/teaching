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78" r:id="rId2"/>
    <p:sldId id="257" r:id="rId3"/>
    <p:sldId id="258" r:id="rId4"/>
    <p:sldId id="476" r:id="rId5"/>
    <p:sldId id="439" r:id="rId6"/>
    <p:sldId id="477" r:id="rId7"/>
    <p:sldId id="473" r:id="rId8"/>
    <p:sldId id="479" r:id="rId9"/>
    <p:sldId id="481" r:id="rId10"/>
    <p:sldId id="480" r:id="rId11"/>
    <p:sldId id="482" r:id="rId12"/>
    <p:sldId id="475" r:id="rId13"/>
    <p:sldId id="484" r:id="rId14"/>
    <p:sldId id="485" r:id="rId15"/>
    <p:sldId id="486" r:id="rId16"/>
    <p:sldId id="487" r:id="rId17"/>
    <p:sldId id="488" r:id="rId18"/>
    <p:sldId id="489" r:id="rId19"/>
    <p:sldId id="490" r:id="rId20"/>
    <p:sldId id="491" r:id="rId21"/>
    <p:sldId id="492" r:id="rId22"/>
    <p:sldId id="493" r:id="rId23"/>
    <p:sldId id="494" r:id="rId24"/>
    <p:sldId id="495" r:id="rId25"/>
    <p:sldId id="496" r:id="rId26"/>
    <p:sldId id="497" r:id="rId27"/>
    <p:sldId id="498" r:id="rId28"/>
    <p:sldId id="499" r:id="rId29"/>
    <p:sldId id="500" r:id="rId30"/>
    <p:sldId id="501" r:id="rId31"/>
    <p:sldId id="502" r:id="rId32"/>
    <p:sldId id="503" r:id="rId33"/>
    <p:sldId id="507" r:id="rId34"/>
    <p:sldId id="504" r:id="rId35"/>
    <p:sldId id="505" r:id="rId36"/>
    <p:sldId id="50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09D46367-DDB0-4658-A75F-2DC114AB096C}"/>
    <pc:docChg chg="modSld">
      <pc:chgData name="donghun kim" userId="ea4930dfa3cfe607" providerId="LiveId" clId="{09D46367-DDB0-4658-A75F-2DC114AB096C}" dt="2026-02-25T03:53:33.885" v="19" actId="6549"/>
      <pc:docMkLst>
        <pc:docMk/>
      </pc:docMkLst>
      <pc:sldChg chg="modSp mod">
        <pc:chgData name="donghun kim" userId="ea4930dfa3cfe607" providerId="LiveId" clId="{09D46367-DDB0-4658-A75F-2DC114AB096C}" dt="2026-02-25T03:52:03.214" v="0" actId="255"/>
        <pc:sldMkLst>
          <pc:docMk/>
          <pc:sldMk cId="577451710" sldId="258"/>
        </pc:sldMkLst>
        <pc:spChg chg="mod">
          <ac:chgData name="donghun kim" userId="ea4930dfa3cfe607" providerId="LiveId" clId="{09D46367-DDB0-4658-A75F-2DC114AB096C}" dt="2026-02-25T03:52:03.214" v="0" actId="255"/>
          <ac:spMkLst>
            <pc:docMk/>
            <pc:sldMk cId="577451710" sldId="258"/>
            <ac:spMk id="3" creationId="{00000000-0000-0000-0000-000000000000}"/>
          </ac:spMkLst>
        </pc:spChg>
      </pc:sldChg>
      <pc:sldChg chg="modSp mod">
        <pc:chgData name="donghun kim" userId="ea4930dfa3cfe607" providerId="LiveId" clId="{09D46367-DDB0-4658-A75F-2DC114AB096C}" dt="2026-02-25T03:53:33.885" v="19" actId="6549"/>
        <pc:sldMkLst>
          <pc:docMk/>
          <pc:sldMk cId="2057691787" sldId="473"/>
        </pc:sldMkLst>
        <pc:spChg chg="mod">
          <ac:chgData name="donghun kim" userId="ea4930dfa3cfe607" providerId="LiveId" clId="{09D46367-DDB0-4658-A75F-2DC114AB096C}" dt="2026-02-25T03:53:33.885" v="19" actId="6549"/>
          <ac:spMkLst>
            <pc:docMk/>
            <pc:sldMk cId="2057691787" sldId="473"/>
            <ac:spMk id="3" creationId="{00000000-0000-0000-0000-000000000000}"/>
          </ac:spMkLst>
        </pc:spChg>
      </pc:sldChg>
      <pc:sldChg chg="modSp mod">
        <pc:chgData name="donghun kim" userId="ea4930dfa3cfe607" providerId="LiveId" clId="{09D46367-DDB0-4658-A75F-2DC114AB096C}" dt="2026-02-25T03:52:14.567" v="1" actId="255"/>
        <pc:sldMkLst>
          <pc:docMk/>
          <pc:sldMk cId="448505787" sldId="476"/>
        </pc:sldMkLst>
        <pc:spChg chg="mod">
          <ac:chgData name="donghun kim" userId="ea4930dfa3cfe607" providerId="LiveId" clId="{09D46367-DDB0-4658-A75F-2DC114AB096C}" dt="2026-02-25T03:52:14.567" v="1" actId="255"/>
          <ac:spMkLst>
            <pc:docMk/>
            <pc:sldMk cId="448505787" sldId="47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30723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576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5358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6589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7282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9665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83094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1276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39187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7710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50848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6840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7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81575"/>
            <a:ext cx="11830050" cy="640748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11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 전력산업의 규제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0C6A38-4290-41DD-B95C-4155372FD4AF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11. 1</a:t>
            </a:r>
            <a:r>
              <a:rPr lang="ko-KR" altLang="en-US" sz="3200" dirty="0"/>
              <a:t> 서론</a:t>
            </a:r>
            <a:r>
              <a:rPr lang="en-US" altLang="ko-KR" sz="3200" dirty="0"/>
              <a:t>:</a:t>
            </a:r>
            <a:r>
              <a:rPr lang="ko-KR" altLang="en-US" sz="3200" dirty="0"/>
              <a:t> 전력산업에서의 규제의 의미와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전력산업의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특수성</a:t>
            </a:r>
            <a:endParaRPr lang="ko-KR" altLang="en-US" sz="2000" dirty="0"/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저장이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어려워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실시간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수급균형이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계통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운영의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네트워크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산업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송·배전망은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규모의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경제와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비가분성으로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자연독점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성격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필수재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공공서비스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중단의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사회적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비용이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매우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큼.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환경·기후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외부효과가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시장가격에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충분히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반영되지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않음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정보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비대칭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비용·설비상태·품질에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대한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소비자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규제기관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정보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제약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200" dirty="0"/>
          </a:p>
          <a:p>
            <a:pPr lvl="0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endParaRPr lang="ko-KR" altLang="en-US" sz="20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11.1</a:t>
            </a:r>
            <a:r>
              <a:rPr lang="ko-KR" altLang="en-US" sz="3200" dirty="0"/>
              <a:t> 서론</a:t>
            </a:r>
            <a:r>
              <a:rPr lang="en-US" altLang="ko-KR" sz="3200" dirty="0"/>
              <a:t>:</a:t>
            </a:r>
            <a:r>
              <a:rPr lang="ko-KR" altLang="en-US" sz="3200" dirty="0"/>
              <a:t> 전력산업에서의 규제의 의미와 필요성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규제의 목표</a:t>
            </a:r>
            <a:r>
              <a:rPr lang="en-US" altLang="ko-KR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(3</a:t>
            </a:r>
            <a:r>
              <a:rPr lang="ko-KR" alt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 축</a:t>
            </a:r>
            <a:r>
              <a:rPr lang="en-US" altLang="ko-KR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효율성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절감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합리적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가격신호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과잉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과소투자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형평성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보편적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취약계층·지역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)와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접근성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보장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안정성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신뢰도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설비투자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지속가능성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현대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규제는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시장화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이후에도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공정성·소비자보호·에너지전환을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위해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진화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0">
              <a:defRPr/>
            </a:pPr>
            <a:endParaRPr lang="ko-KR" altLang="en-US" sz="2200" dirty="0"/>
          </a:p>
          <a:p>
            <a:pPr lvl="1">
              <a:buChar char="•"/>
              <a:defRPr/>
            </a:pPr>
            <a:endParaRPr lang="ko-KR" altLang="en-US" sz="2200" dirty="0"/>
          </a:p>
          <a:p>
            <a:pPr lvl="0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endParaRPr lang="ko-KR" altLang="en-US" sz="20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448505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11.2</a:t>
            </a:r>
            <a:r>
              <a:rPr lang="ko-KR" altLang="en-US" sz="3200" dirty="0"/>
              <a:t> 규제경제학의 이론적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/>
              <a:t>규제경제학의 분석 틀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규제는 시장실패 교정을 위한 제도적 장치(자연독점·외부성·정보비대칭).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전통적 “공익(public interest)” 관점: 독점의 폐해 억제 + 공공서비스 보장.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“규제포획” 관점: 규제가 산업 이해를 대변할 위험(정치·로비·정보격차).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0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현대 규제는 통제에서 설계/유도(인센티브, 성과, 데이터 기반)로 이동.</a:t>
            </a:r>
          </a:p>
          <a:p>
            <a:pPr lvl="0">
              <a:defRPr/>
            </a:pPr>
            <a:endParaRPr lang="ko-KR" altLang="en-US" sz="200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53195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en-US" altLang="ko-KR" sz="2800" dirty="0"/>
              <a:t>11.2.1 </a:t>
            </a:r>
            <a:r>
              <a:rPr lang="ko-KR" altLang="en-US" sz="2800" dirty="0"/>
              <a:t>규제의 정당성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시장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교정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독점가격·서비스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저하·투자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위험을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사회적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가치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보편적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공정성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정의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에너지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빈곤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안정성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에너지전환·탈탄소·안보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목표를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제도에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반영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혁신·경쟁질서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조정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DER·디지털·EV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속에서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“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시장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인프라”로서의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1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1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1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53875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/>
              <a:t>11.2.2 </a:t>
            </a:r>
            <a:r>
              <a:rPr lang="ko-KR" altLang="en-US" sz="3200" dirty="0"/>
              <a:t>자연독점과 고전적 규제이론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자연독점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사업자가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공급할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때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사회적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총비용이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최소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규모의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경제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22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송·배전망은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고정비가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크고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중복투자가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비효율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네트워크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비가분성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무규제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독점은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인상·품질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저하·차별적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접근을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초래할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있음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따라서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가격·접근·투자·품질을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규제하여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공공성과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동시에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추구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05769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200" dirty="0"/>
              <a:t>수익률</a:t>
            </a:r>
            <a:r>
              <a:rPr lang="en-US" altLang="ko-KR" sz="2200" dirty="0"/>
              <a:t>(rate of return) </a:t>
            </a:r>
            <a:r>
              <a:rPr lang="ko-KR" altLang="en-US" sz="2200" dirty="0"/>
              <a:t>규제의 구조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규제기관이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요금기저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)를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평가하고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허용수익률을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총수입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= 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허용수익률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×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요금기저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 +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영업비용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운영·관리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요금기저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총투자에서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누적감가상각을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차감한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순투자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자산가치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연료비조정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자동조항은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변동을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반영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52857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200" dirty="0"/>
              <a:t>평균비용 가격과 사중손실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독점은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MR=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MC에서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생산량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(QM)과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(PM)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사중손실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발생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MC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가격규제는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효율적이나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손실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발생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가능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평균비용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(AC)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손실을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막지만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P&gt;MC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잔여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사중손실이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남음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설계는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가격신호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)과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재무지속성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비용회수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)의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균형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7135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2000"/>
              <a:t> </a:t>
            </a:r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891222" y="1155472"/>
            <a:ext cx="5204778" cy="358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11-1]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평균비용 가격설정에 따른 사회적 비용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02859" y="1746132"/>
            <a:ext cx="9000743" cy="385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7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en-US" altLang="ko-KR" sz="2200" dirty="0" err="1"/>
              <a:t>Averch</a:t>
            </a:r>
            <a:r>
              <a:rPr lang="en-US" altLang="ko-KR" sz="2200" dirty="0"/>
              <a:t>-Johnson </a:t>
            </a:r>
            <a:r>
              <a:rPr lang="ko-KR" altLang="en-US" sz="2200" dirty="0"/>
              <a:t>효과와 규제포획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자본을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늘릴수록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이윤이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커지는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제공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과잉투자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자본집약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)·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부풀리기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평균비용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상승과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후생손실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확대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규제포획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(regulatory capture)은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경쟁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제한·진입억제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비효율을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초래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비대칭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하에서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“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명령·통제”만으로는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유인기반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등장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200" dirty="0"/>
          </a:p>
          <a:p>
            <a:pPr marL="400050" lvl="1" indent="0">
              <a:lnSpc>
                <a:spcPct val="115000"/>
              </a:lnSpc>
              <a:buNone/>
              <a:defRPr/>
            </a:pPr>
            <a:endParaRPr lang="en-US" sz="220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020051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765716" y="1881187"/>
            <a:ext cx="9000743" cy="4042228"/>
          </a:xfrm>
          <a:prstGeom prst="rect">
            <a:avLst/>
          </a:prstGeom>
        </p:spPr>
      </p:pic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1055686" y="1325562"/>
            <a:ext cx="4531679" cy="358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11-2]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애버취</a:t>
            </a: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-</a:t>
            </a:r>
            <a:r>
              <a: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존슨 효과에 따른 비효율</a:t>
            </a:r>
          </a:p>
        </p:txBody>
      </p:sp>
    </p:spTree>
    <p:extLst>
      <p:ext uri="{BB962C8B-B14F-4D97-AF65-F5344CB8AC3E}">
        <p14:creationId xmlns:p14="http://schemas.microsoft.com/office/powerpoint/2010/main" val="289425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538277"/>
            <a:ext cx="10972798" cy="1143000"/>
          </a:xfrm>
        </p:spPr>
        <p:txBody>
          <a:bodyPr/>
          <a:lstStyle/>
          <a:p>
            <a:pPr algn="l">
              <a:defRPr/>
            </a:pPr>
            <a:r>
              <a:rPr lang="en-US" altLang="ko-KR" sz="3200" dirty="0"/>
              <a:t>11.2.3 </a:t>
            </a:r>
            <a:r>
              <a:rPr lang="ko-KR" altLang="en-US" sz="3200" dirty="0"/>
              <a:t>정보 비대칭과 유인기반 규제</a:t>
            </a:r>
            <a:br>
              <a:rPr lang="ko-KR" altLang="en-US" sz="3200" dirty="0"/>
            </a:b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138518"/>
            <a:ext cx="10972798" cy="498764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규제기관은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사업자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품질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정보를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완전하게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관찰하기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어려움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유인기반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규제는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기준을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제시하고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성과의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일부를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사업자에게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절감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개선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혁신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촉진을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“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자발적”으로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유도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도구</a:t>
            </a:r>
            <a:r>
              <a:rPr lang="en-US" sz="20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Price-cap(RPI–X), Revenue-cap, PBR, Yardstick.</a:t>
            </a:r>
          </a:p>
          <a:p>
            <a:pPr lvl="1">
              <a:defRPr/>
            </a:pPr>
            <a:endParaRPr lang="ko-KR" altLang="en-US" sz="2200" dirty="0"/>
          </a:p>
          <a:p>
            <a:pPr marL="400050" lvl="1" indent="0">
              <a:lnSpc>
                <a:spcPct val="115000"/>
              </a:lnSpc>
              <a:buNone/>
              <a:defRPr/>
            </a:pPr>
            <a:endParaRPr lang="en-US" sz="220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42502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400" dirty="0"/>
              <a:t>가격상한 규제</a:t>
            </a:r>
            <a:r>
              <a:rPr lang="en-US" altLang="ko-KR" sz="2400" dirty="0"/>
              <a:t>(price cap </a:t>
            </a:r>
            <a:r>
              <a:rPr lang="en-US" altLang="ko-KR" sz="2400" dirty="0" err="1"/>
              <a:t>regualation</a:t>
            </a:r>
            <a:r>
              <a:rPr lang="en-US" altLang="ko-KR" sz="2400" dirty="0"/>
              <a:t>: RPI-X)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단위요금의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상한을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물가상승률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(RPI)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효율계수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(X)를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차감해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기업이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이하로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절감하면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차익을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이윤으로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X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설정·비용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급등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악화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과소투자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품질저하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가능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적정한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X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산정을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데이터·정보가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정보비대칭의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또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형태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lvl="1">
              <a:defRPr/>
            </a:pPr>
            <a:endParaRPr lang="en-US" sz="220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3315442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defRPr/>
            </a:pPr>
            <a:r>
              <a:rPr lang="ko-KR" altLang="en-US" sz="2400" dirty="0"/>
              <a:t>총요금상한제</a:t>
            </a:r>
            <a:r>
              <a:rPr lang="en-US" altLang="ko-KR" sz="2400" dirty="0"/>
              <a:t>(revenue cap </a:t>
            </a:r>
            <a:r>
              <a:rPr lang="en-US" altLang="ko-KR" sz="2400" dirty="0" err="1"/>
              <a:t>regualation</a:t>
            </a:r>
            <a:r>
              <a:rPr lang="en-US" altLang="ko-KR" sz="2400" dirty="0"/>
              <a:t>)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규제기간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총수입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(R)을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설정하고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예측수요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(Q)로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(P=R/Q)를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증가로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늘리는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줄어들어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절약·DR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정책과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판매량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확대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억제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비용절감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유연한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오차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변동성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확대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소비자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안정성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균형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altLang="ko-KR" sz="2200" dirty="0"/>
          </a:p>
          <a:p>
            <a:pPr lvl="2">
              <a:defRPr/>
            </a:pPr>
            <a:endParaRPr lang="en-US" sz="220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781167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수익공유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(Profit/Revenue Sharing)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기준수익률을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초과한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초과이익의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일부를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소비자에게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환원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인하·리베이트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등)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기업에게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절감·운영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제공하면서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정당성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수용성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)을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강화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Price-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cap의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경직성을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공유를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통한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사회적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수용성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회계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기준·정보비대칭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공유비율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복잡성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단기성과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편향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62918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Sliding scale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탄력적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lang="en-US" sz="22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범위를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설정하고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자동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소비자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환원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조정으로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회복을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자동성·유연성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극단적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편차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안정성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인센티브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허용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환원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방식의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설계가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2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551219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PBR(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성과기반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lang="en-US" sz="22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수익을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투자규모가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성과지표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신뢰도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고객만족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EE 등)와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연동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달성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인센티브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페널티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최소화와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품질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개선을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Averch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–Johnson(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과잉투자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유인을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완화할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수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대안으로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정량화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지표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단기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편향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장기투자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저해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가능성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관리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en-US" sz="220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lvl="2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3133800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en-US" sz="22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Yardstick competition(비교잣대 경쟁)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유사 조건의 여러 사업자 성과를 비교해 “최우수/평균”을 기준점으로 규제.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시장경쟁이 어려운 자연독점 영역에 준경쟁 압력을 부여.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단위비용, 정전시간, 고객만족 등 다양한 지표로 벤치마킹.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성공조건: 비교가능한 데이터, 유사한 운영여건, 공정한 기준 설정.</a:t>
            </a:r>
          </a:p>
          <a:p>
            <a:pPr lvl="1">
              <a:defRPr/>
            </a:pPr>
            <a:endParaRPr lang="ko-KR" altLang="en-US" sz="220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770726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11.2.4 </a:t>
            </a:r>
            <a:r>
              <a:rPr lang="en-US" altLang="ko-KR" sz="3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규제실패의</a:t>
            </a: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3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원인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07971" y="1287623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비용·기술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파악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왜곡된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요금·인허가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규제포획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산업과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규제기관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간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밀착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진입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억제·경쟁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제한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정치적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개입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단기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민심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특정집단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고려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요금동결·과도한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보조금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등.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소비자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증가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서비스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질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저하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투자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일관성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훼손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377455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규제개혁의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</a:t>
            </a:r>
            <a:endParaRPr lang="en-US" sz="22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투명성·참여성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강화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근거와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이해관계자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정교화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유연성·성과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고정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규칙보다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목표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기반의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규제기관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강화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활용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전문성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시장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감시체계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marL="400050" lvl="1" indent="0">
              <a:lnSpc>
                <a:spcPct val="115000"/>
              </a:lnSpc>
              <a:buNone/>
              <a:defRPr/>
            </a:pP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거버넌스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기관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간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조정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시장운영·환경·산업정책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)과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정책정합성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lang="en-US" sz="2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lvl="1"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324846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11.3 </a:t>
            </a:r>
            <a:r>
              <a:rPr lang="en-US" altLang="ko-KR" sz="320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규제</a:t>
            </a: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대상과 방식</a:t>
            </a: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부문별</a:t>
            </a: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전력산업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–배전–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소매판매로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부문별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경제·기술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시장력·환경규제로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/배전: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자연독점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망접근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공정성·중립성·품질을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소매: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정보비대칭·전환비용으로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불완전경쟁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396338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11.3.1 </a:t>
            </a:r>
            <a:r>
              <a:rPr lang="ko-KR" altLang="en-US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발전</a:t>
            </a: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경쟁과 시장지배력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96587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병목·발전기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최소출력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등)가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발전기의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시장감시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55776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11.3.1 </a:t>
            </a:r>
            <a:r>
              <a:rPr lang="ko-KR" altLang="en-US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발전</a:t>
            </a:r>
            <a:r>
              <a:rPr lang="en-US" altLang="ko-KR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32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환경규제와 재생에너지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41411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탈탄소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석탄·석유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정책수단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ETS, RPS,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배출기준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인센티브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재생에너지는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무연료·저변동비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간헐성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가격신호와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출력제어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예측·정산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보조서비스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계통·시장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950153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11.3.2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중립적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(ISO/RTO) 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8676" y="1260729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송전망은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자연독점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중복설치가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비효율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경쟁보다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비차별성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공정접근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시장참여자가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ISO/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RTO는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혼잡관리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보조서비스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이해충돌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방지가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4430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65674"/>
            <a:ext cx="10972798" cy="1143000"/>
          </a:xfrm>
        </p:spPr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342900" lvl="0" indent="-342900">
              <a:defRPr/>
            </a:pP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송전</a:t>
            </a:r>
            <a:r>
              <a:rPr lang="ko-KR" altLang="en-US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규제의 설계 포인트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망접속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혼잡비용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비용회수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혼잡·투자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/DER/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투자·사회적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환경·지역수용성·정책정합성을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다기준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019916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11.3.3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배전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비용규제와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5924" y="1305552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배전망은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요금과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cost-of-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service에서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Price-cap/PBR 등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유인기반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품질지표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복구속도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고객서비스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인센티브·페널티로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편익을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971806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배전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규제의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altLang="ko-KR" sz="24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스마트미터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EV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DER, ESS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배전망이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플랫폼”으로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기술중립성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고객맞춤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가시성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)와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사이버보안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대응력을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다기준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성과기반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규제체계가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요구됨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061370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11.3.4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소매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9711" y="1206941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소매는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정보비대칭·전환비용으로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완전경쟁이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가정·영세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기본공급자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(default provider)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미선택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급등기에는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가격상한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취약계층은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사회요금·바우처·단전유예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574250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소매: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참여·프로슈머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endParaRPr lang="en-US" altLang="ko-KR" sz="2400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스마트미터로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)이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가능해짐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태양광·ESS·EV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프로슈머로서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DR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규제기관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보호”에서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촉진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설계”로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비교플랫폼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정보접근성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57200" lvl="1" indent="0">
              <a:buNone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588510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423183"/>
            <a:ext cx="10972798" cy="1143000"/>
          </a:xfrm>
        </p:spPr>
        <p:txBody>
          <a:bodyPr/>
          <a:lstStyle/>
          <a:p>
            <a:pPr lvl="0"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11.4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68305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요금은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자원배분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신호·수요관리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유인·사회정책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한계비용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평균비용을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형평성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취약계층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불합리한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altLang="ko-KR" sz="2000" dirty="0"/>
          </a:p>
          <a:p>
            <a:pPr marL="0" indent="0">
              <a:lnSpc>
                <a:spcPct val="115000"/>
              </a:lnSpc>
              <a:buNone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3523362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요금설계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원칙과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altLang="ko-KR" sz="24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비용반영성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한계비용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평균비용을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있게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형평성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동일조건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에너지빈곤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간결성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예측가능성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이해·예측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TOU/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고정·변동요금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0" indent="0">
              <a:lnSpc>
                <a:spcPct val="115000"/>
              </a:lnSpc>
              <a:buNone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2174990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240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9F519-58AF-49EB-93A4-FDAA765633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628" y="1792941"/>
            <a:ext cx="9000744" cy="4039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27CB33-3782-4152-95C3-FBAE0B03C851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0" name="가로 글상자 19"/>
          <p:cNvSpPr txBox="1"/>
          <p:nvPr/>
        </p:nvSpPr>
        <p:spPr>
          <a:xfrm>
            <a:off x="1046724" y="1436943"/>
            <a:ext cx="4007241" cy="3613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11-3]</a:t>
            </a:r>
            <a:r>
              <a:rPr lang="ko-KR" altLang="en-US"/>
              <a:t> 시간대별 요금과 사회 후생</a:t>
            </a:r>
          </a:p>
        </p:txBody>
      </p:sp>
    </p:spTree>
    <p:extLst>
      <p:ext uri="{BB962C8B-B14F-4D97-AF65-F5344CB8AC3E}">
        <p14:creationId xmlns:p14="http://schemas.microsoft.com/office/powerpoint/2010/main" val="2762592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요금과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정책목표의</a:t>
            </a: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4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</a:t>
            </a:r>
            <a:endParaRPr lang="en-US" altLang="ko-KR" sz="24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요금은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가격신호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)과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보편적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)의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긴장을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탄소중립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속에서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가격체계는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안정성까지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반영해야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수요관리·에너지효율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정책과의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판매량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유인을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Revenue-cap).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정치적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요금개입은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투자·재무지속성에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 수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0" indent="0">
              <a:lnSpc>
                <a:spcPct val="115000"/>
              </a:lnSpc>
              <a:buNone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3804708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규제기관의</a:t>
            </a: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규제기관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시장감시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정보공개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분쟁조정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독립성의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정치·산업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영향에서의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거리두기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전문성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시장운영기관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(ISO/RTO)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vs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규칙·감독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국가별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상이하나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투명성·데이터·성과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중심으로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추세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400050" lvl="1" indent="0">
              <a:lnSpc>
                <a:spcPct val="115000"/>
              </a:lnSpc>
              <a:buNone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350047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 sz="3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11.6 </a:t>
            </a:r>
            <a:r>
              <a:rPr lang="en-US" altLang="ko-KR" sz="32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9688" y="1224870"/>
            <a:ext cx="10972798" cy="490129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24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통제’가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공공목표를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제도적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altLang="ko-KR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2000" dirty="0"/>
          </a:p>
          <a:p>
            <a:pPr marL="0" indent="0">
              <a:lnSpc>
                <a:spcPct val="115000"/>
              </a:lnSpc>
              <a:buNone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2CD3B-FDDF-4998-970C-76E6E0BEC65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제11장</a:t>
            </a:r>
          </a:p>
        </p:txBody>
      </p:sp>
    </p:spTree>
    <p:extLst>
      <p:ext uri="{BB962C8B-B14F-4D97-AF65-F5344CB8AC3E}">
        <p14:creationId xmlns:p14="http://schemas.microsoft.com/office/powerpoint/2010/main" val="1424903792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2287</Words>
  <Application>Microsoft Office PowerPoint</Application>
  <PresentationFormat>와이드스크린</PresentationFormat>
  <Paragraphs>240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2" baseType="lpstr">
      <vt:lpstr>나눔스퀘어 네오 OTF Heavy</vt:lpstr>
      <vt:lpstr>맑은 고딕</vt:lpstr>
      <vt:lpstr>맑은 고딕</vt:lpstr>
      <vt:lpstr>Arial</vt:lpstr>
      <vt:lpstr>Calibri</vt:lpstr>
      <vt:lpstr>한컴오피스</vt:lpstr>
      <vt:lpstr>PowerPoint 프레젠테이션</vt:lpstr>
      <vt:lpstr>제11장  전력산업의 규제</vt:lpstr>
      <vt:lpstr>11. 1 서론: 전력산업에서의 규제의 의미와 필요성</vt:lpstr>
      <vt:lpstr>11.1 서론: 전력산업에서의 규제의 의미와 필요성</vt:lpstr>
      <vt:lpstr>11.2 규제경제학의 이론적 배경</vt:lpstr>
      <vt:lpstr>11.2.1 규제의 정당성</vt:lpstr>
      <vt:lpstr>11.2.2 자연독점과 고전적 규제이론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11.2.3 정보 비대칭과 유인기반 규제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11.2.4 규제실패의 원인</vt:lpstr>
      <vt:lpstr>PowerPoint 프레젠테이션</vt:lpstr>
      <vt:lpstr>11.3 규제 대상과 방식(부문별)</vt:lpstr>
      <vt:lpstr>11.3.1 발전: 경쟁과 시장지배력</vt:lpstr>
      <vt:lpstr>11.3.1 발전: 환경규제와 재생에너지</vt:lpstr>
      <vt:lpstr>11.3.2 송전: 중립적 운영(ISO/RTO) </vt:lpstr>
      <vt:lpstr>PowerPoint 프레젠테이션</vt:lpstr>
      <vt:lpstr>11.3.3 배전: 비용규제와 품질관리</vt:lpstr>
      <vt:lpstr>PowerPoint 프레젠테이션</vt:lpstr>
      <vt:lpstr>11.3.4 소매: 소비자 보호</vt:lpstr>
      <vt:lpstr>PowerPoint 프레젠테이션</vt:lpstr>
      <vt:lpstr>11.4 요금 규제: 목적</vt:lpstr>
      <vt:lpstr>PowerPoint 프레젠테이션</vt:lpstr>
      <vt:lpstr>PowerPoint 프레젠테이션</vt:lpstr>
      <vt:lpstr>PowerPoint 프레젠테이션</vt:lpstr>
      <vt:lpstr>11.5 규제기관의 역할</vt:lpstr>
      <vt:lpstr>11.6 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donghun kim</dc:creator>
  <cp:lastModifiedBy>장 규식</cp:lastModifiedBy>
  <cp:revision>30</cp:revision>
  <dcterms:created xsi:type="dcterms:W3CDTF">2026-02-24T10:41:46Z</dcterms:created>
  <dcterms:modified xsi:type="dcterms:W3CDTF">2026-02-25T21:45:25Z</dcterms:modified>
  <cp:version/>
</cp:coreProperties>
</file>