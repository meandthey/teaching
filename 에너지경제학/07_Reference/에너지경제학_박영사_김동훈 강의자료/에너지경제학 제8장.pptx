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78" r:id="rId2"/>
    <p:sldId id="257" r:id="rId3"/>
    <p:sldId id="258" r:id="rId4"/>
    <p:sldId id="337" r:id="rId5"/>
    <p:sldId id="379" r:id="rId6"/>
    <p:sldId id="414" r:id="rId7"/>
    <p:sldId id="415" r:id="rId8"/>
    <p:sldId id="416" r:id="rId9"/>
    <p:sldId id="417" r:id="rId10"/>
    <p:sldId id="418" r:id="rId11"/>
    <p:sldId id="380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3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99" d="100"/>
          <a:sy n="99" d="100"/>
        </p:scale>
        <p:origin x="1170" y="84"/>
      </p:cViewPr>
      <p:guideLst>
        <p:guide orient="horz" pos="2152"/>
        <p:guide pos="3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7BEE692B-2A6E-45C2-97D2-EE5A6B560158}"/>
    <pc:docChg chg="modSld">
      <pc:chgData name="donghun kim" userId="ea4930dfa3cfe607" providerId="LiveId" clId="{7BEE692B-2A6E-45C2-97D2-EE5A6B560158}" dt="2026-02-23T07:14:30.084" v="2" actId="14100"/>
      <pc:docMkLst>
        <pc:docMk/>
      </pc:docMkLst>
      <pc:sldChg chg="modSp mod">
        <pc:chgData name="donghun kim" userId="ea4930dfa3cfe607" providerId="LiveId" clId="{7BEE692B-2A6E-45C2-97D2-EE5A6B560158}" dt="2026-02-23T07:14:30.084" v="2" actId="14100"/>
        <pc:sldMkLst>
          <pc:docMk/>
          <pc:sldMk cId="594673986" sldId="257"/>
        </pc:sldMkLst>
        <pc:picChg chg="mod">
          <ac:chgData name="donghun kim" userId="ea4930dfa3cfe607" providerId="LiveId" clId="{7BEE692B-2A6E-45C2-97D2-EE5A6B560158}" dt="2026-02-23T07:14:30.084" v="2" actId="14100"/>
          <ac:picMkLst>
            <pc:docMk/>
            <pc:sldMk cId="594673986" sldId="257"/>
            <ac:picMk id="5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4" y="175336"/>
            <a:ext cx="11830051" cy="632444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>
                <a:solidFill>
                  <a:srgbClr val="FFFFFF"/>
                </a:solidFill>
                <a:ea typeface="맑은 고딕"/>
              </a:rPr>
              <a:t>8</a:t>
            </a:r>
            <a:r>
              <a:rPr lang="ko-KR" altLang="en-US" sz="5200">
                <a:solidFill>
                  <a:srgbClr val="FFFFFF"/>
                </a:solidFill>
                <a:ea typeface="맑은 고딕"/>
              </a:rPr>
              <a:t>장 원자력에너지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3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원자력에너지는 </a:t>
            </a:r>
            <a:r>
              <a:rPr lang="en-US" altLang="ko-KR" sz="2000" dirty="0"/>
              <a:t>20</a:t>
            </a:r>
            <a:r>
              <a:rPr lang="ko-KR" altLang="en-US" sz="2000" dirty="0"/>
              <a:t>세기 중반 이후 화석연료 중심의 에너지 체계에 대한 전략적 대안으로 등장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제</a:t>
            </a:r>
            <a:r>
              <a:rPr lang="en-US" altLang="ko-KR" sz="2000" dirty="0"/>
              <a:t>2</a:t>
            </a:r>
            <a:r>
              <a:rPr lang="ko-KR" altLang="en-US" sz="2000" dirty="0"/>
              <a:t>차 세계대전 이후 핵기술의 평화적 이용에 대한 국제적 공감대가 형성되면서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‘</a:t>
            </a:r>
            <a:r>
              <a:rPr lang="ko-KR" altLang="en-US" sz="2000" dirty="0"/>
              <a:t>에너지의 미래</a:t>
            </a:r>
            <a:r>
              <a:rPr lang="en-US" altLang="ko-KR" sz="2000" dirty="0"/>
              <a:t>’</a:t>
            </a:r>
            <a:r>
              <a:rPr lang="ko-KR" altLang="en-US" sz="2000" dirty="0"/>
              <a:t>로 간주됨</a:t>
            </a:r>
          </a:p>
          <a:p>
            <a:pPr lvl="1">
              <a:buChar char="•"/>
              <a:defRPr/>
            </a:pPr>
            <a:r>
              <a:rPr lang="en-US" altLang="ko-KR" sz="2000" dirty="0"/>
              <a:t>1970</a:t>
            </a:r>
            <a:r>
              <a:rPr lang="ko-KR" altLang="en-US" sz="2000" dirty="0"/>
              <a:t>년대 두 차례의 석유위기는 에너지 자립과 공급 다변화의 중요성을 부각시켰으며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원자력은 많은 국가들의 에너지 정책에서 핵심 구성 요소로 자리매김하게 됨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오늘날 에너지 전환 환경에서 에너지 공급과 기후변화 대응이라는 두 과제를 해결할 수 있는 에너지원으로 간주됨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원전에 대한 사회적 인식은 여전히 분열되어 있음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높은 발전 효율과 장기간 운전이 가능한 기저부하 전원으로서의 역할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탄소중립 당위성에의 기여 가능성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대형사고의 잠재적 위험성</a:t>
            </a:r>
            <a:r>
              <a:rPr lang="en-US" altLang="ko-KR" sz="2000" dirty="0"/>
              <a:t>,</a:t>
            </a:r>
            <a:r>
              <a:rPr lang="ko-KR" altLang="en-US" sz="2000" dirty="0"/>
              <a:t> 고준위 방사성 폐기물의 장기 처리 문제</a:t>
            </a:r>
            <a:r>
              <a:rPr lang="en-US" altLang="ko-KR" sz="2000" dirty="0"/>
              <a:t>,</a:t>
            </a:r>
            <a:r>
              <a:rPr lang="ko-KR" altLang="en-US" sz="2000" dirty="0"/>
              <a:t> 높은 초기 투자비용과 긴 건설 기간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원자력에너지의 역사적 발전과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현대적 의미에서의 원자력에너지는 </a:t>
            </a:r>
            <a:r>
              <a:rPr lang="en-US" altLang="ko-KR" sz="2000" dirty="0"/>
              <a:t>1938</a:t>
            </a:r>
            <a:r>
              <a:rPr lang="ko-KR" altLang="en-US" sz="2000" dirty="0"/>
              <a:t>년 오토 한</a:t>
            </a:r>
            <a:r>
              <a:rPr lang="en-US" altLang="ko-KR" sz="2000" dirty="0"/>
              <a:t>(Otto Hahn)</a:t>
            </a:r>
            <a:r>
              <a:rPr lang="ko-KR" altLang="en-US" sz="2000" dirty="0"/>
              <a:t>과 프리츠 스트라스만</a:t>
            </a:r>
            <a:r>
              <a:rPr lang="en-US" altLang="ko-KR" sz="2000" dirty="0"/>
              <a:t>(Fritz </a:t>
            </a:r>
            <a:r>
              <a:rPr lang="en-US" altLang="ko-KR" sz="2000" dirty="0" err="1"/>
              <a:t>Strassmann</a:t>
            </a:r>
            <a:r>
              <a:rPr lang="en-US" altLang="ko-KR" sz="2000" dirty="0"/>
              <a:t>)</a:t>
            </a:r>
            <a:r>
              <a:rPr lang="ko-KR" altLang="en-US" sz="2000" dirty="0"/>
              <a:t>이 우라늄 원자의 핵분열</a:t>
            </a:r>
            <a:r>
              <a:rPr lang="en-US" altLang="ko-KR" sz="2000" dirty="0"/>
              <a:t>(nuclear fission)</a:t>
            </a:r>
            <a:r>
              <a:rPr lang="ko-KR" altLang="en-US" sz="2000" dirty="0"/>
              <a:t>을 실험적으로 확인하면서 본격적으로 가능성이 열림</a:t>
            </a:r>
          </a:p>
          <a:p>
            <a:pPr marL="342750" lvl="0" indent="-285600">
              <a:buChar char="•"/>
              <a:defRPr/>
            </a:pPr>
            <a:r>
              <a:rPr lang="ko-KR" altLang="en-US" sz="2000" dirty="0"/>
              <a:t>리제 마이트너</a:t>
            </a:r>
            <a:r>
              <a:rPr lang="en-US" altLang="ko-KR" sz="2000" dirty="0"/>
              <a:t>(Lise Meitner)</a:t>
            </a:r>
            <a:r>
              <a:rPr lang="ko-KR" altLang="en-US" sz="2000" dirty="0"/>
              <a:t>와 오토 프리쉬</a:t>
            </a:r>
            <a:r>
              <a:rPr lang="en-US" altLang="ko-KR" sz="2000" dirty="0"/>
              <a:t>(Otto Frisch)</a:t>
            </a:r>
            <a:r>
              <a:rPr lang="ko-KR" altLang="en-US" sz="2000" dirty="0"/>
              <a:t>는 핵분열 현상을 이론적으로 설명하면서</a:t>
            </a:r>
            <a:r>
              <a:rPr lang="en-US" altLang="ko-KR" sz="2000" dirty="0"/>
              <a:t>,</a:t>
            </a:r>
            <a:r>
              <a:rPr lang="ko-KR" altLang="en-US" sz="2000" dirty="0"/>
              <a:t> 중성자를 통한 연쇄반응과 대규모 에너지 방출 메커니즘을 과학적으로 정립</a:t>
            </a:r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1956</a:t>
            </a:r>
            <a:r>
              <a:rPr lang="ko-KR" altLang="en-US" sz="2000" dirty="0"/>
              <a:t>년 영국의 콜더 홀</a:t>
            </a:r>
            <a:r>
              <a:rPr lang="en-US" altLang="ko-KR" sz="2000" dirty="0"/>
              <a:t>(Calder Hall) </a:t>
            </a:r>
            <a:r>
              <a:rPr lang="ko-KR" altLang="en-US" sz="2000" dirty="0"/>
              <a:t>원자력 발전소가 세계 최초로 상업 운전을 개시하면서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원자력은 본격적인 에너지원으로의 역할을 시작</a:t>
            </a:r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1970</a:t>
            </a:r>
            <a:r>
              <a:rPr lang="ko-KR" altLang="en-US" sz="2000" dirty="0"/>
              <a:t>년 두 차례의 석유 위기 이후에는 화석연료에 대한 의존도를 줄이고 에너지 안보를 강화하기 위한 전략적 수단으로서 원자력 발전이 급속히 확대됨</a:t>
            </a:r>
          </a:p>
          <a:p>
            <a:pPr marL="342750" lvl="0" indent="-285600">
              <a:buChar char="•"/>
              <a:defRPr/>
            </a:pPr>
            <a:r>
              <a:rPr lang="ko-KR" altLang="en-US" sz="2000" dirty="0"/>
              <a:t>현재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원자력에너지는 기술적</a:t>
            </a:r>
            <a:r>
              <a:rPr lang="en-US" altLang="ko-KR" sz="2000" dirty="0"/>
              <a:t>·</a:t>
            </a:r>
            <a:r>
              <a:rPr lang="ko-KR" altLang="en-US" sz="2000" dirty="0"/>
              <a:t>경제적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측면에서 복합적인 도전에 직면하고 있음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기술적으로는 고준위 방사성 폐기물의 장기 본관 및 처분</a:t>
            </a:r>
            <a:r>
              <a:rPr lang="en-US" altLang="ko-KR" sz="2000" dirty="0"/>
              <a:t>,</a:t>
            </a:r>
            <a:r>
              <a:rPr lang="ko-KR" altLang="en-US" sz="2000" dirty="0"/>
              <a:t> 높은 초기 자본비용과 장기 건설 기간</a:t>
            </a:r>
            <a:r>
              <a:rPr lang="en-US" altLang="ko-KR" sz="2000" dirty="0"/>
              <a:t>,</a:t>
            </a:r>
            <a:r>
              <a:rPr lang="ko-KR" altLang="en-US" sz="2000" dirty="0"/>
              <a:t> 연료주기 관리 등의 문제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사회적으로는 원자력의 안정성에 대한 대중의 신뢰문제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정치적으로는 시민사회의 저항</a:t>
            </a:r>
            <a:r>
              <a:rPr lang="en-US" altLang="ko-KR" sz="2000" dirty="0"/>
              <a:t>,</a:t>
            </a:r>
            <a:r>
              <a:rPr lang="ko-KR" altLang="en-US" sz="2000" dirty="0"/>
              <a:t> 지역 커뮤너티의 반대</a:t>
            </a:r>
            <a:r>
              <a:rPr lang="en-US" altLang="ko-KR" sz="2000" dirty="0"/>
              <a:t>,</a:t>
            </a:r>
            <a:r>
              <a:rPr lang="ko-KR" altLang="en-US" sz="2000" dirty="0"/>
              <a:t> 비핵확산 체제와의 연계</a:t>
            </a:r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3528077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원자력 발전의 기본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fontScale="92500"/>
          </a:bodyPr>
          <a:lstStyle/>
          <a:p>
            <a:pPr marL="342750" lvl="0" indent="-285600">
              <a:defRPr/>
            </a:pPr>
            <a:r>
              <a:rPr lang="ko-KR" altLang="en-US" sz="2000" dirty="0"/>
              <a:t>핵분열과 핵융합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핵에너지의 방출은 원자핵 내부에 저장된 강한 핵력에 기인하며</a:t>
            </a:r>
            <a:r>
              <a:rPr lang="en-US" altLang="ko-KR" sz="2000" dirty="0"/>
              <a:t>,</a:t>
            </a:r>
            <a:r>
              <a:rPr lang="ko-KR" altLang="en-US" sz="2000" dirty="0"/>
              <a:t> 핵분열</a:t>
            </a:r>
            <a:r>
              <a:rPr lang="en-US" altLang="ko-KR" sz="2000" dirty="0"/>
              <a:t>(nuclear fission)</a:t>
            </a:r>
            <a:r>
              <a:rPr lang="ko-KR" altLang="en-US" sz="2000" dirty="0"/>
              <a:t>과 핵융합</a:t>
            </a:r>
            <a:r>
              <a:rPr lang="en-US" altLang="ko-KR" sz="2000" dirty="0"/>
              <a:t>(nuclear fusion)</a:t>
            </a:r>
            <a:r>
              <a:rPr lang="ko-KR" altLang="en-US" sz="2000" dirty="0"/>
              <a:t>을 통해 이루어짐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핵분열은 우라늄</a:t>
            </a:r>
            <a:r>
              <a:rPr lang="en-US" altLang="ko-KR" sz="2000" dirty="0"/>
              <a:t>235</a:t>
            </a:r>
            <a:r>
              <a:rPr lang="ko-KR" altLang="en-US" sz="2000" dirty="0"/>
              <a:t>나 플루토늄</a:t>
            </a:r>
            <a:r>
              <a:rPr lang="en-US" altLang="ko-KR" sz="2000" dirty="0"/>
              <a:t>239</a:t>
            </a:r>
            <a:r>
              <a:rPr lang="ko-KR" altLang="en-US" sz="2000" dirty="0"/>
              <a:t>와 같은 무거운 원자액이 중성자의 충격을 받아 두개의 가벼운 핵분열 생성물로 분리되면서 에너지를 방출하는 과정임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예를 들면</a:t>
            </a:r>
            <a:r>
              <a:rPr lang="en-US" altLang="ko-KR" sz="2000" dirty="0"/>
              <a:t>,</a:t>
            </a:r>
            <a:r>
              <a:rPr lang="ko-KR" altLang="en-US" sz="2000" dirty="0"/>
              <a:t> 우라늄</a:t>
            </a:r>
            <a:r>
              <a:rPr lang="en-US" altLang="ko-KR" sz="2000" dirty="0"/>
              <a:t>235</a:t>
            </a:r>
            <a:r>
              <a:rPr lang="ko-KR" altLang="en-US" sz="2000" dirty="0"/>
              <a:t> 핵이 중성자를 흡수하여 불안정해지고</a:t>
            </a:r>
            <a:r>
              <a:rPr lang="en-US" altLang="ko-KR" sz="2000" dirty="0"/>
              <a:t>,</a:t>
            </a:r>
            <a:r>
              <a:rPr lang="ko-KR" altLang="en-US" sz="2000" dirty="0"/>
              <a:t> 크립톤</a:t>
            </a:r>
            <a:r>
              <a:rPr lang="en-US" altLang="ko-KR" sz="2000" dirty="0"/>
              <a:t>(Kr)</a:t>
            </a:r>
            <a:r>
              <a:rPr lang="ko-KR" altLang="en-US" sz="2000" dirty="0"/>
              <a:t>과 바륨</a:t>
            </a:r>
            <a:r>
              <a:rPr lang="en-US" altLang="ko-KR" sz="2000" dirty="0"/>
              <a:t>(Ba) </a:t>
            </a:r>
            <a:r>
              <a:rPr lang="ko-KR" altLang="en-US" sz="2000" dirty="0"/>
              <a:t>등의 생성물로 나뉘며</a:t>
            </a:r>
            <a:r>
              <a:rPr lang="en-US" altLang="ko-KR" sz="2000" dirty="0"/>
              <a:t>,</a:t>
            </a:r>
            <a:r>
              <a:rPr lang="ko-KR" altLang="en-US" sz="2000" dirty="0"/>
              <a:t> 이 과정에서 여분의 중성자와 약 </a:t>
            </a:r>
            <a:r>
              <a:rPr lang="en-US" altLang="ko-KR" sz="2000" dirty="0"/>
              <a:t>200</a:t>
            </a:r>
            <a:r>
              <a:rPr lang="ko-KR" altLang="en-US" sz="2000" dirty="0"/>
              <a:t> </a:t>
            </a:r>
            <a:r>
              <a:rPr lang="en-US" altLang="ko-KR" sz="2000" dirty="0"/>
              <a:t>MeV(</a:t>
            </a:r>
            <a:r>
              <a:rPr lang="ko-KR" altLang="en-US" sz="2000" dirty="0"/>
              <a:t>메가전자볼트</a:t>
            </a:r>
            <a:r>
              <a:rPr lang="en-US" altLang="ko-KR" sz="2000" dirty="0"/>
              <a:t>)</a:t>
            </a:r>
            <a:r>
              <a:rPr lang="ko-KR" altLang="en-US" sz="2000" dirty="0"/>
              <a:t>의</a:t>
            </a:r>
            <a:r>
              <a:rPr lang="en-US" altLang="ko-KR" sz="2000" dirty="0"/>
              <a:t> </a:t>
            </a:r>
            <a:r>
              <a:rPr lang="ko-KR" altLang="en-US" sz="2000" dirty="0"/>
              <a:t>에너지가 방출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방출된 중성자는 다른 우라늄 핵의 분열을 유도화여 연쇄반응을 일으키며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원자로 운영의 기초가 됨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핵융합은 두 개의 가벼운 원자핵이 결합하여 더 무거운 원자핵을 형성하면서 에너지를 방출하는 과정임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중수소와 삼중수소의 결합으로</a:t>
            </a:r>
            <a:r>
              <a:rPr lang="en-US" altLang="ko-KR" sz="2000" dirty="0"/>
              <a:t>,</a:t>
            </a:r>
            <a:r>
              <a:rPr lang="ko-KR" altLang="en-US" sz="2000" dirty="0"/>
              <a:t> 이들이 충분한 운동 에너지를 가지고 충돌하면 헬륨 핵과 중성자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약 </a:t>
            </a:r>
            <a:r>
              <a:rPr lang="en-US" altLang="ko-KR" sz="2000" dirty="0"/>
              <a:t>17.6</a:t>
            </a:r>
            <a:r>
              <a:rPr lang="ko-KR" altLang="en-US" sz="2000" dirty="0"/>
              <a:t> </a:t>
            </a:r>
            <a:r>
              <a:rPr lang="en-US" altLang="ko-KR" sz="2000" dirty="0" err="1"/>
              <a:t>Mev</a:t>
            </a:r>
            <a:r>
              <a:rPr lang="ko-KR" altLang="en-US" sz="2000" dirty="0"/>
              <a:t>의 에너지가 방출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핵융합은 이론적으로 거의 무제한의 청정에너지 공급원이 될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탄소배출이 없고 방사성 폐기물이 상대적으로 적다는 장점이 있음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296072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원자력 발전의 기본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defRPr/>
            </a:pPr>
            <a:r>
              <a:rPr lang="ko-KR" altLang="en-US" sz="2000" dirty="0"/>
              <a:t>우라늄 및 플루토늄 연료 주기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우라늄과 플루토늄의 연료 주기는 핵연료의 생산</a:t>
            </a:r>
            <a:r>
              <a:rPr lang="en-US" altLang="ko-KR" sz="2000" dirty="0"/>
              <a:t>,</a:t>
            </a:r>
            <a:r>
              <a:rPr lang="ko-KR" altLang="en-US" sz="2000" dirty="0"/>
              <a:t> 원자로 내 사용</a:t>
            </a:r>
            <a:r>
              <a:rPr lang="en-US" altLang="ko-KR" sz="2000" dirty="0"/>
              <a:t>,</a:t>
            </a:r>
            <a:r>
              <a:rPr lang="ko-KR" altLang="en-US" sz="2000" dirty="0"/>
              <a:t> 사용 후 연료의 저장 및 재처리 또는 폐기까지 일련의 과정을 포함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우라늄 연료 주기는 일반적으로 우라늄광석의 채굴과 제련으로 시작됨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이 과정에서 생성된 옐로우케이크</a:t>
            </a:r>
            <a:r>
              <a:rPr lang="en-US" altLang="ko-KR" sz="2000" dirty="0"/>
              <a:t>(U</a:t>
            </a:r>
            <a:r>
              <a:rPr lang="en-US" altLang="ko-KR" sz="2000" baseline="-24000" dirty="0">
                <a:solidFill>
                  <a:schemeClr val="tx1"/>
                </a:solidFill>
              </a:rPr>
              <a:t>3</a:t>
            </a:r>
            <a:r>
              <a:rPr lang="en-US" altLang="ko-KR" sz="2000" dirty="0"/>
              <a:t>O</a:t>
            </a:r>
            <a:r>
              <a:rPr lang="en-US" altLang="ko-KR" sz="2000" baseline="-24000" dirty="0">
                <a:solidFill>
                  <a:schemeClr val="tx1"/>
                </a:solidFill>
              </a:rPr>
              <a:t>8</a:t>
            </a:r>
            <a:r>
              <a:rPr lang="en-US" altLang="ko-KR" sz="2000" dirty="0"/>
              <a:t>)</a:t>
            </a:r>
            <a:r>
              <a:rPr lang="ko-KR" altLang="en-US" sz="2000" dirty="0"/>
              <a:t>는 정제 및 화학적 변환 과정을 거쳐 육불화우라늄</a:t>
            </a:r>
            <a:r>
              <a:rPr lang="en-US" altLang="ko-KR" sz="2000" dirty="0"/>
              <a:t>(UF</a:t>
            </a:r>
            <a:r>
              <a:rPr lang="en-US" altLang="ko-KR" sz="2000" baseline="-24000" dirty="0">
                <a:solidFill>
                  <a:schemeClr val="tx1"/>
                </a:solidFill>
              </a:rPr>
              <a:t>6)</a:t>
            </a:r>
            <a:r>
              <a:rPr lang="en-US" altLang="ko-KR" sz="2000" dirty="0"/>
              <a:t> </a:t>
            </a:r>
            <a:r>
              <a:rPr lang="ko-KR" altLang="en-US" sz="2000" dirty="0"/>
              <a:t>형태로 전환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육불화우라늄은 기체 상태로 가스원심분리법을 통해서 자연 상태의 </a:t>
            </a:r>
            <a:r>
              <a:rPr lang="en-US" altLang="ko-KR" sz="2000" dirty="0"/>
              <a:t>0.7%</a:t>
            </a:r>
            <a:r>
              <a:rPr lang="ko-KR" altLang="en-US" sz="2000" dirty="0"/>
              <a:t> 우라늄을 </a:t>
            </a:r>
            <a:r>
              <a:rPr lang="en-US" altLang="ko-KR" sz="2000" dirty="0"/>
              <a:t>3~5% </a:t>
            </a:r>
            <a:r>
              <a:rPr lang="ko-KR" altLang="en-US" sz="2000" dirty="0"/>
              <a:t>농축 우라늄으로 전환하는 공정을 거침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농축된 육불화우라늄은 다시 고체 이산화우라늄</a:t>
            </a:r>
            <a:r>
              <a:rPr lang="en-US" altLang="ko-KR" sz="2000" dirty="0"/>
              <a:t>(UO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en-US" altLang="ko-KR" sz="2000" dirty="0"/>
              <a:t>)</a:t>
            </a:r>
            <a:r>
              <a:rPr lang="ko-KR" altLang="en-US" sz="2000" dirty="0"/>
              <a:t> 분말로</a:t>
            </a:r>
            <a:r>
              <a:rPr lang="en-US" altLang="ko-KR" sz="2000" dirty="0"/>
              <a:t> </a:t>
            </a:r>
            <a:r>
              <a:rPr lang="ko-KR" altLang="en-US" sz="2000" dirty="0"/>
              <a:t>전환되고</a:t>
            </a:r>
            <a:r>
              <a:rPr lang="en-US" altLang="ko-KR" sz="2000" dirty="0"/>
              <a:t>,</a:t>
            </a:r>
            <a:r>
              <a:rPr lang="ko-KR" altLang="en-US" sz="2000" dirty="0"/>
              <a:t> 고온에서 소결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sinistering</a:t>
            </a:r>
            <a:r>
              <a:rPr lang="en-US" altLang="ko-KR" sz="2000" dirty="0"/>
              <a:t>)</a:t>
            </a:r>
            <a:r>
              <a:rPr lang="ko-KR" altLang="en-US" sz="2000" dirty="0"/>
              <a:t>된 연료 펠릿으로 가공되며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이들은 지르코늄 합금관에 충전되어 연료봉을 구성하고</a:t>
            </a:r>
            <a:r>
              <a:rPr lang="en-US" altLang="ko-KR" sz="2000" dirty="0"/>
              <a:t>,</a:t>
            </a:r>
            <a:r>
              <a:rPr lang="ko-KR" altLang="en-US" sz="2000" dirty="0"/>
              <a:t> 다수의 연료봉이 집합체로 조립되어 원자로에 장전됨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원자로에서 가동 중 우라늄</a:t>
            </a:r>
            <a:r>
              <a:rPr lang="en-US" altLang="ko-KR" sz="2000" dirty="0"/>
              <a:t>235</a:t>
            </a:r>
            <a:r>
              <a:rPr lang="ko-KR" altLang="en-US" sz="2000" dirty="0"/>
              <a:t> 원자핵은 핵분열을 통해 에너지를 방출하며 전력 생산에 기여함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원자로로부터 인출된 사용후 연료</a:t>
            </a:r>
            <a:r>
              <a:rPr lang="en-US" altLang="ko-KR" sz="2000" dirty="0"/>
              <a:t>(spent </a:t>
            </a:r>
            <a:r>
              <a:rPr lang="en-US" altLang="ko-KR" sz="2000" dirty="0" err="1"/>
              <a:t>fule</a:t>
            </a:r>
            <a:r>
              <a:rPr lang="en-US" altLang="ko-KR" sz="2000" dirty="0"/>
              <a:t>)</a:t>
            </a:r>
            <a:r>
              <a:rPr lang="ko-KR" altLang="en-US" sz="2000" dirty="0"/>
              <a:t>는 상당한 양의 우라늄</a:t>
            </a:r>
            <a:r>
              <a:rPr lang="en-US" altLang="ko-KR" sz="2000" dirty="0"/>
              <a:t>,</a:t>
            </a:r>
            <a:r>
              <a:rPr lang="ko-KR" altLang="en-US" sz="2000" dirty="0"/>
              <a:t> 플루토늄</a:t>
            </a:r>
            <a:r>
              <a:rPr lang="en-US" altLang="ko-KR" sz="2000" dirty="0"/>
              <a:t>,</a:t>
            </a:r>
            <a:r>
              <a:rPr lang="ko-KR" altLang="en-US" sz="2000" dirty="0"/>
              <a:t> 핵분열 생성물을 포함하고 있어 재처리되거나 최종 처분을 위해 저장됨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127516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원자력 발전의 기본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defRPr/>
            </a:pPr>
            <a:r>
              <a:rPr lang="ko-KR" altLang="en-US" sz="2000" dirty="0"/>
              <a:t>우라늄 및 플루토늄 연료 주기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플루토늄 연료 주기는 우라늄 주기와 밀접하게 연계되어 있음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원자로 내부에서 우라늄</a:t>
            </a:r>
            <a:r>
              <a:rPr lang="en-US" altLang="ko-KR" sz="2000" dirty="0"/>
              <a:t>238</a:t>
            </a:r>
            <a:r>
              <a:rPr lang="ko-KR" altLang="en-US" sz="2000" dirty="0"/>
              <a:t>이 중성자를 흡수하면  플루토늄 </a:t>
            </a:r>
            <a:r>
              <a:rPr lang="en-US" altLang="ko-KR" sz="2000" dirty="0"/>
              <a:t>239</a:t>
            </a:r>
            <a:r>
              <a:rPr lang="ko-KR" altLang="en-US" sz="2000" dirty="0"/>
              <a:t>로 전환됨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플루토늄</a:t>
            </a:r>
            <a:r>
              <a:rPr lang="en-US" altLang="ko-KR" sz="2000" dirty="0"/>
              <a:t>239</a:t>
            </a:r>
            <a:r>
              <a:rPr lang="ko-KR" altLang="en-US" sz="2000" dirty="0"/>
              <a:t>는 고에너지 핵분열이 가능한 연료로</a:t>
            </a:r>
            <a:r>
              <a:rPr lang="en-US" altLang="ko-KR" sz="2000" dirty="0"/>
              <a:t>,</a:t>
            </a:r>
            <a:r>
              <a:rPr lang="ko-KR" altLang="en-US" sz="2000" dirty="0"/>
              <a:t> 재처리를 통해 회수되면 혼합산화물</a:t>
            </a:r>
            <a:r>
              <a:rPr lang="en-US" altLang="ko-KR" sz="2000" dirty="0"/>
              <a:t>(MOX: Mixed Oxide)</a:t>
            </a:r>
            <a:r>
              <a:rPr lang="ko-KR" altLang="en-US" sz="2000" dirty="0"/>
              <a:t> 연료로 재활용 될 수 있음</a:t>
            </a:r>
          </a:p>
          <a:p>
            <a:pPr marL="742800" lvl="1" indent="-285600">
              <a:buChar char="•"/>
              <a:defRPr/>
            </a:pPr>
            <a:r>
              <a:rPr lang="en-US" altLang="ko-KR" sz="2000" dirty="0"/>
              <a:t>MOX</a:t>
            </a:r>
            <a:r>
              <a:rPr lang="ko-KR" altLang="en-US" sz="2000" dirty="0"/>
              <a:t> 연료는 우라늄과 플루토늄 산화물을 혼합한 형태로</a:t>
            </a:r>
            <a:r>
              <a:rPr lang="en-US" altLang="ko-KR" sz="2000" dirty="0"/>
              <a:t>,</a:t>
            </a:r>
            <a:r>
              <a:rPr lang="ko-KR" altLang="en-US" sz="2000" dirty="0"/>
              <a:t> 일부 경수로 및 고속증식로에서 사용이 가능하며</a:t>
            </a:r>
            <a:r>
              <a:rPr lang="en-US" altLang="ko-KR" sz="2000" dirty="0"/>
              <a:t>,</a:t>
            </a:r>
            <a:r>
              <a:rPr lang="ko-KR" altLang="en-US" sz="2000" dirty="0"/>
              <a:t> 플루토늄의 재활용을 통해 고준위 폐기물의 양을 줄이는 효과를 가짐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재처리 과정은 화학적 분리와 정체</a:t>
            </a:r>
            <a:r>
              <a:rPr lang="en-US" altLang="ko-KR" sz="2000" dirty="0"/>
              <a:t>,</a:t>
            </a:r>
            <a:r>
              <a:rPr lang="ko-KR" altLang="en-US" sz="2000" dirty="0"/>
              <a:t> 연료 재제조 공정을 포함하며</a:t>
            </a:r>
            <a:r>
              <a:rPr lang="en-US" altLang="ko-KR" sz="2000" dirty="0"/>
              <a:t>,</a:t>
            </a:r>
            <a:r>
              <a:rPr lang="ko-KR" altLang="en-US" sz="2000" dirty="0"/>
              <a:t> 사용후 연료에 포함된 플루토늄과 우라늄의 회수율을 높임으로써 자원 효율성을 증진시킴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연료주기에서 발생하는 방사성 폐기물</a:t>
            </a:r>
            <a:r>
              <a:rPr lang="en-US" altLang="ko-KR" sz="2000" dirty="0"/>
              <a:t>,</a:t>
            </a:r>
            <a:r>
              <a:rPr lang="ko-KR" altLang="en-US" sz="2000" dirty="0"/>
              <a:t> 특히 사용후 연료와 재처리 잔여물로 구성된 고준위 폐기물의 처리는 가장 심각한 기술적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도전 중 하나로 남아 있음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249187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원자력 발전의 기본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marL="342750" lvl="0" indent="-285600">
              <a:defRPr/>
            </a:pPr>
            <a:r>
              <a:rPr lang="ko-KR" altLang="en-US" sz="2000"/>
              <a:t>원자로의 구조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일반적인 원자로는 노심</a:t>
            </a:r>
            <a:r>
              <a:rPr lang="en-US" altLang="ko-KR" sz="2000"/>
              <a:t>(reactor core), </a:t>
            </a:r>
            <a:r>
              <a:rPr lang="ko-KR" altLang="en-US" sz="2000"/>
              <a:t>제어봉</a:t>
            </a:r>
            <a:r>
              <a:rPr lang="en-US" altLang="ko-KR" sz="2000"/>
              <a:t>(control rods), </a:t>
            </a:r>
            <a:r>
              <a:rPr lang="ko-KR" altLang="en-US" sz="2000"/>
              <a:t>냉각 시스템</a:t>
            </a:r>
            <a:r>
              <a:rPr lang="en-US" altLang="ko-KR" sz="2000"/>
              <a:t>,</a:t>
            </a:r>
            <a:r>
              <a:rPr lang="ko-KR" altLang="en-US" sz="2000"/>
              <a:t> 압력용기</a:t>
            </a:r>
            <a:r>
              <a:rPr lang="en-US" altLang="ko-KR" sz="2000"/>
              <a:t>(pressure vessel), </a:t>
            </a:r>
            <a:r>
              <a:rPr lang="ko-KR" altLang="en-US" sz="2000"/>
              <a:t>격납구조</a:t>
            </a:r>
            <a:r>
              <a:rPr lang="en-US" altLang="ko-KR" sz="2000"/>
              <a:t>(containment structure) </a:t>
            </a:r>
            <a:r>
              <a:rPr lang="ko-KR" altLang="en-US" sz="2000"/>
              <a:t>등으로 구성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노심은 원자로의 핵심 부위로서 핵분열 반응이 일어나는 곳이며</a:t>
            </a:r>
            <a:r>
              <a:rPr lang="en-US" altLang="ko-KR" sz="2000"/>
              <a:t>,</a:t>
            </a:r>
            <a:r>
              <a:rPr lang="ko-KR" altLang="en-US" sz="2000"/>
              <a:t> 다수의 연료봉이 집합체 형태로 배열되어 있음</a:t>
            </a:r>
            <a:r>
              <a:rPr lang="en-US" altLang="ko-KR" sz="2000"/>
              <a:t>.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/>
              <a:t>노심 내에는 중성자 감속재인 물이나 흑연 등이 함께 채워져 있어</a:t>
            </a:r>
            <a:r>
              <a:rPr lang="en-US" altLang="ko-KR" sz="2000"/>
              <a:t>,</a:t>
            </a:r>
            <a:r>
              <a:rPr lang="ko-KR" altLang="en-US" sz="2000"/>
              <a:t> 빠른 중성자를 감속시켜 핵분열의 확률을 증가시킴</a:t>
            </a:r>
          </a:p>
          <a:p>
            <a:pPr marL="742800" lvl="1" indent="-285600">
              <a:buChar char="•"/>
              <a:defRPr/>
            </a:pPr>
            <a:endParaRPr lang="ko-KR" altLang="en-US" sz="2000"/>
          </a:p>
          <a:p>
            <a:pPr marL="742800" lvl="1" indent="-285600">
              <a:buChar char="•"/>
              <a:defRPr/>
            </a:pPr>
            <a:r>
              <a:rPr lang="ko-KR" altLang="en-US" sz="2000"/>
              <a:t>제어봉은 붕소</a:t>
            </a:r>
            <a:r>
              <a:rPr lang="en-US" altLang="ko-KR" sz="2000"/>
              <a:t>,</a:t>
            </a:r>
            <a:r>
              <a:rPr lang="ko-KR" altLang="en-US" sz="2000"/>
              <a:t> 카드뮴</a:t>
            </a:r>
            <a:r>
              <a:rPr lang="en-US" altLang="ko-KR" sz="2000"/>
              <a:t>,</a:t>
            </a:r>
            <a:r>
              <a:rPr lang="ko-KR" altLang="en-US" sz="2000"/>
              <a:t> 해플로이 등 중성자를 잘 흡수하는 물질로 제작되며</a:t>
            </a:r>
            <a:r>
              <a:rPr lang="en-US" altLang="ko-KR" sz="2000"/>
              <a:t>,</a:t>
            </a:r>
            <a:r>
              <a:rPr lang="ko-KR" altLang="en-US" sz="2000"/>
              <a:t> 원자로의 연쇄반응을 조절하기 위해 노심에 삽입되거나 제거됨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/>
              <a:t>제어봉이 삽입되면 중성자의 수가 감소하여 반응이 억제되고</a:t>
            </a:r>
            <a:r>
              <a:rPr lang="en-US" altLang="ko-KR" sz="2000"/>
              <a:t>,</a:t>
            </a:r>
            <a:r>
              <a:rPr lang="ko-KR" altLang="en-US" sz="2000"/>
              <a:t> 제거되면 반응이 다시 할성화됨</a:t>
            </a:r>
          </a:p>
          <a:p>
            <a:pPr marL="742800" lvl="1" indent="-285600">
              <a:buChar char="•"/>
              <a:defRPr/>
            </a:pPr>
            <a:endParaRPr lang="ko-KR" altLang="en-US" sz="2000"/>
          </a:p>
          <a:p>
            <a:pPr marL="742800" lvl="1" indent="-285600">
              <a:buChar char="•"/>
              <a:defRPr/>
            </a:pPr>
            <a:r>
              <a:rPr lang="ko-KR" altLang="en-US" sz="2000"/>
              <a:t>냉각시스템은 핵분열로 발생한 열을 제거하고 이를 발전에 활용할 수 있도록 전달하는 역할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/>
              <a:t>가압경수로의 경우</a:t>
            </a:r>
            <a:r>
              <a:rPr lang="en-US" altLang="ko-KR" sz="2000"/>
              <a:t>,</a:t>
            </a:r>
            <a:r>
              <a:rPr lang="ko-KR" altLang="en-US" sz="2000"/>
              <a:t> 냉각수가 고압 상태에서 끓지 않도록 유지되며</a:t>
            </a:r>
            <a:r>
              <a:rPr lang="en-US" altLang="ko-KR" sz="2000"/>
              <a:t>,</a:t>
            </a:r>
            <a:r>
              <a:rPr lang="ko-KR" altLang="en-US" sz="2000"/>
              <a:t> 열은 열교환기를 통해 </a:t>
            </a:r>
            <a:r>
              <a:rPr lang="en-US" altLang="ko-KR" sz="2000"/>
              <a:t>2</a:t>
            </a:r>
            <a:r>
              <a:rPr lang="ko-KR" altLang="en-US" sz="2000"/>
              <a:t>차 계통으로 전달되어 증가를 생성하고 터빈을 구동시켜 전력을 생산</a:t>
            </a:r>
          </a:p>
          <a:p>
            <a:pPr marL="742800" lvl="1" indent="-285600">
              <a:buChar char="•"/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179430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원자력 발전의 기본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defRPr/>
            </a:pPr>
            <a:r>
              <a:rPr lang="ko-KR" altLang="en-US" sz="2000" dirty="0"/>
              <a:t>원자로의 구조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압력용기는 두꺼운 강철로 제작된 구조물로</a:t>
            </a:r>
            <a:r>
              <a:rPr lang="en-US" altLang="ko-KR" sz="2000" dirty="0"/>
              <a:t>,</a:t>
            </a:r>
            <a:r>
              <a:rPr lang="ko-KR" altLang="en-US" sz="2000" dirty="0"/>
              <a:t> 노심과 냉각제를 내부에 보관하고 고온 상태를 견딜수 있도록 설계되어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방사성 물질이 외부로 누출되지 않도록 </a:t>
            </a:r>
            <a:r>
              <a:rPr lang="en-US" altLang="ko-KR" sz="2000" dirty="0"/>
              <a:t>1</a:t>
            </a:r>
            <a:r>
              <a:rPr lang="ko-KR" altLang="en-US" sz="2000" dirty="0"/>
              <a:t>차적인 방호의 역할을 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격납구조는 원자로에서 사고나 이상 상황이 발생할 경우</a:t>
            </a:r>
            <a:r>
              <a:rPr lang="en-US" altLang="ko-KR" sz="2000" dirty="0"/>
              <a:t>,</a:t>
            </a:r>
            <a:r>
              <a:rPr lang="ko-KR" altLang="en-US" sz="2000" dirty="0"/>
              <a:t> 방사성 물질이 외부로 방출되지 않도록 하기 위한 최종 방호 장치로</a:t>
            </a:r>
            <a:r>
              <a:rPr lang="en-US" altLang="ko-KR" sz="2000" dirty="0"/>
              <a:t>,</a:t>
            </a:r>
            <a:r>
              <a:rPr lang="ko-KR" altLang="en-US" sz="2000" dirty="0"/>
              <a:t> 일반적으로 고강도 콘크리트와 강철로 구성되며</a:t>
            </a:r>
            <a:r>
              <a:rPr lang="en-US" altLang="ko-KR" sz="2000" dirty="0"/>
              <a:t>,</a:t>
            </a:r>
            <a:r>
              <a:rPr lang="ko-KR" altLang="en-US" sz="2000" dirty="0"/>
              <a:t> 지진</a:t>
            </a:r>
            <a:r>
              <a:rPr lang="en-US" altLang="ko-KR" sz="2000" dirty="0"/>
              <a:t>,</a:t>
            </a:r>
            <a:r>
              <a:rPr lang="ko-KR" altLang="en-US" sz="2000" dirty="0"/>
              <a:t> 폭발 등의 외부 충격을 견딜 수 있도록 설계됨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2726237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원자력 발전의 기본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defRPr/>
            </a:pPr>
            <a:r>
              <a:rPr lang="ko-KR" altLang="en-US" sz="2000" dirty="0"/>
              <a:t>원자로의 기본 작동 원리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원자로 작동의 핵심 원리는 통제된 연쇄반응</a:t>
            </a:r>
            <a:r>
              <a:rPr lang="en-US" altLang="ko-KR" sz="2000" dirty="0"/>
              <a:t>(controlled chain reaction)</a:t>
            </a:r>
            <a:r>
              <a:rPr lang="ko-KR" altLang="en-US" sz="2000" dirty="0"/>
              <a:t>임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노심에서 중성자가 핵분열성 원자핵에 충동하면</a:t>
            </a:r>
            <a:r>
              <a:rPr lang="en-US" altLang="ko-KR" sz="2000" dirty="0"/>
              <a:t>,</a:t>
            </a:r>
            <a:r>
              <a:rPr lang="ko-KR" altLang="en-US" sz="2000" dirty="0"/>
              <a:t> 원자핵은 둘 이상의 가벼운 핵종으로 분열하며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 과정에서 다량의 열에너지와 함께 </a:t>
            </a:r>
            <a:r>
              <a:rPr lang="en-US" altLang="ko-KR" sz="2000" dirty="0"/>
              <a:t>2~3</a:t>
            </a:r>
            <a:r>
              <a:rPr lang="ko-KR" altLang="en-US" sz="2000" dirty="0"/>
              <a:t>개의 새로운 중성자가 추가로 방출됨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이 방출된 중성자들은 다시 주변의 핵 분열성 핵에 충돌함으로써 새로운 분열 반응을 유도하고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이러한 반복적인 반응이 자기 유지적 연쇄반응</a:t>
            </a:r>
            <a:r>
              <a:rPr lang="en-US" altLang="ko-KR" sz="2000" dirty="0"/>
              <a:t>(self-sustaining chain reaction)</a:t>
            </a:r>
            <a:r>
              <a:rPr lang="ko-KR" altLang="en-US" sz="2000" dirty="0"/>
              <a:t>으로 이어짐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이 과정에서 발생하는 열에너지는 원자로 내의 냉각제</a:t>
            </a:r>
            <a:r>
              <a:rPr lang="en-US" altLang="ko-KR" sz="2000" dirty="0"/>
              <a:t>(coolant)</a:t>
            </a:r>
            <a:r>
              <a:rPr lang="ko-KR" altLang="en-US" sz="2000" dirty="0"/>
              <a:t>를 통해 흡수되며</a:t>
            </a:r>
            <a:r>
              <a:rPr lang="en-US" altLang="ko-KR" sz="2000" dirty="0"/>
              <a:t>,</a:t>
            </a:r>
            <a:r>
              <a:rPr lang="ko-KR" altLang="en-US" sz="2000" dirty="0"/>
              <a:t> 냉각제는 핵분열로 발생한 열을 열교환기로 전달하고</a:t>
            </a:r>
            <a:r>
              <a:rPr lang="en-US" altLang="ko-KR" sz="2000" dirty="0"/>
              <a:t>,</a:t>
            </a:r>
            <a:r>
              <a:rPr lang="ko-KR" altLang="en-US" sz="2000" dirty="0"/>
              <a:t> 여기에서 물이 고온</a:t>
            </a:r>
            <a:r>
              <a:rPr lang="en-US" altLang="ko-KR" sz="2000" dirty="0"/>
              <a:t>·</a:t>
            </a:r>
            <a:r>
              <a:rPr lang="ko-KR" altLang="en-US" sz="2000" dirty="0"/>
              <a:t>고압의 증기로 변환됨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이 증기는 터빈을 회전시키며</a:t>
            </a:r>
            <a:r>
              <a:rPr lang="en-US" altLang="ko-KR" sz="2000" dirty="0"/>
              <a:t>,</a:t>
            </a:r>
            <a:r>
              <a:rPr lang="ko-KR" altLang="en-US" sz="2000" dirty="0"/>
              <a:t> 터빈의 회전력은 다시 발전기로 전달되어 전기가 생산됨</a:t>
            </a:r>
          </a:p>
          <a:p>
            <a:pPr marL="1142850" lvl="2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</a:p>
        </p:txBody>
      </p:sp>
    </p:spTree>
    <p:extLst>
      <p:ext uri="{BB962C8B-B14F-4D97-AF65-F5344CB8AC3E}">
        <p14:creationId xmlns:p14="http://schemas.microsoft.com/office/powerpoint/2010/main" val="364870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원자력 발전소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 주요 원자로 유형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가압수형 원자로</a:t>
            </a:r>
            <a:r>
              <a:rPr lang="en-US" altLang="ko-KR" sz="2000" dirty="0"/>
              <a:t>(pressurized water reactor, PWR)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전</a:t>
            </a:r>
            <a:r>
              <a:rPr lang="en-US" altLang="ko-KR" sz="2000" dirty="0"/>
              <a:t> </a:t>
            </a:r>
            <a:r>
              <a:rPr lang="ko-KR" altLang="en-US" sz="2000" dirty="0"/>
              <a:t>세계</a:t>
            </a:r>
            <a:r>
              <a:rPr lang="en-US" altLang="ko-KR" sz="2000" dirty="0"/>
              <a:t> </a:t>
            </a:r>
            <a:r>
              <a:rPr lang="ko-KR" altLang="en-US" sz="2000" dirty="0"/>
              <a:t>상업용 원자로의 약 </a:t>
            </a:r>
            <a:r>
              <a:rPr lang="en-US" altLang="ko-KR" sz="2000" dirty="0"/>
              <a:t>60%</a:t>
            </a:r>
            <a:r>
              <a:rPr lang="ko-KR" altLang="en-US" sz="2000" dirty="0"/>
              <a:t> 이상을 차지하고 있음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보통 물을 냉각재이자 감속재로 사용하며</a:t>
            </a:r>
            <a:r>
              <a:rPr lang="en-US" altLang="ko-KR" sz="2000" dirty="0"/>
              <a:t>,</a:t>
            </a:r>
            <a:r>
              <a:rPr lang="ko-KR" altLang="en-US" sz="2000" dirty="0"/>
              <a:t> 냉각수가 노심에서 비등하지 않도록 고압 생태로 유지됨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핵분열 반응으로 발생한 열은 고압의 냉각수를 가열하고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 열 </a:t>
            </a:r>
            <a:r>
              <a:rPr lang="en-US" altLang="ko-KR" sz="2000" dirty="0"/>
              <a:t>2</a:t>
            </a:r>
            <a:r>
              <a:rPr lang="ko-KR" altLang="en-US" sz="2000" dirty="0"/>
              <a:t>차 계통의 증기발생기</a:t>
            </a:r>
            <a:r>
              <a:rPr lang="en-US" altLang="ko-KR" sz="2000" dirty="0"/>
              <a:t>(stream generator)</a:t>
            </a:r>
            <a:r>
              <a:rPr lang="ko-KR" altLang="en-US" sz="2000" dirty="0"/>
              <a:t>를 통해 별도의 증기 회로로 전달됨</a:t>
            </a:r>
          </a:p>
          <a:p>
            <a:pPr marL="1142850" lvl="2" indent="-285600">
              <a:buChar char="•"/>
              <a:defRPr/>
            </a:pPr>
            <a:r>
              <a:rPr lang="en-US" altLang="ko-KR" sz="2000" dirty="0"/>
              <a:t>2</a:t>
            </a:r>
            <a:r>
              <a:rPr lang="ko-KR" altLang="en-US" sz="2000" dirty="0"/>
              <a:t>차 계통의 물이 증기로 변하여 터빈을 회전시키고 발전기를 통해 전력이 생산됨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노심과 터빈 계통이 물리적으로 분리되어 있어 방사선 관리가 용이하고</a:t>
            </a:r>
            <a:r>
              <a:rPr lang="en-US" altLang="ko-KR" sz="2000" dirty="0"/>
              <a:t>,</a:t>
            </a:r>
            <a:r>
              <a:rPr lang="ko-KR" altLang="en-US" sz="2000" dirty="0"/>
              <a:t> 운전 안정성이 높으며 정비 경험이 축적되어 있다는 장점이 있음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비등수형 원자로</a:t>
            </a:r>
            <a:r>
              <a:rPr lang="en-US" altLang="ko-KR" sz="2000" dirty="0"/>
              <a:t>(boiling water reactor: BWR)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경수를 냉각재와 감속재로 사용하지만</a:t>
            </a:r>
            <a:r>
              <a:rPr lang="en-US" altLang="ko-KR" sz="2000" dirty="0"/>
              <a:t>,</a:t>
            </a:r>
            <a:r>
              <a:rPr lang="ko-KR" altLang="en-US" sz="2000" dirty="0"/>
              <a:t> 냉각수가 노심에서 직접 비등하여 증기로 변환됨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생선된 증기는 열교환기를 거치지 않고 곧바로 터빈으로 직접 공급되어 발전</a:t>
            </a:r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11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05834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원자력 발전소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42800" lvl="1" indent="-285600">
              <a:buChar char="•"/>
              <a:defRPr/>
            </a:pPr>
            <a:r>
              <a:rPr lang="ko-KR" altLang="en-US" sz="2000" dirty="0"/>
              <a:t>비등수형 원자로</a:t>
            </a:r>
            <a:r>
              <a:rPr lang="en-US" altLang="ko-KR" sz="2000" dirty="0"/>
              <a:t>(boiling water reactor: BWR)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열효율이 높고</a:t>
            </a:r>
            <a:r>
              <a:rPr lang="en-US" altLang="ko-KR" sz="2000" dirty="0"/>
              <a:t>,</a:t>
            </a:r>
            <a:r>
              <a:rPr lang="ko-KR" altLang="en-US" sz="2000" dirty="0"/>
              <a:t> 설계 단순화 가능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노심에서 생성된 증기가 직접 터빈으로 유입되기 때문에 터빈 계통에도 방사성 물질이 포함될 가능성이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방사선 차폐 및 유지관리 기준이 상대적으로 엄격</a:t>
            </a:r>
          </a:p>
          <a:p>
            <a:pPr marL="1142850" lvl="2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가압중수로</a:t>
            </a:r>
            <a:r>
              <a:rPr lang="en-US" altLang="ko-KR" sz="2000" dirty="0"/>
              <a:t>(pressured heavy water reactor: PHWR)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감속재와 냉각재 모두에 중수</a:t>
            </a:r>
            <a:r>
              <a:rPr lang="en-US" altLang="ko-KR" sz="2000" dirty="0"/>
              <a:t>(D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en-US" altLang="ko-KR" sz="2000" dirty="0"/>
              <a:t>O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en-US" altLang="ko-KR" sz="2000" dirty="0"/>
              <a:t>)</a:t>
            </a:r>
            <a:r>
              <a:rPr lang="ko-KR" altLang="en-US" sz="2000" dirty="0"/>
              <a:t>를 사용하는 구조로</a:t>
            </a:r>
            <a:r>
              <a:rPr lang="en-US" altLang="ko-KR" sz="2000" dirty="0"/>
              <a:t>,</a:t>
            </a:r>
            <a:r>
              <a:rPr lang="ko-KR" altLang="en-US" sz="2000" dirty="0"/>
              <a:t> 중성자 손실이 적기 때문에 천연 우라늄을 직접 연료로 사용할 수 있음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이로 인해 연료 농축 공정이 필요없으며</a:t>
            </a:r>
            <a:r>
              <a:rPr lang="en-US" altLang="ko-KR" sz="2000" dirty="0"/>
              <a:t>,</a:t>
            </a:r>
            <a:r>
              <a:rPr lang="ko-KR" altLang="en-US" sz="2000" dirty="0"/>
              <a:t> 중성자 경제성이 높아 효율적인 핵반응 유지가 가능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캐나다의 </a:t>
            </a:r>
            <a:r>
              <a:rPr lang="en-US" altLang="ko-KR" sz="2000" dirty="0"/>
              <a:t>CANDU</a:t>
            </a:r>
            <a:r>
              <a:rPr lang="ko-KR" altLang="en-US" sz="2000" dirty="0"/>
              <a:t>형 원자로가 사례임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endParaRPr lang="ko-KR" altLang="en-US" sz="2000" dirty="0"/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endParaRPr lang="en-US" altLang="ko-KR" sz="2000" dirty="0"/>
          </a:p>
          <a:p>
            <a:pPr marL="1142850" lvl="2" indent="-285600">
              <a:buChar char="•"/>
              <a:defRPr/>
            </a:pPr>
            <a:endParaRPr lang="en-US" altLang="ko-KR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0749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원자력 발전소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고급 가스냉각형 원자로</a:t>
            </a:r>
            <a:r>
              <a:rPr lang="en-US" altLang="ko-KR" sz="2000" dirty="0"/>
              <a:t>(Advanced Gas-cooled reactor: AGR)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주로</a:t>
            </a:r>
            <a:r>
              <a:rPr lang="en-US" altLang="ko-KR" sz="2000" dirty="0"/>
              <a:t> </a:t>
            </a:r>
            <a:r>
              <a:rPr lang="ko-KR" altLang="en-US" sz="2000" dirty="0"/>
              <a:t>영국에서 사용되는 설계로</a:t>
            </a:r>
            <a:r>
              <a:rPr lang="en-US" altLang="ko-KR" sz="2000" dirty="0"/>
              <a:t>,</a:t>
            </a:r>
            <a:r>
              <a:rPr lang="ko-KR" altLang="en-US" sz="2000" dirty="0"/>
              <a:t> 감속재로 흑연</a:t>
            </a:r>
            <a:r>
              <a:rPr lang="en-US" altLang="ko-KR" sz="2000" dirty="0"/>
              <a:t>(graphite)</a:t>
            </a:r>
            <a:r>
              <a:rPr lang="ko-KR" altLang="en-US" sz="2000" dirty="0"/>
              <a:t>을 냉각재로 이산화탄소를 사용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연료로는 농축 우라늄 이산화물</a:t>
            </a:r>
            <a:r>
              <a:rPr lang="en-US" altLang="ko-KR" sz="2000" dirty="0"/>
              <a:t>(UO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en-US" altLang="ko-KR" sz="2000" dirty="0"/>
              <a:t>)</a:t>
            </a:r>
            <a:r>
              <a:rPr lang="ko-KR" altLang="en-US" sz="2000" dirty="0"/>
              <a:t>이 사용되며</a:t>
            </a:r>
            <a:r>
              <a:rPr lang="en-US" altLang="ko-KR" sz="2000" dirty="0"/>
              <a:t>,</a:t>
            </a:r>
            <a:r>
              <a:rPr lang="ko-KR" altLang="en-US" sz="2000" dirty="0"/>
              <a:t> 냉각재의 온도가 상대적으로 높아 열효율이 </a:t>
            </a:r>
            <a:r>
              <a:rPr lang="en-US" altLang="ko-KR" sz="2000" dirty="0"/>
              <a:t>40%</a:t>
            </a:r>
            <a:r>
              <a:rPr lang="ko-KR" altLang="en-US" sz="2000" dirty="0"/>
              <a:t> 이상으로 우수한 편임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구조가 복잡하고</a:t>
            </a:r>
            <a:r>
              <a:rPr lang="en-US" altLang="ko-KR" sz="2000" dirty="0"/>
              <a:t>,</a:t>
            </a:r>
            <a:r>
              <a:rPr lang="ko-KR" altLang="en-US" sz="2000" dirty="0"/>
              <a:t> 고온에 견디는 내열 재료와 정교한 제어 시스템이 필요하기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건설비용과 유지관리 비용이 상대적으로 높다는 단점이 있음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endParaRPr lang="ko-KR" altLang="en-US" sz="2000" dirty="0"/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고속증식로</a:t>
            </a:r>
            <a:r>
              <a:rPr lang="en-US" altLang="ko-KR" sz="2000" dirty="0"/>
              <a:t>(Fast Breeder Reactor, FBR) 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중성자를 감속시키지 않고 고속 상태에서 그대로 이용하는 원자로로</a:t>
            </a:r>
            <a:r>
              <a:rPr lang="en-US" altLang="ko-KR" sz="2000" dirty="0"/>
              <a:t>,</a:t>
            </a:r>
            <a:r>
              <a:rPr lang="ko-KR" altLang="en-US" sz="2000" dirty="0"/>
              <a:t> 플루토늄</a:t>
            </a:r>
            <a:r>
              <a:rPr lang="en-US" altLang="ko-KR" sz="2000" dirty="0"/>
              <a:t>239 </a:t>
            </a:r>
            <a:r>
              <a:rPr lang="ko-KR" altLang="en-US" sz="2000" dirty="0"/>
              <a:t>또는 우라늄 </a:t>
            </a:r>
            <a:r>
              <a:rPr lang="en-US" altLang="ko-KR" sz="2000" dirty="0"/>
              <a:t>238</a:t>
            </a:r>
            <a:r>
              <a:rPr lang="ko-KR" altLang="en-US" sz="2000" dirty="0"/>
              <a:t>을 핵분열 또는 핵변환시켜 새로운 연료를 생성하는 기능을 갖춤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이 원자로는 연료를 단순히 소비하는 것을 넘어</a:t>
            </a:r>
            <a:r>
              <a:rPr lang="en-US" altLang="ko-KR" sz="2000" dirty="0"/>
              <a:t>,</a:t>
            </a:r>
            <a:r>
              <a:rPr lang="ko-KR" altLang="en-US" sz="2000" dirty="0"/>
              <a:t> 연소와 동시에 핵연료를 증식</a:t>
            </a:r>
            <a:r>
              <a:rPr lang="en-US" altLang="ko-KR" sz="2000" dirty="0"/>
              <a:t>(breed)</a:t>
            </a:r>
            <a:r>
              <a:rPr lang="ko-KR" altLang="en-US" sz="2000" dirty="0"/>
              <a:t>할 수 있어 핵자원의 활용도를 비약적으로 향상시킬 수 있는 기술로 평가됨</a:t>
            </a:r>
          </a:p>
          <a:p>
            <a:pPr marL="1142850" lvl="2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고속증식로는 현재까지 시범적 혹은 제한적 형태로 운영돤 사례가 있으나</a:t>
            </a:r>
            <a:r>
              <a:rPr lang="en-US" altLang="ko-KR" sz="2000" dirty="0"/>
              <a:t>,</a:t>
            </a:r>
            <a:r>
              <a:rPr lang="ko-KR" altLang="en-US" sz="2000" dirty="0"/>
              <a:t> 상업적 실용화는 초기 단계에 머물러 있음</a:t>
            </a:r>
          </a:p>
          <a:p>
            <a:pPr marL="1142850" lvl="2" indent="-285600">
              <a:buChar char="•"/>
              <a:defRPr/>
            </a:pPr>
            <a:endParaRPr lang="en-US" altLang="ko-KR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71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원자력 발전소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원자력 발전소의  설계와 건설 과정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 발전소의 설계 및 건설은 일반적인 발전소에 비해 휠씬 더 장기적이고 복잡한 과정을 수반하며</a:t>
            </a:r>
            <a:r>
              <a:rPr lang="en-US" altLang="ko-KR" sz="2000" dirty="0"/>
              <a:t>,</a:t>
            </a:r>
            <a:r>
              <a:rPr lang="ko-KR" altLang="en-US" sz="2000" dirty="0"/>
              <a:t> 평균적으로 </a:t>
            </a:r>
            <a:r>
              <a:rPr lang="en-US" altLang="ko-KR" sz="2000" dirty="0"/>
              <a:t>10</a:t>
            </a:r>
            <a:r>
              <a:rPr lang="ko-KR" altLang="en-US" sz="2000" dirty="0"/>
              <a:t>년 이상의 기간과 수십억 달러의 투자 자금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수많은 기술적</a:t>
            </a:r>
            <a:r>
              <a:rPr lang="en-US" altLang="ko-KR" sz="2000" dirty="0"/>
              <a:t>·</a:t>
            </a:r>
            <a:r>
              <a:rPr lang="ko-KR" altLang="en-US" sz="2000" dirty="0"/>
              <a:t>제도적 요건이 요구됨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가장 초기 단계인 부지 선정은 지질학적 안정성</a:t>
            </a:r>
            <a:r>
              <a:rPr lang="en-US" altLang="ko-KR" sz="2000" dirty="0"/>
              <a:t>,</a:t>
            </a:r>
            <a:r>
              <a:rPr lang="ko-KR" altLang="en-US" sz="2000" dirty="0"/>
              <a:t> 인근 활성 단층의 유무</a:t>
            </a:r>
            <a:r>
              <a:rPr lang="en-US" altLang="ko-KR" sz="2000" dirty="0"/>
              <a:t>,</a:t>
            </a:r>
            <a:r>
              <a:rPr lang="ko-KR" altLang="en-US" sz="2000" dirty="0"/>
              <a:t> 해수나 담수와 같은 냉각수원의 접근성</a:t>
            </a:r>
            <a:r>
              <a:rPr lang="en-US" altLang="ko-KR" sz="2000" dirty="0"/>
              <a:t>,</a:t>
            </a:r>
            <a:r>
              <a:rPr lang="ko-KR" altLang="en-US" sz="2000" dirty="0"/>
              <a:t> 홍수</a:t>
            </a:r>
            <a:r>
              <a:rPr lang="en-US" altLang="ko-KR" sz="2000" dirty="0"/>
              <a:t>·</a:t>
            </a:r>
            <a:r>
              <a:rPr lang="ko-KR" altLang="en-US" sz="2000" dirty="0"/>
              <a:t>지진</a:t>
            </a:r>
            <a:r>
              <a:rPr lang="en-US" altLang="ko-KR" sz="2000" dirty="0"/>
              <a:t>·</a:t>
            </a:r>
            <a:r>
              <a:rPr lang="ko-KR" altLang="en-US" sz="2000" dirty="0"/>
              <a:t>해일 등의 자연재해 위험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인구 밀집 지역과의 거리 등 복합적인 환경적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요인을 종합적으로 고려하여 결정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부지 승인이 완료되면 설계 및 엔지니어링 단계가 시작됨</a:t>
            </a:r>
            <a:r>
              <a:rPr lang="en-US" altLang="ko-KR" sz="2000" dirty="0"/>
              <a:t>.</a:t>
            </a:r>
            <a:r>
              <a:rPr lang="ko-KR" altLang="en-US" sz="2000" dirty="0"/>
              <a:t> 이 과정에서는 원자로의 종류</a:t>
            </a:r>
            <a:r>
              <a:rPr lang="en-US" altLang="ko-KR" sz="2000" dirty="0"/>
              <a:t>,</a:t>
            </a:r>
            <a:r>
              <a:rPr lang="ko-KR" altLang="en-US" sz="2000" dirty="0"/>
              <a:t> 냉각 및 감소 시스템의 구성</a:t>
            </a:r>
            <a:r>
              <a:rPr lang="en-US" altLang="ko-KR" sz="2000" dirty="0"/>
              <a:t>,</a:t>
            </a:r>
            <a:r>
              <a:rPr lang="ko-KR" altLang="en-US" sz="2000" dirty="0"/>
              <a:t> 격납건물의 형태</a:t>
            </a:r>
            <a:r>
              <a:rPr lang="en-US" altLang="ko-KR" sz="2000" dirty="0"/>
              <a:t>,</a:t>
            </a:r>
            <a:r>
              <a:rPr lang="ko-KR" altLang="en-US" sz="2000" dirty="0"/>
              <a:t> 제어실 및 비상전원 시스템의 배치</a:t>
            </a:r>
            <a:r>
              <a:rPr lang="en-US" altLang="ko-KR" sz="2000" dirty="0"/>
              <a:t>,</a:t>
            </a:r>
            <a:r>
              <a:rPr lang="ko-KR" altLang="en-US" sz="2000" dirty="0"/>
              <a:t> 폐기물 관리 방식 등 세부 공학설계가 이루어짐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건설 단계</a:t>
            </a:r>
            <a:r>
              <a:rPr lang="en-US" altLang="ko-KR" sz="2000" dirty="0"/>
              <a:t>(construction phase)</a:t>
            </a:r>
            <a:r>
              <a:rPr lang="ko-KR" altLang="en-US" sz="2000" dirty="0"/>
              <a:t>로 넘어가면</a:t>
            </a:r>
            <a:r>
              <a:rPr lang="en-US" altLang="ko-KR" sz="2000" dirty="0"/>
              <a:t>,</a:t>
            </a:r>
            <a:r>
              <a:rPr lang="ko-KR" altLang="en-US" sz="2000" dirty="0"/>
              <a:t> 원자로 본체</a:t>
            </a:r>
            <a:r>
              <a:rPr lang="en-US" altLang="ko-KR" sz="2000" dirty="0"/>
              <a:t>,</a:t>
            </a:r>
            <a:r>
              <a:rPr lang="ko-KR" altLang="en-US" sz="2000" dirty="0"/>
              <a:t> 격납건물</a:t>
            </a:r>
            <a:r>
              <a:rPr lang="en-US" altLang="ko-KR" sz="2000" dirty="0"/>
              <a:t>,</a:t>
            </a:r>
            <a:r>
              <a:rPr lang="ko-KR" altLang="en-US" sz="2000" dirty="0"/>
              <a:t> 증기발생기</a:t>
            </a:r>
            <a:r>
              <a:rPr lang="en-US" altLang="ko-KR" sz="2000" dirty="0"/>
              <a:t>,</a:t>
            </a:r>
            <a:r>
              <a:rPr lang="ko-KR" altLang="en-US" sz="2000" dirty="0"/>
              <a:t> 터빈 계통</a:t>
            </a:r>
            <a:r>
              <a:rPr lang="en-US" altLang="ko-KR" sz="2000" dirty="0"/>
              <a:t>,</a:t>
            </a:r>
            <a:r>
              <a:rPr lang="ko-KR" altLang="en-US" sz="2000" dirty="0"/>
              <a:t> 냉각탑</a:t>
            </a:r>
            <a:r>
              <a:rPr lang="en-US" altLang="ko-KR" sz="2000" dirty="0"/>
              <a:t>,</a:t>
            </a:r>
            <a:r>
              <a:rPr lang="ko-KR" altLang="en-US" sz="2000" dirty="0"/>
              <a:t> 연료 저장 시설</a:t>
            </a:r>
            <a:r>
              <a:rPr lang="en-US" altLang="ko-KR" sz="2000" dirty="0"/>
              <a:t>,</a:t>
            </a:r>
            <a:r>
              <a:rPr lang="ko-KR" altLang="en-US" sz="2000" dirty="0"/>
              <a:t> 방사선 차폐 구조물 등 대규모 기반 시설의 시공이 진행 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525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원자력 발전소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/>
              <a:t>원자력 발전소의  설계와 건설 과정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건설이 완료된 후에는 원전의 안전성과 기능적 적합성을 검증하기 위한 시운전 단계가 수행됨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이 단계에서는 원자로에 핵연료를 장전하기 전의 </a:t>
            </a:r>
            <a:r>
              <a:rPr lang="en-US" altLang="ko-KR" sz="2000"/>
              <a:t>‘</a:t>
            </a:r>
            <a:r>
              <a:rPr lang="ko-KR" altLang="en-US" sz="2000"/>
              <a:t>비핵시우전</a:t>
            </a:r>
            <a:r>
              <a:rPr lang="en-US" altLang="ko-KR" sz="2000"/>
              <a:t>(non-nuclear testing)</a:t>
            </a:r>
            <a:r>
              <a:rPr lang="ko-KR" altLang="en-US" sz="2000"/>
              <a:t>과</a:t>
            </a:r>
            <a:r>
              <a:rPr lang="en-US" altLang="ko-KR" sz="2000"/>
              <a:t>,</a:t>
            </a:r>
            <a:r>
              <a:rPr lang="ko-KR" altLang="en-US" sz="2000"/>
              <a:t> 연료 장전 후에 수행되는 </a:t>
            </a:r>
            <a:r>
              <a:rPr lang="en-US" altLang="ko-KR" sz="2000"/>
              <a:t>‘</a:t>
            </a:r>
            <a:r>
              <a:rPr lang="ko-KR" altLang="en-US" sz="2000"/>
              <a:t>핵시운전</a:t>
            </a:r>
            <a:r>
              <a:rPr lang="en-US" altLang="ko-KR" sz="2000"/>
              <a:t>(nuclear testing)’</a:t>
            </a:r>
            <a:r>
              <a:rPr lang="ko-KR" altLang="en-US" sz="2000"/>
              <a:t>이 포함됨</a:t>
            </a:r>
          </a:p>
          <a:p>
            <a:pPr marL="742800" lvl="1" indent="-285600">
              <a:buChar char="•"/>
              <a:defRPr/>
            </a:pPr>
            <a:endParaRPr lang="ko-KR" altLang="en-US" sz="2000"/>
          </a:p>
          <a:p>
            <a:pPr marL="742800" lvl="1" indent="-285600">
              <a:buChar char="•"/>
              <a:defRPr/>
            </a:pPr>
            <a:r>
              <a:rPr lang="ko-KR" altLang="en-US" sz="2000"/>
              <a:t>주요 설비의 작동 여부</a:t>
            </a:r>
            <a:r>
              <a:rPr lang="en-US" altLang="ko-KR" sz="2000"/>
              <a:t>,</a:t>
            </a:r>
            <a:r>
              <a:rPr lang="ko-KR" altLang="en-US" sz="2000"/>
              <a:t> 냉각계통과 계측제어 계통의 반응 특성</a:t>
            </a:r>
            <a:r>
              <a:rPr lang="en-US" altLang="ko-KR" sz="2000"/>
              <a:t>,</a:t>
            </a:r>
            <a:r>
              <a:rPr lang="ko-KR" altLang="en-US" sz="2000"/>
              <a:t> 방호 체계의 작동성을 시험한 후</a:t>
            </a:r>
            <a:r>
              <a:rPr lang="en-US" altLang="ko-KR" sz="2000"/>
              <a:t>,</a:t>
            </a:r>
            <a:r>
              <a:rPr lang="ko-KR" altLang="en-US" sz="2000"/>
              <a:t> 핵연료를 장전하고 연쇄반응을 개시</a:t>
            </a:r>
            <a:r>
              <a:rPr lang="en-US" altLang="ko-KR" sz="2000"/>
              <a:t>(start-up)</a:t>
            </a:r>
            <a:r>
              <a:rPr lang="ko-KR" altLang="en-US" sz="2000"/>
              <a:t>하여 점진적으로 출력을 상승시킴</a:t>
            </a:r>
          </a:p>
          <a:p>
            <a:pPr marL="57150" lvl="0" indent="0">
              <a:buNone/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569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원자력 발전소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원자력 발전소의  운영과 유지</a:t>
            </a:r>
            <a:r>
              <a:rPr lang="en-US" altLang="ko-KR" sz="2000" dirty="0"/>
              <a:t>·</a:t>
            </a:r>
            <a:r>
              <a:rPr lang="ko-KR" altLang="en-US" sz="2000" dirty="0"/>
              <a:t>보수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 발전소의 운영은 고도의 기술적 정밀성과 안전성이 요구되는 복합적인 과정으로</a:t>
            </a:r>
            <a:r>
              <a:rPr lang="en-US" altLang="ko-KR" sz="2000" dirty="0"/>
              <a:t>,</a:t>
            </a:r>
            <a:r>
              <a:rPr lang="ko-KR" altLang="en-US" sz="2000" dirty="0"/>
              <a:t> 핵 연쇄 반응을 안정적으로 유지하면서도 지속적인 전력 공급을 보장해야 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발전소의 전반적인 운영은 중앙 제어실에서 수행되며</a:t>
            </a:r>
            <a:r>
              <a:rPr lang="en-US" altLang="ko-KR" sz="2000" dirty="0"/>
              <a:t>,</a:t>
            </a:r>
            <a:r>
              <a:rPr lang="ko-KR" altLang="en-US" sz="2000" dirty="0"/>
              <a:t> 냉각계</a:t>
            </a:r>
            <a:r>
              <a:rPr lang="en-US" altLang="ko-KR" sz="2000" dirty="0"/>
              <a:t>,</a:t>
            </a:r>
            <a:r>
              <a:rPr lang="ko-KR" altLang="en-US" sz="2000" dirty="0"/>
              <a:t> 터빈계통</a:t>
            </a:r>
            <a:r>
              <a:rPr lang="en-US" altLang="ko-KR" sz="2000" dirty="0"/>
              <a:t>,</a:t>
            </a:r>
            <a:r>
              <a:rPr lang="ko-KR" altLang="en-US" sz="2000" dirty="0"/>
              <a:t> 전기 계통</a:t>
            </a:r>
            <a:r>
              <a:rPr lang="en-US" altLang="ko-KR" sz="2000" dirty="0"/>
              <a:t>,</a:t>
            </a:r>
            <a:r>
              <a:rPr lang="ko-KR" altLang="en-US" sz="2000" dirty="0"/>
              <a:t> 압력 및 온도 상태 등을 포함한 주요 설비의 작동 상황이 실시간으로 감시됨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안정성 확보를 위한 다중 안전계통은 원자력 발전소 운영의 핵심 요소임</a:t>
            </a:r>
            <a:r>
              <a:rPr lang="en-US" altLang="ko-KR" sz="2000" dirty="0"/>
              <a:t>.</a:t>
            </a:r>
            <a:r>
              <a:rPr lang="ko-KR" altLang="en-US" sz="2000" dirty="0"/>
              <a:t> 대표적인 설비로는 비상노심냉각계통</a:t>
            </a:r>
            <a:r>
              <a:rPr lang="en-US" altLang="ko-KR" sz="2000" dirty="0"/>
              <a:t>(ECCS), </a:t>
            </a:r>
            <a:r>
              <a:rPr lang="ko-KR" altLang="en-US" sz="2000" dirty="0"/>
              <a:t>격납건물</a:t>
            </a:r>
            <a:r>
              <a:rPr lang="en-US" altLang="ko-KR" sz="2000" dirty="0"/>
              <a:t>,</a:t>
            </a:r>
            <a:r>
              <a:rPr lang="ko-KR" altLang="en-US" sz="2000" dirty="0"/>
              <a:t> 자동 정지 시스템</a:t>
            </a:r>
            <a:r>
              <a:rPr lang="en-US" altLang="ko-KR" sz="2000" dirty="0"/>
              <a:t>,</a:t>
            </a:r>
            <a:r>
              <a:rPr lang="ko-KR" altLang="en-US" sz="2000" dirty="0"/>
              <a:t> 여과 배기 시스템 등이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각 계통은 독립적으로 작동할 수 있도록 설계되어 사고 발생시 피해를 최소화하도록 되어 있음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 발전소는 주기적인 유지</a:t>
            </a:r>
            <a:r>
              <a:rPr lang="en-US" altLang="ko-KR" sz="2000" dirty="0"/>
              <a:t>·</a:t>
            </a:r>
            <a:r>
              <a:rPr lang="ko-KR" altLang="en-US" sz="2000" dirty="0"/>
              <a:t>보수 계획에 따라 안정성과 신뢰성을 확보함</a:t>
            </a:r>
            <a:r>
              <a:rPr lang="en-US" altLang="ko-KR" sz="2000" dirty="0"/>
              <a:t>.</a:t>
            </a:r>
            <a:r>
              <a:rPr lang="ko-KR" altLang="en-US" sz="2000" dirty="0"/>
              <a:t> 정비 활동에는 주요 기계 부품의 마모 상태 점검</a:t>
            </a:r>
            <a:r>
              <a:rPr lang="en-US" altLang="ko-KR" sz="2000" dirty="0"/>
              <a:t>,</a:t>
            </a:r>
            <a:r>
              <a:rPr lang="ko-KR" altLang="en-US" sz="2000" dirty="0"/>
              <a:t> 냉각수 화학 성분 분석</a:t>
            </a:r>
            <a:r>
              <a:rPr lang="en-US" altLang="ko-KR" sz="2000" dirty="0"/>
              <a:t>,</a:t>
            </a:r>
            <a:r>
              <a:rPr lang="ko-KR" altLang="en-US" sz="2000" dirty="0"/>
              <a:t> 배관 시스템의 이상 유무 확인 등이 포함되며</a:t>
            </a:r>
            <a:r>
              <a:rPr lang="en-US" altLang="ko-KR" sz="2000" dirty="0"/>
              <a:t>,</a:t>
            </a:r>
            <a:r>
              <a:rPr lang="ko-KR" altLang="en-US" sz="2000" dirty="0"/>
              <a:t> 이와 함께 약 </a:t>
            </a:r>
            <a:r>
              <a:rPr lang="en-US" altLang="ko-KR" sz="2000" dirty="0"/>
              <a:t>12~24</a:t>
            </a:r>
            <a:r>
              <a:rPr lang="ko-KR" altLang="en-US" sz="2000" dirty="0"/>
              <a:t>개월 주기로 연료 재장전</a:t>
            </a:r>
            <a:r>
              <a:rPr lang="en-US" altLang="ko-KR" sz="2000" dirty="0"/>
              <a:t>(refueling)</a:t>
            </a:r>
            <a:r>
              <a:rPr lang="ko-KR" altLang="en-US" sz="2000" dirty="0"/>
              <a:t>이 수행됨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457200" lvl="1" indent="0">
              <a:buNone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533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원자력 발전소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/>
              <a:t>원자력 발전소의  운영과 유지</a:t>
            </a:r>
            <a:r>
              <a:rPr lang="en-US" altLang="ko-KR" sz="2000"/>
              <a:t>·</a:t>
            </a:r>
            <a:r>
              <a:rPr lang="ko-KR" altLang="en-US" sz="2000"/>
              <a:t>보수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운영 후 단계에서는 원자로의 수명이 종료됨에 따라 폐로</a:t>
            </a:r>
            <a:r>
              <a:rPr lang="en-US" altLang="ko-KR" sz="2000"/>
              <a:t>(decommissioning)</a:t>
            </a:r>
            <a:r>
              <a:rPr lang="ko-KR" altLang="en-US" sz="2000"/>
              <a:t>가 수행됨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/>
              <a:t>폐로 과정은 원자로 정지</a:t>
            </a:r>
            <a:r>
              <a:rPr lang="en-US" altLang="ko-KR" sz="2000"/>
              <a:t>,</a:t>
            </a:r>
            <a:r>
              <a:rPr lang="ko-KR" altLang="en-US" sz="2000"/>
              <a:t> 사용후핵연료의 인출 및 안전 저장</a:t>
            </a:r>
            <a:r>
              <a:rPr lang="en-US" altLang="ko-KR" sz="2000"/>
              <a:t>,</a:t>
            </a:r>
            <a:r>
              <a:rPr lang="ko-KR" altLang="en-US" sz="2000"/>
              <a:t> 방사능에 오염된 장비와 구조물의 해체</a:t>
            </a:r>
            <a:r>
              <a:rPr lang="en-US" altLang="ko-KR" sz="2000"/>
              <a:t>,</a:t>
            </a:r>
            <a:r>
              <a:rPr lang="ko-KR" altLang="en-US" sz="2000"/>
              <a:t> 부지 복원 등을 포함하며</a:t>
            </a:r>
            <a:r>
              <a:rPr lang="en-US" altLang="ko-KR" sz="2000"/>
              <a:t>,</a:t>
            </a:r>
            <a:r>
              <a:rPr lang="ko-KR" altLang="en-US" sz="2000"/>
              <a:t> 수십 년에 거쳐 단계적으로 이루어짐</a:t>
            </a:r>
          </a:p>
          <a:p>
            <a:pPr marL="457200" lvl="1" indent="0">
              <a:buNone/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9767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원자력 에너지의 경제성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원자력 발전의 비용 구조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일반적으로 원자력 발전 비용은 자본비용</a:t>
            </a:r>
            <a:r>
              <a:rPr lang="en-US" altLang="ko-KR" sz="2000" dirty="0"/>
              <a:t>,</a:t>
            </a:r>
            <a:r>
              <a:rPr lang="ko-KR" altLang="en-US" sz="2000" dirty="0"/>
              <a:t> 운영 및 유지보수비용</a:t>
            </a:r>
            <a:r>
              <a:rPr lang="en-US" altLang="ko-KR" sz="2000" dirty="0"/>
              <a:t>,</a:t>
            </a:r>
            <a:r>
              <a:rPr lang="ko-KR" altLang="en-US" sz="2000" dirty="0"/>
              <a:t> 연료비용</a:t>
            </a:r>
            <a:r>
              <a:rPr lang="en-US" altLang="ko-KR" sz="2000" dirty="0"/>
              <a:t>,</a:t>
            </a:r>
            <a:r>
              <a:rPr lang="ko-KR" altLang="en-US" sz="2000" dirty="0"/>
              <a:t> 폐쇄비용으로 구분됨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자본비용은 전체 비용 중 가장 큰 비중을 차지하며</a:t>
            </a:r>
            <a:r>
              <a:rPr lang="en-US" altLang="ko-KR" sz="2000" dirty="0"/>
              <a:t>,</a:t>
            </a:r>
            <a:r>
              <a:rPr lang="ko-KR" altLang="en-US" sz="2000" dirty="0"/>
              <a:t> 여기에는 원자로 설계</a:t>
            </a:r>
            <a:r>
              <a:rPr lang="en-US" altLang="ko-KR" sz="2000" dirty="0"/>
              <a:t>,</a:t>
            </a:r>
            <a:r>
              <a:rPr lang="ko-KR" altLang="en-US" sz="2000" dirty="0"/>
              <a:t> 부지 선정과 준비</a:t>
            </a:r>
            <a:r>
              <a:rPr lang="en-US" altLang="ko-KR" sz="2000" dirty="0"/>
              <a:t>,</a:t>
            </a:r>
            <a:r>
              <a:rPr lang="ko-KR" altLang="en-US" sz="2000" dirty="0"/>
              <a:t> 인허가 획득</a:t>
            </a:r>
            <a:r>
              <a:rPr lang="en-US" altLang="ko-KR" sz="2000" dirty="0"/>
              <a:t>,</a:t>
            </a:r>
            <a:r>
              <a:rPr lang="ko-KR" altLang="en-US" sz="2000" dirty="0"/>
              <a:t> 기자재 설치</a:t>
            </a:r>
            <a:r>
              <a:rPr lang="en-US" altLang="ko-KR" sz="2000" dirty="0"/>
              <a:t>,</a:t>
            </a:r>
            <a:r>
              <a:rPr lang="ko-KR" altLang="en-US" sz="2000" dirty="0"/>
              <a:t> 건설</a:t>
            </a:r>
            <a:r>
              <a:rPr lang="en-US" altLang="ko-KR" sz="2000" dirty="0"/>
              <a:t>,</a:t>
            </a:r>
            <a:r>
              <a:rPr lang="ko-KR" altLang="en-US" sz="2000" dirty="0"/>
              <a:t> 시운전과 관련된 일체의 비용 포함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현대식 경수로의 자본비용은 설치용량 당 석탄이나 천연가스 발전소의 </a:t>
            </a:r>
            <a:r>
              <a:rPr lang="en-US" altLang="ko-KR" sz="2000" dirty="0"/>
              <a:t>2</a:t>
            </a:r>
            <a:r>
              <a:rPr lang="ko-KR" altLang="en-US" sz="2000" dirty="0"/>
              <a:t>배에서 </a:t>
            </a:r>
            <a:r>
              <a:rPr lang="en-US" altLang="ko-KR" sz="2000" dirty="0"/>
              <a:t>3</a:t>
            </a:r>
            <a:r>
              <a:rPr lang="ko-KR" altLang="en-US" sz="2000" dirty="0"/>
              <a:t>배 이상 높은 수준임</a:t>
            </a:r>
          </a:p>
          <a:p>
            <a:pPr marL="1142850" lvl="2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운영 및 유지보수비용은 발전소의 수명 동안 지속적으로 발생하는 비용으로</a:t>
            </a:r>
            <a:r>
              <a:rPr lang="en-US" altLang="ko-KR" sz="2000" dirty="0"/>
              <a:t>,</a:t>
            </a:r>
            <a:r>
              <a:rPr lang="ko-KR" altLang="en-US" sz="2000" dirty="0"/>
              <a:t> 인력 운영</a:t>
            </a:r>
            <a:r>
              <a:rPr lang="en-US" altLang="ko-KR" sz="2000" dirty="0"/>
              <a:t>,</a:t>
            </a:r>
            <a:r>
              <a:rPr lang="ko-KR" altLang="en-US" sz="2000" dirty="0"/>
              <a:t> 정기 점검</a:t>
            </a:r>
            <a:r>
              <a:rPr lang="en-US" altLang="ko-KR" sz="2000" dirty="0"/>
              <a:t>,</a:t>
            </a:r>
            <a:r>
              <a:rPr lang="ko-KR" altLang="en-US" sz="2000" dirty="0"/>
              <a:t> 설비 교체</a:t>
            </a:r>
            <a:r>
              <a:rPr lang="en-US" altLang="ko-KR" sz="2000" dirty="0"/>
              <a:t>,</a:t>
            </a:r>
            <a:r>
              <a:rPr lang="ko-KR" altLang="en-US" sz="2000" dirty="0"/>
              <a:t> 보안</a:t>
            </a:r>
            <a:r>
              <a:rPr lang="en-US" altLang="ko-KR" sz="2000" dirty="0"/>
              <a:t>,</a:t>
            </a:r>
            <a:r>
              <a:rPr lang="ko-KR" altLang="en-US" sz="2000" dirty="0"/>
              <a:t> 보험</a:t>
            </a:r>
            <a:r>
              <a:rPr lang="en-US" altLang="ko-KR" sz="2000" dirty="0"/>
              <a:t>,</a:t>
            </a:r>
            <a:r>
              <a:rPr lang="ko-KR" altLang="en-US" sz="2000" dirty="0"/>
              <a:t> 규제 대응 등에 따른 지출이 포함됨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자본비용과 달리 운영비는 매년 비교적 안정적으로 예측 가능하며</a:t>
            </a:r>
            <a:r>
              <a:rPr lang="en-US" altLang="ko-KR" sz="2000" dirty="0"/>
              <a:t>,</a:t>
            </a:r>
            <a:r>
              <a:rPr lang="ko-KR" altLang="en-US" sz="2000" dirty="0"/>
              <a:t> 발전소의 효율성과 안정적 운영을 보장하기 위한 핵심적 항목임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943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원자력 에너지의 경제성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원자력 발전의 비용 구조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연료비용은 우라늄을 채굴</a:t>
            </a:r>
            <a:r>
              <a:rPr lang="en-US" altLang="ko-KR" sz="2000" dirty="0"/>
              <a:t>,</a:t>
            </a:r>
            <a:r>
              <a:rPr lang="ko-KR" altLang="en-US" sz="2000" dirty="0"/>
              <a:t> 정련</a:t>
            </a:r>
            <a:r>
              <a:rPr lang="en-US" altLang="ko-KR" sz="2000" dirty="0"/>
              <a:t>,</a:t>
            </a:r>
            <a:r>
              <a:rPr lang="ko-KR" altLang="en-US" sz="2000" dirty="0"/>
              <a:t> 변환</a:t>
            </a:r>
            <a:r>
              <a:rPr lang="en-US" altLang="ko-KR" sz="2000" dirty="0"/>
              <a:t>,</a:t>
            </a:r>
            <a:r>
              <a:rPr lang="ko-KR" altLang="en-US" sz="2000" dirty="0"/>
              <a:t> 농축하여 연료 집합체로 가공하는 과정에서 발생하며</a:t>
            </a:r>
            <a:r>
              <a:rPr lang="en-US" altLang="ko-KR" sz="2000" dirty="0"/>
              <a:t>,</a:t>
            </a:r>
            <a:r>
              <a:rPr lang="ko-KR" altLang="en-US" sz="2000" dirty="0"/>
              <a:t> 전체 발전비용 중에서는 비교적 낮은 비중을 차지함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사용후연료의 저장</a:t>
            </a:r>
            <a:r>
              <a:rPr lang="en-US" altLang="ko-KR" sz="2000" dirty="0"/>
              <a:t>,</a:t>
            </a:r>
            <a:r>
              <a:rPr lang="ko-KR" altLang="en-US" sz="2000" dirty="0"/>
              <a:t> 운송</a:t>
            </a:r>
            <a:r>
              <a:rPr lang="en-US" altLang="ko-KR" sz="2000" dirty="0"/>
              <a:t>,</a:t>
            </a:r>
            <a:r>
              <a:rPr lang="ko-KR" altLang="en-US" sz="2000" dirty="0"/>
              <a:t> 폐기 등 후속 관리비용도 전체 연료비용의 일부를 구성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폐쇄비용은 원자력 발전소의 운영이 종료된 이후 발생하는 해체 및 사후관리 비용을 의미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방사선 물질의 제거와 처분</a:t>
            </a:r>
            <a:r>
              <a:rPr lang="en-US" altLang="ko-KR" sz="2000" dirty="0"/>
              <a:t>,</a:t>
            </a:r>
            <a:r>
              <a:rPr lang="ko-KR" altLang="en-US" sz="2000" dirty="0"/>
              <a:t> 발전소 부지의 오염 제거</a:t>
            </a:r>
            <a:r>
              <a:rPr lang="en-US" altLang="ko-KR" sz="2000" dirty="0"/>
              <a:t>,</a:t>
            </a:r>
            <a:r>
              <a:rPr lang="ko-KR" altLang="en-US" sz="2000" dirty="0"/>
              <a:t> 폐기물의 장기 저장과 안전한 처리가 포함됨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일반적으로 폐쇄비용은 초기 자본비용의 약 </a:t>
            </a:r>
            <a:r>
              <a:rPr lang="en-US" altLang="ko-KR" sz="2000" dirty="0"/>
              <a:t>10%</a:t>
            </a:r>
            <a:r>
              <a:rPr lang="ko-KR" altLang="en-US" sz="2000" dirty="0"/>
              <a:t>에서 </a:t>
            </a:r>
            <a:r>
              <a:rPr lang="en-US" altLang="ko-KR" sz="2000" dirty="0"/>
              <a:t>15%</a:t>
            </a:r>
            <a:r>
              <a:rPr lang="ko-KR" altLang="en-US" sz="2000" dirty="0"/>
              <a:t> 수준으로 추정됨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5999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원자력 에너지의 경제성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원자력 발전의 장기적인 경제적 영향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첫째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 발전은 장기적인 에너지 가격의 안정성에 기여함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둘째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 발전소의 폐쇄는 장기적인 재정적 도전 과제를 수반함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셋째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 발전은 국가의 에너지 안보 강화에 기여함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넷째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 발전소는 지역과 국가 경제에 장기적으로 긍정적인 영향을 미치는 대규모 인프라 프로젝트임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다섯째</a:t>
            </a:r>
            <a:r>
              <a:rPr lang="en-US" altLang="ko-KR" sz="2000" dirty="0"/>
              <a:t>,</a:t>
            </a:r>
            <a:r>
              <a:rPr lang="ko-KR" altLang="en-US" sz="2000" dirty="0"/>
              <a:t> 이러한 경제적 이점에도 불구하고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 발전은 장기적인 환경적 및 사회적 비용을 수반함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7410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원자력 산업의 구조와 경쟁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산업구조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 산업은 원자력 발전을 위한 연료와 설비를 공급하는 일련의 복합적인 가치사슬로 구성됨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산업의 첫 단계는 우라늄 광석을 채굴하고 이를 정련하여 농축 가능한 형태로 가공하는 과정으로 이 과정은 소수의 주요 생산국에 집중되어 있음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농축된 우라늄은 연료 집합체로 제작되며</a:t>
            </a:r>
            <a:r>
              <a:rPr lang="en-US" altLang="ko-KR" sz="2000" dirty="0"/>
              <a:t>,</a:t>
            </a:r>
            <a:r>
              <a:rPr lang="ko-KR" altLang="en-US" sz="2000" dirty="0"/>
              <a:t> 각국의 기술 기반에 따라 자체적으로 연료를 생산하거나 외국 기업으로부터 공급받음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원자로의 설계와 건설은 고도의 기술과 자본을 요하는 분야로</a:t>
            </a:r>
            <a:r>
              <a:rPr lang="en-US" altLang="ko-KR" sz="2000" dirty="0"/>
              <a:t>,</a:t>
            </a:r>
            <a:r>
              <a:rPr lang="ko-KR" altLang="en-US" sz="2000" dirty="0"/>
              <a:t> 세계적으로 몇몇 다국적 기업들이 시장을 주도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 발전소의 운영은 대부분 국가에서 국영기업 또는 고도로 규제된 공익  기업에 의해 주도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86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원자력 산업의 구조와 경쟁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경쟁 구조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 산업의 경쟁 구조는 기술혁신</a:t>
            </a:r>
            <a:r>
              <a:rPr lang="en-US" altLang="ko-KR" sz="2000" dirty="0"/>
              <a:t>,</a:t>
            </a:r>
            <a:r>
              <a:rPr lang="ko-KR" altLang="en-US" sz="2000" dirty="0"/>
              <a:t> 정부 정책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국제시장에서의 전략적 경쟁에 영향을 받음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특히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원자력에너지가 국가안보와 직결된 전략산업이라는 점에서</a:t>
            </a:r>
            <a:r>
              <a:rPr lang="en-US" altLang="ko-KR" sz="2000" dirty="0"/>
              <a:t>,</a:t>
            </a:r>
            <a:r>
              <a:rPr lang="ko-KR" altLang="en-US" sz="2000" dirty="0"/>
              <a:t> 많은 국가들은 자국의 원자력  산업을 국영기업 또는 고도로 규제된 공기업 중심으로 운영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이러한 구조는 국제 원전 수출 시장에서도 나타나며</a:t>
            </a:r>
            <a:r>
              <a:rPr lang="en-US" altLang="ko-KR" sz="2000" dirty="0"/>
              <a:t>,</a:t>
            </a:r>
            <a:r>
              <a:rPr lang="ko-KR" altLang="en-US" sz="2000" dirty="0"/>
              <a:t> 일부 국가는 국가 차원의 금융 지원과 외교적 협력을 결합한 종합 패키지를 통해 새로운 프로젝트 수주에 적극 참여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일부 기업은 설계</a:t>
            </a:r>
            <a:r>
              <a:rPr lang="en-US" altLang="ko-KR" sz="2000" dirty="0"/>
              <a:t>,</a:t>
            </a:r>
            <a:r>
              <a:rPr lang="ko-KR" altLang="en-US" sz="2000" dirty="0"/>
              <a:t> 건설</a:t>
            </a:r>
            <a:r>
              <a:rPr lang="en-US" altLang="ko-KR" sz="2000" dirty="0"/>
              <a:t>,</a:t>
            </a:r>
            <a:r>
              <a:rPr lang="ko-KR" altLang="en-US" sz="2000" dirty="0"/>
              <a:t> 연료 공급을 포함한 통합 솔루션을 제시하면서 시장에서의 점유율을 확대해 나가고 있음  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1104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 원자력 전력생산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원자력을 이용한 전 세계 전력 생산은 </a:t>
            </a:r>
            <a:r>
              <a:rPr lang="en-US" altLang="ko-KR" sz="2000" dirty="0"/>
              <a:t>2013</a:t>
            </a:r>
            <a:r>
              <a:rPr lang="ko-KR" altLang="en-US" sz="2000" dirty="0"/>
              <a:t>년 </a:t>
            </a:r>
            <a:r>
              <a:rPr lang="en-US" altLang="ko-KR" sz="2000" dirty="0"/>
              <a:t>2,490</a:t>
            </a:r>
            <a:r>
              <a:rPr lang="ko-KR" altLang="en-US" sz="2000" dirty="0"/>
              <a:t> </a:t>
            </a:r>
            <a:r>
              <a:rPr lang="en-US" altLang="ko-KR" sz="2000" dirty="0" err="1"/>
              <a:t>TWh</a:t>
            </a:r>
            <a:r>
              <a:rPr lang="ko-KR" altLang="en-US" sz="2000" dirty="0"/>
              <a:t>에서 </a:t>
            </a:r>
            <a:r>
              <a:rPr lang="en-US" altLang="ko-KR" sz="2000" dirty="0"/>
              <a:t>2023</a:t>
            </a:r>
            <a:r>
              <a:rPr lang="ko-KR" altLang="en-US" sz="2000" dirty="0"/>
              <a:t>년 </a:t>
            </a:r>
            <a:r>
              <a:rPr lang="en-US" altLang="ko-KR" sz="2000" dirty="0"/>
              <a:t>2,737TWh</a:t>
            </a:r>
            <a:r>
              <a:rPr lang="ko-KR" altLang="en-US" sz="2000" dirty="0"/>
              <a:t>로 증가하였음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유럽의 경우 후쿠시마 사태 이후 탈원전의 영향으로 원자력 전력생산이 감소하였으나 아시아 태평양 지역은 중국과 인도의 원자력 전력 생산 증가에 힘입어 전체적으로 증가하였음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북미의 경우 같은 기간에 원자력 전력 생산이 소폭 감소한 반면</a:t>
            </a:r>
            <a:r>
              <a:rPr lang="en-US" altLang="ko-KR" sz="2000" dirty="0"/>
              <a:t>,</a:t>
            </a:r>
            <a:r>
              <a:rPr lang="ko-KR" altLang="en-US" sz="2000" dirty="0"/>
              <a:t> 러시아를 중심으로한 </a:t>
            </a:r>
            <a:r>
              <a:rPr lang="en-US" altLang="ko-KR" sz="2000" dirty="0"/>
              <a:t>CIS</a:t>
            </a:r>
            <a:r>
              <a:rPr lang="ko-KR" altLang="en-US" sz="2000" dirty="0"/>
              <a:t>국가들은 같은 기간 증가하였음</a:t>
            </a:r>
          </a:p>
          <a:p>
            <a:pPr marL="742800" lvl="1" indent="-28560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기준 원자력을 이용한 전력 생산 비중이 가장 큰 국가는 미국</a:t>
            </a:r>
            <a:r>
              <a:rPr lang="en-US" altLang="ko-KR" sz="2000" dirty="0"/>
              <a:t>(29.8%),</a:t>
            </a:r>
            <a:r>
              <a:rPr lang="ko-KR" altLang="en-US" sz="2000" dirty="0"/>
              <a:t> 중국</a:t>
            </a:r>
            <a:r>
              <a:rPr lang="en-US" altLang="ko-KR" sz="2000" dirty="0"/>
              <a:t>(15.9%),</a:t>
            </a:r>
            <a:r>
              <a:rPr lang="ko-KR" altLang="en-US" sz="2000" dirty="0"/>
              <a:t> </a:t>
            </a:r>
            <a:r>
              <a:rPr lang="en-US" altLang="ko-KR" sz="2000" dirty="0"/>
              <a:t> </a:t>
            </a:r>
            <a:r>
              <a:rPr lang="ko-KR" altLang="en-US" sz="2000" dirty="0"/>
              <a:t>프랑스</a:t>
            </a:r>
            <a:r>
              <a:rPr lang="en-US" altLang="ko-KR" sz="2000" dirty="0"/>
              <a:t>(12.4%),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(7.9%),</a:t>
            </a:r>
            <a:r>
              <a:rPr lang="ko-KR" altLang="en-US" sz="2000" dirty="0"/>
              <a:t> 한국</a:t>
            </a:r>
            <a:r>
              <a:rPr lang="en-US" altLang="ko-KR" sz="2000" dirty="0"/>
              <a:t>(6.6%)</a:t>
            </a:r>
            <a:r>
              <a:rPr lang="ko-KR" altLang="en-US" sz="2000" dirty="0"/>
              <a:t> 순이었음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8661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 원자력 전력생산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42800" lvl="1" indent="-285600">
              <a:buChar char="•"/>
              <a:defRPr/>
            </a:pPr>
            <a:endParaRPr lang="ko-KR" altLang="en-US" sz="2000"/>
          </a:p>
          <a:p>
            <a:pPr marL="742800" lvl="1" indent="-285600">
              <a:buChar char="•"/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2118750"/>
            <a:ext cx="8564370" cy="3589782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1595626" y="1711098"/>
            <a:ext cx="4467989" cy="36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8-1]</a:t>
            </a:r>
            <a:r>
              <a:rPr lang="ko-KR" altLang="en-US"/>
              <a:t>  원자력을 이용한 전력생산</a:t>
            </a:r>
            <a:r>
              <a:rPr lang="en-US" altLang="ko-KR"/>
              <a:t>(TWh)</a:t>
            </a:r>
          </a:p>
        </p:txBody>
      </p:sp>
    </p:spTree>
    <p:extLst>
      <p:ext uri="{BB962C8B-B14F-4D97-AF65-F5344CB8AC3E}">
        <p14:creationId xmlns:p14="http://schemas.microsoft.com/office/powerpoint/2010/main" val="872806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850603"/>
              </p:ext>
            </p:extLst>
          </p:nvPr>
        </p:nvGraphicFramePr>
        <p:xfrm>
          <a:off x="1346654" y="606493"/>
          <a:ext cx="9759931" cy="597327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680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8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6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123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증가율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1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917.6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33.5%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캐나다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89.0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11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816.2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1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735.9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-2.9%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프랑스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338.2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-2.2%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스페인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56.8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스웨덴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48.4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63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231.8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217.4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1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05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아랍에미레이트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-4.5%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34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781.1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28.5%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11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434.7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11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77.5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11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한국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180.5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2,737.7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1,831.7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66.9%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034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906.0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49.5%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  <p:sp>
        <p:nvSpPr>
          <p:cNvPr id="14" name="가로 글상자 13"/>
          <p:cNvSpPr txBox="1"/>
          <p:nvPr/>
        </p:nvSpPr>
        <p:spPr>
          <a:xfrm>
            <a:off x="1346650" y="274638"/>
            <a:ext cx="6488614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8-1]</a:t>
            </a:r>
            <a:r>
              <a:rPr lang="ko-KR" altLang="en-US"/>
              <a:t> 주요 원자력 발전국의 발전 비중과 발전 증가율</a:t>
            </a:r>
            <a:r>
              <a:rPr lang="en-US" altLang="ko-KR"/>
              <a:t>(TWh, %)</a:t>
            </a:r>
          </a:p>
        </p:txBody>
      </p:sp>
    </p:spTree>
    <p:extLst>
      <p:ext uri="{BB962C8B-B14F-4D97-AF65-F5344CB8AC3E}">
        <p14:creationId xmlns:p14="http://schemas.microsoft.com/office/powerpoint/2010/main" val="1021376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 원자력의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소형모듈원자로</a:t>
            </a:r>
            <a:r>
              <a:rPr lang="en-US" altLang="ko-KR" sz="2000" dirty="0"/>
              <a:t>(SMRs)</a:t>
            </a:r>
            <a:r>
              <a:rPr lang="ko-KR" altLang="en-US" sz="2000" dirty="0"/>
              <a:t>와 차세대 원자로 기술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소형모듈원자로</a:t>
            </a:r>
            <a:r>
              <a:rPr lang="en-US" altLang="ko-KR" sz="2000" dirty="0"/>
              <a:t>(small modular reactors, SMRs)</a:t>
            </a:r>
            <a:r>
              <a:rPr lang="ko-KR" altLang="en-US" sz="2000" dirty="0"/>
              <a:t>와 </a:t>
            </a:r>
            <a:r>
              <a:rPr lang="en-US" altLang="ko-KR" sz="2000" dirty="0"/>
              <a:t>4</a:t>
            </a:r>
            <a:r>
              <a:rPr lang="ko-KR" altLang="en-US" sz="2000" dirty="0"/>
              <a:t>세대 원자로 기술은 기존 대형 원자력 발전소가 지닌 높은 초기 자본비용</a:t>
            </a:r>
            <a:r>
              <a:rPr lang="en-US" altLang="ko-KR" sz="2000" dirty="0"/>
              <a:t>,</a:t>
            </a:r>
            <a:r>
              <a:rPr lang="ko-KR" altLang="en-US" sz="2000" dirty="0"/>
              <a:t> 안전성 문제</a:t>
            </a:r>
            <a:r>
              <a:rPr lang="en-US" altLang="ko-KR" sz="2000" dirty="0"/>
              <a:t>,</a:t>
            </a:r>
            <a:r>
              <a:rPr lang="ko-KR" altLang="en-US" sz="2000" dirty="0"/>
              <a:t> 방사성 폐기물 처리 등 구조적 문제를 보완하여 원자력 발전의 미래 대안으로 부각되고 있음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소형모듈원자로는 일반적으로 출력 </a:t>
            </a:r>
            <a:r>
              <a:rPr lang="en-US" altLang="ko-KR" sz="2000" dirty="0"/>
              <a:t>300MW</a:t>
            </a:r>
            <a:r>
              <a:rPr lang="ko-KR" altLang="en-US" sz="2000" dirty="0"/>
              <a:t> 이하의 소형 원자로로 정의됨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초기 투자비용이 낮아 금융 리스크가 감소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확장성</a:t>
            </a:r>
            <a:r>
              <a:rPr lang="en-US" altLang="ko-KR" sz="2000" dirty="0"/>
              <a:t>(scalability)</a:t>
            </a:r>
            <a:r>
              <a:rPr lang="ko-KR" altLang="en-US" sz="2000" dirty="0"/>
              <a:t>이 높아 에너지 수요에 따라 모듈을 단계적으로 추가 설치 가능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수동적 안전 시스템</a:t>
            </a:r>
            <a:r>
              <a:rPr lang="en-US" altLang="ko-KR" sz="2000" dirty="0"/>
              <a:t>(passive safety systems)</a:t>
            </a:r>
            <a:r>
              <a:rPr lang="ko-KR" altLang="en-US" sz="2000" dirty="0"/>
              <a:t>을 통해 비상 상황에서도 외부 전력이나 인간 개입없이 자연 대류나 중력을 이용해 노심 냉각이 가능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소형 설계 덕분에 기존 대형 원자로 설치가 어려운 고립 지역이나 산업 단지에도 배치가 가능하며 분산형 전원으로 활용 가능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1185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 원자력의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42800" lvl="1" indent="-285600">
              <a:buChar char="•"/>
              <a:defRPr/>
            </a:pPr>
            <a:r>
              <a:rPr lang="en-US" altLang="ko-KR" sz="2000" dirty="0"/>
              <a:t>4</a:t>
            </a:r>
            <a:r>
              <a:rPr lang="ko-KR" altLang="en-US" sz="2000" dirty="0"/>
              <a:t>세대 원자로는 고속 중성자 기반의 설계를 통해 연료 효율성을 극대화하고</a:t>
            </a:r>
            <a:r>
              <a:rPr lang="en-US" altLang="ko-KR" sz="2000" dirty="0"/>
              <a:t>,</a:t>
            </a:r>
            <a:r>
              <a:rPr lang="ko-KR" altLang="en-US" sz="2000" dirty="0"/>
              <a:t> 사용후핵연료 재활용과 핵폐기물 저감을 통해 지속가능한 원자력 기술로 평가 받고 있음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가스냉각고속원자로</a:t>
            </a:r>
            <a:r>
              <a:rPr lang="en-US" altLang="ko-KR" sz="2000" dirty="0"/>
              <a:t>(GFR)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소듐냉각고속원자료</a:t>
            </a:r>
            <a:r>
              <a:rPr lang="en-US" altLang="ko-KR" sz="2000" dirty="0"/>
              <a:t>(SFR)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용융염원자로</a:t>
            </a:r>
            <a:r>
              <a:rPr lang="en-US" altLang="ko-KR" sz="2000" dirty="0"/>
              <a:t>(MSR)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납냉각고속원자로</a:t>
            </a:r>
            <a:r>
              <a:rPr lang="en-US" altLang="ko-KR" sz="2000" dirty="0"/>
              <a:t>(LFR)</a:t>
            </a:r>
          </a:p>
          <a:p>
            <a:pPr marL="1142850" lvl="2" indent="-285600">
              <a:buChar char="•"/>
              <a:defRPr/>
            </a:pPr>
            <a:endParaRPr lang="en-US" altLang="ko-KR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핵융합 원자로는 태양에서 발생하는 반응을 지상에서 구현함으로써 안전하고 사실상 무제한의 에너지를 제공하려는 기술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국제열핵융합실험로</a:t>
            </a:r>
            <a:r>
              <a:rPr lang="en-US" altLang="ko-KR" sz="2000" dirty="0"/>
              <a:t>(ITER)</a:t>
            </a:r>
          </a:p>
          <a:p>
            <a:pPr marL="1142850" lvl="2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669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 원자력의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원자력에너지와 재생에너지의 조화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기후변화 대응과 탈탄소화를 위한 세계 에너지 체계의 전환에 따라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 에너지와 재생에너지는 상호보완적으로 저탄소 에너지 시스템을 구축하는 핵심적인 에너지원으로 평가됨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원자력은 계절</a:t>
            </a:r>
            <a:r>
              <a:rPr lang="en-US" altLang="ko-KR" sz="2000" dirty="0"/>
              <a:t>,</a:t>
            </a:r>
            <a:r>
              <a:rPr lang="ko-KR" altLang="en-US" sz="2000" dirty="0"/>
              <a:t>  날씨</a:t>
            </a:r>
            <a:r>
              <a:rPr lang="en-US" altLang="ko-KR" sz="2000" dirty="0"/>
              <a:t>,</a:t>
            </a:r>
            <a:r>
              <a:rPr lang="ko-KR" altLang="en-US" sz="2000" dirty="0"/>
              <a:t> 시간대에 관계없이 연속적인 전력 공급이 가능하며 일반적으로 </a:t>
            </a:r>
            <a:r>
              <a:rPr lang="en-US" altLang="ko-KR" sz="2000" dirty="0"/>
              <a:t>90%</a:t>
            </a:r>
            <a:r>
              <a:rPr lang="ko-KR" altLang="en-US" sz="2000" dirty="0"/>
              <a:t> 이상의 높은 용량계수</a:t>
            </a:r>
            <a:r>
              <a:rPr lang="en-US" altLang="ko-KR" sz="2000" dirty="0"/>
              <a:t>(capacity factor)</a:t>
            </a:r>
            <a:r>
              <a:rPr lang="ko-KR" altLang="en-US" sz="2000" dirty="0"/>
              <a:t>를 유지한다는 점에서 안정적인 기저부하 전원으로 기능함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태양광과 풍력은 본질적으로 간헐성을 지니며 전력 생산이 기후 조건에 따라 변동되지만</a:t>
            </a:r>
            <a:r>
              <a:rPr lang="en-US" altLang="ko-KR" sz="2000" dirty="0"/>
              <a:t>,</a:t>
            </a:r>
            <a:r>
              <a:rPr lang="ko-KR" altLang="en-US" sz="2000" dirty="0"/>
              <a:t> 최근 기술발전과 생산비용 급감으로 경제성이 크게 향상되었고</a:t>
            </a:r>
            <a:r>
              <a:rPr lang="en-US" altLang="ko-KR" sz="2000" dirty="0"/>
              <a:t>,</a:t>
            </a:r>
            <a:r>
              <a:rPr lang="ko-KR" altLang="en-US" sz="2000" dirty="0"/>
              <a:t> 탄소배출이 없는 청정 에너지원이라는 점에서 기후 대응에 중요한 역할을 수행하고 있음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원자력과 재생에너지의 통합적 확산을 실현하기 위해서는 정부의 정책적 지원과 전력 인프라에 대한 투자 확대가 필요</a:t>
            </a:r>
          </a:p>
          <a:p>
            <a:pPr marL="1142850" lvl="2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4849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9.</a:t>
            </a:r>
            <a:r>
              <a:rPr lang="ko-KR" altLang="en-US" sz="3200"/>
              <a:t>  에너지 전환과 원자력에너지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/>
              <a:t>에너지 전환은 탄소중립을 달성하기 위한 핵심 경로로</a:t>
            </a:r>
            <a:r>
              <a:rPr lang="en-US" altLang="ko-KR" sz="2000"/>
              <a:t>,</a:t>
            </a:r>
            <a:r>
              <a:rPr lang="ko-KR" altLang="en-US" sz="2000"/>
              <a:t> 화석연료 중심의 에너지 시스템에서 저탄소 및 무탄소 에너지원으로의 구조적 전환을 의미</a:t>
            </a:r>
          </a:p>
          <a:p>
            <a:pPr marL="342750" lvl="0" indent="-285600">
              <a:buChar char="•"/>
              <a:defRPr/>
            </a:pPr>
            <a:r>
              <a:rPr lang="ko-KR" altLang="en-US" sz="2000"/>
              <a:t>에너지 전환은 경제성</a:t>
            </a:r>
            <a:r>
              <a:rPr lang="en-US" altLang="ko-KR" sz="2000"/>
              <a:t>,</a:t>
            </a:r>
            <a:r>
              <a:rPr lang="ko-KR" altLang="en-US" sz="2000"/>
              <a:t> 에너지 안보</a:t>
            </a:r>
            <a:r>
              <a:rPr lang="en-US" altLang="ko-KR" sz="2000"/>
              <a:t>,</a:t>
            </a:r>
            <a:r>
              <a:rPr lang="ko-KR" altLang="en-US" sz="2000"/>
              <a:t> 환경 지속가능성이라는 </a:t>
            </a:r>
            <a:r>
              <a:rPr lang="en-US" altLang="ko-KR" sz="2000"/>
              <a:t>‘</a:t>
            </a:r>
            <a:r>
              <a:rPr lang="ko-KR" altLang="en-US" sz="2000"/>
              <a:t>에너지 삼중고</a:t>
            </a:r>
            <a:r>
              <a:rPr lang="en-US" altLang="ko-KR" sz="2000"/>
              <a:t>’</a:t>
            </a:r>
            <a:r>
              <a:rPr lang="ko-KR" altLang="en-US" sz="2000"/>
              <a:t>간의 균형을 요구하며</a:t>
            </a:r>
            <a:r>
              <a:rPr lang="en-US" altLang="ko-KR" sz="2000"/>
              <a:t>,</a:t>
            </a:r>
            <a:r>
              <a:rPr lang="ko-KR" altLang="en-US" sz="2000"/>
              <a:t> 원자력은 이 세 가지 목표를 동시에 충족시킬 수 있는 유력한 수단으로 평가됨</a:t>
            </a:r>
          </a:p>
          <a:p>
            <a:pPr marL="342750" lvl="0" indent="-285600">
              <a:buChar char="•"/>
              <a:defRPr/>
            </a:pPr>
            <a:endParaRPr lang="ko-KR" altLang="en-US" sz="2000"/>
          </a:p>
          <a:p>
            <a:pPr marL="742800" lvl="1" indent="-285600">
              <a:buChar char="•"/>
              <a:defRPr/>
            </a:pPr>
            <a:r>
              <a:rPr lang="ko-KR" altLang="en-US" sz="2000"/>
              <a:t>원자력은 에너지 전환 과정에서 기저부하 발전원으로서 전략적 가치를 가짐</a:t>
            </a:r>
            <a:r>
              <a:rPr lang="en-US" altLang="ko-KR" sz="2000"/>
              <a:t>.</a:t>
            </a:r>
            <a:r>
              <a:rPr lang="ko-KR" altLang="en-US" sz="2000"/>
              <a:t> 높은 이용률과 예측 가능한 출력을 제공함으로써 재생에너지 확대에 따른 간헐성 문제를 보완할 수 있음</a:t>
            </a:r>
          </a:p>
          <a:p>
            <a:pPr marL="742800" lvl="1" indent="-285600">
              <a:buChar char="•"/>
              <a:defRPr/>
            </a:pPr>
            <a:endParaRPr lang="ko-KR" altLang="en-US" sz="2000"/>
          </a:p>
          <a:p>
            <a:pPr marL="742800" lvl="1" indent="-285600">
              <a:buChar char="•"/>
              <a:defRPr/>
            </a:pPr>
            <a:r>
              <a:rPr lang="ko-KR" altLang="en-US" sz="2000"/>
              <a:t>원자력은 에너지 안보 측면에서도 전략적 자산으로 기능함</a:t>
            </a:r>
            <a:r>
              <a:rPr lang="en-US" altLang="ko-KR" sz="2000"/>
              <a:t>.</a:t>
            </a:r>
            <a:r>
              <a:rPr lang="ko-KR" altLang="en-US" sz="2000"/>
              <a:t> 우라늄은 연료밀도가 높고 공급국이 비교적 다양하며</a:t>
            </a:r>
            <a:r>
              <a:rPr lang="en-US" altLang="ko-KR" sz="2000"/>
              <a:t>,</a:t>
            </a:r>
            <a:r>
              <a:rPr lang="ko-KR" altLang="en-US" sz="2000"/>
              <a:t> 장기간 저장이 가능해 공급 중단의 지정학적 위험이 상대적으로 낮음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소형모듈원자로와 같은 차세대 원자로 기술의 상용화는  에너지 전환의 유연성을 제고할 수 있는 전략적 수단으로 부각됨</a:t>
            </a:r>
          </a:p>
          <a:p>
            <a:pPr marL="742800" lvl="1" indent="-285600">
              <a:buChar char="•"/>
              <a:defRPr/>
            </a:pPr>
            <a:endParaRPr lang="ko-KR" altLang="en-US" sz="2000"/>
          </a:p>
          <a:p>
            <a:pPr marL="1142850" lvl="2" indent="-285600">
              <a:buChar char="•"/>
              <a:defRPr/>
            </a:pPr>
            <a:endParaRPr lang="ko-KR" altLang="en-US" sz="2000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9892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10.</a:t>
            </a:r>
            <a:r>
              <a:rPr lang="ko-KR" altLang="en-US" sz="3200"/>
              <a:t> 원자력의 미래 전략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에너지 전환 과정에서 원자력의 전략적 가치를 확보하기 위해서는 기술</a:t>
            </a:r>
            <a:r>
              <a:rPr lang="en-US" altLang="ko-KR" sz="2000" dirty="0"/>
              <a:t>,</a:t>
            </a:r>
            <a:r>
              <a:rPr lang="ko-KR" altLang="en-US" sz="2000" dirty="0"/>
              <a:t> 제도</a:t>
            </a:r>
            <a:r>
              <a:rPr lang="en-US" altLang="ko-KR" sz="2000" dirty="0"/>
              <a:t>,</a:t>
            </a:r>
            <a:r>
              <a:rPr lang="ko-KR" altLang="en-US" sz="2000" dirty="0"/>
              <a:t> 사회</a:t>
            </a:r>
            <a:r>
              <a:rPr lang="en-US" altLang="ko-KR" sz="2000" dirty="0"/>
              <a:t>,</a:t>
            </a:r>
            <a:r>
              <a:rPr lang="ko-KR" altLang="en-US" sz="2000" dirty="0"/>
              <a:t> 국제 협력을 포괄하는 다층적인 정책 설계가 필요</a:t>
            </a:r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탄소세나 배출권거래제와 같은 탄소 가격 메카니즘이 정교하게 작동하여 원자력의 저탄소 특성이 시장에서 제대로 평가되어야 함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원자력의 장기적 수익성을 보장할 수 있은 제도적 장치가 필요</a:t>
            </a:r>
          </a:p>
          <a:p>
            <a:pPr marL="1142850" lvl="2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기존 대형원전의 단점을 보완할 수 있는 기술 혁신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소형모듈원자로</a:t>
            </a:r>
            <a:r>
              <a:rPr lang="en-US" altLang="ko-KR" sz="2000" dirty="0"/>
              <a:t>,</a:t>
            </a:r>
            <a:r>
              <a:rPr lang="ko-KR" altLang="en-US" sz="2000" dirty="0"/>
              <a:t> 고온가스로</a:t>
            </a:r>
            <a:r>
              <a:rPr lang="en-US" altLang="ko-KR" sz="2000" dirty="0"/>
              <a:t>,</a:t>
            </a:r>
            <a:r>
              <a:rPr lang="ko-KR" altLang="en-US" sz="2000" dirty="0"/>
              <a:t> 핵 융합 기술</a:t>
            </a:r>
          </a:p>
          <a:p>
            <a:pPr marL="1142850" lvl="2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원자력의 정책적 성공은 사회적 수용성에 크게 영향을 받음</a:t>
            </a:r>
          </a:p>
          <a:p>
            <a:pPr marL="1142850" lvl="2" indent="-285600">
              <a:buChar char="•"/>
              <a:defRPr/>
            </a:pPr>
            <a:r>
              <a:rPr lang="ko-KR" altLang="en-US" sz="2000" dirty="0"/>
              <a:t>사회적 수용성 확보를 위한 정책의 일관성과 투명성 확보</a:t>
            </a:r>
            <a:r>
              <a:rPr lang="en-US" altLang="ko-KR" sz="2000" dirty="0"/>
              <a:t>,</a:t>
            </a:r>
            <a:r>
              <a:rPr lang="ko-KR" altLang="en-US" sz="2000" dirty="0"/>
              <a:t> 규제기관의 독립성 유지</a:t>
            </a:r>
            <a:r>
              <a:rPr lang="en-US" altLang="ko-KR" sz="2000" dirty="0"/>
              <a:t>,</a:t>
            </a:r>
            <a:r>
              <a:rPr lang="ko-KR" altLang="en-US" sz="2000"/>
              <a:t> 지역사회와의 신뢰 형성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핵연료주기</a:t>
            </a:r>
            <a:r>
              <a:rPr lang="en-US" altLang="ko-KR" sz="2000" dirty="0"/>
              <a:t>,</a:t>
            </a:r>
            <a:r>
              <a:rPr lang="ko-KR" altLang="en-US" sz="2000" dirty="0"/>
              <a:t> 사용후 핵연료의 저장</a:t>
            </a:r>
            <a:r>
              <a:rPr lang="en-US" altLang="ko-KR" sz="2000" dirty="0"/>
              <a:t>·</a:t>
            </a:r>
            <a:r>
              <a:rPr lang="ko-KR" altLang="en-US" sz="2000" dirty="0"/>
              <a:t>처리</a:t>
            </a:r>
            <a:r>
              <a:rPr lang="en-US" altLang="ko-KR" sz="2000" dirty="0"/>
              <a:t>,</a:t>
            </a:r>
            <a:r>
              <a:rPr lang="ko-KR" altLang="en-US" sz="2000" dirty="0"/>
              <a:t> 핵비확산 문제 등을 해결하기 위한 국제적 협력과 신뢰를 바탕으로 한 다자적 규범 체계 필요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제8장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632014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3228</Words>
  <Application>Microsoft Office PowerPoint</Application>
  <PresentationFormat>와이드스크린</PresentationFormat>
  <Paragraphs>372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나눔스퀘어 네오 OTF Heavy</vt:lpstr>
      <vt:lpstr>맑은 고딕</vt:lpstr>
      <vt:lpstr>함초롬바탕</vt:lpstr>
      <vt:lpstr>Arial</vt:lpstr>
      <vt:lpstr>Calibri</vt:lpstr>
      <vt:lpstr>한컴오피스</vt:lpstr>
      <vt:lpstr>PowerPoint 프레젠테이션</vt:lpstr>
      <vt:lpstr>제8장 원자력에너지</vt:lpstr>
      <vt:lpstr>1. 서론</vt:lpstr>
      <vt:lpstr>2. 원자력에너지의 역사적 발전과 배경</vt:lpstr>
      <vt:lpstr>3. 원자력 발전의 기본 원리</vt:lpstr>
      <vt:lpstr>3. 원자력 발전의 기본 원리</vt:lpstr>
      <vt:lpstr>3. 원자력 발전의 기본 원리</vt:lpstr>
      <vt:lpstr>3. 원자력 발전의 기본 원리</vt:lpstr>
      <vt:lpstr>3. 원자력 발전의 기본 원리</vt:lpstr>
      <vt:lpstr>3. 원자력 발전의 기본 원리</vt:lpstr>
      <vt:lpstr>4. 원자력 발전소</vt:lpstr>
      <vt:lpstr>4. 원자력 발전소</vt:lpstr>
      <vt:lpstr>4. 원자력 발전소</vt:lpstr>
      <vt:lpstr>4. 원자력 발전소</vt:lpstr>
      <vt:lpstr>4. 원자력 발전소</vt:lpstr>
      <vt:lpstr>4. 원자력 발전소</vt:lpstr>
      <vt:lpstr>4. 원자력 발전소</vt:lpstr>
      <vt:lpstr>5. 원자력 에너지의 경제성</vt:lpstr>
      <vt:lpstr>5. 원자력 에너지의 경제성</vt:lpstr>
      <vt:lpstr>5. 원자력 에너지의 경제성</vt:lpstr>
      <vt:lpstr>6. 원자력 산업의 구조와 경쟁 구조</vt:lpstr>
      <vt:lpstr>6. 원자력 산업의 구조와 경쟁 구조</vt:lpstr>
      <vt:lpstr>7.  원자력 전력생산</vt:lpstr>
      <vt:lpstr>7.  원자력 전력생산</vt:lpstr>
      <vt:lpstr> </vt:lpstr>
      <vt:lpstr>8.  원자력의 미래</vt:lpstr>
      <vt:lpstr>8.  원자력의 미래</vt:lpstr>
      <vt:lpstr>8.  원자력의 미래</vt:lpstr>
      <vt:lpstr>9.  에너지 전환과 원자력에너지</vt:lpstr>
      <vt:lpstr>10. 원자력의 미래 전략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장 규식</cp:lastModifiedBy>
  <cp:revision>593</cp:revision>
  <dcterms:created xsi:type="dcterms:W3CDTF">2026-01-09T02:29:36Z</dcterms:created>
  <dcterms:modified xsi:type="dcterms:W3CDTF">2026-02-25T21:45:19Z</dcterms:modified>
  <cp:version>13.0.0.2760</cp:version>
</cp:coreProperties>
</file>