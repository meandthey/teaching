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Noto Sans KR" panose="020B0200000000000000" pitchFamily="50" charset="-127"/>
      <p:regular r:id="rId1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772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6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1.png"/><Relationship Id="rId5" Type="http://schemas.openxmlformats.org/officeDocument/2006/relationships/image" Target="../media/image14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1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5" Type="http://schemas.openxmlformats.org/officeDocument/2006/relationships/image" Target="../media/image6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2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image" Target="../media/image60.png"/><Relationship Id="rId21" Type="http://schemas.openxmlformats.org/officeDocument/2006/relationships/image" Target="../media/image75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65.png"/><Relationship Id="rId5" Type="http://schemas.openxmlformats.org/officeDocument/2006/relationships/image" Target="../media/image14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4" Type="http://schemas.openxmlformats.org/officeDocument/2006/relationships/image" Target="../media/image2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2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.png"/><Relationship Id="rId10" Type="http://schemas.openxmlformats.org/officeDocument/2006/relationships/image" Target="../media/image80.png"/><Relationship Id="rId4" Type="http://schemas.openxmlformats.org/officeDocument/2006/relationships/image" Target="../media/image1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7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6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3" Type="http://schemas.openxmlformats.org/officeDocument/2006/relationships/image" Target="../media/image2.png"/><Relationship Id="rId21" Type="http://schemas.openxmlformats.org/officeDocument/2006/relationships/image" Target="../media/image111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7.png"/><Relationship Id="rId15" Type="http://schemas.openxmlformats.org/officeDocument/2006/relationships/image" Target="../media/image105.png"/><Relationship Id="rId23" Type="http://schemas.openxmlformats.org/officeDocument/2006/relationships/image" Target="../media/image113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4" Type="http://schemas.openxmlformats.org/officeDocument/2006/relationships/image" Target="../media/image1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Relationship Id="rId22" Type="http://schemas.openxmlformats.org/officeDocument/2006/relationships/image" Target="../media/image1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26" Type="http://schemas.openxmlformats.org/officeDocument/2006/relationships/image" Target="../media/image133.png"/><Relationship Id="rId3" Type="http://schemas.openxmlformats.org/officeDocument/2006/relationships/image" Target="../media/image1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8.png"/><Relationship Id="rId24" Type="http://schemas.openxmlformats.org/officeDocument/2006/relationships/image" Target="../media/image131.png"/><Relationship Id="rId5" Type="http://schemas.openxmlformats.org/officeDocument/2006/relationships/image" Target="../media/image14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28" Type="http://schemas.openxmlformats.org/officeDocument/2006/relationships/image" Target="../media/image135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2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Relationship Id="rId27" Type="http://schemas.openxmlformats.org/officeDocument/2006/relationships/image" Target="../media/image1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60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40.png"/><Relationship Id="rId5" Type="http://schemas.openxmlformats.org/officeDocument/2006/relationships/image" Target="../media/image14.png"/><Relationship Id="rId15" Type="http://schemas.openxmlformats.org/officeDocument/2006/relationships/image" Target="../media/image144.png"/><Relationship Id="rId10" Type="http://schemas.openxmlformats.org/officeDocument/2006/relationships/image" Target="../media/image139.png"/><Relationship Id="rId4" Type="http://schemas.openxmlformats.org/officeDocument/2006/relationships/image" Target="../media/image2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3" Type="http://schemas.openxmlformats.org/officeDocument/2006/relationships/image" Target="../media/image26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51.png"/><Relationship Id="rId5" Type="http://schemas.openxmlformats.org/officeDocument/2006/relationships/image" Target="../media/image14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4" Type="http://schemas.openxmlformats.org/officeDocument/2006/relationships/image" Target="../media/image2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png"/><Relationship Id="rId18" Type="http://schemas.openxmlformats.org/officeDocument/2006/relationships/image" Target="../media/image168.png"/><Relationship Id="rId3" Type="http://schemas.openxmlformats.org/officeDocument/2006/relationships/image" Target="../media/image26.png"/><Relationship Id="rId21" Type="http://schemas.openxmlformats.org/officeDocument/2006/relationships/image" Target="../media/image171.pn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17" Type="http://schemas.openxmlformats.org/officeDocument/2006/relationships/image" Target="../media/image16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66.png"/><Relationship Id="rId20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61.png"/><Relationship Id="rId5" Type="http://schemas.openxmlformats.org/officeDocument/2006/relationships/image" Target="../media/image14.png"/><Relationship Id="rId15" Type="http://schemas.openxmlformats.org/officeDocument/2006/relationships/image" Target="../media/image165.png"/><Relationship Id="rId10" Type="http://schemas.openxmlformats.org/officeDocument/2006/relationships/image" Target="../media/image160.png"/><Relationship Id="rId19" Type="http://schemas.openxmlformats.org/officeDocument/2006/relationships/image" Target="../media/image169.png"/><Relationship Id="rId4" Type="http://schemas.openxmlformats.org/officeDocument/2006/relationships/image" Target="../media/image2.png"/><Relationship Id="rId9" Type="http://schemas.openxmlformats.org/officeDocument/2006/relationships/image" Target="../media/image159.png"/><Relationship Id="rId14" Type="http://schemas.openxmlformats.org/officeDocument/2006/relationships/image" Target="../media/image164.png"/><Relationship Id="rId22" Type="http://schemas.openxmlformats.org/officeDocument/2006/relationships/image" Target="../media/image17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.png"/><Relationship Id="rId18" Type="http://schemas.openxmlformats.org/officeDocument/2006/relationships/image" Target="../media/image185.png"/><Relationship Id="rId3" Type="http://schemas.openxmlformats.org/officeDocument/2006/relationships/image" Target="../media/image60.png"/><Relationship Id="rId21" Type="http://schemas.openxmlformats.org/officeDocument/2006/relationships/image" Target="../media/image188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17" Type="http://schemas.openxmlformats.org/officeDocument/2006/relationships/image" Target="../media/image18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83.png"/><Relationship Id="rId20" Type="http://schemas.openxmlformats.org/officeDocument/2006/relationships/image" Target="../media/image1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78.png"/><Relationship Id="rId5" Type="http://schemas.openxmlformats.org/officeDocument/2006/relationships/image" Target="../media/image173.png"/><Relationship Id="rId15" Type="http://schemas.openxmlformats.org/officeDocument/2006/relationships/image" Target="../media/image182.png"/><Relationship Id="rId10" Type="http://schemas.openxmlformats.org/officeDocument/2006/relationships/image" Target="../media/image177.png"/><Relationship Id="rId19" Type="http://schemas.openxmlformats.org/officeDocument/2006/relationships/image" Target="../media/image186.png"/><Relationship Id="rId4" Type="http://schemas.openxmlformats.org/officeDocument/2006/relationships/image" Target="../media/image2.png"/><Relationship Id="rId9" Type="http://schemas.openxmlformats.org/officeDocument/2006/relationships/image" Target="../media/image176.png"/><Relationship Id="rId14" Type="http://schemas.openxmlformats.org/officeDocument/2006/relationships/image" Target="../media/image1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SK-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43000"/>
            <a:ext cx="38100" cy="5496520"/>
          </a:xfrm>
          <a:prstGeom prst="rect">
            <a:avLst/>
          </a:prstGeom>
        </p:spPr>
      </p:pic>
      <p:sp>
        <p:nvSpPr>
          <p:cNvPr id="7" name="SK-1-text-6"/>
          <p:cNvSpPr/>
          <p:nvPr/>
        </p:nvSpPr>
        <p:spPr>
          <a:xfrm>
            <a:off x="1257300" y="1333500"/>
            <a:ext cx="6969026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kern="0" spc="108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에너지경제학 특강</a:t>
            </a:r>
            <a:endParaRPr lang="en-US" sz="1350" dirty="0"/>
          </a:p>
        </p:txBody>
      </p:sp>
      <p:sp>
        <p:nvSpPr>
          <p:cNvPr id="8" name="SK-1-text-7"/>
          <p:cNvSpPr/>
          <p:nvPr/>
        </p:nvSpPr>
        <p:spPr>
          <a:xfrm>
            <a:off x="1257300" y="1819275"/>
            <a:ext cx="6194971" cy="28497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610"/>
              </a:lnSpc>
              <a:buNone/>
            </a:pPr>
            <a:r>
              <a:rPr lang="en-US" sz="5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원자에서 원자력발전까지:</a:t>
            </a:r>
            <a:endParaRPr lang="en-US" sz="5100" dirty="0"/>
          </a:p>
          <a:p>
            <a:pPr marL="0" indent="0">
              <a:lnSpc>
                <a:spcPts val="5610"/>
              </a:lnSpc>
              <a:buNone/>
            </a:pPr>
            <a:r>
              <a:rPr lang="en-US" sz="5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핵분열과 핵융합의 기초</a:t>
            </a:r>
            <a:endParaRPr lang="en-US" sz="5100" dirty="0"/>
          </a:p>
        </p:txBody>
      </p:sp>
      <p:sp>
        <p:nvSpPr>
          <p:cNvPr id="9" name="SK-1-text-8"/>
          <p:cNvSpPr/>
          <p:nvPr/>
        </p:nvSpPr>
        <p:spPr>
          <a:xfrm>
            <a:off x="1257300" y="4973836"/>
            <a:ext cx="5850731" cy="7465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40"/>
              </a:lnSpc>
              <a:buNone/>
            </a:pPr>
            <a:r>
              <a:rPr lang="en-US" sz="2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경제학적 관점에서 바라본 원자력 에너지의</a:t>
            </a:r>
            <a:endParaRPr lang="en-US" sz="2100" dirty="0"/>
          </a:p>
          <a:p>
            <a:pPr marL="0" indent="0">
              <a:lnSpc>
                <a:spcPts val="2940"/>
              </a:lnSpc>
              <a:buNone/>
            </a:pPr>
            <a:r>
              <a:rPr lang="en-US" sz="2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물리적 원리와 비용·위험 구조의 이해</a:t>
            </a:r>
            <a:endParaRPr lang="en-US" sz="2100" dirty="0"/>
          </a:p>
        </p:txBody>
      </p:sp>
      <p:sp>
        <p:nvSpPr>
          <p:cNvPr id="10" name="SK-1-text-9"/>
          <p:cNvSpPr/>
          <p:nvPr/>
        </p:nvSpPr>
        <p:spPr>
          <a:xfrm>
            <a:off x="10006013" y="5720358"/>
            <a:ext cx="157638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경제학과 전공 강의</a:t>
            </a:r>
            <a:endParaRPr lang="en-US" sz="1275" dirty="0"/>
          </a:p>
        </p:txBody>
      </p:sp>
      <p:sp>
        <p:nvSpPr>
          <p:cNvPr id="11" name="SK-1-text-10"/>
          <p:cNvSpPr/>
          <p:nvPr/>
        </p:nvSpPr>
        <p:spPr>
          <a:xfrm>
            <a:off x="10006013" y="6077545"/>
            <a:ext cx="157638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대상: 상경계열 학부생</a:t>
            </a:r>
            <a:endParaRPr lang="en-US" sz="1275" dirty="0"/>
          </a:p>
        </p:txBody>
      </p:sp>
      <p:sp>
        <p:nvSpPr>
          <p:cNvPr id="12" name="SK-1-text-11"/>
          <p:cNvSpPr/>
          <p:nvPr/>
        </p:nvSpPr>
        <p:spPr>
          <a:xfrm>
            <a:off x="10006013" y="6396633"/>
            <a:ext cx="157638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8월 28일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7200"/>
            <a:ext cx="1009650" cy="238125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0175"/>
            <a:ext cx="381000" cy="28575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809750"/>
            <a:ext cx="4419600" cy="4613374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6425" y="2664916"/>
            <a:ext cx="1428750" cy="1714500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0" y="1859756"/>
            <a:ext cx="261937" cy="214313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8800" y="3095923"/>
            <a:ext cx="261937" cy="214313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8800" y="4332089"/>
            <a:ext cx="261937" cy="214313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8800" y="5632549"/>
            <a:ext cx="5943600" cy="790575"/>
          </a:xfrm>
          <a:prstGeom prst="rect">
            <a:avLst/>
          </a:prstGeom>
        </p:spPr>
      </p:pic>
      <p:sp>
        <p:nvSpPr>
          <p:cNvPr id="12" name="SK-2-text-11"/>
          <p:cNvSpPr/>
          <p:nvPr/>
        </p:nvSpPr>
        <p:spPr>
          <a:xfrm>
            <a:off x="685800" y="457200"/>
            <a:ext cx="161601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 02</a:t>
            </a:r>
            <a:endParaRPr lang="en-US" sz="1050" dirty="0"/>
          </a:p>
        </p:txBody>
      </p:sp>
      <p:sp>
        <p:nvSpPr>
          <p:cNvPr id="13" name="SK-2-text-12"/>
          <p:cNvSpPr/>
          <p:nvPr/>
        </p:nvSpPr>
        <p:spPr>
          <a:xfrm>
            <a:off x="1733550" y="47625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14" name="SK-2-text-13"/>
          <p:cNvSpPr/>
          <p:nvPr/>
        </p:nvSpPr>
        <p:spPr>
          <a:xfrm>
            <a:off x="609600" y="77152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제기: 전기는 어디에서 오는가</a:t>
            </a:r>
            <a:endParaRPr lang="en-US" sz="2700" dirty="0"/>
          </a:p>
        </p:txBody>
      </p:sp>
      <p:sp>
        <p:nvSpPr>
          <p:cNvPr id="15" name="SK-2-text-14"/>
          <p:cNvSpPr/>
          <p:nvPr/>
        </p:nvSpPr>
        <p:spPr>
          <a:xfrm>
            <a:off x="1338263" y="4608016"/>
            <a:ext cx="2505075" cy="959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아주 작은 원자핵의 변화가</a:t>
            </a:r>
            <a:endParaRPr lang="en-US" sz="1800" dirty="0"/>
          </a:p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발전소 규모의 에너지를</a:t>
            </a:r>
            <a:endParaRPr lang="en-US" sz="1800" dirty="0"/>
          </a:p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낼 수 있는가?</a:t>
            </a:r>
            <a:endParaRPr lang="en-US" sz="1800" dirty="0"/>
          </a:p>
        </p:txBody>
      </p:sp>
      <p:sp>
        <p:nvSpPr>
          <p:cNvPr id="16" name="SK-2-text-15"/>
          <p:cNvSpPr/>
          <p:nvPr/>
        </p:nvSpPr>
        <p:spPr>
          <a:xfrm>
            <a:off x="6015038" y="1809750"/>
            <a:ext cx="59436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연료비 vs. 자본비 구조의 결정</a:t>
            </a:r>
            <a:endParaRPr lang="en-US" sz="1650" dirty="0"/>
          </a:p>
        </p:txBody>
      </p:sp>
      <p:sp>
        <p:nvSpPr>
          <p:cNvPr id="17" name="SK-2-text-16"/>
          <p:cNvSpPr/>
          <p:nvPr/>
        </p:nvSpPr>
        <p:spPr>
          <a:xfrm>
            <a:off x="5924550" y="2200275"/>
            <a:ext cx="5657850" cy="578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80"/>
              </a:lnSpc>
              <a:buNone/>
            </a:pP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에너지를 추출하는 물리적 방식(화학반응 vs. 핵반응)은 </a:t>
            </a:r>
            <a:r>
              <a:rPr lang="en-US" sz="1425" b="1" dirty="0">
                <a:solidFill>
                  <a:srgbClr val="111827"/>
                </a:solidFill>
                <a:highlight>
                  <a:srgbClr val="065F46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건설비와 운영 연료비의 비중</a:t>
            </a: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근본적으로 결정합니다.</a:t>
            </a:r>
            <a:endParaRPr lang="en-US" sz="1425" dirty="0"/>
          </a:p>
        </p:txBody>
      </p:sp>
      <p:sp>
        <p:nvSpPr>
          <p:cNvPr id="18" name="SK-2-text-17"/>
          <p:cNvSpPr/>
          <p:nvPr/>
        </p:nvSpPr>
        <p:spPr>
          <a:xfrm>
            <a:off x="6015038" y="3045916"/>
            <a:ext cx="59436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위험과 외부효과의 성격 변화</a:t>
            </a:r>
            <a:endParaRPr lang="en-US" sz="1650" dirty="0"/>
          </a:p>
        </p:txBody>
      </p:sp>
      <p:sp>
        <p:nvSpPr>
          <p:cNvPr id="19" name="SK-2-text-18"/>
          <p:cNvSpPr/>
          <p:nvPr/>
        </p:nvSpPr>
        <p:spPr>
          <a:xfrm>
            <a:off x="5924550" y="3436441"/>
            <a:ext cx="5657850" cy="578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80"/>
              </a:lnSpc>
              <a:buNone/>
            </a:pP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연소 부산물(탄소)과 핵반응 부산물(폐기물)의 물리적 특성은 </a:t>
            </a:r>
            <a:r>
              <a:rPr lang="en-US" sz="1425" b="1" dirty="0">
                <a:solidFill>
                  <a:srgbClr val="111827"/>
                </a:solidFill>
                <a:highlight>
                  <a:srgbClr val="065F46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환경적 외부비용과 규제 준수 비용</a:t>
            </a: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차이를 발생시킵니다.</a:t>
            </a:r>
            <a:endParaRPr lang="en-US" sz="1425" dirty="0"/>
          </a:p>
        </p:txBody>
      </p:sp>
      <p:sp>
        <p:nvSpPr>
          <p:cNvPr id="20" name="SK-2-text-19"/>
          <p:cNvSpPr/>
          <p:nvPr/>
        </p:nvSpPr>
        <p:spPr>
          <a:xfrm>
            <a:off x="6015038" y="4282083"/>
            <a:ext cx="59436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유연성과 시스템 가치</a:t>
            </a:r>
            <a:endParaRPr lang="en-US" sz="1650" dirty="0"/>
          </a:p>
        </p:txBody>
      </p:sp>
      <p:sp>
        <p:nvSpPr>
          <p:cNvPr id="21" name="SK-2-text-20"/>
          <p:cNvSpPr/>
          <p:nvPr/>
        </p:nvSpPr>
        <p:spPr>
          <a:xfrm>
            <a:off x="5924550" y="4672608"/>
            <a:ext cx="5657850" cy="578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80"/>
              </a:lnSpc>
              <a:buNone/>
            </a:pP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 제어의 물리적 메커니즘은 발전원의 </a:t>
            </a:r>
            <a:r>
              <a:rPr lang="en-US" sz="1425" b="1" dirty="0">
                <a:solidFill>
                  <a:srgbClr val="111827"/>
                </a:solidFill>
                <a:highlight>
                  <a:srgbClr val="065F46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조절 능력</a:t>
            </a: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전력 계통 내에서의 경제적 역할을 규정합니다.</a:t>
            </a:r>
            <a:endParaRPr lang="en-US" sz="1425" dirty="0"/>
          </a:p>
        </p:txBody>
      </p:sp>
      <p:sp>
        <p:nvSpPr>
          <p:cNvPr id="22" name="SK-2-text-21"/>
          <p:cNvSpPr/>
          <p:nvPr/>
        </p:nvSpPr>
        <p:spPr>
          <a:xfrm>
            <a:off x="5791200" y="5784949"/>
            <a:ext cx="56388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i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"물리적 발전 원리를 이해하는 것은 경제적 의사결정을 위한 비용·위험·편익 분석의 출발점입니다."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61950"/>
            <a:ext cx="789682" cy="238125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582" y="361950"/>
            <a:ext cx="917377" cy="238125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257300"/>
            <a:ext cx="381000" cy="28575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533525"/>
            <a:ext cx="5334000" cy="2500908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52600"/>
            <a:ext cx="304800" cy="228600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243858"/>
            <a:ext cx="2419350" cy="600075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3243858"/>
            <a:ext cx="2419350" cy="600075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186833"/>
            <a:ext cx="5334000" cy="2309217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4405908"/>
            <a:ext cx="304800" cy="228600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533525"/>
            <a:ext cx="5334000" cy="2921794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792784"/>
            <a:ext cx="261937" cy="213420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3098602"/>
            <a:ext cx="4876800" cy="1147763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4579144"/>
            <a:ext cx="5334000" cy="1916906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4798219"/>
            <a:ext cx="304800" cy="228600"/>
          </a:xfrm>
          <a:prstGeom prst="rect">
            <a:avLst/>
          </a:prstGeom>
        </p:spPr>
      </p:pic>
      <p:sp>
        <p:nvSpPr>
          <p:cNvPr id="18" name="SK-3-text-17"/>
          <p:cNvSpPr/>
          <p:nvPr/>
        </p:nvSpPr>
        <p:spPr>
          <a:xfrm>
            <a:off x="685800" y="361950"/>
            <a:ext cx="98016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1050" dirty="0"/>
          </a:p>
        </p:txBody>
      </p:sp>
      <p:sp>
        <p:nvSpPr>
          <p:cNvPr id="19" name="SK-3-text-18"/>
          <p:cNvSpPr/>
          <p:nvPr/>
        </p:nvSpPr>
        <p:spPr>
          <a:xfrm>
            <a:off x="1589782" y="361950"/>
            <a:ext cx="1366087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20" name="SK-3-text-19"/>
          <p:cNvSpPr/>
          <p:nvPr/>
        </p:nvSpPr>
        <p:spPr>
          <a:xfrm>
            <a:off x="2545259" y="38100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21" name="SK-3-text-20"/>
          <p:cNvSpPr/>
          <p:nvPr/>
        </p:nvSpPr>
        <p:spPr>
          <a:xfrm>
            <a:off x="609600" y="65722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만물은 원자로 이루어져 있다</a:t>
            </a:r>
            <a:endParaRPr lang="en-US" sz="2700" dirty="0"/>
          </a:p>
        </p:txBody>
      </p:sp>
      <p:sp>
        <p:nvSpPr>
          <p:cNvPr id="22" name="SK-3-text-21"/>
          <p:cNvSpPr/>
          <p:nvPr/>
        </p:nvSpPr>
        <p:spPr>
          <a:xfrm>
            <a:off x="1219200" y="1724025"/>
            <a:ext cx="21526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원자의 기본 구조</a:t>
            </a:r>
            <a:endParaRPr lang="en-US" sz="1500" dirty="0"/>
          </a:p>
        </p:txBody>
      </p:sp>
      <p:sp>
        <p:nvSpPr>
          <p:cNvPr id="23" name="SK-3-text-22"/>
          <p:cNvSpPr/>
          <p:nvPr/>
        </p:nvSpPr>
        <p:spPr>
          <a:xfrm>
            <a:off x="800100" y="2124075"/>
            <a:ext cx="7772400" cy="258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원자핵 (Nucleus):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원자의 중심에 위치하며 양성자와 중성자로 구성</a:t>
            </a:r>
            <a:endParaRPr lang="en-US" sz="1275" dirty="0"/>
          </a:p>
        </p:txBody>
      </p:sp>
      <p:sp>
        <p:nvSpPr>
          <p:cNvPr id="24" name="SK-3-text-23"/>
          <p:cNvSpPr/>
          <p:nvPr/>
        </p:nvSpPr>
        <p:spPr>
          <a:xfrm>
            <a:off x="800100" y="2459236"/>
            <a:ext cx="7966710" cy="258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 (Electron):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원자핵 주변의 넓은 공간을 차지하는 음전하 입자</a:t>
            </a:r>
            <a:endParaRPr lang="en-US" sz="1275" dirty="0"/>
          </a:p>
        </p:txBody>
      </p:sp>
      <p:sp>
        <p:nvSpPr>
          <p:cNvPr id="25" name="SK-3-text-24"/>
          <p:cNvSpPr/>
          <p:nvPr/>
        </p:nvSpPr>
        <p:spPr>
          <a:xfrm>
            <a:off x="800100" y="2794397"/>
            <a:ext cx="7513320" cy="258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전기적 중성: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양성자(+) 수와 전자(-) 수가 같아 전체 전하는 0</a:t>
            </a:r>
            <a:endParaRPr lang="en-US" sz="1275" dirty="0"/>
          </a:p>
        </p:txBody>
      </p:sp>
      <p:sp>
        <p:nvSpPr>
          <p:cNvPr id="26" name="SK-3-text-25"/>
          <p:cNvSpPr/>
          <p:nvPr/>
        </p:nvSpPr>
        <p:spPr>
          <a:xfrm>
            <a:off x="914400" y="3243858"/>
            <a:ext cx="219075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핵자(Nucleon)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양성자와 중성자의 통칭</a:t>
            </a:r>
            <a:endParaRPr lang="en-US" sz="1125" dirty="0"/>
          </a:p>
        </p:txBody>
      </p:sp>
      <p:sp>
        <p:nvSpPr>
          <p:cNvPr id="27" name="SK-3-text-26"/>
          <p:cNvSpPr/>
          <p:nvPr/>
        </p:nvSpPr>
        <p:spPr>
          <a:xfrm>
            <a:off x="3448050" y="3243858"/>
            <a:ext cx="219075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전자구름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전자가 발견될 확률 분포</a:t>
            </a:r>
            <a:endParaRPr lang="en-US" sz="1125" dirty="0"/>
          </a:p>
        </p:txBody>
      </p:sp>
      <p:sp>
        <p:nvSpPr>
          <p:cNvPr id="28" name="SK-3-text-27"/>
          <p:cNvSpPr/>
          <p:nvPr/>
        </p:nvSpPr>
        <p:spPr>
          <a:xfrm>
            <a:off x="1219200" y="4377333"/>
            <a:ext cx="1466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질량의 집중</a:t>
            </a:r>
            <a:endParaRPr lang="en-US" sz="1500" dirty="0"/>
          </a:p>
        </p:txBody>
      </p:sp>
      <p:sp>
        <p:nvSpPr>
          <p:cNvPr id="29" name="SK-3-text-28"/>
          <p:cNvSpPr/>
          <p:nvPr/>
        </p:nvSpPr>
        <p:spPr>
          <a:xfrm>
            <a:off x="800100" y="4777383"/>
            <a:ext cx="7383780" cy="258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 질량의 </a:t>
            </a: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99.9% 이상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극도로 작은 원자핵에 집중되어 있음</a:t>
            </a:r>
            <a:endParaRPr lang="en-US" sz="1275" dirty="0"/>
          </a:p>
        </p:txBody>
      </p:sp>
      <p:sp>
        <p:nvSpPr>
          <p:cNvPr id="30" name="SK-3-text-29"/>
          <p:cNvSpPr/>
          <p:nvPr/>
        </p:nvSpPr>
        <p:spPr>
          <a:xfrm>
            <a:off x="800100" y="5112544"/>
            <a:ext cx="4953000" cy="517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전자는 원자의 부피 대부분을 차지하지만 질량은 무시할 수 있을 정도로 작음</a:t>
            </a:r>
            <a:endParaRPr lang="en-US" sz="1275" dirty="0"/>
          </a:p>
        </p:txBody>
      </p:sp>
      <p:sp>
        <p:nvSpPr>
          <p:cNvPr id="31" name="SK-3-text-30"/>
          <p:cNvSpPr/>
          <p:nvPr/>
        </p:nvSpPr>
        <p:spPr>
          <a:xfrm>
            <a:off x="6834188" y="1742331"/>
            <a:ext cx="48768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공간과 질량의 역설</a:t>
            </a:r>
            <a:endParaRPr lang="en-US" sz="1650" dirty="0"/>
          </a:p>
        </p:txBody>
      </p:sp>
      <p:sp>
        <p:nvSpPr>
          <p:cNvPr id="32" name="SK-3-text-31"/>
          <p:cNvSpPr/>
          <p:nvPr/>
        </p:nvSpPr>
        <p:spPr>
          <a:xfrm>
            <a:off x="6477000" y="2151906"/>
            <a:ext cx="4876800" cy="8228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원자의 크기는 대부분 텅 빈 공간과 같은 전자구름이 차지하지만, 우리가 에너지를 추출하고자 하는 핵심 동력은 그 중심의 아주 작은 </a:t>
            </a:r>
            <a:r>
              <a:rPr lang="en-US" sz="135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원자핵</a:t>
            </a: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숨겨져 있습니다.</a:t>
            </a:r>
            <a:endParaRPr lang="en-US" sz="1350" dirty="0"/>
          </a:p>
        </p:txBody>
      </p:sp>
      <p:sp>
        <p:nvSpPr>
          <p:cNvPr id="33" name="SK-3-text-32"/>
          <p:cNvSpPr/>
          <p:nvPr/>
        </p:nvSpPr>
        <p:spPr>
          <a:xfrm>
            <a:off x="6629400" y="3222427"/>
            <a:ext cx="4648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경기장 비유 (Stadium Analogy)</a:t>
            </a:r>
            <a:endParaRPr lang="en-US" sz="1200" dirty="0"/>
          </a:p>
        </p:txBody>
      </p:sp>
      <p:sp>
        <p:nvSpPr>
          <p:cNvPr id="34" name="SK-3-text-33"/>
          <p:cNvSpPr/>
          <p:nvPr/>
        </p:nvSpPr>
        <p:spPr>
          <a:xfrm>
            <a:off x="6629400" y="3479602"/>
            <a:ext cx="45720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원자를 축구 경기장 크기로 확대한다면, 원자핵은 경기장 중앙에 놓인 </a:t>
            </a: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구슬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정도의 크기입니다. 전자는 경기장 전체 공간에 퍼져 있는 안개와 같습니다.</a:t>
            </a:r>
            <a:endParaRPr lang="en-US" sz="1125" dirty="0"/>
          </a:p>
        </p:txBody>
      </p:sp>
      <p:sp>
        <p:nvSpPr>
          <p:cNvPr id="35" name="SK-3-text-34"/>
          <p:cNvSpPr/>
          <p:nvPr/>
        </p:nvSpPr>
        <p:spPr>
          <a:xfrm>
            <a:off x="6858000" y="4769644"/>
            <a:ext cx="21526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경제학적 연결고리</a:t>
            </a:r>
            <a:endParaRPr lang="en-US" sz="1500" dirty="0"/>
          </a:p>
        </p:txBody>
      </p:sp>
      <p:sp>
        <p:nvSpPr>
          <p:cNvPr id="36" name="SK-3-text-35"/>
          <p:cNvSpPr/>
          <p:nvPr/>
        </p:nvSpPr>
        <p:spPr>
          <a:xfrm>
            <a:off x="6438900" y="5169694"/>
            <a:ext cx="4953000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 밀도의 차이는 여기서 발생합니다. 화학반응(연소)은 원자 사이의 전자를 재배치하지만,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원자력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질량이 집중된 핵 자체를 변화시켜 막대한 에너지를 끌어냅니다.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7200"/>
            <a:ext cx="789682" cy="238125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0175"/>
            <a:ext cx="381000" cy="28575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809750"/>
            <a:ext cx="4267200" cy="3333750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688134"/>
            <a:ext cx="333375" cy="266700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372100"/>
            <a:ext cx="2076450" cy="457200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0350" y="5372100"/>
            <a:ext cx="2076450" cy="457200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943600"/>
            <a:ext cx="2076450" cy="457200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0350" y="5943600"/>
            <a:ext cx="2076450" cy="457200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1600" y="1809750"/>
            <a:ext cx="6400800" cy="3667125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1600" y="1809750"/>
            <a:ext cx="6400800" cy="547688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1600" y="1809750"/>
            <a:ext cx="1996529" cy="547688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8129" y="1809750"/>
            <a:ext cx="1996529" cy="547688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74659" y="1809750"/>
            <a:ext cx="2407741" cy="547688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81600" y="2357438"/>
            <a:ext cx="1996529" cy="1039713"/>
          </a:xfrm>
          <a:prstGeom prst="rect">
            <a:avLst/>
          </a:prstGeom>
        </p:spPr>
      </p:pic>
      <p:pic>
        <p:nvPicPr>
          <p:cNvPr id="18" name="SK-4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129" y="2357438"/>
            <a:ext cx="1996529" cy="1039713"/>
          </a:xfrm>
          <a:prstGeom prst="rect">
            <a:avLst/>
          </a:prstGeom>
        </p:spPr>
      </p:pic>
      <p:pic>
        <p:nvPicPr>
          <p:cNvPr id="19" name="SK-4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74659" y="2357438"/>
            <a:ext cx="2407741" cy="1039713"/>
          </a:xfrm>
          <a:prstGeom prst="rect">
            <a:avLst/>
          </a:prstGeom>
        </p:spPr>
      </p:pic>
      <p:pic>
        <p:nvPicPr>
          <p:cNvPr id="20" name="SK-4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81600" y="3397151"/>
            <a:ext cx="1996529" cy="1039713"/>
          </a:xfrm>
          <a:prstGeom prst="rect">
            <a:avLst/>
          </a:prstGeom>
        </p:spPr>
      </p:pic>
      <p:pic>
        <p:nvPicPr>
          <p:cNvPr id="21" name="SK-4-img-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78129" y="3397151"/>
            <a:ext cx="1996529" cy="1039713"/>
          </a:xfrm>
          <a:prstGeom prst="rect">
            <a:avLst/>
          </a:prstGeom>
        </p:spPr>
      </p:pic>
      <p:pic>
        <p:nvPicPr>
          <p:cNvPr id="22" name="SK-4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74659" y="3397151"/>
            <a:ext cx="2407741" cy="1039713"/>
          </a:xfrm>
          <a:prstGeom prst="rect">
            <a:avLst/>
          </a:prstGeom>
        </p:spPr>
      </p:pic>
      <p:pic>
        <p:nvPicPr>
          <p:cNvPr id="23" name="SK-4-img-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81600" y="5743575"/>
            <a:ext cx="6400800" cy="657225"/>
          </a:xfrm>
          <a:prstGeom prst="rect">
            <a:avLst/>
          </a:prstGeom>
        </p:spPr>
      </p:pic>
      <p:pic>
        <p:nvPicPr>
          <p:cNvPr id="24" name="SK-4-img-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95900" y="5906542"/>
            <a:ext cx="178594" cy="148828"/>
          </a:xfrm>
          <a:prstGeom prst="rect">
            <a:avLst/>
          </a:prstGeom>
        </p:spPr>
      </p:pic>
      <p:sp>
        <p:nvSpPr>
          <p:cNvPr id="25" name="SK-4-text-24"/>
          <p:cNvSpPr/>
          <p:nvPr/>
        </p:nvSpPr>
        <p:spPr>
          <a:xfrm>
            <a:off x="685800" y="457200"/>
            <a:ext cx="98016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1050" dirty="0"/>
          </a:p>
        </p:txBody>
      </p:sp>
      <p:sp>
        <p:nvSpPr>
          <p:cNvPr id="26" name="SK-4-text-25"/>
          <p:cNvSpPr/>
          <p:nvPr/>
        </p:nvSpPr>
        <p:spPr>
          <a:xfrm>
            <a:off x="1513582" y="47625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27" name="SK-4-text-26"/>
          <p:cNvSpPr/>
          <p:nvPr/>
        </p:nvSpPr>
        <p:spPr>
          <a:xfrm>
            <a:off x="609600" y="77152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원소를 결정하는 것은 양성자 수다</a:t>
            </a:r>
            <a:endParaRPr lang="en-US" sz="2700" dirty="0"/>
          </a:p>
        </p:txBody>
      </p:sp>
      <p:sp>
        <p:nvSpPr>
          <p:cNvPr id="28" name="SK-4-text-27"/>
          <p:cNvSpPr/>
          <p:nvPr/>
        </p:nvSpPr>
        <p:spPr>
          <a:xfrm>
            <a:off x="1285875" y="2650034"/>
            <a:ext cx="64236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원자번호 (Atomic Number, Z)</a:t>
            </a:r>
            <a:endParaRPr lang="en-US" sz="1800" dirty="0"/>
          </a:p>
        </p:txBody>
      </p:sp>
      <p:sp>
        <p:nvSpPr>
          <p:cNvPr id="29" name="SK-4-text-28"/>
          <p:cNvSpPr/>
          <p:nvPr/>
        </p:nvSpPr>
        <p:spPr>
          <a:xfrm>
            <a:off x="838200" y="3145334"/>
            <a:ext cx="3810000" cy="11578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80"/>
              </a:lnSpc>
              <a:buNone/>
            </a:pP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원소의 정체성은 원자핵 속에 들어있는 </a:t>
            </a:r>
            <a:r>
              <a:rPr lang="en-US" sz="14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양성자의 개수</a:t>
            </a: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정의됩니다. 이는 원자의 '지문'과 같아서, 양성자 수가 하나라도 변하면 원소의 종류 자체가 바뀌게 됩니다.</a:t>
            </a:r>
            <a:endParaRPr lang="en-US" sz="1425" dirty="0"/>
          </a:p>
        </p:txBody>
      </p:sp>
      <p:sp>
        <p:nvSpPr>
          <p:cNvPr id="30" name="SK-4-text-29"/>
          <p:cNvSpPr/>
          <p:nvPr/>
        </p:nvSpPr>
        <p:spPr>
          <a:xfrm>
            <a:off x="762000" y="5486400"/>
            <a:ext cx="1173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수소 (H)</a:t>
            </a:r>
            <a:endParaRPr lang="en-US" sz="1200" dirty="0"/>
          </a:p>
        </p:txBody>
      </p:sp>
      <p:sp>
        <p:nvSpPr>
          <p:cNvPr id="31" name="SK-4-text-30"/>
          <p:cNvSpPr/>
          <p:nvPr/>
        </p:nvSpPr>
        <p:spPr>
          <a:xfrm>
            <a:off x="2190750" y="5486400"/>
            <a:ext cx="1112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 = 1</a:t>
            </a:r>
            <a:endParaRPr lang="en-US" sz="1200" dirty="0"/>
          </a:p>
        </p:txBody>
      </p:sp>
      <p:sp>
        <p:nvSpPr>
          <p:cNvPr id="32" name="SK-4-text-31"/>
          <p:cNvSpPr/>
          <p:nvPr/>
        </p:nvSpPr>
        <p:spPr>
          <a:xfrm>
            <a:off x="2952750" y="5486400"/>
            <a:ext cx="1356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헬륨 (He)</a:t>
            </a:r>
            <a:endParaRPr lang="en-US" sz="1200" dirty="0"/>
          </a:p>
        </p:txBody>
      </p:sp>
      <p:sp>
        <p:nvSpPr>
          <p:cNvPr id="33" name="SK-4-text-32"/>
          <p:cNvSpPr/>
          <p:nvPr/>
        </p:nvSpPr>
        <p:spPr>
          <a:xfrm>
            <a:off x="4352925" y="5486400"/>
            <a:ext cx="1112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 = 2</a:t>
            </a:r>
            <a:endParaRPr lang="en-US" sz="1200" dirty="0"/>
          </a:p>
        </p:txBody>
      </p:sp>
      <p:sp>
        <p:nvSpPr>
          <p:cNvPr id="34" name="SK-4-text-33"/>
          <p:cNvSpPr/>
          <p:nvPr/>
        </p:nvSpPr>
        <p:spPr>
          <a:xfrm>
            <a:off x="762000" y="6057900"/>
            <a:ext cx="1173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탄소 (C)</a:t>
            </a:r>
            <a:endParaRPr lang="en-US" sz="1200" dirty="0"/>
          </a:p>
        </p:txBody>
      </p:sp>
      <p:sp>
        <p:nvSpPr>
          <p:cNvPr id="35" name="SK-4-text-34"/>
          <p:cNvSpPr/>
          <p:nvPr/>
        </p:nvSpPr>
        <p:spPr>
          <a:xfrm>
            <a:off x="2162175" y="6057900"/>
            <a:ext cx="1112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 = 6</a:t>
            </a:r>
            <a:endParaRPr lang="en-US" sz="1200" dirty="0"/>
          </a:p>
        </p:txBody>
      </p:sp>
      <p:sp>
        <p:nvSpPr>
          <p:cNvPr id="36" name="SK-4-text-35"/>
          <p:cNvSpPr/>
          <p:nvPr/>
        </p:nvSpPr>
        <p:spPr>
          <a:xfrm>
            <a:off x="2952750" y="6057900"/>
            <a:ext cx="1356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우라늄 (U)</a:t>
            </a:r>
            <a:endParaRPr lang="en-US" sz="1200" dirty="0"/>
          </a:p>
        </p:txBody>
      </p:sp>
      <p:sp>
        <p:nvSpPr>
          <p:cNvPr id="37" name="SK-4-text-36"/>
          <p:cNvSpPr/>
          <p:nvPr/>
        </p:nvSpPr>
        <p:spPr>
          <a:xfrm>
            <a:off x="4257675" y="6057900"/>
            <a:ext cx="1417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 = 92</a:t>
            </a:r>
            <a:endParaRPr lang="en-US" sz="1200" dirty="0"/>
          </a:p>
        </p:txBody>
      </p:sp>
      <p:sp>
        <p:nvSpPr>
          <p:cNvPr id="38" name="SK-4-text-37"/>
          <p:cNvSpPr/>
          <p:nvPr/>
        </p:nvSpPr>
        <p:spPr>
          <a:xfrm>
            <a:off x="5334000" y="1809750"/>
            <a:ext cx="1772692" cy="547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변화하는 입자</a:t>
            </a:r>
            <a:endParaRPr lang="en-US" sz="1275" dirty="0"/>
          </a:p>
        </p:txBody>
      </p:sp>
      <p:sp>
        <p:nvSpPr>
          <p:cNvPr id="39" name="SK-4-text-38"/>
          <p:cNvSpPr/>
          <p:nvPr/>
        </p:nvSpPr>
        <p:spPr>
          <a:xfrm>
            <a:off x="7330529" y="1809750"/>
            <a:ext cx="1772692" cy="547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현상</a:t>
            </a:r>
            <a:endParaRPr lang="en-US" sz="1275" dirty="0"/>
          </a:p>
        </p:txBody>
      </p:sp>
      <p:sp>
        <p:nvSpPr>
          <p:cNvPr id="40" name="SK-4-text-39"/>
          <p:cNvSpPr/>
          <p:nvPr/>
        </p:nvSpPr>
        <p:spPr>
          <a:xfrm>
            <a:off x="9327059" y="1809750"/>
            <a:ext cx="2183904" cy="547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정체성 변화 여부</a:t>
            </a:r>
            <a:endParaRPr lang="en-US" sz="1275" dirty="0"/>
          </a:p>
        </p:txBody>
      </p:sp>
      <p:sp>
        <p:nvSpPr>
          <p:cNvPr id="41" name="SK-4-text-40"/>
          <p:cNvSpPr/>
          <p:nvPr/>
        </p:nvSpPr>
        <p:spPr>
          <a:xfrm>
            <a:off x="5334000" y="2753469"/>
            <a:ext cx="233172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양성자 (Proton)</a:t>
            </a:r>
            <a:endParaRPr lang="en-US" sz="1275" dirty="0"/>
          </a:p>
        </p:txBody>
      </p:sp>
      <p:sp>
        <p:nvSpPr>
          <p:cNvPr id="42" name="SK-4-text-41"/>
          <p:cNvSpPr/>
          <p:nvPr/>
        </p:nvSpPr>
        <p:spPr>
          <a:xfrm>
            <a:off x="7330529" y="2753469"/>
            <a:ext cx="2218373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핵반응 (분열/융합)</a:t>
            </a:r>
            <a:endParaRPr lang="en-US" sz="1275" dirty="0"/>
          </a:p>
        </p:txBody>
      </p:sp>
      <p:sp>
        <p:nvSpPr>
          <p:cNvPr id="43" name="SK-4-text-42"/>
          <p:cNvSpPr/>
          <p:nvPr/>
        </p:nvSpPr>
        <p:spPr>
          <a:xfrm>
            <a:off x="9327059" y="2762994"/>
            <a:ext cx="1722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원소 자체가 바뀜</a:t>
            </a:r>
            <a:endParaRPr lang="en-US" sz="1200" dirty="0"/>
          </a:p>
        </p:txBody>
      </p:sp>
      <p:sp>
        <p:nvSpPr>
          <p:cNvPr id="44" name="SK-4-text-43"/>
          <p:cNvSpPr/>
          <p:nvPr/>
        </p:nvSpPr>
        <p:spPr>
          <a:xfrm>
            <a:off x="5334000" y="3793182"/>
            <a:ext cx="252603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 (Electron)</a:t>
            </a:r>
            <a:endParaRPr lang="en-US" sz="1275" dirty="0"/>
          </a:p>
        </p:txBody>
      </p:sp>
      <p:sp>
        <p:nvSpPr>
          <p:cNvPr id="45" name="SK-4-text-44"/>
          <p:cNvSpPr/>
          <p:nvPr/>
        </p:nvSpPr>
        <p:spPr>
          <a:xfrm>
            <a:off x="7330529" y="3793182"/>
            <a:ext cx="2218373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이온화 (화학 반응)</a:t>
            </a:r>
            <a:endParaRPr lang="en-US" sz="1275" dirty="0"/>
          </a:p>
        </p:txBody>
      </p:sp>
      <p:sp>
        <p:nvSpPr>
          <p:cNvPr id="46" name="SK-4-text-45"/>
          <p:cNvSpPr/>
          <p:nvPr/>
        </p:nvSpPr>
        <p:spPr>
          <a:xfrm>
            <a:off x="9327059" y="3793182"/>
            <a:ext cx="2801303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원소 (전하만 변화)</a:t>
            </a:r>
            <a:endParaRPr lang="en-US" sz="1275" dirty="0"/>
          </a:p>
        </p:txBody>
      </p:sp>
      <p:sp>
        <p:nvSpPr>
          <p:cNvPr id="47" name="SK-4-text-46"/>
          <p:cNvSpPr/>
          <p:nvPr/>
        </p:nvSpPr>
        <p:spPr>
          <a:xfrm>
            <a:off x="5334000" y="4833045"/>
            <a:ext cx="252603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중성자 (Neutron)</a:t>
            </a:r>
            <a:endParaRPr lang="en-US" sz="1275" dirty="0"/>
          </a:p>
        </p:txBody>
      </p:sp>
      <p:sp>
        <p:nvSpPr>
          <p:cNvPr id="48" name="SK-4-text-47"/>
          <p:cNvSpPr/>
          <p:nvPr/>
        </p:nvSpPr>
        <p:spPr>
          <a:xfrm>
            <a:off x="7330529" y="4833045"/>
            <a:ext cx="1441133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동위원소 형성</a:t>
            </a:r>
            <a:endParaRPr lang="en-US" sz="1275" dirty="0"/>
          </a:p>
        </p:txBody>
      </p:sp>
      <p:sp>
        <p:nvSpPr>
          <p:cNvPr id="49" name="SK-4-text-48"/>
          <p:cNvSpPr/>
          <p:nvPr/>
        </p:nvSpPr>
        <p:spPr>
          <a:xfrm>
            <a:off x="9327059" y="4842570"/>
            <a:ext cx="263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원소 (질량만 변화)</a:t>
            </a:r>
            <a:endParaRPr lang="en-US" sz="1200" dirty="0"/>
          </a:p>
        </p:txBody>
      </p:sp>
      <p:sp>
        <p:nvSpPr>
          <p:cNvPr id="50" name="SK-4-text-49"/>
          <p:cNvSpPr/>
          <p:nvPr/>
        </p:nvSpPr>
        <p:spPr>
          <a:xfrm>
            <a:off x="5550694" y="5857875"/>
            <a:ext cx="617220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경제학적 관점: 핵반응은 물질의 근본 가치(원소)를 바꾸는 과정이므로, 일반 화학 반응(전자 재배치)보다 압도적으로 큰 에너지를 수반합니다.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7200"/>
            <a:ext cx="1009650" cy="238125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0175"/>
            <a:ext cx="381000" cy="28575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809750"/>
            <a:ext cx="4267200" cy="3419475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081212"/>
            <a:ext cx="285750" cy="22860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572125"/>
            <a:ext cx="4267200" cy="828675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5827663"/>
            <a:ext cx="238125" cy="317450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1600" y="1809750"/>
            <a:ext cx="6400800" cy="4591050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1600" y="1809750"/>
            <a:ext cx="1143000" cy="533400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809750"/>
            <a:ext cx="2628900" cy="533400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53500" y="1809750"/>
            <a:ext cx="2628900" cy="533400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1600" y="2343150"/>
            <a:ext cx="1143000" cy="1405086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2343150"/>
            <a:ext cx="2628900" cy="1405086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3040856"/>
            <a:ext cx="933450" cy="276225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53500" y="2343150"/>
            <a:ext cx="2628900" cy="1405086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5900" y="3040856"/>
            <a:ext cx="809625" cy="276225"/>
          </a:xfrm>
          <a:prstGeom prst="rect">
            <a:avLst/>
          </a:prstGeom>
        </p:spPr>
      </p:pic>
      <p:pic>
        <p:nvPicPr>
          <p:cNvPr id="19" name="SK-5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81600" y="3748236"/>
            <a:ext cx="1143000" cy="884039"/>
          </a:xfrm>
          <a:prstGeom prst="rect">
            <a:avLst/>
          </a:prstGeom>
        </p:spPr>
      </p:pic>
      <p:pic>
        <p:nvPicPr>
          <p:cNvPr id="20" name="SK-5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3748236"/>
            <a:ext cx="2628900" cy="884039"/>
          </a:xfrm>
          <a:prstGeom prst="rect">
            <a:avLst/>
          </a:prstGeom>
        </p:spPr>
      </p:pic>
      <p:pic>
        <p:nvPicPr>
          <p:cNvPr id="21" name="SK-5-img-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53500" y="3748236"/>
            <a:ext cx="2628900" cy="884039"/>
          </a:xfrm>
          <a:prstGeom prst="rect">
            <a:avLst/>
          </a:prstGeom>
        </p:spPr>
      </p:pic>
      <p:pic>
        <p:nvPicPr>
          <p:cNvPr id="22" name="SK-5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81600" y="4632275"/>
            <a:ext cx="1143000" cy="884039"/>
          </a:xfrm>
          <a:prstGeom prst="rect">
            <a:avLst/>
          </a:prstGeom>
        </p:spPr>
      </p:pic>
      <p:pic>
        <p:nvPicPr>
          <p:cNvPr id="23" name="SK-5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4632275"/>
            <a:ext cx="2628900" cy="884039"/>
          </a:xfrm>
          <a:prstGeom prst="rect">
            <a:avLst/>
          </a:prstGeom>
        </p:spPr>
      </p:pic>
      <p:pic>
        <p:nvPicPr>
          <p:cNvPr id="24" name="SK-5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53500" y="4632275"/>
            <a:ext cx="2628900" cy="884039"/>
          </a:xfrm>
          <a:prstGeom prst="rect">
            <a:avLst/>
          </a:prstGeom>
        </p:spPr>
      </p:pic>
      <p:pic>
        <p:nvPicPr>
          <p:cNvPr id="25" name="SK-5-img-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81600" y="5516314"/>
            <a:ext cx="1143000" cy="884486"/>
          </a:xfrm>
          <a:prstGeom prst="rect">
            <a:avLst/>
          </a:prstGeom>
        </p:spPr>
      </p:pic>
      <p:pic>
        <p:nvPicPr>
          <p:cNvPr id="26" name="SK-5-img-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5516314"/>
            <a:ext cx="2628900" cy="884486"/>
          </a:xfrm>
          <a:prstGeom prst="rect">
            <a:avLst/>
          </a:prstGeom>
        </p:spPr>
      </p:pic>
      <p:pic>
        <p:nvPicPr>
          <p:cNvPr id="27" name="SK-5-img-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53500" y="5516314"/>
            <a:ext cx="2628900" cy="884486"/>
          </a:xfrm>
          <a:prstGeom prst="rect">
            <a:avLst/>
          </a:prstGeom>
        </p:spPr>
      </p:pic>
      <p:sp>
        <p:nvSpPr>
          <p:cNvPr id="28" name="SK-5-text-27"/>
          <p:cNvSpPr/>
          <p:nvPr/>
        </p:nvSpPr>
        <p:spPr>
          <a:xfrm>
            <a:off x="685800" y="457200"/>
            <a:ext cx="161601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 05</a:t>
            </a:r>
            <a:endParaRPr lang="en-US" sz="1050" dirty="0"/>
          </a:p>
        </p:txBody>
      </p:sp>
      <p:sp>
        <p:nvSpPr>
          <p:cNvPr id="29" name="SK-5-text-28"/>
          <p:cNvSpPr/>
          <p:nvPr/>
        </p:nvSpPr>
        <p:spPr>
          <a:xfrm>
            <a:off x="1733550" y="47625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30" name="SK-5-text-29"/>
          <p:cNvSpPr/>
          <p:nvPr/>
        </p:nvSpPr>
        <p:spPr>
          <a:xfrm>
            <a:off x="609600" y="77152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주기율표는 원자번호 순서의 지도다</a:t>
            </a:r>
            <a:endParaRPr lang="en-US" sz="2700" dirty="0"/>
          </a:p>
        </p:txBody>
      </p:sp>
      <p:sp>
        <p:nvSpPr>
          <p:cNvPr id="31" name="SK-5-text-30"/>
          <p:cNvSpPr/>
          <p:nvPr/>
        </p:nvSpPr>
        <p:spPr>
          <a:xfrm>
            <a:off x="1238250" y="2038350"/>
            <a:ext cx="236791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원소 배열의 원리</a:t>
            </a:r>
            <a:endParaRPr lang="en-US" sz="1650" dirty="0"/>
          </a:p>
        </p:txBody>
      </p:sp>
      <p:sp>
        <p:nvSpPr>
          <p:cNvPr id="32" name="SK-5-text-31"/>
          <p:cNvSpPr/>
          <p:nvPr/>
        </p:nvSpPr>
        <p:spPr>
          <a:xfrm>
            <a:off x="838200" y="2505075"/>
            <a:ext cx="3810000" cy="517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원자번호(Z) 중심: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현대 주기율표는 양성자 수가 증가하는 순서대로 원소를 배열합니다.</a:t>
            </a:r>
            <a:endParaRPr lang="en-US" sz="1275" dirty="0"/>
          </a:p>
        </p:txBody>
      </p:sp>
      <p:sp>
        <p:nvSpPr>
          <p:cNvPr id="33" name="SK-5-text-32"/>
          <p:cNvSpPr/>
          <p:nvPr/>
        </p:nvSpPr>
        <p:spPr>
          <a:xfrm>
            <a:off x="838200" y="3137297"/>
            <a:ext cx="3810000" cy="517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핵의 층 (Identity):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양성자 수는 원소의 고유한 '정체성'을 결정합니다.</a:t>
            </a:r>
            <a:endParaRPr lang="en-US" sz="1275" dirty="0"/>
          </a:p>
        </p:txBody>
      </p:sp>
      <p:sp>
        <p:nvSpPr>
          <p:cNvPr id="34" name="SK-5-text-33"/>
          <p:cNvSpPr/>
          <p:nvPr/>
        </p:nvSpPr>
        <p:spPr>
          <a:xfrm>
            <a:off x="838200" y="3769519"/>
            <a:ext cx="3810000" cy="517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전자의 층 (Properties):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같은 열(족)의 원소들은 전자 배치가 비슷하여 화학적 성질이 유사합니다.</a:t>
            </a:r>
            <a:endParaRPr lang="en-US" sz="1275" dirty="0"/>
          </a:p>
        </p:txBody>
      </p:sp>
      <p:sp>
        <p:nvSpPr>
          <p:cNvPr id="35" name="SK-5-text-34"/>
          <p:cNvSpPr/>
          <p:nvPr/>
        </p:nvSpPr>
        <p:spPr>
          <a:xfrm>
            <a:off x="1076325" y="5686425"/>
            <a:ext cx="3686175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경제학적 관점: 핵반응은 단순한 연료 연소가 아니라, 원료의 '정체성' 자체가 바뀌며 막대한 에너지가 발생하는 과정입니다.</a:t>
            </a:r>
            <a:endParaRPr lang="en-US" sz="1125" dirty="0"/>
          </a:p>
        </p:txBody>
      </p:sp>
      <p:sp>
        <p:nvSpPr>
          <p:cNvPr id="36" name="SK-5-text-35"/>
          <p:cNvSpPr/>
          <p:nvPr/>
        </p:nvSpPr>
        <p:spPr>
          <a:xfrm>
            <a:off x="5143500" y="1809750"/>
            <a:ext cx="914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200" dirty="0"/>
          </a:p>
        </p:txBody>
      </p:sp>
      <p:sp>
        <p:nvSpPr>
          <p:cNvPr id="37" name="SK-5-text-36"/>
          <p:cNvSpPr/>
          <p:nvPr/>
        </p:nvSpPr>
        <p:spPr>
          <a:xfrm>
            <a:off x="6286500" y="1809750"/>
            <a:ext cx="2400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화학반응 (Chemical)</a:t>
            </a:r>
            <a:endParaRPr lang="en-US" sz="1200" dirty="0"/>
          </a:p>
        </p:txBody>
      </p:sp>
      <p:sp>
        <p:nvSpPr>
          <p:cNvPr id="38" name="SK-5-text-37"/>
          <p:cNvSpPr/>
          <p:nvPr/>
        </p:nvSpPr>
        <p:spPr>
          <a:xfrm>
            <a:off x="8915400" y="1809750"/>
            <a:ext cx="2400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핵반응 (Nuclear)</a:t>
            </a:r>
            <a:endParaRPr lang="en-US" sz="1200" dirty="0"/>
          </a:p>
        </p:txBody>
      </p:sp>
      <p:sp>
        <p:nvSpPr>
          <p:cNvPr id="39" name="SK-5-text-38"/>
          <p:cNvSpPr/>
          <p:nvPr/>
        </p:nvSpPr>
        <p:spPr>
          <a:xfrm>
            <a:off x="5143500" y="2343150"/>
            <a:ext cx="914400" cy="14050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변화</a:t>
            </a:r>
            <a:endParaRPr lang="en-US" sz="1200" dirty="0"/>
          </a:p>
        </p:txBody>
      </p:sp>
      <p:sp>
        <p:nvSpPr>
          <p:cNvPr id="40" name="SK-5-text-39"/>
          <p:cNvSpPr/>
          <p:nvPr/>
        </p:nvSpPr>
        <p:spPr>
          <a:xfrm>
            <a:off x="6477000" y="2774156"/>
            <a:ext cx="2926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최외각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재배치 및 결합</a:t>
            </a:r>
            <a:endParaRPr lang="en-US" sz="1200" dirty="0"/>
          </a:p>
        </p:txBody>
      </p:sp>
      <p:sp>
        <p:nvSpPr>
          <p:cNvPr id="41" name="SK-5-text-40"/>
          <p:cNvSpPr/>
          <p:nvPr/>
        </p:nvSpPr>
        <p:spPr>
          <a:xfrm>
            <a:off x="6553200" y="3040856"/>
            <a:ext cx="101346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전자구름 수준</a:t>
            </a:r>
            <a:endParaRPr lang="en-US" sz="1050" dirty="0"/>
          </a:p>
        </p:txBody>
      </p:sp>
      <p:sp>
        <p:nvSpPr>
          <p:cNvPr id="42" name="SK-5-text-41"/>
          <p:cNvSpPr/>
          <p:nvPr/>
        </p:nvSpPr>
        <p:spPr>
          <a:xfrm>
            <a:off x="9105900" y="2774156"/>
            <a:ext cx="3086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원자핵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분열, 융합 또는 붕괴</a:t>
            </a:r>
            <a:endParaRPr lang="en-US" sz="1200" dirty="0"/>
          </a:p>
        </p:txBody>
      </p:sp>
      <p:sp>
        <p:nvSpPr>
          <p:cNvPr id="43" name="SK-5-text-42"/>
          <p:cNvSpPr/>
          <p:nvPr/>
        </p:nvSpPr>
        <p:spPr>
          <a:xfrm>
            <a:off x="9182100" y="3040856"/>
            <a:ext cx="855592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원자핵 수준</a:t>
            </a:r>
            <a:endParaRPr lang="en-US" sz="1050" dirty="0"/>
          </a:p>
        </p:txBody>
      </p:sp>
      <p:sp>
        <p:nvSpPr>
          <p:cNvPr id="44" name="SK-5-text-43"/>
          <p:cNvSpPr/>
          <p:nvPr/>
        </p:nvSpPr>
        <p:spPr>
          <a:xfrm>
            <a:off x="5143500" y="3748236"/>
            <a:ext cx="914400" cy="8840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원소 유지</a:t>
            </a:r>
            <a:endParaRPr lang="en-US" sz="1200" dirty="0"/>
          </a:p>
        </p:txBody>
      </p:sp>
      <p:sp>
        <p:nvSpPr>
          <p:cNvPr id="45" name="SK-5-text-44"/>
          <p:cNvSpPr/>
          <p:nvPr/>
        </p:nvSpPr>
        <p:spPr>
          <a:xfrm>
            <a:off x="6477000" y="4075956"/>
            <a:ext cx="3368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원자번호 유지 (원소 종류 불변)</a:t>
            </a:r>
            <a:endParaRPr lang="en-US" sz="1200" dirty="0"/>
          </a:p>
        </p:txBody>
      </p:sp>
      <p:sp>
        <p:nvSpPr>
          <p:cNvPr id="46" name="SK-5-text-45"/>
          <p:cNvSpPr/>
          <p:nvPr/>
        </p:nvSpPr>
        <p:spPr>
          <a:xfrm>
            <a:off x="9105900" y="4075956"/>
            <a:ext cx="3086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원자번호 변화 가능 (원소 종류 변화)</a:t>
            </a:r>
            <a:endParaRPr lang="en-US" sz="1200" dirty="0"/>
          </a:p>
        </p:txBody>
      </p:sp>
      <p:sp>
        <p:nvSpPr>
          <p:cNvPr id="47" name="SK-5-text-46"/>
          <p:cNvSpPr/>
          <p:nvPr/>
        </p:nvSpPr>
        <p:spPr>
          <a:xfrm>
            <a:off x="5143500" y="4632275"/>
            <a:ext cx="914400" cy="8840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 규모</a:t>
            </a:r>
            <a:endParaRPr lang="en-US" sz="1200" dirty="0"/>
          </a:p>
        </p:txBody>
      </p:sp>
      <p:sp>
        <p:nvSpPr>
          <p:cNvPr id="48" name="SK-5-text-47"/>
          <p:cNvSpPr/>
          <p:nvPr/>
        </p:nvSpPr>
        <p:spPr>
          <a:xfrm>
            <a:off x="6477000" y="4959995"/>
            <a:ext cx="3550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상대적으로 작음 (분자 결합 수준)</a:t>
            </a:r>
            <a:endParaRPr lang="en-US" sz="1200" dirty="0"/>
          </a:p>
        </p:txBody>
      </p:sp>
      <p:sp>
        <p:nvSpPr>
          <p:cNvPr id="49" name="SK-5-text-48"/>
          <p:cNvSpPr/>
          <p:nvPr/>
        </p:nvSpPr>
        <p:spPr>
          <a:xfrm>
            <a:off x="9105900" y="4959995"/>
            <a:ext cx="3086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큼 (질량결손에 의한 에너지)</a:t>
            </a:r>
            <a:endParaRPr lang="en-US" sz="1200" dirty="0"/>
          </a:p>
        </p:txBody>
      </p:sp>
      <p:sp>
        <p:nvSpPr>
          <p:cNvPr id="50" name="SK-5-text-49"/>
          <p:cNvSpPr/>
          <p:nvPr/>
        </p:nvSpPr>
        <p:spPr>
          <a:xfrm>
            <a:off x="5143500" y="5516314"/>
            <a:ext cx="914400" cy="8844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사례</a:t>
            </a:r>
            <a:endParaRPr lang="en-US" sz="1200" dirty="0"/>
          </a:p>
        </p:txBody>
      </p:sp>
      <p:sp>
        <p:nvSpPr>
          <p:cNvPr id="51" name="SK-5-text-50"/>
          <p:cNvSpPr/>
          <p:nvPr/>
        </p:nvSpPr>
        <p:spPr>
          <a:xfrm>
            <a:off x="6477000" y="5844183"/>
            <a:ext cx="3733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석탄 연소, 가스 발전, 배터리 반응</a:t>
            </a:r>
            <a:endParaRPr lang="en-US" sz="1200" dirty="0"/>
          </a:p>
        </p:txBody>
      </p:sp>
      <p:sp>
        <p:nvSpPr>
          <p:cNvPr id="52" name="SK-5-text-51"/>
          <p:cNvSpPr/>
          <p:nvPr/>
        </p:nvSpPr>
        <p:spPr>
          <a:xfrm>
            <a:off x="9105900" y="5844183"/>
            <a:ext cx="3002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우라늄 핵분열, 태양의 핵융합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61950"/>
            <a:ext cx="789682" cy="238125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04925"/>
            <a:ext cx="381000" cy="28575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796653"/>
            <a:ext cx="5818882" cy="2137172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987153"/>
            <a:ext cx="5437882" cy="361950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034778"/>
            <a:ext cx="238125" cy="190500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095625"/>
            <a:ext cx="5437882" cy="647700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124325"/>
            <a:ext cx="5818882" cy="2213372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314825"/>
            <a:ext cx="5437882" cy="361950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4362450"/>
            <a:ext cx="238125" cy="190500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5423297"/>
            <a:ext cx="2661791" cy="723900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76191" y="5423297"/>
            <a:ext cx="2661791" cy="723900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3282" y="1638300"/>
            <a:ext cx="4849118" cy="3826669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61882" y="1869728"/>
            <a:ext cx="261937" cy="213420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61882" y="2286000"/>
            <a:ext cx="166688" cy="821531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61882" y="3231356"/>
            <a:ext cx="166688" cy="1107281"/>
          </a:xfrm>
          <a:prstGeom prst="rect">
            <a:avLst/>
          </a:prstGeom>
        </p:spPr>
      </p:pic>
      <p:pic>
        <p:nvPicPr>
          <p:cNvPr id="19" name="SK-6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61882" y="4462463"/>
            <a:ext cx="166688" cy="821531"/>
          </a:xfrm>
          <a:prstGeom prst="rect">
            <a:avLst/>
          </a:prstGeom>
        </p:spPr>
      </p:pic>
      <p:pic>
        <p:nvPicPr>
          <p:cNvPr id="20" name="SK-6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33282" y="5800725"/>
            <a:ext cx="4849118" cy="695325"/>
          </a:xfrm>
          <a:prstGeom prst="rect">
            <a:avLst/>
          </a:prstGeom>
        </p:spPr>
      </p:pic>
      <p:pic>
        <p:nvPicPr>
          <p:cNvPr id="21" name="SK-6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33282" y="5943600"/>
            <a:ext cx="166688" cy="137220"/>
          </a:xfrm>
          <a:prstGeom prst="rect">
            <a:avLst/>
          </a:prstGeom>
        </p:spPr>
      </p:pic>
      <p:sp>
        <p:nvSpPr>
          <p:cNvPr id="22" name="SK-6-text-21"/>
          <p:cNvSpPr/>
          <p:nvPr/>
        </p:nvSpPr>
        <p:spPr>
          <a:xfrm>
            <a:off x="685800" y="361950"/>
            <a:ext cx="98016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1050" dirty="0"/>
          </a:p>
        </p:txBody>
      </p:sp>
      <p:sp>
        <p:nvSpPr>
          <p:cNvPr id="23" name="SK-6-text-22"/>
          <p:cNvSpPr/>
          <p:nvPr/>
        </p:nvSpPr>
        <p:spPr>
          <a:xfrm>
            <a:off x="1513582" y="38100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24" name="SK-6-text-23"/>
          <p:cNvSpPr/>
          <p:nvPr/>
        </p:nvSpPr>
        <p:spPr>
          <a:xfrm>
            <a:off x="609600" y="67627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동위원소: 같은 원소, 다른 핵의 무게와 안정성</a:t>
            </a:r>
            <a:endParaRPr lang="en-US" sz="2700" dirty="0"/>
          </a:p>
        </p:txBody>
      </p:sp>
      <p:sp>
        <p:nvSpPr>
          <p:cNvPr id="25" name="SK-6-text-24"/>
          <p:cNvSpPr/>
          <p:nvPr/>
        </p:nvSpPr>
        <p:spPr>
          <a:xfrm>
            <a:off x="1152525" y="1987153"/>
            <a:ext cx="3981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동위원소(Isotope)의 정의</a:t>
            </a:r>
            <a:endParaRPr lang="en-US" sz="1500" dirty="0"/>
          </a:p>
        </p:txBody>
      </p:sp>
      <p:sp>
        <p:nvSpPr>
          <p:cNvPr id="26" name="SK-6-text-25"/>
          <p:cNvSpPr/>
          <p:nvPr/>
        </p:nvSpPr>
        <p:spPr>
          <a:xfrm>
            <a:off x="800100" y="2463403"/>
            <a:ext cx="5437882" cy="517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양성자 수(원자번호 Z)는 같아 화학적 성질은 동일하지만, </a:t>
            </a:r>
            <a:r>
              <a:rPr lang="en-US" sz="1275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중성자 수(N)가 달라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질량과 핵적 안정성이 다른 원자들입니다.</a:t>
            </a:r>
            <a:endParaRPr lang="en-US" sz="1275" dirty="0"/>
          </a:p>
        </p:txBody>
      </p:sp>
      <p:sp>
        <p:nvSpPr>
          <p:cNvPr id="27" name="SK-6-text-26"/>
          <p:cNvSpPr/>
          <p:nvPr/>
        </p:nvSpPr>
        <p:spPr>
          <a:xfrm>
            <a:off x="800100" y="3095625"/>
            <a:ext cx="5133082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질량수(A) = 양성자(Z) + 중성자(N)</a:t>
            </a:r>
            <a:endParaRPr lang="en-US" sz="1800" dirty="0"/>
          </a:p>
        </p:txBody>
      </p:sp>
      <p:sp>
        <p:nvSpPr>
          <p:cNvPr id="28" name="SK-6-text-27"/>
          <p:cNvSpPr/>
          <p:nvPr/>
        </p:nvSpPr>
        <p:spPr>
          <a:xfrm>
            <a:off x="1152525" y="4314825"/>
            <a:ext cx="5124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에너지원의 핵심: 우라늄(Uranium)</a:t>
            </a:r>
            <a:endParaRPr lang="en-US" sz="1500" dirty="0"/>
          </a:p>
        </p:txBody>
      </p:sp>
      <p:sp>
        <p:nvSpPr>
          <p:cNvPr id="29" name="SK-6-text-28"/>
          <p:cNvSpPr/>
          <p:nvPr/>
        </p:nvSpPr>
        <p:spPr>
          <a:xfrm>
            <a:off x="800100" y="4791075"/>
            <a:ext cx="5437882" cy="517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천연 우라늄은 대부분 U-238로 구성되어 있으며, 실제 핵분열이 용이한 U-235는 극소량에 불과합니다.</a:t>
            </a:r>
            <a:endParaRPr lang="en-US" sz="1275" dirty="0"/>
          </a:p>
        </p:txBody>
      </p:sp>
      <p:sp>
        <p:nvSpPr>
          <p:cNvPr id="30" name="SK-6-text-29"/>
          <p:cNvSpPr/>
          <p:nvPr/>
        </p:nvSpPr>
        <p:spPr>
          <a:xfrm>
            <a:off x="876300" y="5537597"/>
            <a:ext cx="250939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우라늄-235 (핵분열성)</a:t>
            </a:r>
            <a:endParaRPr lang="en-US" sz="1050" dirty="0"/>
          </a:p>
        </p:txBody>
      </p:sp>
      <p:sp>
        <p:nvSpPr>
          <p:cNvPr id="31" name="SK-6-text-30"/>
          <p:cNvSpPr/>
          <p:nvPr/>
        </p:nvSpPr>
        <p:spPr>
          <a:xfrm>
            <a:off x="871538" y="5775722"/>
            <a:ext cx="2518916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0.7%</a:t>
            </a:r>
            <a:endParaRPr lang="en-US" sz="1350" dirty="0"/>
          </a:p>
        </p:txBody>
      </p:sp>
      <p:sp>
        <p:nvSpPr>
          <p:cNvPr id="32" name="SK-6-text-31"/>
          <p:cNvSpPr/>
          <p:nvPr/>
        </p:nvSpPr>
        <p:spPr>
          <a:xfrm>
            <a:off x="3652391" y="5537597"/>
            <a:ext cx="250939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우라늄-238 (비분열성)</a:t>
            </a:r>
            <a:endParaRPr lang="en-US" sz="1050" dirty="0"/>
          </a:p>
        </p:txBody>
      </p:sp>
      <p:sp>
        <p:nvSpPr>
          <p:cNvPr id="33" name="SK-6-text-32"/>
          <p:cNvSpPr/>
          <p:nvPr/>
        </p:nvSpPr>
        <p:spPr>
          <a:xfrm>
            <a:off x="3647629" y="5775722"/>
            <a:ext cx="2518916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99.3%</a:t>
            </a:r>
            <a:endParaRPr lang="en-US" sz="1350" dirty="0"/>
          </a:p>
        </p:txBody>
      </p:sp>
      <p:sp>
        <p:nvSpPr>
          <p:cNvPr id="34" name="SK-6-text-33"/>
          <p:cNvSpPr/>
          <p:nvPr/>
        </p:nvSpPr>
        <p:spPr>
          <a:xfrm>
            <a:off x="7319070" y="1819275"/>
            <a:ext cx="26193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에너지경제학적 함의</a:t>
            </a:r>
            <a:endParaRPr lang="en-US" sz="1650" dirty="0"/>
          </a:p>
        </p:txBody>
      </p:sp>
      <p:sp>
        <p:nvSpPr>
          <p:cNvPr id="35" name="SK-6-text-34"/>
          <p:cNvSpPr/>
          <p:nvPr/>
        </p:nvSpPr>
        <p:spPr>
          <a:xfrm>
            <a:off x="7242870" y="2257425"/>
            <a:ext cx="4110930" cy="8501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연료비 및 농축 비용: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0.7%의 U-235를 3~5%까지 끌어올리는 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농축(Enrichment)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과정이 필수적이며, 이는 초기 연료 비용의 큰 비중을 차지함.</a:t>
            </a:r>
            <a:endParaRPr lang="en-US" sz="1200" dirty="0"/>
          </a:p>
        </p:txBody>
      </p:sp>
      <p:sp>
        <p:nvSpPr>
          <p:cNvPr id="36" name="SK-6-text-35"/>
          <p:cNvSpPr/>
          <p:nvPr/>
        </p:nvSpPr>
        <p:spPr>
          <a:xfrm>
            <a:off x="7242870" y="3202781"/>
            <a:ext cx="4110930" cy="11358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및 에너지 안보: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농축 기술은 고도의 기술력과 막대한 자본이 필요하여 특정 국가나 기업에 의존하게 되며, 이는 국가의 에너지 안보 전략과 직결됨.</a:t>
            </a:r>
            <a:endParaRPr lang="en-US" sz="1200" dirty="0"/>
          </a:p>
        </p:txBody>
      </p:sp>
      <p:sp>
        <p:nvSpPr>
          <p:cNvPr id="37" name="SK-6-text-36"/>
          <p:cNvSpPr/>
          <p:nvPr/>
        </p:nvSpPr>
        <p:spPr>
          <a:xfrm>
            <a:off x="7242870" y="4433888"/>
            <a:ext cx="4110930" cy="8501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희소성 관리: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동위원소 구성에 따라 가용 자원량이 결정되므로, 효율적인 연소 및 재처리 기술 개발은 장기적인 자산 가치에 영향을 미침.</a:t>
            </a:r>
            <a:endParaRPr lang="en-US" sz="1200" dirty="0"/>
          </a:p>
        </p:txBody>
      </p:sp>
      <p:sp>
        <p:nvSpPr>
          <p:cNvPr id="38" name="SK-6-text-37"/>
          <p:cNvSpPr/>
          <p:nvPr/>
        </p:nvSpPr>
        <p:spPr>
          <a:xfrm>
            <a:off x="6899970" y="5800725"/>
            <a:ext cx="4849118" cy="695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Source: U.S. NRC, "What is Uranium?" (2026-08-28)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핵에너지 경제학에서는 단순히 "우라늄"이라는 원소뿐만 아니라, 특정 동위원소의 농도와 추출 비용이 비즈니스 모델의 핵심입니다.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85750"/>
            <a:ext cx="789682" cy="238125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28725"/>
            <a:ext cx="381000" cy="28575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2266950"/>
            <a:ext cx="19050" cy="283666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600" y="1609725"/>
            <a:ext cx="285750" cy="228600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075" y="3512641"/>
            <a:ext cx="19050" cy="778966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2600" y="2855416"/>
            <a:ext cx="285750" cy="228600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4596408"/>
            <a:ext cx="285750" cy="228600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600" y="5613499"/>
            <a:ext cx="9829800" cy="409575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5000" y="5755481"/>
            <a:ext cx="214313" cy="175320"/>
          </a:xfrm>
          <a:prstGeom prst="rect">
            <a:avLst/>
          </a:prstGeom>
        </p:spPr>
      </p:pic>
      <p:pic>
        <p:nvPicPr>
          <p:cNvPr id="12" name="SK-7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6223099"/>
            <a:ext cx="10972800" cy="643830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6463903"/>
            <a:ext cx="285750" cy="228600"/>
          </a:xfrm>
          <a:prstGeom prst="rect">
            <a:avLst/>
          </a:prstGeom>
        </p:spPr>
      </p:pic>
      <p:sp>
        <p:nvSpPr>
          <p:cNvPr id="14" name="SK-7-text-13"/>
          <p:cNvSpPr/>
          <p:nvPr/>
        </p:nvSpPr>
        <p:spPr>
          <a:xfrm>
            <a:off x="685800" y="285750"/>
            <a:ext cx="98016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1050" dirty="0"/>
          </a:p>
        </p:txBody>
      </p:sp>
      <p:sp>
        <p:nvSpPr>
          <p:cNvPr id="15" name="SK-7-text-14"/>
          <p:cNvSpPr/>
          <p:nvPr/>
        </p:nvSpPr>
        <p:spPr>
          <a:xfrm>
            <a:off x="1513582" y="30480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16" name="SK-7-text-15"/>
          <p:cNvSpPr/>
          <p:nvPr/>
        </p:nvSpPr>
        <p:spPr>
          <a:xfrm>
            <a:off x="609600" y="60007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 결합에너지와 질량결손의 원리</a:t>
            </a:r>
            <a:endParaRPr lang="en-US" sz="2700" dirty="0"/>
          </a:p>
        </p:txBody>
      </p:sp>
      <p:sp>
        <p:nvSpPr>
          <p:cNvPr id="17" name="SK-7-text-16"/>
          <p:cNvSpPr/>
          <p:nvPr/>
        </p:nvSpPr>
        <p:spPr>
          <a:xfrm>
            <a:off x="623888" y="1504950"/>
            <a:ext cx="3086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065F4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5400" dirty="0"/>
          </a:p>
        </p:txBody>
      </p:sp>
      <p:sp>
        <p:nvSpPr>
          <p:cNvPr id="18" name="SK-7-text-17"/>
          <p:cNvSpPr/>
          <p:nvPr/>
        </p:nvSpPr>
        <p:spPr>
          <a:xfrm>
            <a:off x="2152650" y="1552575"/>
            <a:ext cx="9829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질량결손 (Mass Defect): 사라진 무게의 역설</a:t>
            </a:r>
            <a:endParaRPr lang="en-US" sz="1800" dirty="0"/>
          </a:p>
        </p:txBody>
      </p:sp>
      <p:sp>
        <p:nvSpPr>
          <p:cNvPr id="19" name="SK-7-text-18"/>
          <p:cNvSpPr/>
          <p:nvPr/>
        </p:nvSpPr>
        <p:spPr>
          <a:xfrm>
            <a:off x="1752600" y="1971675"/>
            <a:ext cx="9829800" cy="578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80"/>
              </a:lnSpc>
              <a:buNone/>
            </a:pP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원자핵을 구성하는 개별 양성자와 중성자 질량의 합보다, 이들이 결합하여 만들어진 </a:t>
            </a:r>
            <a:r>
              <a:rPr lang="en-US" sz="14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원자핵 전체의 질량이 더 가벼운 현상</a:t>
            </a: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의미합니다. "부분의 합이 전체보다 크다"는 물리적 실체입니다.</a:t>
            </a:r>
            <a:endParaRPr lang="en-US" sz="1425" dirty="0"/>
          </a:p>
        </p:txBody>
      </p:sp>
      <p:sp>
        <p:nvSpPr>
          <p:cNvPr id="20" name="SK-7-text-19"/>
          <p:cNvSpPr/>
          <p:nvPr/>
        </p:nvSpPr>
        <p:spPr>
          <a:xfrm>
            <a:off x="557213" y="2750641"/>
            <a:ext cx="3086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065F4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5400" dirty="0"/>
          </a:p>
        </p:txBody>
      </p:sp>
      <p:sp>
        <p:nvSpPr>
          <p:cNvPr id="21" name="SK-7-text-20"/>
          <p:cNvSpPr/>
          <p:nvPr/>
        </p:nvSpPr>
        <p:spPr>
          <a:xfrm>
            <a:off x="2152650" y="2798266"/>
            <a:ext cx="9829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질량-에너지 등가성: 초고밀도 에너지의 기원</a:t>
            </a:r>
            <a:endParaRPr lang="en-US" sz="1800" dirty="0"/>
          </a:p>
        </p:txBody>
      </p:sp>
      <p:sp>
        <p:nvSpPr>
          <p:cNvPr id="22" name="SK-7-text-21"/>
          <p:cNvSpPr/>
          <p:nvPr/>
        </p:nvSpPr>
        <p:spPr>
          <a:xfrm>
            <a:off x="1752600" y="3217366"/>
            <a:ext cx="9829800" cy="578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80"/>
              </a:lnSpc>
              <a:buNone/>
            </a:pP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 과정에서 사라진 질량(Δm)은 아인슈타인의 공식에 따라 막대한 양의 </a:t>
            </a:r>
            <a:r>
              <a:rPr lang="en-US" sz="14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결합에너지</a:t>
            </a: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전환되어 방출됩니다. 아주 작은 질량의 손실이 인류가 사용하는 거대한 전력의 원천이 됩니다.</a:t>
            </a:r>
            <a:endParaRPr lang="en-US" sz="1425" dirty="0"/>
          </a:p>
        </p:txBody>
      </p:sp>
      <p:sp>
        <p:nvSpPr>
          <p:cNvPr id="23" name="SK-7-text-22"/>
          <p:cNvSpPr/>
          <p:nvPr/>
        </p:nvSpPr>
        <p:spPr>
          <a:xfrm>
            <a:off x="1752600" y="3843933"/>
            <a:ext cx="99631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kern="0" spc="84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 = Δmc²</a:t>
            </a:r>
            <a:endParaRPr lang="en-US" sz="2100" dirty="0"/>
          </a:p>
        </p:txBody>
      </p:sp>
      <p:sp>
        <p:nvSpPr>
          <p:cNvPr id="24" name="SK-7-text-23"/>
          <p:cNvSpPr/>
          <p:nvPr/>
        </p:nvSpPr>
        <p:spPr>
          <a:xfrm>
            <a:off x="552450" y="4491633"/>
            <a:ext cx="3086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065F4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5400" dirty="0"/>
          </a:p>
        </p:txBody>
      </p:sp>
      <p:sp>
        <p:nvSpPr>
          <p:cNvPr id="25" name="SK-7-text-24"/>
          <p:cNvSpPr/>
          <p:nvPr/>
        </p:nvSpPr>
        <p:spPr>
          <a:xfrm>
            <a:off x="2152650" y="4539258"/>
            <a:ext cx="9829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추구: 핵분열과 핵융합의 동력</a:t>
            </a:r>
            <a:endParaRPr lang="en-US" sz="1800" dirty="0"/>
          </a:p>
        </p:txBody>
      </p:sp>
      <p:sp>
        <p:nvSpPr>
          <p:cNvPr id="26" name="SK-7-text-25"/>
          <p:cNvSpPr/>
          <p:nvPr/>
        </p:nvSpPr>
        <p:spPr>
          <a:xfrm>
            <a:off x="1752600" y="4958358"/>
            <a:ext cx="9829800" cy="578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80"/>
              </a:lnSpc>
              <a:buNone/>
            </a:pPr>
            <a:r>
              <a:rPr lang="en-US" sz="14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원자핵은 가장 안정한 상태(철, Fe 부근)로 가려는 성질이 있습니다. 무거운 핵은 쪼개지고(핵분열), 가벼운 핵은 합쳐지며(핵융합) 더 강하게 결합된 상태로 이동하고, 그 차이만큼의 에너지를 외부에 내놓습니다.</a:t>
            </a:r>
            <a:endParaRPr lang="en-US" sz="1425" dirty="0"/>
          </a:p>
        </p:txBody>
      </p:sp>
      <p:sp>
        <p:nvSpPr>
          <p:cNvPr id="27" name="SK-7-text-26"/>
          <p:cNvSpPr/>
          <p:nvPr/>
        </p:nvSpPr>
        <p:spPr>
          <a:xfrm>
            <a:off x="2195513" y="5613499"/>
            <a:ext cx="9525000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핵자당 결합에너지가 커질수록(더 안정해질수록) 남는 에너지가 밖으로 방출됩니다.</a:t>
            </a:r>
            <a:endParaRPr lang="en-US" sz="1350" dirty="0"/>
          </a:p>
        </p:txBody>
      </p:sp>
      <p:sp>
        <p:nvSpPr>
          <p:cNvPr id="28" name="SK-7-text-27"/>
          <p:cNvSpPr/>
          <p:nvPr/>
        </p:nvSpPr>
        <p:spPr>
          <a:xfrm>
            <a:off x="1238250" y="6318349"/>
            <a:ext cx="7181850" cy="453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에너지경제학적 관점에서 </a:t>
            </a: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질량결손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연료의 무게 대비 산출 에너지를 극대화하는 물리적 기초이며,</a:t>
            </a:r>
            <a:endParaRPr lang="en-US" sz="1275" dirty="0"/>
          </a:p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이는 화석연료와 차별화되는 원자력의 </a:t>
            </a: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연료비 비중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에너지 밀도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결정하는 핵심 요인입니다.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950"/>
            <a:ext cx="1009650" cy="238125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57300"/>
            <a:ext cx="381000" cy="28575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590675"/>
            <a:ext cx="3530650" cy="1876425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752600"/>
            <a:ext cx="266700" cy="266700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4350" y="2908102"/>
            <a:ext cx="381000" cy="304800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750" y="1590675"/>
            <a:ext cx="3530650" cy="1876425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250" y="1752600"/>
            <a:ext cx="266700" cy="266700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0" y="2908102"/>
            <a:ext cx="381000" cy="304800"/>
          </a:xfrm>
          <a:prstGeom prst="rect">
            <a:avLst/>
          </a:prstGeom>
        </p:spPr>
      </p:pic>
      <p:pic>
        <p:nvPicPr>
          <p:cNvPr id="11" name="SK-8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1899" y="1590675"/>
            <a:ext cx="3530650" cy="1876425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2399" y="1752600"/>
            <a:ext cx="266700" cy="266700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6650" y="2717602"/>
            <a:ext cx="381000" cy="304800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648075"/>
            <a:ext cx="10972800" cy="1290638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4167188"/>
            <a:ext cx="10515600" cy="590550"/>
          </a:xfrm>
          <a:prstGeom prst="rect">
            <a:avLst/>
          </a:prstGeom>
        </p:spPr>
      </p:pic>
      <p:pic>
        <p:nvPicPr>
          <p:cNvPr id="16" name="SK-8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7738" y="4362748"/>
            <a:ext cx="285750" cy="228600"/>
          </a:xfrm>
          <a:prstGeom prst="rect">
            <a:avLst/>
          </a:prstGeom>
        </p:spPr>
      </p:pic>
      <p:sp>
        <p:nvSpPr>
          <p:cNvPr id="17" name="SK-8-text-16"/>
          <p:cNvSpPr/>
          <p:nvPr/>
        </p:nvSpPr>
        <p:spPr>
          <a:xfrm>
            <a:off x="685800" y="361950"/>
            <a:ext cx="161601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 08</a:t>
            </a:r>
            <a:endParaRPr lang="en-US" sz="1050" dirty="0"/>
          </a:p>
        </p:txBody>
      </p:sp>
      <p:sp>
        <p:nvSpPr>
          <p:cNvPr id="18" name="SK-8-text-17"/>
          <p:cNvSpPr/>
          <p:nvPr/>
        </p:nvSpPr>
        <p:spPr>
          <a:xfrm>
            <a:off x="1733550" y="38100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19" name="SK-8-text-18"/>
          <p:cNvSpPr/>
          <p:nvPr/>
        </p:nvSpPr>
        <p:spPr>
          <a:xfrm>
            <a:off x="609600" y="65722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핵분열: 무거운 핵이 둘로 갈라지는 반응</a:t>
            </a:r>
            <a:endParaRPr lang="en-US" sz="2700" dirty="0"/>
          </a:p>
        </p:txBody>
      </p:sp>
      <p:sp>
        <p:nvSpPr>
          <p:cNvPr id="20" name="SK-8-text-19"/>
          <p:cNvSpPr/>
          <p:nvPr/>
        </p:nvSpPr>
        <p:spPr>
          <a:xfrm>
            <a:off x="900113" y="1752600"/>
            <a:ext cx="381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K-8-text-20"/>
          <p:cNvSpPr/>
          <p:nvPr/>
        </p:nvSpPr>
        <p:spPr>
          <a:xfrm>
            <a:off x="1162050" y="1743075"/>
            <a:ext cx="1466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중성자 흡수</a:t>
            </a:r>
            <a:endParaRPr lang="en-US" sz="1500" dirty="0"/>
          </a:p>
        </p:txBody>
      </p:sp>
      <p:sp>
        <p:nvSpPr>
          <p:cNvPr id="22" name="SK-8-text-21"/>
          <p:cNvSpPr/>
          <p:nvPr/>
        </p:nvSpPr>
        <p:spPr>
          <a:xfrm>
            <a:off x="800100" y="2124075"/>
            <a:ext cx="314965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외부에서 날아온 중성자가 </a:t>
            </a: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우라늄-235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같은 무거운 핵분열성 핵종에 흡수됩니다.</a:t>
            </a:r>
            <a:endParaRPr lang="en-US" sz="1275" dirty="0"/>
          </a:p>
        </p:txBody>
      </p:sp>
      <p:sp>
        <p:nvSpPr>
          <p:cNvPr id="23" name="SK-8-text-22"/>
          <p:cNvSpPr/>
          <p:nvPr/>
        </p:nvSpPr>
        <p:spPr>
          <a:xfrm>
            <a:off x="4606975" y="1752600"/>
            <a:ext cx="381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K-8-text-23"/>
          <p:cNvSpPr/>
          <p:nvPr/>
        </p:nvSpPr>
        <p:spPr>
          <a:xfrm>
            <a:off x="4883200" y="1743075"/>
            <a:ext cx="1924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불안정 및 분열</a:t>
            </a:r>
            <a:endParaRPr lang="en-US" sz="1500" dirty="0"/>
          </a:p>
        </p:txBody>
      </p:sp>
      <p:sp>
        <p:nvSpPr>
          <p:cNvPr id="25" name="SK-8-text-24"/>
          <p:cNvSpPr/>
          <p:nvPr/>
        </p:nvSpPr>
        <p:spPr>
          <a:xfrm>
            <a:off x="4521250" y="2124075"/>
            <a:ext cx="314965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핵이 극도로 불안정해지며 </a:t>
            </a: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개의 더 가벼운 핵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(핵분열생성물)으로 쪼개집니다.</a:t>
            </a:r>
            <a:endParaRPr lang="en-US" sz="1275" dirty="0"/>
          </a:p>
        </p:txBody>
      </p:sp>
      <p:sp>
        <p:nvSpPr>
          <p:cNvPr id="26" name="SK-8-text-25"/>
          <p:cNvSpPr/>
          <p:nvPr/>
        </p:nvSpPr>
        <p:spPr>
          <a:xfrm>
            <a:off x="8328124" y="1752600"/>
            <a:ext cx="381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K-8-text-26"/>
          <p:cNvSpPr/>
          <p:nvPr/>
        </p:nvSpPr>
        <p:spPr>
          <a:xfrm>
            <a:off x="8604349" y="1743075"/>
            <a:ext cx="1466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 방출</a:t>
            </a:r>
            <a:endParaRPr lang="en-US" sz="1500" dirty="0"/>
          </a:p>
        </p:txBody>
      </p:sp>
      <p:sp>
        <p:nvSpPr>
          <p:cNvPr id="28" name="SK-8-text-27"/>
          <p:cNvSpPr/>
          <p:nvPr/>
        </p:nvSpPr>
        <p:spPr>
          <a:xfrm>
            <a:off x="8242399" y="2028825"/>
            <a:ext cx="314965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과정에서 </a:t>
            </a: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2~3개의 추가 중성자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막대한 양의 에너지가 방출됩니다.</a:t>
            </a:r>
            <a:endParaRPr lang="en-US" sz="1275" dirty="0"/>
          </a:p>
        </p:txBody>
      </p:sp>
      <p:sp>
        <p:nvSpPr>
          <p:cNvPr id="29" name="SK-8-text-28"/>
          <p:cNvSpPr/>
          <p:nvPr/>
        </p:nvSpPr>
        <p:spPr>
          <a:xfrm>
            <a:off x="838200" y="3829050"/>
            <a:ext cx="105918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핵분열 개념식</a:t>
            </a:r>
            <a:endParaRPr lang="en-US" sz="1125" dirty="0"/>
          </a:p>
        </p:txBody>
      </p:sp>
      <p:sp>
        <p:nvSpPr>
          <p:cNvPr id="30" name="SK-8-text-29"/>
          <p:cNvSpPr/>
          <p:nvPr/>
        </p:nvSpPr>
        <p:spPr>
          <a:xfrm>
            <a:off x="2224088" y="4291013"/>
            <a:ext cx="9372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중성자</a:t>
            </a:r>
            <a:endParaRPr lang="en-US" sz="1800" dirty="0"/>
          </a:p>
        </p:txBody>
      </p:sp>
      <p:sp>
        <p:nvSpPr>
          <p:cNvPr id="31" name="SK-8-text-30"/>
          <p:cNvSpPr/>
          <p:nvPr/>
        </p:nvSpPr>
        <p:spPr>
          <a:xfrm>
            <a:off x="2967038" y="4291013"/>
            <a:ext cx="3886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32" name="SK-8-text-31"/>
          <p:cNvSpPr/>
          <p:nvPr/>
        </p:nvSpPr>
        <p:spPr>
          <a:xfrm>
            <a:off x="3233738" y="4291013"/>
            <a:ext cx="20345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핵분열성 핵종</a:t>
            </a:r>
            <a:endParaRPr lang="en-US" sz="1800" dirty="0"/>
          </a:p>
        </p:txBody>
      </p:sp>
      <p:sp>
        <p:nvSpPr>
          <p:cNvPr id="33" name="SK-8-text-32"/>
          <p:cNvSpPr/>
          <p:nvPr/>
        </p:nvSpPr>
        <p:spPr>
          <a:xfrm>
            <a:off x="5253038" y="4291013"/>
            <a:ext cx="17602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핵분열생성물</a:t>
            </a:r>
            <a:endParaRPr lang="en-US" sz="1800" dirty="0"/>
          </a:p>
        </p:txBody>
      </p:sp>
      <p:sp>
        <p:nvSpPr>
          <p:cNvPr id="34" name="SK-8-text-33"/>
          <p:cNvSpPr/>
          <p:nvPr/>
        </p:nvSpPr>
        <p:spPr>
          <a:xfrm>
            <a:off x="6624638" y="4291013"/>
            <a:ext cx="3886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35" name="SK-8-text-34"/>
          <p:cNvSpPr/>
          <p:nvPr/>
        </p:nvSpPr>
        <p:spPr>
          <a:xfrm>
            <a:off x="6891338" y="4291013"/>
            <a:ext cx="17602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중성자</a:t>
            </a:r>
            <a:endParaRPr lang="en-US" sz="1800" dirty="0"/>
          </a:p>
        </p:txBody>
      </p:sp>
      <p:sp>
        <p:nvSpPr>
          <p:cNvPr id="36" name="SK-8-text-35"/>
          <p:cNvSpPr/>
          <p:nvPr/>
        </p:nvSpPr>
        <p:spPr>
          <a:xfrm>
            <a:off x="8110537" y="4291013"/>
            <a:ext cx="3886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37" name="SK-8-text-36"/>
          <p:cNvSpPr/>
          <p:nvPr/>
        </p:nvSpPr>
        <p:spPr>
          <a:xfrm>
            <a:off x="8377238" y="4291013"/>
            <a:ext cx="31318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 (E=mc²)</a:t>
            </a:r>
            <a:endParaRPr lang="en-US" sz="1800" dirty="0"/>
          </a:p>
        </p:txBody>
      </p:sp>
      <p:sp>
        <p:nvSpPr>
          <p:cNvPr id="38" name="SK-8-text-37"/>
          <p:cNvSpPr/>
          <p:nvPr/>
        </p:nvSpPr>
        <p:spPr>
          <a:xfrm>
            <a:off x="609600" y="5119688"/>
            <a:ext cx="5467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에너지의 전환</a:t>
            </a:r>
            <a:endParaRPr lang="en-US" sz="1125" dirty="0"/>
          </a:p>
        </p:txBody>
      </p:sp>
      <p:sp>
        <p:nvSpPr>
          <p:cNvPr id="39" name="SK-8-text-38"/>
          <p:cNvSpPr/>
          <p:nvPr/>
        </p:nvSpPr>
        <p:spPr>
          <a:xfrm>
            <a:off x="609600" y="5391150"/>
            <a:ext cx="539115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방출된 에너지는 처음에는 입자들의 </a:t>
            </a:r>
            <a:r>
              <a:rPr lang="en-US" sz="135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운동에너지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나타나며, 주변 물질과 충돌하면서 최종적으로 </a:t>
            </a:r>
            <a:r>
              <a:rPr lang="en-US" sz="135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열(Heat)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변환됩니다.</a:t>
            </a:r>
            <a:endParaRPr lang="en-US" sz="1350" dirty="0"/>
          </a:p>
        </p:txBody>
      </p:sp>
      <p:sp>
        <p:nvSpPr>
          <p:cNvPr id="40" name="SK-8-text-39"/>
          <p:cNvSpPr/>
          <p:nvPr/>
        </p:nvSpPr>
        <p:spPr>
          <a:xfrm>
            <a:off x="6191250" y="5119688"/>
            <a:ext cx="5467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원소의 정체성 변화</a:t>
            </a:r>
            <a:endParaRPr lang="en-US" sz="1125" dirty="0"/>
          </a:p>
        </p:txBody>
      </p:sp>
      <p:sp>
        <p:nvSpPr>
          <p:cNvPr id="41" name="SK-8-text-40"/>
          <p:cNvSpPr/>
          <p:nvPr/>
        </p:nvSpPr>
        <p:spPr>
          <a:xfrm>
            <a:off x="6191250" y="5391150"/>
            <a:ext cx="539115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양성자 수가 달라지므로 화학 반응과 달리 </a:t>
            </a:r>
            <a:r>
              <a:rPr lang="en-US" sz="135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원소 자체가 변하며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생성된 핵분열생성물은 여전히 방사성을 띨 수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789682" cy="238125"/>
          </a:xfrm>
          <a:prstGeom prst="rect">
            <a:avLst/>
          </a:prstGeom>
        </p:spPr>
      </p:pic>
      <p:pic>
        <p:nvPicPr>
          <p:cNvPr id="4" name="SK-9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00175"/>
            <a:ext cx="381000" cy="28575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952625"/>
            <a:ext cx="4848969" cy="2019300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645569"/>
            <a:ext cx="571500" cy="280988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124200"/>
            <a:ext cx="571500" cy="280988"/>
          </a:xfrm>
          <a:prstGeom prst="rect">
            <a:avLst/>
          </a:prstGeom>
        </p:spPr>
      </p:pic>
      <p:pic>
        <p:nvPicPr>
          <p:cNvPr id="8" name="SK-9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500438"/>
            <a:ext cx="571500" cy="280988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162425"/>
            <a:ext cx="2348210" cy="990600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352925"/>
            <a:ext cx="190500" cy="152400"/>
          </a:xfrm>
          <a:prstGeom prst="rect">
            <a:avLst/>
          </a:prstGeom>
        </p:spPr>
      </p:pic>
      <p:pic>
        <p:nvPicPr>
          <p:cNvPr id="11" name="SK-9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10210" y="4162425"/>
            <a:ext cx="2348359" cy="990600"/>
          </a:xfrm>
          <a:prstGeom prst="rect">
            <a:avLst/>
          </a:prstGeom>
        </p:spPr>
      </p:pic>
      <p:pic>
        <p:nvPicPr>
          <p:cNvPr id="12" name="SK-9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2610" y="4352925"/>
            <a:ext cx="190500" cy="152400"/>
          </a:xfrm>
          <a:prstGeom prst="rect">
            <a:avLst/>
          </a:prstGeom>
        </p:spPr>
      </p:pic>
      <p:pic>
        <p:nvPicPr>
          <p:cNvPr id="13" name="SK-9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343525"/>
            <a:ext cx="4848969" cy="762000"/>
          </a:xfrm>
          <a:prstGeom prst="rect">
            <a:avLst/>
          </a:prstGeom>
        </p:spPr>
      </p:pic>
      <p:pic>
        <p:nvPicPr>
          <p:cNvPr id="14" name="SK-9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63369" y="1743075"/>
            <a:ext cx="5819031" cy="4572000"/>
          </a:xfrm>
          <a:prstGeom prst="rect">
            <a:avLst/>
          </a:prstGeom>
        </p:spPr>
      </p:pic>
      <p:pic>
        <p:nvPicPr>
          <p:cNvPr id="15" name="SK-9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15769" y="1895475"/>
            <a:ext cx="1695450" cy="300038"/>
          </a:xfrm>
          <a:prstGeom prst="rect">
            <a:avLst/>
          </a:prstGeom>
        </p:spPr>
      </p:pic>
      <p:pic>
        <p:nvPicPr>
          <p:cNvPr id="16" name="SK-9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15769" y="2271713"/>
            <a:ext cx="1695450" cy="300038"/>
          </a:xfrm>
          <a:prstGeom prst="rect">
            <a:avLst/>
          </a:prstGeom>
        </p:spPr>
      </p:pic>
      <p:pic>
        <p:nvPicPr>
          <p:cNvPr id="17" name="SK-9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63369" y="1743075"/>
            <a:ext cx="5819031" cy="3990975"/>
          </a:xfrm>
          <a:prstGeom prst="rect">
            <a:avLst/>
          </a:prstGeom>
        </p:spPr>
      </p:pic>
      <p:pic>
        <p:nvPicPr>
          <p:cNvPr id="18" name="SK-9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63369" y="5734050"/>
            <a:ext cx="5819031" cy="581025"/>
          </a:xfrm>
          <a:prstGeom prst="rect">
            <a:avLst/>
          </a:prstGeom>
        </p:spPr>
      </p:pic>
      <p:pic>
        <p:nvPicPr>
          <p:cNvPr id="19" name="SK-9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20235" y="5848350"/>
            <a:ext cx="1500188" cy="352425"/>
          </a:xfrm>
          <a:prstGeom prst="rect">
            <a:avLst/>
          </a:prstGeom>
        </p:spPr>
      </p:pic>
      <p:pic>
        <p:nvPicPr>
          <p:cNvPr id="20" name="SK-9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72635" y="5955953"/>
            <a:ext cx="166688" cy="137220"/>
          </a:xfrm>
          <a:prstGeom prst="rect">
            <a:avLst/>
          </a:prstGeom>
        </p:spPr>
      </p:pic>
      <p:pic>
        <p:nvPicPr>
          <p:cNvPr id="21" name="SK-9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72823" y="5848350"/>
            <a:ext cx="1452563" cy="352425"/>
          </a:xfrm>
          <a:prstGeom prst="rect">
            <a:avLst/>
          </a:prstGeom>
        </p:spPr>
      </p:pic>
      <p:pic>
        <p:nvPicPr>
          <p:cNvPr id="22" name="SK-9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25223" y="5955953"/>
            <a:ext cx="166688" cy="137220"/>
          </a:xfrm>
          <a:prstGeom prst="rect">
            <a:avLst/>
          </a:prstGeom>
        </p:spPr>
      </p:pic>
      <p:sp>
        <p:nvSpPr>
          <p:cNvPr id="23" name="SK-9-text-22"/>
          <p:cNvSpPr/>
          <p:nvPr/>
        </p:nvSpPr>
        <p:spPr>
          <a:xfrm>
            <a:off x="685800" y="457200"/>
            <a:ext cx="98016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1050" dirty="0"/>
          </a:p>
        </p:txBody>
      </p:sp>
      <p:sp>
        <p:nvSpPr>
          <p:cNvPr id="24" name="SK-9-text-23"/>
          <p:cNvSpPr/>
          <p:nvPr/>
        </p:nvSpPr>
        <p:spPr>
          <a:xfrm>
            <a:off x="1513582" y="47625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25" name="SK-9-text-24"/>
          <p:cNvSpPr/>
          <p:nvPr/>
        </p:nvSpPr>
        <p:spPr>
          <a:xfrm>
            <a:off x="609600" y="77152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연쇄반응과 임계상태의 제어</a:t>
            </a:r>
            <a:endParaRPr lang="en-US" sz="2700" dirty="0"/>
          </a:p>
        </p:txBody>
      </p:sp>
      <p:sp>
        <p:nvSpPr>
          <p:cNvPr id="26" name="SK-9-text-25"/>
          <p:cNvSpPr/>
          <p:nvPr/>
        </p:nvSpPr>
        <p:spPr>
          <a:xfrm>
            <a:off x="800100" y="2143125"/>
            <a:ext cx="4563219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유효증배계수 (k)의 경제적 의미</a:t>
            </a:r>
            <a:endParaRPr lang="en-US" sz="1500" dirty="0"/>
          </a:p>
        </p:txBody>
      </p:sp>
      <p:sp>
        <p:nvSpPr>
          <p:cNvPr id="27" name="SK-9-text-26"/>
          <p:cNvSpPr/>
          <p:nvPr/>
        </p:nvSpPr>
        <p:spPr>
          <a:xfrm>
            <a:off x="759619" y="2645569"/>
            <a:ext cx="538163" cy="2809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 = 1</a:t>
            </a:r>
            <a:endParaRPr lang="en-US" sz="1275" dirty="0"/>
          </a:p>
        </p:txBody>
      </p:sp>
      <p:sp>
        <p:nvSpPr>
          <p:cNvPr id="28" name="SK-9-text-27"/>
          <p:cNvSpPr/>
          <p:nvPr/>
        </p:nvSpPr>
        <p:spPr>
          <a:xfrm>
            <a:off x="1485900" y="2543175"/>
            <a:ext cx="3782169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 (Critical):</a:t>
            </a: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정상 출력 유지. 안정적 에너지 공급의 핵심.</a:t>
            </a:r>
            <a:endParaRPr lang="en-US" sz="1275" dirty="0"/>
          </a:p>
        </p:txBody>
      </p:sp>
      <p:sp>
        <p:nvSpPr>
          <p:cNvPr id="29" name="SK-9-text-28"/>
          <p:cNvSpPr/>
          <p:nvPr/>
        </p:nvSpPr>
        <p:spPr>
          <a:xfrm>
            <a:off x="759619" y="3124200"/>
            <a:ext cx="538163" cy="2809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 &lt; 1</a:t>
            </a:r>
            <a:endParaRPr lang="en-US" sz="1275" dirty="0"/>
          </a:p>
        </p:txBody>
      </p:sp>
      <p:sp>
        <p:nvSpPr>
          <p:cNvPr id="30" name="SK-9-text-29"/>
          <p:cNvSpPr/>
          <p:nvPr/>
        </p:nvSpPr>
        <p:spPr>
          <a:xfrm>
            <a:off x="1485900" y="3143250"/>
            <a:ext cx="544068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아임계:</a:t>
            </a: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연쇄반응 감소. 출력 저하 및 정지 상태.</a:t>
            </a:r>
            <a:endParaRPr lang="en-US" sz="1275" dirty="0"/>
          </a:p>
        </p:txBody>
      </p:sp>
      <p:sp>
        <p:nvSpPr>
          <p:cNvPr id="31" name="SK-9-text-30"/>
          <p:cNvSpPr/>
          <p:nvPr/>
        </p:nvSpPr>
        <p:spPr>
          <a:xfrm>
            <a:off x="759619" y="3500438"/>
            <a:ext cx="538163" cy="2809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 &gt; 1</a:t>
            </a:r>
            <a:endParaRPr lang="en-US" sz="1275" dirty="0"/>
          </a:p>
        </p:txBody>
      </p:sp>
      <p:sp>
        <p:nvSpPr>
          <p:cNvPr id="32" name="SK-9-text-31"/>
          <p:cNvSpPr/>
          <p:nvPr/>
        </p:nvSpPr>
        <p:spPr>
          <a:xfrm>
            <a:off x="1485900" y="3519488"/>
            <a:ext cx="58293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초임계:</a:t>
            </a: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연쇄반응 급증. 출력 상승 시의 일시적 상태.</a:t>
            </a:r>
            <a:endParaRPr lang="en-US" sz="1275" dirty="0"/>
          </a:p>
        </p:txBody>
      </p:sp>
      <p:sp>
        <p:nvSpPr>
          <p:cNvPr id="33" name="SK-9-text-32"/>
          <p:cNvSpPr/>
          <p:nvPr/>
        </p:nvSpPr>
        <p:spPr>
          <a:xfrm>
            <a:off x="1028700" y="4314825"/>
            <a:ext cx="3108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제어봉 (Control Rod)</a:t>
            </a:r>
            <a:endParaRPr lang="en-US" sz="1200" dirty="0"/>
          </a:p>
        </p:txBody>
      </p:sp>
      <p:sp>
        <p:nvSpPr>
          <p:cNvPr id="34" name="SK-9-text-33"/>
          <p:cNvSpPr/>
          <p:nvPr/>
        </p:nvSpPr>
        <p:spPr>
          <a:xfrm>
            <a:off x="762000" y="4600575"/>
            <a:ext cx="204341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중성자를 흡수하여 반응 속도를 조절하는 '브레이크' 역할.</a:t>
            </a:r>
            <a:endParaRPr lang="en-US" sz="1050" dirty="0"/>
          </a:p>
        </p:txBody>
      </p:sp>
      <p:sp>
        <p:nvSpPr>
          <p:cNvPr id="35" name="SK-9-text-34"/>
          <p:cNvSpPr/>
          <p:nvPr/>
        </p:nvSpPr>
        <p:spPr>
          <a:xfrm>
            <a:off x="3529310" y="4314825"/>
            <a:ext cx="2743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감속재 (Moderator)</a:t>
            </a:r>
            <a:endParaRPr lang="en-US" sz="1200" dirty="0"/>
          </a:p>
        </p:txBody>
      </p:sp>
      <p:sp>
        <p:nvSpPr>
          <p:cNvPr id="36" name="SK-9-text-35"/>
          <p:cNvSpPr/>
          <p:nvPr/>
        </p:nvSpPr>
        <p:spPr>
          <a:xfrm>
            <a:off x="3262610" y="4600575"/>
            <a:ext cx="2043559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중성자 속도를 늦춰 핵분열 확률을 높이는 '촉매' 역할.</a:t>
            </a:r>
            <a:endParaRPr lang="en-US" sz="1050" dirty="0"/>
          </a:p>
        </p:txBody>
      </p:sp>
      <p:sp>
        <p:nvSpPr>
          <p:cNvPr id="37" name="SK-9-text-36"/>
          <p:cNvSpPr/>
          <p:nvPr/>
        </p:nvSpPr>
        <p:spPr>
          <a:xfrm>
            <a:off x="762000" y="5495925"/>
            <a:ext cx="454416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경제학적 연결: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원자로의 임계 제어 능력은 발전소의 </a:t>
            </a: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유연성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안전성(외부효과)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결정하는 핵심 기술 요소입니다.</a:t>
            </a:r>
            <a:endParaRPr lang="en-US" sz="1125" dirty="0"/>
          </a:p>
        </p:txBody>
      </p:sp>
      <p:sp>
        <p:nvSpPr>
          <p:cNvPr id="38" name="SK-9-text-37"/>
          <p:cNvSpPr/>
          <p:nvPr/>
        </p:nvSpPr>
        <p:spPr>
          <a:xfrm>
            <a:off x="6030069" y="1895475"/>
            <a:ext cx="2604456" cy="3000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제어봉: 추출됨 (k &gt; 1 가능)</a:t>
            </a:r>
            <a:endParaRPr lang="en-US" sz="975" dirty="0"/>
          </a:p>
        </p:txBody>
      </p:sp>
      <p:sp>
        <p:nvSpPr>
          <p:cNvPr id="39" name="SK-9-text-38"/>
          <p:cNvSpPr/>
          <p:nvPr/>
        </p:nvSpPr>
        <p:spPr>
          <a:xfrm>
            <a:off x="6030069" y="2271713"/>
            <a:ext cx="1543050" cy="3000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핵분열 발생: 13</a:t>
            </a:r>
            <a:endParaRPr lang="en-US" sz="975" dirty="0"/>
          </a:p>
        </p:txBody>
      </p:sp>
      <p:sp>
        <p:nvSpPr>
          <p:cNvPr id="40" name="SK-9-text-39"/>
          <p:cNvSpPr/>
          <p:nvPr/>
        </p:nvSpPr>
        <p:spPr>
          <a:xfrm>
            <a:off x="10420350" y="4410075"/>
            <a:ext cx="9715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ESTIMATED K</a:t>
            </a:r>
            <a:endParaRPr lang="en-US" sz="1050" dirty="0"/>
          </a:p>
        </p:txBody>
      </p:sp>
      <p:sp>
        <p:nvSpPr>
          <p:cNvPr id="41" name="SK-9-text-40"/>
          <p:cNvSpPr/>
          <p:nvPr/>
        </p:nvSpPr>
        <p:spPr>
          <a:xfrm>
            <a:off x="10267950" y="4610100"/>
            <a:ext cx="1123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1.02</a:t>
            </a:r>
            <a:endParaRPr lang="en-US" sz="3600" dirty="0"/>
          </a:p>
        </p:txBody>
      </p:sp>
      <p:sp>
        <p:nvSpPr>
          <p:cNvPr id="42" name="SK-9-text-41"/>
          <p:cNvSpPr/>
          <p:nvPr/>
        </p:nvSpPr>
        <p:spPr>
          <a:xfrm>
            <a:off x="7477423" y="5924550"/>
            <a:ext cx="1028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제어봉 삽입/추출</a:t>
            </a:r>
            <a:endParaRPr lang="en-US" sz="1050" dirty="0"/>
          </a:p>
        </p:txBody>
      </p:sp>
      <p:sp>
        <p:nvSpPr>
          <p:cNvPr id="43" name="SK-9-text-42"/>
          <p:cNvSpPr/>
          <p:nvPr/>
        </p:nvSpPr>
        <p:spPr>
          <a:xfrm>
            <a:off x="9130010" y="5924550"/>
            <a:ext cx="98107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리셋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7200"/>
            <a:ext cx="789682" cy="238125"/>
          </a:xfrm>
          <a:prstGeom prst="rect">
            <a:avLst/>
          </a:prstGeom>
        </p:spPr>
      </p:pic>
      <p:pic>
        <p:nvPicPr>
          <p:cNvPr id="5" name="SK-10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0175"/>
            <a:ext cx="381000" cy="28575"/>
          </a:xfrm>
          <a:prstGeom prst="rect">
            <a:avLst/>
          </a:prstGeom>
        </p:spPr>
      </p:pic>
      <p:pic>
        <p:nvPicPr>
          <p:cNvPr id="6" name="SK-10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657350"/>
            <a:ext cx="10972800" cy="1928813"/>
          </a:xfrm>
          <a:prstGeom prst="rect">
            <a:avLst/>
          </a:prstGeom>
        </p:spPr>
      </p:pic>
      <p:pic>
        <p:nvPicPr>
          <p:cNvPr id="7" name="SK-10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6761" y="2602706"/>
            <a:ext cx="8778478" cy="38100"/>
          </a:xfrm>
          <a:prstGeom prst="rect">
            <a:avLst/>
          </a:prstGeom>
        </p:spPr>
      </p:pic>
      <p:pic>
        <p:nvPicPr>
          <p:cNvPr id="8" name="SK-10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564606"/>
            <a:ext cx="114300" cy="114300"/>
          </a:xfrm>
          <a:prstGeom prst="rect">
            <a:avLst/>
          </a:prstGeom>
        </p:spPr>
      </p:pic>
      <p:pic>
        <p:nvPicPr>
          <p:cNvPr id="9" name="SK-10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1885950"/>
            <a:ext cx="2243138" cy="1471613"/>
          </a:xfrm>
          <a:prstGeom prst="rect">
            <a:avLst/>
          </a:prstGeom>
        </p:spPr>
      </p:pic>
      <p:pic>
        <p:nvPicPr>
          <p:cNvPr id="10" name="SK-10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1169" y="2038350"/>
            <a:ext cx="457200" cy="457200"/>
          </a:xfrm>
          <a:prstGeom prst="rect">
            <a:avLst/>
          </a:prstGeom>
        </p:spPr>
      </p:pic>
      <p:pic>
        <p:nvPicPr>
          <p:cNvPr id="11" name="SK-10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0706" y="2171700"/>
            <a:ext cx="238125" cy="190500"/>
          </a:xfrm>
          <a:prstGeom prst="rect">
            <a:avLst/>
          </a:prstGeom>
        </p:spPr>
      </p:pic>
      <p:pic>
        <p:nvPicPr>
          <p:cNvPr id="12" name="SK-10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54969" y="2981325"/>
            <a:ext cx="609600" cy="223838"/>
          </a:xfrm>
          <a:prstGeom prst="rect">
            <a:avLst/>
          </a:prstGeom>
        </p:spPr>
      </p:pic>
      <p:pic>
        <p:nvPicPr>
          <p:cNvPr id="13" name="SK-10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95638" y="2521148"/>
            <a:ext cx="285750" cy="228600"/>
          </a:xfrm>
          <a:prstGeom prst="rect">
            <a:avLst/>
          </a:prstGeom>
        </p:spPr>
      </p:pic>
      <p:pic>
        <p:nvPicPr>
          <p:cNvPr id="14" name="SK-10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95688" y="1885950"/>
            <a:ext cx="2243138" cy="1471613"/>
          </a:xfrm>
          <a:prstGeom prst="rect">
            <a:avLst/>
          </a:prstGeom>
        </p:spPr>
      </p:pic>
      <p:pic>
        <p:nvPicPr>
          <p:cNvPr id="15" name="SK-10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88656" y="2038350"/>
            <a:ext cx="457200" cy="457200"/>
          </a:xfrm>
          <a:prstGeom prst="rect">
            <a:avLst/>
          </a:prstGeom>
        </p:spPr>
      </p:pic>
      <p:pic>
        <p:nvPicPr>
          <p:cNvPr id="16" name="SK-10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8194" y="2171700"/>
            <a:ext cx="238125" cy="190500"/>
          </a:xfrm>
          <a:prstGeom prst="rect">
            <a:avLst/>
          </a:prstGeom>
        </p:spPr>
      </p:pic>
      <p:pic>
        <p:nvPicPr>
          <p:cNvPr id="17" name="SK-10-img-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2456" y="2981325"/>
            <a:ext cx="609600" cy="223838"/>
          </a:xfrm>
          <a:prstGeom prst="rect">
            <a:avLst/>
          </a:prstGeom>
        </p:spPr>
      </p:pic>
      <p:pic>
        <p:nvPicPr>
          <p:cNvPr id="18" name="SK-10-img-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3125" y="2521148"/>
            <a:ext cx="285750" cy="228600"/>
          </a:xfrm>
          <a:prstGeom prst="rect">
            <a:avLst/>
          </a:prstGeom>
        </p:spPr>
      </p:pic>
      <p:pic>
        <p:nvPicPr>
          <p:cNvPr id="19" name="SK-10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3175" y="1847850"/>
            <a:ext cx="2243138" cy="1471613"/>
          </a:xfrm>
          <a:prstGeom prst="rect">
            <a:avLst/>
          </a:prstGeom>
        </p:spPr>
      </p:pic>
      <p:pic>
        <p:nvPicPr>
          <p:cNvPr id="20" name="SK-10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46144" y="2000250"/>
            <a:ext cx="457200" cy="457200"/>
          </a:xfrm>
          <a:prstGeom prst="rect">
            <a:avLst/>
          </a:prstGeom>
        </p:spPr>
      </p:pic>
      <p:pic>
        <p:nvPicPr>
          <p:cNvPr id="21" name="SK-10-img-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5681" y="2133600"/>
            <a:ext cx="238125" cy="190500"/>
          </a:xfrm>
          <a:prstGeom prst="rect">
            <a:avLst/>
          </a:prstGeom>
        </p:spPr>
      </p:pic>
      <p:pic>
        <p:nvPicPr>
          <p:cNvPr id="22" name="SK-10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12794" y="2943225"/>
            <a:ext cx="723900" cy="223838"/>
          </a:xfrm>
          <a:prstGeom prst="rect">
            <a:avLst/>
          </a:prstGeom>
        </p:spPr>
      </p:pic>
      <p:pic>
        <p:nvPicPr>
          <p:cNvPr id="23" name="SK-10-img-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10613" y="2521148"/>
            <a:ext cx="285750" cy="228600"/>
          </a:xfrm>
          <a:prstGeom prst="rect">
            <a:avLst/>
          </a:prstGeom>
        </p:spPr>
      </p:pic>
      <p:pic>
        <p:nvPicPr>
          <p:cNvPr id="24" name="SK-10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10663" y="1885950"/>
            <a:ext cx="2243138" cy="1471613"/>
          </a:xfrm>
          <a:prstGeom prst="rect">
            <a:avLst/>
          </a:prstGeom>
        </p:spPr>
      </p:pic>
      <p:pic>
        <p:nvPicPr>
          <p:cNvPr id="25" name="SK-10-img-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03631" y="2038350"/>
            <a:ext cx="457200" cy="457200"/>
          </a:xfrm>
          <a:prstGeom prst="rect">
            <a:avLst/>
          </a:prstGeom>
        </p:spPr>
      </p:pic>
      <p:pic>
        <p:nvPicPr>
          <p:cNvPr id="26" name="SK-10-img-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13169" y="2171700"/>
            <a:ext cx="238125" cy="190500"/>
          </a:xfrm>
          <a:prstGeom prst="rect">
            <a:avLst/>
          </a:prstGeom>
        </p:spPr>
      </p:pic>
      <p:pic>
        <p:nvPicPr>
          <p:cNvPr id="27" name="SK-10-img-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70281" y="2981325"/>
            <a:ext cx="723900" cy="223838"/>
          </a:xfrm>
          <a:prstGeom prst="rect">
            <a:avLst/>
          </a:prstGeom>
        </p:spPr>
      </p:pic>
      <p:pic>
        <p:nvPicPr>
          <p:cNvPr id="28" name="SK-10-img-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9600" y="3890962"/>
            <a:ext cx="5372100" cy="1443633"/>
          </a:xfrm>
          <a:prstGeom prst="rect">
            <a:avLst/>
          </a:prstGeom>
        </p:spPr>
      </p:pic>
      <p:pic>
        <p:nvPicPr>
          <p:cNvPr id="29" name="SK-10-img-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0100" y="4090987"/>
            <a:ext cx="238125" cy="190500"/>
          </a:xfrm>
          <a:prstGeom prst="rect">
            <a:avLst/>
          </a:prstGeom>
        </p:spPr>
      </p:pic>
      <p:pic>
        <p:nvPicPr>
          <p:cNvPr id="30" name="SK-10-img-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10300" y="3890962"/>
            <a:ext cx="5372100" cy="1443633"/>
          </a:xfrm>
          <a:prstGeom prst="rect">
            <a:avLst/>
          </a:prstGeom>
        </p:spPr>
      </p:pic>
      <p:pic>
        <p:nvPicPr>
          <p:cNvPr id="31" name="SK-10-img-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90987"/>
            <a:ext cx="238125" cy="190500"/>
          </a:xfrm>
          <a:prstGeom prst="rect">
            <a:avLst/>
          </a:prstGeom>
        </p:spPr>
      </p:pic>
      <p:pic>
        <p:nvPicPr>
          <p:cNvPr id="32" name="SK-10-img-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" y="5791200"/>
            <a:ext cx="10972800" cy="685800"/>
          </a:xfrm>
          <a:prstGeom prst="rect">
            <a:avLst/>
          </a:prstGeom>
        </p:spPr>
      </p:pic>
      <p:pic>
        <p:nvPicPr>
          <p:cNvPr id="33" name="SK-10-img-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0100" y="6064448"/>
            <a:ext cx="210741" cy="168473"/>
          </a:xfrm>
          <a:prstGeom prst="rect">
            <a:avLst/>
          </a:prstGeom>
        </p:spPr>
      </p:pic>
      <p:sp>
        <p:nvSpPr>
          <p:cNvPr id="34" name="SK-10-text-33"/>
          <p:cNvSpPr/>
          <p:nvPr/>
        </p:nvSpPr>
        <p:spPr>
          <a:xfrm>
            <a:off x="685800" y="457200"/>
            <a:ext cx="98016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1050" dirty="0"/>
          </a:p>
        </p:txBody>
      </p:sp>
      <p:sp>
        <p:nvSpPr>
          <p:cNvPr id="35" name="SK-10-text-34"/>
          <p:cNvSpPr/>
          <p:nvPr/>
        </p:nvSpPr>
        <p:spPr>
          <a:xfrm>
            <a:off x="1513582" y="47625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36" name="SK-10-text-35"/>
          <p:cNvSpPr/>
          <p:nvPr/>
        </p:nvSpPr>
        <p:spPr>
          <a:xfrm>
            <a:off x="609600" y="77152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원자로에서 전기까지: 에너지 변환의 사슬</a:t>
            </a:r>
            <a:endParaRPr lang="en-US" sz="2700" dirty="0"/>
          </a:p>
        </p:txBody>
      </p:sp>
      <p:sp>
        <p:nvSpPr>
          <p:cNvPr id="37" name="SK-10-text-36"/>
          <p:cNvSpPr/>
          <p:nvPr/>
        </p:nvSpPr>
        <p:spPr>
          <a:xfrm>
            <a:off x="1493044" y="2609850"/>
            <a:ext cx="93345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원자로 노심</a:t>
            </a:r>
            <a:endParaRPr lang="en-US" sz="1350" dirty="0"/>
          </a:p>
        </p:txBody>
      </p:sp>
      <p:sp>
        <p:nvSpPr>
          <p:cNvPr id="38" name="SK-10-text-37"/>
          <p:cNvSpPr/>
          <p:nvPr/>
        </p:nvSpPr>
        <p:spPr>
          <a:xfrm>
            <a:off x="1616869" y="2981325"/>
            <a:ext cx="53340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핵에너지</a:t>
            </a:r>
            <a:endParaRPr lang="en-US" sz="975" dirty="0"/>
          </a:p>
        </p:txBody>
      </p:sp>
      <p:sp>
        <p:nvSpPr>
          <p:cNvPr id="39" name="SK-10-text-38"/>
          <p:cNvSpPr/>
          <p:nvPr/>
        </p:nvSpPr>
        <p:spPr>
          <a:xfrm>
            <a:off x="4250531" y="2609850"/>
            <a:ext cx="93345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증기 발생기</a:t>
            </a:r>
            <a:endParaRPr lang="en-US" sz="1350" dirty="0"/>
          </a:p>
        </p:txBody>
      </p:sp>
      <p:sp>
        <p:nvSpPr>
          <p:cNvPr id="40" name="SK-10-text-39"/>
          <p:cNvSpPr/>
          <p:nvPr/>
        </p:nvSpPr>
        <p:spPr>
          <a:xfrm>
            <a:off x="4374356" y="2981325"/>
            <a:ext cx="53340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열에너지</a:t>
            </a:r>
            <a:endParaRPr lang="en-US" sz="975" dirty="0"/>
          </a:p>
        </p:txBody>
      </p:sp>
      <p:sp>
        <p:nvSpPr>
          <p:cNvPr id="41" name="SK-10-text-40"/>
          <p:cNvSpPr/>
          <p:nvPr/>
        </p:nvSpPr>
        <p:spPr>
          <a:xfrm>
            <a:off x="7269956" y="2571750"/>
            <a:ext cx="409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터빈</a:t>
            </a:r>
            <a:endParaRPr lang="en-US" sz="1350" dirty="0"/>
          </a:p>
        </p:txBody>
      </p:sp>
      <p:sp>
        <p:nvSpPr>
          <p:cNvPr id="42" name="SK-10-text-41"/>
          <p:cNvSpPr/>
          <p:nvPr/>
        </p:nvSpPr>
        <p:spPr>
          <a:xfrm>
            <a:off x="7074694" y="2943225"/>
            <a:ext cx="64770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운동에너지</a:t>
            </a:r>
            <a:endParaRPr lang="en-US" sz="975" dirty="0"/>
          </a:p>
        </p:txBody>
      </p:sp>
      <p:sp>
        <p:nvSpPr>
          <p:cNvPr id="43" name="SK-10-text-42"/>
          <p:cNvSpPr/>
          <p:nvPr/>
        </p:nvSpPr>
        <p:spPr>
          <a:xfrm>
            <a:off x="9946481" y="2609850"/>
            <a:ext cx="5715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발전기</a:t>
            </a:r>
            <a:endParaRPr lang="en-US" sz="1350" dirty="0"/>
          </a:p>
        </p:txBody>
      </p:sp>
      <p:sp>
        <p:nvSpPr>
          <p:cNvPr id="44" name="SK-10-text-43"/>
          <p:cNvSpPr/>
          <p:nvPr/>
        </p:nvSpPr>
        <p:spPr>
          <a:xfrm>
            <a:off x="9832181" y="2981325"/>
            <a:ext cx="64770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전기에너지</a:t>
            </a:r>
            <a:endParaRPr lang="en-US" sz="975" dirty="0"/>
          </a:p>
        </p:txBody>
      </p:sp>
      <p:sp>
        <p:nvSpPr>
          <p:cNvPr id="45" name="SK-10-text-44"/>
          <p:cNvSpPr/>
          <p:nvPr/>
        </p:nvSpPr>
        <p:spPr>
          <a:xfrm>
            <a:off x="1114425" y="4043363"/>
            <a:ext cx="49911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 열의 발생과 운반</a:t>
            </a:r>
            <a:endParaRPr lang="en-US" sz="1500" dirty="0"/>
          </a:p>
        </p:txBody>
      </p:sp>
      <p:sp>
        <p:nvSpPr>
          <p:cNvPr id="46" name="SK-10-text-45"/>
          <p:cNvSpPr/>
          <p:nvPr/>
        </p:nvSpPr>
        <p:spPr>
          <a:xfrm>
            <a:off x="800100" y="4405313"/>
            <a:ext cx="4991100" cy="7768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연료봉 내의 핵분열 연쇄반응이 막대한 열을 생성합니다. 냉각재는 이 열을 흡수하여 노심 외부의 증기 발생기로 운반합니다. 이는 화력 발전의 보일러와 유사한 역할을 수행합니다.</a:t>
            </a:r>
            <a:endParaRPr lang="en-US" sz="1275" dirty="0"/>
          </a:p>
        </p:txBody>
      </p:sp>
      <p:sp>
        <p:nvSpPr>
          <p:cNvPr id="47" name="SK-10-text-46"/>
          <p:cNvSpPr/>
          <p:nvPr/>
        </p:nvSpPr>
        <p:spPr>
          <a:xfrm>
            <a:off x="6715125" y="4043363"/>
            <a:ext cx="49911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 물리적 변환과 순환</a:t>
            </a:r>
            <a:endParaRPr lang="en-US" sz="1500" dirty="0"/>
          </a:p>
        </p:txBody>
      </p:sp>
      <p:sp>
        <p:nvSpPr>
          <p:cNvPr id="48" name="SK-10-text-47"/>
          <p:cNvSpPr/>
          <p:nvPr/>
        </p:nvSpPr>
        <p:spPr>
          <a:xfrm>
            <a:off x="6400800" y="4405313"/>
            <a:ext cx="4991100" cy="7768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고압 증기가 터빈의 날개를 고속으로 회전시켜 열에너지를 기계적 회전운동으로 바꿉니다. 터빈에 연결된 발전기가 전기를 생산하며, 사용된 증기는 복수기에서 물로 응축되어 순환합니다.</a:t>
            </a:r>
            <a:endParaRPr lang="en-US" sz="1275" dirty="0"/>
          </a:p>
        </p:txBody>
      </p:sp>
      <p:sp>
        <p:nvSpPr>
          <p:cNvPr id="49" name="SK-10-text-48"/>
          <p:cNvSpPr/>
          <p:nvPr/>
        </p:nvSpPr>
        <p:spPr>
          <a:xfrm>
            <a:off x="1125141" y="5905500"/>
            <a:ext cx="1026675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경제학적 핵심: 원자력 발전은 전기를 핵에서 직접 추출하는 것이 아니라 </a:t>
            </a: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'핵분열 → 열 → 증기 → 회전'</a:t>
            </a: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이라는 복잡한 설비 계통을 거치므로 높은 초기 자본비용(CAPEX)이 발생합니다.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7200"/>
            <a:ext cx="789682" cy="238125"/>
          </a:xfrm>
          <a:prstGeom prst="rect">
            <a:avLst/>
          </a:prstGeom>
        </p:spPr>
      </p:pic>
      <p:pic>
        <p:nvPicPr>
          <p:cNvPr id="5" name="SK-1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0175"/>
            <a:ext cx="381000" cy="28575"/>
          </a:xfrm>
          <a:prstGeom prst="rect">
            <a:avLst/>
          </a:prstGeom>
        </p:spPr>
      </p:pic>
      <p:pic>
        <p:nvPicPr>
          <p:cNvPr id="6" name="SK-1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733550"/>
            <a:ext cx="7658100" cy="1388864"/>
          </a:xfrm>
          <a:prstGeom prst="rect">
            <a:avLst/>
          </a:prstGeom>
        </p:spPr>
      </p:pic>
      <p:pic>
        <p:nvPicPr>
          <p:cNvPr id="7" name="SK-1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905000"/>
            <a:ext cx="304800" cy="228600"/>
          </a:xfrm>
          <a:prstGeom prst="rect">
            <a:avLst/>
          </a:prstGeom>
        </p:spPr>
      </p:pic>
      <p:pic>
        <p:nvPicPr>
          <p:cNvPr id="8" name="SK-11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312914"/>
            <a:ext cx="7658100" cy="1388864"/>
          </a:xfrm>
          <a:prstGeom prst="rect">
            <a:avLst/>
          </a:prstGeom>
        </p:spPr>
      </p:pic>
      <p:pic>
        <p:nvPicPr>
          <p:cNvPr id="9" name="SK-11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484364"/>
            <a:ext cx="304800" cy="228600"/>
          </a:xfrm>
          <a:prstGeom prst="rect">
            <a:avLst/>
          </a:prstGeom>
        </p:spPr>
      </p:pic>
      <p:pic>
        <p:nvPicPr>
          <p:cNvPr id="10" name="SK-11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892278"/>
            <a:ext cx="7658100" cy="1508671"/>
          </a:xfrm>
          <a:prstGeom prst="rect">
            <a:avLst/>
          </a:prstGeom>
        </p:spPr>
      </p:pic>
      <p:pic>
        <p:nvPicPr>
          <p:cNvPr id="11" name="SK-11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5063728"/>
            <a:ext cx="304800" cy="228600"/>
          </a:xfrm>
          <a:prstGeom prst="rect">
            <a:avLst/>
          </a:prstGeom>
        </p:spPr>
      </p:pic>
      <p:pic>
        <p:nvPicPr>
          <p:cNvPr id="12" name="SK-11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24900" y="1733550"/>
            <a:ext cx="2857500" cy="4667250"/>
          </a:xfrm>
          <a:prstGeom prst="rect">
            <a:avLst/>
          </a:prstGeom>
        </p:spPr>
      </p:pic>
      <p:pic>
        <p:nvPicPr>
          <p:cNvPr id="13" name="SK-11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29700" y="2007394"/>
            <a:ext cx="2552700" cy="857250"/>
          </a:xfrm>
          <a:prstGeom prst="rect">
            <a:avLst/>
          </a:prstGeom>
        </p:spPr>
      </p:pic>
      <p:pic>
        <p:nvPicPr>
          <p:cNvPr id="14" name="SK-11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9700" y="3359944"/>
            <a:ext cx="2552700" cy="857250"/>
          </a:xfrm>
          <a:prstGeom prst="rect">
            <a:avLst/>
          </a:prstGeom>
        </p:spPr>
      </p:pic>
      <p:pic>
        <p:nvPicPr>
          <p:cNvPr id="15" name="SK-11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29700" y="4712494"/>
            <a:ext cx="2552700" cy="857250"/>
          </a:xfrm>
          <a:prstGeom prst="rect">
            <a:avLst/>
          </a:prstGeom>
        </p:spPr>
      </p:pic>
      <p:pic>
        <p:nvPicPr>
          <p:cNvPr id="16" name="SK-11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29700" y="5791200"/>
            <a:ext cx="2552700" cy="609600"/>
          </a:xfrm>
          <a:prstGeom prst="rect">
            <a:avLst/>
          </a:prstGeom>
        </p:spPr>
      </p:pic>
      <p:sp>
        <p:nvSpPr>
          <p:cNvPr id="17" name="SK-11-text-16"/>
          <p:cNvSpPr/>
          <p:nvPr/>
        </p:nvSpPr>
        <p:spPr>
          <a:xfrm>
            <a:off x="685800" y="457200"/>
            <a:ext cx="98016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1050" dirty="0"/>
          </a:p>
        </p:txBody>
      </p:sp>
      <p:sp>
        <p:nvSpPr>
          <p:cNvPr id="18" name="SK-11-text-17"/>
          <p:cNvSpPr/>
          <p:nvPr/>
        </p:nvSpPr>
        <p:spPr>
          <a:xfrm>
            <a:off x="1513582" y="47625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19" name="SK-11-text-18"/>
          <p:cNvSpPr/>
          <p:nvPr/>
        </p:nvSpPr>
        <p:spPr>
          <a:xfrm>
            <a:off x="609600" y="77152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핵분열발전의 경제적 특징</a:t>
            </a:r>
            <a:endParaRPr lang="en-US" sz="2700" dirty="0"/>
          </a:p>
        </p:txBody>
      </p:sp>
      <p:sp>
        <p:nvSpPr>
          <p:cNvPr id="20" name="SK-11-text-19"/>
          <p:cNvSpPr/>
          <p:nvPr/>
        </p:nvSpPr>
        <p:spPr>
          <a:xfrm>
            <a:off x="1143000" y="1847850"/>
            <a:ext cx="47777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초기 고정비 (CAPEX)</a:t>
            </a:r>
            <a:endParaRPr lang="en-US" sz="1800" dirty="0"/>
          </a:p>
        </p:txBody>
      </p:sp>
      <p:sp>
        <p:nvSpPr>
          <p:cNvPr id="21" name="SK-11-text-20"/>
          <p:cNvSpPr/>
          <p:nvPr/>
        </p:nvSpPr>
        <p:spPr>
          <a:xfrm>
            <a:off x="723900" y="2305050"/>
            <a:ext cx="74295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원자력은 극도로 자본집약적인 산업입니다. 대규모 설비 투자, 긴 건설 기간(5~10년), 엄격한 안전 규제 및 품질 관리로 인해 초기 건설비와 금융 비용이 발전 원가의 가장 큰 비중을 차지합니다.</a:t>
            </a:r>
            <a:endParaRPr lang="en-US" sz="1350" dirty="0"/>
          </a:p>
        </p:txBody>
      </p:sp>
      <p:sp>
        <p:nvSpPr>
          <p:cNvPr id="22" name="SK-11-text-21"/>
          <p:cNvSpPr/>
          <p:nvPr/>
        </p:nvSpPr>
        <p:spPr>
          <a:xfrm>
            <a:off x="1143000" y="3427214"/>
            <a:ext cx="45034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연료비 비중 (OPEX)</a:t>
            </a:r>
            <a:endParaRPr lang="en-US" sz="1800" dirty="0"/>
          </a:p>
        </p:txBody>
      </p:sp>
      <p:sp>
        <p:nvSpPr>
          <p:cNvPr id="23" name="SK-11-text-22"/>
          <p:cNvSpPr/>
          <p:nvPr/>
        </p:nvSpPr>
        <p:spPr>
          <a:xfrm>
            <a:off x="723900" y="3884414"/>
            <a:ext cx="74295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우라늄의 높은 에너지 밀도 덕분에 소량의 연료로 막대한 에너지를 생산합니다. 화석연료 발전소와 달리 전체 운영 비용에서 연료가 차지하는 비중이 매우 낮아 원자재 가격 변동에 강한 내성을 가집니다.</a:t>
            </a:r>
            <a:endParaRPr lang="en-US" sz="1350" dirty="0"/>
          </a:p>
        </p:txBody>
      </p:sp>
      <p:sp>
        <p:nvSpPr>
          <p:cNvPr id="24" name="SK-11-text-23"/>
          <p:cNvSpPr/>
          <p:nvPr/>
        </p:nvSpPr>
        <p:spPr>
          <a:xfrm>
            <a:off x="1143000" y="5006578"/>
            <a:ext cx="31318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외부효과와 장기 책임</a:t>
            </a:r>
            <a:endParaRPr lang="en-US" sz="1800" dirty="0"/>
          </a:p>
        </p:txBody>
      </p:sp>
      <p:sp>
        <p:nvSpPr>
          <p:cNvPr id="25" name="SK-11-text-24"/>
          <p:cNvSpPr/>
          <p:nvPr/>
        </p:nvSpPr>
        <p:spPr>
          <a:xfrm>
            <a:off x="723900" y="5463778"/>
            <a:ext cx="7429500" cy="8228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발전 과정에서 탄소 배출이 거의 없는 긍정적 외부효과가 있으나, 사고 위험(Low probability, High impact)과 사용후핵연료 처리, 발전소 해체 등 미래 세대에 전가될 수 있는 장기 비용의 제도적 관리가 핵심입니다.</a:t>
            </a:r>
            <a:endParaRPr lang="en-US" sz="1350" dirty="0"/>
          </a:p>
        </p:txBody>
      </p:sp>
      <p:sp>
        <p:nvSpPr>
          <p:cNvPr id="26" name="SK-11-text-25"/>
          <p:cNvSpPr/>
          <p:nvPr/>
        </p:nvSpPr>
        <p:spPr>
          <a:xfrm>
            <a:off x="9029700" y="1764506"/>
            <a:ext cx="2628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9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ECONOMIC EVIDENCE</a:t>
            </a:r>
            <a:endParaRPr lang="en-US" sz="975" dirty="0"/>
          </a:p>
        </p:txBody>
      </p:sp>
      <p:sp>
        <p:nvSpPr>
          <p:cNvPr id="27" name="SK-11-text-26"/>
          <p:cNvSpPr/>
          <p:nvPr/>
        </p:nvSpPr>
        <p:spPr>
          <a:xfrm>
            <a:off x="9105900" y="2007394"/>
            <a:ext cx="2476500" cy="857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할인율 민감도: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건설 기간이 길어 자본 비용(WACC)이 1%p 상승할 때 균등화발전비용(LCOE)은 다른 발전원보다 훨씬 민감하게 반응합니다.</a:t>
            </a:r>
            <a:endParaRPr lang="en-US" sz="1125" dirty="0"/>
          </a:p>
        </p:txBody>
      </p:sp>
      <p:sp>
        <p:nvSpPr>
          <p:cNvPr id="28" name="SK-11-text-27"/>
          <p:cNvSpPr/>
          <p:nvPr/>
        </p:nvSpPr>
        <p:spPr>
          <a:xfrm>
            <a:off x="9029700" y="3117056"/>
            <a:ext cx="2628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9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PRICE STABILITY</a:t>
            </a:r>
            <a:endParaRPr lang="en-US" sz="975" dirty="0"/>
          </a:p>
        </p:txBody>
      </p:sp>
      <p:sp>
        <p:nvSpPr>
          <p:cNvPr id="29" name="SK-11-text-28"/>
          <p:cNvSpPr/>
          <p:nvPr/>
        </p:nvSpPr>
        <p:spPr>
          <a:xfrm>
            <a:off x="9105900" y="3359944"/>
            <a:ext cx="2476500" cy="857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변동 내성: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우라늄 원료 가격이 100% 상승하더라도, 최종 전력 생산 원가에 미치는 영향은 </a:t>
            </a: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5~10% 미만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안정적입니다.</a:t>
            </a:r>
            <a:endParaRPr lang="en-US" sz="1125" dirty="0"/>
          </a:p>
        </p:txBody>
      </p:sp>
      <p:sp>
        <p:nvSpPr>
          <p:cNvPr id="30" name="SK-11-text-29"/>
          <p:cNvSpPr/>
          <p:nvPr/>
        </p:nvSpPr>
        <p:spPr>
          <a:xfrm>
            <a:off x="9029700" y="4469606"/>
            <a:ext cx="26289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9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MANAGEMENT</a:t>
            </a:r>
            <a:endParaRPr lang="en-US" sz="975" dirty="0"/>
          </a:p>
        </p:txBody>
      </p:sp>
      <p:sp>
        <p:nvSpPr>
          <p:cNvPr id="31" name="SK-11-text-30"/>
          <p:cNvSpPr/>
          <p:nvPr/>
        </p:nvSpPr>
        <p:spPr>
          <a:xfrm>
            <a:off x="9105900" y="4712494"/>
            <a:ext cx="2476500" cy="857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처리 기금: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해체 충당금과 방사성 폐기물 관리 기금을 발전 원가에 미리 반영하여 </a:t>
            </a: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세대 간 비용 전이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방지하는 제도를 운용합니다.</a:t>
            </a:r>
            <a:endParaRPr lang="en-US" sz="1125" dirty="0"/>
          </a:p>
        </p:txBody>
      </p:sp>
      <p:sp>
        <p:nvSpPr>
          <p:cNvPr id="32" name="SK-11-text-31"/>
          <p:cNvSpPr/>
          <p:nvPr/>
        </p:nvSpPr>
        <p:spPr>
          <a:xfrm>
            <a:off x="9029700" y="5943600"/>
            <a:ext cx="2552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자본의 시간가치와 위험 프리미엄이 원자력 경제성의 핵심 변수임.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7200"/>
            <a:ext cx="789682" cy="238125"/>
          </a:xfrm>
          <a:prstGeom prst="rect">
            <a:avLst/>
          </a:prstGeom>
        </p:spPr>
      </p:pic>
      <p:pic>
        <p:nvPicPr>
          <p:cNvPr id="5" name="SK-1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0175"/>
            <a:ext cx="381000" cy="28575"/>
          </a:xfrm>
          <a:prstGeom prst="rect">
            <a:avLst/>
          </a:prstGeom>
        </p:spPr>
      </p:pic>
      <p:pic>
        <p:nvPicPr>
          <p:cNvPr id="6" name="SK-1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733550"/>
            <a:ext cx="5334000" cy="4667250"/>
          </a:xfrm>
          <a:prstGeom prst="rect">
            <a:avLst/>
          </a:prstGeom>
        </p:spPr>
      </p:pic>
      <p:pic>
        <p:nvPicPr>
          <p:cNvPr id="7" name="SK-1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019300"/>
            <a:ext cx="285750" cy="228600"/>
          </a:xfrm>
          <a:prstGeom prst="rect">
            <a:avLst/>
          </a:prstGeom>
        </p:spPr>
      </p:pic>
      <p:pic>
        <p:nvPicPr>
          <p:cNvPr id="8" name="SK-1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543425"/>
            <a:ext cx="4876800" cy="619125"/>
          </a:xfrm>
          <a:prstGeom prst="rect">
            <a:avLst/>
          </a:prstGeom>
        </p:spPr>
      </p:pic>
      <p:pic>
        <p:nvPicPr>
          <p:cNvPr id="9" name="SK-1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9006" y="4746278"/>
            <a:ext cx="261937" cy="213420"/>
          </a:xfrm>
          <a:prstGeom prst="rect">
            <a:avLst/>
          </a:prstGeom>
        </p:spPr>
      </p:pic>
      <p:pic>
        <p:nvPicPr>
          <p:cNvPr id="10" name="SK-12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5729288"/>
            <a:ext cx="4876800" cy="442913"/>
          </a:xfrm>
          <a:prstGeom prst="rect">
            <a:avLst/>
          </a:prstGeom>
        </p:spPr>
      </p:pic>
      <p:pic>
        <p:nvPicPr>
          <p:cNvPr id="11" name="SK-12-img-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733550"/>
            <a:ext cx="5334000" cy="4667250"/>
          </a:xfrm>
          <a:prstGeom prst="rect">
            <a:avLst/>
          </a:prstGeom>
        </p:spPr>
      </p:pic>
      <p:pic>
        <p:nvPicPr>
          <p:cNvPr id="12" name="SK-12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2019300"/>
            <a:ext cx="285750" cy="228600"/>
          </a:xfrm>
          <a:prstGeom prst="rect">
            <a:avLst/>
          </a:prstGeom>
        </p:spPr>
      </p:pic>
      <p:pic>
        <p:nvPicPr>
          <p:cNvPr id="13" name="SK-12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2457450"/>
            <a:ext cx="4876800" cy="290513"/>
          </a:xfrm>
          <a:prstGeom prst="rect">
            <a:avLst/>
          </a:prstGeom>
        </p:spPr>
      </p:pic>
      <p:pic>
        <p:nvPicPr>
          <p:cNvPr id="14" name="SK-12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3576638"/>
            <a:ext cx="2362200" cy="1533525"/>
          </a:xfrm>
          <a:prstGeom prst="rect">
            <a:avLst/>
          </a:prstGeom>
        </p:spPr>
      </p:pic>
      <p:pic>
        <p:nvPicPr>
          <p:cNvPr id="15" name="SK-12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3768626"/>
            <a:ext cx="202406" cy="163711"/>
          </a:xfrm>
          <a:prstGeom prst="rect">
            <a:avLst/>
          </a:prstGeom>
        </p:spPr>
      </p:pic>
      <p:pic>
        <p:nvPicPr>
          <p:cNvPr id="16" name="SK-12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91600" y="3576638"/>
            <a:ext cx="2362200" cy="1533525"/>
          </a:xfrm>
          <a:prstGeom prst="rect">
            <a:avLst/>
          </a:prstGeom>
        </p:spPr>
      </p:pic>
      <p:pic>
        <p:nvPicPr>
          <p:cNvPr id="17" name="SK-12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0" y="3768626"/>
            <a:ext cx="202406" cy="163711"/>
          </a:xfrm>
          <a:prstGeom prst="rect">
            <a:avLst/>
          </a:prstGeom>
        </p:spPr>
      </p:pic>
      <p:sp>
        <p:nvSpPr>
          <p:cNvPr id="18" name="SK-12-text-17"/>
          <p:cNvSpPr/>
          <p:nvPr/>
        </p:nvSpPr>
        <p:spPr>
          <a:xfrm>
            <a:off x="685800" y="457200"/>
            <a:ext cx="98016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1050" dirty="0"/>
          </a:p>
        </p:txBody>
      </p:sp>
      <p:sp>
        <p:nvSpPr>
          <p:cNvPr id="19" name="SK-12-text-18"/>
          <p:cNvSpPr/>
          <p:nvPr/>
        </p:nvSpPr>
        <p:spPr>
          <a:xfrm>
            <a:off x="1513582" y="47625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20" name="SK-12-text-19"/>
          <p:cNvSpPr/>
          <p:nvPr/>
        </p:nvSpPr>
        <p:spPr>
          <a:xfrm>
            <a:off x="609600" y="77152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핵융합: 가벼운 핵이 결합하는 반응</a:t>
            </a:r>
            <a:endParaRPr lang="en-US" sz="2700" dirty="0"/>
          </a:p>
        </p:txBody>
      </p:sp>
      <p:sp>
        <p:nvSpPr>
          <p:cNvPr id="21" name="SK-12-text-20"/>
          <p:cNvSpPr/>
          <p:nvPr/>
        </p:nvSpPr>
        <p:spPr>
          <a:xfrm>
            <a:off x="1238250" y="1962150"/>
            <a:ext cx="20345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핵융합의 원리</a:t>
            </a:r>
            <a:endParaRPr lang="en-US" sz="1800" dirty="0"/>
          </a:p>
        </p:txBody>
      </p:sp>
      <p:sp>
        <p:nvSpPr>
          <p:cNvPr id="22" name="SK-12-text-21"/>
          <p:cNvSpPr/>
          <p:nvPr/>
        </p:nvSpPr>
        <p:spPr>
          <a:xfrm>
            <a:off x="838200" y="2609850"/>
            <a:ext cx="496728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가벼운 원소의 결합</a:t>
            </a:r>
            <a:endParaRPr lang="en-US" sz="1425" dirty="0"/>
          </a:p>
        </p:txBody>
      </p:sp>
      <p:sp>
        <p:nvSpPr>
          <p:cNvPr id="23" name="SK-12-text-22"/>
          <p:cNvSpPr/>
          <p:nvPr/>
        </p:nvSpPr>
        <p:spPr>
          <a:xfrm>
            <a:off x="838200" y="2919413"/>
            <a:ext cx="48768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수소와 같이 가벼운 원자핵들이 초고온 환경에서 서로 충돌하여 더 무거운 원자핵(헬륨)으로 합쳐지는 현상입니다.</a:t>
            </a:r>
            <a:endParaRPr lang="en-US" sz="1275" dirty="0"/>
          </a:p>
        </p:txBody>
      </p:sp>
      <p:sp>
        <p:nvSpPr>
          <p:cNvPr id="24" name="SK-12-text-23"/>
          <p:cNvSpPr/>
          <p:nvPr/>
        </p:nvSpPr>
        <p:spPr>
          <a:xfrm>
            <a:off x="838200" y="3519488"/>
            <a:ext cx="496728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질량결손과 에너지</a:t>
            </a:r>
            <a:endParaRPr lang="en-US" sz="1425" dirty="0"/>
          </a:p>
        </p:txBody>
      </p:sp>
      <p:sp>
        <p:nvSpPr>
          <p:cNvPr id="25" name="SK-12-text-24"/>
          <p:cNvSpPr/>
          <p:nvPr/>
        </p:nvSpPr>
        <p:spPr>
          <a:xfrm>
            <a:off x="838200" y="3829050"/>
            <a:ext cx="48768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 후의 질량이 결합 전보다 줄어들며, 이 줄어든 질량이 E=mc²에 따라 막대한 에너지로 방출됩니다.</a:t>
            </a:r>
            <a:endParaRPr lang="en-US" sz="1275" dirty="0"/>
          </a:p>
        </p:txBody>
      </p:sp>
      <p:sp>
        <p:nvSpPr>
          <p:cNvPr id="26" name="SK-12-text-25"/>
          <p:cNvSpPr/>
          <p:nvPr/>
        </p:nvSpPr>
        <p:spPr>
          <a:xfrm>
            <a:off x="1069181" y="4695825"/>
            <a:ext cx="463105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 (중수소) + T (삼중수소)</a:t>
            </a:r>
            <a:endParaRPr lang="en-US" sz="1650" dirty="0"/>
          </a:p>
        </p:txBody>
      </p:sp>
      <p:sp>
        <p:nvSpPr>
          <p:cNvPr id="27" name="SK-12-text-26"/>
          <p:cNvSpPr/>
          <p:nvPr/>
        </p:nvSpPr>
        <p:spPr>
          <a:xfrm>
            <a:off x="3893344" y="4695825"/>
            <a:ext cx="38766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 + n + Energy</a:t>
            </a:r>
            <a:endParaRPr lang="en-US" sz="1650" dirty="0"/>
          </a:p>
        </p:txBody>
      </p:sp>
      <p:sp>
        <p:nvSpPr>
          <p:cNvPr id="28" name="SK-12-text-27"/>
          <p:cNvSpPr/>
          <p:nvPr/>
        </p:nvSpPr>
        <p:spPr>
          <a:xfrm>
            <a:off x="952500" y="5729288"/>
            <a:ext cx="4724400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태양의 에너지원과 동일한 원리 (인공태양)</a:t>
            </a:r>
            <a:endParaRPr lang="en-US" sz="1125" dirty="0"/>
          </a:p>
        </p:txBody>
      </p:sp>
      <p:sp>
        <p:nvSpPr>
          <p:cNvPr id="29" name="SK-12-text-28"/>
          <p:cNvSpPr/>
          <p:nvPr/>
        </p:nvSpPr>
        <p:spPr>
          <a:xfrm>
            <a:off x="6877050" y="1962150"/>
            <a:ext cx="25831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 조건과 제어</a:t>
            </a:r>
            <a:endParaRPr lang="en-US" sz="1800" dirty="0"/>
          </a:p>
        </p:txBody>
      </p:sp>
      <p:sp>
        <p:nvSpPr>
          <p:cNvPr id="30" name="SK-12-text-29"/>
          <p:cNvSpPr/>
          <p:nvPr/>
        </p:nvSpPr>
        <p:spPr>
          <a:xfrm>
            <a:off x="6591300" y="2457450"/>
            <a:ext cx="4724400" cy="2905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제4의 물질 상태: 플라스마(Plasma)</a:t>
            </a:r>
            <a:endParaRPr lang="en-US" sz="1125" dirty="0"/>
          </a:p>
        </p:txBody>
      </p:sp>
      <p:sp>
        <p:nvSpPr>
          <p:cNvPr id="31" name="SK-12-text-30"/>
          <p:cNvSpPr/>
          <p:nvPr/>
        </p:nvSpPr>
        <p:spPr>
          <a:xfrm>
            <a:off x="6477000" y="2824163"/>
            <a:ext cx="48768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원자핵들이 서로 밀어내는 전기적 반발력(쿨롱 장벽)을 극복하기 위해 1억 도 이상의 초고온 상태가 필수적입니다.</a:t>
            </a:r>
            <a:endParaRPr lang="en-US" sz="1275" dirty="0"/>
          </a:p>
        </p:txBody>
      </p:sp>
      <p:sp>
        <p:nvSpPr>
          <p:cNvPr id="32" name="SK-12-text-31"/>
          <p:cNvSpPr/>
          <p:nvPr/>
        </p:nvSpPr>
        <p:spPr>
          <a:xfrm>
            <a:off x="6908006" y="3729038"/>
            <a:ext cx="202406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자기밀폐 (MCF)</a:t>
            </a:r>
            <a:endParaRPr lang="en-US" sz="1275" dirty="0"/>
          </a:p>
        </p:txBody>
      </p:sp>
      <p:sp>
        <p:nvSpPr>
          <p:cNvPr id="33" name="SK-12-text-32"/>
          <p:cNvSpPr/>
          <p:nvPr/>
        </p:nvSpPr>
        <p:spPr>
          <a:xfrm>
            <a:off x="6629400" y="4048125"/>
            <a:ext cx="20574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 자기장을 이용해 뜨거운 플라스마가 용기 벽에 닿지 않게 공중에 띄워 가두는 방식 (예: 토카막)</a:t>
            </a:r>
            <a:endParaRPr lang="en-US" sz="1125" dirty="0"/>
          </a:p>
        </p:txBody>
      </p:sp>
      <p:sp>
        <p:nvSpPr>
          <p:cNvPr id="34" name="SK-12-text-33"/>
          <p:cNvSpPr/>
          <p:nvPr/>
        </p:nvSpPr>
        <p:spPr>
          <a:xfrm>
            <a:off x="9422606" y="3729038"/>
            <a:ext cx="202406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관성밀폐 (ICF)</a:t>
            </a:r>
            <a:endParaRPr lang="en-US" sz="1275" dirty="0"/>
          </a:p>
        </p:txBody>
      </p:sp>
      <p:sp>
        <p:nvSpPr>
          <p:cNvPr id="35" name="SK-12-text-34"/>
          <p:cNvSpPr/>
          <p:nvPr/>
        </p:nvSpPr>
        <p:spPr>
          <a:xfrm>
            <a:off x="9144000" y="4048125"/>
            <a:ext cx="20574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레이저 등을 이용해 연료 표적을 순식간에 압축하여 핵융합 반응을 유도하는 방식</a:t>
            </a:r>
            <a:endParaRPr lang="en-US" sz="1125" dirty="0"/>
          </a:p>
        </p:txBody>
      </p:sp>
      <p:sp>
        <p:nvSpPr>
          <p:cNvPr id="36" name="SK-12-text-35"/>
          <p:cNvSpPr/>
          <p:nvPr/>
        </p:nvSpPr>
        <p:spPr>
          <a:xfrm>
            <a:off x="6477000" y="5262563"/>
            <a:ext cx="496728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경제학적 관점의 과제</a:t>
            </a:r>
            <a:endParaRPr lang="en-US" sz="1425" dirty="0"/>
          </a:p>
        </p:txBody>
      </p:sp>
      <p:sp>
        <p:nvSpPr>
          <p:cNvPr id="37" name="SK-12-text-36"/>
          <p:cNvSpPr/>
          <p:nvPr/>
        </p:nvSpPr>
        <p:spPr>
          <a:xfrm>
            <a:off x="6477000" y="5572125"/>
            <a:ext cx="48768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에너지를 투입하는 만큼, 혹은 그 이상의 에너지를 뽑아내는 '순에너지 생산'이 상업화의 첫 번째 관문입니다.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85750"/>
            <a:ext cx="789682" cy="238125"/>
          </a:xfrm>
          <a:prstGeom prst="rect">
            <a:avLst/>
          </a:prstGeom>
        </p:spPr>
      </p:pic>
      <p:pic>
        <p:nvPicPr>
          <p:cNvPr id="5" name="SK-1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152525"/>
            <a:ext cx="381000" cy="28575"/>
          </a:xfrm>
          <a:prstGeom prst="rect">
            <a:avLst/>
          </a:prstGeom>
        </p:spPr>
      </p:pic>
      <p:pic>
        <p:nvPicPr>
          <p:cNvPr id="6" name="SK-1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81125"/>
            <a:ext cx="5334000" cy="342900"/>
          </a:xfrm>
          <a:prstGeom prst="rect">
            <a:avLst/>
          </a:prstGeom>
        </p:spPr>
      </p:pic>
      <p:pic>
        <p:nvPicPr>
          <p:cNvPr id="7" name="SK-1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428750"/>
            <a:ext cx="238125" cy="190500"/>
          </a:xfrm>
          <a:prstGeom prst="rect">
            <a:avLst/>
          </a:prstGeom>
        </p:spPr>
      </p:pic>
      <p:pic>
        <p:nvPicPr>
          <p:cNvPr id="8" name="SK-1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847850"/>
            <a:ext cx="5334000" cy="1290638"/>
          </a:xfrm>
          <a:prstGeom prst="rect">
            <a:avLst/>
          </a:prstGeom>
        </p:spPr>
      </p:pic>
      <p:pic>
        <p:nvPicPr>
          <p:cNvPr id="9" name="SK-1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1971675"/>
            <a:ext cx="342900" cy="342900"/>
          </a:xfrm>
          <a:prstGeom prst="rect">
            <a:avLst/>
          </a:prstGeom>
        </p:spPr>
      </p:pic>
      <p:pic>
        <p:nvPicPr>
          <p:cNvPr id="10" name="SK-1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294" y="2055465"/>
            <a:ext cx="214313" cy="175320"/>
          </a:xfrm>
          <a:prstGeom prst="rect">
            <a:avLst/>
          </a:prstGeom>
        </p:spPr>
      </p:pic>
      <p:pic>
        <p:nvPicPr>
          <p:cNvPr id="11" name="SK-1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262313"/>
            <a:ext cx="5334000" cy="1290638"/>
          </a:xfrm>
          <a:prstGeom prst="rect">
            <a:avLst/>
          </a:prstGeom>
        </p:spPr>
      </p:pic>
      <p:pic>
        <p:nvPicPr>
          <p:cNvPr id="12" name="SK-13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386138"/>
            <a:ext cx="342900" cy="342900"/>
          </a:xfrm>
          <a:prstGeom prst="rect">
            <a:avLst/>
          </a:prstGeom>
        </p:spPr>
      </p:pic>
      <p:pic>
        <p:nvPicPr>
          <p:cNvPr id="13" name="SK-13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294" y="3469928"/>
            <a:ext cx="214313" cy="175320"/>
          </a:xfrm>
          <a:prstGeom prst="rect">
            <a:avLst/>
          </a:prstGeom>
        </p:spPr>
      </p:pic>
      <p:pic>
        <p:nvPicPr>
          <p:cNvPr id="14" name="SK-13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676775"/>
            <a:ext cx="5334000" cy="1204913"/>
          </a:xfrm>
          <a:prstGeom prst="rect">
            <a:avLst/>
          </a:prstGeom>
        </p:spPr>
      </p:pic>
      <p:pic>
        <p:nvPicPr>
          <p:cNvPr id="15" name="SK-13-img-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800600"/>
            <a:ext cx="342900" cy="342900"/>
          </a:xfrm>
          <a:prstGeom prst="rect">
            <a:avLst/>
          </a:prstGeom>
        </p:spPr>
      </p:pic>
      <p:pic>
        <p:nvPicPr>
          <p:cNvPr id="16" name="SK-13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294" y="4884390"/>
            <a:ext cx="214313" cy="175320"/>
          </a:xfrm>
          <a:prstGeom prst="rect">
            <a:avLst/>
          </a:prstGeom>
        </p:spPr>
      </p:pic>
      <p:pic>
        <p:nvPicPr>
          <p:cNvPr id="17" name="SK-13-img-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381125"/>
            <a:ext cx="5334000" cy="342900"/>
          </a:xfrm>
          <a:prstGeom prst="rect">
            <a:avLst/>
          </a:prstGeom>
        </p:spPr>
      </p:pic>
      <p:pic>
        <p:nvPicPr>
          <p:cNvPr id="18" name="SK-13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1428750"/>
            <a:ext cx="238125" cy="190500"/>
          </a:xfrm>
          <a:prstGeom prst="rect">
            <a:avLst/>
          </a:prstGeom>
        </p:spPr>
      </p:pic>
      <p:pic>
        <p:nvPicPr>
          <p:cNvPr id="19" name="SK-13-img-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819275"/>
            <a:ext cx="5334000" cy="1290638"/>
          </a:xfrm>
          <a:prstGeom prst="rect">
            <a:avLst/>
          </a:prstGeom>
        </p:spPr>
      </p:pic>
      <p:pic>
        <p:nvPicPr>
          <p:cNvPr id="20" name="SK-13-img-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943100"/>
            <a:ext cx="342900" cy="342900"/>
          </a:xfrm>
          <a:prstGeom prst="rect">
            <a:avLst/>
          </a:prstGeom>
        </p:spPr>
      </p:pic>
      <p:pic>
        <p:nvPicPr>
          <p:cNvPr id="21" name="SK-13-img-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65094" y="2026890"/>
            <a:ext cx="214313" cy="175320"/>
          </a:xfrm>
          <a:prstGeom prst="rect">
            <a:avLst/>
          </a:prstGeom>
        </p:spPr>
      </p:pic>
      <p:pic>
        <p:nvPicPr>
          <p:cNvPr id="22" name="SK-13-img-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3205163"/>
            <a:ext cx="5334000" cy="1290638"/>
          </a:xfrm>
          <a:prstGeom prst="rect">
            <a:avLst/>
          </a:prstGeom>
        </p:spPr>
      </p:pic>
      <p:pic>
        <p:nvPicPr>
          <p:cNvPr id="23" name="SK-13-img-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328988"/>
            <a:ext cx="342900" cy="342900"/>
          </a:xfrm>
          <a:prstGeom prst="rect">
            <a:avLst/>
          </a:prstGeom>
        </p:spPr>
      </p:pic>
      <p:pic>
        <p:nvPicPr>
          <p:cNvPr id="24" name="SK-13-img-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65094" y="3412778"/>
            <a:ext cx="214313" cy="175320"/>
          </a:xfrm>
          <a:prstGeom prst="rect">
            <a:avLst/>
          </a:prstGeom>
        </p:spPr>
      </p:pic>
      <p:pic>
        <p:nvPicPr>
          <p:cNvPr id="25" name="SK-13-img-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4591050"/>
            <a:ext cx="5334000" cy="1290638"/>
          </a:xfrm>
          <a:prstGeom prst="rect">
            <a:avLst/>
          </a:prstGeom>
        </p:spPr>
      </p:pic>
      <p:pic>
        <p:nvPicPr>
          <p:cNvPr id="26" name="SK-13-img-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714875"/>
            <a:ext cx="342900" cy="342900"/>
          </a:xfrm>
          <a:prstGeom prst="rect">
            <a:avLst/>
          </a:prstGeom>
        </p:spPr>
      </p:pic>
      <p:pic>
        <p:nvPicPr>
          <p:cNvPr id="27" name="SK-13-img-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65094" y="4798665"/>
            <a:ext cx="214313" cy="175320"/>
          </a:xfrm>
          <a:prstGeom prst="rect">
            <a:avLst/>
          </a:prstGeom>
        </p:spPr>
      </p:pic>
      <p:pic>
        <p:nvPicPr>
          <p:cNvPr id="28" name="SK-13-img-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6081713"/>
            <a:ext cx="10972800" cy="676275"/>
          </a:xfrm>
          <a:prstGeom prst="rect">
            <a:avLst/>
          </a:prstGeom>
        </p:spPr>
      </p:pic>
      <p:pic>
        <p:nvPicPr>
          <p:cNvPr id="29" name="SK-13-img-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200" y="6215063"/>
            <a:ext cx="1359396" cy="409575"/>
          </a:xfrm>
          <a:prstGeom prst="rect">
            <a:avLst/>
          </a:prstGeom>
        </p:spPr>
      </p:pic>
      <p:sp>
        <p:nvSpPr>
          <p:cNvPr id="30" name="SK-13-text-29"/>
          <p:cNvSpPr/>
          <p:nvPr/>
        </p:nvSpPr>
        <p:spPr>
          <a:xfrm>
            <a:off x="685800" y="285750"/>
            <a:ext cx="98016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1050" dirty="0"/>
          </a:p>
        </p:txBody>
      </p:sp>
      <p:sp>
        <p:nvSpPr>
          <p:cNvPr id="31" name="SK-13-text-30"/>
          <p:cNvSpPr/>
          <p:nvPr/>
        </p:nvSpPr>
        <p:spPr>
          <a:xfrm>
            <a:off x="1513582" y="30480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32" name="SK-13-text-31"/>
          <p:cNvSpPr/>
          <p:nvPr/>
        </p:nvSpPr>
        <p:spPr>
          <a:xfrm>
            <a:off x="609600" y="571500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핵융합 상용화의 기술적·경제적 난제</a:t>
            </a:r>
            <a:endParaRPr lang="en-US" sz="2700" dirty="0"/>
          </a:p>
        </p:txBody>
      </p:sp>
      <p:sp>
        <p:nvSpPr>
          <p:cNvPr id="33" name="SK-13-text-32"/>
          <p:cNvSpPr/>
          <p:nvPr/>
        </p:nvSpPr>
        <p:spPr>
          <a:xfrm>
            <a:off x="942975" y="1381125"/>
            <a:ext cx="6172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장벽 (Technical Barriers)</a:t>
            </a:r>
            <a:endParaRPr lang="en-US" sz="1500" dirty="0"/>
          </a:p>
        </p:txBody>
      </p:sp>
      <p:sp>
        <p:nvSpPr>
          <p:cNvPr id="34" name="SK-13-text-33"/>
          <p:cNvSpPr/>
          <p:nvPr/>
        </p:nvSpPr>
        <p:spPr>
          <a:xfrm>
            <a:off x="1219200" y="1971675"/>
            <a:ext cx="481774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점화 및 순에너지 조건 (Q-factor)</a:t>
            </a:r>
            <a:endParaRPr lang="en-US" sz="1350" dirty="0"/>
          </a:p>
        </p:txBody>
      </p:sp>
      <p:sp>
        <p:nvSpPr>
          <p:cNvPr id="35" name="SK-13-text-34"/>
          <p:cNvSpPr/>
          <p:nvPr/>
        </p:nvSpPr>
        <p:spPr>
          <a:xfrm>
            <a:off x="1219200" y="2371725"/>
            <a:ext cx="45720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투입한 에너지보다 더 많은 에너지를 얻는 실질적인 에너지 이득($Q &gt; 1$) 달성이 필요하며, 발전소 전체 시스템의 에너지 소비를 감안한 임계점 돌파가 필수적입니다.</a:t>
            </a:r>
            <a:endParaRPr lang="en-US" sz="1125" dirty="0"/>
          </a:p>
        </p:txBody>
      </p:sp>
      <p:sp>
        <p:nvSpPr>
          <p:cNvPr id="36" name="SK-13-text-35"/>
          <p:cNvSpPr/>
          <p:nvPr/>
        </p:nvSpPr>
        <p:spPr>
          <a:xfrm>
            <a:off x="1219200" y="3386138"/>
            <a:ext cx="234886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 및 내구성 문제</a:t>
            </a:r>
            <a:endParaRPr lang="en-US" sz="1350" dirty="0"/>
          </a:p>
        </p:txBody>
      </p:sp>
      <p:sp>
        <p:nvSpPr>
          <p:cNvPr id="37" name="SK-13-text-36"/>
          <p:cNvSpPr/>
          <p:nvPr/>
        </p:nvSpPr>
        <p:spPr>
          <a:xfrm>
            <a:off x="1219200" y="3786188"/>
            <a:ext cx="45720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핵융합 시 발생하는 고에너지 중성자가 구조재료를 손상시키고 방사화(Radioactivation)시키는 문제를 해결해야 하며, 극한의 열 부하를 견디는 신소재 개발이 요구됩니다.</a:t>
            </a:r>
            <a:endParaRPr lang="en-US" sz="1125" dirty="0"/>
          </a:p>
        </p:txBody>
      </p:sp>
      <p:sp>
        <p:nvSpPr>
          <p:cNvPr id="38" name="SK-13-text-37"/>
          <p:cNvSpPr/>
          <p:nvPr/>
        </p:nvSpPr>
        <p:spPr>
          <a:xfrm>
            <a:off x="1219200" y="4800600"/>
            <a:ext cx="255460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삼중수소 연료주기 관리</a:t>
            </a:r>
            <a:endParaRPr lang="en-US" sz="1350" dirty="0"/>
          </a:p>
        </p:txBody>
      </p:sp>
      <p:sp>
        <p:nvSpPr>
          <p:cNvPr id="39" name="SK-13-text-38"/>
          <p:cNvSpPr/>
          <p:nvPr/>
        </p:nvSpPr>
        <p:spPr>
          <a:xfrm>
            <a:off x="1219200" y="5200650"/>
            <a:ext cx="457200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천연 존재량이 희박한 삼중수소를 리튬 블랭킷 등을 통해 노심 내부에서 직접 생산·회수·재투입하는 정교한 폐쇄형 연료주기 기술이 실증되어야 합니다.</a:t>
            </a:r>
            <a:endParaRPr lang="en-US" sz="1125" dirty="0"/>
          </a:p>
        </p:txBody>
      </p:sp>
      <p:sp>
        <p:nvSpPr>
          <p:cNvPr id="40" name="SK-13-text-39"/>
          <p:cNvSpPr/>
          <p:nvPr/>
        </p:nvSpPr>
        <p:spPr>
          <a:xfrm>
            <a:off x="6581775" y="1381125"/>
            <a:ext cx="56102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경제적 장벽 (Economic Barriers)</a:t>
            </a:r>
            <a:endParaRPr lang="en-US" sz="1500" dirty="0"/>
          </a:p>
        </p:txBody>
      </p:sp>
      <p:sp>
        <p:nvSpPr>
          <p:cNvPr id="41" name="SK-13-text-40"/>
          <p:cNvSpPr/>
          <p:nvPr/>
        </p:nvSpPr>
        <p:spPr>
          <a:xfrm>
            <a:off x="6858000" y="1943100"/>
            <a:ext cx="214312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상업적 경쟁력 확보</a:t>
            </a:r>
            <a:endParaRPr lang="en-US" sz="1350" dirty="0"/>
          </a:p>
        </p:txBody>
      </p:sp>
      <p:sp>
        <p:nvSpPr>
          <p:cNvPr id="42" name="SK-13-text-41"/>
          <p:cNvSpPr/>
          <p:nvPr/>
        </p:nvSpPr>
        <p:spPr>
          <a:xfrm>
            <a:off x="6858000" y="2343150"/>
            <a:ext cx="45720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실험실에서의 반응 성공이 곧 저렴한 전력 생산을 의미하지 않습니다. 타 발전원 대비 균등화발전비용(LCOE) 측면에서 경쟁력을 갖추는 것이 진정한 최종 관문입니다.</a:t>
            </a:r>
            <a:endParaRPr lang="en-US" sz="1125" dirty="0"/>
          </a:p>
        </p:txBody>
      </p:sp>
      <p:sp>
        <p:nvSpPr>
          <p:cNvPr id="43" name="SK-13-text-42"/>
          <p:cNvSpPr/>
          <p:nvPr/>
        </p:nvSpPr>
        <p:spPr>
          <a:xfrm>
            <a:off x="6858000" y="3328988"/>
            <a:ext cx="214312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 및 가동률</a:t>
            </a:r>
            <a:endParaRPr lang="en-US" sz="1350" dirty="0"/>
          </a:p>
        </p:txBody>
      </p:sp>
      <p:sp>
        <p:nvSpPr>
          <p:cNvPr id="44" name="SK-13-text-43"/>
          <p:cNvSpPr/>
          <p:nvPr/>
        </p:nvSpPr>
        <p:spPr>
          <a:xfrm>
            <a:off x="6858000" y="3729038"/>
            <a:ext cx="45720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초전도 자석과 플라스마 제어 장치의 잦은 고장은 가동률을 떨어뜨립니다. 원격 조작을 통한 신속한 정비 체계와 높은 설비이용률 확보가 경제성을 좌우합니다.</a:t>
            </a:r>
            <a:endParaRPr lang="en-US" sz="1125" dirty="0"/>
          </a:p>
        </p:txBody>
      </p:sp>
      <p:sp>
        <p:nvSpPr>
          <p:cNvPr id="45" name="SK-13-text-44"/>
          <p:cNvSpPr/>
          <p:nvPr/>
        </p:nvSpPr>
        <p:spPr>
          <a:xfrm>
            <a:off x="6858000" y="4714875"/>
            <a:ext cx="296608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거대 자본 및 정책 리스크</a:t>
            </a:r>
            <a:endParaRPr lang="en-US" sz="1350" dirty="0"/>
          </a:p>
        </p:txBody>
      </p:sp>
      <p:sp>
        <p:nvSpPr>
          <p:cNvPr id="46" name="SK-13-text-45"/>
          <p:cNvSpPr/>
          <p:nvPr/>
        </p:nvSpPr>
        <p:spPr>
          <a:xfrm>
            <a:off x="6858000" y="5114925"/>
            <a:ext cx="45720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수십 년에 걸친 연구개발 기간과 천문학적인 초기 투자비는 민간 투자를 위축시킵니다. 정부의 장기적인 지원과 불확실성에 따른 금융 비용 관리가 핵심입니다.</a:t>
            </a:r>
            <a:endParaRPr lang="en-US" sz="1125" dirty="0"/>
          </a:p>
        </p:txBody>
      </p:sp>
      <p:sp>
        <p:nvSpPr>
          <p:cNvPr id="47" name="SK-13-text-46"/>
          <p:cNvSpPr/>
          <p:nvPr/>
        </p:nvSpPr>
        <p:spPr>
          <a:xfrm>
            <a:off x="952500" y="6215063"/>
            <a:ext cx="1130796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9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ECONOMIC INSIGHT</a:t>
            </a:r>
            <a:endParaRPr lang="en-US" sz="975" dirty="0"/>
          </a:p>
        </p:txBody>
      </p:sp>
      <p:sp>
        <p:nvSpPr>
          <p:cNvPr id="48" name="SK-13-text-47"/>
          <p:cNvSpPr/>
          <p:nvPr/>
        </p:nvSpPr>
        <p:spPr>
          <a:xfrm>
            <a:off x="2349996" y="6176963"/>
            <a:ext cx="9003804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에너지경제학적 성공은 </a:t>
            </a:r>
            <a:r>
              <a:rPr lang="en-US" sz="1275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과학적 실증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(반응 성공) → </a:t>
            </a:r>
            <a:r>
              <a:rPr lang="en-US" sz="1275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공학적 실증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(에너지 생산) → </a:t>
            </a:r>
            <a:r>
              <a:rPr lang="en-US" sz="1275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상업적 경쟁력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(비용 효율성)의 3단계를 모두 통과해야 함을 이해해야 합니다.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85750"/>
            <a:ext cx="981075" cy="238125"/>
          </a:xfrm>
          <a:prstGeom prst="rect">
            <a:avLst/>
          </a:prstGeom>
        </p:spPr>
      </p:pic>
      <p:pic>
        <p:nvPicPr>
          <p:cNvPr id="5" name="SK-1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28725"/>
            <a:ext cx="381000" cy="28575"/>
          </a:xfrm>
          <a:prstGeom prst="rect">
            <a:avLst/>
          </a:prstGeom>
        </p:spPr>
      </p:pic>
      <p:pic>
        <p:nvPicPr>
          <p:cNvPr id="6" name="SK-1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57325"/>
            <a:ext cx="10972800" cy="3205163"/>
          </a:xfrm>
          <a:prstGeom prst="rect">
            <a:avLst/>
          </a:prstGeom>
        </p:spPr>
      </p:pic>
      <p:pic>
        <p:nvPicPr>
          <p:cNvPr id="7" name="SK-1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457325"/>
            <a:ext cx="1645890" cy="461963"/>
          </a:xfrm>
          <a:prstGeom prst="rect">
            <a:avLst/>
          </a:prstGeom>
        </p:spPr>
      </p:pic>
      <p:pic>
        <p:nvPicPr>
          <p:cNvPr id="8" name="SK-1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5490" y="1457325"/>
            <a:ext cx="4663380" cy="461963"/>
          </a:xfrm>
          <a:prstGeom prst="rect">
            <a:avLst/>
          </a:prstGeom>
        </p:spPr>
      </p:pic>
      <p:pic>
        <p:nvPicPr>
          <p:cNvPr id="9" name="SK-14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8871" y="1457325"/>
            <a:ext cx="4663529" cy="461963"/>
          </a:xfrm>
          <a:prstGeom prst="rect">
            <a:avLst/>
          </a:prstGeom>
        </p:spPr>
      </p:pic>
      <p:pic>
        <p:nvPicPr>
          <p:cNvPr id="10" name="SK-14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1919288"/>
            <a:ext cx="1645890" cy="548580"/>
          </a:xfrm>
          <a:prstGeom prst="rect">
            <a:avLst/>
          </a:prstGeom>
        </p:spPr>
      </p:pic>
      <p:pic>
        <p:nvPicPr>
          <p:cNvPr id="11" name="SK-14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5490" y="1919288"/>
            <a:ext cx="4663380" cy="548580"/>
          </a:xfrm>
          <a:prstGeom prst="rect">
            <a:avLst/>
          </a:prstGeom>
        </p:spPr>
      </p:pic>
      <p:pic>
        <p:nvPicPr>
          <p:cNvPr id="12" name="SK-14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8871" y="1919288"/>
            <a:ext cx="4663529" cy="548580"/>
          </a:xfrm>
          <a:prstGeom prst="rect">
            <a:avLst/>
          </a:prstGeom>
        </p:spPr>
      </p:pic>
      <p:pic>
        <p:nvPicPr>
          <p:cNvPr id="13" name="SK-14-img-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467868"/>
            <a:ext cx="1645890" cy="548580"/>
          </a:xfrm>
          <a:prstGeom prst="rect">
            <a:avLst/>
          </a:prstGeom>
        </p:spPr>
      </p:pic>
      <p:pic>
        <p:nvPicPr>
          <p:cNvPr id="14" name="SK-14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5490" y="2467868"/>
            <a:ext cx="4663380" cy="548580"/>
          </a:xfrm>
          <a:prstGeom prst="rect">
            <a:avLst/>
          </a:prstGeom>
        </p:spPr>
      </p:pic>
      <p:pic>
        <p:nvPicPr>
          <p:cNvPr id="15" name="SK-14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8871" y="2467868"/>
            <a:ext cx="4663529" cy="548580"/>
          </a:xfrm>
          <a:prstGeom prst="rect">
            <a:avLst/>
          </a:prstGeom>
        </p:spPr>
      </p:pic>
      <p:pic>
        <p:nvPicPr>
          <p:cNvPr id="16" name="SK-14-img-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016448"/>
            <a:ext cx="1645890" cy="548580"/>
          </a:xfrm>
          <a:prstGeom prst="rect">
            <a:avLst/>
          </a:prstGeom>
        </p:spPr>
      </p:pic>
      <p:pic>
        <p:nvPicPr>
          <p:cNvPr id="17" name="SK-14-img-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5490" y="3016448"/>
            <a:ext cx="4663380" cy="548580"/>
          </a:xfrm>
          <a:prstGeom prst="rect">
            <a:avLst/>
          </a:prstGeom>
        </p:spPr>
      </p:pic>
      <p:pic>
        <p:nvPicPr>
          <p:cNvPr id="18" name="SK-14-img-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18871" y="3016448"/>
            <a:ext cx="4663529" cy="548580"/>
          </a:xfrm>
          <a:prstGeom prst="rect">
            <a:avLst/>
          </a:prstGeom>
        </p:spPr>
      </p:pic>
      <p:pic>
        <p:nvPicPr>
          <p:cNvPr id="19" name="SK-14-img-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565029"/>
            <a:ext cx="1645890" cy="548580"/>
          </a:xfrm>
          <a:prstGeom prst="rect">
            <a:avLst/>
          </a:prstGeom>
        </p:spPr>
      </p:pic>
      <p:pic>
        <p:nvPicPr>
          <p:cNvPr id="20" name="SK-14-img-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5490" y="3565029"/>
            <a:ext cx="4663380" cy="548580"/>
          </a:xfrm>
          <a:prstGeom prst="rect">
            <a:avLst/>
          </a:prstGeom>
        </p:spPr>
      </p:pic>
      <p:pic>
        <p:nvPicPr>
          <p:cNvPr id="21" name="SK-14-img-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18871" y="3565029"/>
            <a:ext cx="4663529" cy="548580"/>
          </a:xfrm>
          <a:prstGeom prst="rect">
            <a:avLst/>
          </a:prstGeom>
        </p:spPr>
      </p:pic>
      <p:pic>
        <p:nvPicPr>
          <p:cNvPr id="22" name="SK-14-img-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113609"/>
            <a:ext cx="1645890" cy="548878"/>
          </a:xfrm>
          <a:prstGeom prst="rect">
            <a:avLst/>
          </a:prstGeom>
        </p:spPr>
      </p:pic>
      <p:pic>
        <p:nvPicPr>
          <p:cNvPr id="23" name="SK-14-img-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862513"/>
            <a:ext cx="2628900" cy="1066800"/>
          </a:xfrm>
          <a:prstGeom prst="rect">
            <a:avLst/>
          </a:prstGeom>
        </p:spPr>
      </p:pic>
      <p:pic>
        <p:nvPicPr>
          <p:cNvPr id="24" name="SK-14-img-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995863"/>
            <a:ext cx="190500" cy="152400"/>
          </a:xfrm>
          <a:prstGeom prst="rect">
            <a:avLst/>
          </a:prstGeom>
        </p:spPr>
      </p:pic>
      <p:pic>
        <p:nvPicPr>
          <p:cNvPr id="25" name="SK-14-img-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90900" y="4862513"/>
            <a:ext cx="2628900" cy="1066800"/>
          </a:xfrm>
          <a:prstGeom prst="rect">
            <a:avLst/>
          </a:prstGeom>
        </p:spPr>
      </p:pic>
      <p:pic>
        <p:nvPicPr>
          <p:cNvPr id="26" name="SK-14-img-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43300" y="4995863"/>
            <a:ext cx="190500" cy="152400"/>
          </a:xfrm>
          <a:prstGeom prst="rect">
            <a:avLst/>
          </a:prstGeom>
        </p:spPr>
      </p:pic>
      <p:pic>
        <p:nvPicPr>
          <p:cNvPr id="27" name="SK-14-img-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4862513"/>
            <a:ext cx="2628900" cy="1066800"/>
          </a:xfrm>
          <a:prstGeom prst="rect">
            <a:avLst/>
          </a:prstGeom>
        </p:spPr>
      </p:pic>
      <p:pic>
        <p:nvPicPr>
          <p:cNvPr id="28" name="SK-14-img-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4995863"/>
            <a:ext cx="190500" cy="152400"/>
          </a:xfrm>
          <a:prstGeom prst="rect">
            <a:avLst/>
          </a:prstGeom>
        </p:spPr>
      </p:pic>
      <p:pic>
        <p:nvPicPr>
          <p:cNvPr id="29" name="SK-14-img-2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53500" y="4862513"/>
            <a:ext cx="2628900" cy="1066800"/>
          </a:xfrm>
          <a:prstGeom prst="rect">
            <a:avLst/>
          </a:prstGeom>
        </p:spPr>
      </p:pic>
      <p:pic>
        <p:nvPicPr>
          <p:cNvPr id="30" name="SK-14-img-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05900" y="4995863"/>
            <a:ext cx="190500" cy="152400"/>
          </a:xfrm>
          <a:prstGeom prst="rect">
            <a:avLst/>
          </a:prstGeom>
        </p:spPr>
      </p:pic>
      <p:pic>
        <p:nvPicPr>
          <p:cNvPr id="31" name="SK-14-img-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6176963"/>
            <a:ext cx="10972800" cy="395288"/>
          </a:xfrm>
          <a:prstGeom prst="rect">
            <a:avLst/>
          </a:prstGeom>
        </p:spPr>
      </p:pic>
      <p:pic>
        <p:nvPicPr>
          <p:cNvPr id="32" name="SK-14-img-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6279356"/>
            <a:ext cx="238125" cy="190500"/>
          </a:xfrm>
          <a:prstGeom prst="rect">
            <a:avLst/>
          </a:prstGeom>
        </p:spPr>
      </p:pic>
      <p:sp>
        <p:nvSpPr>
          <p:cNvPr id="33" name="SK-14-text-32"/>
          <p:cNvSpPr/>
          <p:nvPr/>
        </p:nvSpPr>
        <p:spPr>
          <a:xfrm>
            <a:off x="685800" y="285750"/>
            <a:ext cx="1608042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 14</a:t>
            </a:r>
            <a:endParaRPr lang="en-US" sz="1050" dirty="0"/>
          </a:p>
        </p:txBody>
      </p:sp>
      <p:sp>
        <p:nvSpPr>
          <p:cNvPr id="34" name="SK-14-text-33"/>
          <p:cNvSpPr/>
          <p:nvPr/>
        </p:nvSpPr>
        <p:spPr>
          <a:xfrm>
            <a:off x="1704975" y="304800"/>
            <a:ext cx="55168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ECONOMICS &amp; NUCLEAR PHYSICS</a:t>
            </a:r>
            <a:endParaRPr lang="en-US" sz="1050" dirty="0"/>
          </a:p>
        </p:txBody>
      </p:sp>
      <p:sp>
        <p:nvSpPr>
          <p:cNvPr id="35" name="SK-14-text-34"/>
          <p:cNvSpPr/>
          <p:nvPr/>
        </p:nvSpPr>
        <p:spPr>
          <a:xfrm>
            <a:off x="609600" y="600075"/>
            <a:ext cx="1114425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핵분열과 핵융합 비교 및 종합 토론</a:t>
            </a:r>
            <a:endParaRPr lang="en-US" sz="2700" dirty="0"/>
          </a:p>
        </p:txBody>
      </p:sp>
      <p:sp>
        <p:nvSpPr>
          <p:cNvPr id="36" name="SK-14-text-35"/>
          <p:cNvSpPr/>
          <p:nvPr/>
        </p:nvSpPr>
        <p:spPr>
          <a:xfrm>
            <a:off x="564356" y="1457325"/>
            <a:ext cx="1431578" cy="461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425" dirty="0"/>
          </a:p>
        </p:txBody>
      </p:sp>
      <p:sp>
        <p:nvSpPr>
          <p:cNvPr id="37" name="SK-14-text-36"/>
          <p:cNvSpPr/>
          <p:nvPr/>
        </p:nvSpPr>
        <p:spPr>
          <a:xfrm>
            <a:off x="2210246" y="1457325"/>
            <a:ext cx="4449068" cy="461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핵분열 (Fission)</a:t>
            </a:r>
            <a:endParaRPr lang="en-US" sz="1425" dirty="0"/>
          </a:p>
        </p:txBody>
      </p:sp>
      <p:sp>
        <p:nvSpPr>
          <p:cNvPr id="38" name="SK-14-text-37"/>
          <p:cNvSpPr/>
          <p:nvPr/>
        </p:nvSpPr>
        <p:spPr>
          <a:xfrm>
            <a:off x="6873627" y="1457325"/>
            <a:ext cx="4449217" cy="461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핵융합 (Fusion)</a:t>
            </a:r>
            <a:endParaRPr lang="en-US" sz="1425" dirty="0"/>
          </a:p>
        </p:txBody>
      </p:sp>
      <p:sp>
        <p:nvSpPr>
          <p:cNvPr id="39" name="SK-14-text-38"/>
          <p:cNvSpPr/>
          <p:nvPr/>
        </p:nvSpPr>
        <p:spPr>
          <a:xfrm>
            <a:off x="569119" y="1919288"/>
            <a:ext cx="1422053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반응</a:t>
            </a:r>
            <a:endParaRPr lang="en-US" sz="1275" dirty="0"/>
          </a:p>
        </p:txBody>
      </p:sp>
      <p:sp>
        <p:nvSpPr>
          <p:cNvPr id="40" name="SK-14-text-39"/>
          <p:cNvSpPr/>
          <p:nvPr/>
        </p:nvSpPr>
        <p:spPr>
          <a:xfrm>
            <a:off x="2407890" y="1919288"/>
            <a:ext cx="4439543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무거운 핵(우라늄)이 가벼운 핵들로 분열</a:t>
            </a:r>
            <a:endParaRPr lang="en-US" sz="1275" dirty="0"/>
          </a:p>
        </p:txBody>
      </p:sp>
      <p:sp>
        <p:nvSpPr>
          <p:cNvPr id="41" name="SK-14-text-40"/>
          <p:cNvSpPr/>
          <p:nvPr/>
        </p:nvSpPr>
        <p:spPr>
          <a:xfrm>
            <a:off x="7071271" y="1919288"/>
            <a:ext cx="4439692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가벼운 핵(중수소·삼중수소)이 결합</a:t>
            </a:r>
            <a:endParaRPr lang="en-US" sz="1275" dirty="0"/>
          </a:p>
        </p:txBody>
      </p:sp>
      <p:sp>
        <p:nvSpPr>
          <p:cNvPr id="42" name="SK-14-text-41"/>
          <p:cNvSpPr/>
          <p:nvPr/>
        </p:nvSpPr>
        <p:spPr>
          <a:xfrm>
            <a:off x="569119" y="2467868"/>
            <a:ext cx="1422053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 제어</a:t>
            </a:r>
            <a:endParaRPr lang="en-US" sz="1275" dirty="0"/>
          </a:p>
        </p:txBody>
      </p:sp>
      <p:sp>
        <p:nvSpPr>
          <p:cNvPr id="43" name="SK-14-text-42"/>
          <p:cNvSpPr/>
          <p:nvPr/>
        </p:nvSpPr>
        <p:spPr>
          <a:xfrm>
            <a:off x="2407890" y="2467868"/>
            <a:ext cx="4439543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중성자 연쇄반응 조절 (제어봉, 감속재)</a:t>
            </a:r>
            <a:endParaRPr lang="en-US" sz="1275" dirty="0"/>
          </a:p>
        </p:txBody>
      </p:sp>
      <p:sp>
        <p:nvSpPr>
          <p:cNvPr id="44" name="SK-14-text-43"/>
          <p:cNvSpPr/>
          <p:nvPr/>
        </p:nvSpPr>
        <p:spPr>
          <a:xfrm>
            <a:off x="7071271" y="2467868"/>
            <a:ext cx="4439692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초고온 플라스마 및 밀폐 조건 유지</a:t>
            </a:r>
            <a:endParaRPr lang="en-US" sz="1275" dirty="0"/>
          </a:p>
        </p:txBody>
      </p:sp>
      <p:sp>
        <p:nvSpPr>
          <p:cNvPr id="45" name="SK-14-text-44"/>
          <p:cNvSpPr/>
          <p:nvPr/>
        </p:nvSpPr>
        <p:spPr>
          <a:xfrm>
            <a:off x="569119" y="3016448"/>
            <a:ext cx="1422053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연료 이슈</a:t>
            </a:r>
            <a:endParaRPr lang="en-US" sz="1275" dirty="0"/>
          </a:p>
        </p:txBody>
      </p:sp>
      <p:sp>
        <p:nvSpPr>
          <p:cNvPr id="46" name="SK-14-text-45"/>
          <p:cNvSpPr/>
          <p:nvPr/>
        </p:nvSpPr>
        <p:spPr>
          <a:xfrm>
            <a:off x="2407890" y="3016448"/>
            <a:ext cx="4439543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우라늄 농축 및 공급망 안보 중요</a:t>
            </a:r>
            <a:endParaRPr lang="en-US" sz="1275" dirty="0"/>
          </a:p>
        </p:txBody>
      </p:sp>
      <p:sp>
        <p:nvSpPr>
          <p:cNvPr id="47" name="SK-14-text-46"/>
          <p:cNvSpPr/>
          <p:nvPr/>
        </p:nvSpPr>
        <p:spPr>
          <a:xfrm>
            <a:off x="7071271" y="3016448"/>
            <a:ext cx="4439692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중수소 풍부, 삼중수소 자체 생산 기술 필요</a:t>
            </a:r>
            <a:endParaRPr lang="en-US" sz="1275" dirty="0"/>
          </a:p>
        </p:txBody>
      </p:sp>
      <p:sp>
        <p:nvSpPr>
          <p:cNvPr id="48" name="SK-14-text-47"/>
          <p:cNvSpPr/>
          <p:nvPr/>
        </p:nvSpPr>
        <p:spPr>
          <a:xfrm>
            <a:off x="569119" y="3565029"/>
            <a:ext cx="1422053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폐기물/위험</a:t>
            </a:r>
            <a:endParaRPr lang="en-US" sz="1275" dirty="0"/>
          </a:p>
        </p:txBody>
      </p:sp>
      <p:sp>
        <p:nvSpPr>
          <p:cNvPr id="49" name="SK-14-text-48"/>
          <p:cNvSpPr/>
          <p:nvPr/>
        </p:nvSpPr>
        <p:spPr>
          <a:xfrm>
            <a:off x="2407890" y="3565029"/>
            <a:ext cx="4439543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고준위 방사성 폐기물, 붕괴열 관리</a:t>
            </a:r>
            <a:endParaRPr lang="en-US" sz="1275" dirty="0"/>
          </a:p>
        </p:txBody>
      </p:sp>
      <p:sp>
        <p:nvSpPr>
          <p:cNvPr id="50" name="SK-14-text-49"/>
          <p:cNvSpPr/>
          <p:nvPr/>
        </p:nvSpPr>
        <p:spPr>
          <a:xfrm>
            <a:off x="7071271" y="3565029"/>
            <a:ext cx="5120729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중성자 방사화, 삼중수소 관리 (연쇄폭발 위험 없음)</a:t>
            </a:r>
            <a:endParaRPr lang="en-US" sz="1275" dirty="0"/>
          </a:p>
        </p:txBody>
      </p:sp>
      <p:sp>
        <p:nvSpPr>
          <p:cNvPr id="51" name="SK-14-text-50"/>
          <p:cNvSpPr/>
          <p:nvPr/>
        </p:nvSpPr>
        <p:spPr>
          <a:xfrm>
            <a:off x="569119" y="4113609"/>
            <a:ext cx="1422053" cy="5488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경제성 핵심</a:t>
            </a:r>
            <a:endParaRPr lang="en-US" sz="1275" dirty="0"/>
          </a:p>
        </p:txBody>
      </p:sp>
      <p:sp>
        <p:nvSpPr>
          <p:cNvPr id="52" name="SK-14-text-51"/>
          <p:cNvSpPr/>
          <p:nvPr/>
        </p:nvSpPr>
        <p:spPr>
          <a:xfrm>
            <a:off x="2407890" y="4113609"/>
            <a:ext cx="4439543" cy="5488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자본비용, 규제 준수, 폐기물 처리비</a:t>
            </a:r>
            <a:endParaRPr lang="en-US" sz="1275" dirty="0"/>
          </a:p>
        </p:txBody>
      </p:sp>
      <p:sp>
        <p:nvSpPr>
          <p:cNvPr id="53" name="SK-14-text-52"/>
          <p:cNvSpPr/>
          <p:nvPr/>
        </p:nvSpPr>
        <p:spPr>
          <a:xfrm>
            <a:off x="7071271" y="4113609"/>
            <a:ext cx="4439692" cy="5488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장치 복잡성, 순에너지 생산, 상업적 실증</a:t>
            </a:r>
            <a:endParaRPr lang="en-US" sz="1275" dirty="0"/>
          </a:p>
        </p:txBody>
      </p:sp>
      <p:sp>
        <p:nvSpPr>
          <p:cNvPr id="54" name="SK-14-text-53"/>
          <p:cNvSpPr/>
          <p:nvPr/>
        </p:nvSpPr>
        <p:spPr>
          <a:xfrm>
            <a:off x="1028700" y="4957763"/>
            <a:ext cx="1539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건설비 초과위험</a:t>
            </a:r>
            <a:endParaRPr lang="en-US" sz="1200" dirty="0"/>
          </a:p>
        </p:txBody>
      </p:sp>
      <p:sp>
        <p:nvSpPr>
          <p:cNvPr id="55" name="SK-14-text-54"/>
          <p:cNvSpPr/>
          <p:nvPr/>
        </p:nvSpPr>
        <p:spPr>
          <a:xfrm>
            <a:off x="762000" y="5233988"/>
            <a:ext cx="23241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프로젝트의 공기 지연 및 비용 상승 위험을 누가, 어떻게 분담해야 하는가?</a:t>
            </a:r>
            <a:endParaRPr lang="en-US" sz="1125" dirty="0"/>
          </a:p>
        </p:txBody>
      </p:sp>
      <p:sp>
        <p:nvSpPr>
          <p:cNvPr id="56" name="SK-14-text-55"/>
          <p:cNvSpPr/>
          <p:nvPr/>
        </p:nvSpPr>
        <p:spPr>
          <a:xfrm>
            <a:off x="3810000" y="4957763"/>
            <a:ext cx="1356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탄소가격 영향</a:t>
            </a:r>
            <a:endParaRPr lang="en-US" sz="1200" dirty="0"/>
          </a:p>
        </p:txBody>
      </p:sp>
      <p:sp>
        <p:nvSpPr>
          <p:cNvPr id="57" name="SK-14-text-56"/>
          <p:cNvSpPr/>
          <p:nvPr/>
        </p:nvSpPr>
        <p:spPr>
          <a:xfrm>
            <a:off x="3543300" y="5233988"/>
            <a:ext cx="23241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탄소 국경세 및 배출권 가격 상승 시 원자력의 상대적 경제 경쟁력은 어떻게 변하는가?</a:t>
            </a:r>
            <a:endParaRPr lang="en-US" sz="1125" dirty="0"/>
          </a:p>
        </p:txBody>
      </p:sp>
      <p:sp>
        <p:nvSpPr>
          <p:cNvPr id="58" name="SK-14-text-57"/>
          <p:cNvSpPr/>
          <p:nvPr/>
        </p:nvSpPr>
        <p:spPr>
          <a:xfrm>
            <a:off x="6591300" y="4957763"/>
            <a:ext cx="1722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융합 R&amp;D 투자</a:t>
            </a:r>
            <a:endParaRPr lang="en-US" sz="1200" dirty="0"/>
          </a:p>
        </p:txBody>
      </p:sp>
      <p:sp>
        <p:nvSpPr>
          <p:cNvPr id="59" name="SK-14-text-58"/>
          <p:cNvSpPr/>
          <p:nvPr/>
        </p:nvSpPr>
        <p:spPr>
          <a:xfrm>
            <a:off x="6324600" y="5233988"/>
            <a:ext cx="23241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핵융합 상용화를 위해 공공 부문의 장기 투자가 민간 투자를 어떻게 견인해야 하는가?</a:t>
            </a:r>
            <a:endParaRPr lang="en-US" sz="1125" dirty="0"/>
          </a:p>
        </p:txBody>
      </p:sp>
      <p:sp>
        <p:nvSpPr>
          <p:cNvPr id="60" name="SK-14-text-59"/>
          <p:cNvSpPr/>
          <p:nvPr/>
        </p:nvSpPr>
        <p:spPr>
          <a:xfrm>
            <a:off x="9372600" y="4957763"/>
            <a:ext cx="1356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세대 간 비용</a:t>
            </a:r>
            <a:endParaRPr lang="en-US" sz="1200" dirty="0"/>
          </a:p>
        </p:txBody>
      </p:sp>
      <p:sp>
        <p:nvSpPr>
          <p:cNvPr id="61" name="SK-14-text-60"/>
          <p:cNvSpPr/>
          <p:nvPr/>
        </p:nvSpPr>
        <p:spPr>
          <a:xfrm>
            <a:off x="9105900" y="5233988"/>
            <a:ext cx="23241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사용후핵연료 관리 등 미래 세대가 부담할 비용에 대해 어떤 할인율을 적용하는 것이 공정인가?</a:t>
            </a:r>
            <a:endParaRPr lang="en-US" sz="1125" dirty="0"/>
          </a:p>
        </p:txBody>
      </p:sp>
      <p:sp>
        <p:nvSpPr>
          <p:cNvPr id="62" name="SK-14-text-61"/>
          <p:cNvSpPr/>
          <p:nvPr/>
        </p:nvSpPr>
        <p:spPr>
          <a:xfrm>
            <a:off x="1114425" y="6253163"/>
            <a:ext cx="999077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원자력의 경제성을 이해하려면 원자핵의 물리학과 자본·위험·제도의 경제학을 함께 봐야 합니다.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2193</Words>
  <Application>Microsoft Office PowerPoint</Application>
  <PresentationFormat>와이드스크린</PresentationFormat>
  <Paragraphs>289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전승호</cp:lastModifiedBy>
  <cp:revision>1</cp:revision>
  <dcterms:created xsi:type="dcterms:W3CDTF">2026-08-28T01:57:18Z</dcterms:created>
  <dcterms:modified xsi:type="dcterms:W3CDTF">2026-08-28T02:01:45Z</dcterms:modified>
</cp:coreProperties>
</file>